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8" r:id="rId2"/>
    <p:sldId id="270" r:id="rId3"/>
    <p:sldId id="271" r:id="rId4"/>
    <p:sldId id="272" r:id="rId5"/>
    <p:sldId id="273" r:id="rId6"/>
    <p:sldId id="259" r:id="rId7"/>
    <p:sldId id="264" r:id="rId8"/>
    <p:sldId id="265" r:id="rId9"/>
    <p:sldId id="266" r:id="rId10"/>
    <p:sldId id="267" r:id="rId11"/>
    <p:sldId id="263" r:id="rId12"/>
    <p:sldId id="268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41ABC"/>
    <a:srgbClr val="FFFCF3"/>
    <a:srgbClr val="FBFEBE"/>
    <a:srgbClr val="FEFFEB"/>
    <a:srgbClr val="8E00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88" autoAdjust="0"/>
    <p:restoredTop sz="92643" autoAdjust="0"/>
  </p:normalViewPr>
  <p:slideViewPr>
    <p:cSldViewPr snapToGrid="0">
      <p:cViewPr varScale="1">
        <p:scale>
          <a:sx n="86" d="100"/>
          <a:sy n="86" d="100"/>
        </p:scale>
        <p:origin x="6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85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FD4D6-071D-49E0-A0E6-CBED1B9F0AE6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22505-B285-46DF-A8C7-BE179E568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309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30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0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E304D-4302-9926-B9E4-A4F22949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E773-4813-48BD-A50D-5974BFBD6D74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BA000-FB47-BDF4-4935-32802488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FA3F2-32A8-6E83-CD3C-B6BFA5A1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31711" y="18704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8269" y="9458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6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9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8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8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7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4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6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59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52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15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58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560F8BA-EDBF-2910-36F9-4BB297220ED8}"/>
              </a:ext>
            </a:extLst>
          </p:cNvPr>
          <p:cNvSpPr/>
          <p:nvPr/>
        </p:nvSpPr>
        <p:spPr>
          <a:xfrm>
            <a:off x="6063698" y="1900591"/>
            <a:ext cx="5093804" cy="3056818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92075" cmpd="thickThin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第 </a:t>
            </a:r>
            <a:r>
              <a:rPr lang="en-US" altLang="zh-CN" sz="40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ide Latin" panose="020A0A07050505020404" pitchFamily="18" charset="0"/>
                <a:ea typeface="华文彩云" panose="0201080004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40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    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串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153214-7B01-5997-7E63-571F2D9B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3E0640-F6A6-1CEE-0D03-C1ADB7F7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3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0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71DCA2-5AC5-5B36-C07E-8A4D0C60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9DE4E4-567B-2BF5-30A9-918B6A42BBB4}"/>
              </a:ext>
            </a:extLst>
          </p:cNvPr>
          <p:cNvSpPr txBox="1"/>
          <p:nvPr/>
        </p:nvSpPr>
        <p:spPr>
          <a:xfrm>
            <a:off x="1350579" y="269907"/>
            <a:ext cx="3163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4.1  </a:t>
            </a:r>
            <a:r>
              <a:rPr lang="zh-CN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串类型的定义</a:t>
            </a:r>
            <a:endParaRPr lang="zh-CN" altLang="en-US" sz="2400" b="1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79CE79-F332-BE6B-0612-764DB1C278B3}"/>
              </a:ext>
            </a:extLst>
          </p:cNvPr>
          <p:cNvSpPr txBox="1"/>
          <p:nvPr/>
        </p:nvSpPr>
        <p:spPr>
          <a:xfrm>
            <a:off x="336330" y="808260"/>
            <a:ext cx="5186856" cy="575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4000"/>
              </a:lnSpc>
              <a:buNone/>
            </a:pP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（或字符串）是由零个或多个字符组成的有限序列，一般记为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14000"/>
              </a:lnSpc>
              <a:buNone/>
            </a:pP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"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   (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0)                             (4-1)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4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是串的名，用双引号括起来的字符序列是串的值；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可以是字母、数字或其他字符。串中字符的数目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称为串的</a:t>
            </a: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长度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。零个字符的串称为</a:t>
            </a: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空串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 string)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，它的长度为零。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4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串中任意个连续的字符组成的子序列称为该串的</a:t>
            </a: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子串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。包含子串的串相应地称为</a:t>
            </a:r>
            <a:r>
              <a:rPr lang="zh-CN" altLang="zh-CN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主串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。通常称字符在序列中的序号为该字符在串中的</a:t>
            </a:r>
            <a:r>
              <a:rPr lang="zh-CN" altLang="zh-CN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位置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。子串在主串中的位置则以子串的第一个字符在主串中的位置来表示。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4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例如，设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为如下的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个串：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4000"/>
              </a:lnSpc>
              <a:buNone/>
            </a:pPr>
            <a:r>
              <a:rPr lang="en-US" altLang="zh-CN" sz="1800" b="1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"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BEI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              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"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JING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4000"/>
              </a:lnSpc>
              <a:buNone/>
            </a:pPr>
            <a:r>
              <a:rPr lang="en-US" altLang="zh-CN" sz="1800" b="1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"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BEIJING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800" b="1" i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BEI JING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4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它们的长度分别为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；并且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都是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的子串，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中的位置都是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中的位置是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中的位置则是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个字符是空格。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7A18E9-914C-29D1-4C9F-FE118B9406FA}"/>
              </a:ext>
            </a:extLst>
          </p:cNvPr>
          <p:cNvSpPr txBox="1"/>
          <p:nvPr/>
        </p:nvSpPr>
        <p:spPr>
          <a:xfrm>
            <a:off x="5885794" y="808260"/>
            <a:ext cx="5701861" cy="581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称两个串是</a:t>
            </a:r>
            <a:r>
              <a:rPr lang="zh-CN" altLang="zh-CN" sz="1800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的，当且仅当这两个串的值相等。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，只有当两个串的长度相等，且各个对应位置的字符都相等时才相等。例如上例中的串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彼此都不相等。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串值必须用一对双引号（与流行的程序设计语言一致，过去也有约定是单引号的）括起来，但双引号本身不属于串，它的作用是避免与变量名或数的常量混淆而已。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00050"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例如在程序设计语言中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00050" algn="just">
              <a:lnSpc>
                <a:spcPct val="115000"/>
              </a:lnSpc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 = "123";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表明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是串变量名，赋给它的值是字符序列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123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。又如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00050" algn="just">
              <a:lnSpc>
                <a:spcPct val="115000"/>
              </a:lnSpc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tsing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"TSING"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tsing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是一个串变量名，而字符序列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TSING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是其值。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在各种应用中，</a:t>
            </a:r>
            <a:r>
              <a:rPr lang="zh-CN" altLang="zh-CN" sz="18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空格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常是串的字符集合中的一个元素，可出现在其他字符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间。由一个或多个空格组成的串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   "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空格串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blank string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，请注意：这不是空串），它的长度为串中空格字符的个数。为了清楚起见，需要时可用符号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来表示“空串”。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2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67DFDB-0A76-38E7-D82C-36F691DB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A5D083-51B9-2D82-684D-E3B54E85E859}"/>
              </a:ext>
            </a:extLst>
          </p:cNvPr>
          <p:cNvSpPr txBox="1"/>
          <p:nvPr/>
        </p:nvSpPr>
        <p:spPr>
          <a:xfrm>
            <a:off x="174736" y="788371"/>
            <a:ext cx="7104992" cy="585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ADT String {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数据对象：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{ a</a:t>
            </a:r>
            <a:r>
              <a:rPr lang="en-US" altLang="zh-CN" sz="1600" kern="100" baseline="-250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CharacterSet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1,2,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…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,n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≥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数据关系：</a:t>
            </a:r>
            <a:r>
              <a:rPr lang="en-US" altLang="zh-CN" sz="16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R1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sz="1600" kern="100" baseline="-250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i-</a:t>
            </a:r>
            <a:r>
              <a:rPr lang="en-US" altLang="zh-CN" sz="1600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1600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i-1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1600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zh-CN" sz="16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2,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…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,n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基本操作：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StrNew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(cs)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语言的字符串（可简称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串）。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操作结果：构造并返回一个值由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复制的串。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StrFree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操作结果：回收串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StrClear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操作结果：将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清为空串。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StrEmpty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操作结果：若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为空串，则返回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，否则返回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操作结果：返回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的元素个数，称为串的长度。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StrCmp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T);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操作结果：若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S&gt;T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，则返回值＞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；若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S=T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，则返回值＝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；</a:t>
            </a:r>
            <a:endParaRPr lang="en-US" altLang="zh-CN" sz="1600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若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S&lt;T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，则返回值＜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StrCopy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操作结果：由串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复制并返回新串。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D20B7F-4F3C-70D7-1CE1-56FA55108607}"/>
              </a:ext>
            </a:extLst>
          </p:cNvPr>
          <p:cNvSpPr txBox="1"/>
          <p:nvPr/>
        </p:nvSpPr>
        <p:spPr>
          <a:xfrm>
            <a:off x="1355835" y="267278"/>
            <a:ext cx="28272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串的抽象数据类型</a:t>
            </a:r>
            <a:endParaRPr lang="zh-CN" altLang="en-US" sz="2400" b="1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04240B-5A8B-752F-B700-837D83966C78}"/>
              </a:ext>
            </a:extLst>
          </p:cNvPr>
          <p:cNvSpPr txBox="1"/>
          <p:nvPr/>
        </p:nvSpPr>
        <p:spPr>
          <a:xfrm>
            <a:off x="6059214" y="1341879"/>
            <a:ext cx="6132786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StrConcat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操作结果：返回由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联接而成的新串。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StrSub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且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  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   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0&lt;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(S)-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pos+1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操作结果：返回串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的第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个字符起长度为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的子串。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SStrRange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a, b);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操作结果：保留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在区间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a..b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内的串值，其余被覆盖或清除。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Index(S, T, pos);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是非空串，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操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作结果：若主串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中存在和串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值相同的子串，则返回它在主串</a:t>
            </a:r>
            <a:endParaRPr lang="en-US" altLang="zh-CN" sz="1600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个字符起第一次出现的位置；否则函数值为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StrAssign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cs);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字符串。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操作结果：用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复盖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个字符起的串值。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StrInsert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cs);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(S)+1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操作结果：在串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的第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个字符之前插入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StrDelete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(S, pos, 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存在，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(S)-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len+1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操作结果：从串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中删除第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个字符起长度为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的子串。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ADT String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8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17A544-5141-72D3-F851-98E92A4C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91C106-A50D-E094-C28A-17DCA48A56CC}"/>
              </a:ext>
            </a:extLst>
          </p:cNvPr>
          <p:cNvSpPr txBox="1"/>
          <p:nvPr/>
        </p:nvSpPr>
        <p:spPr>
          <a:xfrm>
            <a:off x="1003738" y="265255"/>
            <a:ext cx="38257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  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串的表示和实现</a:t>
            </a:r>
            <a:endParaRPr lang="zh-CN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560D3A-0498-55B5-5489-5D4A74A3EA3D}"/>
              </a:ext>
            </a:extLst>
          </p:cNvPr>
          <p:cNvSpPr txBox="1"/>
          <p:nvPr/>
        </p:nvSpPr>
        <p:spPr>
          <a:xfrm>
            <a:off x="332203" y="770362"/>
            <a:ext cx="4076512" cy="6000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041ABC"/>
                </a:solidFill>
              </a:rPr>
              <a:t>4.2.1  C</a:t>
            </a:r>
            <a:r>
              <a:rPr lang="zh-CN" altLang="zh-CN" sz="2000" b="1" dirty="0">
                <a:solidFill>
                  <a:srgbClr val="041ABC"/>
                </a:solidFill>
                <a:latin typeface="+mj-ea"/>
                <a:ea typeface="+mj-ea"/>
              </a:rPr>
              <a:t>语言串的存储表示</a:t>
            </a:r>
          </a:p>
          <a:p>
            <a:pPr indent="26670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语言的串常量也叫</a:t>
            </a: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串字面值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 literal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）是用一对双引号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括起来的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或多个字符组成的字符序列。例如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70510" algn="l">
              <a:lnSpc>
                <a:spcPct val="120000"/>
              </a:lnSpc>
              <a:buNone/>
            </a:pP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"Data Structures"   </a:t>
            </a:r>
            <a:endParaRPr lang="en-US" altLang="zh-CN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或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""    </a:t>
            </a:r>
            <a:r>
              <a:rPr lang="en-US" altLang="zh-CN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// </a:t>
            </a:r>
            <a:r>
              <a:rPr lang="zh-CN" altLang="zh-CN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空串</a:t>
            </a:r>
            <a:endParaRPr lang="zh-CN" altLang="zh-CN" b="1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None/>
            </a:pPr>
            <a:r>
              <a:rPr lang="zh-CN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都是串。双引号不是字符串的一部分，只用于限定串值。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从存储表示看，串常量就存储在一维字符数组。串的内部表示不存储那对双引号，但在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末尾附加一个空字符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'\0'</a:t>
            </a:r>
            <a:r>
              <a:rPr lang="zh-CN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</a:t>
            </a:r>
            <a:r>
              <a:rPr lang="zh-CN" altLang="zh-CN" sz="18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结束符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。因此存储字符串的物理存储单元数比双引号内的字符数多一个</a:t>
            </a:r>
            <a:r>
              <a:rPr lang="zh-CN" altLang="zh-CN" sz="1800" kern="100" baseline="300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。这表明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语言未限制串的长度，但程序必须扫描完整的串值后才能确定串的长度。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435F178-C0C8-4FB2-78B4-485B9EE61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802364"/>
            <a:ext cx="7402285" cy="330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14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语言没有给串类型命名。可如下几种形式声明串变量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[15];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分配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个字符单元，最多容纳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个字符（末尾留一个单元存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'\0’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）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str2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[] = "Data Structures";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//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在栈区分配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个字符单元，并将串值存入数组，末尾加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'\0’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*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str3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"Data Structures";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在堆区分配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个字符单元，并将串值存入数组，末尾加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'\0’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char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*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str4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;       //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字符类型指针，未分配串值存储空间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其中，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分别声明为字符数组和字符指针。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将始终指向在栈区为它分配的存储区域的基址，而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str3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当前指向了为给定串值分配的存储区域，之后可以修改以指向其他地址，但原所指向的区域可能要给与释放，防止内存泄漏。这也正是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语言的串的内存安全问题之一。图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示意了这两个变量的存储表示。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5" name="图片 1">
            <a:extLst>
              <a:ext uri="{FF2B5EF4-FFF2-40B4-BE49-F238E27FC236}">
                <a16:creationId xmlns:a16="http://schemas.microsoft.com/office/drawing/2014/main" id="{A9EF4198-DAD6-19E1-04CA-F177353A9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871" y="4471269"/>
            <a:ext cx="5116286" cy="147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83D60E9-CEFC-53D1-DEC0-201194B55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6015" y="6017795"/>
            <a:ext cx="54319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Courier New" panose="02070309020205020404" pitchFamily="49" charset="0"/>
              </a:rPr>
              <a:t>图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4.1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Courier New" panose="02070309020205020404" pitchFamily="49" charset="0"/>
              </a:rPr>
              <a:t>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语言的字符数组和字符指针变量的存储表示示例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89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02F8AD-42A6-A3A1-099F-709364FA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787AC0-5E04-1131-AE4D-FC4C4C85C7DC}"/>
              </a:ext>
            </a:extLst>
          </p:cNvPr>
          <p:cNvSpPr txBox="1"/>
          <p:nvPr/>
        </p:nvSpPr>
        <p:spPr>
          <a:xfrm>
            <a:off x="457200" y="870805"/>
            <a:ext cx="10961914" cy="445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类似于线性表的顺序存储结构，可用一组地址连续的存储单元存储串值的字符序列。各种程序中频繁使用的多数是长度很短的串，长度被限制在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以内的串称为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短串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short string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），其存储表示描述如下。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//-----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短串的顺序存储表示及存储分配和销毁操作的实现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effectLst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effectLst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-----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39725" algn="just">
              <a:lnSpc>
                <a:spcPct val="120000"/>
              </a:lnSpc>
              <a:buNone/>
            </a:pP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#define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254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串长必须在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254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以内</a:t>
            </a:r>
          </a:p>
          <a:p>
            <a:pPr indent="33845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*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动态分配串长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+2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个字符单元，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号单元存串长，串值末附加结束符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'\0'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spcBef>
                <a:spcPts val="600"/>
              </a:spcBef>
            </a:pP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辅助操作：申请为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</a:t>
            </a:r>
            <a:r>
              <a:rPr lang="en-US" altLang="zh-CN" sz="1600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len+2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容量的空间（可能被限长）</a:t>
            </a: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&gt;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最长不超过</a:t>
            </a:r>
            <a:r>
              <a:rPr lang="en-US" altLang="zh-CN" sz="1600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 = (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6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calloc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len+2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分配空间</a:t>
            </a:r>
          </a:p>
          <a:p>
            <a:pPr indent="338455" algn="just">
              <a:lnSpc>
                <a:spcPct val="120000"/>
              </a:lnSpc>
              <a:spcBef>
                <a:spcPts val="600"/>
              </a:spcBef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S[0] =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借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S[0]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返回实际分配的容量，未赋串值前还不是真实串长</a:t>
            </a:r>
          </a:p>
          <a:p>
            <a:pPr indent="338455" algn="just">
              <a:lnSpc>
                <a:spcPct val="12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39725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38455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SStrFree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free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NULL;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回收操作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D6980C-4D36-8F01-0186-20A50A53329D}"/>
              </a:ext>
            </a:extLst>
          </p:cNvPr>
          <p:cNvSpPr txBox="1"/>
          <p:nvPr/>
        </p:nvSpPr>
        <p:spPr>
          <a:xfrm>
            <a:off x="1123950" y="275287"/>
            <a:ext cx="3848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>
              <a:buNone/>
            </a:pP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4.2.2  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短串的存储表示</a:t>
            </a:r>
            <a:endParaRPr lang="zh-CN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368774-9CFC-ADF4-2557-B7B03AE9B12E}"/>
              </a:ext>
            </a:extLst>
          </p:cNvPr>
          <p:cNvSpPr txBox="1"/>
          <p:nvPr/>
        </p:nvSpPr>
        <p:spPr>
          <a:xfrm>
            <a:off x="974272" y="5387030"/>
            <a:ext cx="5426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新建一个短串，先调用辅助操作</a:t>
            </a:r>
            <a:r>
              <a:rPr lang="en-US" altLang="zh-CN" sz="18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allocSStr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申请分配存储空间，其存储容量可在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256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（是串的长度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）以内指定；然后存入串值，若串值有超过预定长度的部分则被舍去，称之为“截断”。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07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873BD2-62C1-CD42-B9D7-D9E6028A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09C18CE-BCEC-AE31-4BAD-242DCB292138}"/>
              </a:ext>
            </a:extLst>
          </p:cNvPr>
          <p:cNvSpPr/>
          <p:nvPr/>
        </p:nvSpPr>
        <p:spPr>
          <a:xfrm>
            <a:off x="1392620" y="278305"/>
            <a:ext cx="6001407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4.3   </a:t>
            </a:r>
            <a:r>
              <a:rPr lang="zh-CN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求子串</a:t>
            </a:r>
            <a:r>
              <a:rPr lang="en-US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 err="1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SStrSub</a:t>
            </a:r>
            <a:r>
              <a:rPr lang="en-US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S,pos,len</a:t>
            </a:r>
            <a:r>
              <a:rPr lang="en-US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D2B711-72C4-B7EF-DD36-D624C4C34AB4}"/>
              </a:ext>
            </a:extLst>
          </p:cNvPr>
          <p:cNvSpPr txBox="1"/>
          <p:nvPr/>
        </p:nvSpPr>
        <p:spPr>
          <a:xfrm>
            <a:off x="843887" y="3464512"/>
            <a:ext cx="9506606" cy="28623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None/>
            </a:pP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SStrSub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的第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个字符起长度为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的子串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0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(S)-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pos+1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pos&lt;1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pos&gt;S[0]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&lt;0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&gt;S[0]-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检查参数</a:t>
            </a:r>
            <a:endParaRPr lang="en-US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Sub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分配结果子串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Sub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的空间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Sub+1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S+pos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复制子串值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Sub[0]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Sub[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'\0';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子串长度，结束符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Sub;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08BEF4B-A287-CFDA-3FBB-D1CA6A114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514119"/>
              </p:ext>
            </p:extLst>
          </p:nvPr>
        </p:nvGraphicFramePr>
        <p:xfrm>
          <a:off x="5457933" y="1352464"/>
          <a:ext cx="489256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78041913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249890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178299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7190638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87570052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6438533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64168253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83288309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3349854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2873874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4648267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617412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13205046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28097361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9073829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864687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22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5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E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F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7223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5C99041-155A-FE96-62DB-86F617660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92290"/>
              </p:ext>
            </p:extLst>
          </p:nvPr>
        </p:nvGraphicFramePr>
        <p:xfrm>
          <a:off x="6100382" y="2254502"/>
          <a:ext cx="275206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780419131"/>
                    </a:ext>
                  </a:extLst>
                </a:gridCol>
                <a:gridCol w="335146">
                  <a:extLst>
                    <a:ext uri="{9D8B030D-6E8A-4147-A177-3AD203B41FA5}">
                      <a16:colId xmlns:a16="http://schemas.microsoft.com/office/drawing/2014/main" val="3762498905"/>
                    </a:ext>
                  </a:extLst>
                </a:gridCol>
                <a:gridCol w="276424">
                  <a:extLst>
                    <a:ext uri="{9D8B030D-6E8A-4147-A177-3AD203B41FA5}">
                      <a16:colId xmlns:a16="http://schemas.microsoft.com/office/drawing/2014/main" val="11178299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7190638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87570052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6438533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64168253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83288309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2873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2216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7223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E6278C8-CD77-0778-CB43-BFFFFAA9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15500"/>
              </p:ext>
            </p:extLst>
          </p:nvPr>
        </p:nvGraphicFramePr>
        <p:xfrm>
          <a:off x="6989481" y="1716289"/>
          <a:ext cx="1528925" cy="3975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13521770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60542727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8079619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55272317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486398510"/>
                    </a:ext>
                  </a:extLst>
                </a:gridCol>
              </a:tblGrid>
              <a:tr h="397503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977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BF78FA03-B8EF-7866-87FA-E82F4EC1C834}"/>
              </a:ext>
            </a:extLst>
          </p:cNvPr>
          <p:cNvSpPr txBox="1"/>
          <p:nvPr/>
        </p:nvSpPr>
        <p:spPr>
          <a:xfrm>
            <a:off x="6778143" y="2655289"/>
            <a:ext cx="211338" cy="35418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5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8A47FA-A2F0-70CE-9537-CA69DAABDB78}"/>
              </a:ext>
            </a:extLst>
          </p:cNvPr>
          <p:cNvSpPr txBox="1"/>
          <p:nvPr/>
        </p:nvSpPr>
        <p:spPr>
          <a:xfrm>
            <a:off x="8563119" y="2657003"/>
            <a:ext cx="283272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/0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F4B236-92F7-835A-9DBA-CFF8127787D1}"/>
              </a:ext>
            </a:extLst>
          </p:cNvPr>
          <p:cNvSpPr txBox="1"/>
          <p:nvPr/>
        </p:nvSpPr>
        <p:spPr>
          <a:xfrm>
            <a:off x="6947167" y="1095320"/>
            <a:ext cx="479499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pos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E7770D-2C73-29BD-F00F-C0386B5264B6}"/>
              </a:ext>
            </a:extLst>
          </p:cNvPr>
          <p:cNvSpPr txBox="1"/>
          <p:nvPr/>
        </p:nvSpPr>
        <p:spPr>
          <a:xfrm>
            <a:off x="843887" y="2821527"/>
            <a:ext cx="4493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</a:t>
            </a:r>
            <a:r>
              <a:rPr lang="en-US" altLang="zh-CN" sz="20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ss = </a:t>
            </a:r>
            <a:r>
              <a:rPr lang="en-US" altLang="zh-CN" sz="20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SStrSub</a:t>
            </a:r>
            <a:r>
              <a:rPr lang="en-US" altLang="zh-CN" sz="20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(T, 4, 5);</a:t>
            </a:r>
            <a:endParaRPr lang="zh-CN" altLang="en-US" sz="2000" b="1" dirty="0">
              <a:solidFill>
                <a:srgbClr val="041AB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 flipH="1">
            <a:off x="3597115" y="3125585"/>
            <a:ext cx="304325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C73D41B-4CB9-D3DA-C276-883C87856F59}"/>
              </a:ext>
            </a:extLst>
          </p:cNvPr>
          <p:cNvCxnSpPr>
            <a:cxnSpLocks/>
          </p:cNvCxnSpPr>
          <p:nvPr/>
        </p:nvCxnSpPr>
        <p:spPr>
          <a:xfrm>
            <a:off x="4360072" y="3142211"/>
            <a:ext cx="300597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>
            <a:off x="4835237" y="3151882"/>
            <a:ext cx="1072341" cy="422591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0234 0.1319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8F6634-888A-B00E-C07F-9C954EEC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3117014-E893-853A-D16A-8EED292380A5}"/>
              </a:ext>
            </a:extLst>
          </p:cNvPr>
          <p:cNvSpPr/>
          <p:nvPr/>
        </p:nvSpPr>
        <p:spPr>
          <a:xfrm>
            <a:off x="1392620" y="278305"/>
            <a:ext cx="6143297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4.4   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留</a:t>
            </a:r>
            <a:r>
              <a:rPr lang="zh-CN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</a:t>
            </a:r>
            <a:r>
              <a:rPr lang="zh-CN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串</a:t>
            </a:r>
            <a:r>
              <a:rPr lang="en-US" altLang="zh-CN" sz="2400" b="1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SStrRange</a:t>
            </a:r>
            <a:r>
              <a:rPr lang="en-US" altLang="zh-CN" sz="24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(S, a, b)</a:t>
            </a:r>
            <a:endParaRPr lang="en-US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636D6A-1EA3-B274-0C7A-D07C83EE9852}"/>
              </a:ext>
            </a:extLst>
          </p:cNvPr>
          <p:cNvSpPr txBox="1"/>
          <p:nvPr/>
        </p:nvSpPr>
        <p:spPr>
          <a:xfrm>
            <a:off x="804041" y="3429000"/>
            <a:ext cx="9532883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SStrRange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保留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在区间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[a-</a:t>
            </a:r>
            <a:r>
              <a:rPr lang="en-US" altLang="zh-CN" sz="18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1..b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-1]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内的串值，其余被覆盖或清除。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O(N),N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为被保留空间容量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a&lt;1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a&gt;b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b&gt;S[0])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合法性检查</a:t>
            </a:r>
          </a:p>
          <a:p>
            <a:pPr algn="just"/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S[0]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b-a+1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更新串长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S+a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)S[0]);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要保留的串值移至起始位置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1+S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[0]] = '\0';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结束符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E6019F-0623-4512-7722-D5D449296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75719"/>
              </p:ext>
            </p:extLst>
          </p:nvPr>
        </p:nvGraphicFramePr>
        <p:xfrm>
          <a:off x="5457933" y="1352464"/>
          <a:ext cx="489256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78041913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249890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178299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7190638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87570052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64385338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64168253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83288309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33498544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228738749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946482677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76617412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13205046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428097361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219073829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864687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22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5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E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F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722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F77B0C9-3B62-8748-6456-FD3BA3613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380531"/>
              </p:ext>
            </p:extLst>
          </p:nvPr>
        </p:nvGraphicFramePr>
        <p:xfrm>
          <a:off x="6989481" y="1721608"/>
          <a:ext cx="1528925" cy="392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785">
                  <a:extLst>
                    <a:ext uri="{9D8B030D-6E8A-4147-A177-3AD203B41FA5}">
                      <a16:colId xmlns:a16="http://schemas.microsoft.com/office/drawing/2014/main" val="1135217701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605427275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180796193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1552723178"/>
                    </a:ext>
                  </a:extLst>
                </a:gridCol>
                <a:gridCol w="305785">
                  <a:extLst>
                    <a:ext uri="{9D8B030D-6E8A-4147-A177-3AD203B41FA5}">
                      <a16:colId xmlns:a16="http://schemas.microsoft.com/office/drawing/2014/main" val="3486398510"/>
                    </a:ext>
                  </a:extLst>
                </a:gridCol>
              </a:tblGrid>
              <a:tr h="392184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977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40AF964-B402-B886-6C91-25F45B2FA36A}"/>
              </a:ext>
            </a:extLst>
          </p:cNvPr>
          <p:cNvSpPr txBox="1"/>
          <p:nvPr/>
        </p:nvSpPr>
        <p:spPr>
          <a:xfrm>
            <a:off x="7039165" y="1137929"/>
            <a:ext cx="26453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a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ADE7770D-2C73-29BD-F00F-C0386B5264B6}"/>
              </a:ext>
            </a:extLst>
          </p:cNvPr>
          <p:cNvSpPr txBox="1"/>
          <p:nvPr/>
        </p:nvSpPr>
        <p:spPr>
          <a:xfrm>
            <a:off x="2550445" y="2752304"/>
            <a:ext cx="3108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SStrRange</a:t>
            </a:r>
            <a:r>
              <a:rPr lang="en-US" altLang="zh-CN" sz="20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(T, 4, 8);</a:t>
            </a:r>
            <a:endParaRPr lang="zh-CN" altLang="en-US" sz="2000" b="1" dirty="0">
              <a:solidFill>
                <a:srgbClr val="041AB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 flipH="1">
            <a:off x="3952555" y="3046530"/>
            <a:ext cx="304325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C73D41B-4CB9-D3DA-C276-883C87856F59}"/>
              </a:ext>
            </a:extLst>
          </p:cNvPr>
          <p:cNvCxnSpPr>
            <a:cxnSpLocks/>
          </p:cNvCxnSpPr>
          <p:nvPr/>
        </p:nvCxnSpPr>
        <p:spPr>
          <a:xfrm>
            <a:off x="4715512" y="3063156"/>
            <a:ext cx="187564" cy="432262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F5F58D8-4BF3-723C-6F92-652C56FA6B69}"/>
              </a:ext>
            </a:extLst>
          </p:cNvPr>
          <p:cNvCxnSpPr>
            <a:cxnSpLocks/>
          </p:cNvCxnSpPr>
          <p:nvPr/>
        </p:nvCxnSpPr>
        <p:spPr>
          <a:xfrm>
            <a:off x="5190677" y="3072827"/>
            <a:ext cx="684010" cy="422591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82ECFEE-6044-E337-C14E-DBE751636EF2}"/>
              </a:ext>
            </a:extLst>
          </p:cNvPr>
          <p:cNvSpPr txBox="1"/>
          <p:nvPr/>
        </p:nvSpPr>
        <p:spPr>
          <a:xfrm>
            <a:off x="5794628" y="1752638"/>
            <a:ext cx="262757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12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503F54-6FF3-E051-6D22-CFA15A3006AB}"/>
              </a:ext>
            </a:extLst>
          </p:cNvPr>
          <p:cNvSpPr txBox="1"/>
          <p:nvPr/>
        </p:nvSpPr>
        <p:spPr>
          <a:xfrm>
            <a:off x="5858708" y="1746814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5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9F057A-9830-9E4C-A5E0-644E5F34B3A7}"/>
              </a:ext>
            </a:extLst>
          </p:cNvPr>
          <p:cNvSpPr txBox="1"/>
          <p:nvPr/>
        </p:nvSpPr>
        <p:spPr>
          <a:xfrm>
            <a:off x="7656863" y="1744611"/>
            <a:ext cx="194159" cy="349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36000" rIns="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/0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3291E8-9C68-8925-6415-5FDBF51EFA5F}"/>
              </a:ext>
            </a:extLst>
          </p:cNvPr>
          <p:cNvSpPr txBox="1"/>
          <p:nvPr/>
        </p:nvSpPr>
        <p:spPr>
          <a:xfrm>
            <a:off x="8253873" y="1137929"/>
            <a:ext cx="26453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b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49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-0.07552 -0.000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7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6" grpId="0"/>
      <p:bldP spid="17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0A01919-86BD-A073-58F1-3AD60415B5AC}"/>
              </a:ext>
            </a:extLst>
          </p:cNvPr>
          <p:cNvSpPr txBox="1"/>
          <p:nvPr/>
        </p:nvSpPr>
        <p:spPr>
          <a:xfrm>
            <a:off x="149629" y="1130012"/>
            <a:ext cx="10762212" cy="56323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None/>
            </a:pP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SStrConcat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连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接操作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返回由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en-US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连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接而成的新串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ERROR;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合法性检查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 &lt;=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无需截断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按需分配空间，下同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++) T[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串值（可改用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++) T[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i+S1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串值（可改用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T[0]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else 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 &lt;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截断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函数复制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(T+(int)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[0]+1,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MAXSTRLEN-S1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可与前面用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循环复制对比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T[0]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else 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截断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仅取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T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MAXSTRLEN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[0]);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起，包括串长和串值的复制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T[T[0]+1] = '\0';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置结束符，返回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82CDCF2-D913-0E06-5B54-17AE89C4CB53}"/>
              </a:ext>
            </a:extLst>
          </p:cNvPr>
          <p:cNvSpPr/>
          <p:nvPr/>
        </p:nvSpPr>
        <p:spPr>
          <a:xfrm>
            <a:off x="6650179" y="774706"/>
            <a:ext cx="5519651" cy="1746821"/>
          </a:xfrm>
          <a:prstGeom prst="roundRect">
            <a:avLst/>
          </a:prstGeom>
          <a:solidFill>
            <a:srgbClr val="FFF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CD2DCF-57A9-C0E2-6C46-F6CED252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6731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3117014-E893-853A-D16A-8EED292380A5}"/>
              </a:ext>
            </a:extLst>
          </p:cNvPr>
          <p:cNvSpPr/>
          <p:nvPr/>
        </p:nvSpPr>
        <p:spPr>
          <a:xfrm>
            <a:off x="1400600" y="223139"/>
            <a:ext cx="5831474" cy="4679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4.5   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连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接</a:t>
            </a: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SStrConcat</a:t>
            </a:r>
            <a:r>
              <a:rPr lang="en-US" altLang="zh-CN" sz="24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S1,S2</a:t>
            </a:r>
            <a:r>
              <a:rPr lang="en-US" altLang="zh-CN" sz="24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9486D3F-5739-6AD3-4C35-D4FAC42FD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323342"/>
              </p:ext>
            </p:extLst>
          </p:nvPr>
        </p:nvGraphicFramePr>
        <p:xfrm>
          <a:off x="9294473" y="774706"/>
          <a:ext cx="2752069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301631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24878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746059941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0182908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B1467F2-8B33-7F01-6BD5-011AEEE37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193618"/>
              </p:ext>
            </p:extLst>
          </p:nvPr>
        </p:nvGraphicFramePr>
        <p:xfrm>
          <a:off x="6626215" y="774706"/>
          <a:ext cx="2752069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301631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24878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746059941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0182908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26859B9-8117-A9A2-213C-6F25762B9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479973"/>
              </p:ext>
            </p:extLst>
          </p:nvPr>
        </p:nvGraphicFramePr>
        <p:xfrm>
          <a:off x="6614102" y="1578127"/>
          <a:ext cx="303416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728">
                  <a:extLst>
                    <a:ext uri="{9D8B030D-6E8A-4147-A177-3AD203B41FA5}">
                      <a16:colId xmlns:a16="http://schemas.microsoft.com/office/drawing/2014/main" val="2722988368"/>
                    </a:ext>
                  </a:extLst>
                </a:gridCol>
                <a:gridCol w="302203">
                  <a:extLst>
                    <a:ext uri="{9D8B030D-6E8A-4147-A177-3AD203B41FA5}">
                      <a16:colId xmlns:a16="http://schemas.microsoft.com/office/drawing/2014/main" val="4159374079"/>
                    </a:ext>
                  </a:extLst>
                </a:gridCol>
                <a:gridCol w="250410">
                  <a:extLst>
                    <a:ext uri="{9D8B030D-6E8A-4147-A177-3AD203B41FA5}">
                      <a16:colId xmlns:a16="http://schemas.microsoft.com/office/drawing/2014/main" val="3370280708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2894475528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1781162893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1288460662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2694735192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3145953776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4208328342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1983398994"/>
                    </a:ext>
                  </a:extLst>
                </a:gridCol>
                <a:gridCol w="275728">
                  <a:extLst>
                    <a:ext uri="{9D8B030D-6E8A-4147-A177-3AD203B41FA5}">
                      <a16:colId xmlns:a16="http://schemas.microsoft.com/office/drawing/2014/main" val="2062376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</a:rPr>
                        <a:t>7</a:t>
                      </a:r>
                      <a:endParaRPr lang="zh-CN" altLang="en-US" sz="1600" dirty="0">
                        <a:latin typeface="+mn-lt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</a:rPr>
                        <a:t>8</a:t>
                      </a:r>
                      <a:endParaRPr lang="zh-CN" altLang="en-US" sz="1600" dirty="0">
                        <a:latin typeface="+mn-lt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993449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0090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6E73A3F-8626-9F26-9E68-68BD3475C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517285"/>
              </p:ext>
            </p:extLst>
          </p:nvPr>
        </p:nvGraphicFramePr>
        <p:xfrm>
          <a:off x="7451835" y="1147763"/>
          <a:ext cx="825621" cy="394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3774136567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9650722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134499640"/>
                    </a:ext>
                  </a:extLst>
                </a:gridCol>
              </a:tblGrid>
              <a:tr h="394023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3591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EA861E6-2DC0-8626-6645-09A1275D1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081290"/>
              </p:ext>
            </p:extLst>
          </p:nvPr>
        </p:nvGraphicFramePr>
        <p:xfrm>
          <a:off x="10121285" y="1147763"/>
          <a:ext cx="1100828" cy="389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2209411359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193190497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72101909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36465354"/>
                    </a:ext>
                  </a:extLst>
                </a:gridCol>
              </a:tblGrid>
              <a:tr h="38951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252920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BD006B6-D745-9B1A-ED96-A098FF6D7987}"/>
              </a:ext>
            </a:extLst>
          </p:cNvPr>
          <p:cNvSpPr txBox="1"/>
          <p:nvPr/>
        </p:nvSpPr>
        <p:spPr>
          <a:xfrm>
            <a:off x="7277610" y="1147763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3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1F1A5B-FBCA-2C01-C27B-67B766B19E1B}"/>
              </a:ext>
            </a:extLst>
          </p:cNvPr>
          <p:cNvSpPr txBox="1"/>
          <p:nvPr/>
        </p:nvSpPr>
        <p:spPr>
          <a:xfrm>
            <a:off x="9943444" y="1158246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4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9BD006B6-D745-9B1A-ED96-A098FF6D7987}"/>
              </a:ext>
            </a:extLst>
          </p:cNvPr>
          <p:cNvSpPr txBox="1"/>
          <p:nvPr/>
        </p:nvSpPr>
        <p:spPr>
          <a:xfrm>
            <a:off x="7249899" y="1967209"/>
            <a:ext cx="1575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</a:rPr>
              <a:t>7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4" name="文本框 10">
            <a:extLst>
              <a:ext uri="{FF2B5EF4-FFF2-40B4-BE49-F238E27FC236}">
                <a16:creationId xmlns:a16="http://schemas.microsoft.com/office/drawing/2014/main" id="{9BD006B6-D745-9B1A-ED96-A098FF6D7987}"/>
              </a:ext>
            </a:extLst>
          </p:cNvPr>
          <p:cNvSpPr txBox="1"/>
          <p:nvPr/>
        </p:nvSpPr>
        <p:spPr>
          <a:xfrm>
            <a:off x="9383826" y="1972751"/>
            <a:ext cx="253396" cy="3497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/0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087090-66AD-788E-E0AA-C97AC241BC9D}"/>
              </a:ext>
            </a:extLst>
          </p:cNvPr>
          <p:cNvSpPr/>
          <p:nvPr/>
        </p:nvSpPr>
        <p:spPr>
          <a:xfrm>
            <a:off x="5774575" y="2669446"/>
            <a:ext cx="6395255" cy="1746821"/>
          </a:xfrm>
          <a:prstGeom prst="roundRect">
            <a:avLst/>
          </a:prstGeom>
          <a:solidFill>
            <a:srgbClr val="FFF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6676B1E-C96B-B73B-1F8D-08FB83E9A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232426"/>
              </p:ext>
            </p:extLst>
          </p:nvPr>
        </p:nvGraphicFramePr>
        <p:xfrm>
          <a:off x="5774575" y="2697680"/>
          <a:ext cx="2476862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301631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24878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98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</a:rPr>
                        <a:t>99</a:t>
                      </a:r>
                      <a:endParaRPr lang="zh-CN" altLang="en-US" sz="1600" dirty="0">
                        <a:latin typeface="+mn-lt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98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45DE4DC-231C-27FC-A6B7-F8A54CE9A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1132"/>
              </p:ext>
            </p:extLst>
          </p:nvPr>
        </p:nvGraphicFramePr>
        <p:xfrm>
          <a:off x="8277456" y="2693173"/>
          <a:ext cx="359157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75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3707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8843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2551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  <a:gridCol w="552549">
                  <a:extLst>
                    <a:ext uri="{9D8B030D-6E8A-4147-A177-3AD203B41FA5}">
                      <a16:colId xmlns:a16="http://schemas.microsoft.com/office/drawing/2014/main" val="3068664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779088553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156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157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178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179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178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2ADC5383-A21A-B2AA-A5CC-583F405B69B9}"/>
              </a:ext>
            </a:extLst>
          </p:cNvPr>
          <p:cNvGrpSpPr/>
          <p:nvPr/>
        </p:nvGrpSpPr>
        <p:grpSpPr>
          <a:xfrm>
            <a:off x="149629" y="2398029"/>
            <a:ext cx="628468" cy="1253515"/>
            <a:chOff x="149629" y="2398029"/>
            <a:chExt cx="628468" cy="1253515"/>
          </a:xfrm>
        </p:grpSpPr>
        <p:sp>
          <p:nvSpPr>
            <p:cNvPr id="19" name="左大括号 18">
              <a:extLst>
                <a:ext uri="{FF2B5EF4-FFF2-40B4-BE49-F238E27FC236}">
                  <a16:creationId xmlns:a16="http://schemas.microsoft.com/office/drawing/2014/main" id="{308EB107-281B-4418-F395-57824489FA25}"/>
                </a:ext>
              </a:extLst>
            </p:cNvPr>
            <p:cNvSpPr/>
            <p:nvPr/>
          </p:nvSpPr>
          <p:spPr>
            <a:xfrm>
              <a:off x="543948" y="2398029"/>
              <a:ext cx="234149" cy="125351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77B0930-2F91-A593-85D2-2F03558B0BF4}"/>
                </a:ext>
              </a:extLst>
            </p:cNvPr>
            <p:cNvSpPr txBox="1"/>
            <p:nvPr/>
          </p:nvSpPr>
          <p:spPr>
            <a:xfrm flipH="1">
              <a:off x="149629" y="2790925"/>
              <a:ext cx="270482" cy="46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①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530A069-6E5A-D609-6B0B-A4B88647D088}"/>
              </a:ext>
            </a:extLst>
          </p:cNvPr>
          <p:cNvGrpSpPr/>
          <p:nvPr/>
        </p:nvGrpSpPr>
        <p:grpSpPr>
          <a:xfrm>
            <a:off x="128881" y="3838640"/>
            <a:ext cx="628468" cy="1253515"/>
            <a:chOff x="149629" y="2398029"/>
            <a:chExt cx="628468" cy="1253515"/>
          </a:xfrm>
        </p:grpSpPr>
        <p:sp>
          <p:nvSpPr>
            <p:cNvPr id="23" name="左大括号 22">
              <a:extLst>
                <a:ext uri="{FF2B5EF4-FFF2-40B4-BE49-F238E27FC236}">
                  <a16:creationId xmlns:a16="http://schemas.microsoft.com/office/drawing/2014/main" id="{A957EECA-B11F-1A3E-B338-23FDEE64160C}"/>
                </a:ext>
              </a:extLst>
            </p:cNvPr>
            <p:cNvSpPr/>
            <p:nvPr/>
          </p:nvSpPr>
          <p:spPr>
            <a:xfrm>
              <a:off x="543948" y="2398029"/>
              <a:ext cx="234149" cy="125351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0DE15D2-A0D8-B1FB-BB76-26078F798877}"/>
                </a:ext>
              </a:extLst>
            </p:cNvPr>
            <p:cNvSpPr txBox="1"/>
            <p:nvPr/>
          </p:nvSpPr>
          <p:spPr>
            <a:xfrm flipH="1">
              <a:off x="149629" y="2790925"/>
              <a:ext cx="270482" cy="46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②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AA3E3C1-F194-90A6-1459-F52C2AA218C4}"/>
              </a:ext>
            </a:extLst>
          </p:cNvPr>
          <p:cNvGrpSpPr/>
          <p:nvPr/>
        </p:nvGrpSpPr>
        <p:grpSpPr>
          <a:xfrm>
            <a:off x="117379" y="5165639"/>
            <a:ext cx="639970" cy="643914"/>
            <a:chOff x="138127" y="2398031"/>
            <a:chExt cx="639970" cy="1006884"/>
          </a:xfrm>
        </p:grpSpPr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F32FD73C-642D-1558-5C87-52DF01F79E50}"/>
                </a:ext>
              </a:extLst>
            </p:cNvPr>
            <p:cNvSpPr/>
            <p:nvPr/>
          </p:nvSpPr>
          <p:spPr>
            <a:xfrm>
              <a:off x="507616" y="2398031"/>
              <a:ext cx="270481" cy="100688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322E1CD-10E5-C1C5-4882-DCB092B785A5}"/>
                </a:ext>
              </a:extLst>
            </p:cNvPr>
            <p:cNvSpPr txBox="1"/>
            <p:nvPr/>
          </p:nvSpPr>
          <p:spPr>
            <a:xfrm flipH="1">
              <a:off x="138127" y="2539126"/>
              <a:ext cx="270482" cy="721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③</a:t>
              </a:r>
            </a:p>
          </p:txBody>
        </p:sp>
      </p:grp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12AEA192-0742-62C7-BF3A-1A2EB9FC9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800749"/>
              </p:ext>
            </p:extLst>
          </p:nvPr>
        </p:nvGraphicFramePr>
        <p:xfrm>
          <a:off x="5759372" y="3489914"/>
          <a:ext cx="3839055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218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2116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632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48438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3641575902"/>
                    </a:ext>
                  </a:extLst>
                </a:gridCol>
                <a:gridCol w="548435">
                  <a:extLst>
                    <a:ext uri="{9D8B030D-6E8A-4147-A177-3AD203B41FA5}">
                      <a16:colId xmlns:a16="http://schemas.microsoft.com/office/drawing/2014/main" val="3068664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779088553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98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254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CD224A2-0552-96FB-BFD7-30F7D4CC5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086658"/>
              </p:ext>
            </p:extLst>
          </p:nvPr>
        </p:nvGraphicFramePr>
        <p:xfrm>
          <a:off x="6600622" y="3076345"/>
          <a:ext cx="1376035" cy="378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294341342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486034486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2524460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346684661"/>
                    </a:ext>
                  </a:extLst>
                </a:gridCol>
              </a:tblGrid>
              <a:tr h="3783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37147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0330A5EA-8DAE-CCC4-8B55-4A6B9A7C5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783418"/>
              </p:ext>
            </p:extLst>
          </p:nvPr>
        </p:nvGraphicFramePr>
        <p:xfrm>
          <a:off x="9103704" y="3075678"/>
          <a:ext cx="1381376" cy="3723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75">
                  <a:extLst>
                    <a:ext uri="{9D8B030D-6E8A-4147-A177-3AD203B41FA5}">
                      <a16:colId xmlns:a16="http://schemas.microsoft.com/office/drawing/2014/main" val="2711535948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2671800823"/>
                    </a:ext>
                  </a:extLst>
                </a:gridCol>
                <a:gridCol w="552551">
                  <a:extLst>
                    <a:ext uri="{9D8B030D-6E8A-4147-A177-3AD203B41FA5}">
                      <a16:colId xmlns:a16="http://schemas.microsoft.com/office/drawing/2014/main" val="3386392345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4244908815"/>
                    </a:ext>
                  </a:extLst>
                </a:gridCol>
              </a:tblGrid>
              <a:tr h="372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93533"/>
                  </a:ext>
                </a:extLst>
              </a:tr>
            </a:tbl>
          </a:graphicData>
        </a:graphic>
      </p:graphicFrame>
      <p:sp>
        <p:nvSpPr>
          <p:cNvPr id="31" name="文本框 15">
            <a:extLst>
              <a:ext uri="{FF2B5EF4-FFF2-40B4-BE49-F238E27FC236}">
                <a16:creationId xmlns:a16="http://schemas.microsoft.com/office/drawing/2014/main" id="{2D503F54-6FF3-E051-6D22-CFA15A3006AB}"/>
              </a:ext>
            </a:extLst>
          </p:cNvPr>
          <p:cNvSpPr txBox="1"/>
          <p:nvPr/>
        </p:nvSpPr>
        <p:spPr>
          <a:xfrm>
            <a:off x="6260785" y="3912612"/>
            <a:ext cx="351949" cy="31892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solidFill>
                  <a:srgbClr val="C00000"/>
                </a:solidFill>
              </a:rPr>
              <a:t>254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32" name="文本框 15">
            <a:extLst>
              <a:ext uri="{FF2B5EF4-FFF2-40B4-BE49-F238E27FC236}">
                <a16:creationId xmlns:a16="http://schemas.microsoft.com/office/drawing/2014/main" id="{CD824874-850F-F915-CE70-7820A2F2CB51}"/>
              </a:ext>
            </a:extLst>
          </p:cNvPr>
          <p:cNvSpPr txBox="1"/>
          <p:nvPr/>
        </p:nvSpPr>
        <p:spPr>
          <a:xfrm>
            <a:off x="9381831" y="3889576"/>
            <a:ext cx="2317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</a:rPr>
              <a:t>/0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AECE51E-8AF4-9133-8B06-76900AA48E6E}"/>
              </a:ext>
            </a:extLst>
          </p:cNvPr>
          <p:cNvSpPr/>
          <p:nvPr/>
        </p:nvSpPr>
        <p:spPr>
          <a:xfrm>
            <a:off x="6711043" y="4665971"/>
            <a:ext cx="5443584" cy="1746821"/>
          </a:xfrm>
          <a:prstGeom prst="roundRect">
            <a:avLst/>
          </a:prstGeom>
          <a:solidFill>
            <a:srgbClr val="FFF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349258D8-5162-B927-D18D-39BE98E74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988456"/>
              </p:ext>
            </p:extLst>
          </p:nvPr>
        </p:nvGraphicFramePr>
        <p:xfrm>
          <a:off x="6772907" y="4692665"/>
          <a:ext cx="2476862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21650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28763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85343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254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+mn-ea"/>
                        </a:rPr>
                        <a:t>255</a:t>
                      </a:r>
                      <a:endParaRPr lang="zh-CN" altLang="en-US" sz="1400" dirty="0">
                        <a:latin typeface="+mn-lt"/>
                        <a:ea typeface="+mn-ea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254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F58965EE-16B2-8E37-0BCF-E12F1E7D1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069858"/>
              </p:ext>
            </p:extLst>
          </p:nvPr>
        </p:nvGraphicFramePr>
        <p:xfrm>
          <a:off x="9366628" y="4689698"/>
          <a:ext cx="248647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75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3707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8843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52551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6275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178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179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178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/0</a:t>
                      </a: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AA60DCA8-5BCB-1B2B-0C72-E7C22F309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369664"/>
              </p:ext>
            </p:extLst>
          </p:nvPr>
        </p:nvGraphicFramePr>
        <p:xfrm>
          <a:off x="6772907" y="5491374"/>
          <a:ext cx="246796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218">
                  <a:extLst>
                    <a:ext uri="{9D8B030D-6E8A-4147-A177-3AD203B41FA5}">
                      <a16:colId xmlns:a16="http://schemas.microsoft.com/office/drawing/2014/main" val="414437029"/>
                    </a:ext>
                  </a:extLst>
                </a:gridCol>
                <a:gridCol w="212116">
                  <a:extLst>
                    <a:ext uri="{9D8B030D-6E8A-4147-A177-3AD203B41FA5}">
                      <a16:colId xmlns:a16="http://schemas.microsoft.com/office/drawing/2014/main" val="3371176287"/>
                    </a:ext>
                  </a:extLst>
                </a:gridCol>
                <a:gridCol w="336322">
                  <a:extLst>
                    <a:ext uri="{9D8B030D-6E8A-4147-A177-3AD203B41FA5}">
                      <a16:colId xmlns:a16="http://schemas.microsoft.com/office/drawing/2014/main" val="781410206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254982125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873979812"/>
                    </a:ext>
                  </a:extLst>
                </a:gridCol>
                <a:gridCol w="548438">
                  <a:extLst>
                    <a:ext uri="{9D8B030D-6E8A-4147-A177-3AD203B41FA5}">
                      <a16:colId xmlns:a16="http://schemas.microsoft.com/office/drawing/2014/main" val="943307370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2490466563"/>
                    </a:ext>
                  </a:extLst>
                </a:gridCol>
                <a:gridCol w="274218">
                  <a:extLst>
                    <a:ext uri="{9D8B030D-6E8A-4147-A177-3AD203B41FA5}">
                      <a16:colId xmlns:a16="http://schemas.microsoft.com/office/drawing/2014/main" val="1118170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36000" marR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254</a:t>
                      </a:r>
                      <a:endParaRPr lang="zh-CN" altLang="en-US" sz="1400" dirty="0"/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19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zh-CN" alt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6282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77F3497C-C990-9C84-FC30-149B63BC9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87614"/>
              </p:ext>
            </p:extLst>
          </p:nvPr>
        </p:nvGraphicFramePr>
        <p:xfrm>
          <a:off x="7598954" y="5071330"/>
          <a:ext cx="1376035" cy="378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7">
                  <a:extLst>
                    <a:ext uri="{9D8B030D-6E8A-4147-A177-3AD203B41FA5}">
                      <a16:colId xmlns:a16="http://schemas.microsoft.com/office/drawing/2014/main" val="2943413420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486034486"/>
                    </a:ext>
                  </a:extLst>
                </a:gridCol>
                <a:gridCol w="550414">
                  <a:extLst>
                    <a:ext uri="{9D8B030D-6E8A-4147-A177-3AD203B41FA5}">
                      <a16:colId xmlns:a16="http://schemas.microsoft.com/office/drawing/2014/main" val="925244602"/>
                    </a:ext>
                  </a:extLst>
                </a:gridCol>
                <a:gridCol w="275207">
                  <a:extLst>
                    <a:ext uri="{9D8B030D-6E8A-4147-A177-3AD203B41FA5}">
                      <a16:colId xmlns:a16="http://schemas.microsoft.com/office/drawing/2014/main" val="3346684661"/>
                    </a:ext>
                  </a:extLst>
                </a:gridCol>
              </a:tblGrid>
              <a:tr h="3783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37147"/>
                  </a:ext>
                </a:extLst>
              </a:tr>
            </a:tbl>
          </a:graphicData>
        </a:graphic>
      </p:graphicFrame>
      <p:sp>
        <p:nvSpPr>
          <p:cNvPr id="47" name="文本框 15">
            <a:extLst>
              <a:ext uri="{FF2B5EF4-FFF2-40B4-BE49-F238E27FC236}">
                <a16:creationId xmlns:a16="http://schemas.microsoft.com/office/drawing/2014/main" id="{51C8E9D2-B490-F5B0-2893-21C683962692}"/>
              </a:ext>
            </a:extLst>
          </p:cNvPr>
          <p:cNvSpPr txBox="1"/>
          <p:nvPr/>
        </p:nvSpPr>
        <p:spPr>
          <a:xfrm>
            <a:off x="7274320" y="5914072"/>
            <a:ext cx="351949" cy="31892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solidFill>
                  <a:srgbClr val="C00000"/>
                </a:solidFill>
              </a:rPr>
              <a:t>254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48" name="文本框 15">
            <a:extLst>
              <a:ext uri="{FF2B5EF4-FFF2-40B4-BE49-F238E27FC236}">
                <a16:creationId xmlns:a16="http://schemas.microsoft.com/office/drawing/2014/main" id="{48145CB4-34AD-99AE-0598-1E6A7352D8F6}"/>
              </a:ext>
            </a:extLst>
          </p:cNvPr>
          <p:cNvSpPr txBox="1"/>
          <p:nvPr/>
        </p:nvSpPr>
        <p:spPr>
          <a:xfrm>
            <a:off x="9009074" y="5898683"/>
            <a:ext cx="231799" cy="34970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</a:rPr>
              <a:t>/0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9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-0.00065 0.1173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85185E-6 L -0.15195 0.1178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04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07407E-6 L -0.003 0.12153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606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44444E-6 L -0.22162 0.11899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81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2.59259E-6 L -0.00091 0.11597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-0.09297 0.11667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48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-0.00091 0.11597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12" grpId="0"/>
      <p:bldP spid="12" grpId="1"/>
      <p:bldP spid="12" grpId="2"/>
      <p:bldP spid="13" grpId="0"/>
      <p:bldP spid="14" grpId="0" animBg="1"/>
      <p:bldP spid="16" grpId="0" animBg="1"/>
      <p:bldP spid="31" grpId="0"/>
      <p:bldP spid="32" grpId="0"/>
      <p:bldP spid="41" grpId="0" animBg="1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8BA48C-BF5F-FE59-C1D5-64D9C71C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31805B-402B-A774-945B-C5FC372FF321}"/>
              </a:ext>
            </a:extLst>
          </p:cNvPr>
          <p:cNvSpPr txBox="1"/>
          <p:nvPr/>
        </p:nvSpPr>
        <p:spPr>
          <a:xfrm>
            <a:off x="448003" y="3217029"/>
            <a:ext cx="11295994" cy="3139321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</a:pP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LStrConcat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构造并返回由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联接所得的新串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NULL;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不存在，则返回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保错</a:t>
            </a: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 =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(*T))))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分配新串结构记录空间</a:t>
            </a: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(0==(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=NULL;  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=0;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空串</a:t>
            </a: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len+1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)*</a:t>
            </a:r>
            <a:r>
              <a:rPr lang="en-US" altLang="zh-CN" sz="18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串值空间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algn="just"/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sv+S1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复制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串值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T-&gt;size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T-&gt;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'\0';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长度、容量和结束符</a:t>
            </a:r>
          </a:p>
          <a:p>
            <a:pPr algn="just"/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返回联接构造的串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3117014-E893-853A-D16A-8EED292380A5}"/>
              </a:ext>
            </a:extLst>
          </p:cNvPr>
          <p:cNvSpPr/>
          <p:nvPr/>
        </p:nvSpPr>
        <p:spPr>
          <a:xfrm>
            <a:off x="1430290" y="249511"/>
            <a:ext cx="5936026" cy="5152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4.6   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长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串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连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接</a:t>
            </a: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 err="1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</a:t>
            </a:r>
            <a:r>
              <a:rPr lang="en-US" altLang="zh-CN" sz="24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StrConcat</a:t>
            </a:r>
            <a:r>
              <a:rPr lang="en-US" altLang="zh-CN" sz="24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S1,S2</a:t>
            </a:r>
            <a:r>
              <a:rPr lang="en-US" altLang="zh-CN" sz="2400" b="1" dirty="0">
                <a:solidFill>
                  <a:srgbClr val="041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63D364-D609-79A7-F69A-B114932581D2}"/>
              </a:ext>
            </a:extLst>
          </p:cNvPr>
          <p:cNvSpPr txBox="1"/>
          <p:nvPr/>
        </p:nvSpPr>
        <p:spPr>
          <a:xfrm>
            <a:off x="470338" y="1097578"/>
            <a:ext cx="5625662" cy="1754326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</a:pP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//-----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长串的存储表示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-----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sv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串值数组。容量为</a:t>
            </a:r>
            <a:r>
              <a:rPr lang="en-US" altLang="zh-CN" sz="18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size+1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串的长度，串值的字符个数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size;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zh-CN" altLang="en-US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size-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是未用容量</a:t>
            </a:r>
          </a:p>
          <a:p>
            <a:pPr algn="just">
              <a:spcAft>
                <a:spcPts val="360"/>
              </a:spcAft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长串指针类型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6F3BC76-69F5-EC04-DA3B-97D1DF877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79010"/>
              </p:ext>
            </p:extLst>
          </p:nvPr>
        </p:nvGraphicFramePr>
        <p:xfrm>
          <a:off x="6355362" y="1097193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5659754-F45D-9C9C-7D46-9A1ED77A5C54}"/>
              </a:ext>
            </a:extLst>
          </p:cNvPr>
          <p:cNvCxnSpPr>
            <a:cxnSpLocks/>
          </p:cNvCxnSpPr>
          <p:nvPr/>
        </p:nvCxnSpPr>
        <p:spPr>
          <a:xfrm>
            <a:off x="6622301" y="999600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8A38BF1-BAE1-11F3-805D-A7C547088274}"/>
              </a:ext>
            </a:extLst>
          </p:cNvPr>
          <p:cNvSpPr txBox="1"/>
          <p:nvPr/>
        </p:nvSpPr>
        <p:spPr>
          <a:xfrm>
            <a:off x="6355362" y="861100"/>
            <a:ext cx="3379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</a:rPr>
              <a:t>S1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194D3C3-DFA7-5AC9-954C-A745B60EB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554497"/>
              </p:ext>
            </p:extLst>
          </p:nvPr>
        </p:nvGraphicFramePr>
        <p:xfrm>
          <a:off x="7438253" y="822873"/>
          <a:ext cx="159130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277868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20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L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79E10CE-2E7C-952E-E24D-D72134D14142}"/>
              </a:ext>
            </a:extLst>
          </p:cNvPr>
          <p:cNvCxnSpPr>
            <a:cxnSpLocks/>
          </p:cNvCxnSpPr>
          <p:nvPr/>
        </p:nvCxnSpPr>
        <p:spPr>
          <a:xfrm>
            <a:off x="7003294" y="1237782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FF8077D-8900-81D9-DBDF-E73293F93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2132"/>
              </p:ext>
            </p:extLst>
          </p:nvPr>
        </p:nvGraphicFramePr>
        <p:xfrm>
          <a:off x="9245282" y="1097193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9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zh-CN" b="1" dirty="0">
                          <a:solidFill>
                            <a:srgbClr val="041ABC"/>
                          </a:solidFill>
                        </a:rPr>
                        <a:t>25</a:t>
                      </a: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554E29A-A404-CBB4-00AA-D323C81E9653}"/>
              </a:ext>
            </a:extLst>
          </p:cNvPr>
          <p:cNvCxnSpPr>
            <a:cxnSpLocks/>
          </p:cNvCxnSpPr>
          <p:nvPr/>
        </p:nvCxnSpPr>
        <p:spPr>
          <a:xfrm>
            <a:off x="9512221" y="999600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2D22677-1405-803E-1407-7ACBCB3DBC8D}"/>
              </a:ext>
            </a:extLst>
          </p:cNvPr>
          <p:cNvSpPr txBox="1"/>
          <p:nvPr/>
        </p:nvSpPr>
        <p:spPr>
          <a:xfrm>
            <a:off x="9245282" y="861100"/>
            <a:ext cx="3379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</a:rPr>
              <a:t>S2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CF674A25-26A1-2108-5628-241109AC4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67326"/>
              </p:ext>
            </p:extLst>
          </p:nvPr>
        </p:nvGraphicFramePr>
        <p:xfrm>
          <a:off x="10328173" y="822873"/>
          <a:ext cx="159130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277868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25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R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Y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/0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19F2BBF-35D2-444D-09CA-3D53B504E4EC}"/>
              </a:ext>
            </a:extLst>
          </p:cNvPr>
          <p:cNvCxnSpPr>
            <a:cxnSpLocks/>
          </p:cNvCxnSpPr>
          <p:nvPr/>
        </p:nvCxnSpPr>
        <p:spPr>
          <a:xfrm>
            <a:off x="9893214" y="1237782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F17033D-61DD-86B8-10D4-5631DD929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475101"/>
              </p:ext>
            </p:extLst>
          </p:nvPr>
        </p:nvGraphicFramePr>
        <p:xfrm>
          <a:off x="6909011" y="2335062"/>
          <a:ext cx="82352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759">
                  <a:extLst>
                    <a:ext uri="{9D8B030D-6E8A-4147-A177-3AD203B41FA5}">
                      <a16:colId xmlns:a16="http://schemas.microsoft.com/office/drawing/2014/main" val="3703431472"/>
                    </a:ext>
                  </a:extLst>
                </a:gridCol>
                <a:gridCol w="340770">
                  <a:extLst>
                    <a:ext uri="{9D8B030D-6E8A-4147-A177-3AD203B41FA5}">
                      <a16:colId xmlns:a16="http://schemas.microsoft.com/office/drawing/2014/main" val="3089139"/>
                    </a:ext>
                  </a:extLst>
                </a:gridCol>
              </a:tblGrid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sv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endParaRPr lang="zh-CN" altLang="en-US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354927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/>
                        <a:t>len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10708"/>
                  </a:ext>
                </a:extLst>
              </a:tr>
              <a:tr h="215474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/>
                        <a:t>size</a:t>
                      </a:r>
                      <a:endParaRPr lang="zh-CN" altLang="en-US" b="1" dirty="0"/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zh-CN" altLang="en-US" b="1" dirty="0">
                        <a:solidFill>
                          <a:srgbClr val="041ABC"/>
                        </a:solidFill>
                      </a:endParaRPr>
                    </a:p>
                  </a:txBody>
                  <a:tcPr marL="36000" marR="36000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3772"/>
                  </a:ext>
                </a:extLst>
              </a:tr>
            </a:tbl>
          </a:graphicData>
        </a:graphic>
      </p:graphicFrame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F1FD6B1-504B-6AAC-2225-CC469C151D16}"/>
              </a:ext>
            </a:extLst>
          </p:cNvPr>
          <p:cNvCxnSpPr>
            <a:cxnSpLocks/>
          </p:cNvCxnSpPr>
          <p:nvPr/>
        </p:nvCxnSpPr>
        <p:spPr>
          <a:xfrm>
            <a:off x="7175950" y="2237469"/>
            <a:ext cx="218665" cy="108953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8DB0CDB-4C76-6D57-B799-1626911F4075}"/>
              </a:ext>
            </a:extLst>
          </p:cNvPr>
          <p:cNvSpPr txBox="1"/>
          <p:nvPr/>
        </p:nvSpPr>
        <p:spPr>
          <a:xfrm>
            <a:off x="6963071" y="2098969"/>
            <a:ext cx="28386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T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6CF93C5-1228-A735-408E-10CB6781D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62846"/>
              </p:ext>
            </p:extLst>
          </p:nvPr>
        </p:nvGraphicFramePr>
        <p:xfrm>
          <a:off x="7991901" y="2060742"/>
          <a:ext cx="168663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2">
                  <a:extLst>
                    <a:ext uri="{9D8B030D-6E8A-4147-A177-3AD203B41FA5}">
                      <a16:colId xmlns:a16="http://schemas.microsoft.com/office/drawing/2014/main" val="3548914742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2637519387"/>
                    </a:ext>
                  </a:extLst>
                </a:gridCol>
                <a:gridCol w="187452">
                  <a:extLst>
                    <a:ext uri="{9D8B030D-6E8A-4147-A177-3AD203B41FA5}">
                      <a16:colId xmlns:a16="http://schemas.microsoft.com/office/drawing/2014/main" val="174924325"/>
                    </a:ext>
                  </a:extLst>
                </a:gridCol>
                <a:gridCol w="187452">
                  <a:extLst>
                    <a:ext uri="{9D8B030D-6E8A-4147-A177-3AD203B41FA5}">
                      <a16:colId xmlns:a16="http://schemas.microsoft.com/office/drawing/2014/main" val="3075925709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1323277263"/>
                    </a:ext>
                  </a:extLst>
                </a:gridCol>
                <a:gridCol w="187233">
                  <a:extLst>
                    <a:ext uri="{9D8B030D-6E8A-4147-A177-3AD203B41FA5}">
                      <a16:colId xmlns:a16="http://schemas.microsoft.com/office/drawing/2014/main" val="1856297151"/>
                    </a:ext>
                  </a:extLst>
                </a:gridCol>
                <a:gridCol w="187233">
                  <a:extLst>
                    <a:ext uri="{9D8B030D-6E8A-4147-A177-3AD203B41FA5}">
                      <a16:colId xmlns:a16="http://schemas.microsoft.com/office/drawing/2014/main" val="3102578184"/>
                    </a:ext>
                  </a:extLst>
                </a:gridCol>
              </a:tblGrid>
              <a:tr h="91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15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16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7601202"/>
                  </a:ext>
                </a:extLst>
              </a:tr>
              <a:tr h="257321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8"/>
                  </a:ext>
                </a:extLst>
              </a:tr>
            </a:tbl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F8B97D0-683D-4B85-1D5F-BD44DE8892E4}"/>
              </a:ext>
            </a:extLst>
          </p:cNvPr>
          <p:cNvCxnSpPr>
            <a:cxnSpLocks/>
          </p:cNvCxnSpPr>
          <p:nvPr/>
        </p:nvCxnSpPr>
        <p:spPr>
          <a:xfrm>
            <a:off x="7556943" y="2475651"/>
            <a:ext cx="434959" cy="0"/>
          </a:xfrm>
          <a:prstGeom prst="straightConnector1">
            <a:avLst/>
          </a:prstGeom>
          <a:ln>
            <a:solidFill>
              <a:srgbClr val="0070C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7A183DB-6949-BCB7-6E8C-CC30E406B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02202"/>
              </p:ext>
            </p:extLst>
          </p:nvPr>
        </p:nvGraphicFramePr>
        <p:xfrm>
          <a:off x="7437849" y="1098241"/>
          <a:ext cx="75053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75618317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3697732233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2968236830"/>
                    </a:ext>
                  </a:extLst>
                </a:gridCol>
              </a:tblGrid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L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53495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AE493F6D-ADA0-9EDA-DE75-4AEC22478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20886"/>
              </p:ext>
            </p:extLst>
          </p:nvPr>
        </p:nvGraphicFramePr>
        <p:xfrm>
          <a:off x="10328173" y="1097193"/>
          <a:ext cx="75053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634">
                  <a:extLst>
                    <a:ext uri="{9D8B030D-6E8A-4147-A177-3AD203B41FA5}">
                      <a16:colId xmlns:a16="http://schemas.microsoft.com/office/drawing/2014/main" val="281981662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44353196"/>
                    </a:ext>
                  </a:extLst>
                </a:gridCol>
                <a:gridCol w="187634">
                  <a:extLst>
                    <a:ext uri="{9D8B030D-6E8A-4147-A177-3AD203B41FA5}">
                      <a16:colId xmlns:a16="http://schemas.microsoft.com/office/drawing/2014/main" val="2126859392"/>
                    </a:ext>
                  </a:extLst>
                </a:gridCol>
              </a:tblGrid>
              <a:tr h="2573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R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Y</a:t>
                      </a:r>
                      <a:endParaRPr lang="zh-CN" altLang="en-US" b="1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52755"/>
                  </a:ext>
                </a:extLst>
              </a:tr>
            </a:tbl>
          </a:graphicData>
        </a:graphic>
      </p:graphicFrame>
      <p:sp>
        <p:nvSpPr>
          <p:cNvPr id="29" name="文本框 10">
            <a:extLst>
              <a:ext uri="{FF2B5EF4-FFF2-40B4-BE49-F238E27FC236}">
                <a16:creationId xmlns:a16="http://schemas.microsoft.com/office/drawing/2014/main" id="{66A8F9D6-F3D8-DEE4-025F-3C5EA8525659}"/>
              </a:ext>
            </a:extLst>
          </p:cNvPr>
          <p:cNvSpPr txBox="1"/>
          <p:nvPr/>
        </p:nvSpPr>
        <p:spPr>
          <a:xfrm>
            <a:off x="9497869" y="2366015"/>
            <a:ext cx="170678" cy="265063"/>
          </a:xfrm>
          <a:prstGeom prst="rect">
            <a:avLst/>
          </a:prstGeom>
          <a:noFill/>
        </p:spPr>
        <p:txBody>
          <a:bodyPr wrap="square" lIns="0" tIns="36000" rIns="0" bIns="36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/0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30" name="文本框 10">
            <a:extLst>
              <a:ext uri="{FF2B5EF4-FFF2-40B4-BE49-F238E27FC236}">
                <a16:creationId xmlns:a16="http://schemas.microsoft.com/office/drawing/2014/main" id="{71D61B35-BA99-88B6-D378-3E5EA786C798}"/>
              </a:ext>
            </a:extLst>
          </p:cNvPr>
          <p:cNvSpPr txBox="1"/>
          <p:nvPr/>
        </p:nvSpPr>
        <p:spPr>
          <a:xfrm>
            <a:off x="7410151" y="2662361"/>
            <a:ext cx="285603" cy="1983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16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1" name="文本框 10">
            <a:extLst>
              <a:ext uri="{FF2B5EF4-FFF2-40B4-BE49-F238E27FC236}">
                <a16:creationId xmlns:a16="http://schemas.microsoft.com/office/drawing/2014/main" id="{2F56668E-1FB9-01CA-B63D-41E77CB6C0FD}"/>
              </a:ext>
            </a:extLst>
          </p:cNvPr>
          <p:cNvSpPr txBox="1"/>
          <p:nvPr/>
        </p:nvSpPr>
        <p:spPr>
          <a:xfrm>
            <a:off x="7426145" y="2942769"/>
            <a:ext cx="267649" cy="1983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16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01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59259E-6 L 0.04518 0.1807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3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L -0.13046 0.1810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3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375430E-5A35-B245-46AC-89CE6A7CD769}"/>
              </a:ext>
            </a:extLst>
          </p:cNvPr>
          <p:cNvSpPr/>
          <p:nvPr/>
        </p:nvSpPr>
        <p:spPr>
          <a:xfrm>
            <a:off x="5597237" y="1181344"/>
            <a:ext cx="5448508" cy="2039007"/>
          </a:xfrm>
          <a:prstGeom prst="rect">
            <a:avLst/>
          </a:prstGeom>
          <a:solidFill>
            <a:srgbClr val="FEFF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58B6E9-5351-FA77-A2D0-7FCAA2F7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10</a:t>
            </a:fld>
            <a:endParaRPr lang="zh-CN" altLang="en-US" dirty="0"/>
          </a:p>
        </p:txBody>
      </p:sp>
      <p:graphicFrame>
        <p:nvGraphicFramePr>
          <p:cNvPr id="19" name="Group 289">
            <a:extLst>
              <a:ext uri="{FF2B5EF4-FFF2-40B4-BE49-F238E27FC236}">
                <a16:creationId xmlns:a16="http://schemas.microsoft.com/office/drawing/2014/main" id="{A32F6039-4426-9614-7C62-D4A239876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9777"/>
              </p:ext>
            </p:extLst>
          </p:nvPr>
        </p:nvGraphicFramePr>
        <p:xfrm>
          <a:off x="6255183" y="1752227"/>
          <a:ext cx="4420260" cy="653588"/>
        </p:xfrm>
        <a:graphic>
          <a:graphicData uri="http://schemas.openxmlformats.org/drawingml/2006/table">
            <a:tbl>
              <a:tblPr/>
              <a:tblGrid>
                <a:gridCol w="340854">
                  <a:extLst>
                    <a:ext uri="{9D8B030D-6E8A-4147-A177-3AD203B41FA5}">
                      <a16:colId xmlns:a16="http://schemas.microsoft.com/office/drawing/2014/main" val="1239036632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759597483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1079175287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54468224"/>
                    </a:ext>
                  </a:extLst>
                </a:gridCol>
                <a:gridCol w="338445">
                  <a:extLst>
                    <a:ext uri="{9D8B030D-6E8A-4147-A177-3AD203B41FA5}">
                      <a16:colId xmlns:a16="http://schemas.microsoft.com/office/drawing/2014/main" val="2974245836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1140372923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918130056"/>
                    </a:ext>
                  </a:extLst>
                </a:gridCol>
                <a:gridCol w="340854">
                  <a:extLst>
                    <a:ext uri="{9D8B030D-6E8A-4147-A177-3AD203B41FA5}">
                      <a16:colId xmlns:a16="http://schemas.microsoft.com/office/drawing/2014/main" val="1463012823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506207956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2761796857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2714288452"/>
                    </a:ext>
                  </a:extLst>
                </a:gridCol>
                <a:gridCol w="340854">
                  <a:extLst>
                    <a:ext uri="{9D8B030D-6E8A-4147-A177-3AD203B41FA5}">
                      <a16:colId xmlns:a16="http://schemas.microsoft.com/office/drawing/2014/main" val="395646479"/>
                    </a:ext>
                  </a:extLst>
                </a:gridCol>
                <a:gridCol w="338444">
                  <a:extLst>
                    <a:ext uri="{9D8B030D-6E8A-4147-A177-3AD203B41FA5}">
                      <a16:colId xmlns:a16="http://schemas.microsoft.com/office/drawing/2014/main" val="3462854661"/>
                    </a:ext>
                  </a:extLst>
                </a:gridCol>
              </a:tblGrid>
              <a:tr h="210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904523"/>
                  </a:ext>
                </a:extLst>
              </a:tr>
              <a:tr h="2756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405358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972AD779-B58B-23BC-737D-A12EA345C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779954"/>
              </p:ext>
            </p:extLst>
          </p:nvPr>
        </p:nvGraphicFramePr>
        <p:xfrm>
          <a:off x="6255183" y="2388832"/>
          <a:ext cx="1683661" cy="376800"/>
        </p:xfrm>
        <a:graphic>
          <a:graphicData uri="http://schemas.openxmlformats.org/drawingml/2006/table">
            <a:tbl>
              <a:tblPr/>
              <a:tblGrid>
                <a:gridCol w="336971">
                  <a:extLst>
                    <a:ext uri="{9D8B030D-6E8A-4147-A177-3AD203B41FA5}">
                      <a16:colId xmlns:a16="http://schemas.microsoft.com/office/drawing/2014/main" val="4100706647"/>
                    </a:ext>
                  </a:extLst>
                </a:gridCol>
                <a:gridCol w="335780">
                  <a:extLst>
                    <a:ext uri="{9D8B030D-6E8A-4147-A177-3AD203B41FA5}">
                      <a16:colId xmlns:a16="http://schemas.microsoft.com/office/drawing/2014/main" val="1824698474"/>
                    </a:ext>
                  </a:extLst>
                </a:gridCol>
                <a:gridCol w="336970">
                  <a:extLst>
                    <a:ext uri="{9D8B030D-6E8A-4147-A177-3AD203B41FA5}">
                      <a16:colId xmlns:a16="http://schemas.microsoft.com/office/drawing/2014/main" val="2112697097"/>
                    </a:ext>
                  </a:extLst>
                </a:gridCol>
                <a:gridCol w="336970">
                  <a:extLst>
                    <a:ext uri="{9D8B030D-6E8A-4147-A177-3AD203B41FA5}">
                      <a16:colId xmlns:a16="http://schemas.microsoft.com/office/drawing/2014/main" val="314974441"/>
                    </a:ext>
                  </a:extLst>
                </a:gridCol>
                <a:gridCol w="336970">
                  <a:extLst>
                    <a:ext uri="{9D8B030D-6E8A-4147-A177-3AD203B41FA5}">
                      <a16:colId xmlns:a16="http://schemas.microsoft.com/office/drawing/2014/main" val="2754900203"/>
                    </a:ext>
                  </a:extLst>
                </a:gridCol>
              </a:tblGrid>
              <a:tr h="2242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957676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316A5E62-F0B0-AB32-77C4-5D0FFA8FD609}"/>
              </a:ext>
            </a:extLst>
          </p:cNvPr>
          <p:cNvGrpSpPr/>
          <p:nvPr/>
        </p:nvGrpSpPr>
        <p:grpSpPr>
          <a:xfrm>
            <a:off x="6187797" y="1385777"/>
            <a:ext cx="233362" cy="387100"/>
            <a:chOff x="1845190" y="1069412"/>
            <a:chExt cx="233362" cy="452695"/>
          </a:xfrm>
        </p:grpSpPr>
        <p:sp>
          <p:nvSpPr>
            <p:cNvPr id="22" name="Text Box 292">
              <a:extLst>
                <a:ext uri="{FF2B5EF4-FFF2-40B4-BE49-F238E27FC236}">
                  <a16:creationId xmlns:a16="http://schemas.microsoft.com/office/drawing/2014/main" id="{B5A209FF-FF55-E755-F313-1F67A8C12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190" y="1069412"/>
              <a:ext cx="233362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50000"/>
                </a:spcBef>
              </a:pPr>
              <a:r>
                <a:rPr lang="en-US" altLang="zh-CN" sz="2400" b="1" dirty="0" err="1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altLang="zh-CN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35E7A904-6851-54E8-4184-26CA5924B6A4}"/>
                </a:ext>
              </a:extLst>
            </p:cNvPr>
            <p:cNvCxnSpPr/>
            <p:nvPr/>
          </p:nvCxnSpPr>
          <p:spPr>
            <a:xfrm>
              <a:off x="2076450" y="1260850"/>
              <a:ext cx="0" cy="26125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B1F49EF-BA7C-9DF2-14CA-8473FCF882DA}"/>
              </a:ext>
            </a:extLst>
          </p:cNvPr>
          <p:cNvGrpSpPr/>
          <p:nvPr/>
        </p:nvGrpSpPr>
        <p:grpSpPr>
          <a:xfrm>
            <a:off x="6421185" y="2701565"/>
            <a:ext cx="212625" cy="392589"/>
            <a:chOff x="2076450" y="1522107"/>
            <a:chExt cx="212625" cy="470117"/>
          </a:xfrm>
        </p:grpSpPr>
        <p:sp>
          <p:nvSpPr>
            <p:cNvPr id="25" name="Text Box 292">
              <a:extLst>
                <a:ext uri="{FF2B5EF4-FFF2-40B4-BE49-F238E27FC236}">
                  <a16:creationId xmlns:a16="http://schemas.microsoft.com/office/drawing/2014/main" id="{D13F23E5-14BF-78A3-339D-E0F09C0DC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948" y="1549956"/>
              <a:ext cx="203127" cy="442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E4FCD79-6E41-A9DE-FEB0-288E79F93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6450" y="1522107"/>
              <a:ext cx="0" cy="29454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1CEA140-8627-8DCE-F66C-08E006AC2154}"/>
              </a:ext>
            </a:extLst>
          </p:cNvPr>
          <p:cNvGrpSpPr/>
          <p:nvPr/>
        </p:nvGrpSpPr>
        <p:grpSpPr>
          <a:xfrm>
            <a:off x="7025998" y="2334852"/>
            <a:ext cx="161925" cy="107950"/>
            <a:chOff x="7669215" y="447675"/>
            <a:chExt cx="161925" cy="107950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8A64277-415C-058E-FE09-9EFE4CC44CE3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2D46EA-4DED-8E75-B0AE-1D9975DD4C86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032902A-13CB-7577-2E3A-2467910D2813}"/>
              </a:ext>
            </a:extLst>
          </p:cNvPr>
          <p:cNvGrpSpPr/>
          <p:nvPr/>
        </p:nvGrpSpPr>
        <p:grpSpPr>
          <a:xfrm>
            <a:off x="6671986" y="2334059"/>
            <a:ext cx="161925" cy="107950"/>
            <a:chOff x="7669215" y="447675"/>
            <a:chExt cx="161925" cy="107950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BFFA955-3B0D-F23F-A61E-FE86C93BF9C9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8E3FAED-C5C1-DC57-F2CB-BC59B63DF429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FA96843-A226-5352-3E77-6D8687EC57DE}"/>
              </a:ext>
            </a:extLst>
          </p:cNvPr>
          <p:cNvCxnSpPr>
            <a:cxnSpLocks/>
          </p:cNvCxnSpPr>
          <p:nvPr/>
        </p:nvCxnSpPr>
        <p:spPr>
          <a:xfrm>
            <a:off x="8003320" y="2331321"/>
            <a:ext cx="158597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8">
            <a:extLst>
              <a:ext uri="{FF2B5EF4-FFF2-40B4-BE49-F238E27FC236}">
                <a16:creationId xmlns:a16="http://schemas.microsoft.com/office/drawing/2014/main" id="{827881D2-FF58-AED0-8AB7-4FF77835D0D8}"/>
              </a:ext>
            </a:extLst>
          </p:cNvPr>
          <p:cNvSpPr txBox="1"/>
          <p:nvPr/>
        </p:nvSpPr>
        <p:spPr>
          <a:xfrm>
            <a:off x="1219888" y="263186"/>
            <a:ext cx="7281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4.3.1  </a:t>
            </a:r>
            <a:r>
              <a:rPr lang="zh-CN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求子串位置的定位函数</a:t>
            </a: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黑体" panose="02010609060101010101" pitchFamily="49" charset="-122"/>
                <a:cs typeface="Times New Roman" panose="02020603050405020304" pitchFamily="18" charset="0"/>
              </a:rPr>
              <a:t> Index(</a:t>
            </a:r>
            <a:r>
              <a:rPr lang="en-US" altLang="zh-CN" sz="2400" b="1" kern="100" dirty="0" err="1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黑体" panose="02010609060101010101" pitchFamily="49" charset="-122"/>
                <a:cs typeface="Times New Roman" panose="02020603050405020304" pitchFamily="18" charset="0"/>
              </a:rPr>
              <a:t>S,T,pos</a:t>
            </a: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b="1" kern="100" dirty="0"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12">
            <a:extLst>
              <a:ext uri="{FF2B5EF4-FFF2-40B4-BE49-F238E27FC236}">
                <a16:creationId xmlns:a16="http://schemas.microsoft.com/office/drawing/2014/main" id="{EFDCEE7E-83B4-FCFA-E1BE-8984CA19908B}"/>
              </a:ext>
            </a:extLst>
          </p:cNvPr>
          <p:cNvSpPr txBox="1"/>
          <p:nvPr/>
        </p:nvSpPr>
        <p:spPr>
          <a:xfrm>
            <a:off x="816554" y="3396799"/>
            <a:ext cx="10229191" cy="3139321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Index(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 </a:t>
            </a:r>
            <a:r>
              <a:rPr lang="en-US" altLang="zh-CN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4.8   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子串定位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返回子串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在主串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中第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个字符起的位置。若不存在，则函数值为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非空，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=pos, j=1;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T[0]&lt;=0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pos&lt;1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pos&gt;S[0])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0;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检查参数合法性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&lt;= S[0]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 &lt;= T[0])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分别指示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当前比较的字符位置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(S[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== T[j])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++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++j;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继续比较后续字符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i-j+2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j = 1;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指针回退，重新开始匹配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 &gt; T[0])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-T[0];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成功，返回匹配子串位置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0;   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失败，返回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21">
            <a:extLst>
              <a:ext uri="{FF2B5EF4-FFF2-40B4-BE49-F238E27FC236}">
                <a16:creationId xmlns:a16="http://schemas.microsoft.com/office/drawing/2014/main" id="{6057D3E4-4266-1BA7-D0A4-ACD2A5F0A447}"/>
              </a:ext>
            </a:extLst>
          </p:cNvPr>
          <p:cNvSpPr txBox="1"/>
          <p:nvPr/>
        </p:nvSpPr>
        <p:spPr>
          <a:xfrm>
            <a:off x="508863" y="766922"/>
            <a:ext cx="4865889" cy="24534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子串的定位操作通常称做串的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模式匹配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（其中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称为模式串），是各种串处理系统中最重要的操作之一。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调用串的基本操作给出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定位函数。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根据算法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的基本思想，</a:t>
            </a:r>
            <a:r>
              <a:rPr lang="zh-CN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4.8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采用短串存储结构，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不依赖于其他串操作的匹配算法。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59CDFEB-B374-533A-55E6-3705B155EA03}"/>
              </a:ext>
            </a:extLst>
          </p:cNvPr>
          <p:cNvSpPr txBox="1"/>
          <p:nvPr/>
        </p:nvSpPr>
        <p:spPr>
          <a:xfrm>
            <a:off x="5753429" y="757979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图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4.4 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示例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0D53EB7-1305-F75B-5F07-82C0A6CB39E4}"/>
              </a:ext>
            </a:extLst>
          </p:cNvPr>
          <p:cNvCxnSpPr/>
          <p:nvPr/>
        </p:nvCxnSpPr>
        <p:spPr>
          <a:xfrm>
            <a:off x="1174865" y="4533207"/>
            <a:ext cx="2050473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89B5A32-1932-E682-CBD0-E19626D6B81D}"/>
              </a:ext>
            </a:extLst>
          </p:cNvPr>
          <p:cNvSpPr txBox="1"/>
          <p:nvPr/>
        </p:nvSpPr>
        <p:spPr>
          <a:xfrm>
            <a:off x="5113155" y="32055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1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2B15716-26C5-FEED-F7C4-45D8A69BE1B9}"/>
              </a:ext>
            </a:extLst>
          </p:cNvPr>
          <p:cNvCxnSpPr>
            <a:cxnSpLocks/>
          </p:cNvCxnSpPr>
          <p:nvPr/>
        </p:nvCxnSpPr>
        <p:spPr>
          <a:xfrm>
            <a:off x="1440873" y="5372792"/>
            <a:ext cx="233864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7EFFFEB-5F9F-0D1D-6AB3-A6757D652D4D}"/>
              </a:ext>
            </a:extLst>
          </p:cNvPr>
          <p:cNvCxnSpPr>
            <a:cxnSpLocks/>
          </p:cNvCxnSpPr>
          <p:nvPr/>
        </p:nvCxnSpPr>
        <p:spPr>
          <a:xfrm>
            <a:off x="3949066" y="5372792"/>
            <a:ext cx="199812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AB9CBEB-F567-24D0-A347-7D6ED54A5D41}"/>
              </a:ext>
            </a:extLst>
          </p:cNvPr>
          <p:cNvCxnSpPr>
            <a:cxnSpLocks/>
          </p:cNvCxnSpPr>
          <p:nvPr/>
        </p:nvCxnSpPr>
        <p:spPr>
          <a:xfrm>
            <a:off x="2200101" y="5644342"/>
            <a:ext cx="300920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63DA9DA-863E-4BEF-06E6-CF78FC1E5519}"/>
              </a:ext>
            </a:extLst>
          </p:cNvPr>
          <p:cNvCxnSpPr>
            <a:cxnSpLocks/>
          </p:cNvCxnSpPr>
          <p:nvPr/>
        </p:nvCxnSpPr>
        <p:spPr>
          <a:xfrm>
            <a:off x="3779520" y="5090159"/>
            <a:ext cx="142978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9BA77E1-3FB5-4954-E12B-EA242EEBD006}"/>
              </a:ext>
            </a:extLst>
          </p:cNvPr>
          <p:cNvCxnSpPr>
            <a:cxnSpLocks/>
          </p:cNvCxnSpPr>
          <p:nvPr/>
        </p:nvCxnSpPr>
        <p:spPr>
          <a:xfrm>
            <a:off x="1174864" y="5921432"/>
            <a:ext cx="389035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57AA972-FB6B-0F8E-E171-32DC34C4420C}"/>
              </a:ext>
            </a:extLst>
          </p:cNvPr>
          <p:cNvGrpSpPr/>
          <p:nvPr/>
        </p:nvGrpSpPr>
        <p:grpSpPr>
          <a:xfrm>
            <a:off x="5794012" y="2027613"/>
            <a:ext cx="440091" cy="400110"/>
            <a:chOff x="5608465" y="2027613"/>
            <a:chExt cx="440091" cy="400110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5D3ADD24-86A4-BB16-EE07-DC4FE1C90D9C}"/>
                </a:ext>
              </a:extLst>
            </p:cNvPr>
            <p:cNvSpPr txBox="1"/>
            <p:nvPr/>
          </p:nvSpPr>
          <p:spPr>
            <a:xfrm>
              <a:off x="5608465" y="20276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</a:rPr>
                <a:t>S</a:t>
              </a:r>
              <a:endParaRPr lang="zh-CN" altLang="en-US" sz="20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133A0EE-D7D2-DCC1-812E-C0334A5E09C0}"/>
                </a:ext>
              </a:extLst>
            </p:cNvPr>
            <p:cNvCxnSpPr/>
            <p:nvPr/>
          </p:nvCxnSpPr>
          <p:spPr>
            <a:xfrm>
              <a:off x="5837966" y="2235266"/>
              <a:ext cx="210590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A74A3FF-AAA5-EB39-C77D-8B8397B43C22}"/>
              </a:ext>
            </a:extLst>
          </p:cNvPr>
          <p:cNvGrpSpPr/>
          <p:nvPr/>
        </p:nvGrpSpPr>
        <p:grpSpPr>
          <a:xfrm>
            <a:off x="5789356" y="2380765"/>
            <a:ext cx="440091" cy="400110"/>
            <a:chOff x="5608465" y="2027613"/>
            <a:chExt cx="440091" cy="400110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8E162CB-7BA5-2491-A3DB-8A124DA18CFD}"/>
                </a:ext>
              </a:extLst>
            </p:cNvPr>
            <p:cNvSpPr txBox="1"/>
            <p:nvPr/>
          </p:nvSpPr>
          <p:spPr>
            <a:xfrm>
              <a:off x="5608465" y="2027613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</a:rPr>
                <a:t>T</a:t>
              </a:r>
              <a:endParaRPr lang="zh-CN" altLang="en-US" sz="20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93C5F2D-855A-3270-B94E-D84E137BBB6D}"/>
                </a:ext>
              </a:extLst>
            </p:cNvPr>
            <p:cNvCxnSpPr/>
            <p:nvPr/>
          </p:nvCxnSpPr>
          <p:spPr>
            <a:xfrm>
              <a:off x="5837966" y="2235266"/>
              <a:ext cx="210590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A20FB7C2-4F82-5068-C5DC-299D07640BCB}"/>
              </a:ext>
            </a:extLst>
          </p:cNvPr>
          <p:cNvGrpSpPr/>
          <p:nvPr/>
        </p:nvGrpSpPr>
        <p:grpSpPr>
          <a:xfrm>
            <a:off x="8374470" y="2346760"/>
            <a:ext cx="161925" cy="107950"/>
            <a:chOff x="7669215" y="447675"/>
            <a:chExt cx="161925" cy="107950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1E295F6-FA57-54CC-748E-F423728AA8E9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B7FC132A-B929-BD39-20F2-1D6BD7D83979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A5AD1C3A-3A83-55C3-6C4C-E01B3426EEA1}"/>
              </a:ext>
            </a:extLst>
          </p:cNvPr>
          <p:cNvGrpSpPr/>
          <p:nvPr/>
        </p:nvGrpSpPr>
        <p:grpSpPr>
          <a:xfrm>
            <a:off x="7361771" y="2332114"/>
            <a:ext cx="161925" cy="107950"/>
            <a:chOff x="7669215" y="447675"/>
            <a:chExt cx="161925" cy="107950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EC00D34-9AA3-9FB2-5983-3597B720C887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7EC5895-26D0-D7FE-9C66-1B88BCE333F2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4B68ED0-2C62-16A6-43BB-A977DBBE04D1}"/>
              </a:ext>
            </a:extLst>
          </p:cNvPr>
          <p:cNvGrpSpPr/>
          <p:nvPr/>
        </p:nvGrpSpPr>
        <p:grpSpPr>
          <a:xfrm>
            <a:off x="7714193" y="2330169"/>
            <a:ext cx="161925" cy="107950"/>
            <a:chOff x="7669215" y="447675"/>
            <a:chExt cx="161925" cy="107950"/>
          </a:xfrm>
        </p:grpSpPr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8FFCF8D0-7BC6-E3E6-F82C-EDDCB78F614F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7C6F553-374E-6713-2D27-C74F6FE2E544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198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0.02903 0.00024 " pathEditMode="relative" rAng="0" ptsTypes="AA">
                                      <p:cBhvr>
                                        <p:cTn id="91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33333E-6 -3.7037E-6 L 0.02825 -0.00023 " pathEditMode="relative" rAng="0" ptsTypes="AA">
                                      <p:cBhvr>
                                        <p:cTn id="93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50"/>
                            </p:stCondLst>
                            <p:childTnLst>
                              <p:par>
                                <p:cTn id="9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25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03 0.00024 L 0.05664 0.00047 " pathEditMode="relative" rAng="0" ptsTypes="AA">
                                      <p:cBhvr>
                                        <p:cTn id="11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0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2825 -0.00023 L 0.05625 -0.00046 " pathEditMode="relative" rAng="0" ptsTypes="AA">
                                      <p:cBhvr>
                                        <p:cTn id="11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1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25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44444E-6 L 0.0263 -4.44444E-6 " pathEditMode="relative" rAng="0" ptsTypes="AA">
                                      <p:cBhvr>
                                        <p:cTn id="14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64 0.00047 L 0.02903 0.00024 " pathEditMode="relative" rAng="0" ptsTypes="AA">
                                      <p:cBhvr>
                                        <p:cTn id="15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-23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35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5625 -0.00046 L 0.02825 -0.00023 " pathEditMode="relative" rAng="0" ptsTypes="AA">
                                      <p:cBhvr>
                                        <p:cTn id="15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750"/>
                            </p:stCondLst>
                            <p:childTnLst>
                              <p:par>
                                <p:cTn id="15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25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3000"/>
                            </p:stCondLst>
                            <p:childTnLst>
                              <p:par>
                                <p:cTn id="17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3 -4.44444E-6 L 0.05677 0.00024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03 0.00024 L 0.05664 0.00047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0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2825 -0.00023 L 0.05625 -0.00046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250"/>
                            </p:stCondLst>
                            <p:childTnLst>
                              <p:par>
                                <p:cTn id="19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750"/>
                            </p:stCondLst>
                            <p:childTnLst>
                              <p:par>
                                <p:cTn id="2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64 0.00047 L 0.08333 0.00093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" y="23"/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5625 -0.00046 L 0.08359 -0.00046 " pathEditMode="relative" rAng="0" ptsTypes="AA">
                                      <p:cBhvr>
                                        <p:cTn id="2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250"/>
                            </p:stCondLst>
                            <p:childTnLst>
                              <p:par>
                                <p:cTn id="21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33 0.00093 L 0.11237 0.0007 " pathEditMode="relative" rAng="0" ptsTypes="AA">
                                      <p:cBhvr>
                                        <p:cTn id="2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-23"/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8359 -0.00046 L 0.11172 -0.00069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250"/>
                            </p:stCondLst>
                            <p:childTnLst>
                              <p:par>
                                <p:cTn id="24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750"/>
                            </p:stCondLst>
                            <p:childTnLst>
                              <p:par>
                                <p:cTn id="2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37 0.0007 L 0.13867 0.00047 " pathEditMode="relative" rAng="0" ptsTypes="AA">
                                      <p:cBhvr>
                                        <p:cTn id="25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-23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1172 -0.00069 L 0.1401 -0.00046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250"/>
                            </p:stCondLst>
                            <p:childTnLst>
                              <p:par>
                                <p:cTn id="26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750"/>
                            </p:stCondLst>
                            <p:childTnLst>
                              <p:par>
                                <p:cTn id="2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67 0.00047 L 0.16679 -0.00046 " pathEditMode="relative" rAng="0" ptsTypes="AA">
                                      <p:cBhvr>
                                        <p:cTn id="28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46"/>
                                    </p:animMotion>
                                  </p:childTnLst>
                                </p:cTn>
                              </p:par>
                              <p:par>
                                <p:cTn id="282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401 -0.00046 L 0.16627 -3.7037E-6 " pathEditMode="relative" rAng="0" ptsTypes="AA">
                                      <p:cBhvr>
                                        <p:cTn id="28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23"/>
                                    </p:animMotion>
                                  </p:childTnLst>
                                </p:cTn>
                              </p:par>
                              <p:par>
                                <p:cTn id="28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1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2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3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4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000"/>
                            </p:stCondLst>
                            <p:childTnLst>
                              <p:par>
                                <p:cTn id="30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77 0.00024 L 0.0832 0.00093 " pathEditMode="relative" rAng="0" ptsTypes="AA">
                                      <p:cBhvr>
                                        <p:cTn id="3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23"/>
                                    </p:animMotion>
                                  </p:childTnLst>
                                </p:cTn>
                              </p:par>
                              <p:par>
                                <p:cTn id="3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79 -0.00046 L 0.08333 0.00093 " pathEditMode="relative" rAng="0" ptsTypes="AA">
                                      <p:cBhvr>
                                        <p:cTn id="31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80" y="46"/>
                                    </p:animMotion>
                                  </p:childTnLst>
                                </p:cTn>
                              </p:par>
                              <p:par>
                                <p:cTn id="318" presetID="35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6627 -3.7037E-6 L 0.08359 -0.00046 " pathEditMode="relative" rAng="0" ptsTypes="AA">
                                      <p:cBhvr>
                                        <p:cTn id="3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250"/>
                            </p:stCondLst>
                            <p:childTnLst>
                              <p:par>
                                <p:cTn id="3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2750"/>
                            </p:stCondLst>
                            <p:childTnLst>
                              <p:par>
                                <p:cTn id="3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0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1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2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3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2 0.00093 L 0.11094 0.00093 " pathEditMode="relative" rAng="0" ptsTypes="AA">
                                      <p:cBhvr>
                                        <p:cTn id="35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0"/>
                                    </p:animMotion>
                                  </p:childTnLst>
                                </p:cTn>
                              </p:par>
                              <p:par>
                                <p:cTn id="35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33 0.00093 L 0.11237 0.0007 " pathEditMode="relative" rAng="0" ptsTypes="AA">
                                      <p:cBhvr>
                                        <p:cTn id="35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8" y="-23"/>
                                    </p:animMotion>
                                  </p:childTnLst>
                                </p:cTn>
                              </p:par>
                              <p:par>
                                <p:cTn id="358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8359 -0.00046 L 0.11172 -0.0007 " pathEditMode="relative" rAng="0" ptsTypes="AA">
                                      <p:cBhvr>
                                        <p:cTn id="3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250"/>
                            </p:stCondLst>
                            <p:childTnLst>
                              <p:par>
                                <p:cTn id="36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750"/>
                            </p:stCondLst>
                            <p:childTnLst>
                              <p:par>
                                <p:cTn id="3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0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1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2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3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2000"/>
                            </p:stCondLst>
                            <p:childTnLst>
                              <p:par>
                                <p:cTn id="38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94 0.00093 L 0.1405 0.00093 " pathEditMode="relative" rAng="0" ptsTypes="AA">
                                      <p:cBhvr>
                                        <p:cTn id="39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" y="0"/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37 0.0007 L 0.13867 0.00046 " pathEditMode="relative" rAng="0" ptsTypes="AA">
                                      <p:cBhvr>
                                        <p:cTn id="39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1" y="116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1172 -0.00069 L 0.1401 -0.00046 " pathEditMode="relative" rAng="0" ptsTypes="AA">
                                      <p:cBhvr>
                                        <p:cTn id="39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2750"/>
                            </p:stCondLst>
                            <p:childTnLst>
                              <p:par>
                                <p:cTn id="4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500"/>
                            </p:stCondLst>
                            <p:childTnLst>
                              <p:par>
                                <p:cTn id="4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67 0.00047 L 0.16679 -0.00046 " pathEditMode="relative" rAng="0" ptsTypes="AA">
                                      <p:cBhvr>
                                        <p:cTn id="4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" y="-46"/>
                                    </p:animMotion>
                                  </p:childTnLst>
                                </p:cTn>
                              </p:par>
                              <p:par>
                                <p:cTn id="423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401 -0.00046 L 0.16627 4.44444E-6 " pathEditMode="relative" rAng="0" ptsTypes="AA">
                                      <p:cBhvr>
                                        <p:cTn id="4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250"/>
                            </p:stCondLst>
                            <p:childTnLst>
                              <p:par>
                                <p:cTn id="42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2750"/>
                            </p:stCondLst>
                            <p:childTnLst>
                              <p:par>
                                <p:cTn id="4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00"/>
                            </p:stCondLst>
                            <p:childTnLst>
                              <p:par>
                                <p:cTn id="4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79 -0.00046 L 0.19544 -0.00046 " pathEditMode="relative" rAng="0" ptsTypes="AA">
                                      <p:cBhvr>
                                        <p:cTn id="4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0"/>
                                    </p:animMotion>
                                  </p:childTnLst>
                                </p:cTn>
                              </p:par>
                              <p:par>
                                <p:cTn id="446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6627 -3.7037E-6 L 0.19518 -0.00092 " pathEditMode="relative" rAng="0" ptsTypes="AA">
                                      <p:cBhvr>
                                        <p:cTn id="44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2250"/>
                            </p:stCondLst>
                            <p:childTnLst>
                              <p:par>
                                <p:cTn id="44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2750"/>
                            </p:stCondLst>
                            <p:childTnLst>
                              <p:par>
                                <p:cTn id="4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500"/>
                            </p:stCondLst>
                            <p:childTnLst>
                              <p:par>
                                <p:cTn id="4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-0.00046 L 0.22357 -0.00046 " pathEditMode="relative" rAng="0" ptsTypes="AA">
                                      <p:cBhvr>
                                        <p:cTn id="46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0"/>
                                    </p:animMotion>
                                  </p:childTnLst>
                                </p:cTn>
                              </p:par>
                              <p:par>
                                <p:cTn id="469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9518 -0.00092 L 0.22278 -0.00139 " pathEditMode="relative" rAng="0" ptsTypes="AA">
                                      <p:cBhvr>
                                        <p:cTn id="47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2250"/>
                            </p:stCondLst>
                            <p:childTnLst>
                              <p:par>
                                <p:cTn id="47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2750"/>
                            </p:stCondLst>
                            <p:childTnLst>
                              <p:par>
                                <p:cTn id="4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500"/>
                            </p:stCondLst>
                            <p:childTnLst>
                              <p:par>
                                <p:cTn id="4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357 -0.00046 L 0.25234 -0.00046 " pathEditMode="relative" rAng="0" ptsTypes="AA">
                                      <p:cBhvr>
                                        <p:cTn id="49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0"/>
                                    </p:animMotion>
                                  </p:childTnLst>
                                </p:cTn>
                              </p:par>
                              <p:par>
                                <p:cTn id="492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22278 -0.00139 L 0.25286 -0.00092 " pathEditMode="relative" rAng="0" ptsTypes="AA">
                                      <p:cBhvr>
                                        <p:cTn id="49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2000"/>
                            </p:stCondLst>
                            <p:childTnLst>
                              <p:par>
                                <p:cTn id="49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500"/>
                            </p:stCondLst>
                            <p:childTnLst>
                              <p:par>
                                <p:cTn id="5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34 -0.00046 L 0.27864 0.0007 " pathEditMode="relative" rAng="0" ptsTypes="AA">
                                      <p:cBhvr>
                                        <p:cTn id="5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46"/>
                                    </p:animMotion>
                                  </p:childTnLst>
                                </p:cTn>
                              </p:par>
                              <p:par>
                                <p:cTn id="515" presetID="63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25287 -0.00092 L 0.27903 -0.00046 " pathEditMode="relative" rAng="0" ptsTypes="AA">
                                      <p:cBhvr>
                                        <p:cTn id="5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2250"/>
                            </p:stCondLst>
                            <p:childTnLst>
                              <p:par>
                                <p:cTn id="51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1000"/>
                            </p:stCondLst>
                            <p:childTnLst>
                              <p:par>
                                <p:cTn id="53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1500"/>
                            </p:stCondLst>
                            <p:childTnLst>
                              <p:par>
                                <p:cTn id="5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0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9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3A8B-CCDA-C3A3-5D04-C9BC372E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8375430E-5A35-B245-46AC-89CE6A7CD769}"/>
              </a:ext>
            </a:extLst>
          </p:cNvPr>
          <p:cNvSpPr/>
          <p:nvPr/>
        </p:nvSpPr>
        <p:spPr>
          <a:xfrm>
            <a:off x="5548636" y="868319"/>
            <a:ext cx="5182117" cy="2039007"/>
          </a:xfrm>
          <a:prstGeom prst="rect">
            <a:avLst/>
          </a:prstGeom>
          <a:solidFill>
            <a:srgbClr val="FEFF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aphicFrame>
        <p:nvGraphicFramePr>
          <p:cNvPr id="8481" name="Group 289">
            <a:extLst>
              <a:ext uri="{FF2B5EF4-FFF2-40B4-BE49-F238E27FC236}">
                <a16:creationId xmlns:a16="http://schemas.microsoft.com/office/drawing/2014/main" id="{0F3084FF-EAC9-748C-B048-6DAD933CF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508179"/>
              </p:ext>
            </p:extLst>
          </p:nvPr>
        </p:nvGraphicFramePr>
        <p:xfrm>
          <a:off x="6096000" y="1422633"/>
          <a:ext cx="4420260" cy="653588"/>
        </p:xfrm>
        <a:graphic>
          <a:graphicData uri="http://schemas.openxmlformats.org/drawingml/2006/table">
            <a:tbl>
              <a:tblPr/>
              <a:tblGrid>
                <a:gridCol w="340854">
                  <a:extLst>
                    <a:ext uri="{9D8B030D-6E8A-4147-A177-3AD203B41FA5}">
                      <a16:colId xmlns:a16="http://schemas.microsoft.com/office/drawing/2014/main" val="1239036632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759597483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1079175287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54468224"/>
                    </a:ext>
                  </a:extLst>
                </a:gridCol>
                <a:gridCol w="338445">
                  <a:extLst>
                    <a:ext uri="{9D8B030D-6E8A-4147-A177-3AD203B41FA5}">
                      <a16:colId xmlns:a16="http://schemas.microsoft.com/office/drawing/2014/main" val="2974245836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1140372923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918130056"/>
                    </a:ext>
                  </a:extLst>
                </a:gridCol>
                <a:gridCol w="340854">
                  <a:extLst>
                    <a:ext uri="{9D8B030D-6E8A-4147-A177-3AD203B41FA5}">
                      <a16:colId xmlns:a16="http://schemas.microsoft.com/office/drawing/2014/main" val="1463012823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3506207956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2761796857"/>
                    </a:ext>
                  </a:extLst>
                </a:gridCol>
                <a:gridCol w="339650">
                  <a:extLst>
                    <a:ext uri="{9D8B030D-6E8A-4147-A177-3AD203B41FA5}">
                      <a16:colId xmlns:a16="http://schemas.microsoft.com/office/drawing/2014/main" val="2714288452"/>
                    </a:ext>
                  </a:extLst>
                </a:gridCol>
                <a:gridCol w="340854">
                  <a:extLst>
                    <a:ext uri="{9D8B030D-6E8A-4147-A177-3AD203B41FA5}">
                      <a16:colId xmlns:a16="http://schemas.microsoft.com/office/drawing/2014/main" val="395646479"/>
                    </a:ext>
                  </a:extLst>
                </a:gridCol>
                <a:gridCol w="338444">
                  <a:extLst>
                    <a:ext uri="{9D8B030D-6E8A-4147-A177-3AD203B41FA5}">
                      <a16:colId xmlns:a16="http://schemas.microsoft.com/office/drawing/2014/main" val="3462854661"/>
                    </a:ext>
                  </a:extLst>
                </a:gridCol>
              </a:tblGrid>
              <a:tr h="210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904523"/>
                  </a:ext>
                </a:extLst>
              </a:tr>
              <a:tr h="2756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405358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C1AFA99-47FB-0187-1E42-9CEB74EE8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82523"/>
              </p:ext>
            </p:extLst>
          </p:nvPr>
        </p:nvGraphicFramePr>
        <p:xfrm>
          <a:off x="6099904" y="2041682"/>
          <a:ext cx="1696247" cy="376800"/>
        </p:xfrm>
        <a:graphic>
          <a:graphicData uri="http://schemas.openxmlformats.org/drawingml/2006/table">
            <a:tbl>
              <a:tblPr/>
              <a:tblGrid>
                <a:gridCol w="339490">
                  <a:extLst>
                    <a:ext uri="{9D8B030D-6E8A-4147-A177-3AD203B41FA5}">
                      <a16:colId xmlns:a16="http://schemas.microsoft.com/office/drawing/2014/main" val="4100706647"/>
                    </a:ext>
                  </a:extLst>
                </a:gridCol>
                <a:gridCol w="338290">
                  <a:extLst>
                    <a:ext uri="{9D8B030D-6E8A-4147-A177-3AD203B41FA5}">
                      <a16:colId xmlns:a16="http://schemas.microsoft.com/office/drawing/2014/main" val="1824698474"/>
                    </a:ext>
                  </a:extLst>
                </a:gridCol>
                <a:gridCol w="339489">
                  <a:extLst>
                    <a:ext uri="{9D8B030D-6E8A-4147-A177-3AD203B41FA5}">
                      <a16:colId xmlns:a16="http://schemas.microsoft.com/office/drawing/2014/main" val="2112697097"/>
                    </a:ext>
                  </a:extLst>
                </a:gridCol>
                <a:gridCol w="339489">
                  <a:extLst>
                    <a:ext uri="{9D8B030D-6E8A-4147-A177-3AD203B41FA5}">
                      <a16:colId xmlns:a16="http://schemas.microsoft.com/office/drawing/2014/main" val="1228780039"/>
                    </a:ext>
                  </a:extLst>
                </a:gridCol>
                <a:gridCol w="339489">
                  <a:extLst>
                    <a:ext uri="{9D8B030D-6E8A-4147-A177-3AD203B41FA5}">
                      <a16:colId xmlns:a16="http://schemas.microsoft.com/office/drawing/2014/main" val="1178012876"/>
                    </a:ext>
                  </a:extLst>
                </a:gridCol>
              </a:tblGrid>
              <a:tr h="2242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95767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5280F329-0834-5166-23D2-9F3C1F77D2C1}"/>
              </a:ext>
            </a:extLst>
          </p:cNvPr>
          <p:cNvGrpSpPr/>
          <p:nvPr/>
        </p:nvGrpSpPr>
        <p:grpSpPr>
          <a:xfrm>
            <a:off x="6028614" y="1056183"/>
            <a:ext cx="233362" cy="387100"/>
            <a:chOff x="1845190" y="1069412"/>
            <a:chExt cx="233362" cy="452695"/>
          </a:xfrm>
        </p:grpSpPr>
        <p:sp>
          <p:nvSpPr>
            <p:cNvPr id="8484" name="Text Box 292">
              <a:extLst>
                <a:ext uri="{FF2B5EF4-FFF2-40B4-BE49-F238E27FC236}">
                  <a16:creationId xmlns:a16="http://schemas.microsoft.com/office/drawing/2014/main" id="{1BBE4CF2-D015-5E2C-9691-C11C7CB09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190" y="1069412"/>
              <a:ext cx="233362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50000"/>
                </a:spcBef>
              </a:pPr>
              <a:r>
                <a:rPr lang="en-US" altLang="zh-CN" sz="2400" b="1" dirty="0" err="1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altLang="zh-CN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62B86058-55C1-3ADB-D94C-B2F22522D89C}"/>
                </a:ext>
              </a:extLst>
            </p:cNvPr>
            <p:cNvCxnSpPr/>
            <p:nvPr/>
          </p:nvCxnSpPr>
          <p:spPr>
            <a:xfrm>
              <a:off x="2076450" y="1260850"/>
              <a:ext cx="0" cy="26125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B6667F6-A7D9-F3FF-AE27-D10FA7F854B5}"/>
              </a:ext>
            </a:extLst>
          </p:cNvPr>
          <p:cNvGrpSpPr/>
          <p:nvPr/>
        </p:nvGrpSpPr>
        <p:grpSpPr>
          <a:xfrm>
            <a:off x="6262002" y="2371971"/>
            <a:ext cx="212625" cy="392589"/>
            <a:chOff x="2076450" y="1522107"/>
            <a:chExt cx="212625" cy="470117"/>
          </a:xfrm>
        </p:grpSpPr>
        <p:sp>
          <p:nvSpPr>
            <p:cNvPr id="7" name="Text Box 292">
              <a:extLst>
                <a:ext uri="{FF2B5EF4-FFF2-40B4-BE49-F238E27FC236}">
                  <a16:creationId xmlns:a16="http://schemas.microsoft.com/office/drawing/2014/main" id="{599AB766-9D8D-1C82-F7B5-2253A5444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948" y="1549956"/>
              <a:ext cx="203127" cy="442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709F1586-CDB9-C66E-4511-91DD8ABD85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6450" y="1522107"/>
              <a:ext cx="0" cy="29454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1320CFE-6E0B-886B-3740-59FDA2C189CB}"/>
              </a:ext>
            </a:extLst>
          </p:cNvPr>
          <p:cNvGrpSpPr/>
          <p:nvPr/>
        </p:nvGrpSpPr>
        <p:grpSpPr>
          <a:xfrm>
            <a:off x="6866815" y="2005258"/>
            <a:ext cx="161925" cy="107950"/>
            <a:chOff x="7669215" y="447675"/>
            <a:chExt cx="161925" cy="10795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07D58B8-4A7D-042E-967D-B7EF8DF1BDC8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ECECE84-4498-4D54-2FBB-42CAE1FB8908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5C0D6E4-F31C-7CF8-EBAF-782C65C276CF}"/>
              </a:ext>
            </a:extLst>
          </p:cNvPr>
          <p:cNvGrpSpPr/>
          <p:nvPr/>
        </p:nvGrpSpPr>
        <p:grpSpPr>
          <a:xfrm>
            <a:off x="8220142" y="2002887"/>
            <a:ext cx="161925" cy="107950"/>
            <a:chOff x="7669215" y="447675"/>
            <a:chExt cx="161925" cy="10795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193BCF0-43FA-E42B-3E09-AE73DC6319AB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7829D6B-0562-FB19-1151-6C54F2EF48A6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496E42B-DF15-CF8A-E8A3-037DB738192C}"/>
              </a:ext>
            </a:extLst>
          </p:cNvPr>
          <p:cNvCxnSpPr/>
          <p:nvPr/>
        </p:nvCxnSpPr>
        <p:spPr>
          <a:xfrm>
            <a:off x="7796151" y="2002879"/>
            <a:ext cx="166931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灯片编号占位符 1">
            <a:extLst>
              <a:ext uri="{FF2B5EF4-FFF2-40B4-BE49-F238E27FC236}">
                <a16:creationId xmlns:a16="http://schemas.microsoft.com/office/drawing/2014/main" id="{C7F6749A-7596-D7C6-86D0-4EF2EBD5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2" name="文本框 8">
            <a:extLst>
              <a:ext uri="{FF2B5EF4-FFF2-40B4-BE49-F238E27FC236}">
                <a16:creationId xmlns:a16="http://schemas.microsoft.com/office/drawing/2014/main" id="{A388738B-4EE2-1A63-7EA0-45A0CEC365BC}"/>
              </a:ext>
            </a:extLst>
          </p:cNvPr>
          <p:cNvSpPr txBox="1"/>
          <p:nvPr/>
        </p:nvSpPr>
        <p:spPr>
          <a:xfrm>
            <a:off x="1264223" y="263902"/>
            <a:ext cx="6904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4.3.2  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模式匹配的一种改进算法 </a:t>
            </a: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—— </a:t>
            </a:r>
            <a:r>
              <a:rPr lang="en-US" altLang="zh-CN" sz="2400" b="1" kern="1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KMP</a:t>
            </a:r>
            <a:r>
              <a:rPr lang="zh-CN" altLang="en-US" sz="24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endParaRPr lang="zh-CN" altLang="zh-CN" sz="2400" b="1" kern="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78BEA27-2A2F-B009-E6A6-71E63327E493}"/>
              </a:ext>
            </a:extLst>
          </p:cNvPr>
          <p:cNvSpPr txBox="1"/>
          <p:nvPr/>
        </p:nvSpPr>
        <p:spPr>
          <a:xfrm>
            <a:off x="497880" y="3196707"/>
            <a:ext cx="11061468" cy="3139321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Index_KMP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  </a:t>
            </a:r>
            <a:r>
              <a:rPr lang="en-US" altLang="zh-CN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4.9</a:t>
            </a:r>
            <a:endParaRPr lang="zh-CN" altLang="zh-CN" b="1" kern="1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利用模式串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表求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在主串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中第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个字符之后的位置的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KMP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非空，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T[0]&lt;=0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pos&lt;1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pos&gt;S[0])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0;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检查参数合法性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=pos, j=1;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&lt;=S[0]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j&lt;=T[0])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分别指示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当前比较的字符位置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(j==0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]==T[j])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++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++j;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继续比较后续字符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 = next[j];     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模式串向右移动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 &gt; T[0])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-T[0];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匹配成功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0;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90C1F0-C6EB-A088-C3DC-D2079CA52C55}"/>
              </a:ext>
            </a:extLst>
          </p:cNvPr>
          <p:cNvSpPr txBox="1"/>
          <p:nvPr/>
        </p:nvSpPr>
        <p:spPr>
          <a:xfrm>
            <a:off x="497880" y="868319"/>
            <a:ext cx="39292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</a:t>
            </a:r>
            <a:r>
              <a:rPr lang="zh-CN" altLang="en-US" b="1" dirty="0">
                <a:solidFill>
                  <a:srgbClr val="041ABC"/>
                </a:solidFill>
                <a:latin typeface="+mj-ea"/>
                <a:ea typeface="+mj-ea"/>
              </a:rPr>
              <a:t>算法</a:t>
            </a:r>
            <a:r>
              <a:rPr lang="en-US" altLang="zh-CN" b="1" dirty="0">
                <a:solidFill>
                  <a:srgbClr val="041ABC"/>
                </a:solidFill>
              </a:rPr>
              <a:t>4.8</a:t>
            </a:r>
            <a:r>
              <a:rPr lang="zh-CN" altLang="en-US" dirty="0"/>
              <a:t>的改进：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）增设模式串的</a:t>
            </a:r>
            <a:r>
              <a:rPr lang="en-US" altLang="zh-CN" dirty="0"/>
              <a:t>next</a:t>
            </a:r>
            <a:r>
              <a:rPr lang="zh-CN" altLang="en-US" dirty="0"/>
              <a:t>函数值数组；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）修改</a:t>
            </a:r>
            <a:r>
              <a:rPr lang="en-US" altLang="zh-CN" b="1" dirty="0">
                <a:solidFill>
                  <a:srgbClr val="041ABC"/>
                </a:solidFill>
              </a:rPr>
              <a:t>while</a:t>
            </a:r>
            <a:r>
              <a:rPr lang="zh-CN" altLang="en-US" dirty="0"/>
              <a:t>循环内的</a:t>
            </a:r>
            <a:r>
              <a:rPr lang="en-US" altLang="zh-CN" b="1" dirty="0">
                <a:solidFill>
                  <a:srgbClr val="041ABC"/>
                </a:solidFill>
              </a:rPr>
              <a:t>else</a:t>
            </a:r>
            <a:r>
              <a:rPr lang="zh-CN" altLang="en-US" dirty="0"/>
              <a:t>子句。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65697C-6865-0459-A6AA-EC6ED18622BE}"/>
              </a:ext>
            </a:extLst>
          </p:cNvPr>
          <p:cNvSpPr txBox="1"/>
          <p:nvPr/>
        </p:nvSpPr>
        <p:spPr>
          <a:xfrm>
            <a:off x="537101" y="181821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图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4.5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的示例</a:t>
            </a:r>
          </a:p>
        </p:txBody>
      </p:sp>
      <p:sp>
        <p:nvSpPr>
          <p:cNvPr id="38" name="文本框 41">
            <a:extLst>
              <a:ext uri="{FF2B5EF4-FFF2-40B4-BE49-F238E27FC236}">
                <a16:creationId xmlns:a16="http://schemas.microsoft.com/office/drawing/2014/main" id="{C89B5A32-1932-E682-CBD0-E19626D6B81D}"/>
              </a:ext>
            </a:extLst>
          </p:cNvPr>
          <p:cNvSpPr txBox="1"/>
          <p:nvPr/>
        </p:nvSpPr>
        <p:spPr>
          <a:xfrm>
            <a:off x="5252958" y="29763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C00000"/>
                </a:solidFill>
              </a:rPr>
              <a:t>1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57AA972-FB6B-0F8E-E171-32DC34C4420C}"/>
              </a:ext>
            </a:extLst>
          </p:cNvPr>
          <p:cNvGrpSpPr/>
          <p:nvPr/>
        </p:nvGrpSpPr>
        <p:grpSpPr>
          <a:xfrm>
            <a:off x="5635375" y="1688530"/>
            <a:ext cx="440091" cy="400110"/>
            <a:chOff x="5608465" y="2027613"/>
            <a:chExt cx="440091" cy="400110"/>
          </a:xfrm>
        </p:grpSpPr>
        <p:sp>
          <p:nvSpPr>
            <p:cNvPr id="43" name="文本框 54">
              <a:extLst>
                <a:ext uri="{FF2B5EF4-FFF2-40B4-BE49-F238E27FC236}">
                  <a16:creationId xmlns:a16="http://schemas.microsoft.com/office/drawing/2014/main" id="{5D3ADD24-86A4-BB16-EE07-DC4FE1C90D9C}"/>
                </a:ext>
              </a:extLst>
            </p:cNvPr>
            <p:cNvSpPr txBox="1"/>
            <p:nvPr/>
          </p:nvSpPr>
          <p:spPr>
            <a:xfrm>
              <a:off x="5608465" y="20276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b="1" dirty="0">
                  <a:solidFill>
                    <a:srgbClr val="C00000"/>
                  </a:solidFill>
                </a:rPr>
                <a:t>S</a:t>
              </a:r>
              <a:endParaRPr lang="zh-CN" altLang="en-US" sz="20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133A0EE-D7D2-DCC1-812E-C0334A5E09C0}"/>
                </a:ext>
              </a:extLst>
            </p:cNvPr>
            <p:cNvCxnSpPr/>
            <p:nvPr/>
          </p:nvCxnSpPr>
          <p:spPr>
            <a:xfrm>
              <a:off x="5837966" y="2235266"/>
              <a:ext cx="210590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A74A3FF-AAA5-EB39-C77D-8B8397B43C22}"/>
              </a:ext>
            </a:extLst>
          </p:cNvPr>
          <p:cNvGrpSpPr/>
          <p:nvPr/>
        </p:nvGrpSpPr>
        <p:grpSpPr>
          <a:xfrm>
            <a:off x="5630719" y="2041682"/>
            <a:ext cx="440091" cy="400110"/>
            <a:chOff x="5608465" y="2027613"/>
            <a:chExt cx="440091" cy="400110"/>
          </a:xfrm>
        </p:grpSpPr>
        <p:sp>
          <p:nvSpPr>
            <p:cNvPr id="41" name="文本框 59">
              <a:extLst>
                <a:ext uri="{FF2B5EF4-FFF2-40B4-BE49-F238E27FC236}">
                  <a16:creationId xmlns:a16="http://schemas.microsoft.com/office/drawing/2014/main" id="{58E162CB-7BA5-2491-A3DB-8A124DA18CFD}"/>
                </a:ext>
              </a:extLst>
            </p:cNvPr>
            <p:cNvSpPr txBox="1"/>
            <p:nvPr/>
          </p:nvSpPr>
          <p:spPr>
            <a:xfrm>
              <a:off x="5608465" y="2027613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b="1" dirty="0">
                  <a:solidFill>
                    <a:srgbClr val="C00000"/>
                  </a:solidFill>
                </a:rPr>
                <a:t>T</a:t>
              </a:r>
              <a:endParaRPr lang="zh-CN" altLang="en-US" sz="20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293C5F2D-855A-3270-B94E-D84E137BBB6D}"/>
                </a:ext>
              </a:extLst>
            </p:cNvPr>
            <p:cNvCxnSpPr/>
            <p:nvPr/>
          </p:nvCxnSpPr>
          <p:spPr>
            <a:xfrm>
              <a:off x="5837966" y="2235266"/>
              <a:ext cx="210590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879A3339-AECA-28ED-2970-1D48EC6BE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8818"/>
              </p:ext>
            </p:extLst>
          </p:nvPr>
        </p:nvGraphicFramePr>
        <p:xfrm>
          <a:off x="2223081" y="1968507"/>
          <a:ext cx="2892989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997">
                  <a:extLst>
                    <a:ext uri="{9D8B030D-6E8A-4147-A177-3AD203B41FA5}">
                      <a16:colId xmlns:a16="http://schemas.microsoft.com/office/drawing/2014/main" val="3553155573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552160979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3701713252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4201822688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3373111870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2892636754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503093046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798567939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492566842"/>
                    </a:ext>
                  </a:extLst>
                </a:gridCol>
              </a:tblGrid>
              <a:tr h="2519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endParaRPr lang="zh-CN" alt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596326"/>
                  </a:ext>
                </a:extLst>
              </a:tr>
              <a:tr h="25190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模式串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b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b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c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c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4513738"/>
                  </a:ext>
                </a:extLst>
              </a:tr>
              <a:tr h="2519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next[</a:t>
                      </a: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r>
                        <a:rPr lang="en-US" altLang="zh-CN" b="1" dirty="0"/>
                        <a:t>]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087551"/>
                  </a:ext>
                </a:extLst>
              </a:tr>
            </a:tbl>
          </a:graphicData>
        </a:graphic>
      </p:graphicFrame>
      <p:sp>
        <p:nvSpPr>
          <p:cNvPr id="46" name="文本框 41">
            <a:extLst>
              <a:ext uri="{FF2B5EF4-FFF2-40B4-BE49-F238E27FC236}">
                <a16:creationId xmlns:a16="http://schemas.microsoft.com/office/drawing/2014/main" id="{099D37B1-D376-EDBA-2EA3-29C9187B982B}"/>
              </a:ext>
            </a:extLst>
          </p:cNvPr>
          <p:cNvSpPr txBox="1"/>
          <p:nvPr/>
        </p:nvSpPr>
        <p:spPr>
          <a:xfrm>
            <a:off x="2966958" y="504744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0070C0"/>
                </a:solidFill>
              </a:rPr>
              <a:t>3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47" name="文本框 41">
            <a:extLst>
              <a:ext uri="{FF2B5EF4-FFF2-40B4-BE49-F238E27FC236}">
                <a16:creationId xmlns:a16="http://schemas.microsoft.com/office/drawing/2014/main" id="{5686ADF1-D64F-959E-4B8A-0C6406DCC9B4}"/>
              </a:ext>
            </a:extLst>
          </p:cNvPr>
          <p:cNvSpPr txBox="1"/>
          <p:nvPr/>
        </p:nvSpPr>
        <p:spPr>
          <a:xfrm>
            <a:off x="3513122" y="247945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0070C0"/>
                </a:solidFill>
              </a:rPr>
              <a:t>1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48" name="文本框 41">
            <a:extLst>
              <a:ext uri="{FF2B5EF4-FFF2-40B4-BE49-F238E27FC236}">
                <a16:creationId xmlns:a16="http://schemas.microsoft.com/office/drawing/2014/main" id="{A89AFBEF-FDA2-3C60-0F03-DBF405874A03}"/>
              </a:ext>
            </a:extLst>
          </p:cNvPr>
          <p:cNvSpPr txBox="1"/>
          <p:nvPr/>
        </p:nvSpPr>
        <p:spPr>
          <a:xfrm>
            <a:off x="2966958" y="505760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0070C0"/>
                </a:solidFill>
              </a:rPr>
              <a:t>5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49" name="文本框 41">
            <a:extLst>
              <a:ext uri="{FF2B5EF4-FFF2-40B4-BE49-F238E27FC236}">
                <a16:creationId xmlns:a16="http://schemas.microsoft.com/office/drawing/2014/main" id="{4B0635A7-99D6-DA7A-F18E-2D44482C3485}"/>
              </a:ext>
            </a:extLst>
          </p:cNvPr>
          <p:cNvSpPr txBox="1"/>
          <p:nvPr/>
        </p:nvSpPr>
        <p:spPr>
          <a:xfrm>
            <a:off x="4057764" y="25072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0070C0"/>
                </a:solidFill>
              </a:rPr>
              <a:t>2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30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0.02903 0.00023 " pathEditMode="relative" rAng="0" ptsTypes="AA">
                                      <p:cBhvr>
                                        <p:cTn id="6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02825 -0.00024 " pathEditMode="relative" rAng="0" ptsTypes="AA">
                                      <p:cBhvr>
                                        <p:cTn id="6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03 0.00023 L 0.05664 0.00046 " pathEditMode="relative" rAng="0" ptsTypes="AA">
                                      <p:cBhvr>
                                        <p:cTn id="7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825 -0.00024 L 0.05625 -0.00047 " pathEditMode="relative" rAng="0" ptsTypes="AA">
                                      <p:cBhvr>
                                        <p:cTn id="7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0.04388 -0.33102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7" y="-1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13411 0.3729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6" y="1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5.55112E-17 L 0.05586 0.00046 " pathEditMode="relative" rAng="0" ptsTypes="AA">
                                      <p:cBhvr>
                                        <p:cTn id="11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0" y="-69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64 0.00046 L 0.08333 0.00092 " pathEditMode="relative" rAng="0" ptsTypes="AA">
                                      <p:cBhvr>
                                        <p:cTn id="120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" y="23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5625 -0.00047 L 0.08359 -0.00047 " pathEditMode="relative" rAng="0" ptsTypes="AA">
                                      <p:cBhvr>
                                        <p:cTn id="12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33 0.00092 L 0.11237 0.00069 " pathEditMode="relative" rAng="0" ptsTypes="AA">
                                      <p:cBhvr>
                                        <p:cTn id="12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-23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8359 -0.00047 L 0.11171 -0.0007 " pathEditMode="relative" rAng="0" ptsTypes="AA">
                                      <p:cBhvr>
                                        <p:cTn id="12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37 0.00069 L 0.13867 0.00046 " pathEditMode="relative" rAng="0" ptsTypes="AA">
                                      <p:cBhvr>
                                        <p:cTn id="13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-23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1171 -0.0007 L 0.1401 -0.00047 " pathEditMode="relative" rAng="0" ptsTypes="AA">
                                      <p:cBhvr>
                                        <p:cTn id="13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67 0.00046 L 0.16718 0.00023 " pathEditMode="relative" rAng="0" ptsTypes="AA">
                                      <p:cBhvr>
                                        <p:cTn id="13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9" y="-23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401 -0.00047 L 0.16783 -0.0007 " pathEditMode="relative" rAng="0" ptsTypes="AA">
                                      <p:cBhvr>
                                        <p:cTn id="14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08711 -0.34283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-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000"/>
                            </p:stCondLst>
                            <p:childTnLst>
                              <p:par>
                                <p:cTn id="16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500"/>
                            </p:stCondLst>
                            <p:childTnLst>
                              <p:par>
                                <p:cTn id="1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4500"/>
                            </p:stCondLst>
                            <p:childTnLst>
                              <p:par>
                                <p:cTn id="17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07407E-6 L -0.17877 0.36643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45" y="1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86 0.00046 L 0.13828 0.00046 " pathEditMode="relative" rAng="0" ptsTypes="AA">
                                      <p:cBhvr>
                                        <p:cTn id="17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4" y="46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718 0.00023 L 0.19544 0.00069 " pathEditMode="relative" rAng="0" ptsTypes="AA">
                                      <p:cBhvr>
                                        <p:cTn id="18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23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6783 -0.0007 L 0.19557 0.00046 " pathEditMode="relative" rAng="0" ptsTypes="AA">
                                      <p:cBhvr>
                                        <p:cTn id="18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0.00069 L 0.22343 0.00023 " pathEditMode="relative" rAng="0" ptsTypes="AA">
                                      <p:cBhvr>
                                        <p:cTn id="19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-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9557 0.00046 L 0.22356 0.00046 " pathEditMode="relative" rAng="0" ptsTypes="AA">
                                      <p:cBhvr>
                                        <p:cTn id="19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343 0.00023 L 0.25078 0.00092 " pathEditMode="relative" rAng="0" ptsTypes="AA">
                                      <p:cBhvr>
                                        <p:cTn id="19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" y="23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2356 0.00046 L 0.25117 0.00092 " pathEditMode="relative" rAng="0" ptsTypes="AA">
                                      <p:cBhvr>
                                        <p:cTn id="20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078 0.00092 L 0.2789 0.00069 " pathEditMode="relative" rAng="0" ptsTypes="AA">
                                      <p:cBhvr>
                                        <p:cTn id="20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3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63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5117 0.00092 L 0.28164 0.00046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500"/>
                            </p:stCondLst>
                            <p:childTnLst>
                              <p:par>
                                <p:cTn id="20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/>
      <p:bldP spid="46" grpId="0"/>
      <p:bldP spid="46" grpId="1"/>
      <p:bldP spid="46" grpId="2"/>
      <p:bldP spid="47" grpId="0"/>
      <p:bldP spid="47" grpId="2"/>
      <p:bldP spid="47" grpId="3"/>
      <p:bldP spid="48" grpId="0"/>
      <p:bldP spid="48" grpId="1"/>
      <p:bldP spid="48" grpId="2"/>
      <p:bldP spid="49" grpId="0"/>
      <p:bldP spid="49" grpId="1"/>
      <p:bldP spid="49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3A8B-CCDA-C3A3-5D04-C9BC372E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8375430E-5A35-B245-46AC-89CE6A7CD769}"/>
              </a:ext>
            </a:extLst>
          </p:cNvPr>
          <p:cNvSpPr/>
          <p:nvPr/>
        </p:nvSpPr>
        <p:spPr>
          <a:xfrm>
            <a:off x="5848594" y="908512"/>
            <a:ext cx="5986054" cy="3176940"/>
          </a:xfrm>
          <a:prstGeom prst="rect">
            <a:avLst/>
          </a:prstGeom>
          <a:solidFill>
            <a:srgbClr val="FEFF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aphicFrame>
        <p:nvGraphicFramePr>
          <p:cNvPr id="8481" name="Group 289">
            <a:extLst>
              <a:ext uri="{FF2B5EF4-FFF2-40B4-BE49-F238E27FC236}">
                <a16:creationId xmlns:a16="http://schemas.microsoft.com/office/drawing/2014/main" id="{0F3084FF-EAC9-748C-B048-6DAD933CF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616095"/>
              </p:ext>
            </p:extLst>
          </p:nvPr>
        </p:nvGraphicFramePr>
        <p:xfrm>
          <a:off x="6147375" y="1447815"/>
          <a:ext cx="3563191" cy="665018"/>
        </p:xfrm>
        <a:graphic>
          <a:graphicData uri="http://schemas.openxmlformats.org/drawingml/2006/table">
            <a:tbl>
              <a:tblPr/>
              <a:tblGrid>
                <a:gridCol w="878791">
                  <a:extLst>
                    <a:ext uri="{9D8B030D-6E8A-4147-A177-3AD203B41FA5}">
                      <a16:colId xmlns:a16="http://schemas.microsoft.com/office/drawing/2014/main" val="1239036632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1079175287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354468224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2974245836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1140372923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3918130056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1463012823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3506207956"/>
                    </a:ext>
                  </a:extLst>
                </a:gridCol>
                <a:gridCol w="335550">
                  <a:extLst>
                    <a:ext uri="{9D8B030D-6E8A-4147-A177-3AD203B41FA5}">
                      <a16:colId xmlns:a16="http://schemas.microsoft.com/office/drawing/2014/main" val="2761796857"/>
                    </a:ext>
                  </a:extLst>
                </a:gridCol>
              </a:tblGrid>
              <a:tr h="210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36000" marB="3600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904523"/>
                  </a:ext>
                </a:extLst>
              </a:tr>
              <a:tr h="2756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模式串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405358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C1AFA99-47FB-0187-1E42-9CEB74EE8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45863"/>
              </p:ext>
            </p:extLst>
          </p:nvPr>
        </p:nvGraphicFramePr>
        <p:xfrm>
          <a:off x="6698459" y="2116279"/>
          <a:ext cx="3012109" cy="730994"/>
        </p:xfrm>
        <a:graphic>
          <a:graphicData uri="http://schemas.openxmlformats.org/drawingml/2006/table">
            <a:tbl>
              <a:tblPr/>
              <a:tblGrid>
                <a:gridCol w="334811">
                  <a:extLst>
                    <a:ext uri="{9D8B030D-6E8A-4147-A177-3AD203B41FA5}">
                      <a16:colId xmlns:a16="http://schemas.microsoft.com/office/drawing/2014/main" val="647010773"/>
                    </a:ext>
                  </a:extLst>
                </a:gridCol>
                <a:gridCol w="334811">
                  <a:extLst>
                    <a:ext uri="{9D8B030D-6E8A-4147-A177-3AD203B41FA5}">
                      <a16:colId xmlns:a16="http://schemas.microsoft.com/office/drawing/2014/main" val="4100706647"/>
                    </a:ext>
                  </a:extLst>
                </a:gridCol>
                <a:gridCol w="333627">
                  <a:extLst>
                    <a:ext uri="{9D8B030D-6E8A-4147-A177-3AD203B41FA5}">
                      <a16:colId xmlns:a16="http://schemas.microsoft.com/office/drawing/2014/main" val="1824698474"/>
                    </a:ext>
                  </a:extLst>
                </a:gridCol>
                <a:gridCol w="334810">
                  <a:extLst>
                    <a:ext uri="{9D8B030D-6E8A-4147-A177-3AD203B41FA5}">
                      <a16:colId xmlns:a16="http://schemas.microsoft.com/office/drawing/2014/main" val="2112697097"/>
                    </a:ext>
                  </a:extLst>
                </a:gridCol>
                <a:gridCol w="334810">
                  <a:extLst>
                    <a:ext uri="{9D8B030D-6E8A-4147-A177-3AD203B41FA5}">
                      <a16:colId xmlns:a16="http://schemas.microsoft.com/office/drawing/2014/main" val="1228780039"/>
                    </a:ext>
                  </a:extLst>
                </a:gridCol>
                <a:gridCol w="334810">
                  <a:extLst>
                    <a:ext uri="{9D8B030D-6E8A-4147-A177-3AD203B41FA5}">
                      <a16:colId xmlns:a16="http://schemas.microsoft.com/office/drawing/2014/main" val="1178012876"/>
                    </a:ext>
                  </a:extLst>
                </a:gridCol>
                <a:gridCol w="334810">
                  <a:extLst>
                    <a:ext uri="{9D8B030D-6E8A-4147-A177-3AD203B41FA5}">
                      <a16:colId xmlns:a16="http://schemas.microsoft.com/office/drawing/2014/main" val="2346502531"/>
                    </a:ext>
                  </a:extLst>
                </a:gridCol>
                <a:gridCol w="334810">
                  <a:extLst>
                    <a:ext uri="{9D8B030D-6E8A-4147-A177-3AD203B41FA5}">
                      <a16:colId xmlns:a16="http://schemas.microsoft.com/office/drawing/2014/main" val="1159746443"/>
                    </a:ext>
                  </a:extLst>
                </a:gridCol>
                <a:gridCol w="334810">
                  <a:extLst>
                    <a:ext uri="{9D8B030D-6E8A-4147-A177-3AD203B41FA5}">
                      <a16:colId xmlns:a16="http://schemas.microsoft.com/office/drawing/2014/main" val="448507671"/>
                    </a:ext>
                  </a:extLst>
                </a:gridCol>
              </a:tblGrid>
              <a:tr h="224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99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957676"/>
                  </a:ext>
                </a:extLst>
              </a:tr>
              <a:tr h="224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896332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5280F329-0834-5166-23D2-9F3C1F77D2C1}"/>
              </a:ext>
            </a:extLst>
          </p:cNvPr>
          <p:cNvGrpSpPr/>
          <p:nvPr/>
        </p:nvGrpSpPr>
        <p:grpSpPr>
          <a:xfrm>
            <a:off x="6959481" y="1043128"/>
            <a:ext cx="233362" cy="387100"/>
            <a:chOff x="1845190" y="1069412"/>
            <a:chExt cx="233362" cy="452695"/>
          </a:xfrm>
        </p:grpSpPr>
        <p:sp>
          <p:nvSpPr>
            <p:cNvPr id="8484" name="Text Box 292">
              <a:extLst>
                <a:ext uri="{FF2B5EF4-FFF2-40B4-BE49-F238E27FC236}">
                  <a16:creationId xmlns:a16="http://schemas.microsoft.com/office/drawing/2014/main" id="{1BBE4CF2-D015-5E2C-9691-C11C7CB09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190" y="1069412"/>
              <a:ext cx="233362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50000"/>
                </a:spcBef>
              </a:pPr>
              <a:r>
                <a:rPr lang="en-US" altLang="zh-CN" sz="2400" b="1" dirty="0" err="1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altLang="zh-CN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62B86058-55C1-3ADB-D94C-B2F22522D89C}"/>
                </a:ext>
              </a:extLst>
            </p:cNvPr>
            <p:cNvCxnSpPr/>
            <p:nvPr/>
          </p:nvCxnSpPr>
          <p:spPr>
            <a:xfrm>
              <a:off x="2076450" y="1260850"/>
              <a:ext cx="0" cy="26125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B6667F6-A7D9-F3FF-AE27-D10FA7F854B5}"/>
              </a:ext>
            </a:extLst>
          </p:cNvPr>
          <p:cNvGrpSpPr/>
          <p:nvPr/>
        </p:nvGrpSpPr>
        <p:grpSpPr>
          <a:xfrm>
            <a:off x="6863586" y="2846355"/>
            <a:ext cx="212625" cy="392589"/>
            <a:chOff x="2076450" y="1522107"/>
            <a:chExt cx="212625" cy="470117"/>
          </a:xfrm>
        </p:grpSpPr>
        <p:sp>
          <p:nvSpPr>
            <p:cNvPr id="7" name="Text Box 292">
              <a:extLst>
                <a:ext uri="{FF2B5EF4-FFF2-40B4-BE49-F238E27FC236}">
                  <a16:creationId xmlns:a16="http://schemas.microsoft.com/office/drawing/2014/main" id="{599AB766-9D8D-1C82-F7B5-2253A5444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948" y="1549956"/>
              <a:ext cx="203127" cy="442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709F1586-CDB9-C66E-4511-91DD8ABD85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6450" y="1522107"/>
              <a:ext cx="0" cy="29454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1320CFE-6E0B-886B-3740-59FDA2C189CB}"/>
              </a:ext>
            </a:extLst>
          </p:cNvPr>
          <p:cNvGrpSpPr/>
          <p:nvPr/>
        </p:nvGrpSpPr>
        <p:grpSpPr>
          <a:xfrm>
            <a:off x="7443554" y="2040820"/>
            <a:ext cx="161925" cy="107950"/>
            <a:chOff x="7669215" y="447675"/>
            <a:chExt cx="161925" cy="10795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07D58B8-4A7D-042E-967D-B7EF8DF1BDC8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ECECE84-4498-4D54-2FBB-42CAE1FB8908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58F3E9-733A-0AE9-427D-5981AA52D4E7}"/>
              </a:ext>
            </a:extLst>
          </p:cNvPr>
          <p:cNvGrpSpPr/>
          <p:nvPr/>
        </p:nvGrpSpPr>
        <p:grpSpPr>
          <a:xfrm>
            <a:off x="8790844" y="2046881"/>
            <a:ext cx="161925" cy="107950"/>
            <a:chOff x="7669215" y="447675"/>
            <a:chExt cx="161925" cy="107950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E73E360-5CAF-42FB-42C1-E4734DB8E074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5CCB8EF-3A13-69E7-CCD0-10EC27E85B98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5C0D6E4-F31C-7CF8-EBAF-782C65C276CF}"/>
              </a:ext>
            </a:extLst>
          </p:cNvPr>
          <p:cNvGrpSpPr/>
          <p:nvPr/>
        </p:nvGrpSpPr>
        <p:grpSpPr>
          <a:xfrm>
            <a:off x="8118788" y="2047674"/>
            <a:ext cx="161925" cy="107950"/>
            <a:chOff x="7669215" y="447675"/>
            <a:chExt cx="161925" cy="10795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193BCF0-43FA-E42B-3E09-AE73DC6319AB}"/>
                </a:ext>
              </a:extLst>
            </p:cNvPr>
            <p:cNvCxnSpPr/>
            <p:nvPr/>
          </p:nvCxnSpPr>
          <p:spPr>
            <a:xfrm>
              <a:off x="7748588" y="447675"/>
              <a:ext cx="0" cy="107950"/>
            </a:xfrm>
            <a:prstGeom prst="line">
              <a:avLst/>
            </a:prstGeom>
            <a:ln w="79375" cmpd="dbl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7829D6B-0562-FB19-1151-6C54F2EF48A6}"/>
                </a:ext>
              </a:extLst>
            </p:cNvPr>
            <p:cNvCxnSpPr>
              <a:cxnSpLocks/>
            </p:cNvCxnSpPr>
            <p:nvPr/>
          </p:nvCxnSpPr>
          <p:spPr>
            <a:xfrm>
              <a:off x="7669215" y="460376"/>
              <a:ext cx="161925" cy="8096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灯片编号占位符 1">
            <a:extLst>
              <a:ext uri="{FF2B5EF4-FFF2-40B4-BE49-F238E27FC236}">
                <a16:creationId xmlns:a16="http://schemas.microsoft.com/office/drawing/2014/main" id="{C7F6749A-7596-D7C6-86D0-4EF2EBD5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2" name="文本框 8">
            <a:extLst>
              <a:ext uri="{FF2B5EF4-FFF2-40B4-BE49-F238E27FC236}">
                <a16:creationId xmlns:a16="http://schemas.microsoft.com/office/drawing/2014/main" id="{A388738B-4EE2-1A63-7EA0-45A0CEC365BC}"/>
              </a:ext>
            </a:extLst>
          </p:cNvPr>
          <p:cNvSpPr txBox="1"/>
          <p:nvPr/>
        </p:nvSpPr>
        <p:spPr>
          <a:xfrm>
            <a:off x="1402768" y="268858"/>
            <a:ext cx="3113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模式串的</a:t>
            </a:r>
            <a:r>
              <a:rPr lang="en-US" altLang="zh-CN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next</a:t>
            </a:r>
            <a:r>
              <a:rPr lang="zh-CN" altLang="en-US" sz="2400" b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数组</a:t>
            </a:r>
            <a:endParaRPr lang="zh-CN" altLang="zh-CN" sz="2400" b="1" kern="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90C1F0-C6EB-A088-C3DC-D2079CA52C55}"/>
              </a:ext>
            </a:extLst>
          </p:cNvPr>
          <p:cNvSpPr txBox="1"/>
          <p:nvPr/>
        </p:nvSpPr>
        <p:spPr>
          <a:xfrm>
            <a:off x="497879" y="868319"/>
            <a:ext cx="5304329" cy="1057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由</a:t>
            </a:r>
            <a:r>
              <a:rPr lang="zh-CN" altLang="en-US" b="1" dirty="0">
                <a:solidFill>
                  <a:srgbClr val="041ABC"/>
                </a:solidFill>
                <a:latin typeface="+mj-ea"/>
                <a:ea typeface="+mj-ea"/>
              </a:rPr>
              <a:t>算法</a:t>
            </a:r>
            <a:r>
              <a:rPr lang="en-US" altLang="zh-CN" b="1" dirty="0">
                <a:solidFill>
                  <a:srgbClr val="041ABC"/>
                </a:solidFill>
              </a:rPr>
              <a:t>4.9</a:t>
            </a:r>
            <a:r>
              <a:rPr lang="zh-CN" altLang="en-US" dirty="0"/>
              <a:t>可衍生求模式串</a:t>
            </a:r>
            <a:r>
              <a:rPr lang="en-US" altLang="zh-CN" dirty="0"/>
              <a:t>next</a:t>
            </a:r>
            <a:r>
              <a:rPr lang="zh-CN" altLang="en-US" dirty="0"/>
              <a:t>数组值的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算法</a:t>
            </a:r>
            <a:r>
              <a:rPr lang="en-US" altLang="zh-CN" b="1" dirty="0">
                <a:solidFill>
                  <a:srgbClr val="C00000"/>
                </a:solidFill>
              </a:rPr>
              <a:t>4.10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）初始置</a:t>
            </a:r>
            <a:r>
              <a:rPr lang="en-US" altLang="zh-CN" dirty="0"/>
              <a:t>next[1]</a:t>
            </a:r>
            <a:r>
              <a:rPr lang="zh-CN" altLang="en-US" dirty="0"/>
              <a:t>为 </a:t>
            </a:r>
            <a:r>
              <a:rPr lang="en-US" altLang="zh-CN" b="1" dirty="0">
                <a:solidFill>
                  <a:srgbClr val="C00000"/>
                </a:solidFill>
              </a:rPr>
              <a:t>0 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）递推</a:t>
            </a:r>
            <a:r>
              <a:rPr lang="en-US" altLang="zh-CN" dirty="0"/>
              <a:t>next[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的值，</a:t>
            </a:r>
            <a:r>
              <a:rPr lang="en-US" altLang="zh-CN" dirty="0" err="1"/>
              <a:t>i</a:t>
            </a:r>
            <a:r>
              <a:rPr lang="en-US" altLang="zh-CN" dirty="0"/>
              <a:t>=2,3,</a:t>
            </a:r>
            <a:r>
              <a:rPr lang="en-US" altLang="zh-CN" dirty="0">
                <a:latin typeface="+mn-ea"/>
              </a:rPr>
              <a:t>…,n, n</a:t>
            </a:r>
            <a:r>
              <a:rPr lang="zh-CN" altLang="en-US" dirty="0">
                <a:latin typeface="+mn-ea"/>
              </a:rPr>
              <a:t>为模式串长度</a:t>
            </a:r>
            <a:r>
              <a:rPr lang="zh-CN" altLang="en-US" dirty="0"/>
              <a:t>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65697C-6865-0459-A6AA-EC6ED18622BE}"/>
              </a:ext>
            </a:extLst>
          </p:cNvPr>
          <p:cNvSpPr txBox="1"/>
          <p:nvPr/>
        </p:nvSpPr>
        <p:spPr>
          <a:xfrm>
            <a:off x="497879" y="2133816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图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4.7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的示例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,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求以下模式串的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next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数组值的过程</a:t>
            </a: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879A3339-AECA-28ED-2970-1D48EC6BE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18574"/>
              </p:ext>
            </p:extLst>
          </p:nvPr>
        </p:nvGraphicFramePr>
        <p:xfrm>
          <a:off x="1424837" y="2655519"/>
          <a:ext cx="2892989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997">
                  <a:extLst>
                    <a:ext uri="{9D8B030D-6E8A-4147-A177-3AD203B41FA5}">
                      <a16:colId xmlns:a16="http://schemas.microsoft.com/office/drawing/2014/main" val="3553155573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552160979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3701713252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4201822688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3373111870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2892636754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503093046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798567939"/>
                    </a:ext>
                  </a:extLst>
                </a:gridCol>
                <a:gridCol w="262999">
                  <a:extLst>
                    <a:ext uri="{9D8B030D-6E8A-4147-A177-3AD203B41FA5}">
                      <a16:colId xmlns:a16="http://schemas.microsoft.com/office/drawing/2014/main" val="492566842"/>
                    </a:ext>
                  </a:extLst>
                </a:gridCol>
              </a:tblGrid>
              <a:tr h="2519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endParaRPr lang="zh-CN" alt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596326"/>
                  </a:ext>
                </a:extLst>
              </a:tr>
              <a:tr h="25190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模式串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b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b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c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c</a:t>
                      </a:r>
                      <a:endParaRPr lang="zh-CN" altLang="en-US" sz="2000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4513738"/>
                  </a:ext>
                </a:extLst>
              </a:tr>
              <a:tr h="2519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next[</a:t>
                      </a: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r>
                        <a:rPr lang="en-US" altLang="zh-CN" b="1" dirty="0"/>
                        <a:t>]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08755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EC4AF89-DC2E-4568-E34F-50CEF0EB9928}"/>
              </a:ext>
            </a:extLst>
          </p:cNvPr>
          <p:cNvSpPr txBox="1"/>
          <p:nvPr/>
        </p:nvSpPr>
        <p:spPr>
          <a:xfrm>
            <a:off x="667737" y="4326984"/>
            <a:ext cx="10920205" cy="2031325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get_next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SStr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*next)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 </a:t>
            </a:r>
            <a:r>
              <a:rPr lang="en-US" altLang="zh-CN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4.10  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求模式串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函数值并存入数组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1, j = 0;   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next[1] = 0;</a:t>
            </a:r>
            <a:endParaRPr lang="zh-CN" altLang="zh-CN" sz="2800" b="1" kern="100" dirty="0">
              <a:solidFill>
                <a:srgbClr val="C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&lt; T[0])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扫描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(j == 0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== T[j])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j==0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是初次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++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++j;   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next[</a:t>
            </a:r>
            <a:r>
              <a:rPr lang="en-US" altLang="zh-CN" sz="1800" b="1" kern="100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j;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求得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next[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 = next[j];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向右滑动</a:t>
            </a: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7FB7E54-2625-6A31-DEE4-ED802C8D3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897104"/>
              </p:ext>
            </p:extLst>
          </p:nvPr>
        </p:nvGraphicFramePr>
        <p:xfrm>
          <a:off x="6017142" y="3348833"/>
          <a:ext cx="3684668" cy="391215"/>
        </p:xfrm>
        <a:graphic>
          <a:graphicData uri="http://schemas.openxmlformats.org/drawingml/2006/table">
            <a:tbl>
              <a:tblPr/>
              <a:tblGrid>
                <a:gridCol w="1005234">
                  <a:extLst>
                    <a:ext uri="{9D8B030D-6E8A-4147-A177-3AD203B41FA5}">
                      <a16:colId xmlns:a16="http://schemas.microsoft.com/office/drawing/2014/main" val="958706742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4100706647"/>
                    </a:ext>
                  </a:extLst>
                </a:gridCol>
                <a:gridCol w="333895">
                  <a:extLst>
                    <a:ext uri="{9D8B030D-6E8A-4147-A177-3AD203B41FA5}">
                      <a16:colId xmlns:a16="http://schemas.microsoft.com/office/drawing/2014/main" val="1824698474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2112697097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1228780039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1178012876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2346502531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1159746443"/>
                    </a:ext>
                  </a:extLst>
                </a:gridCol>
                <a:gridCol w="335077">
                  <a:extLst>
                    <a:ext uri="{9D8B030D-6E8A-4147-A177-3AD203B41FA5}">
                      <a16:colId xmlns:a16="http://schemas.microsoft.com/office/drawing/2014/main" val="448507671"/>
                    </a:ext>
                  </a:extLst>
                </a:gridCol>
              </a:tblGrid>
              <a:tr h="224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next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j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1ABC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0" marR="0" marT="36000" marB="360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41AB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57676"/>
                  </a:ext>
                </a:extLst>
              </a:tr>
            </a:tbl>
          </a:graphicData>
        </a:graphic>
      </p:graphicFrame>
      <p:sp>
        <p:nvSpPr>
          <p:cNvPr id="38" name="文本框 41">
            <a:extLst>
              <a:ext uri="{FF2B5EF4-FFF2-40B4-BE49-F238E27FC236}">
                <a16:creationId xmlns:a16="http://schemas.microsoft.com/office/drawing/2014/main" id="{C89B5A32-1932-E682-CBD0-E19626D6B81D}"/>
              </a:ext>
            </a:extLst>
          </p:cNvPr>
          <p:cNvSpPr txBox="1"/>
          <p:nvPr/>
        </p:nvSpPr>
        <p:spPr>
          <a:xfrm>
            <a:off x="7086325" y="3373707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algn="ctr"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21837F2-906F-7962-82AA-AE8418DAE8D0}"/>
              </a:ext>
            </a:extLst>
          </p:cNvPr>
          <p:cNvCxnSpPr>
            <a:cxnSpLocks/>
          </p:cNvCxnSpPr>
          <p:nvPr/>
        </p:nvCxnSpPr>
        <p:spPr>
          <a:xfrm>
            <a:off x="1003738" y="4918842"/>
            <a:ext cx="435653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8872D22-01D3-7471-E7B4-1CF5386C72E5}"/>
              </a:ext>
            </a:extLst>
          </p:cNvPr>
          <p:cNvCxnSpPr>
            <a:cxnSpLocks/>
          </p:cNvCxnSpPr>
          <p:nvPr/>
        </p:nvCxnSpPr>
        <p:spPr>
          <a:xfrm>
            <a:off x="1728159" y="5468658"/>
            <a:ext cx="100453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085BB18-357C-E39F-7530-F769224CCDA2}"/>
              </a:ext>
            </a:extLst>
          </p:cNvPr>
          <p:cNvCxnSpPr>
            <a:cxnSpLocks/>
          </p:cNvCxnSpPr>
          <p:nvPr/>
        </p:nvCxnSpPr>
        <p:spPr>
          <a:xfrm>
            <a:off x="1581808" y="5749159"/>
            <a:ext cx="402020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85FFC88-3326-539D-441B-448659061C1D}"/>
              </a:ext>
            </a:extLst>
          </p:cNvPr>
          <p:cNvCxnSpPr>
            <a:cxnSpLocks/>
          </p:cNvCxnSpPr>
          <p:nvPr/>
        </p:nvCxnSpPr>
        <p:spPr>
          <a:xfrm>
            <a:off x="3182007" y="5468658"/>
            <a:ext cx="167377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41">
            <a:extLst>
              <a:ext uri="{FF2B5EF4-FFF2-40B4-BE49-F238E27FC236}">
                <a16:creationId xmlns:a16="http://schemas.microsoft.com/office/drawing/2014/main" id="{E6768D4D-5227-14AF-9A9E-5951CCC5F2CF}"/>
              </a:ext>
            </a:extLst>
          </p:cNvPr>
          <p:cNvSpPr txBox="1"/>
          <p:nvPr/>
        </p:nvSpPr>
        <p:spPr>
          <a:xfrm>
            <a:off x="7422191" y="3376088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200" b="1" dirty="0">
                <a:solidFill>
                  <a:srgbClr val="C00000"/>
                </a:solidFill>
              </a:rPr>
              <a:t>1</a:t>
            </a:r>
            <a:endParaRPr lang="zh-CN" altLang="en-US" sz="2200" b="1" dirty="0">
              <a:solidFill>
                <a:srgbClr val="C00000"/>
              </a:solidFill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23321BF-B3E9-72F1-503A-64D1858F9F71}"/>
              </a:ext>
            </a:extLst>
          </p:cNvPr>
          <p:cNvCxnSpPr>
            <a:cxnSpLocks/>
          </p:cNvCxnSpPr>
          <p:nvPr/>
        </p:nvCxnSpPr>
        <p:spPr>
          <a:xfrm>
            <a:off x="1918139" y="6025706"/>
            <a:ext cx="167377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41">
            <a:extLst>
              <a:ext uri="{FF2B5EF4-FFF2-40B4-BE49-F238E27FC236}">
                <a16:creationId xmlns:a16="http://schemas.microsoft.com/office/drawing/2014/main" id="{2FF12CC1-A819-4D11-12A9-7782DE97E6B6}"/>
              </a:ext>
            </a:extLst>
          </p:cNvPr>
          <p:cNvSpPr txBox="1"/>
          <p:nvPr/>
        </p:nvSpPr>
        <p:spPr>
          <a:xfrm>
            <a:off x="7758057" y="3371326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4" name="文本框 41">
            <a:extLst>
              <a:ext uri="{FF2B5EF4-FFF2-40B4-BE49-F238E27FC236}">
                <a16:creationId xmlns:a16="http://schemas.microsoft.com/office/drawing/2014/main" id="{6765249C-1BCD-68E6-80FD-C26E03F443C3}"/>
              </a:ext>
            </a:extLst>
          </p:cNvPr>
          <p:cNvSpPr txBox="1"/>
          <p:nvPr/>
        </p:nvSpPr>
        <p:spPr>
          <a:xfrm>
            <a:off x="8092867" y="3377338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5" name="文本框 41">
            <a:extLst>
              <a:ext uri="{FF2B5EF4-FFF2-40B4-BE49-F238E27FC236}">
                <a16:creationId xmlns:a16="http://schemas.microsoft.com/office/drawing/2014/main" id="{A8469F7E-9756-2B2F-851D-96E35E03371A}"/>
              </a:ext>
            </a:extLst>
          </p:cNvPr>
          <p:cNvSpPr txBox="1"/>
          <p:nvPr/>
        </p:nvSpPr>
        <p:spPr>
          <a:xfrm>
            <a:off x="8427677" y="3371326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6" name="文本框 41">
            <a:extLst>
              <a:ext uri="{FF2B5EF4-FFF2-40B4-BE49-F238E27FC236}">
                <a16:creationId xmlns:a16="http://schemas.microsoft.com/office/drawing/2014/main" id="{2EF9CD76-231C-A8D0-6CD5-03B8F0440AA5}"/>
              </a:ext>
            </a:extLst>
          </p:cNvPr>
          <p:cNvSpPr txBox="1"/>
          <p:nvPr/>
        </p:nvSpPr>
        <p:spPr>
          <a:xfrm>
            <a:off x="8763333" y="3371326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7" name="文本框 41">
            <a:extLst>
              <a:ext uri="{FF2B5EF4-FFF2-40B4-BE49-F238E27FC236}">
                <a16:creationId xmlns:a16="http://schemas.microsoft.com/office/drawing/2014/main" id="{F7884EAD-9669-706E-217E-75ECE1883382}"/>
              </a:ext>
            </a:extLst>
          </p:cNvPr>
          <p:cNvSpPr txBox="1"/>
          <p:nvPr/>
        </p:nvSpPr>
        <p:spPr>
          <a:xfrm>
            <a:off x="9097297" y="3371326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8" name="文本框 41">
            <a:extLst>
              <a:ext uri="{FF2B5EF4-FFF2-40B4-BE49-F238E27FC236}">
                <a16:creationId xmlns:a16="http://schemas.microsoft.com/office/drawing/2014/main" id="{86A9EF4B-9310-1BFC-9A63-563A9EB42073}"/>
              </a:ext>
            </a:extLst>
          </p:cNvPr>
          <p:cNvSpPr txBox="1"/>
          <p:nvPr/>
        </p:nvSpPr>
        <p:spPr>
          <a:xfrm>
            <a:off x="9431261" y="3371326"/>
            <a:ext cx="213767" cy="33855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>
              <a:defRPr sz="2200" b="1">
                <a:solidFill>
                  <a:srgbClr val="C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3D64FA8-8307-2A8A-5733-199E415A56EF}"/>
              </a:ext>
            </a:extLst>
          </p:cNvPr>
          <p:cNvCxnSpPr>
            <a:cxnSpLocks/>
          </p:cNvCxnSpPr>
          <p:nvPr/>
        </p:nvCxnSpPr>
        <p:spPr>
          <a:xfrm>
            <a:off x="1034695" y="5185542"/>
            <a:ext cx="21473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48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2904 0.00024 " pathEditMode="relative" rAng="0" ptsTypes="AA">
                                      <p:cBhvr>
                                        <p:cTn id="80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48148E-6 L 0.0543 0.00092 " pathEditMode="relative" rAng="0" ptsTypes="AA">
                                      <p:cBhvr>
                                        <p:cTn id="8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4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0276 0.00046 " pathEditMode="relative" rAng="0" ptsTypes="AA">
                                      <p:cBhvr>
                                        <p:cTn id="8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8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9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0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1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3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3 0.00092 L 0.02761 0.00046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1" y="-23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04 0.00024 L 0.05664 0.00047 " pathEditMode="relative" rAng="0" ptsTypes="AA">
                                      <p:cBhvr>
                                        <p:cTn id="151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0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61 0.00046 L 0.08138 0.00092 " pathEditMode="relative" rAng="0" ptsTypes="AA">
                                      <p:cBhvr>
                                        <p:cTn id="15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" y="23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6 0.00046 L 0.05312 0.00046 " pathEditMode="relative" rAng="0" ptsTypes="AA">
                                      <p:cBhvr>
                                        <p:cTn id="15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500"/>
                            </p:stCondLst>
                            <p:childTnLst>
                              <p:par>
                                <p:cTn id="16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0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64 0.00047 L 0.08333 0.00093 " pathEditMode="relative" rAng="0" ptsTypes="AA">
                                      <p:cBhvr>
                                        <p:cTn id="18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" y="23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38 0.00092 L 0.11016 0.00115 " pathEditMode="relative" rAng="0" ptsTypes="AA">
                                      <p:cBhvr>
                                        <p:cTn id="18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500"/>
                            </p:stCondLst>
                            <p:childTnLst>
                              <p:par>
                                <p:cTn id="19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0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8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9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0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1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000"/>
                            </p:stCondLst>
                            <p:childTnLst>
                              <p:par>
                                <p:cTn id="21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500"/>
                            </p:stCondLst>
                            <p:childTnLst>
                              <p:par>
                                <p:cTn id="2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12 0.00046 L 0.08164 0.00093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93"/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500"/>
                            </p:stCondLst>
                            <p:childTnLst>
                              <p:par>
                                <p:cTn id="23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000"/>
                            </p:stCondLst>
                            <p:childTnLst>
                              <p:par>
                                <p:cTn id="2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33 0.00093 L 0.11237 0.0007 " pathEditMode="relative" rAng="0" ptsTypes="AA">
                                      <p:cBhvr>
                                        <p:cTn id="250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-23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16 0.00116 L 0.13855 0.00116 " pathEditMode="relative" rAng="0" ptsTypes="AA">
                                      <p:cBhvr>
                                        <p:cTn id="25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500"/>
                            </p:stCondLst>
                            <p:childTnLst>
                              <p:par>
                                <p:cTn id="2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500"/>
                            </p:stCondLst>
                            <p:childTnLst>
                              <p:par>
                                <p:cTn id="26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3000"/>
                            </p:stCondLst>
                            <p:childTnLst>
                              <p:par>
                                <p:cTn id="2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37 0.0007 L 0.13867 0.00047 " pathEditMode="relative" rAng="0" ptsTypes="AA">
                                      <p:cBhvr>
                                        <p:cTn id="27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-23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55 0.00116 L 0.16472 0.00116 " pathEditMode="relative" rAng="0" ptsTypes="AA">
                                      <p:cBhvr>
                                        <p:cTn id="28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500"/>
                            </p:stCondLst>
                            <p:childTnLst>
                              <p:par>
                                <p:cTn id="2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2500"/>
                            </p:stCondLst>
                            <p:childTnLst>
                              <p:par>
                                <p:cTn id="28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6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7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8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9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64 0.00092 L 0.1358 0.00139 " pathEditMode="relative" rAng="0" ptsTypes="AA">
                                      <p:cBhvr>
                                        <p:cTn id="32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5" y="69"/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000"/>
                            </p:stCondLst>
                            <p:childTnLst>
                              <p:par>
                                <p:cTn id="3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3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6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7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8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9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000"/>
                            </p:stCondLst>
                            <p:childTnLst>
                              <p:par>
                                <p:cTn id="35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498 0.00116 L 0.13868 0.00116 " pathEditMode="relative" rAng="0" ptsTypes="AA">
                                      <p:cBhvr>
                                        <p:cTn id="36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5" y="0"/>
                                    </p:animMotion>
                                  </p:childTnLst>
                                </p:cTn>
                              </p:par>
                              <p:par>
                                <p:cTn id="362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2000"/>
                            </p:stCondLst>
                            <p:childTnLst>
                              <p:par>
                                <p:cTn id="36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2500"/>
                            </p:stCondLst>
                            <p:childTnLst>
                              <p:par>
                                <p:cTn id="36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3000"/>
                            </p:stCondLst>
                            <p:childTnLst>
                              <p:par>
                                <p:cTn id="3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500"/>
                            </p:stCondLst>
                            <p:childTnLst>
                              <p:par>
                                <p:cTn id="3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67 0.00047 L 0.16601 0.00139 " pathEditMode="relative" rAng="0" ptsTypes="AA">
                                      <p:cBhvr>
                                        <p:cTn id="38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" y="46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55 0.00116 L 0.19193 0.00231 " pathEditMode="relative" rAng="0" ptsTypes="AA">
                                      <p:cBhvr>
                                        <p:cTn id="39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9" y="69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58 0.00138 L 0.1664 0.00231 " pathEditMode="relative" rAng="0" ptsTypes="AA">
                                      <p:cBhvr>
                                        <p:cTn id="39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1500"/>
                            </p:stCondLst>
                            <p:childTnLst>
                              <p:par>
                                <p:cTn id="39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3000"/>
                            </p:stCondLst>
                            <p:childTnLst>
                              <p:par>
                                <p:cTn id="4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500"/>
                            </p:stCondLst>
                            <p:childTnLst>
                              <p:par>
                                <p:cTn id="4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01 0.00139 L 0.19323 0.00138 " pathEditMode="relative" rAng="0" ptsTypes="AA">
                                      <p:cBhvr>
                                        <p:cTn id="41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" y="0"/>
                                    </p:animMotion>
                                  </p:childTnLst>
                                </p:cTn>
                              </p:par>
                              <p:par>
                                <p:cTn id="42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193 0.00231 L 0.2198 0.00231 " pathEditMode="relative" rAng="0" ptsTypes="AA">
                                      <p:cBhvr>
                                        <p:cTn id="42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500"/>
                            </p:stCondLst>
                            <p:childTnLst>
                              <p:par>
                                <p:cTn id="4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500"/>
                            </p:stCondLst>
                            <p:childTnLst>
                              <p:par>
                                <p:cTn id="42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4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/>
      <p:bldP spid="38" grpId="1"/>
      <p:bldP spid="38" grpId="2"/>
      <p:bldP spid="51" grpId="0"/>
      <p:bldP spid="51" grpId="1"/>
      <p:bldP spid="53" grpId="0"/>
      <p:bldP spid="53" grpId="1"/>
      <p:bldP spid="54" grpId="0"/>
      <p:bldP spid="55" grpId="0"/>
      <p:bldP spid="56" grpId="0"/>
      <p:bldP spid="57" grpId="0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091D9B-B1F6-67C0-04CF-96E9F6D8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0846" y="6356350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E04781-1440-8B9E-2691-1785C9A5E56F}"/>
              </a:ext>
            </a:extLst>
          </p:cNvPr>
          <p:cNvSpPr txBox="1"/>
          <p:nvPr/>
        </p:nvSpPr>
        <p:spPr>
          <a:xfrm>
            <a:off x="378372" y="966053"/>
            <a:ext cx="747285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WordList  wdlist;   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// 词表  可视跟踪设置：线性表</a:t>
            </a:r>
          </a:p>
          <a:p>
            <a:r>
              <a:rPr lang="zh-CN" altLang="en-US" sz="1600" dirty="0"/>
              <a:t>IdxList   idxlist;     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// 索引表  可视跟踪设置：索引表</a:t>
            </a:r>
          </a:p>
          <a:p>
            <a:r>
              <a:rPr lang="en-US" altLang="zh-CN" sz="1600" b="1" dirty="0" err="1"/>
              <a:t>i</a:t>
            </a:r>
            <a:r>
              <a:rPr lang="zh-CN" altLang="en-US" sz="1600" b="1" dirty="0"/>
              <a:t>nt</a:t>
            </a:r>
            <a:r>
              <a:rPr lang="zh-CN" altLang="en-US" sz="1600" dirty="0"/>
              <a:t> main() </a:t>
            </a:r>
            <a:r>
              <a:rPr lang="zh-CN" altLang="en-US" sz="1600" b="1" dirty="0"/>
              <a:t>{</a:t>
            </a:r>
            <a:r>
              <a:rPr lang="zh-CN" altLang="en-US" sz="1600" dirty="0"/>
              <a:t> 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zh-CN" altLang="en-US" sz="1600" b="1" dirty="0">
                <a:solidFill>
                  <a:srgbClr val="C00000"/>
                </a:solidFill>
                <a:latin typeface="+mj-ea"/>
                <a:ea typeface="+mj-ea"/>
              </a:rPr>
              <a:t>算法</a:t>
            </a:r>
            <a:r>
              <a:rPr lang="zh-CN" altLang="en-US" sz="1600" b="1" dirty="0">
                <a:solidFill>
                  <a:srgbClr val="C00000"/>
                </a:solidFill>
              </a:rPr>
              <a:t>4.12</a:t>
            </a:r>
          </a:p>
          <a:p>
            <a:r>
              <a:rPr lang="zh-CN" altLang="en-US" sz="1600" b="1" dirty="0"/>
              <a:t>char</a:t>
            </a:r>
            <a:r>
              <a:rPr lang="zh-CN" altLang="en-US" sz="1600" dirty="0"/>
              <a:t> *bn_titles[] = { "005 Computer Data Structures",</a:t>
            </a:r>
          </a:p>
          <a:p>
            <a:r>
              <a:rPr lang="zh-CN" altLang="en-US" sz="1600" dirty="0"/>
              <a:t>                      "010 Introduction to Data Structures",</a:t>
            </a:r>
          </a:p>
          <a:p>
            <a:r>
              <a:rPr lang="zh-CN" altLang="en-US" sz="1600" dirty="0"/>
              <a:t>                      "023 Fundamentals of Data Structures",</a:t>
            </a:r>
          </a:p>
          <a:p>
            <a:r>
              <a:rPr lang="zh-CN" altLang="en-US" sz="1600" dirty="0"/>
              <a:t>                      "034 The Design and Analysis of Computer Algorithms",</a:t>
            </a:r>
          </a:p>
          <a:p>
            <a:r>
              <a:rPr lang="zh-CN" altLang="en-US" sz="1600" dirty="0"/>
              <a:t>                      "050 Introduction to Numerical Analysis",</a:t>
            </a:r>
          </a:p>
          <a:p>
            <a:r>
              <a:rPr lang="zh-CN" altLang="en-US" sz="1600" dirty="0"/>
              <a:t>                      "067 Numerical Analysis",</a:t>
            </a:r>
          </a:p>
          <a:p>
            <a:r>
              <a:rPr lang="zh-CN" altLang="en-US" sz="1600" dirty="0"/>
              <a:t>                      ""  };</a:t>
            </a:r>
          </a:p>
          <a:p>
            <a:r>
              <a:rPr lang="zh-CN" altLang="en-US" sz="1600" dirty="0"/>
              <a:t>   </a:t>
            </a:r>
            <a:r>
              <a:rPr lang="zh-CN" altLang="en-US" sz="1600" b="1" dirty="0"/>
              <a:t>int</a:t>
            </a:r>
            <a:r>
              <a:rPr lang="zh-CN" altLang="en-US" sz="1600" dirty="0"/>
              <a:t> BookNo;</a:t>
            </a:r>
          </a:p>
          <a:p>
            <a:r>
              <a:rPr lang="zh-CN" altLang="en-US" sz="1600" dirty="0"/>
              <a:t>   printf(" ---- 处理书目数据，构造数目索引表 ----\n");</a:t>
            </a:r>
          </a:p>
          <a:p>
            <a:r>
              <a:rPr lang="zh-CN" altLang="en-US" sz="1600" dirty="0"/>
              <a:t>   idxlist = InitIdxList();       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// 初始化索引表idxl为空表</a:t>
            </a:r>
          </a:p>
          <a:p>
            <a:r>
              <a:rPr lang="zh-CN" altLang="en-US" sz="1600" dirty="0"/>
              <a:t>   wdlist  = InitWordList();</a:t>
            </a:r>
          </a:p>
          <a:p>
            <a:r>
              <a:rPr lang="zh-CN" altLang="en-US" sz="1600" dirty="0"/>
              <a:t>   </a:t>
            </a:r>
            <a:r>
              <a:rPr lang="zh-CN" altLang="en-US" sz="1600" b="1" dirty="0"/>
              <a:t>for</a:t>
            </a:r>
            <a:r>
              <a:rPr lang="zh-CN" altLang="en-US" sz="1600" dirty="0"/>
              <a:t> (</a:t>
            </a:r>
            <a:r>
              <a:rPr lang="zh-CN" altLang="en-US" sz="1600" b="1" dirty="0"/>
              <a:t>int</a:t>
            </a:r>
            <a:r>
              <a:rPr lang="zh-CN" altLang="en-US" sz="1600" dirty="0"/>
              <a:t> i=0; bn_titles[i]!=“”; i++) </a:t>
            </a:r>
            <a:r>
              <a:rPr lang="zh-CN" altLang="en-US" sz="1600" b="1" dirty="0"/>
              <a:t>{</a:t>
            </a:r>
            <a:r>
              <a:rPr lang="zh-CN" altLang="en-US" sz="1600" dirty="0"/>
              <a:t>  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依次对每一本书建索引</a:t>
            </a:r>
          </a:p>
          <a:p>
            <a:r>
              <a:rPr lang="zh-CN" altLang="en-US" sz="1600" dirty="0"/>
              <a:t>      printf(" %s\n", bn_titles[i]);</a:t>
            </a:r>
          </a:p>
          <a:p>
            <a:r>
              <a:rPr lang="zh-CN" altLang="en-US" sz="1600" dirty="0"/>
              <a:t>      BookNo = ExtractKeyWord(bn_titles[i], wdlist); 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// 从书名提取关键词到词表</a:t>
            </a:r>
          </a:p>
          <a:p>
            <a:r>
              <a:rPr lang="zh-CN" altLang="en-US" sz="1600" dirty="0"/>
              <a:t>      InsertIdxList(idxlist, wdlist, BookNo);   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// 将书号为BookNo的关键词插入索引表</a:t>
            </a:r>
          </a:p>
          <a:p>
            <a:r>
              <a:rPr lang="zh-CN" altLang="en-US" sz="1600" dirty="0"/>
              <a:t>   </a:t>
            </a:r>
            <a:r>
              <a:rPr lang="zh-CN" altLang="en-US" sz="1600" b="1" dirty="0"/>
              <a:t>}</a:t>
            </a:r>
          </a:p>
          <a:p>
            <a:r>
              <a:rPr lang="zh-CN" altLang="en-US" sz="1600" dirty="0"/>
              <a:t>   printf(" ---------- 索引表 -----------\n");</a:t>
            </a:r>
          </a:p>
          <a:p>
            <a:r>
              <a:rPr lang="zh-CN" altLang="en-US" sz="1600" dirty="0"/>
              <a:t>   PrintIdxList(idxlist);</a:t>
            </a:r>
          </a:p>
          <a:p>
            <a:r>
              <a:rPr lang="zh-CN" altLang="en-US" sz="1600" dirty="0"/>
              <a:t>   </a:t>
            </a:r>
            <a:r>
              <a:rPr lang="zh-CN" altLang="en-US" sz="1600" b="1" dirty="0"/>
              <a:t>return</a:t>
            </a:r>
            <a:r>
              <a:rPr lang="zh-CN" altLang="en-US" sz="1600" dirty="0"/>
              <a:t> 0;</a:t>
            </a:r>
          </a:p>
          <a:p>
            <a:r>
              <a:rPr lang="zh-CN" altLang="en-US" sz="1600" b="1" dirty="0"/>
              <a:t>}</a:t>
            </a:r>
            <a:r>
              <a:rPr lang="zh-CN" altLang="en-US" sz="1600" dirty="0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0793BA-CC65-B5E0-B835-E79B5DA400FE}"/>
              </a:ext>
            </a:extLst>
          </p:cNvPr>
          <p:cNvSpPr txBox="1"/>
          <p:nvPr/>
        </p:nvSpPr>
        <p:spPr>
          <a:xfrm>
            <a:off x="1040524" y="243006"/>
            <a:ext cx="36470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>
              <a:buNone/>
            </a:pPr>
            <a:r>
              <a:rPr lang="en-US" altLang="zh-CN" sz="2400" b="1" kern="100" dirty="0">
                <a:solidFill>
                  <a:srgbClr val="041ABC"/>
                </a:solidFill>
                <a:effectLst/>
                <a:latin typeface="黑体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4.4.2 </a:t>
            </a:r>
            <a:r>
              <a:rPr lang="zh-CN" altLang="zh-CN" sz="2400" b="1" kern="100" dirty="0">
                <a:solidFill>
                  <a:srgbClr val="041ABC"/>
                </a:solidFill>
                <a:effectLst/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建立词索引表</a:t>
            </a:r>
            <a:endParaRPr lang="zh-CN" altLang="zh-CN" sz="2400" b="1" kern="100" dirty="0">
              <a:solidFill>
                <a:srgbClr val="041AB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5BF121-D804-9EB0-C3D3-47D843B6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51" y="851750"/>
            <a:ext cx="1761425" cy="55915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1612278-5CC8-ACA4-FE78-378C77FBAD9B}"/>
              </a:ext>
            </a:extLst>
          </p:cNvPr>
          <p:cNvSpPr txBox="1"/>
          <p:nvPr/>
        </p:nvSpPr>
        <p:spPr>
          <a:xfrm>
            <a:off x="4813739" y="273783"/>
            <a:ext cx="4950394" cy="400110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建议在</a:t>
            </a:r>
            <a:r>
              <a:rPr lang="en-US" altLang="zh-CN" sz="2000" b="1" dirty="0" err="1">
                <a:solidFill>
                  <a:srgbClr val="C00000"/>
                </a:solidFill>
                <a:latin typeface="Magneto" panose="04030805050802020D02" pitchFamily="82" charset="0"/>
              </a:rPr>
              <a:t>AnyviewC</a:t>
            </a:r>
            <a:r>
              <a:rPr lang="zh-CN" altLang="en-US" sz="2000" b="1" dirty="0">
                <a:solidFill>
                  <a:srgbClr val="C00000"/>
                </a:solidFill>
              </a:rPr>
              <a:t>可视交互跟踪算法过程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59A100-6F78-6820-FF2F-F94867C48F93}"/>
              </a:ext>
            </a:extLst>
          </p:cNvPr>
          <p:cNvGrpSpPr/>
          <p:nvPr/>
        </p:nvGrpSpPr>
        <p:grpSpPr>
          <a:xfrm>
            <a:off x="147144" y="3641834"/>
            <a:ext cx="462455" cy="981137"/>
            <a:chOff x="-84083" y="3704897"/>
            <a:chExt cx="462455" cy="923330"/>
          </a:xfrm>
        </p:grpSpPr>
        <p:sp>
          <p:nvSpPr>
            <p:cNvPr id="10" name="左大括号 9">
              <a:extLst>
                <a:ext uri="{FF2B5EF4-FFF2-40B4-BE49-F238E27FC236}">
                  <a16:creationId xmlns:a16="http://schemas.microsoft.com/office/drawing/2014/main" id="{E84E5E2B-0400-D189-4F10-AE65B8DA7B54}"/>
                </a:ext>
              </a:extLst>
            </p:cNvPr>
            <p:cNvSpPr/>
            <p:nvPr/>
          </p:nvSpPr>
          <p:spPr>
            <a:xfrm>
              <a:off x="225972" y="3983421"/>
              <a:ext cx="152400" cy="451945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A80A72-9B05-3A10-AC82-8DBF01E42CD6}"/>
                </a:ext>
              </a:extLst>
            </p:cNvPr>
            <p:cNvSpPr txBox="1"/>
            <p:nvPr/>
          </p:nvSpPr>
          <p:spPr>
            <a:xfrm>
              <a:off x="-84083" y="3704897"/>
              <a:ext cx="34684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+mj-ea"/>
                  <a:ea typeface="+mj-ea"/>
                </a:rPr>
                <a:t>初始化</a:t>
              </a:r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235C0E5-7803-CB77-7489-1F2A1EFCD948}"/>
              </a:ext>
            </a:extLst>
          </p:cNvPr>
          <p:cNvCxnSpPr>
            <a:cxnSpLocks/>
          </p:cNvCxnSpPr>
          <p:nvPr/>
        </p:nvCxnSpPr>
        <p:spPr>
          <a:xfrm>
            <a:off x="609599" y="4671848"/>
            <a:ext cx="3042746" cy="75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CE48E6AE-CC61-7112-46EC-60ED8C35A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84" y="872770"/>
            <a:ext cx="2696539" cy="557048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A3EAFB7-2DA4-2DC0-4CA9-8BD717606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651" y="874733"/>
            <a:ext cx="3565264" cy="553925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B2CF73D-6D39-00B8-A152-1E8AAC72C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184" y="874733"/>
            <a:ext cx="4524623" cy="558954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C56E858-1CDD-3F00-B4AC-70C7175FB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8184" y="872770"/>
            <a:ext cx="4573471" cy="559150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8AABDFF-9487-4E5B-0CB3-83DFEAA60D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6651" y="872770"/>
            <a:ext cx="4536156" cy="553189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78B2D1B-FA1A-6D3C-DD9C-84CDFB98A1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6651" y="851750"/>
            <a:ext cx="4627510" cy="5612523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15D3B23-3C72-016E-3222-A16EDC3B21AE}"/>
              </a:ext>
            </a:extLst>
          </p:cNvPr>
          <p:cNvGrpSpPr/>
          <p:nvPr/>
        </p:nvGrpSpPr>
        <p:grpSpPr>
          <a:xfrm>
            <a:off x="3907971" y="5655129"/>
            <a:ext cx="2372196" cy="522514"/>
            <a:chOff x="3907971" y="5655129"/>
            <a:chExt cx="2372196" cy="522514"/>
          </a:xfrm>
        </p:grpSpPr>
        <p:sp>
          <p:nvSpPr>
            <p:cNvPr id="30" name="右大括号 29">
              <a:extLst>
                <a:ext uri="{FF2B5EF4-FFF2-40B4-BE49-F238E27FC236}">
                  <a16:creationId xmlns:a16="http://schemas.microsoft.com/office/drawing/2014/main" id="{02B02BC5-C168-9E50-93D6-94A782FC79C0}"/>
                </a:ext>
              </a:extLst>
            </p:cNvPr>
            <p:cNvSpPr/>
            <p:nvPr/>
          </p:nvSpPr>
          <p:spPr>
            <a:xfrm>
              <a:off x="3907971" y="5655129"/>
              <a:ext cx="141515" cy="522514"/>
            </a:xfrm>
            <a:prstGeom prst="righ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85A588F-0DDF-B8C9-1B92-6EEBA81595FB}"/>
                </a:ext>
              </a:extLst>
            </p:cNvPr>
            <p:cNvSpPr txBox="1"/>
            <p:nvPr/>
          </p:nvSpPr>
          <p:spPr>
            <a:xfrm>
              <a:off x="4084309" y="5731720"/>
              <a:ext cx="2195858" cy="36933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输出请见教材图</a:t>
              </a:r>
              <a:r>
                <a:rPr lang="en-US" altLang="zh-CN" b="1" dirty="0">
                  <a:solidFill>
                    <a:srgbClr val="FF0000"/>
                  </a:solidFill>
                </a:rPr>
                <a:t>4.11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47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5250</TotalTime>
  <Words>4244</Words>
  <Application>Microsoft Office PowerPoint</Application>
  <PresentationFormat>宽屏</PresentationFormat>
  <Paragraphs>707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等线</vt:lpstr>
      <vt:lpstr>黑体</vt:lpstr>
      <vt:lpstr>华文琥珀</vt:lpstr>
      <vt:lpstr>华文行楷</vt:lpstr>
      <vt:lpstr>宋体</vt:lpstr>
      <vt:lpstr>微软雅黑</vt:lpstr>
      <vt:lpstr>Aptos</vt:lpstr>
      <vt:lpstr>Arial</vt:lpstr>
      <vt:lpstr>Courier New</vt:lpstr>
      <vt:lpstr>Magneto</vt:lpstr>
      <vt:lpstr>Times New Roman</vt:lpstr>
      <vt:lpstr>Wide Latin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weimin wu</dc:creator>
  <cp:lastModifiedBy>weimin wu</cp:lastModifiedBy>
  <cp:revision>103</cp:revision>
  <dcterms:created xsi:type="dcterms:W3CDTF">2025-08-08T07:54:05Z</dcterms:created>
  <dcterms:modified xsi:type="dcterms:W3CDTF">2025-10-25T14:59:36Z</dcterms:modified>
</cp:coreProperties>
</file>