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sldIdLst>
    <p:sldId id="258" r:id="rId2"/>
    <p:sldId id="259" r:id="rId3"/>
    <p:sldId id="260" r:id="rId4"/>
    <p:sldId id="261" r:id="rId5"/>
    <p:sldId id="262" r:id="rId6"/>
    <p:sldId id="267" r:id="rId7"/>
    <p:sldId id="263" r:id="rId8"/>
    <p:sldId id="264" r:id="rId9"/>
    <p:sldId id="265" r:id="rId10"/>
    <p:sldId id="266" r:id="rId11"/>
    <p:sldId id="273" r:id="rId12"/>
    <p:sldId id="268" r:id="rId13"/>
    <p:sldId id="256" r:id="rId14"/>
    <p:sldId id="269" r:id="rId15"/>
    <p:sldId id="274" r:id="rId16"/>
    <p:sldId id="275" r:id="rId17"/>
    <p:sldId id="276" r:id="rId18"/>
    <p:sldId id="270" r:id="rId19"/>
    <p:sldId id="405" r:id="rId20"/>
    <p:sldId id="406" r:id="rId21"/>
    <p:sldId id="407" r:id="rId22"/>
    <p:sldId id="408" r:id="rId23"/>
    <p:sldId id="409" r:id="rId24"/>
    <p:sldId id="410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0EBB"/>
    <a:srgbClr val="FDF3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01" autoAdjust="0"/>
    <p:restoredTop sz="92643" autoAdjust="0"/>
  </p:normalViewPr>
  <p:slideViewPr>
    <p:cSldViewPr snapToGrid="0">
      <p:cViewPr varScale="1">
        <p:scale>
          <a:sx n="85" d="100"/>
          <a:sy n="85" d="100"/>
        </p:scale>
        <p:origin x="75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285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2FD4D6-071D-49E0-A0E6-CBED1B9F0AE6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22505-B285-46DF-A8C7-BE179E5689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090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（</a:t>
            </a:r>
            <a:r>
              <a:rPr lang="en-US" altLang="zh-CN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</a:t>
            </a: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）假设用两个线性表</a:t>
            </a:r>
            <a:r>
              <a:rPr lang="en-US" altLang="zh-CN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LA</a:t>
            </a: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和</a:t>
            </a:r>
            <a:r>
              <a:rPr lang="en-US" altLang="zh-CN" sz="1200" b="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LB</a:t>
            </a: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分别表示两个集合</a:t>
            </a:r>
            <a:r>
              <a:rPr lang="en-US" altLang="zh-CN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</a:t>
            </a: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和</a:t>
            </a:r>
            <a:r>
              <a:rPr lang="en-US" altLang="zh-CN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</a:t>
            </a: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，那么根据集合操作的定义，求并集</a:t>
            </a:r>
            <a:r>
              <a:rPr lang="en-US" altLang="zh-CN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A=</a:t>
            </a:r>
            <a:r>
              <a:rPr lang="en-US" altLang="zh-CN" sz="1200" b="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AUB</a:t>
            </a: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的运算就可以利用前面定义的线性表的操作来完成。</a:t>
            </a:r>
          </a:p>
          <a:p>
            <a:pPr>
              <a:lnSpc>
                <a:spcPct val="120000"/>
              </a:lnSpc>
            </a:pP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（</a:t>
            </a:r>
            <a:r>
              <a:rPr lang="en-US" altLang="zh-CN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</a:t>
            </a: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）这就是：对于线性表</a:t>
            </a:r>
            <a:r>
              <a:rPr lang="en-US" altLang="zh-CN" sz="1200" b="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LB</a:t>
            </a: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中的每个数据元素，在线性表</a:t>
            </a:r>
            <a:r>
              <a:rPr lang="en-US" altLang="zh-CN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LA</a:t>
            </a: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中进行查找，如果线性表</a:t>
            </a:r>
            <a:r>
              <a:rPr lang="en-US" altLang="zh-CN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LA</a:t>
            </a: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中已经存在与其相同的元素，则弃之，否则就插入到线性表</a:t>
            </a:r>
            <a:r>
              <a:rPr lang="en-US" altLang="zh-CN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LA</a:t>
            </a: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的表尾中，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（</a:t>
            </a:r>
            <a:r>
              <a:rPr lang="en-US" altLang="zh-CN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</a:t>
            </a: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）调用算法，将</a:t>
            </a:r>
            <a:r>
              <a:rPr lang="en-US" altLang="zh-CN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LA</a:t>
            </a: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和</a:t>
            </a:r>
            <a:r>
              <a:rPr lang="en-US" altLang="zh-CN" sz="1200" b="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LB</a:t>
            </a: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分别传递给参数</a:t>
            </a:r>
            <a:r>
              <a:rPr lang="en-US" altLang="zh-CN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La</a:t>
            </a: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和</a:t>
            </a:r>
            <a:r>
              <a:rPr lang="en-US" altLang="zh-CN" sz="1200" b="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Lb</a:t>
            </a: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，其中</a:t>
            </a:r>
            <a:r>
              <a:rPr lang="en-US" altLang="zh-CN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La</a:t>
            </a: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是引用形参，它的实参</a:t>
            </a:r>
            <a:r>
              <a:rPr lang="en-US" altLang="zh-CN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LA</a:t>
            </a: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应传地址给</a:t>
            </a:r>
            <a:r>
              <a:rPr lang="en-US" altLang="zh-CN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La</a:t>
            </a: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，这是因为要将</a:t>
            </a:r>
            <a:r>
              <a:rPr lang="en-US" altLang="zh-CN" sz="1200" b="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Lb</a:t>
            </a: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的元素并入</a:t>
            </a:r>
            <a:r>
              <a:rPr lang="en-US" altLang="zh-CN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La</a:t>
            </a: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，也就是把集合</a:t>
            </a:r>
            <a:r>
              <a:rPr lang="en-US" altLang="zh-CN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</a:t>
            </a: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并入集合</a:t>
            </a:r>
            <a:r>
              <a:rPr lang="en-US" altLang="zh-CN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</a:t>
            </a: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，要把算法的结果返回到</a:t>
            </a:r>
            <a:r>
              <a:rPr lang="en-US" altLang="zh-CN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</a:t>
            </a: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en-US" altLang="zh-CN" sz="1200" b="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（</a:t>
            </a:r>
            <a:r>
              <a:rPr lang="en-US" altLang="zh-CN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</a:t>
            </a: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）首先分别求得两个线性表的长度，然后依次进行“查找”，“比较”，或弃之，或“插入”。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（</a:t>
            </a:r>
            <a:r>
              <a:rPr lang="en-US" altLang="zh-CN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</a:t>
            </a:r>
            <a:r>
              <a:rPr lang="zh-CN" altLang="en-US" sz="1200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）读者可以从示例的演示了解这个过程。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22505-B285-46DF-A8C7-BE179E56890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781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22505-B285-46DF-A8C7-BE179E56890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211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）这是一个在线性表的顺序存储结构实现元素插入的算法。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）首先我们看算法的参数应该包括三个内容，其一是顺序表，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）其二是插入位置，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）再一个是被插入的元素。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）根据前面对顺序表的定义，它的存储结构由三部分组成。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）元素的存储空间，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7</a:t>
            </a:r>
            <a:r>
              <a:rPr lang="zh-CN" altLang="en-US" dirty="0"/>
              <a:t>）线性表当前的长度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8</a:t>
            </a:r>
            <a:r>
              <a:rPr lang="zh-CN" altLang="en-US" dirty="0"/>
              <a:t>）以及当前为顺序表分配的额定空间容量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9</a:t>
            </a:r>
            <a:r>
              <a:rPr lang="zh-CN" altLang="en-US" dirty="0"/>
              <a:t>）现在来看算法本身，首先应该检查参数的合理性。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10</a:t>
            </a:r>
            <a:r>
              <a:rPr lang="zh-CN" altLang="en-US" dirty="0"/>
              <a:t>）对这个算法而言，显然只有一种情况，就是给定的插入位置落在线性表的空间之外，是不合理的。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11</a:t>
            </a:r>
            <a:r>
              <a:rPr lang="zh-CN" altLang="en-US" dirty="0"/>
              <a:t>）例如，对于图示的这个线性表，企求插入元素的位置只能是在</a:t>
            </a:r>
            <a:r>
              <a:rPr lang="en-US" altLang="zh-CN" dirty="0"/>
              <a:t>1</a:t>
            </a:r>
            <a:r>
              <a:rPr lang="zh-CN" altLang="en-US" dirty="0"/>
              <a:t>到</a:t>
            </a:r>
            <a:r>
              <a:rPr lang="en-US" altLang="zh-CN" dirty="0"/>
              <a:t>7</a:t>
            </a:r>
            <a:r>
              <a:rPr lang="zh-CN" altLang="en-US" dirty="0"/>
              <a:t>之间。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22505-B285-46DF-A8C7-BE179E56890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1909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由于顺序表有额定空间的限制，因此在进行元素的插入之前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我们还得先判别一下当前的顺序表是否已被线性表的元素填满？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例如，图示给出的特例，当前线性表的长度和原先分配的顺序表的空间额度相同，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都是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6,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那么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在实现元素的插入之前需要重新为顺序表分配空间，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我们约定每次增加一个额定长度，在这个例子中，我们设定它为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也就是说新的顺序表的额定空间长度为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）如果按新容量分配存储空间成功，顺序表的元素全部保留在新的空间，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）那就更新顺序表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的基址，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）同时也将表的存储容量更新为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62345-7218-4E7E-AD54-2AB12D3588A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2199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）下面就可以进行元素的插入了。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）显然，这个插入很容易实现，假定这个示例的插入位置是</a:t>
            </a:r>
            <a:r>
              <a:rPr lang="en-US" altLang="zh-CN" dirty="0"/>
              <a:t>4</a:t>
            </a:r>
            <a:r>
              <a:rPr lang="zh-CN" altLang="en-US" dirty="0"/>
              <a:t>，插入元素是</a:t>
            </a:r>
            <a:r>
              <a:rPr lang="en-US" altLang="zh-CN" dirty="0"/>
              <a:t>H</a:t>
            </a:r>
            <a:r>
              <a:rPr lang="zh-CN" altLang="en-US" dirty="0"/>
              <a:t>，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）只要先将顺序表中从表尾到插入位置的元素依次后移一个位置，然后在这个插入位置填入新的元素就可以了。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）这里涉及对向量元素的访问，为便于理解，我们给出使用指针或下标的两种描述方式。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）先看用指针描述的情况，看当前的例子，指针</a:t>
            </a:r>
            <a:r>
              <a:rPr lang="en-US" altLang="zh-CN" dirty="0"/>
              <a:t>q</a:t>
            </a:r>
            <a:r>
              <a:rPr lang="zh-CN" altLang="en-US" dirty="0"/>
              <a:t>指向插入位置，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）指针</a:t>
            </a:r>
            <a:r>
              <a:rPr lang="en-US" altLang="zh-CN" dirty="0"/>
              <a:t>p</a:t>
            </a:r>
            <a:r>
              <a:rPr lang="zh-CN" altLang="en-US" dirty="0"/>
              <a:t>指向了当前表尾元素的存储位置，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7</a:t>
            </a:r>
            <a:r>
              <a:rPr lang="zh-CN" altLang="en-US" dirty="0"/>
              <a:t>）每当将指针</a:t>
            </a:r>
            <a:r>
              <a:rPr lang="en-US" altLang="zh-CN" dirty="0"/>
              <a:t>p</a:t>
            </a:r>
            <a:r>
              <a:rPr lang="zh-CN" altLang="en-US" dirty="0"/>
              <a:t>所指元素后移一个位置之后，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8</a:t>
            </a:r>
            <a:r>
              <a:rPr lang="zh-CN" altLang="en-US" dirty="0"/>
              <a:t>）指针</a:t>
            </a:r>
            <a:r>
              <a:rPr lang="en-US" altLang="zh-CN" dirty="0"/>
              <a:t>p</a:t>
            </a:r>
            <a:r>
              <a:rPr lang="zh-CN" altLang="en-US" dirty="0"/>
              <a:t>就向前移动一个位置，直到</a:t>
            </a:r>
            <a:r>
              <a:rPr lang="en-US" altLang="zh-CN" dirty="0"/>
              <a:t>p</a:t>
            </a:r>
            <a:r>
              <a:rPr lang="zh-CN" altLang="en-US" dirty="0"/>
              <a:t>越过指针</a:t>
            </a:r>
            <a:r>
              <a:rPr lang="en-US" altLang="zh-CN" dirty="0"/>
              <a:t>q</a:t>
            </a:r>
            <a:r>
              <a:rPr lang="zh-CN" altLang="en-US" dirty="0"/>
              <a:t>为止，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9</a:t>
            </a:r>
            <a:r>
              <a:rPr lang="zh-CN" altLang="en-US" dirty="0"/>
              <a:t>）之后就可以将新的元素填入指针</a:t>
            </a:r>
            <a:r>
              <a:rPr lang="en-US" altLang="zh-CN" dirty="0"/>
              <a:t>q</a:t>
            </a:r>
            <a:r>
              <a:rPr lang="zh-CN" altLang="en-US" dirty="0"/>
              <a:t>所指位置，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10</a:t>
            </a:r>
            <a:r>
              <a:rPr lang="zh-CN" altLang="en-US" dirty="0"/>
              <a:t>）插入完成之后，自然需修改表的长度。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11</a:t>
            </a:r>
            <a:r>
              <a:rPr lang="zh-CN" altLang="en-US" dirty="0"/>
              <a:t>）在页面上相应列出了用下标描述元素移动的一组等价语句，这个描述方法看起来比较直观，也是初学</a:t>
            </a:r>
            <a:r>
              <a:rPr lang="en-US" altLang="zh-CN" dirty="0"/>
              <a:t>C</a:t>
            </a:r>
            <a:r>
              <a:rPr lang="zh-CN" altLang="en-US" dirty="0"/>
              <a:t>语言时掌握的基本表达方法。实际上，在将源代码编译成目标代码时，对下标变量的每次访问还需要加入一组指令，用基址和下标表达式来计算实际地址，所以比指针访问效率低。当然，编译程序也会进行优化，尽量提高对下标变量地址计算的效率。我们学习各种数据存储结构和实现基本操作和算法时，要重视对指针运用的学习和掌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22505-B285-46DF-A8C7-BE179E56890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582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22505-B285-46DF-A8C7-BE179E56890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0396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）函数</a:t>
            </a:r>
            <a:r>
              <a:rPr lang="en-US" altLang="zh-CN" dirty="0" err="1"/>
              <a:t>MergeList_Sq</a:t>
            </a:r>
            <a:r>
              <a:rPr lang="zh-CN" altLang="en-US" dirty="0"/>
              <a:t>的功能是将两个有序顺序表合并一个有序顺序表；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）若顺序表</a:t>
            </a:r>
            <a:r>
              <a:rPr lang="en-US" altLang="zh-CN" dirty="0"/>
              <a:t>La</a:t>
            </a:r>
            <a:r>
              <a:rPr lang="zh-CN" altLang="en-US" dirty="0"/>
              <a:t>，</a:t>
            </a:r>
            <a:r>
              <a:rPr lang="en-US" altLang="zh-CN" dirty="0" err="1"/>
              <a:t>Lb</a:t>
            </a:r>
            <a:r>
              <a:rPr lang="zh-CN" altLang="en-US" dirty="0"/>
              <a:t>和</a:t>
            </a:r>
            <a:r>
              <a:rPr lang="en-US" altLang="zh-CN" dirty="0"/>
              <a:t>Lc</a:t>
            </a:r>
            <a:r>
              <a:rPr lang="zh-CN" altLang="en-US" dirty="0"/>
              <a:t>如图所示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pa</a:t>
            </a:r>
            <a:r>
              <a:rPr lang="zh-CN" altLang="en-US" dirty="0"/>
              <a:t>和</a:t>
            </a:r>
            <a:r>
              <a:rPr lang="en-US" altLang="zh-CN" dirty="0"/>
              <a:t>pb</a:t>
            </a:r>
            <a:r>
              <a:rPr lang="zh-CN" altLang="en-US" dirty="0"/>
              <a:t>分别指向</a:t>
            </a:r>
            <a:r>
              <a:rPr lang="en-US" altLang="zh-CN" dirty="0"/>
              <a:t>La</a:t>
            </a:r>
            <a:r>
              <a:rPr lang="zh-CN" altLang="en-US" dirty="0"/>
              <a:t>和</a:t>
            </a:r>
            <a:r>
              <a:rPr lang="en-US" altLang="zh-CN" dirty="0" err="1"/>
              <a:t>Lb</a:t>
            </a:r>
            <a:r>
              <a:rPr lang="zh-CN" altLang="en-US" dirty="0"/>
              <a:t>的第一个元素；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）第一步，初始化</a:t>
            </a:r>
            <a:r>
              <a:rPr lang="en-US" altLang="zh-CN" dirty="0"/>
              <a:t>Lc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  <a:r>
              <a:rPr lang="en-US" altLang="zh-CN" dirty="0"/>
              <a:t>Lc</a:t>
            </a:r>
            <a:r>
              <a:rPr lang="zh-CN" altLang="en-US" dirty="0"/>
              <a:t>的长度和容量为</a:t>
            </a:r>
            <a:r>
              <a:rPr lang="en-US" altLang="zh-CN" dirty="0"/>
              <a:t>La</a:t>
            </a:r>
            <a:r>
              <a:rPr lang="zh-CN" altLang="en-US" dirty="0"/>
              <a:t>和</a:t>
            </a:r>
            <a:r>
              <a:rPr lang="en-US" altLang="zh-CN" dirty="0" err="1"/>
              <a:t>Lb</a:t>
            </a:r>
            <a:r>
              <a:rPr lang="zh-CN" altLang="en-US" dirty="0"/>
              <a:t>长度之和，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）按照</a:t>
            </a:r>
            <a:r>
              <a:rPr lang="en-US" altLang="zh-CN" dirty="0"/>
              <a:t>Lc</a:t>
            </a:r>
            <a:r>
              <a:rPr lang="zh-CN" altLang="en-US" dirty="0"/>
              <a:t>的容量为顺序表</a:t>
            </a:r>
            <a:r>
              <a:rPr lang="en-US" altLang="zh-CN" dirty="0"/>
              <a:t>Lc</a:t>
            </a:r>
            <a:r>
              <a:rPr lang="zh-CN" altLang="en-US" dirty="0"/>
              <a:t>分配存储空间，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7</a:t>
            </a:r>
            <a:r>
              <a:rPr lang="zh-CN" altLang="en-US" dirty="0"/>
              <a:t>）</a:t>
            </a:r>
            <a:r>
              <a:rPr lang="en-US" altLang="zh-CN" dirty="0"/>
              <a:t>pc</a:t>
            </a:r>
            <a:r>
              <a:rPr lang="zh-CN" altLang="en-US" dirty="0"/>
              <a:t>和</a:t>
            </a:r>
            <a:r>
              <a:rPr lang="en-US" altLang="zh-CN" dirty="0"/>
              <a:t>Lc</a:t>
            </a:r>
            <a:r>
              <a:rPr lang="zh-CN" altLang="en-US" dirty="0"/>
              <a:t>的</a:t>
            </a:r>
            <a:r>
              <a:rPr lang="en-US" altLang="zh-CN" dirty="0" err="1"/>
              <a:t>elem</a:t>
            </a:r>
            <a:r>
              <a:rPr lang="zh-CN" altLang="en-US" dirty="0"/>
              <a:t>域均指向分配空间的基址；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8</a:t>
            </a:r>
            <a:r>
              <a:rPr lang="zh-CN" altLang="en-US" dirty="0"/>
              <a:t>）若空间分配失败，返回</a:t>
            </a:r>
            <a:r>
              <a:rPr lang="en-US" altLang="zh-CN" dirty="0"/>
              <a:t>OVERFLOW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9</a:t>
            </a:r>
            <a:r>
              <a:rPr lang="zh-CN" altLang="en-US" dirty="0"/>
              <a:t>）</a:t>
            </a:r>
            <a:r>
              <a:rPr lang="en-US" altLang="zh-CN" dirty="0" err="1"/>
              <a:t>pa_last</a:t>
            </a:r>
            <a:r>
              <a:rPr lang="zh-CN" altLang="en-US" dirty="0"/>
              <a:t>指向</a:t>
            </a:r>
            <a:r>
              <a:rPr lang="en-US" altLang="zh-CN" dirty="0"/>
              <a:t>La</a:t>
            </a:r>
            <a:r>
              <a:rPr lang="zh-CN" altLang="en-US" dirty="0"/>
              <a:t>的尾元素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10</a:t>
            </a:r>
            <a:r>
              <a:rPr lang="zh-CN" altLang="en-US" dirty="0"/>
              <a:t>）</a:t>
            </a:r>
            <a:r>
              <a:rPr lang="en-US" altLang="zh-CN" dirty="0" err="1"/>
              <a:t>pb_last</a:t>
            </a:r>
            <a:r>
              <a:rPr lang="zh-CN" altLang="en-US" dirty="0"/>
              <a:t>指向</a:t>
            </a:r>
            <a:r>
              <a:rPr lang="en-US" altLang="zh-CN" dirty="0" err="1"/>
              <a:t>Lb</a:t>
            </a:r>
            <a:r>
              <a:rPr lang="zh-CN" altLang="en-US" dirty="0"/>
              <a:t>的尾元素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11</a:t>
            </a:r>
            <a:r>
              <a:rPr lang="zh-CN" altLang="en-US" dirty="0"/>
              <a:t>）第二步，从</a:t>
            </a:r>
            <a:r>
              <a:rPr lang="en-US" altLang="zh-CN" dirty="0"/>
              <a:t>La</a:t>
            </a:r>
            <a:r>
              <a:rPr lang="zh-CN" altLang="en-US" dirty="0"/>
              <a:t>和</a:t>
            </a:r>
            <a:r>
              <a:rPr lang="en-US" altLang="zh-CN" dirty="0" err="1"/>
              <a:t>Lb</a:t>
            </a:r>
            <a:r>
              <a:rPr lang="zh-CN" altLang="en-US" dirty="0"/>
              <a:t>各取一个元素，将较小元素复制到</a:t>
            </a:r>
            <a:r>
              <a:rPr lang="en-US" altLang="zh-CN" dirty="0"/>
              <a:t>Lc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12</a:t>
            </a:r>
            <a:r>
              <a:rPr lang="zh-CN" altLang="en-US" dirty="0"/>
              <a:t>）从</a:t>
            </a:r>
            <a:r>
              <a:rPr lang="en-US" altLang="zh-CN" dirty="0"/>
              <a:t>La</a:t>
            </a:r>
            <a:r>
              <a:rPr lang="zh-CN" altLang="en-US" dirty="0"/>
              <a:t>和</a:t>
            </a:r>
            <a:r>
              <a:rPr lang="en-US" altLang="zh-CN" dirty="0" err="1"/>
              <a:t>Lb</a:t>
            </a:r>
            <a:r>
              <a:rPr lang="zh-CN" altLang="en-US" dirty="0"/>
              <a:t>中取元素，只要有一个有序顺序表的元素取完，循环就结束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13</a:t>
            </a:r>
            <a:r>
              <a:rPr lang="zh-CN" altLang="en-US" dirty="0"/>
              <a:t>）若</a:t>
            </a:r>
            <a:r>
              <a:rPr lang="en-US" altLang="zh-CN" dirty="0"/>
              <a:t>pa</a:t>
            </a:r>
            <a:r>
              <a:rPr lang="zh-CN" altLang="en-US" dirty="0"/>
              <a:t>指向的元素较小，则将该元素复制到</a:t>
            </a:r>
            <a:r>
              <a:rPr lang="en-US" altLang="zh-CN" dirty="0"/>
              <a:t>Lc</a:t>
            </a:r>
            <a:r>
              <a:rPr lang="zh-CN" altLang="en-US" dirty="0"/>
              <a:t>，</a:t>
            </a:r>
            <a:r>
              <a:rPr lang="en-US" altLang="zh-CN" dirty="0"/>
              <a:t>pa</a:t>
            </a:r>
            <a:r>
              <a:rPr lang="zh-CN" altLang="en-US" dirty="0"/>
              <a:t>和</a:t>
            </a:r>
            <a:r>
              <a:rPr lang="en-US" altLang="zh-CN" dirty="0"/>
              <a:t>pc</a:t>
            </a:r>
            <a:r>
              <a:rPr lang="zh-CN" altLang="en-US" dirty="0"/>
              <a:t>后移一步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14</a:t>
            </a:r>
            <a:r>
              <a:rPr lang="zh-CN" altLang="en-US" dirty="0"/>
              <a:t>）</a:t>
            </a:r>
            <a:r>
              <a:rPr lang="en-US" altLang="zh-CN" dirty="0"/>
              <a:t>pa</a:t>
            </a:r>
            <a:r>
              <a:rPr lang="zh-CN" altLang="en-US" dirty="0"/>
              <a:t>指向的元素较小，将</a:t>
            </a:r>
            <a:r>
              <a:rPr lang="en-US" altLang="zh-CN" dirty="0"/>
              <a:t>pa</a:t>
            </a:r>
            <a:r>
              <a:rPr lang="zh-CN" altLang="en-US" dirty="0"/>
              <a:t>中的元素</a:t>
            </a:r>
            <a:r>
              <a:rPr lang="en-US" altLang="zh-CN" dirty="0"/>
              <a:t>A</a:t>
            </a:r>
            <a:r>
              <a:rPr lang="zh-CN" altLang="en-US" dirty="0"/>
              <a:t>复制到</a:t>
            </a:r>
            <a:r>
              <a:rPr lang="en-US" altLang="zh-CN" dirty="0"/>
              <a:t>Lc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15</a:t>
            </a:r>
            <a:r>
              <a:rPr lang="zh-CN" altLang="en-US" dirty="0"/>
              <a:t>）若</a:t>
            </a:r>
            <a:r>
              <a:rPr lang="en-US" altLang="zh-CN" dirty="0"/>
              <a:t>pb</a:t>
            </a:r>
            <a:r>
              <a:rPr lang="zh-CN" altLang="en-US" dirty="0"/>
              <a:t>指向的元素较小，则将该元素复制到</a:t>
            </a:r>
            <a:r>
              <a:rPr lang="en-US" altLang="zh-CN" dirty="0"/>
              <a:t>Lc</a:t>
            </a:r>
            <a:r>
              <a:rPr lang="zh-CN" altLang="en-US" dirty="0"/>
              <a:t>，</a:t>
            </a:r>
            <a:r>
              <a:rPr lang="en-US" altLang="zh-CN" dirty="0"/>
              <a:t>pb</a:t>
            </a:r>
            <a:r>
              <a:rPr lang="zh-CN" altLang="en-US" dirty="0"/>
              <a:t>和</a:t>
            </a:r>
            <a:r>
              <a:rPr lang="en-US" altLang="zh-CN" dirty="0"/>
              <a:t>pc</a:t>
            </a:r>
            <a:r>
              <a:rPr lang="zh-CN" altLang="en-US" dirty="0"/>
              <a:t>后移一步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16</a:t>
            </a:r>
            <a:r>
              <a:rPr lang="zh-CN" altLang="en-US" dirty="0"/>
              <a:t>）</a:t>
            </a:r>
            <a:r>
              <a:rPr lang="en-US" altLang="zh-CN" dirty="0"/>
              <a:t>pb</a:t>
            </a:r>
            <a:r>
              <a:rPr lang="zh-CN" altLang="en-US" dirty="0"/>
              <a:t>指向的元素较小，将</a:t>
            </a:r>
            <a:r>
              <a:rPr lang="en-US" altLang="zh-CN" dirty="0"/>
              <a:t>pb</a:t>
            </a:r>
            <a:r>
              <a:rPr lang="zh-CN" altLang="en-US" dirty="0"/>
              <a:t>中的元素</a:t>
            </a:r>
            <a:r>
              <a:rPr lang="en-US" altLang="zh-CN" dirty="0"/>
              <a:t>B</a:t>
            </a:r>
            <a:r>
              <a:rPr lang="zh-CN" altLang="en-US" dirty="0"/>
              <a:t>复制到</a:t>
            </a:r>
            <a:r>
              <a:rPr lang="en-US" altLang="zh-CN" dirty="0"/>
              <a:t>Lc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17</a:t>
            </a:r>
            <a:r>
              <a:rPr lang="zh-CN" altLang="en-US" dirty="0"/>
              <a:t>）</a:t>
            </a:r>
            <a:r>
              <a:rPr lang="en-US" altLang="zh-CN" dirty="0"/>
              <a:t>pa</a:t>
            </a:r>
            <a:r>
              <a:rPr lang="zh-CN" altLang="en-US" dirty="0"/>
              <a:t>指向的元素较小，将</a:t>
            </a:r>
            <a:r>
              <a:rPr lang="en-US" altLang="zh-CN" dirty="0"/>
              <a:t>pa</a:t>
            </a:r>
            <a:r>
              <a:rPr lang="zh-CN" altLang="en-US" dirty="0"/>
              <a:t>中的元素</a:t>
            </a:r>
            <a:r>
              <a:rPr lang="en-US" altLang="zh-CN" dirty="0"/>
              <a:t>D</a:t>
            </a:r>
            <a:r>
              <a:rPr lang="zh-CN" altLang="en-US" dirty="0"/>
              <a:t>复制到</a:t>
            </a:r>
            <a:r>
              <a:rPr lang="en-US" altLang="zh-CN" dirty="0"/>
              <a:t>Lc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18</a:t>
            </a:r>
            <a:r>
              <a:rPr lang="zh-CN" altLang="en-US" dirty="0"/>
              <a:t>）</a:t>
            </a:r>
            <a:r>
              <a:rPr lang="en-US" altLang="zh-CN" dirty="0"/>
              <a:t>pb</a:t>
            </a:r>
            <a:r>
              <a:rPr lang="zh-CN" altLang="en-US" dirty="0"/>
              <a:t>指向的元素较小，将</a:t>
            </a:r>
            <a:r>
              <a:rPr lang="en-US" altLang="zh-CN" dirty="0"/>
              <a:t>pb</a:t>
            </a:r>
            <a:r>
              <a:rPr lang="zh-CN" altLang="en-US" dirty="0"/>
              <a:t>中的元素</a:t>
            </a:r>
            <a:r>
              <a:rPr lang="en-US" altLang="zh-CN" dirty="0"/>
              <a:t>D</a:t>
            </a:r>
            <a:r>
              <a:rPr lang="zh-CN" altLang="en-US" dirty="0"/>
              <a:t>复制到</a:t>
            </a:r>
            <a:r>
              <a:rPr lang="en-US" altLang="zh-CN" dirty="0"/>
              <a:t>Lc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19</a:t>
            </a:r>
            <a:r>
              <a:rPr lang="zh-CN" altLang="en-US" dirty="0"/>
              <a:t>）</a:t>
            </a:r>
            <a:r>
              <a:rPr lang="en-US" altLang="zh-CN" dirty="0"/>
              <a:t>pb</a:t>
            </a:r>
            <a:r>
              <a:rPr lang="zh-CN" altLang="en-US" dirty="0"/>
              <a:t>指向的元素较小，将</a:t>
            </a:r>
            <a:r>
              <a:rPr lang="en-US" altLang="zh-CN" dirty="0"/>
              <a:t>pb</a:t>
            </a:r>
            <a:r>
              <a:rPr lang="zh-CN" altLang="en-US" dirty="0"/>
              <a:t>中的元素</a:t>
            </a:r>
            <a:r>
              <a:rPr lang="en-US" altLang="zh-CN" dirty="0"/>
              <a:t>E</a:t>
            </a:r>
            <a:r>
              <a:rPr lang="zh-CN" altLang="en-US" dirty="0"/>
              <a:t>复制到</a:t>
            </a:r>
            <a:r>
              <a:rPr lang="en-US" altLang="zh-CN" dirty="0"/>
              <a:t>Lc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20</a:t>
            </a:r>
            <a:r>
              <a:rPr lang="zh-CN" altLang="en-US" dirty="0"/>
              <a:t>）</a:t>
            </a:r>
            <a:r>
              <a:rPr lang="en-US" altLang="zh-CN" dirty="0" err="1"/>
              <a:t>Lb</a:t>
            </a:r>
            <a:r>
              <a:rPr lang="zh-CN" altLang="en-US" dirty="0"/>
              <a:t>中的元素已取完，循环结束，第三步，将</a:t>
            </a:r>
            <a:r>
              <a:rPr lang="en-US" altLang="zh-CN" dirty="0"/>
              <a:t>La</a:t>
            </a:r>
            <a:r>
              <a:rPr lang="zh-CN" altLang="en-US" dirty="0"/>
              <a:t>或</a:t>
            </a:r>
            <a:r>
              <a:rPr lang="en-US" altLang="zh-CN" dirty="0" err="1"/>
              <a:t>Lb</a:t>
            </a:r>
            <a:r>
              <a:rPr lang="zh-CN" altLang="en-US" dirty="0"/>
              <a:t>中未处理完的数据复制到</a:t>
            </a:r>
            <a:r>
              <a:rPr lang="en-US" altLang="zh-CN" dirty="0"/>
              <a:t>Lc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21</a:t>
            </a:r>
            <a:r>
              <a:rPr lang="zh-CN" altLang="en-US" dirty="0"/>
              <a:t>）若</a:t>
            </a:r>
            <a:r>
              <a:rPr lang="en-US" altLang="zh-CN" dirty="0"/>
              <a:t>La</a:t>
            </a:r>
            <a:r>
              <a:rPr lang="zh-CN" altLang="en-US" dirty="0"/>
              <a:t>的元素还没有取完，将</a:t>
            </a:r>
            <a:r>
              <a:rPr lang="en-US" altLang="zh-CN" dirty="0"/>
              <a:t>La</a:t>
            </a:r>
            <a:r>
              <a:rPr lang="zh-CN" altLang="en-US" dirty="0"/>
              <a:t>中剩余元素复制到</a:t>
            </a:r>
            <a:r>
              <a:rPr lang="en-US" altLang="zh-CN" dirty="0"/>
              <a:t>Lc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22</a:t>
            </a:r>
            <a:r>
              <a:rPr lang="zh-CN" altLang="en-US" dirty="0"/>
              <a:t>）将</a:t>
            </a:r>
            <a:r>
              <a:rPr lang="en-US" altLang="zh-CN" dirty="0"/>
              <a:t>pa</a:t>
            </a:r>
            <a:r>
              <a:rPr lang="zh-CN" altLang="en-US" dirty="0"/>
              <a:t>指向的元素</a:t>
            </a:r>
            <a:r>
              <a:rPr lang="en-US" altLang="zh-CN" dirty="0"/>
              <a:t>G</a:t>
            </a:r>
            <a:r>
              <a:rPr lang="zh-CN" altLang="en-US" dirty="0"/>
              <a:t>复制到</a:t>
            </a:r>
            <a:r>
              <a:rPr lang="en-US" altLang="zh-CN" dirty="0"/>
              <a:t>Lc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23</a:t>
            </a:r>
            <a:r>
              <a:rPr lang="zh-CN" altLang="en-US" dirty="0"/>
              <a:t>）将</a:t>
            </a:r>
            <a:r>
              <a:rPr lang="en-US" altLang="zh-CN" dirty="0"/>
              <a:t>pa</a:t>
            </a:r>
            <a:r>
              <a:rPr lang="zh-CN" altLang="en-US" dirty="0"/>
              <a:t>指向的元素</a:t>
            </a:r>
            <a:r>
              <a:rPr lang="en-US" altLang="zh-CN" dirty="0"/>
              <a:t>S</a:t>
            </a:r>
            <a:r>
              <a:rPr lang="zh-CN" altLang="en-US" dirty="0"/>
              <a:t>复制到</a:t>
            </a:r>
            <a:r>
              <a:rPr lang="en-US" altLang="zh-CN" dirty="0"/>
              <a:t>Lc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24</a:t>
            </a:r>
            <a:r>
              <a:rPr lang="zh-CN" altLang="en-US" dirty="0"/>
              <a:t>）若是</a:t>
            </a:r>
            <a:r>
              <a:rPr lang="en-US" altLang="zh-CN" dirty="0" err="1"/>
              <a:t>Lb</a:t>
            </a:r>
            <a:r>
              <a:rPr lang="zh-CN" altLang="en-US" dirty="0"/>
              <a:t>的元素没有取完，将</a:t>
            </a:r>
            <a:r>
              <a:rPr lang="en-US" altLang="zh-CN" dirty="0" err="1"/>
              <a:t>Lb</a:t>
            </a:r>
            <a:r>
              <a:rPr lang="zh-CN" altLang="en-US" dirty="0"/>
              <a:t>中剩余元素复制到</a:t>
            </a:r>
            <a:r>
              <a:rPr lang="en-US" altLang="zh-CN" dirty="0"/>
              <a:t>Lc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22505-B285-46DF-A8C7-BE179E56890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516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⑴  算法</a:t>
            </a:r>
            <a:r>
              <a:rPr lang="en-US" altLang="zh-CN" dirty="0"/>
              <a:t>2.9 </a:t>
            </a:r>
            <a:r>
              <a:rPr lang="zh-CN" altLang="en-US" dirty="0"/>
              <a:t>在线性表</a:t>
            </a:r>
            <a:r>
              <a:rPr lang="en-US" altLang="zh-CN" dirty="0"/>
              <a:t>L</a:t>
            </a:r>
            <a:r>
              <a:rPr lang="zh-CN" altLang="en-US" dirty="0"/>
              <a:t>的第</a:t>
            </a:r>
            <a:r>
              <a:rPr lang="en-US" altLang="zh-CN" dirty="0" err="1"/>
              <a:t>i</a:t>
            </a:r>
            <a:r>
              <a:rPr lang="zh-CN" altLang="en-US" dirty="0"/>
              <a:t>个结点前插入一个结点的算法要点是：</a:t>
            </a:r>
          </a:p>
          <a:p>
            <a:r>
              <a:rPr lang="zh-CN" altLang="en-US" dirty="0"/>
              <a:t>⑵  首先，将线性表的地址赋值给指针</a:t>
            </a:r>
            <a:r>
              <a:rPr lang="en-US" altLang="zh-CN" dirty="0"/>
              <a:t>p</a:t>
            </a:r>
            <a:r>
              <a:rPr lang="zh-CN" altLang="en-US" dirty="0"/>
              <a:t>，并对</a:t>
            </a:r>
            <a:r>
              <a:rPr lang="en-US" altLang="zh-CN" dirty="0"/>
              <a:t>j</a:t>
            </a:r>
            <a:r>
              <a:rPr lang="zh-CN" altLang="en-US" dirty="0"/>
              <a:t>赋初值</a:t>
            </a:r>
            <a:r>
              <a:rPr lang="en-US" altLang="zh-CN" dirty="0"/>
              <a:t>0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⑶  然后用循环寻找第</a:t>
            </a:r>
            <a:r>
              <a:rPr lang="en-US" altLang="zh-CN" dirty="0" err="1"/>
              <a:t>i</a:t>
            </a:r>
            <a:r>
              <a:rPr lang="en-US" altLang="zh-CN" dirty="0"/>
              <a:t>-1</a:t>
            </a:r>
            <a:r>
              <a:rPr lang="zh-CN" altLang="en-US" dirty="0"/>
              <a:t>个结点，退出循环后，若</a:t>
            </a:r>
            <a:r>
              <a:rPr lang="en-US" altLang="zh-CN" dirty="0"/>
              <a:t>p</a:t>
            </a:r>
            <a:r>
              <a:rPr lang="zh-CN" altLang="en-US" dirty="0"/>
              <a:t>为</a:t>
            </a:r>
            <a:r>
              <a:rPr lang="en-US" altLang="zh-CN" dirty="0"/>
              <a:t>NULL</a:t>
            </a:r>
            <a:r>
              <a:rPr lang="zh-CN" altLang="en-US" dirty="0"/>
              <a:t>或</a:t>
            </a:r>
            <a:r>
              <a:rPr lang="en-US" altLang="zh-CN" dirty="0"/>
              <a:t>j&gt;</a:t>
            </a:r>
            <a:r>
              <a:rPr lang="en-US" altLang="zh-CN" dirty="0" err="1"/>
              <a:t>i</a:t>
            </a:r>
            <a:r>
              <a:rPr lang="en-US" altLang="zh-CN" dirty="0"/>
              <a:t>-1</a:t>
            </a:r>
            <a:r>
              <a:rPr lang="zh-CN" altLang="en-US" dirty="0"/>
              <a:t>，说明</a:t>
            </a:r>
            <a:r>
              <a:rPr lang="en-US" altLang="zh-CN" dirty="0" err="1"/>
              <a:t>i</a:t>
            </a:r>
            <a:r>
              <a:rPr lang="zh-CN" altLang="en-US" dirty="0"/>
              <a:t>小于</a:t>
            </a:r>
            <a:r>
              <a:rPr lang="en-US" altLang="zh-CN" dirty="0"/>
              <a:t>1</a:t>
            </a:r>
            <a:r>
              <a:rPr lang="zh-CN" altLang="en-US" dirty="0"/>
              <a:t>或者大于表长，返回出错；</a:t>
            </a:r>
          </a:p>
          <a:p>
            <a:r>
              <a:rPr lang="zh-CN" altLang="en-US" dirty="0"/>
              <a:t>⑷ 找到第</a:t>
            </a:r>
            <a:r>
              <a:rPr lang="en-US" altLang="zh-CN" dirty="0" err="1"/>
              <a:t>i</a:t>
            </a:r>
            <a:r>
              <a:rPr lang="en-US" altLang="zh-CN" dirty="0"/>
              <a:t>-1</a:t>
            </a:r>
            <a:r>
              <a:rPr lang="zh-CN" altLang="en-US" dirty="0"/>
              <a:t>个结点后，先创建一个结点，用指针</a:t>
            </a:r>
            <a:r>
              <a:rPr lang="en-US" altLang="zh-CN" dirty="0"/>
              <a:t>s</a:t>
            </a:r>
            <a:r>
              <a:rPr lang="zh-CN" altLang="en-US" dirty="0"/>
              <a:t>指向它；</a:t>
            </a:r>
          </a:p>
          <a:p>
            <a:r>
              <a:rPr lang="zh-CN" altLang="en-US" dirty="0"/>
              <a:t>⑸ 对该结点附值为</a:t>
            </a:r>
            <a:r>
              <a:rPr lang="en-US" altLang="zh-CN" dirty="0"/>
              <a:t>e</a:t>
            </a:r>
            <a:r>
              <a:rPr lang="zh-CN" altLang="en-US" dirty="0"/>
              <a:t>，并将其指针域指向结点</a:t>
            </a:r>
            <a:r>
              <a:rPr lang="en-US" altLang="zh-CN" dirty="0"/>
              <a:t>ai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(6) </a:t>
            </a:r>
            <a:r>
              <a:rPr lang="zh-CN" altLang="en-US" dirty="0"/>
              <a:t>将指针</a:t>
            </a:r>
            <a:r>
              <a:rPr lang="en-US" altLang="zh-CN" dirty="0"/>
              <a:t>s</a:t>
            </a:r>
            <a:r>
              <a:rPr lang="zh-CN" altLang="en-US" dirty="0"/>
              <a:t>覆盖掉结点</a:t>
            </a:r>
            <a:r>
              <a:rPr lang="en-US" altLang="zh-CN" dirty="0"/>
              <a:t>ai-1</a:t>
            </a:r>
            <a:r>
              <a:rPr lang="zh-CN" altLang="en-US" dirty="0"/>
              <a:t>的指针域。算法返回</a:t>
            </a:r>
            <a:r>
              <a:rPr lang="en-US" altLang="zh-CN" dirty="0"/>
              <a:t>OK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22505-B285-46DF-A8C7-BE179E56890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1511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我们已经了解，线性表的链式存储结构不同于顺序表，它占用的存储空间可“随用随取“，构建链表不需要预先给它分配存储空间，因此，根据给定的元素序列构造单链线性表的过程，是一个从只含一个头结点的空表开始逐个插入结点的过程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）首先来看算法的参数表，其中</a:t>
            </a:r>
            <a:r>
              <a:rPr lang="en-US" altLang="zh-CN" dirty="0"/>
              <a:t>L</a:t>
            </a:r>
            <a:r>
              <a:rPr lang="zh-CN" altLang="en-US" dirty="0"/>
              <a:t>是引用参数，</a:t>
            </a:r>
            <a:r>
              <a:rPr lang="en-US" altLang="zh-CN" dirty="0"/>
              <a:t>n</a:t>
            </a:r>
            <a:r>
              <a:rPr lang="zh-CN" altLang="en-US" dirty="0"/>
              <a:t>和</a:t>
            </a:r>
            <a:r>
              <a:rPr lang="en-US" altLang="zh-CN" dirty="0"/>
              <a:t>s</a:t>
            </a:r>
            <a:r>
              <a:rPr lang="zh-CN" altLang="en-US" dirty="0"/>
              <a:t>是值参数，分别表示线性表的长度和数据元素序列，由调用函数传递导入。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）在此以一个数据元素依次为</a:t>
            </a:r>
            <a:r>
              <a:rPr lang="en-US" altLang="zh-CN" dirty="0" err="1"/>
              <a:t>a,b,c,d</a:t>
            </a:r>
            <a:r>
              <a:rPr lang="zh-CN" altLang="en-US" dirty="0"/>
              <a:t>，长度为</a:t>
            </a:r>
            <a:r>
              <a:rPr lang="en-US" altLang="zh-CN" dirty="0"/>
              <a:t>4</a:t>
            </a:r>
            <a:r>
              <a:rPr lang="zh-CN" altLang="en-US" dirty="0"/>
              <a:t>的线性表为例，观察算法的执行过程。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）首先建立带头结点的空单链表，需要调用</a:t>
            </a:r>
            <a:r>
              <a:rPr lang="en-US" altLang="zh-CN" dirty="0" err="1"/>
              <a:t>calloc</a:t>
            </a:r>
            <a:r>
              <a:rPr lang="zh-CN" altLang="en-US" dirty="0"/>
              <a:t>函数分配头结点的存储空间，注意：这里的类型</a:t>
            </a:r>
            <a:r>
              <a:rPr lang="en-US" altLang="zh-CN" dirty="0" err="1"/>
              <a:t>LinkList</a:t>
            </a:r>
            <a:r>
              <a:rPr lang="zh-CN" altLang="en-US" dirty="0"/>
              <a:t>和</a:t>
            </a:r>
            <a:r>
              <a:rPr lang="en-US" altLang="zh-CN" dirty="0" err="1"/>
              <a:t>LNode</a:t>
            </a:r>
            <a:r>
              <a:rPr lang="en-US" altLang="zh-CN" dirty="0"/>
              <a:t>*</a:t>
            </a:r>
            <a:r>
              <a:rPr lang="zh-CN" altLang="en-US" dirty="0"/>
              <a:t>是等价的，可以互换。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  <a:r>
              <a:rPr lang="en-US" altLang="zh-CN" dirty="0"/>
              <a:t>L</a:t>
            </a:r>
            <a:r>
              <a:rPr lang="zh-CN" altLang="en-US" dirty="0"/>
              <a:t>为头指针，指向新构造的头结点，同时为了便于每次在表尾的后面插入新的结点，需要一个指向表尾结点的辅助指针</a:t>
            </a:r>
            <a:r>
              <a:rPr lang="en-US" altLang="zh-CN" dirty="0"/>
              <a:t>p</a:t>
            </a:r>
            <a:r>
              <a:rPr lang="zh-CN" altLang="en-US" dirty="0"/>
              <a:t>，对于空表的情况，它自然就是指向头结点，我们称这个辅助指针</a:t>
            </a:r>
            <a:r>
              <a:rPr lang="en-US" altLang="zh-CN" dirty="0"/>
              <a:t>p</a:t>
            </a:r>
            <a:r>
              <a:rPr lang="zh-CN" altLang="en-US" dirty="0"/>
              <a:t>为尾指针。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）之后的</a:t>
            </a:r>
            <a:r>
              <a:rPr lang="en-US" altLang="zh-CN" dirty="0"/>
              <a:t>for</a:t>
            </a:r>
            <a:r>
              <a:rPr lang="zh-CN" altLang="en-US" dirty="0"/>
              <a:t>循环实现将字符序列</a:t>
            </a:r>
            <a:r>
              <a:rPr lang="en-US" altLang="zh-CN" dirty="0"/>
              <a:t>s</a:t>
            </a:r>
            <a:r>
              <a:rPr lang="zh-CN" altLang="en-US" dirty="0"/>
              <a:t>中的元素逐个插入到表尾。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7</a:t>
            </a:r>
            <a:r>
              <a:rPr lang="zh-CN" altLang="en-US" dirty="0"/>
              <a:t>）</a:t>
            </a:r>
            <a:r>
              <a:rPr lang="en-US" altLang="zh-CN" dirty="0" err="1"/>
              <a:t>i</a:t>
            </a:r>
            <a:r>
              <a:rPr lang="zh-CN" altLang="en-US" dirty="0"/>
              <a:t>初值为</a:t>
            </a:r>
            <a:r>
              <a:rPr lang="en-US" altLang="zh-CN" dirty="0"/>
              <a:t>0</a:t>
            </a:r>
            <a:r>
              <a:rPr lang="zh-CN" altLang="en-US" dirty="0"/>
              <a:t>，在</a:t>
            </a:r>
            <a:r>
              <a:rPr lang="en-US" altLang="zh-CN" dirty="0" err="1"/>
              <a:t>i</a:t>
            </a:r>
            <a:r>
              <a:rPr lang="zh-CN" altLang="en-US" dirty="0"/>
              <a:t>值小于</a:t>
            </a:r>
            <a:r>
              <a:rPr lang="en-US" altLang="zh-CN" dirty="0"/>
              <a:t>n</a:t>
            </a:r>
            <a:r>
              <a:rPr lang="zh-CN" altLang="en-US" dirty="0"/>
              <a:t>时进入循环，循环内的三行语句的操作分别是：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8</a:t>
            </a:r>
            <a:r>
              <a:rPr lang="zh-CN" altLang="en-US" dirty="0"/>
              <a:t>）首先在当前的表尾结点之后生成一个新的结点，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9</a:t>
            </a:r>
            <a:r>
              <a:rPr lang="zh-CN" altLang="en-US" dirty="0"/>
              <a:t>）然后让尾指针</a:t>
            </a:r>
            <a:r>
              <a:rPr lang="en-US" altLang="zh-CN" dirty="0"/>
              <a:t>p</a:t>
            </a:r>
            <a:r>
              <a:rPr lang="zh-CN" altLang="en-US" dirty="0"/>
              <a:t>后移指向新的尾结点。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10</a:t>
            </a:r>
            <a:r>
              <a:rPr lang="zh-CN" altLang="en-US" dirty="0"/>
              <a:t>）最后将序列</a:t>
            </a:r>
            <a:r>
              <a:rPr lang="en-US" altLang="zh-CN" dirty="0"/>
              <a:t>s</a:t>
            </a:r>
            <a:r>
              <a:rPr lang="zh-CN" altLang="en-US" dirty="0"/>
              <a:t>中的当前元素存入尾结点。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11</a:t>
            </a:r>
            <a:r>
              <a:rPr lang="zh-CN" altLang="en-US" dirty="0"/>
              <a:t>）如此重复，直到将序列中的所有元素均插入为止。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12</a:t>
            </a:r>
            <a:r>
              <a:rPr lang="zh-CN" altLang="en-US" dirty="0"/>
              <a:t>）最后，还需要将表尾结点的</a:t>
            </a:r>
            <a:r>
              <a:rPr lang="en-US" altLang="zh-CN" dirty="0"/>
              <a:t>next</a:t>
            </a:r>
            <a:r>
              <a:rPr lang="zh-CN" altLang="en-US" dirty="0"/>
              <a:t>域设置为空指针。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22505-B285-46DF-A8C7-BE179E56890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30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/>
              <a:t>⑴  算法</a:t>
            </a:r>
            <a:r>
              <a:rPr lang="en-US" altLang="zh-CN" sz="2400" dirty="0"/>
              <a:t>2.12</a:t>
            </a:r>
            <a:r>
              <a:rPr lang="zh-CN" altLang="en-US" sz="2400" baseline="0" dirty="0"/>
              <a:t> 合并有序单链表的算法要点</a:t>
            </a:r>
            <a:r>
              <a:rPr lang="zh-CN" altLang="en-US" sz="2400" dirty="0"/>
              <a:t>是：</a:t>
            </a:r>
            <a:endParaRPr lang="en-US" altLang="zh-CN" sz="2400" dirty="0"/>
          </a:p>
          <a:p>
            <a:r>
              <a:rPr lang="zh-CN" altLang="en-US" sz="2400" dirty="0"/>
              <a:t>⑵</a:t>
            </a:r>
            <a:r>
              <a:rPr lang="en-US" altLang="zh-CN" sz="2400" dirty="0"/>
              <a:t>  </a:t>
            </a:r>
            <a:r>
              <a:rPr lang="zh-CN" altLang="en-US" sz="2400" dirty="0"/>
              <a:t>首先，单链表</a:t>
            </a:r>
            <a:r>
              <a:rPr lang="en-US" altLang="zh-CN" sz="2400" dirty="0"/>
              <a:t>La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Lb</a:t>
            </a:r>
            <a:r>
              <a:rPr lang="zh-CN" altLang="en-US" sz="2400" dirty="0"/>
              <a:t>是非递减的有序表，将</a:t>
            </a:r>
            <a:r>
              <a:rPr lang="en-US" altLang="zh-CN" sz="2400" dirty="0"/>
              <a:t>pa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pb</a:t>
            </a:r>
            <a:r>
              <a:rPr lang="zh-CN" altLang="en-US" sz="2400" dirty="0"/>
              <a:t>分别指向</a:t>
            </a:r>
            <a:r>
              <a:rPr lang="en-US" altLang="zh-CN" sz="2400" dirty="0"/>
              <a:t>La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Lb</a:t>
            </a:r>
            <a:r>
              <a:rPr lang="zh-CN" altLang="en-US" sz="2400" dirty="0"/>
              <a:t>的第一个结点；</a:t>
            </a:r>
            <a:endParaRPr lang="en-US" altLang="zh-CN" sz="2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/>
              <a:t>⑶  将指针</a:t>
            </a:r>
            <a:r>
              <a:rPr lang="en-US" altLang="zh-CN" sz="2400" dirty="0" err="1"/>
              <a:t>Lc</a:t>
            </a:r>
            <a:r>
              <a:rPr lang="zh-CN" altLang="en-US" sz="2400" dirty="0"/>
              <a:t>和</a:t>
            </a:r>
            <a:r>
              <a:rPr lang="en-US" altLang="zh-CN" sz="2400" dirty="0"/>
              <a:t>pc</a:t>
            </a:r>
            <a:r>
              <a:rPr lang="zh-CN" altLang="en-US" sz="2400" dirty="0"/>
              <a:t>指向</a:t>
            </a:r>
            <a:r>
              <a:rPr lang="en-US" altLang="zh-CN" sz="2400" dirty="0"/>
              <a:t>La</a:t>
            </a:r>
            <a:r>
              <a:rPr lang="zh-CN" altLang="en-US" sz="2400" dirty="0"/>
              <a:t>的头结点；</a:t>
            </a:r>
            <a:endParaRPr lang="en-US" altLang="zh-CN" sz="2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/>
              <a:t>⑷ </a:t>
            </a:r>
            <a:r>
              <a:rPr lang="zh-CN" altLang="en-US" sz="2400" dirty="0"/>
              <a:t>当</a:t>
            </a:r>
            <a:r>
              <a:rPr lang="en-US" altLang="zh-CN" sz="2400" dirty="0"/>
              <a:t>pa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pb</a:t>
            </a:r>
            <a:r>
              <a:rPr lang="zh-CN" altLang="en-US" sz="2400" dirty="0"/>
              <a:t>的值不为</a:t>
            </a:r>
            <a:r>
              <a:rPr lang="en-US" altLang="zh-CN" sz="2400" dirty="0"/>
              <a:t>NULL</a:t>
            </a:r>
            <a:r>
              <a:rPr lang="zh-CN" altLang="en-US" sz="2400" dirty="0"/>
              <a:t>时，循环比较</a:t>
            </a:r>
            <a:r>
              <a:rPr lang="en-US" altLang="zh-CN" sz="2400" dirty="0"/>
              <a:t>pa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pb</a:t>
            </a:r>
            <a:r>
              <a:rPr lang="zh-CN" altLang="en-US" sz="2400" dirty="0"/>
              <a:t>所指的</a:t>
            </a:r>
            <a:r>
              <a:rPr lang="en-US" altLang="zh-CN" sz="2400" dirty="0"/>
              <a:t>data</a:t>
            </a:r>
            <a:r>
              <a:rPr lang="zh-CN" altLang="en-US" sz="2400" dirty="0"/>
              <a:t>，此时</a:t>
            </a:r>
            <a:r>
              <a:rPr lang="en-US" altLang="zh-CN" sz="2400" dirty="0"/>
              <a:t>pa</a:t>
            </a:r>
            <a:r>
              <a:rPr lang="zh-CN" altLang="en-US" sz="2400" dirty="0"/>
              <a:t>所指的值为</a:t>
            </a:r>
            <a:r>
              <a:rPr lang="en-US" altLang="zh-CN" sz="2400" dirty="0"/>
              <a:t>2</a:t>
            </a:r>
            <a:r>
              <a:rPr lang="zh-CN" altLang="en-US" sz="2400" dirty="0"/>
              <a:t>，小于</a:t>
            </a:r>
            <a:r>
              <a:rPr lang="en-US" altLang="zh-CN" sz="2400" dirty="0" err="1"/>
              <a:t>pb</a:t>
            </a:r>
            <a:r>
              <a:rPr lang="zh-CN" altLang="en-US" sz="2400" dirty="0"/>
              <a:t>所指的值</a:t>
            </a:r>
            <a:r>
              <a:rPr lang="en-US" altLang="zh-CN" sz="2400" dirty="0"/>
              <a:t>6</a:t>
            </a:r>
            <a:r>
              <a:rPr lang="zh-CN" altLang="en-US" sz="2400" dirty="0"/>
              <a:t>，则将</a:t>
            </a:r>
            <a:r>
              <a:rPr lang="en-US" altLang="zh-CN" sz="2400" dirty="0"/>
              <a:t>pa</a:t>
            </a:r>
            <a:r>
              <a:rPr lang="zh-CN" altLang="en-US" sz="2400" dirty="0"/>
              <a:t>赋值给</a:t>
            </a:r>
            <a:r>
              <a:rPr lang="en-US" altLang="zh-CN" sz="2400" dirty="0"/>
              <a:t>pc</a:t>
            </a:r>
            <a:r>
              <a:rPr lang="zh-CN" altLang="en-US" sz="2400" dirty="0"/>
              <a:t>所指的指针域，</a:t>
            </a:r>
            <a:r>
              <a:rPr lang="en-US" altLang="zh-CN" sz="2400" dirty="0"/>
              <a:t>pc</a:t>
            </a:r>
            <a:r>
              <a:rPr lang="zh-CN" altLang="en-US" sz="2400" dirty="0"/>
              <a:t>移动到</a:t>
            </a:r>
            <a:r>
              <a:rPr lang="en-US" altLang="zh-CN" sz="2400" dirty="0"/>
              <a:t>pa</a:t>
            </a:r>
            <a:r>
              <a:rPr lang="zh-CN" altLang="en-US" sz="2400" dirty="0"/>
              <a:t>所指的结点，</a:t>
            </a:r>
            <a:r>
              <a:rPr lang="en-US" altLang="zh-CN" sz="2400" dirty="0"/>
              <a:t>pa</a:t>
            </a:r>
            <a:r>
              <a:rPr lang="zh-CN" altLang="en-US" sz="2400" dirty="0"/>
              <a:t>后移一个结点； </a:t>
            </a:r>
            <a:endParaRPr lang="en-US" altLang="zh-CN" sz="2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/>
              <a:t>⑸ 再次循环比较</a:t>
            </a:r>
            <a:r>
              <a:rPr lang="en-US" altLang="zh-CN" sz="2400" dirty="0"/>
              <a:t>pa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pb</a:t>
            </a:r>
            <a:r>
              <a:rPr lang="zh-CN" altLang="en-US" sz="2400" dirty="0"/>
              <a:t>所指的</a:t>
            </a:r>
            <a:r>
              <a:rPr lang="en-US" altLang="zh-CN" sz="2400" dirty="0"/>
              <a:t>data</a:t>
            </a:r>
            <a:r>
              <a:rPr lang="zh-CN" altLang="en-US" sz="2400" dirty="0"/>
              <a:t>，此时</a:t>
            </a:r>
            <a:r>
              <a:rPr lang="en-US" altLang="zh-CN" sz="2400" dirty="0"/>
              <a:t>pa</a:t>
            </a:r>
            <a:r>
              <a:rPr lang="zh-CN" altLang="en-US" sz="2400" dirty="0"/>
              <a:t>所指的值为</a:t>
            </a:r>
            <a:r>
              <a:rPr lang="en-US" altLang="zh-CN" sz="2400" dirty="0"/>
              <a:t>8</a:t>
            </a:r>
            <a:r>
              <a:rPr lang="zh-CN" altLang="en-US" sz="2400" dirty="0"/>
              <a:t>，小于</a:t>
            </a:r>
            <a:r>
              <a:rPr lang="en-US" altLang="zh-CN" sz="2400" dirty="0" err="1"/>
              <a:t>pb</a:t>
            </a:r>
            <a:r>
              <a:rPr lang="zh-CN" altLang="en-US" sz="2400" dirty="0"/>
              <a:t>所指的值</a:t>
            </a:r>
            <a:r>
              <a:rPr lang="en-US" altLang="zh-CN" sz="2400" dirty="0"/>
              <a:t>6</a:t>
            </a:r>
            <a:r>
              <a:rPr lang="zh-CN" altLang="en-US" sz="2400" dirty="0"/>
              <a:t>，则将</a:t>
            </a:r>
            <a:r>
              <a:rPr lang="en-US" altLang="zh-CN" sz="2400" dirty="0" err="1"/>
              <a:t>pb</a:t>
            </a:r>
            <a:r>
              <a:rPr lang="zh-CN" altLang="en-US" sz="2400" dirty="0"/>
              <a:t>赋值给</a:t>
            </a:r>
            <a:r>
              <a:rPr lang="en-US" altLang="zh-CN" sz="2400" dirty="0"/>
              <a:t>pc</a:t>
            </a:r>
            <a:r>
              <a:rPr lang="zh-CN" altLang="en-US" sz="2400" dirty="0"/>
              <a:t>所指的指针域，</a:t>
            </a:r>
            <a:r>
              <a:rPr lang="en-US" altLang="zh-CN" sz="2400" dirty="0"/>
              <a:t>pc</a:t>
            </a:r>
            <a:r>
              <a:rPr lang="zh-CN" altLang="en-US" sz="2400" dirty="0"/>
              <a:t>移动到</a:t>
            </a:r>
            <a:r>
              <a:rPr lang="en-US" altLang="zh-CN" sz="2400" dirty="0" err="1"/>
              <a:t>pb</a:t>
            </a:r>
            <a:r>
              <a:rPr lang="zh-CN" altLang="en-US" sz="2400" dirty="0"/>
              <a:t>所指的结点，</a:t>
            </a:r>
            <a:r>
              <a:rPr lang="en-US" altLang="zh-CN" sz="2400" dirty="0" err="1"/>
              <a:t>pb</a:t>
            </a:r>
            <a:r>
              <a:rPr lang="zh-CN" altLang="en-US" sz="2400" dirty="0"/>
              <a:t>后移一个结点。</a:t>
            </a:r>
            <a:endParaRPr lang="en-US" altLang="zh-CN" sz="2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/>
              <a:t>(6)</a:t>
            </a:r>
            <a:r>
              <a:rPr lang="zh-CN" altLang="en-US" sz="2400" dirty="0"/>
              <a:t> 重复执行以上循环，一直到</a:t>
            </a:r>
            <a:r>
              <a:rPr lang="en-US" altLang="zh-CN" sz="2400" dirty="0"/>
              <a:t>pa</a:t>
            </a:r>
            <a:r>
              <a:rPr lang="zh-CN" altLang="en-US" sz="2400" dirty="0"/>
              <a:t>或者</a:t>
            </a:r>
            <a:r>
              <a:rPr lang="en-US" altLang="zh-CN" sz="2400" dirty="0" err="1"/>
              <a:t>pb</a:t>
            </a:r>
            <a:r>
              <a:rPr lang="zh-CN" altLang="en-US" sz="2400" dirty="0"/>
              <a:t>为</a:t>
            </a:r>
            <a:r>
              <a:rPr lang="en-US" altLang="zh-CN" sz="2400" dirty="0"/>
              <a:t>NULL</a:t>
            </a:r>
            <a:r>
              <a:rPr lang="zh-CN" altLang="en-US" sz="2400" dirty="0"/>
              <a:t>为此，退出循环；</a:t>
            </a:r>
            <a:endParaRPr lang="en-US" altLang="zh-CN" sz="2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effectLst/>
                <a:ea typeface="宋体" panose="02010600030101010101" pitchFamily="2" charset="-122"/>
                <a:cs typeface="Calibri" panose="020F0502020204030204" pitchFamily="34" charset="0"/>
              </a:rPr>
              <a:t>(7) </a:t>
            </a:r>
            <a:r>
              <a:rPr lang="zh-CN" altLang="en-US" sz="2400" dirty="0">
                <a:effectLst/>
                <a:ea typeface="宋体" panose="02010600030101010101" pitchFamily="2" charset="-122"/>
                <a:cs typeface="Calibri" panose="020F0502020204030204" pitchFamily="34" charset="0"/>
              </a:rPr>
              <a:t>将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Calibri" panose="020F0502020204030204" pitchFamily="34" charset="0"/>
              </a:rPr>
              <a:t>pa</a:t>
            </a:r>
            <a:r>
              <a:rPr lang="zh-CN" altLang="en-US" sz="2400" dirty="0">
                <a:effectLst/>
                <a:ea typeface="宋体" panose="02010600030101010101" pitchFamily="2" charset="-122"/>
                <a:cs typeface="Calibri" panose="020F0502020204030204" pitchFamily="34" charset="0"/>
              </a:rPr>
              <a:t>赋值给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Calibri" panose="020F0502020204030204" pitchFamily="34" charset="0"/>
              </a:rPr>
              <a:t>pc</a:t>
            </a:r>
            <a:r>
              <a:rPr lang="zh-CN" altLang="en-US" sz="2400" dirty="0">
                <a:effectLst/>
                <a:ea typeface="宋体" panose="02010600030101010101" pitchFamily="2" charset="-122"/>
                <a:cs typeface="Calibri" panose="020F0502020204030204" pitchFamily="34" charset="0"/>
              </a:rPr>
              <a:t>所指的指针域，若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Calibri" panose="020F0502020204030204" pitchFamily="34" charset="0"/>
              </a:rPr>
              <a:t>pa</a:t>
            </a:r>
            <a:r>
              <a:rPr lang="zh-CN" altLang="en-US" sz="2400" dirty="0">
                <a:effectLst/>
                <a:ea typeface="宋体" panose="02010600030101010101" pitchFamily="2" charset="-122"/>
                <a:cs typeface="Calibri" panose="020F0502020204030204" pitchFamily="34" charset="0"/>
              </a:rPr>
              <a:t>为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Calibri" panose="020F0502020204030204" pitchFamily="34" charset="0"/>
              </a:rPr>
              <a:t>NULL</a:t>
            </a:r>
            <a:r>
              <a:rPr lang="zh-CN" altLang="en-US" sz="2400" dirty="0">
                <a:effectLst/>
                <a:ea typeface="宋体" panose="02010600030101010101" pitchFamily="2" charset="-122"/>
                <a:cs typeface="Calibri" panose="020F0502020204030204" pitchFamily="34" charset="0"/>
              </a:rPr>
              <a:t>，则将</a:t>
            </a:r>
            <a:r>
              <a:rPr lang="en-US" altLang="zh-CN" sz="2400" dirty="0" err="1">
                <a:effectLst/>
                <a:ea typeface="宋体" panose="02010600030101010101" pitchFamily="2" charset="-122"/>
                <a:cs typeface="Calibri" panose="020F0502020204030204" pitchFamily="34" charset="0"/>
              </a:rPr>
              <a:t>pb</a:t>
            </a:r>
            <a:r>
              <a:rPr lang="zh-CN" altLang="en-US" sz="2400" dirty="0">
                <a:effectLst/>
                <a:ea typeface="宋体" panose="02010600030101010101" pitchFamily="2" charset="-122"/>
                <a:cs typeface="Calibri" panose="020F0502020204030204" pitchFamily="34" charset="0"/>
              </a:rPr>
              <a:t>进行赋值。</a:t>
            </a:r>
            <a:endParaRPr lang="en-US" altLang="zh-CN" sz="2400" dirty="0">
              <a:effectLst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effectLst/>
                <a:ea typeface="宋体" panose="02010600030101010101" pitchFamily="2" charset="-122"/>
                <a:cs typeface="Calibri" panose="020F0502020204030204" pitchFamily="34" charset="0"/>
              </a:rPr>
              <a:t>(8)</a:t>
            </a:r>
            <a:r>
              <a:rPr lang="zh-CN" altLang="en-US" sz="2400" dirty="0">
                <a:effectLst/>
                <a:ea typeface="宋体" panose="02010600030101010101" pitchFamily="2" charset="-122"/>
                <a:cs typeface="Calibri" panose="020F0502020204030204" pitchFamily="34" charset="0"/>
              </a:rPr>
              <a:t>释放</a:t>
            </a:r>
            <a:r>
              <a:rPr lang="en-US" altLang="zh-CN" sz="2400" dirty="0" err="1">
                <a:effectLst/>
                <a:ea typeface="宋体" panose="02010600030101010101" pitchFamily="2" charset="-122"/>
                <a:cs typeface="Calibri" panose="020F0502020204030204" pitchFamily="34" charset="0"/>
              </a:rPr>
              <a:t>Lb</a:t>
            </a:r>
            <a:r>
              <a:rPr lang="zh-CN" altLang="en-US" sz="2400" dirty="0">
                <a:effectLst/>
                <a:ea typeface="宋体" panose="02010600030101010101" pitchFamily="2" charset="-122"/>
                <a:cs typeface="Calibri" panose="020F0502020204030204" pitchFamily="34" charset="0"/>
              </a:rPr>
              <a:t>所指的头结点，并将</a:t>
            </a:r>
            <a:r>
              <a:rPr lang="en-US" altLang="zh-CN" sz="2400" dirty="0" err="1">
                <a:effectLst/>
                <a:ea typeface="宋体" panose="02010600030101010101" pitchFamily="2" charset="-122"/>
                <a:cs typeface="Calibri" panose="020F0502020204030204" pitchFamily="34" charset="0"/>
              </a:rPr>
              <a:t>Lb</a:t>
            </a:r>
            <a:r>
              <a:rPr lang="zh-CN" altLang="en-US" sz="2400" dirty="0">
                <a:effectLst/>
                <a:ea typeface="宋体" panose="02010600030101010101" pitchFamily="2" charset="-122"/>
                <a:cs typeface="Calibri" panose="020F0502020204030204" pitchFamily="34" charset="0"/>
              </a:rPr>
              <a:t>置为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Calibri" panose="020F0502020204030204" pitchFamily="34" charset="0"/>
              </a:rPr>
              <a:t>NULL.</a:t>
            </a:r>
            <a:r>
              <a:rPr lang="en-US" altLang="zh-CN" sz="2400" baseline="0" dirty="0">
                <a:effectLst/>
                <a:ea typeface="宋体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zh-CN" altLang="en-US" sz="2400" baseline="0">
                <a:effectLst/>
                <a:ea typeface="宋体" panose="02010600030101010101" pitchFamily="2" charset="-122"/>
                <a:cs typeface="Calibri" panose="020F0502020204030204" pitchFamily="34" charset="0"/>
              </a:rPr>
              <a:t>算法结束。</a:t>
            </a:r>
            <a:endParaRPr lang="en-US" altLang="zh-CN" sz="2400" dirty="0">
              <a:effectLst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7946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5291" y="48936"/>
            <a:ext cx="6629400" cy="71211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D09386-D71F-8627-81AE-8E5A2E01C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559" y="1036535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4E5187-DE92-993A-0100-7ABE595C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239B5-A6DD-477D-BE99-5AD4CA2F58EE}" type="datetime1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AA60E-7CCA-E8F0-796A-1C44334A6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E3B1BE-AB2D-5A23-7D3C-F521ED3F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554559" y="179743"/>
            <a:ext cx="700611" cy="581310"/>
            <a:chOff x="527657" y="117426"/>
            <a:chExt cx="1016528" cy="825488"/>
          </a:xfrm>
        </p:grpSpPr>
        <p:pic>
          <p:nvPicPr>
            <p:cNvPr id="8" name="Picture 3" descr="C:\Users\Administrator\Desktop\微立体创业计划\005.png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C:\Users\Administrator\Desktop\微立体创业计划\004.png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81117" y="87288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007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4E304D-4302-9926-B9E4-A4F22949F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BE773-4813-48BD-A50D-5974BFBD6D74}" type="datetime1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4BA000-FB47-BDF4-4935-328024882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CFA3F2-32A8-6E83-CD3C-B6BFA5A1C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531711" y="187040"/>
            <a:ext cx="700611" cy="581310"/>
            <a:chOff x="527657" y="117426"/>
            <a:chExt cx="1016528" cy="825488"/>
          </a:xfrm>
        </p:grpSpPr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58269" y="94585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46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7D3EA5-F01E-27E8-6382-8E4698BF5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9C41B-B701-4ED6-8A9D-BB3EBE32AEBB}" type="datetime1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1F90EF-624C-D401-6E5E-B0149181C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481C52-AE99-DAB9-C87E-25AC2D770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6910" y="123768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697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6426EC-8608-7076-4E2F-201ECC9F6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866" y="120217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5130B0-2B94-A4AE-6E98-7824EEE57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FFFF7-CCAC-4C16-B3DF-A74AC1DA0111}" type="datetime1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658B41-817B-123A-14E0-BC57DFD32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164C95-0EF9-F0F6-ED9A-520DF025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332687" y="43283"/>
            <a:ext cx="6629400" cy="712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491955" y="174090"/>
            <a:ext cx="700611" cy="581310"/>
            <a:chOff x="527657" y="117426"/>
            <a:chExt cx="1016528" cy="825488"/>
          </a:xfrm>
        </p:grpSpPr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18513" y="81635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184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E84307-8A37-88A5-276E-382ECA8F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DCE2CA-F9CF-29DC-C270-D8E9191A0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7F53C-D319-4379-BE9D-C0775F1AC39A}" type="datetime1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687EF2-F446-A5B5-9052-AA7F0AEF3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9F2C10-0228-7893-C916-BD1FC13AA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894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5CDC8-B89E-CC89-6D8D-B5FA69CE2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83" y="34744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1E6074-4C08-E5A5-1BC3-6414E2E57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58D588-0735-993F-FDD0-115837A68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5983" y="216531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22D629-DE6B-9EAE-BC43-029A92A4E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18CB3-EBC9-4CC4-A374-8AE54067A303}" type="datetime1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31E168-CA51-40B5-0F51-F557A9BE0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9A110E-96BC-7564-341B-681A25B83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1231" y="112409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572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177F47-4C85-D788-3D9F-55EA08C5B0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C93787-4F60-8859-2F67-4D1216667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72D604-5A9A-6C30-39E7-4F12BBC6E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61EE-7E93-465D-B757-DAE1CB93E92C}" type="datetime1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C49BAC-6CED-D1F9-DF9F-F24A800B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1781E8-C2CC-E8D8-DBC6-2169704A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349725" y="136525"/>
            <a:ext cx="6629400" cy="712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508993" y="267332"/>
            <a:ext cx="700611" cy="581310"/>
            <a:chOff x="527657" y="117426"/>
            <a:chExt cx="1016528" cy="825488"/>
          </a:xfrm>
        </p:grpSpPr>
        <p:pic>
          <p:nvPicPr>
            <p:cNvPr id="12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35551" y="174877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141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91E652-24E5-5D4B-50DE-DB568C82C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F1FC26-7D40-3607-CBAD-6EF57B67E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C3179B-0F08-A1E3-33A4-C538C69CF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F63DB1D-3969-492C-022F-B513F87E73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9C453B-EC09-DE45-A706-9278FDDB0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8CFF-37F7-4C20-841D-A3532578AC89}" type="datetime1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908686C-7D94-AA63-89D7-45C32CBE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A4B4EC2-B11A-C364-C14B-1E762B00D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264533" y="250688"/>
            <a:ext cx="6629400" cy="712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1" name="副标题 2">
            <a:extLst>
              <a:ext uri="{FF2B5EF4-FFF2-40B4-BE49-F238E27FC236}">
                <a16:creationId xmlns:a16="http://schemas.microsoft.com/office/drawing/2014/main" id="{DAD09386-D71F-8627-81AE-8E5A2E01CA18}"/>
              </a:ext>
            </a:extLst>
          </p:cNvPr>
          <p:cNvSpPr>
            <a:spLocks noGrp="1"/>
          </p:cNvSpPr>
          <p:nvPr userDrawn="1"/>
        </p:nvSpPr>
        <p:spPr>
          <a:xfrm>
            <a:off x="446519" y="112949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487894" y="350630"/>
            <a:ext cx="700611" cy="581310"/>
            <a:chOff x="527657" y="117426"/>
            <a:chExt cx="1016528" cy="825488"/>
          </a:xfrm>
        </p:grpSpPr>
        <p:pic>
          <p:nvPicPr>
            <p:cNvPr id="14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973077" y="350630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367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81A1DB-9ED0-9B4E-C770-E5694309E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6A23B31-EAB2-1391-7820-A080360E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9B3C80-CF0B-F0C0-A442-A088B0EB6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9CF473-C6CC-BAD8-5383-26E8D2531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EC3D5-687C-416C-9B5D-3A75D8F7BA6C}" type="datetime1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F54AA7-A8F7-371E-233F-C3786BFF7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ABCE91-07DB-6B5D-5B09-85080604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598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886F22-E5CE-D1A8-570E-9AE797FDA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1128B0-4299-ED4A-92C5-0E762E6AB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52EB65-E6EF-E56C-9D82-1C732D02E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BE0C-1EAE-4AE0-9369-5238A76AA9AE}" type="datetime1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0A3098-73E5-D15B-F904-31354377F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C31172-595F-7FBE-C4C5-0D45BFF78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523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7A9512A-F429-E9F6-1E9D-E8FDB3269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BF6BB3-16C3-74FB-3BD9-3D2AA5B3D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59AC9E-B020-DA3A-3784-05E3CA262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ED7F1-ED4F-4A57-9629-8DACBCF4E104}" type="datetime1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5E3113-5A22-4324-B7BE-2653A893C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A4F435-9CA7-A80C-F717-58D1A579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159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F1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>
          <a:xfrm>
            <a:off x="1586887" y="306750"/>
            <a:ext cx="4197307" cy="434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none" lIns="68582" tIns="34292" rIns="68582" bIns="34292">
            <a:spAutoFit/>
          </a:bodyPr>
          <a:lstStyle>
            <a:lvl1pPr>
              <a:defRPr lang="zh-CN" altLang="en-US" sz="2634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cs typeface="+mn-cs"/>
              </a:defRPr>
            </a:lvl1pPr>
          </a:lstStyle>
          <a:p>
            <a:pPr lvl="0" algn="l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86122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flip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9AE7EF-F87D-9C21-C4BB-171C8D9B5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F3D3E9-FE54-B7B5-61E8-7471036E4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A6B583-F9AA-8EDA-E541-C15244314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01001-B58D-4742-9CFA-41515D63C199}" type="datetime1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8A588B-8EE2-28BC-48EA-8B9B0CBDD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B4F34A-A39E-23CC-FAEC-C3E874B5C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588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6560F8BA-EDBF-2910-36F9-4BB297220ED8}"/>
              </a:ext>
            </a:extLst>
          </p:cNvPr>
          <p:cNvSpPr/>
          <p:nvPr/>
        </p:nvSpPr>
        <p:spPr>
          <a:xfrm>
            <a:off x="6155610" y="1826462"/>
            <a:ext cx="5093804" cy="3056818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92075" cmpd="thickThin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华文琥珀" panose="02010800040101010101" pitchFamily="2" charset="-122"/>
                <a:ea typeface="华文琥珀" panose="02010800040101010101" pitchFamily="2" charset="-122"/>
              </a:rPr>
              <a:t>第 </a:t>
            </a:r>
            <a:r>
              <a:rPr lang="en-US" altLang="zh-CN" sz="4000" dirty="0">
                <a:solidFill>
                  <a:schemeClr val="accent4">
                    <a:lumMod val="75000"/>
                  </a:schemeClr>
                </a:solidFill>
                <a:latin typeface="Wide Latin" panose="020A0A07050505020404" pitchFamily="18" charset="0"/>
                <a:ea typeface="华文彩云" panose="020108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4000" dirty="0">
                <a:solidFill>
                  <a:schemeClr val="accent4">
                    <a:lumMod val="75000"/>
                  </a:schemeClr>
                </a:solidFill>
                <a:latin typeface="华文琥珀" panose="02010800040101010101" pitchFamily="2" charset="-122"/>
                <a:ea typeface="华文琥珀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华文琥珀" panose="02010800040101010101" pitchFamily="2" charset="-122"/>
                <a:ea typeface="华文琥珀" panose="02010800040101010101" pitchFamily="2" charset="-122"/>
              </a:rPr>
              <a:t>章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    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线性表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7153214-7B01-5997-7E63-571F2D9B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1</a:t>
            </a:fld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F3E0640-F6A6-1CEE-0D03-C1ADB7F77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530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507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52E1E26-98E6-36B4-E258-D0FEAAA0BFEA}"/>
              </a:ext>
            </a:extLst>
          </p:cNvPr>
          <p:cNvSpPr txBox="1"/>
          <p:nvPr/>
        </p:nvSpPr>
        <p:spPr>
          <a:xfrm>
            <a:off x="1349887" y="290777"/>
            <a:ext cx="7056438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 cap="flat" cmpd="thinThick">
            <a:solidFill>
              <a:schemeClr val="accent3">
                <a:lumMod val="75000"/>
              </a:schemeClr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3200" b="0" noProof="1">
                <a:solidFill>
                  <a:srgbClr val="003399"/>
                </a:solidFill>
                <a:latin typeface="Times New Roman" panose="02020603050405020304" pitchFamily="18" charset="0"/>
                <a:ea typeface="华文琥珀" pitchFamily="2" charset="-122"/>
              </a:rPr>
              <a:t>线性表</a:t>
            </a:r>
            <a:r>
              <a:rPr lang="zh-CN" altLang="en-US" sz="3200" b="0" noProof="1">
                <a:solidFill>
                  <a:srgbClr val="000000"/>
                </a:solidFill>
                <a:latin typeface="+mj-ea"/>
                <a:ea typeface="+mj-ea"/>
              </a:rPr>
              <a:t>是最典型的</a:t>
            </a:r>
            <a:r>
              <a:rPr lang="zh-CN" altLang="en-US" sz="3200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ea"/>
                <a:ea typeface="+mj-ea"/>
              </a:rPr>
              <a:t>线性结构</a:t>
            </a:r>
            <a:endParaRPr lang="zh-CN" altLang="en-US" sz="3200" b="0" noProof="1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+mj-ea"/>
              <a:ea typeface="+mj-ea"/>
            </a:endParaRPr>
          </a:p>
        </p:txBody>
      </p:sp>
      <p:sp>
        <p:nvSpPr>
          <p:cNvPr id="3" name="文本框 5122">
            <a:extLst>
              <a:ext uri="{FF2B5EF4-FFF2-40B4-BE49-F238E27FC236}">
                <a16:creationId xmlns:a16="http://schemas.microsoft.com/office/drawing/2014/main" id="{9A97993A-5F63-D40B-46AA-7610133D32BA}"/>
              </a:ext>
            </a:extLst>
          </p:cNvPr>
          <p:cNvSpPr txBox="1"/>
          <p:nvPr/>
        </p:nvSpPr>
        <p:spPr>
          <a:xfrm>
            <a:off x="1975182" y="3105879"/>
            <a:ext cx="6278999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9pPr>
          </a:lstStyle>
          <a:p>
            <a:pPr eaLnBrk="1" hangingPunct="1">
              <a:defRPr/>
            </a:pPr>
            <a:r>
              <a:rPr lang="en-US" altLang="zh-CN" sz="2400" noProof="1">
                <a:solidFill>
                  <a:schemeClr val="tx1"/>
                </a:solidFill>
                <a:latin typeface="+mn-ea"/>
                <a:ea typeface="+mn-ea"/>
              </a:rPr>
              <a:t>1.</a:t>
            </a:r>
            <a:r>
              <a:rPr lang="zh-CN" altLang="en-US" sz="2400" noProof="1">
                <a:solidFill>
                  <a:schemeClr val="tx1"/>
                </a:solidFill>
                <a:latin typeface="+mn-ea"/>
                <a:ea typeface="+mn-ea"/>
              </a:rPr>
              <a:t>元素</a:t>
            </a:r>
            <a:r>
              <a:rPr lang="zh-CN" altLang="en-US" sz="2400" noProof="1">
                <a:solidFill>
                  <a:srgbClr val="000000"/>
                </a:solidFill>
                <a:latin typeface="+mn-ea"/>
                <a:ea typeface="+mn-ea"/>
              </a:rPr>
              <a:t>集合中必存在唯一的</a:t>
            </a:r>
            <a:r>
              <a:rPr lang="zh-CN" altLang="en-US" sz="2400" noProof="1">
                <a:solidFill>
                  <a:srgbClr val="FF0000"/>
                </a:solidFill>
                <a:latin typeface="+mn-ea"/>
                <a:ea typeface="+mn-ea"/>
              </a:rPr>
              <a:t>“</a:t>
            </a:r>
            <a:r>
              <a:rPr lang="zh-CN" altLang="en-US" sz="2400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n-ea"/>
                <a:ea typeface="+mn-ea"/>
              </a:rPr>
              <a:t>第一元素</a:t>
            </a:r>
            <a:r>
              <a:rPr lang="zh-CN" altLang="en-US" sz="2400" noProof="1">
                <a:solidFill>
                  <a:srgbClr val="FF0000"/>
                </a:solidFill>
                <a:latin typeface="+mn-ea"/>
                <a:ea typeface="+mn-ea"/>
              </a:rPr>
              <a:t>”</a:t>
            </a:r>
            <a:r>
              <a:rPr lang="zh-CN" altLang="en-US" sz="2400" noProof="1">
                <a:solidFill>
                  <a:schemeClr val="tx1"/>
                </a:solidFill>
                <a:latin typeface="+mn-ea"/>
                <a:ea typeface="+mn-ea"/>
              </a:rPr>
              <a:t>；</a:t>
            </a:r>
          </a:p>
        </p:txBody>
      </p:sp>
      <p:sp>
        <p:nvSpPr>
          <p:cNvPr id="4" name="文本框 5123">
            <a:extLst>
              <a:ext uri="{FF2B5EF4-FFF2-40B4-BE49-F238E27FC236}">
                <a16:creationId xmlns:a16="http://schemas.microsoft.com/office/drawing/2014/main" id="{7D8A34D1-D6D6-F5E7-31DC-4942BB8B44CF}"/>
              </a:ext>
            </a:extLst>
          </p:cNvPr>
          <p:cNvSpPr txBox="1"/>
          <p:nvPr/>
        </p:nvSpPr>
        <p:spPr>
          <a:xfrm>
            <a:off x="1975182" y="3886367"/>
            <a:ext cx="643114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9pPr>
          </a:lstStyle>
          <a:p>
            <a:pPr eaLnBrk="1" hangingPunct="1">
              <a:defRPr/>
            </a:pPr>
            <a:r>
              <a:rPr lang="en-US" altLang="zh-CN" sz="2400" noProof="1">
                <a:solidFill>
                  <a:srgbClr val="000000"/>
                </a:solidFill>
                <a:latin typeface="+mn-ea"/>
                <a:ea typeface="+mn-ea"/>
              </a:rPr>
              <a:t>2.</a:t>
            </a:r>
            <a:r>
              <a:rPr lang="zh-CN" altLang="en-US" sz="2400" noProof="1">
                <a:solidFill>
                  <a:srgbClr val="000000"/>
                </a:solidFill>
                <a:latin typeface="+mn-ea"/>
                <a:ea typeface="+mn-ea"/>
              </a:rPr>
              <a:t>元素集合中必存在唯一的</a:t>
            </a:r>
            <a:r>
              <a:rPr lang="zh-CN" altLang="en-US" sz="2400" noProof="1">
                <a:solidFill>
                  <a:srgbClr val="FF0000"/>
                </a:solidFill>
                <a:latin typeface="+mn-ea"/>
                <a:ea typeface="+mn-ea"/>
              </a:rPr>
              <a:t>“</a:t>
            </a:r>
            <a:r>
              <a:rPr lang="zh-CN" altLang="en-US" sz="2400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n-ea"/>
                <a:ea typeface="+mn-ea"/>
              </a:rPr>
              <a:t>最后元素</a:t>
            </a:r>
            <a:r>
              <a:rPr lang="zh-CN" altLang="en-US" sz="2400" noProof="1">
                <a:solidFill>
                  <a:srgbClr val="FF0000"/>
                </a:solidFill>
                <a:latin typeface="+mn-ea"/>
                <a:ea typeface="+mn-ea"/>
              </a:rPr>
              <a:t>”</a:t>
            </a:r>
            <a:r>
              <a:rPr lang="en-US" altLang="zh-CN" sz="2400" noProof="1">
                <a:solidFill>
                  <a:srgbClr val="000000"/>
                </a:solidFill>
                <a:latin typeface="+mn-ea"/>
                <a:ea typeface="+mn-ea"/>
              </a:rPr>
              <a:t>;</a:t>
            </a:r>
            <a:endParaRPr lang="en-US" altLang="zh-CN" sz="2400" b="0" noProof="1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5" name="文本框 5124">
            <a:extLst>
              <a:ext uri="{FF2B5EF4-FFF2-40B4-BE49-F238E27FC236}">
                <a16:creationId xmlns:a16="http://schemas.microsoft.com/office/drawing/2014/main" id="{4D6A42CA-BC36-F2D1-3148-12939E6AA78E}"/>
              </a:ext>
            </a:extLst>
          </p:cNvPr>
          <p:cNvSpPr txBox="1"/>
          <p:nvPr/>
        </p:nvSpPr>
        <p:spPr>
          <a:xfrm>
            <a:off x="1975182" y="4666855"/>
            <a:ext cx="643114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9pPr>
          </a:lstStyle>
          <a:p>
            <a:pPr eaLnBrk="1" hangingPunct="1">
              <a:defRPr/>
            </a:pPr>
            <a:r>
              <a:rPr lang="en-US" altLang="zh-CN" sz="2400" noProof="1">
                <a:solidFill>
                  <a:srgbClr val="000000"/>
                </a:solidFill>
                <a:latin typeface="+mn-ea"/>
                <a:ea typeface="+mn-ea"/>
              </a:rPr>
              <a:t>3.</a:t>
            </a:r>
            <a:r>
              <a:rPr lang="zh-CN" altLang="en-US" sz="2400" noProof="1">
                <a:solidFill>
                  <a:srgbClr val="000000"/>
                </a:solidFill>
                <a:latin typeface="+mn-ea"/>
                <a:ea typeface="+mn-ea"/>
              </a:rPr>
              <a:t>除最后元素之外，均有</a:t>
            </a:r>
            <a:r>
              <a:rPr lang="zh-CN" altLang="en-US" sz="2400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n-ea"/>
                <a:ea typeface="+mn-ea"/>
              </a:rPr>
              <a:t>唯一的</a:t>
            </a:r>
            <a:r>
              <a:rPr lang="en-US" altLang="zh-CN" sz="2400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n-ea"/>
                <a:ea typeface="+mn-ea"/>
              </a:rPr>
              <a:t>(</a:t>
            </a:r>
            <a:r>
              <a:rPr lang="zh-CN" altLang="en-US" sz="2400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n-ea"/>
                <a:ea typeface="+mn-ea"/>
              </a:rPr>
              <a:t>直接</a:t>
            </a:r>
            <a:r>
              <a:rPr lang="en-US" altLang="zh-CN" sz="2400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n-ea"/>
                <a:ea typeface="+mn-ea"/>
              </a:rPr>
              <a:t>)</a:t>
            </a:r>
            <a:r>
              <a:rPr lang="zh-CN" altLang="en-US" sz="2400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n-ea"/>
                <a:ea typeface="+mn-ea"/>
              </a:rPr>
              <a:t>后继</a:t>
            </a:r>
            <a:r>
              <a:rPr lang="zh-CN" altLang="en-US" sz="2400" noProof="1">
                <a:solidFill>
                  <a:schemeClr val="tx1"/>
                </a:solidFill>
                <a:latin typeface="+mn-ea"/>
                <a:ea typeface="+mn-ea"/>
              </a:rPr>
              <a:t>；</a:t>
            </a:r>
          </a:p>
        </p:txBody>
      </p:sp>
      <p:sp>
        <p:nvSpPr>
          <p:cNvPr id="6" name="文本框 5125">
            <a:extLst>
              <a:ext uri="{FF2B5EF4-FFF2-40B4-BE49-F238E27FC236}">
                <a16:creationId xmlns:a16="http://schemas.microsoft.com/office/drawing/2014/main" id="{337A95B2-BE34-5116-ED6C-BBBB3E9CBE6C}"/>
              </a:ext>
            </a:extLst>
          </p:cNvPr>
          <p:cNvSpPr txBox="1"/>
          <p:nvPr/>
        </p:nvSpPr>
        <p:spPr>
          <a:xfrm>
            <a:off x="1957213" y="5447343"/>
            <a:ext cx="6554302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9pPr>
          </a:lstStyle>
          <a:p>
            <a:pPr eaLnBrk="1" hangingPunct="1">
              <a:defRPr/>
            </a:pPr>
            <a:r>
              <a:rPr lang="en-US" altLang="zh-CN" sz="2400" noProof="1">
                <a:solidFill>
                  <a:srgbClr val="000000"/>
                </a:solidFill>
                <a:latin typeface="+mn-ea"/>
                <a:ea typeface="+mn-ea"/>
              </a:rPr>
              <a:t>4.</a:t>
            </a:r>
            <a:r>
              <a:rPr lang="zh-CN" altLang="en-US" sz="2400" noProof="1">
                <a:solidFill>
                  <a:srgbClr val="000000"/>
                </a:solidFill>
                <a:latin typeface="+mn-ea"/>
                <a:ea typeface="+mn-ea"/>
              </a:rPr>
              <a:t>除第一元素之外，均有</a:t>
            </a:r>
            <a:r>
              <a:rPr lang="zh-CN" altLang="en-US" sz="2400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n-ea"/>
                <a:ea typeface="+mn-ea"/>
              </a:rPr>
              <a:t>唯一的</a:t>
            </a:r>
            <a:r>
              <a:rPr lang="en-US" altLang="zh-CN" sz="2400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n-ea"/>
                <a:ea typeface="+mn-ea"/>
              </a:rPr>
              <a:t>(</a:t>
            </a:r>
            <a:r>
              <a:rPr lang="zh-CN" altLang="en-US" sz="2400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n-ea"/>
                <a:ea typeface="+mn-ea"/>
              </a:rPr>
              <a:t>直接</a:t>
            </a:r>
            <a:r>
              <a:rPr lang="en-US" altLang="zh-CN" sz="2400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n-ea"/>
                <a:ea typeface="+mn-ea"/>
              </a:rPr>
              <a:t>)</a:t>
            </a:r>
            <a:r>
              <a:rPr lang="zh-CN" altLang="en-US" sz="2400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n-ea"/>
                <a:ea typeface="+mn-ea"/>
              </a:rPr>
              <a:t>前驱</a:t>
            </a:r>
            <a:r>
              <a:rPr lang="zh-CN" altLang="en-US" sz="2400" noProof="1">
                <a:solidFill>
                  <a:schemeClr val="tx1"/>
                </a:solidFill>
                <a:latin typeface="+mn-ea"/>
                <a:ea typeface="+mn-ea"/>
              </a:rPr>
              <a:t>。</a:t>
            </a:r>
            <a:endParaRPr lang="zh-CN" altLang="en-US" sz="2400" b="0" noProof="1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7" name="文本框 5126">
            <a:extLst>
              <a:ext uri="{FF2B5EF4-FFF2-40B4-BE49-F238E27FC236}">
                <a16:creationId xmlns:a16="http://schemas.microsoft.com/office/drawing/2014/main" id="{70F77077-8809-DB25-45D1-64AB1F0934D4}"/>
              </a:ext>
            </a:extLst>
          </p:cNvPr>
          <p:cNvSpPr txBox="1"/>
          <p:nvPr/>
        </p:nvSpPr>
        <p:spPr>
          <a:xfrm>
            <a:off x="2141870" y="2205696"/>
            <a:ext cx="4440828" cy="461665"/>
          </a:xfrm>
          <a:prstGeom prst="rect">
            <a:avLst/>
          </a:prstGeom>
          <a:solidFill>
            <a:srgbClr val="C7F8B8"/>
          </a:solidFill>
          <a:ln w="28575" cap="flat" cmpd="sng">
            <a:solidFill>
              <a:srgbClr val="B77AEE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5400" b="1" kern="120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zh-CN" altLang="en-US" sz="2400" b="0" noProof="1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ea"/>
                <a:ea typeface="+mj-ea"/>
              </a:rPr>
              <a:t>线性结构</a:t>
            </a:r>
            <a:r>
              <a:rPr lang="zh-CN" altLang="en-US" sz="2400" noProof="1">
                <a:solidFill>
                  <a:schemeClr val="accent1"/>
                </a:solidFill>
                <a:latin typeface="+mj-ea"/>
                <a:ea typeface="+mj-ea"/>
              </a:rPr>
              <a:t> </a:t>
            </a:r>
            <a:r>
              <a:rPr lang="zh-CN" altLang="en-US" sz="2400" noProof="1">
                <a:solidFill>
                  <a:srgbClr val="000000"/>
                </a:solidFill>
                <a:latin typeface="+mj-ea"/>
                <a:ea typeface="+mj-ea"/>
              </a:rPr>
              <a:t>是 数据元素的</a:t>
            </a:r>
            <a:r>
              <a:rPr lang="zh-CN" altLang="en-US" sz="2400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ea"/>
                <a:ea typeface="+mj-ea"/>
              </a:rPr>
              <a:t>序列</a:t>
            </a:r>
          </a:p>
        </p:txBody>
      </p:sp>
      <p:sp>
        <p:nvSpPr>
          <p:cNvPr id="8" name="标题 5128">
            <a:extLst>
              <a:ext uri="{FF2B5EF4-FFF2-40B4-BE49-F238E27FC236}">
                <a16:creationId xmlns:a16="http://schemas.microsoft.com/office/drawing/2014/main" id="{D592C1A5-06A7-5A52-6371-1BF4C2A99456}"/>
              </a:ext>
            </a:extLst>
          </p:cNvPr>
          <p:cNvSpPr txBox="1">
            <a:spLocks noGrp="1"/>
          </p:cNvSpPr>
          <p:nvPr/>
        </p:nvSpPr>
        <p:spPr bwMode="auto">
          <a:xfrm>
            <a:off x="1124308" y="1425208"/>
            <a:ext cx="37537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defRPr/>
            </a:pPr>
            <a:r>
              <a:rPr lang="zh-CN" altLang="en-US" sz="2800" b="1" noProof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线性结构的</a:t>
            </a:r>
            <a:r>
              <a:rPr lang="zh-CN" altLang="en-US" sz="2800" b="1" noProof="1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基本特征</a:t>
            </a:r>
            <a:r>
              <a:rPr lang="en-US" altLang="zh-CN" sz="2800" b="1" noProof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2800" b="1" noProof="1">
              <a:solidFill>
                <a:schemeClr val="tx1"/>
              </a:solidFill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2396B4B-FECD-3D3E-0641-628FF4B7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931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DB8F46D-E412-6189-388F-3A5373C94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B3CCA5-E209-3288-8D79-0CF455D01381}"/>
              </a:ext>
            </a:extLst>
          </p:cNvPr>
          <p:cNvSpPr txBox="1"/>
          <p:nvPr/>
        </p:nvSpPr>
        <p:spPr>
          <a:xfrm>
            <a:off x="554795" y="932513"/>
            <a:ext cx="4983722" cy="35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buNone/>
            </a:pPr>
            <a:r>
              <a:rPr lang="zh-CN" altLang="zh-CN" sz="18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线性表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linear_list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），也称为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列表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list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）。</a:t>
            </a:r>
            <a:endParaRPr lang="en-US" altLang="zh-CN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buNone/>
            </a:pP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一个线性表是</a:t>
            </a:r>
            <a:r>
              <a:rPr lang="en-US" altLang="zh-CN" sz="1800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个数据元素的有限序列。</a:t>
            </a:r>
            <a:endParaRPr lang="en-US" altLang="zh-CN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buNone/>
            </a:pP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数据元素的具体含义与应用场景相关，</a:t>
            </a:r>
            <a:endParaRPr lang="en-US" altLang="zh-CN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buNone/>
            </a:pP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例如，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26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个大写英文字母的字母表：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buNone/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A, B, C,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Z )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buNone/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整数构成的线性表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( 6, 17, 28, 50, 92, 188 )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在稍复杂的线性表中，一个数据元素可以由若干个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数据项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item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）组成。在这种情况下，常把数据元素称为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记录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record)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，含有大量记录的线性表又称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文件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file)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885EB2-25AE-84DD-2B02-640047A669AA}"/>
              </a:ext>
            </a:extLst>
          </p:cNvPr>
          <p:cNvSpPr txBox="1"/>
          <p:nvPr/>
        </p:nvSpPr>
        <p:spPr>
          <a:xfrm>
            <a:off x="1401097" y="228298"/>
            <a:ext cx="46162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3200" b="1" kern="100" dirty="0">
                <a:solidFill>
                  <a:srgbClr val="050EB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2.1  </a:t>
            </a:r>
            <a:r>
              <a:rPr lang="zh-CN" altLang="zh-CN" sz="3200" b="1" kern="100" dirty="0">
                <a:solidFill>
                  <a:srgbClr val="050EB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线性表的类型定义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9DC17E1-75E3-29FB-456E-CA7458939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510440"/>
              </p:ext>
            </p:extLst>
          </p:nvPr>
        </p:nvGraphicFramePr>
        <p:xfrm>
          <a:off x="5945414" y="2037320"/>
          <a:ext cx="5408386" cy="2093900"/>
        </p:xfrm>
        <a:graphic>
          <a:graphicData uri="http://schemas.openxmlformats.org/drawingml/2006/table">
            <a:tbl>
              <a:tblPr firstRow="1" firstCol="1" bandRow="1">
                <a:tableStyleId>{3C2FFA5D-87B4-456A-9821-1D502468CF0F}</a:tableStyleId>
              </a:tblPr>
              <a:tblGrid>
                <a:gridCol w="1037583">
                  <a:extLst>
                    <a:ext uri="{9D8B030D-6E8A-4147-A177-3AD203B41FA5}">
                      <a16:colId xmlns:a16="http://schemas.microsoft.com/office/drawing/2014/main" val="4033050782"/>
                    </a:ext>
                  </a:extLst>
                </a:gridCol>
                <a:gridCol w="857546">
                  <a:extLst>
                    <a:ext uri="{9D8B030D-6E8A-4147-A177-3AD203B41FA5}">
                      <a16:colId xmlns:a16="http://schemas.microsoft.com/office/drawing/2014/main" val="1860649781"/>
                    </a:ext>
                  </a:extLst>
                </a:gridCol>
                <a:gridCol w="753314">
                  <a:extLst>
                    <a:ext uri="{9D8B030D-6E8A-4147-A177-3AD203B41FA5}">
                      <a16:colId xmlns:a16="http://schemas.microsoft.com/office/drawing/2014/main" val="2822598791"/>
                    </a:ext>
                  </a:extLst>
                </a:gridCol>
                <a:gridCol w="634869">
                  <a:extLst>
                    <a:ext uri="{9D8B030D-6E8A-4147-A177-3AD203B41FA5}">
                      <a16:colId xmlns:a16="http://schemas.microsoft.com/office/drawing/2014/main" val="3863538113"/>
                    </a:ext>
                  </a:extLst>
                </a:gridCol>
                <a:gridCol w="777003">
                  <a:extLst>
                    <a:ext uri="{9D8B030D-6E8A-4147-A177-3AD203B41FA5}">
                      <a16:colId xmlns:a16="http://schemas.microsoft.com/office/drawing/2014/main" val="2284603833"/>
                    </a:ext>
                  </a:extLst>
                </a:gridCol>
                <a:gridCol w="1348071">
                  <a:extLst>
                    <a:ext uri="{9D8B030D-6E8A-4147-A177-3AD203B41FA5}">
                      <a16:colId xmlns:a16="http://schemas.microsoft.com/office/drawing/2014/main" val="180642521"/>
                    </a:ext>
                  </a:extLst>
                </a:gridCol>
              </a:tblGrid>
              <a:tr h="4209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kern="100">
                          <a:effectLst/>
                        </a:rPr>
                        <a:t>姓名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kern="100">
                          <a:effectLst/>
                        </a:rPr>
                        <a:t>学号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kern="100" dirty="0">
                          <a:effectLst/>
                        </a:rPr>
                        <a:t>性别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kern="100">
                          <a:effectLst/>
                        </a:rPr>
                        <a:t>年龄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kern="100">
                          <a:effectLst/>
                        </a:rPr>
                        <a:t>班级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kern="100" dirty="0">
                          <a:effectLst/>
                        </a:rPr>
                        <a:t>健康状况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78460604"/>
                  </a:ext>
                </a:extLst>
              </a:tr>
              <a:tr h="3705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kern="100">
                          <a:effectLst/>
                        </a:rPr>
                        <a:t>王小林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kern="100">
                          <a:effectLst/>
                        </a:rPr>
                        <a:t>790631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kern="100">
                          <a:effectLst/>
                        </a:rPr>
                        <a:t>男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kern="100">
                          <a:effectLst/>
                        </a:rPr>
                        <a:t>18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kern="100">
                          <a:effectLst/>
                        </a:rPr>
                        <a:t>计</a:t>
                      </a:r>
                      <a:r>
                        <a:rPr lang="en-US" sz="1800" b="1" kern="100">
                          <a:effectLst/>
                        </a:rPr>
                        <a:t>91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kern="100">
                          <a:effectLst/>
                        </a:rPr>
                        <a:t>健康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80388000"/>
                  </a:ext>
                </a:extLst>
              </a:tr>
              <a:tr h="2213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kern="100">
                          <a:effectLst/>
                        </a:rPr>
                        <a:t>陈红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kern="100">
                          <a:effectLst/>
                        </a:rPr>
                        <a:t>790632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kern="100">
                          <a:effectLst/>
                        </a:rPr>
                        <a:t>女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kern="100">
                          <a:effectLst/>
                        </a:rPr>
                        <a:t>20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kern="100">
                          <a:effectLst/>
                        </a:rPr>
                        <a:t>计</a:t>
                      </a:r>
                      <a:r>
                        <a:rPr lang="en-US" sz="1800" b="1" kern="100">
                          <a:effectLst/>
                        </a:rPr>
                        <a:t>91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kern="100">
                          <a:effectLst/>
                        </a:rPr>
                        <a:t>一般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61628336"/>
                  </a:ext>
                </a:extLst>
              </a:tr>
              <a:tr h="269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kern="100">
                          <a:effectLst/>
                        </a:rPr>
                        <a:t>刘建平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kern="100">
                          <a:effectLst/>
                        </a:rPr>
                        <a:t>790633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kern="100">
                          <a:effectLst/>
                        </a:rPr>
                        <a:t>男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kern="100">
                          <a:effectLst/>
                        </a:rPr>
                        <a:t>21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kern="100">
                          <a:effectLst/>
                        </a:rPr>
                        <a:t>计</a:t>
                      </a:r>
                      <a:r>
                        <a:rPr lang="en-US" sz="1800" b="1" kern="100">
                          <a:effectLst/>
                        </a:rPr>
                        <a:t>91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kern="100">
                          <a:effectLst/>
                        </a:rPr>
                        <a:t>健康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63168984"/>
                  </a:ext>
                </a:extLst>
              </a:tr>
              <a:tr h="3780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kern="100">
                          <a:effectLst/>
                        </a:rPr>
                        <a:t>张立立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kern="100">
                          <a:effectLst/>
                        </a:rPr>
                        <a:t>790634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kern="100" dirty="0">
                          <a:effectLst/>
                        </a:rPr>
                        <a:t>男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kern="100">
                          <a:effectLst/>
                        </a:rPr>
                        <a:t>17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kern="100">
                          <a:effectLst/>
                        </a:rPr>
                        <a:t>计</a:t>
                      </a:r>
                      <a:r>
                        <a:rPr lang="en-US" sz="1800" b="1" kern="100">
                          <a:effectLst/>
                        </a:rPr>
                        <a:t>91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800" b="1" kern="100">
                          <a:effectLst/>
                        </a:rPr>
                        <a:t>神经衰弱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3225693"/>
                  </a:ext>
                </a:extLst>
              </a:tr>
              <a:tr h="37571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b="1" kern="100">
                          <a:effectLst/>
                        </a:rPr>
                        <a:t>┇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b="1" kern="100" dirty="0">
                          <a:effectLst/>
                        </a:rPr>
                        <a:t>┇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b="1" kern="100">
                          <a:effectLst/>
                        </a:rPr>
                        <a:t>┇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b="1" kern="100">
                          <a:effectLst/>
                        </a:rPr>
                        <a:t>┇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b="1" kern="100">
                          <a:effectLst/>
                        </a:rPr>
                        <a:t>┇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b="1" kern="100" dirty="0">
                          <a:effectLst/>
                        </a:rPr>
                        <a:t>┇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99660948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B87D704F-E000-BDDD-4D5A-2F490BF66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8992" y="893480"/>
            <a:ext cx="5443215" cy="1063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670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例如，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某校的学生健康情况登记表如图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2.1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所示，表中每个学生的情况为一个记录，由姓名、学号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、性别、年龄、班级和健康状况等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个数据项组成。</a:t>
            </a:r>
            <a:endParaRPr kumimoji="0" lang="zh-CN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AA069E3-1DCC-5759-1CFB-E54404EB9AA3}"/>
              </a:ext>
            </a:extLst>
          </p:cNvPr>
          <p:cNvSpPr txBox="1"/>
          <p:nvPr/>
        </p:nvSpPr>
        <p:spPr>
          <a:xfrm>
            <a:off x="6675233" y="4180325"/>
            <a:ext cx="36042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2667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图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2.1 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学生健康情况登记表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A017290-AA57-4904-86B7-312FB7764667}"/>
              </a:ext>
            </a:extLst>
          </p:cNvPr>
          <p:cNvSpPr txBox="1"/>
          <p:nvPr/>
        </p:nvSpPr>
        <p:spPr>
          <a:xfrm>
            <a:off x="554793" y="4625688"/>
            <a:ext cx="5218686" cy="1980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buNone/>
            </a:pP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若将线性表记为</a:t>
            </a:r>
            <a:endParaRPr lang="zh-CN" altLang="zh-CN" sz="18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15000"/>
              </a:lnSpc>
              <a:buNone/>
            </a:pP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</a:t>
            </a:r>
            <a:r>
              <a:rPr lang="en-US" altLang="zh-CN" sz="1800" b="1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kern="100" baseline="-25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i="1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b="1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i="1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b="1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i="1" kern="100" baseline="-25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b="1" kern="100" baseline="-25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1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i="1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)                         (2-1)</a:t>
            </a:r>
            <a:endParaRPr lang="zh-CN" altLang="zh-CN" sz="18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buNone/>
            </a:pP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则表中</a:t>
            </a:r>
            <a:r>
              <a:rPr lang="en-US" altLang="zh-CN" sz="1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i="1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b="1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zh-CN" sz="1800" b="1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领先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于</a:t>
            </a:r>
            <a:r>
              <a:rPr lang="en-US" altLang="zh-CN" sz="1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i="1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i="1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又领先于</a:t>
            </a:r>
            <a:r>
              <a:rPr lang="en-US" altLang="zh-CN" sz="1800" b="1" i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i="1" kern="100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b="1" kern="100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，称</a:t>
            </a:r>
            <a:r>
              <a:rPr lang="en-US" altLang="zh-CN" sz="1800" b="1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i="1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b="1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800" b="1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i="1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sz="18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直接前驱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元素，</a:t>
            </a:r>
            <a:r>
              <a:rPr lang="en-US" altLang="zh-CN" sz="1800" b="1" i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i="1" kern="100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b="1" kern="100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800" b="1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i="1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直接后继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元素。</a:t>
            </a:r>
            <a:endParaRPr lang="en-US" altLang="zh-CN" sz="1800" b="1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buNone/>
            </a:pP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sz="1800" b="1" i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1, 2,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b="1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时，</a:t>
            </a:r>
            <a:r>
              <a:rPr lang="en-US" altLang="zh-CN" sz="1800" b="1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i="1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有且仅有一个直接后继，</a:t>
            </a:r>
            <a:endParaRPr lang="en-US" altLang="zh-CN" sz="1800" b="1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buNone/>
            </a:pP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sz="1800" b="1" i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b="1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2, 3,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b="1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时，</a:t>
            </a:r>
            <a:r>
              <a:rPr lang="en-US" altLang="zh-CN" sz="1800" b="1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i="1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有且仅有一个直接前驱。</a:t>
            </a:r>
            <a:endParaRPr lang="zh-CN" altLang="zh-CN" sz="18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812B1F5-FBE5-67C6-F1C0-EB9AEB2703C9}"/>
              </a:ext>
            </a:extLst>
          </p:cNvPr>
          <p:cNvSpPr txBox="1"/>
          <p:nvPr/>
        </p:nvSpPr>
        <p:spPr>
          <a:xfrm>
            <a:off x="6418523" y="4625688"/>
            <a:ext cx="4967884" cy="1980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indent="266700" algn="just">
              <a:lnSpc>
                <a:spcPct val="115000"/>
              </a:lnSpc>
              <a:buNone/>
            </a:pP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线性表中元素的个数</a:t>
            </a:r>
            <a:r>
              <a:rPr lang="en-US" altLang="zh-CN" sz="1800" b="1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1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≥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）定义为线性表的</a:t>
            </a:r>
            <a:r>
              <a:rPr lang="zh-CN" altLang="zh-CN" sz="18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长度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b="1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=0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时称为</a:t>
            </a:r>
            <a:r>
              <a:rPr lang="zh-CN" altLang="zh-CN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空表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b="1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15000"/>
              </a:lnSpc>
              <a:buNone/>
            </a:pP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在非空表中的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每个数据元素都有一个确定的位置，如</a:t>
            </a:r>
            <a:r>
              <a:rPr lang="en-US" altLang="zh-CN" sz="1800" b="1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kern="100" baseline="-25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是第一个数据元素，</a:t>
            </a:r>
            <a:r>
              <a:rPr lang="en-US" altLang="zh-CN" sz="1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i="1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是最后一个数据元素，</a:t>
            </a:r>
            <a:r>
              <a:rPr lang="en-US" altLang="zh-CN" sz="1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i="1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是第</a:t>
            </a:r>
            <a:r>
              <a:rPr lang="en-US" altLang="zh-CN" sz="1800" b="1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个数据元素，称</a:t>
            </a:r>
            <a:r>
              <a:rPr lang="en-US" altLang="zh-CN" sz="1800" b="1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为数据元素</a:t>
            </a:r>
            <a:r>
              <a:rPr lang="en-US" altLang="zh-CN" sz="1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1" i="1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在线性表中的</a:t>
            </a:r>
            <a:r>
              <a:rPr lang="zh-CN" altLang="zh-CN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位序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18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889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" grpId="0"/>
      <p:bldP spid="10" grpId="0"/>
      <p:bldP spid="12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AE99C80-98A8-7548-9AEC-3C168F98D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54234"/>
            <a:ext cx="2743200" cy="365125"/>
          </a:xfrm>
        </p:spPr>
        <p:txBody>
          <a:bodyPr/>
          <a:lstStyle/>
          <a:p>
            <a:fld id="{D7C0FE0B-717B-41AE-9FA2-CA4BF851D1C3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32A013B-41C6-5135-6DEB-C4F94A16407D}"/>
              </a:ext>
            </a:extLst>
          </p:cNvPr>
          <p:cNvSpPr txBox="1"/>
          <p:nvPr/>
        </p:nvSpPr>
        <p:spPr>
          <a:xfrm>
            <a:off x="127416" y="651931"/>
            <a:ext cx="5738051" cy="57346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indent="266700" algn="just">
              <a:lnSpc>
                <a:spcPct val="110000"/>
              </a:lnSpc>
              <a:buNone/>
            </a:pP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抽象数据类型</a:t>
            </a:r>
            <a:r>
              <a:rPr lang="zh-CN" altLang="zh-CN" sz="20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线性表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的定义如下：</a:t>
            </a:r>
            <a:endParaRPr lang="zh-CN" altLang="zh-CN" sz="20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9240" algn="just">
              <a:lnSpc>
                <a:spcPct val="110000"/>
              </a:lnSpc>
              <a:buNone/>
            </a:pP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ADT List {</a:t>
            </a:r>
            <a:endParaRPr lang="zh-CN" altLang="zh-CN" sz="16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49580" algn="just">
              <a:lnSpc>
                <a:spcPct val="120000"/>
              </a:lnSpc>
              <a:buNone/>
            </a:pP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数据对象：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 = { a</a:t>
            </a:r>
            <a:r>
              <a:rPr lang="en-US" altLang="zh-CN" sz="1400" b="1" kern="100" baseline="-250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| </a:t>
            </a: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400" b="1" kern="100" baseline="-250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  <a:sym typeface="Symbol" panose="05050102010706020507" pitchFamily="18" charset="2"/>
              </a:rPr>
              <a:t></a:t>
            </a: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ElemSet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=1,2,…,n, n</a:t>
            </a:r>
            <a:r>
              <a:rPr lang="zh-CN" altLang="zh-CN" sz="14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≥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 }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49580" algn="just">
              <a:lnSpc>
                <a:spcPct val="120000"/>
              </a:lnSpc>
              <a:buNone/>
            </a:pP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数据关系：</a:t>
            </a: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R1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{ &lt;a</a:t>
            </a:r>
            <a:r>
              <a:rPr lang="en-US" altLang="zh-CN" sz="1400" b="1" kern="100" baseline="-250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i-</a:t>
            </a:r>
            <a:r>
              <a:rPr lang="en-US" altLang="zh-CN" sz="1400" b="1" kern="100" baseline="-250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zh-CN" sz="1400" b="1" kern="100" baseline="-250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 | </a:t>
            </a: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400" b="1" kern="100" baseline="-250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i-1</a:t>
            </a: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zh-CN" sz="1400" b="1" kern="100" baseline="-250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  <a:sym typeface="Symbol" panose="05050102010706020507" pitchFamily="18" charset="2"/>
              </a:rPr>
              <a:t></a:t>
            </a: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=2,…,n }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49580" algn="just">
              <a:lnSpc>
                <a:spcPct val="120000"/>
              </a:lnSpc>
              <a:buNone/>
            </a:pP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基本操作：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algn="just">
              <a:lnSpc>
                <a:spcPct val="110000"/>
              </a:lnSpc>
              <a:buNone/>
            </a:pP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InitList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en-US" altLang="zh-CN" sz="14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indent="101600" algn="just">
              <a:lnSpc>
                <a:spcPct val="110000"/>
              </a:lnSpc>
              <a:buNone/>
            </a:pP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操作结果：构造并返回一个空的线性表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algn="just">
              <a:lnSpc>
                <a:spcPct val="110000"/>
              </a:lnSpc>
              <a:buNone/>
            </a:pP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FreeList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(L);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indent="101600" algn="just">
              <a:lnSpc>
                <a:spcPct val="110000"/>
              </a:lnSpc>
              <a:buNone/>
            </a:pP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初始条件：线性表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已存在。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indent="101600" algn="just">
              <a:lnSpc>
                <a:spcPct val="110000"/>
              </a:lnSpc>
              <a:buNone/>
            </a:pP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操作结果：回收线性表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，返回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NULL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algn="just">
              <a:lnSpc>
                <a:spcPct val="110000"/>
              </a:lnSpc>
              <a:buNone/>
            </a:pP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ClearList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(L);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indent="101600" algn="just">
              <a:lnSpc>
                <a:spcPct val="110000"/>
              </a:lnSpc>
              <a:buNone/>
            </a:pP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初始条件：线性表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已存在。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indent="101600" algn="just">
              <a:lnSpc>
                <a:spcPct val="110000"/>
              </a:lnSpc>
              <a:buNone/>
            </a:pP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操作结果：将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重置为空表。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algn="just">
              <a:lnSpc>
                <a:spcPct val="110000"/>
              </a:lnSpc>
              <a:buNone/>
            </a:pP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ListEmpty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(L);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indent="101600" algn="just">
              <a:lnSpc>
                <a:spcPct val="110000"/>
              </a:lnSpc>
              <a:buNone/>
            </a:pP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初始条件：线性表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已存在。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indent="101600" algn="just">
              <a:lnSpc>
                <a:spcPct val="110000"/>
              </a:lnSpc>
              <a:buNone/>
            </a:pP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操作结果：若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为空表，则返回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，否则返回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558800" algn="just">
              <a:lnSpc>
                <a:spcPct val="110000"/>
              </a:lnSpc>
              <a:buNone/>
            </a:pP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ListLen(L);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indent="101600" algn="just">
              <a:lnSpc>
                <a:spcPct val="110000"/>
              </a:lnSpc>
              <a:buNone/>
            </a:pP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初始条件：线性表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已存在。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indent="101600" algn="just">
              <a:lnSpc>
                <a:spcPct val="110000"/>
              </a:lnSpc>
              <a:buNone/>
            </a:pP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操作结果：返回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中数据元素个数。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algn="just">
              <a:lnSpc>
                <a:spcPct val="110000"/>
              </a:lnSpc>
              <a:buNone/>
            </a:pP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GetElem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(L, </a:t>
            </a: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indent="101600" algn="just">
              <a:lnSpc>
                <a:spcPct val="110000"/>
              </a:lnSpc>
              <a:buNone/>
            </a:pP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初始条件：线性表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已存在，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ListLen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(L)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indent="101600" algn="just">
              <a:lnSpc>
                <a:spcPct val="110000"/>
              </a:lnSpc>
              <a:buNone/>
            </a:pP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操作结果：返回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中第</a:t>
            </a: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个数据元素的值。若不存在，</a:t>
            </a:r>
            <a:endParaRPr lang="en-US" altLang="zh-CN" sz="1400" b="1" kern="100" dirty="0">
              <a:effectLst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629285" indent="101600" algn="just">
              <a:lnSpc>
                <a:spcPct val="110000"/>
              </a:lnSpc>
              <a:buNone/>
            </a:pPr>
            <a:r>
              <a:rPr lang="en-US" altLang="zh-CN" sz="14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则返回出错值</a:t>
            </a: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errV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C7E536-5356-AA4D-25EF-C536D28ABB32}"/>
              </a:ext>
            </a:extLst>
          </p:cNvPr>
          <p:cNvSpPr txBox="1"/>
          <p:nvPr/>
        </p:nvSpPr>
        <p:spPr>
          <a:xfrm>
            <a:off x="6096000" y="664874"/>
            <a:ext cx="5799684" cy="57746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629285" algn="just">
              <a:lnSpc>
                <a:spcPct val="110000"/>
              </a:lnSpc>
              <a:buNone/>
            </a:pPr>
            <a:r>
              <a:rPr lang="en-US" altLang="zh-CN" sz="1400" b="1" kern="1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LocateElem</a:t>
            </a:r>
            <a:r>
              <a:rPr lang="en-US" altLang="zh-CN" sz="1400" b="1" kern="100" dirty="0">
                <a:latin typeface="Courier New" panose="02070309020205020404" pitchFamily="49" charset="0"/>
                <a:cs typeface="Times New Roman" panose="02020603050405020304" pitchFamily="18" charset="0"/>
              </a:rPr>
              <a:t>(L, e, </a:t>
            </a:r>
            <a:r>
              <a:rPr lang="en-US" altLang="zh-CN" sz="1400" b="1" kern="100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equal());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indent="101600" algn="just">
              <a:lnSpc>
                <a:spcPct val="110000"/>
              </a:lnSpc>
              <a:buNone/>
            </a:pPr>
            <a:r>
              <a:rPr lang="zh-CN" altLang="zh-CN" sz="1400" b="1" kern="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初始条件：线性表</a:t>
            </a:r>
            <a:r>
              <a:rPr lang="en-US" altLang="zh-CN" sz="1400" b="1" kern="100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</a:t>
            </a:r>
            <a:r>
              <a:rPr lang="zh-CN" altLang="zh-CN" sz="1400" b="1" kern="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已存在，</a:t>
            </a:r>
            <a:r>
              <a:rPr lang="en-US" altLang="zh-CN" sz="1400" b="1" kern="100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equal()</a:t>
            </a:r>
            <a:r>
              <a:rPr lang="zh-CN" altLang="zh-CN" sz="1400" b="1" kern="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是数据元素判定函数。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282700" indent="-538480" algn="just">
              <a:lnSpc>
                <a:spcPct val="110000"/>
              </a:lnSpc>
              <a:buNone/>
            </a:pPr>
            <a:r>
              <a:rPr lang="zh-CN" altLang="zh-CN" sz="1400" b="1" kern="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操作结果：返回</a:t>
            </a:r>
            <a:r>
              <a:rPr lang="en-US" altLang="zh-CN" sz="1400" b="1" kern="100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</a:t>
            </a:r>
            <a:r>
              <a:rPr lang="zh-CN" altLang="zh-CN" sz="1400" b="1" kern="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中第</a:t>
            </a:r>
            <a:r>
              <a:rPr lang="en-US" altLang="zh-CN" sz="1400" b="1" kern="100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</a:t>
            </a:r>
            <a:r>
              <a:rPr lang="zh-CN" altLang="zh-CN" sz="1400" b="1" kern="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个与</a:t>
            </a:r>
            <a:r>
              <a:rPr lang="en-US" altLang="zh-CN" sz="1400" b="1" kern="100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</a:t>
            </a:r>
            <a:r>
              <a:rPr lang="zh-CN" altLang="zh-CN" sz="1400" b="1" kern="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满足关系</a:t>
            </a:r>
            <a:r>
              <a:rPr lang="en-US" altLang="zh-CN" sz="1400" b="1" kern="100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equal()</a:t>
            </a:r>
            <a:r>
              <a:rPr lang="zh-CN" altLang="zh-CN" sz="1400" b="1" kern="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的数据元素的位置。若这样的数据</a:t>
            </a:r>
            <a:r>
              <a:rPr lang="zh-CN" altLang="zh-CN" sz="1400" b="1" kern="100" dirty="0">
                <a:latin typeface="Courier New" panose="02070309020205020404" pitchFamily="49" charset="0"/>
                <a:cs typeface="Courier New" panose="02070309020205020404" pitchFamily="49" charset="0"/>
              </a:rPr>
              <a:t>元素不存在，则返回值为</a:t>
            </a:r>
            <a:r>
              <a:rPr lang="en-US" altLang="zh-CN" sz="1400" b="1" kern="100" dirty="0">
                <a:latin typeface="Courier New" panose="02070309020205020404" pitchFamily="49" charset="0"/>
                <a:cs typeface="Times New Roman" panose="02020603050405020304" pitchFamily="18" charset="0"/>
              </a:rPr>
              <a:t>0</a:t>
            </a:r>
            <a:r>
              <a:rPr lang="zh-CN" altLang="zh-CN" sz="1400" b="1" kern="100" dirty="0">
                <a:latin typeface="Courier New" panose="02070309020205020404" pitchFamily="49" charset="0"/>
                <a:cs typeface="Courier New" panose="02070309020205020404" pitchFamily="49" charset="0"/>
              </a:rPr>
              <a:t>或</a:t>
            </a:r>
            <a:r>
              <a:rPr lang="en-US" altLang="zh-CN" sz="1400" b="1" kern="100" dirty="0">
                <a:latin typeface="Courier New" panose="02070309020205020404" pitchFamily="49" charset="0"/>
                <a:cs typeface="Times New Roman" panose="02020603050405020304" pitchFamily="18" charset="0"/>
              </a:rPr>
              <a:t>null</a:t>
            </a:r>
            <a:r>
              <a:rPr lang="zh-CN" altLang="zh-CN" sz="1400" b="1" kern="100" dirty="0">
                <a:latin typeface="Courier New" panose="02070309020205020404" pitchFamily="49" charset="0"/>
                <a:cs typeface="Courier New" panose="02070309020205020404" pitchFamily="49" charset="0"/>
              </a:rPr>
              <a:t>。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algn="just">
              <a:lnSpc>
                <a:spcPct val="110000"/>
              </a:lnSpc>
              <a:buNone/>
            </a:pP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PrevElem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(L, e);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indent="101600" algn="just">
              <a:lnSpc>
                <a:spcPct val="110000"/>
              </a:lnSpc>
              <a:buNone/>
            </a:pP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初始条件：线性表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已存在。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282700" indent="-538480" algn="just">
              <a:lnSpc>
                <a:spcPct val="110000"/>
              </a:lnSpc>
              <a:buNone/>
            </a:pP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操作结果：若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是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的数据元素，且不是第一个，</a:t>
            </a:r>
            <a:endParaRPr lang="en-US" altLang="zh-CN" sz="1400" b="1" kern="100" dirty="0">
              <a:effectLst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1282700" indent="-538480" algn="just">
              <a:lnSpc>
                <a:spcPct val="110000"/>
              </a:lnSpc>
              <a:buNone/>
            </a:pPr>
            <a:r>
              <a:rPr lang="en-US" altLang="zh-CN" sz="14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则用返回它的前驱元素值，否则返回出错值</a:t>
            </a: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errV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algn="just">
              <a:lnSpc>
                <a:spcPct val="110000"/>
              </a:lnSpc>
              <a:buNone/>
            </a:pP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NextElem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(L, e);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indent="101600" algn="just">
              <a:lnSpc>
                <a:spcPct val="110000"/>
              </a:lnSpc>
              <a:buNone/>
            </a:pP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初始条件：线性表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已存在。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282700" indent="-538480" algn="just">
              <a:lnSpc>
                <a:spcPct val="110000"/>
              </a:lnSpc>
              <a:buNone/>
            </a:pP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操作结果：若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是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的数据元素，且不是最后一个，</a:t>
            </a:r>
            <a:endParaRPr lang="en-US" altLang="zh-CN" sz="1400" b="1" kern="100" dirty="0">
              <a:effectLst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1282700" indent="-538480" algn="just">
              <a:lnSpc>
                <a:spcPct val="110000"/>
              </a:lnSpc>
              <a:buNone/>
            </a:pPr>
            <a:r>
              <a:rPr lang="en-US" altLang="zh-CN" sz="14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则用返回它的后继元素值，否则返回出错值</a:t>
            </a: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errV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algn="just">
              <a:lnSpc>
                <a:spcPct val="110000"/>
              </a:lnSpc>
              <a:buNone/>
            </a:pP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ListInsert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(L, </a:t>
            </a: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e);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indent="101600" algn="just">
              <a:lnSpc>
                <a:spcPct val="110000"/>
              </a:lnSpc>
              <a:buNone/>
            </a:pP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初始条件：线性表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已存在，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ListLen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(L)+1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indent="101600" algn="just">
              <a:lnSpc>
                <a:spcPct val="110000"/>
              </a:lnSpc>
              <a:buNone/>
            </a:pP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操作结果：在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中第</a:t>
            </a:r>
            <a:r>
              <a:rPr lang="en-US" altLang="zh-CN" sz="1400" b="1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4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个位置插入新的数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据元素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的长度加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algn="just">
              <a:lnSpc>
                <a:spcPct val="110000"/>
              </a:lnSpc>
              <a:buNone/>
            </a:pP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ListDelete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(L, </a:t>
            </a: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indent="101600" algn="just">
              <a:lnSpc>
                <a:spcPct val="110000"/>
              </a:lnSpc>
              <a:buNone/>
            </a:pP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初始条件：线性表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已存在且非空，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ListLen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(L)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r>
              <a:rPr lang="zh-CN" altLang="zh-CN" sz="1400" b="1" kern="100" dirty="0">
                <a:effectLst/>
                <a:latin typeface="等线" panose="02010600030101010101" pitchFamily="2" charset="-122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228725" indent="-491490" algn="just">
              <a:lnSpc>
                <a:spcPct val="110000"/>
              </a:lnSpc>
              <a:buNone/>
            </a:pP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操作结果：删除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的第</a:t>
            </a: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个数据元素，并返回其值，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的长度减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en-US" altLang="zh-CN" sz="1400" b="1" kern="100" dirty="0">
              <a:effectLst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1228725" indent="-491490" algn="just">
              <a:lnSpc>
                <a:spcPct val="110000"/>
              </a:lnSpc>
              <a:buNone/>
            </a:pPr>
            <a:r>
              <a:rPr lang="en-US" altLang="zh-CN" sz="14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若该元素不存在，则返回出错值</a:t>
            </a: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errV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algn="just">
              <a:lnSpc>
                <a:spcPct val="110000"/>
              </a:lnSpc>
              <a:buNone/>
            </a:pPr>
            <a:r>
              <a:rPr lang="en-US" altLang="zh-CN" sz="14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ListTraverse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(L, visit());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9285" indent="101600" algn="just">
              <a:lnSpc>
                <a:spcPct val="110000"/>
              </a:lnSpc>
              <a:buNone/>
            </a:pP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初始条件：线性表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已存在。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282700" indent="-538480" algn="just">
              <a:lnSpc>
                <a:spcPct val="110000"/>
              </a:lnSpc>
              <a:buNone/>
            </a:pP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操作结果：依次对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的每个数据元素调用函数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visit()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lang="en-US" altLang="zh-CN" sz="1400" b="1" kern="100" dirty="0">
              <a:effectLst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1282700" indent="-538480" algn="just">
              <a:lnSpc>
                <a:spcPct val="110000"/>
              </a:lnSpc>
              <a:buNone/>
            </a:pPr>
            <a:r>
              <a:rPr lang="en-US" altLang="zh-CN" sz="1400" b="1" kern="1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  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一旦</a:t>
            </a:r>
            <a:r>
              <a:rPr lang="en-US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visit()</a:t>
            </a:r>
            <a:r>
              <a:rPr lang="zh-CN" altLang="zh-CN" sz="14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失败，则操作失败。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9240" algn="just">
              <a:lnSpc>
                <a:spcPct val="110000"/>
              </a:lnSpc>
              <a:spcAft>
                <a:spcPts val="600"/>
              </a:spcAft>
            </a:pP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}ADT List</a:t>
            </a:r>
            <a:endParaRPr lang="zh-CN" altLang="zh-CN" sz="16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204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A748F4-CED8-54DA-05D6-6F200E24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E65E174-E41A-BF91-0F6B-C2C1976F1A6F}"/>
              </a:ext>
            </a:extLst>
          </p:cNvPr>
          <p:cNvSpPr txBox="1"/>
          <p:nvPr/>
        </p:nvSpPr>
        <p:spPr>
          <a:xfrm>
            <a:off x="570919" y="489407"/>
            <a:ext cx="7974311" cy="229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15000"/>
              </a:lnSpc>
              <a:buNone/>
            </a:pPr>
            <a:r>
              <a:rPr lang="en-US" altLang="zh-CN" sz="1800" b="1" kern="100" dirty="0"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zh-CN" sz="1800" b="1" kern="100" dirty="0"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1800" b="1" kern="100" dirty="0"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2-1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假设利用两个线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性表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LA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楷体" panose="02010609060101010101" pitchFamily="49" charset="-122"/>
                <a:cs typeface="Courier New" panose="02070309020205020404" pitchFamily="49" charset="0"/>
              </a:rPr>
              <a:t>和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楷体" panose="02010609060101010101" pitchFamily="49" charset="-122"/>
                <a:cs typeface="Courier New" panose="02070309020205020404" pitchFamily="49" charset="0"/>
              </a:rPr>
              <a:t>分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别表示集合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（即线性表中的数据元素即为集合中的成员），现要求一个新的集合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A=A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15000"/>
              </a:lnSpc>
              <a:buNone/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这就要求对线性表作如下操作：扩大线性表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LA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，将存在于线性表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中而不存在于线性表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LA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中的数据元素插入到线性表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LA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中去。只要从线性表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中依次取得每个数据元素，并依值在线性表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LA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中进行查访，若不存在，则插入之。</a:t>
            </a:r>
            <a:endParaRPr lang="en-US" altLang="zh-CN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15000"/>
              </a:lnSpc>
              <a:buNone/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上述操作过程可用算法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2.1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描述之，其中调用了线性表的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个基本操作。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LocateElem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Courier New" panose="02070309020205020404" pitchFamily="49" charset="0"/>
              </a:rPr>
              <a:t>的第三个参数是判等函数，判别两个元素是否相等。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E8AADB-9C24-4062-FD6A-A46890C28DF6}"/>
              </a:ext>
            </a:extLst>
          </p:cNvPr>
          <p:cNvSpPr txBox="1"/>
          <p:nvPr/>
        </p:nvSpPr>
        <p:spPr>
          <a:xfrm>
            <a:off x="570919" y="3031662"/>
            <a:ext cx="9737346" cy="31323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69240">
              <a:lnSpc>
                <a:spcPct val="110000"/>
              </a:lnSpc>
            </a:pP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Union(List La, List 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  </a:t>
            </a:r>
            <a:r>
              <a:rPr lang="en-US" altLang="zh-CN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en-US" altLang="zh-CN" b="1" kern="1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kern="100" dirty="0">
                <a:solidFill>
                  <a:srgbClr val="C00000"/>
                </a:solidFill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算法  </a:t>
            </a:r>
            <a:r>
              <a:rPr lang="en-US" altLang="zh-CN" b="1" kern="100" dirty="0">
                <a:solidFill>
                  <a:srgbClr val="C00000"/>
                </a:solidFill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2.1</a:t>
            </a:r>
            <a:endParaRPr lang="en-US" altLang="zh-CN" sz="1800" b="1" kern="100" dirty="0">
              <a:solidFill>
                <a:srgbClr val="C00000"/>
              </a:solidFill>
              <a:effectLst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9240">
              <a:lnSpc>
                <a:spcPct val="110000"/>
              </a:lnSpc>
              <a:buNone/>
            </a:pPr>
            <a:r>
              <a:rPr lang="en-US" altLang="zh-CN" sz="1800" b="1" kern="1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将所有在线性表</a:t>
            </a:r>
            <a:r>
              <a:rPr lang="en-US" altLang="zh-CN" sz="1800" b="1" kern="100" dirty="0" err="1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zh-CN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中但不在</a:t>
            </a:r>
            <a:r>
              <a:rPr lang="en-US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La</a:t>
            </a:r>
            <a:r>
              <a:rPr lang="zh-CN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中的数据元素插入到</a:t>
            </a:r>
            <a:r>
              <a:rPr lang="en-US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La</a:t>
            </a:r>
            <a:r>
              <a:rPr lang="zh-CN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</a:p>
          <a:p>
            <a:pPr marL="269240" indent="153035">
              <a:lnSpc>
                <a:spcPct val="110000"/>
              </a:lnSpc>
              <a:buNone/>
            </a:pP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int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m = ListLen(La);              	</a:t>
            </a:r>
            <a:r>
              <a:rPr lang="en-US" altLang="zh-CN" sz="1800" b="1" kern="10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800" b="1" kern="10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求线性表</a:t>
            </a:r>
            <a:r>
              <a:rPr lang="en-US" altLang="zh-CN" sz="1800" b="1" kern="10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LA</a:t>
            </a:r>
            <a:r>
              <a:rPr lang="zh-CN" altLang="zh-CN" sz="1800" b="1" kern="10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长度</a:t>
            </a:r>
            <a:r>
              <a:rPr lang="en-US" altLang="zh-CN" sz="1800" b="1" kern="10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 </a:t>
            </a:r>
            <a:endParaRPr lang="zh-CN" altLang="zh-CN" sz="1800" b="1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9240" indent="153035">
              <a:lnSpc>
                <a:spcPct val="110000"/>
              </a:lnSpc>
              <a:buNone/>
            </a:pP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int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 = ListLen(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              	</a:t>
            </a:r>
            <a:r>
              <a:rPr lang="en-US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求线性表</a:t>
            </a:r>
            <a:r>
              <a:rPr lang="en-US" altLang="zh-CN" sz="1800" b="1" kern="100" dirty="0" err="1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zh-CN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长度</a:t>
            </a:r>
            <a:r>
              <a:rPr lang="en-US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endParaRPr lang="zh-CN" altLang="zh-CN" sz="1800" b="1" kern="100" dirty="0">
              <a:solidFill>
                <a:srgbClr val="0070C0"/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9240" indent="153035">
              <a:lnSpc>
                <a:spcPct val="110000"/>
              </a:lnSpc>
              <a:buNone/>
            </a:pP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for 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=1; 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&lt;=n; 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++) 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	</a:t>
            </a:r>
            <a:r>
              <a:rPr lang="en-US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en-US" altLang="zh-CN" sz="1800" b="1" kern="100" dirty="0" err="1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依次为</a:t>
            </a:r>
            <a:r>
              <a:rPr lang="en-US" altLang="zh-CN" sz="1800" b="1" kern="100" dirty="0" err="1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zh-CN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中逐个元素的位序</a:t>
            </a:r>
          </a:p>
          <a:p>
            <a:pPr marL="269240" indent="304800">
              <a:lnSpc>
                <a:spcPct val="110000"/>
              </a:lnSpc>
              <a:buNone/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 = 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GetElem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      </a:t>
            </a:r>
            <a:r>
              <a:rPr lang="en-US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取</a:t>
            </a:r>
            <a:r>
              <a:rPr lang="en-US" altLang="zh-CN" sz="1800" b="1" kern="100" dirty="0" err="1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zh-CN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中第</a:t>
            </a:r>
            <a:r>
              <a:rPr lang="en-US" altLang="zh-CN" sz="1800" b="1" kern="100" dirty="0" err="1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个数据元素赋给</a:t>
            </a:r>
            <a:r>
              <a:rPr lang="en-US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lang="zh-CN" altLang="zh-CN" sz="1800" b="1" kern="100" dirty="0">
              <a:solidFill>
                <a:srgbClr val="0070C0"/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9240" indent="306070">
              <a:lnSpc>
                <a:spcPct val="110000"/>
              </a:lnSpc>
              <a:buNone/>
            </a:pP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(0 ==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LocateElem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(La, e, equal))	</a:t>
            </a:r>
            <a:r>
              <a:rPr lang="en-US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La</a:t>
            </a:r>
            <a:r>
              <a:rPr lang="zh-CN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中不存在和</a:t>
            </a:r>
            <a:r>
              <a:rPr lang="en-US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相同的数据元素</a:t>
            </a:r>
          </a:p>
          <a:p>
            <a:pPr marL="269240" indent="457200">
              <a:lnSpc>
                <a:spcPct val="110000"/>
              </a:lnSpc>
              <a:buNone/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ListInsert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(La, ++m, e);        	</a:t>
            </a:r>
            <a:r>
              <a:rPr lang="en-US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加</a:t>
            </a:r>
            <a:r>
              <a:rPr lang="en-US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后插入</a:t>
            </a:r>
            <a:r>
              <a:rPr lang="en-US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La</a:t>
            </a:r>
            <a:r>
              <a:rPr lang="zh-CN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位置</a:t>
            </a:r>
            <a:r>
              <a:rPr lang="en-US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sz="1800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（表尾）</a:t>
            </a:r>
          </a:p>
          <a:p>
            <a:pPr marL="269240" indent="153035">
              <a:lnSpc>
                <a:spcPct val="110000"/>
              </a:lnSpc>
              <a:buNone/>
            </a:pP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9240">
              <a:lnSpc>
                <a:spcPct val="110000"/>
              </a:lnSpc>
              <a:buNone/>
            </a:pP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08A207-285A-C344-86C9-F55D8C6BA778}"/>
              </a:ext>
            </a:extLst>
          </p:cNvPr>
          <p:cNvSpPr txBox="1"/>
          <p:nvPr/>
        </p:nvSpPr>
        <p:spPr>
          <a:xfrm>
            <a:off x="8995468" y="1380897"/>
            <a:ext cx="2775692" cy="2387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zh-CN" sz="1800" b="1" dirty="0">
                <a:solidFill>
                  <a:srgbClr val="000000"/>
                </a:solidFill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本例的集合元素不局限</a:t>
            </a:r>
            <a:r>
              <a:rPr lang="zh-CN" altLang="en-US" sz="1800" b="1" dirty="0">
                <a:solidFill>
                  <a:srgbClr val="000000"/>
                </a:solidFill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于</a:t>
            </a:r>
            <a:r>
              <a:rPr lang="zh-CN" altLang="zh-CN" sz="1800" b="1" dirty="0">
                <a:solidFill>
                  <a:srgbClr val="000000"/>
                </a:solidFill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限定范围的整数，可以是自定义的类型。并且，用了一个已实现的数据结构来表示集合，在后续章节将可看到，可用更多</a:t>
            </a:r>
            <a:r>
              <a:rPr lang="zh-CN" altLang="en-US" sz="1800" b="1" dirty="0">
                <a:solidFill>
                  <a:srgbClr val="000000"/>
                </a:solidFill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不同</a:t>
            </a:r>
            <a:r>
              <a:rPr lang="zh-CN" altLang="zh-CN" sz="1800" b="1" dirty="0">
                <a:solidFill>
                  <a:srgbClr val="000000"/>
                </a:solidFill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的数据结构表示集合。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660098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文本框 7">
            <a:extLst>
              <a:ext uri="{FF2B5EF4-FFF2-40B4-BE49-F238E27FC236}">
                <a16:creationId xmlns:a16="http://schemas.microsoft.com/office/drawing/2014/main" id="{AC374680-E808-8515-0D01-D9E179B1645F}"/>
              </a:ext>
            </a:extLst>
          </p:cNvPr>
          <p:cNvSpPr txBox="1"/>
          <p:nvPr/>
        </p:nvSpPr>
        <p:spPr>
          <a:xfrm>
            <a:off x="7759891" y="635146"/>
            <a:ext cx="587022" cy="584775"/>
          </a:xfrm>
          <a:prstGeom prst="rect">
            <a:avLst/>
          </a:prstGeom>
          <a:noFill/>
          <a:ln w="38100" cmpd="sng">
            <a:noFill/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alibri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16" name="文本框 7">
            <a:extLst>
              <a:ext uri="{FF2B5EF4-FFF2-40B4-BE49-F238E27FC236}">
                <a16:creationId xmlns:a16="http://schemas.microsoft.com/office/drawing/2014/main" id="{1A5B182B-7BD9-9D2E-3BCF-017E6C4D2DB3}"/>
              </a:ext>
            </a:extLst>
          </p:cNvPr>
          <p:cNvSpPr txBox="1"/>
          <p:nvPr/>
        </p:nvSpPr>
        <p:spPr>
          <a:xfrm>
            <a:off x="8356790" y="635146"/>
            <a:ext cx="587022" cy="584775"/>
          </a:xfrm>
          <a:prstGeom prst="rect">
            <a:avLst/>
          </a:prstGeom>
          <a:noFill/>
          <a:ln w="38100" cmpd="sng">
            <a:noFill/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alibri"/>
                <a:ea typeface="等线" panose="02010600030101010101" pitchFamily="2" charset="-122"/>
              </a:rPr>
              <a:t>3</a:t>
            </a:r>
          </a:p>
        </p:txBody>
      </p:sp>
      <p:sp>
        <p:nvSpPr>
          <p:cNvPr id="117" name="文本框 7">
            <a:extLst>
              <a:ext uri="{FF2B5EF4-FFF2-40B4-BE49-F238E27FC236}">
                <a16:creationId xmlns:a16="http://schemas.microsoft.com/office/drawing/2014/main" id="{D8230CC0-F656-A778-E7FE-8E82AEEF8BBE}"/>
              </a:ext>
            </a:extLst>
          </p:cNvPr>
          <p:cNvSpPr txBox="1"/>
          <p:nvPr/>
        </p:nvSpPr>
        <p:spPr>
          <a:xfrm>
            <a:off x="8953689" y="635146"/>
            <a:ext cx="587022" cy="584775"/>
          </a:xfrm>
          <a:prstGeom prst="rect">
            <a:avLst/>
          </a:prstGeom>
          <a:noFill/>
          <a:ln w="38100" cmpd="sng">
            <a:noFill/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alibri"/>
                <a:ea typeface="等线" panose="02010600030101010101" pitchFamily="2" charset="-122"/>
              </a:rPr>
              <a:t>5</a:t>
            </a:r>
          </a:p>
        </p:txBody>
      </p:sp>
      <p:sp>
        <p:nvSpPr>
          <p:cNvPr id="118" name="文本框 7">
            <a:extLst>
              <a:ext uri="{FF2B5EF4-FFF2-40B4-BE49-F238E27FC236}">
                <a16:creationId xmlns:a16="http://schemas.microsoft.com/office/drawing/2014/main" id="{FCA047FE-A628-940B-114E-8858DBFB8590}"/>
              </a:ext>
            </a:extLst>
          </p:cNvPr>
          <p:cNvSpPr txBox="1"/>
          <p:nvPr/>
        </p:nvSpPr>
        <p:spPr>
          <a:xfrm>
            <a:off x="9532740" y="635146"/>
            <a:ext cx="587022" cy="584775"/>
          </a:xfrm>
          <a:prstGeom prst="rect">
            <a:avLst/>
          </a:prstGeom>
          <a:noFill/>
          <a:ln w="38100" cmpd="sng">
            <a:noFill/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alibri"/>
                <a:ea typeface="等线" panose="02010600030101010101" pitchFamily="2" charset="-122"/>
              </a:rPr>
              <a:t>7</a:t>
            </a:r>
          </a:p>
        </p:txBody>
      </p:sp>
      <p:sp>
        <p:nvSpPr>
          <p:cNvPr id="119" name="文本框 7">
            <a:extLst>
              <a:ext uri="{FF2B5EF4-FFF2-40B4-BE49-F238E27FC236}">
                <a16:creationId xmlns:a16="http://schemas.microsoft.com/office/drawing/2014/main" id="{BFDAD359-BADB-748B-57E0-9F5F8A248FF7}"/>
              </a:ext>
            </a:extLst>
          </p:cNvPr>
          <p:cNvSpPr txBox="1"/>
          <p:nvPr/>
        </p:nvSpPr>
        <p:spPr>
          <a:xfrm>
            <a:off x="10120715" y="635146"/>
            <a:ext cx="587022" cy="584775"/>
          </a:xfrm>
          <a:prstGeom prst="rect">
            <a:avLst/>
          </a:prstGeom>
          <a:noFill/>
          <a:ln w="38100" cmpd="sng">
            <a:noFill/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endParaRPr lang="en-US" altLang="zh-CN" sz="3200" noProof="1">
              <a:solidFill>
                <a:srgbClr val="0000CC"/>
              </a:solidFill>
              <a:effectLst>
                <a:outerShdw blurRad="38100" dist="38100" dir="2700000">
                  <a:srgbClr val="000000"/>
                </a:outerShdw>
              </a:effectLst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120" name="文本框 7">
            <a:extLst>
              <a:ext uri="{FF2B5EF4-FFF2-40B4-BE49-F238E27FC236}">
                <a16:creationId xmlns:a16="http://schemas.microsoft.com/office/drawing/2014/main" id="{CEEC72D5-7460-68CC-8B15-DA08436C2721}"/>
              </a:ext>
            </a:extLst>
          </p:cNvPr>
          <p:cNvSpPr txBox="1"/>
          <p:nvPr/>
        </p:nvSpPr>
        <p:spPr>
          <a:xfrm>
            <a:off x="10707737" y="635146"/>
            <a:ext cx="587022" cy="584775"/>
          </a:xfrm>
          <a:prstGeom prst="rect">
            <a:avLst/>
          </a:prstGeom>
          <a:noFill/>
          <a:ln w="38100" cmpd="sng">
            <a:noFill/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endParaRPr lang="en-US" altLang="zh-CN" sz="3200" noProof="1">
              <a:solidFill>
                <a:srgbClr val="0000CC"/>
              </a:solidFill>
              <a:effectLst>
                <a:outerShdw blurRad="38100" dist="38100" dir="2700000">
                  <a:srgbClr val="000000"/>
                </a:outerShdw>
              </a:effectLst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121" name="Text Box 2">
            <a:extLst>
              <a:ext uri="{FF2B5EF4-FFF2-40B4-BE49-F238E27FC236}">
                <a16:creationId xmlns:a16="http://schemas.microsoft.com/office/drawing/2014/main" id="{0B1CCB47-AD74-6C79-D857-F76F10D1C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91" y="3602925"/>
            <a:ext cx="10713617" cy="28623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ysClr val="windowText" lastClr="000000"/>
            </a:solidFill>
          </a:ln>
          <a:effectLst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Status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union(List La, List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Lb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)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{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1D15B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Courier New" panose="02070309020205020404" pitchFamily="49" charset="0"/>
              </a:rPr>
              <a:t>//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Courier New" panose="02070309020205020404" pitchFamily="49" charset="0"/>
              </a:rPr>
              <a:t>算法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Courier New" panose="02070309020205020404" pitchFamily="49" charset="0"/>
              </a:rPr>
              <a:t>2.1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D15B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Courier New" panose="02070309020205020404" pitchFamily="49" charset="0"/>
              </a:rPr>
              <a:t>求集合的并集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1D15BD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Courier New" panose="02070309020205020404" pitchFamily="49" charset="0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1D15B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Courier New" panose="02070309020205020404" pitchFamily="49" charset="0"/>
              </a:rPr>
              <a:t>//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D15B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Courier New" panose="02070309020205020404" pitchFamily="49" charset="0"/>
              </a:rPr>
              <a:t>将所有在线性表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Courier New" panose="02070309020205020404" pitchFamily="49" charset="0"/>
              </a:rPr>
              <a:t>Lb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D15B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Courier New" panose="02070309020205020404" pitchFamily="49" charset="0"/>
              </a:rPr>
              <a:t>中但不在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Courier New" panose="02070309020205020404" pitchFamily="49" charset="0"/>
              </a:rPr>
              <a:t>La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D15B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Courier New" panose="02070309020205020404" pitchFamily="49" charset="0"/>
              </a:rPr>
              <a:t>中的数据元素插入到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Courier New" panose="02070309020205020404" pitchFamily="49" charset="0"/>
              </a:rPr>
              <a:t>La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D15B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Courier New" panose="02070309020205020404" pitchFamily="49" charset="0"/>
              </a:rPr>
              <a:t>中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La_len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ListLength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(La);   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Lb_len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ListLength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Lb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);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for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i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=1;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i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&lt;=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Lb_len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;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i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++)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{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 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GetElem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Lb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i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, e);       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1D15B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Courier New" panose="02070309020205020404" pitchFamily="49" charset="0"/>
              </a:rPr>
              <a:t>//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D15B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Courier New" panose="02070309020205020404" pitchFamily="49" charset="0"/>
              </a:rPr>
              <a:t>取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1D15B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Courier New" panose="02070309020205020404" pitchFamily="49" charset="0"/>
              </a:rPr>
              <a:t>Lb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D15B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Courier New" panose="02070309020205020404" pitchFamily="49" charset="0"/>
              </a:rPr>
              <a:t>中第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Courier New" panose="02070309020205020404" pitchFamily="49" charset="0"/>
              </a:rPr>
              <a:t>i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D15B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Courier New" panose="02070309020205020404" pitchFamily="49" charset="0"/>
              </a:rPr>
              <a:t>个数据元素赋给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Courier New" panose="02070309020205020404" pitchFamily="49" charset="0"/>
              </a:rPr>
              <a:t>e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if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(!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LocateElem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(La,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e,equal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)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1D15B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Courier New" panose="02070309020205020404" pitchFamily="49" charset="0"/>
              </a:rPr>
              <a:t>//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Courier New" panose="02070309020205020404" pitchFamily="49" charset="0"/>
              </a:rPr>
              <a:t>La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D15B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Courier New" panose="02070309020205020404" pitchFamily="49" charset="0"/>
              </a:rPr>
              <a:t>中不存在和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Courier New" panose="02070309020205020404" pitchFamily="49" charset="0"/>
              </a:rPr>
              <a:t>e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D15B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Courier New" panose="02070309020205020404" pitchFamily="49" charset="0"/>
              </a:rPr>
              <a:t>相同的数据元素，则插入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1D15BD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Courier New" panose="02070309020205020404" pitchFamily="49" charset="0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     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ListInsert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(La, ++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La_len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, e);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}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}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1D15BD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Courier New" panose="02070309020205020404" pitchFamily="49" charset="0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0A8B0618-F170-4311-4C36-8757831F6A65}"/>
              </a:ext>
            </a:extLst>
          </p:cNvPr>
          <p:cNvSpPr txBox="1"/>
          <p:nvPr/>
        </p:nvSpPr>
        <p:spPr>
          <a:xfrm>
            <a:off x="6605825" y="620688"/>
            <a:ext cx="1372532" cy="584775"/>
          </a:xfrm>
          <a:prstGeom prst="rect">
            <a:avLst/>
          </a:prstGeom>
          <a:noFill/>
          <a:ln w="57150">
            <a:noFill/>
          </a:ln>
        </p:spPr>
        <p:txBody>
          <a:bodyPr wrap="square" anchor="b">
            <a:spAutoFit/>
          </a:bodyPr>
          <a:lstStyle/>
          <a:p>
            <a:pPr algn="ctr" defTabSz="457200" fontAlgn="ctr">
              <a:spcBef>
                <a:spcPct val="50000"/>
              </a:spcBef>
              <a:defRPr/>
            </a:pPr>
            <a:r>
              <a:rPr lang="en-US" altLang="zh-CN" sz="3200" b="1" noProof="1">
                <a:solidFill>
                  <a:srgbClr val="C00000"/>
                </a:solidFill>
                <a:latin typeface="Calibri"/>
                <a:ea typeface="等线" panose="02010600030101010101" pitchFamily="2" charset="-122"/>
              </a:rPr>
              <a:t>LA = (</a:t>
            </a:r>
            <a:endParaRPr lang="zh-CN" altLang="en-US" sz="3200" b="1" noProof="1">
              <a:solidFill>
                <a:srgbClr val="C00000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1B755D94-79CB-0AFF-C281-66133C3C483B}"/>
              </a:ext>
            </a:extLst>
          </p:cNvPr>
          <p:cNvSpPr txBox="1"/>
          <p:nvPr/>
        </p:nvSpPr>
        <p:spPr>
          <a:xfrm>
            <a:off x="6638913" y="2003298"/>
            <a:ext cx="1271168" cy="584775"/>
          </a:xfrm>
          <a:prstGeom prst="rect">
            <a:avLst/>
          </a:prstGeom>
          <a:noFill/>
          <a:ln w="57150">
            <a:noFill/>
          </a:ln>
        </p:spPr>
        <p:txBody>
          <a:bodyPr wrap="square" anchor="b">
            <a:spAutoFit/>
          </a:bodyPr>
          <a:lstStyle/>
          <a:p>
            <a:pPr algn="ctr" defTabSz="457200" fontAlgn="ctr">
              <a:spcBef>
                <a:spcPct val="50000"/>
              </a:spcBef>
              <a:defRPr/>
            </a:pPr>
            <a:r>
              <a:rPr lang="en-US" altLang="zh-CN" sz="3200" b="1" noProof="1">
                <a:solidFill>
                  <a:srgbClr val="C00000"/>
                </a:solidFill>
                <a:latin typeface="Calibri"/>
                <a:ea typeface="等线" panose="02010600030101010101" pitchFamily="2" charset="-122"/>
              </a:rPr>
              <a:t>LB = (</a:t>
            </a:r>
            <a:endParaRPr lang="zh-CN" altLang="en-US" sz="3200" b="1" noProof="1">
              <a:solidFill>
                <a:srgbClr val="C00000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124" name="文本框 7">
            <a:extLst>
              <a:ext uri="{FF2B5EF4-FFF2-40B4-BE49-F238E27FC236}">
                <a16:creationId xmlns:a16="http://schemas.microsoft.com/office/drawing/2014/main" id="{CC7D3BCA-CFF9-B9F7-C195-F804FC267323}"/>
              </a:ext>
            </a:extLst>
          </p:cNvPr>
          <p:cNvSpPr txBox="1"/>
          <p:nvPr/>
        </p:nvSpPr>
        <p:spPr>
          <a:xfrm>
            <a:off x="7759891" y="2030458"/>
            <a:ext cx="587022" cy="584775"/>
          </a:xfrm>
          <a:prstGeom prst="rect">
            <a:avLst/>
          </a:prstGeom>
          <a:noFill/>
          <a:ln w="38100" cmpd="sng">
            <a:noFill/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alibri"/>
                <a:ea typeface="等线" panose="02010600030101010101" pitchFamily="2" charset="-122"/>
              </a:rPr>
              <a:t>2</a:t>
            </a:r>
          </a:p>
        </p:txBody>
      </p:sp>
      <p:sp>
        <p:nvSpPr>
          <p:cNvPr id="125" name="文本框 7">
            <a:extLst>
              <a:ext uri="{FF2B5EF4-FFF2-40B4-BE49-F238E27FC236}">
                <a16:creationId xmlns:a16="http://schemas.microsoft.com/office/drawing/2014/main" id="{88E73F09-C4EA-9EE3-2884-82C79C433F20}"/>
              </a:ext>
            </a:extLst>
          </p:cNvPr>
          <p:cNvSpPr txBox="1"/>
          <p:nvPr/>
        </p:nvSpPr>
        <p:spPr>
          <a:xfrm>
            <a:off x="8356790" y="2030458"/>
            <a:ext cx="587022" cy="584775"/>
          </a:xfrm>
          <a:prstGeom prst="rect">
            <a:avLst/>
          </a:prstGeom>
          <a:noFill/>
          <a:ln w="38100" cmpd="sng">
            <a:noFill/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alibri"/>
                <a:ea typeface="等线" panose="02010600030101010101" pitchFamily="2" charset="-122"/>
              </a:rPr>
              <a:t>3</a:t>
            </a:r>
          </a:p>
        </p:txBody>
      </p:sp>
      <p:sp>
        <p:nvSpPr>
          <p:cNvPr id="126" name="文本框 7">
            <a:extLst>
              <a:ext uri="{FF2B5EF4-FFF2-40B4-BE49-F238E27FC236}">
                <a16:creationId xmlns:a16="http://schemas.microsoft.com/office/drawing/2014/main" id="{C7273DD0-9B16-1574-1322-06C3A98A0CAB}"/>
              </a:ext>
            </a:extLst>
          </p:cNvPr>
          <p:cNvSpPr txBox="1"/>
          <p:nvPr/>
        </p:nvSpPr>
        <p:spPr>
          <a:xfrm>
            <a:off x="8944765" y="2030458"/>
            <a:ext cx="587022" cy="584775"/>
          </a:xfrm>
          <a:prstGeom prst="rect">
            <a:avLst/>
          </a:prstGeom>
          <a:noFill/>
          <a:ln w="38100" cmpd="sng">
            <a:noFill/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alibri"/>
                <a:ea typeface="等线" panose="02010600030101010101" pitchFamily="2" charset="-122"/>
              </a:rPr>
              <a:t>4</a:t>
            </a:r>
          </a:p>
        </p:txBody>
      </p:sp>
      <p:sp>
        <p:nvSpPr>
          <p:cNvPr id="127" name="文本框 7">
            <a:extLst>
              <a:ext uri="{FF2B5EF4-FFF2-40B4-BE49-F238E27FC236}">
                <a16:creationId xmlns:a16="http://schemas.microsoft.com/office/drawing/2014/main" id="{1A4EB6C0-E7F6-296B-3065-79A799267D00}"/>
              </a:ext>
            </a:extLst>
          </p:cNvPr>
          <p:cNvSpPr txBox="1"/>
          <p:nvPr/>
        </p:nvSpPr>
        <p:spPr>
          <a:xfrm>
            <a:off x="9532740" y="2030458"/>
            <a:ext cx="587022" cy="584775"/>
          </a:xfrm>
          <a:prstGeom prst="rect">
            <a:avLst/>
          </a:prstGeom>
          <a:noFill/>
          <a:ln w="38100" cmpd="sng">
            <a:noFill/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alibri"/>
                <a:ea typeface="等线" panose="02010600030101010101" pitchFamily="2" charset="-122"/>
              </a:rPr>
              <a:t>7</a:t>
            </a: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D6B0D8DA-DF92-851A-7C4F-F05B501B0DC2}"/>
              </a:ext>
            </a:extLst>
          </p:cNvPr>
          <p:cNvSpPr txBox="1"/>
          <p:nvPr/>
        </p:nvSpPr>
        <p:spPr>
          <a:xfrm>
            <a:off x="7776189" y="2030458"/>
            <a:ext cx="570724" cy="584775"/>
          </a:xfrm>
          <a:prstGeom prst="rect">
            <a:avLst/>
          </a:prstGeom>
          <a:noFill/>
          <a:ln w="57150">
            <a:noFill/>
          </a:ln>
        </p:spPr>
        <p:txBody>
          <a:bodyPr wrap="square" anchor="b">
            <a:spAutoFit/>
          </a:bodyPr>
          <a:lstStyle/>
          <a:p>
            <a:pPr algn="ctr" defTabSz="457200" fontAlgn="ctr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alibri"/>
                <a:ea typeface="等线" panose="02010600030101010101" pitchFamily="2" charset="-122"/>
              </a:rPr>
              <a:t>2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271B9BE6-4BAF-C471-639B-13F8FC850936}"/>
              </a:ext>
            </a:extLst>
          </p:cNvPr>
          <p:cNvSpPr txBox="1"/>
          <p:nvPr/>
        </p:nvSpPr>
        <p:spPr>
          <a:xfrm>
            <a:off x="8374040" y="2030457"/>
            <a:ext cx="560847" cy="584775"/>
          </a:xfrm>
          <a:prstGeom prst="rect">
            <a:avLst/>
          </a:prstGeom>
          <a:noFill/>
          <a:ln w="57150">
            <a:noFill/>
          </a:ln>
        </p:spPr>
        <p:txBody>
          <a:bodyPr wrap="square" anchor="b">
            <a:spAutoFit/>
          </a:bodyPr>
          <a:lstStyle/>
          <a:p>
            <a:pPr algn="ctr" defTabSz="457200" fontAlgn="ctr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alibri"/>
                <a:ea typeface="等线" panose="02010600030101010101" pitchFamily="2" charset="-122"/>
              </a:rPr>
              <a:t>3</a:t>
            </a: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FEFCA69D-69B5-5FAE-E985-7A5D5D4B581B}"/>
              </a:ext>
            </a:extLst>
          </p:cNvPr>
          <p:cNvSpPr txBox="1"/>
          <p:nvPr/>
        </p:nvSpPr>
        <p:spPr>
          <a:xfrm>
            <a:off x="8938803" y="2030457"/>
            <a:ext cx="587023" cy="584775"/>
          </a:xfrm>
          <a:prstGeom prst="rect">
            <a:avLst/>
          </a:prstGeom>
          <a:noFill/>
          <a:ln w="57150">
            <a:noFill/>
          </a:ln>
        </p:spPr>
        <p:txBody>
          <a:bodyPr wrap="square" anchor="b">
            <a:spAutoFit/>
          </a:bodyPr>
          <a:lstStyle/>
          <a:p>
            <a:pPr algn="ctr" defTabSz="457200" fontAlgn="ctr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alibri"/>
                <a:ea typeface="等线" panose="02010600030101010101" pitchFamily="2" charset="-122"/>
              </a:rPr>
              <a:t>4</a:t>
            </a: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275FEFE8-5E29-DC80-1E9D-12DACF5FFEFD}"/>
              </a:ext>
            </a:extLst>
          </p:cNvPr>
          <p:cNvSpPr txBox="1"/>
          <p:nvPr/>
        </p:nvSpPr>
        <p:spPr>
          <a:xfrm>
            <a:off x="9535950" y="2030457"/>
            <a:ext cx="560847" cy="584775"/>
          </a:xfrm>
          <a:prstGeom prst="rect">
            <a:avLst/>
          </a:prstGeom>
          <a:noFill/>
          <a:ln w="57150">
            <a:noFill/>
          </a:ln>
        </p:spPr>
        <p:txBody>
          <a:bodyPr wrap="square" anchor="b">
            <a:spAutoFit/>
          </a:bodyPr>
          <a:lstStyle/>
          <a:p>
            <a:pPr algn="ctr" defTabSz="457200" fontAlgn="ctr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alibri"/>
                <a:ea typeface="等线" panose="02010600030101010101" pitchFamily="2" charset="-122"/>
              </a:rPr>
              <a:t>7</a:t>
            </a:r>
          </a:p>
        </p:txBody>
      </p: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3E15ED7E-DC43-477C-EC39-610723002759}"/>
              </a:ext>
            </a:extLst>
          </p:cNvPr>
          <p:cNvGrpSpPr/>
          <p:nvPr/>
        </p:nvGrpSpPr>
        <p:grpSpPr>
          <a:xfrm>
            <a:off x="8053402" y="2507354"/>
            <a:ext cx="385403" cy="864096"/>
            <a:chOff x="6528048" y="5650640"/>
            <a:chExt cx="385403" cy="864096"/>
          </a:xfrm>
        </p:grpSpPr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327ACFD0-7491-C62D-D654-ED348E0B8663}"/>
                </a:ext>
              </a:extLst>
            </p:cNvPr>
            <p:cNvSpPr txBox="1"/>
            <p:nvPr/>
          </p:nvSpPr>
          <p:spPr>
            <a:xfrm>
              <a:off x="6553411" y="5868405"/>
              <a:ext cx="3600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i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D789EA0B-D73B-83FE-8E51-6EAA12B75E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8048" y="5650640"/>
              <a:ext cx="0" cy="484737"/>
            </a:xfrm>
            <a:prstGeom prst="straightConnector1">
              <a:avLst/>
            </a:prstGeom>
            <a:noFill/>
            <a:ln w="3810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triangle" w="med" len="lg"/>
            </a:ln>
            <a:effectLst/>
          </p:spPr>
        </p:cxnSp>
      </p:grp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2C1D50D4-E09D-85DC-07F0-B2A070224D05}"/>
              </a:ext>
            </a:extLst>
          </p:cNvPr>
          <p:cNvSpPr/>
          <p:nvPr/>
        </p:nvSpPr>
        <p:spPr>
          <a:xfrm>
            <a:off x="1427917" y="258651"/>
            <a:ext cx="3223827" cy="464364"/>
          </a:xfrm>
          <a:prstGeom prst="round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lIns="36000" rIns="3600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算法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2. 1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28037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集合求并集</a:t>
            </a: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476BB747-9F37-C5C2-FBB3-32C67FC8740B}"/>
              </a:ext>
            </a:extLst>
          </p:cNvPr>
          <p:cNvSpPr txBox="1"/>
          <p:nvPr/>
        </p:nvSpPr>
        <p:spPr>
          <a:xfrm>
            <a:off x="10096797" y="2030456"/>
            <a:ext cx="3129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altLang="zh-CN" sz="3200" b="1" dirty="0">
                <a:solidFill>
                  <a:srgbClr val="C00000"/>
                </a:solidFill>
                <a:latin typeface="Calibri"/>
                <a:ea typeface="等线" panose="02010600030101010101" pitchFamily="2" charset="-122"/>
              </a:rPr>
              <a:t>)</a:t>
            </a:r>
            <a:endParaRPr lang="zh-CN" altLang="en-US" sz="3200" b="1" dirty="0">
              <a:solidFill>
                <a:srgbClr val="C00000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5CC64B6B-4316-7F52-FECE-1CD1039382C6}"/>
              </a:ext>
            </a:extLst>
          </p:cNvPr>
          <p:cNvSpPr txBox="1"/>
          <p:nvPr/>
        </p:nvSpPr>
        <p:spPr>
          <a:xfrm>
            <a:off x="10070423" y="635146"/>
            <a:ext cx="3129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altLang="zh-CN" sz="3200" b="1" dirty="0">
                <a:solidFill>
                  <a:srgbClr val="C00000"/>
                </a:solidFill>
                <a:latin typeface="Calibri"/>
                <a:ea typeface="等线" panose="02010600030101010101" pitchFamily="2" charset="-122"/>
              </a:rPr>
              <a:t>)</a:t>
            </a:r>
            <a:endParaRPr lang="zh-CN" altLang="en-US" sz="3200" b="1" dirty="0">
              <a:solidFill>
                <a:srgbClr val="C00000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093C8CA3-26DF-64BD-D116-37A0432600E6}"/>
              </a:ext>
            </a:extLst>
          </p:cNvPr>
          <p:cNvSpPr txBox="1"/>
          <p:nvPr/>
        </p:nvSpPr>
        <p:spPr>
          <a:xfrm>
            <a:off x="6721542" y="635146"/>
            <a:ext cx="6062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altLang="zh-CN" sz="3200" b="1" dirty="0">
                <a:solidFill>
                  <a:srgbClr val="C00000"/>
                </a:solidFill>
                <a:latin typeface="Calibri"/>
                <a:ea typeface="等线" panose="02010600030101010101" pitchFamily="2" charset="-122"/>
              </a:rPr>
              <a:t>LA</a:t>
            </a:r>
            <a:endParaRPr lang="zh-CN" altLang="en-US" sz="3200" b="1" dirty="0">
              <a:solidFill>
                <a:srgbClr val="C00000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C3CCDC23-1F58-8745-3188-F31FAA085C7C}"/>
              </a:ext>
            </a:extLst>
          </p:cNvPr>
          <p:cNvSpPr txBox="1"/>
          <p:nvPr/>
        </p:nvSpPr>
        <p:spPr>
          <a:xfrm>
            <a:off x="6739976" y="2030456"/>
            <a:ext cx="5886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altLang="zh-CN" sz="3200" b="1" dirty="0">
                <a:solidFill>
                  <a:srgbClr val="C00000"/>
                </a:solidFill>
                <a:latin typeface="Calibri"/>
                <a:ea typeface="等线" panose="02010600030101010101" pitchFamily="2" charset="-122"/>
              </a:rPr>
              <a:t>LB</a:t>
            </a:r>
            <a:endParaRPr lang="zh-CN" altLang="en-US" sz="3200" b="1" dirty="0">
              <a:solidFill>
                <a:srgbClr val="C00000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CB2C2E9C-CA75-D916-2FB1-0C8252BFB06E}"/>
              </a:ext>
            </a:extLst>
          </p:cNvPr>
          <p:cNvSpPr txBox="1"/>
          <p:nvPr/>
        </p:nvSpPr>
        <p:spPr>
          <a:xfrm>
            <a:off x="382223" y="1154284"/>
            <a:ext cx="6219972" cy="1665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lnSpc>
                <a:spcPct val="13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算法</a:t>
            </a: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2.1</a:t>
            </a:r>
            <a:r>
              <a:rPr lang="zh-CN" alt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调用线性表的</a:t>
            </a: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zh-CN" alt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个基本操作，实现了求并集。</a:t>
            </a:r>
            <a:endParaRPr lang="en-US" altLang="zh-CN" sz="20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457200">
              <a:lnSpc>
                <a:spcPct val="130000"/>
              </a:lnSpc>
            </a:pPr>
            <a:r>
              <a:rPr lang="zh-CN" alt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假设线性表</a:t>
            </a: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</a:t>
            </a:r>
            <a:r>
              <a:rPr lang="zh-CN" alt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和</a:t>
            </a: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LB</a:t>
            </a:r>
            <a:r>
              <a:rPr lang="zh-CN" alt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分别表示集合</a:t>
            </a: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和</a:t>
            </a: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zh-CN" alt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endParaRPr lang="en-US" altLang="zh-CN" sz="20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457200">
              <a:lnSpc>
                <a:spcPct val="130000"/>
              </a:lnSpc>
            </a:pPr>
            <a:r>
              <a:rPr lang="zh-CN" alt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求并集 </a:t>
            </a: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CN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CN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zh-CN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defTabSz="457200">
              <a:lnSpc>
                <a:spcPct val="130000"/>
              </a:lnSpc>
            </a:pPr>
            <a:r>
              <a:rPr lang="zh-CN" alt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依次取</a:t>
            </a: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LB</a:t>
            </a:r>
            <a:r>
              <a:rPr lang="zh-CN" alt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的元素，若不在</a:t>
            </a: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</a:t>
            </a:r>
            <a:r>
              <a:rPr lang="zh-CN" alt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中</a:t>
            </a:r>
            <a:r>
              <a:rPr lang="zh-CN" alt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，则插入</a:t>
            </a: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</a:t>
            </a:r>
            <a:r>
              <a:rPr lang="zh-CN" alt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表尾</a:t>
            </a:r>
            <a:r>
              <a:rPr lang="zh-CN" alt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。</a:t>
            </a:r>
            <a:endParaRPr lang="en-US" altLang="zh-CN" sz="20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F3C357B7-E9B2-D988-E80E-22E3769ABBA0}"/>
              </a:ext>
            </a:extLst>
          </p:cNvPr>
          <p:cNvCxnSpPr>
            <a:cxnSpLocks/>
          </p:cNvCxnSpPr>
          <p:nvPr/>
        </p:nvCxnSpPr>
        <p:spPr>
          <a:xfrm>
            <a:off x="1271464" y="4539029"/>
            <a:ext cx="3607011" cy="0"/>
          </a:xfrm>
          <a:prstGeom prst="line">
            <a:avLst/>
          </a:prstGeom>
          <a:noFill/>
          <a:ln w="38100" cap="flat" cmpd="sng" algn="ctr">
            <a:solidFill>
              <a:srgbClr val="ED7D31"/>
            </a:solidFill>
            <a:prstDash val="solid"/>
            <a:miter lim="800000"/>
          </a:ln>
          <a:effectLst/>
        </p:spPr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20469858-5522-B20E-36D2-1DEE5CA13A9E}"/>
              </a:ext>
            </a:extLst>
          </p:cNvPr>
          <p:cNvCxnSpPr>
            <a:cxnSpLocks/>
          </p:cNvCxnSpPr>
          <p:nvPr/>
        </p:nvCxnSpPr>
        <p:spPr>
          <a:xfrm>
            <a:off x="5599606" y="4539029"/>
            <a:ext cx="3579563" cy="0"/>
          </a:xfrm>
          <a:prstGeom prst="line">
            <a:avLst/>
          </a:prstGeom>
          <a:noFill/>
          <a:ln w="38100" cap="flat" cmpd="sng" algn="ctr">
            <a:solidFill>
              <a:srgbClr val="ED7D31"/>
            </a:solidFill>
            <a:prstDash val="solid"/>
            <a:miter lim="800000"/>
          </a:ln>
          <a:effectLst/>
        </p:spPr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8564DE37-DCAB-C102-A969-95DCB018FC6B}"/>
              </a:ext>
            </a:extLst>
          </p:cNvPr>
          <p:cNvCxnSpPr>
            <a:cxnSpLocks/>
          </p:cNvCxnSpPr>
          <p:nvPr/>
        </p:nvCxnSpPr>
        <p:spPr>
          <a:xfrm>
            <a:off x="1271464" y="4847179"/>
            <a:ext cx="3802954" cy="0"/>
          </a:xfrm>
          <a:prstGeom prst="line">
            <a:avLst/>
          </a:prstGeom>
          <a:noFill/>
          <a:ln w="38100" cap="flat" cmpd="sng" algn="ctr">
            <a:solidFill>
              <a:srgbClr val="ED7D31"/>
            </a:solidFill>
            <a:prstDash val="solid"/>
            <a:miter lim="800000"/>
          </a:ln>
          <a:effectLst/>
        </p:spPr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F3C357B7-E9B2-D988-E80E-22E3769ABBA0}"/>
              </a:ext>
            </a:extLst>
          </p:cNvPr>
          <p:cNvCxnSpPr>
            <a:cxnSpLocks/>
          </p:cNvCxnSpPr>
          <p:nvPr/>
        </p:nvCxnSpPr>
        <p:spPr>
          <a:xfrm>
            <a:off x="1735363" y="5169563"/>
            <a:ext cx="2771323" cy="0"/>
          </a:xfrm>
          <a:prstGeom prst="line">
            <a:avLst/>
          </a:prstGeom>
          <a:noFill/>
          <a:ln w="38100" cap="flat" cmpd="sng" algn="ctr">
            <a:solidFill>
              <a:srgbClr val="ED7D31"/>
            </a:solidFill>
            <a:prstDash val="solid"/>
            <a:miter lim="800000"/>
          </a:ln>
          <a:effectLst/>
        </p:spPr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910F6267-C19D-1623-9CCA-2DBD468BCDA3}"/>
              </a:ext>
            </a:extLst>
          </p:cNvPr>
          <p:cNvCxnSpPr>
            <a:cxnSpLocks/>
          </p:cNvCxnSpPr>
          <p:nvPr/>
        </p:nvCxnSpPr>
        <p:spPr>
          <a:xfrm>
            <a:off x="1735363" y="5472689"/>
            <a:ext cx="4213261" cy="0"/>
          </a:xfrm>
          <a:prstGeom prst="line">
            <a:avLst/>
          </a:prstGeom>
          <a:noFill/>
          <a:ln w="38100" cap="flat" cmpd="sng" algn="ctr">
            <a:solidFill>
              <a:srgbClr val="ED7D31"/>
            </a:solidFill>
            <a:prstDash val="solid"/>
            <a:miter lim="800000"/>
          </a:ln>
          <a:effectLst/>
        </p:spPr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F3C357B7-E9B2-D988-E80E-22E3769ABBA0}"/>
              </a:ext>
            </a:extLst>
          </p:cNvPr>
          <p:cNvCxnSpPr>
            <a:cxnSpLocks/>
          </p:cNvCxnSpPr>
          <p:nvPr/>
        </p:nvCxnSpPr>
        <p:spPr>
          <a:xfrm>
            <a:off x="2179166" y="5764928"/>
            <a:ext cx="4206561" cy="0"/>
          </a:xfrm>
          <a:prstGeom prst="line">
            <a:avLst/>
          </a:prstGeom>
          <a:noFill/>
          <a:ln w="38100" cap="flat" cmpd="sng" algn="ctr">
            <a:solidFill>
              <a:srgbClr val="ED7D31"/>
            </a:solidFill>
            <a:prstDash val="solid"/>
            <a:miter lim="800000"/>
          </a:ln>
          <a:effectLst/>
        </p:spPr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E6AA85E9-59AD-CA55-643A-AEB6C8564685}"/>
              </a:ext>
            </a:extLst>
          </p:cNvPr>
          <p:cNvCxnSpPr>
            <a:cxnSpLocks/>
          </p:cNvCxnSpPr>
          <p:nvPr/>
        </p:nvCxnSpPr>
        <p:spPr>
          <a:xfrm>
            <a:off x="1167631" y="4733298"/>
            <a:ext cx="0" cy="1318928"/>
          </a:xfrm>
          <a:prstGeom prst="line">
            <a:avLst/>
          </a:prstGeom>
          <a:noFill/>
          <a:ln w="38100" cap="flat" cmpd="sng" algn="ctr">
            <a:solidFill>
              <a:srgbClr val="ED7D31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048057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4.81481E-6 L -0.26836 0.39027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424" y="195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2.59259E-6 L -0.15755 0.1868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78" y="9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1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500"/>
                            </p:stCondLst>
                            <p:childTnLst>
                              <p:par>
                                <p:cTn id="104" presetID="26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 tmFilter="0, 0; .2, .5; .8, .5; 1, 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6" dur="250" autoRev="1" fill="hold"/>
                                        <p:tgtEl>
                                          <p:spTgt spid="1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000"/>
                            </p:stCondLst>
                            <p:childTnLst>
                              <p:par>
                                <p:cTn id="10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2.59259E-6 L -0.00104 -0.1132 " pathEditMode="relative" rAng="0" ptsTypes="AA">
                                      <p:cBhvr>
                                        <p:cTn id="109" dur="2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5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-0.1132 L 0.19206 -0.1132 " pathEditMode="relative" rAng="0" ptsTypes="AA">
                                      <p:cBhvr>
                                        <p:cTn id="112" dur="2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4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6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2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63" presetClass="path" presetSubtype="0" accel="50000" decel="5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2.08333E-6 4.81481E-6 L 0.04818 -0.0007 " pathEditMode="relative" rAng="0" ptsTypes="AA">
                                      <p:cBhvr>
                                        <p:cTn id="132" dur="2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9" y="-46"/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42" presetClass="path" presetSubtype="0" accel="50000" decel="5000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19206 -0.1132 L 0.19271 -0.20417 " pathEditMode="relative" rAng="0" ptsTypes="AA">
                                      <p:cBhvr>
                                        <p:cTn id="134" dur="2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4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3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500"/>
                            </p:stCondLst>
                            <p:childTnLst>
                              <p:par>
                                <p:cTn id="14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2.22222E-6 L 0.04818 -2.22222E-6 " pathEditMode="relative" rAng="0" ptsTypes="AA">
                                      <p:cBhvr>
                                        <p:cTn id="146" dur="2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3500"/>
                            </p:stCondLst>
                            <p:childTnLst>
                              <p:par>
                                <p:cTn id="1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3500"/>
                            </p:stCondLst>
                            <p:childTnLst>
                              <p:par>
                                <p:cTn id="15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 tmFilter="0, 0; .2, .5; .8, .5; 1, 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3" dur="250" autoRev="1" fill="hold"/>
                                        <p:tgtEl>
                                          <p:spTgt spid="1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5" presetID="64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2.59259E-6 L -0.04961 -0.1132 " pathEditMode="relative" rAng="0" ptsTypes="AA">
                                      <p:cBhvr>
                                        <p:cTn id="156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87" y="-5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6000"/>
                            </p:stCondLst>
                            <p:childTnLst>
                              <p:par>
                                <p:cTn id="158" presetID="63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961 -0.1132 L -0.00144 -0.11343 " pathEditMode="relative" rAng="0" ptsTypes="AA">
                                      <p:cBhvr>
                                        <p:cTn id="159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9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8000"/>
                            </p:stCondLst>
                            <p:childTnLst>
                              <p:par>
                                <p:cTn id="161" presetID="26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2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0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1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0000"/>
                            </p:stCondLst>
                            <p:childTnLst>
                              <p:par>
                                <p:cTn id="18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818 -2.22222E-6 L 0.09636 -2.22222E-6 " pathEditMode="relative" rAng="0" ptsTypes="AA">
                                      <p:cBhvr>
                                        <p:cTn id="181" dur="2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2000"/>
                            </p:stCondLst>
                            <p:childTnLst>
                              <p:par>
                                <p:cTn id="1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2000"/>
                            </p:stCondLst>
                            <p:childTnLst>
                              <p:par>
                                <p:cTn id="18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7" dur="500" tmFilter="0, 0; .2, .5; .8, .5; 1, 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8" dur="250" autoRev="1" fill="hold"/>
                                        <p:tgtEl>
                                          <p:spTgt spid="1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2500"/>
                            </p:stCondLst>
                            <p:childTnLst>
                              <p:par>
                                <p:cTn id="190" presetID="64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59259E-6 L -0.097 -0.1132 " pathEditMode="relative" rAng="0" ptsTypes="AA">
                                      <p:cBhvr>
                                        <p:cTn id="191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57" y="-5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4500"/>
                            </p:stCondLst>
                            <p:childTnLst>
                              <p:par>
                                <p:cTn id="193" presetID="63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7 -0.1132 L 0.14714 -0.11181 " pathEditMode="relative" rAng="0" ptsTypes="AA">
                                      <p:cBhvr>
                                        <p:cTn id="194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01" y="6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63" presetClass="path" presetSubtype="0" accel="50000" decel="50000" fill="hold" grpId="2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04818 -0.0007 L 0.09636 -0.0007 " pathEditMode="relative" rAng="0" ptsTypes="AA">
                                      <p:cBhvr>
                                        <p:cTn id="196" dur="2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9" y="0"/>
                                    </p:animMotion>
                                  </p:childTnLst>
                                </p:cTn>
                              </p:par>
                              <p:par>
                                <p:cTn id="197" presetID="64" presetClass="path" presetSubtype="0" accel="50000" decel="50000" fill="hold" grpId="4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14714 -0.11181 L 0.14753 -0.20417 " pathEditMode="relative" rAng="0" ptsTypes="AA">
                                      <p:cBhvr>
                                        <p:cTn id="198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46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8500"/>
                            </p:stCondLst>
                            <p:childTnLst>
                              <p:par>
                                <p:cTn id="20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636 -2.22222E-6 L 0.14453 -2.22222E-6 " pathEditMode="relative" rAng="0" ptsTypes="AA">
                                      <p:cBhvr>
                                        <p:cTn id="201" dur="2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20500"/>
                            </p:stCondLst>
                            <p:childTnLst>
                              <p:par>
                                <p:cTn id="2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20500"/>
                            </p:stCondLst>
                            <p:childTnLst>
                              <p:par>
                                <p:cTn id="20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7" dur="500" tmFilter="0, 0; .2, .5; .8, .5; 1, 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8" dur="250" autoRev="1" fill="hold"/>
                                        <p:tgtEl>
                                          <p:spTgt spid="1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21000"/>
                            </p:stCondLst>
                            <p:childTnLst>
                              <p:par>
                                <p:cTn id="210" presetID="64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59259E-6 L -0.14492 -0.1132 " pathEditMode="relative" rAng="0" ptsTypes="AA">
                                      <p:cBhvr>
                                        <p:cTn id="211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53" y="-5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3000"/>
                            </p:stCondLst>
                            <p:childTnLst>
                              <p:par>
                                <p:cTn id="213" presetID="63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492 -0.1132 L -0.0013 -0.11621 " pathEditMode="relative" rAng="0" ptsTypes="AA">
                                      <p:cBhvr>
                                        <p:cTn id="214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74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25000"/>
                            </p:stCondLst>
                            <p:childTnLst>
                              <p:par>
                                <p:cTn id="216" presetID="26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7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5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6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27000"/>
                            </p:stCondLst>
                            <p:childTnLst>
                              <p:par>
                                <p:cTn id="23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453 -2.22222E-6 L 0.19271 -2.22222E-6 " pathEditMode="relative" rAng="0" ptsTypes="AA">
                                      <p:cBhvr>
                                        <p:cTn id="236" dur="2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5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uiExpand="1" animBg="1"/>
      <p:bldP spid="122" grpId="0"/>
      <p:bldP spid="123" grpId="0"/>
      <p:bldP spid="124" grpId="0" animBg="1"/>
      <p:bldP spid="125" grpId="0" animBg="1"/>
      <p:bldP spid="126" grpId="0" animBg="1"/>
      <p:bldP spid="127" grpId="0" animBg="1"/>
      <p:bldP spid="128" grpId="0"/>
      <p:bldP spid="128" grpId="1"/>
      <p:bldP spid="128" grpId="2"/>
      <p:bldP spid="128" grpId="3"/>
      <p:bldP spid="128" grpId="4"/>
      <p:bldP spid="129" grpId="0"/>
      <p:bldP spid="129" grpId="1"/>
      <p:bldP spid="129" grpId="2"/>
      <p:bldP spid="129" grpId="3"/>
      <p:bldP spid="129" grpId="4"/>
      <p:bldP spid="130" grpId="0"/>
      <p:bldP spid="130" grpId="1"/>
      <p:bldP spid="130" grpId="2"/>
      <p:bldP spid="130" grpId="3"/>
      <p:bldP spid="130" grpId="4"/>
      <p:bldP spid="131" grpId="0"/>
      <p:bldP spid="131" grpId="1"/>
      <p:bldP spid="131" grpId="2"/>
      <p:bldP spid="131" grpId="3"/>
      <p:bldP spid="131" grpId="4"/>
      <p:bldP spid="136" grpId="0"/>
      <p:bldP spid="137" grpId="0"/>
      <p:bldP spid="137" grpId="1"/>
      <p:bldP spid="137" grpId="2"/>
      <p:bldP spid="138" grpId="0"/>
      <p:bldP spid="138" grpId="1"/>
      <p:bldP spid="139" grpId="0"/>
      <p:bldP spid="139" grpId="1"/>
      <p:bldP spid="140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F8ED4D0-945C-191E-D3E5-1180FB9BA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4193A0-AF0B-E3C9-BA5D-89E1CD390F79}"/>
              </a:ext>
            </a:extLst>
          </p:cNvPr>
          <p:cNvSpPr txBox="1"/>
          <p:nvPr/>
        </p:nvSpPr>
        <p:spPr>
          <a:xfrm>
            <a:off x="765868" y="746069"/>
            <a:ext cx="9473286" cy="5802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20000"/>
              </a:lnSpc>
              <a:buNone/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zh-CN" sz="1800" b="1" kern="100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1800" b="1" kern="100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2-2</a:t>
            </a:r>
            <a:r>
              <a:rPr lang="en-US" altLang="zh-CN" sz="18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zh-CN" sz="1800" b="1" kern="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集合</a:t>
            </a:r>
            <a:r>
              <a:rPr lang="en-US" altLang="zh-CN" sz="1800" b="1" kern="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1800" b="1" kern="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去重</a:t>
            </a:r>
            <a:r>
              <a:rPr lang="en-US" altLang="zh-CN" sz="1800" b="1" kern="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1800" b="1" kern="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问题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。在有的应用中，允许集合含有重复的元素（为与不含重复元素的</a:t>
            </a:r>
            <a:r>
              <a:rPr lang="zh-CN" altLang="zh-CN" sz="18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“纯”集</a:t>
            </a:r>
            <a:r>
              <a:rPr lang="en-US" altLang="zh-CN" sz="18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set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区别，也称为</a:t>
            </a:r>
            <a:r>
              <a:rPr lang="zh-CN" altLang="zh-CN" sz="18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“包”</a:t>
            </a:r>
            <a:r>
              <a:rPr lang="en-US" altLang="zh-CN" sz="18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bag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，放宽了数学上对集合元素的唯一性约定。不特别声明的话，两者不一定严格区分）。</a:t>
            </a:r>
            <a:endParaRPr lang="en-US" altLang="zh-CN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20000"/>
              </a:lnSpc>
              <a:buNone/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所谓集合去重，就是将包“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纯化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”为集。现在的问题是：已知一个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非纯集合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”B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，试构造一个集合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，使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中只包含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中所有值各不相同的数据元素。</a:t>
            </a:r>
            <a:endParaRPr lang="en-US" altLang="zh-CN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20000"/>
              </a:lnSpc>
              <a:buNone/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换</a:t>
            </a:r>
            <a:r>
              <a:rPr lang="zh-CN" alt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言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，此问题即为从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中挑选出所有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彼此相异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的元素构成一个新的“纯”集合。</a:t>
            </a:r>
            <a:endParaRPr lang="en-US" altLang="zh-CN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如何区分元素的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相异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相同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？</a:t>
            </a:r>
            <a:endParaRPr lang="en-US" altLang="zh-CN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20000"/>
              </a:lnSpc>
              <a:buNone/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一个简单方法即为将每个从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中取出的元素和已经加入到集合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中的元素相比较。</a:t>
            </a:r>
            <a:endParaRPr lang="en-US" altLang="zh-CN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20000"/>
              </a:lnSpc>
              <a:buNone/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如果还是以线性表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LA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分别表示集合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，那么和例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2-1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的问题相比，此问题求解的算法应该如何写呢？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20000"/>
              </a:lnSpc>
              <a:buNone/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容易看出，应对线性表作与上例相同的操作，具体的三步也都相同，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差异仅是：</a:t>
            </a:r>
            <a:endParaRPr lang="en-US" altLang="zh-CN" sz="1800" b="1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20000"/>
              </a:lnSpc>
              <a:buNone/>
            </a:pPr>
            <a:r>
              <a:rPr lang="en-US" altLang="zh-CN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2-1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LA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是已有的且可能被添加元素，而此例的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LA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是要</a:t>
            </a:r>
            <a:r>
              <a:rPr lang="zh-CN" altLang="zh-CN" sz="18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新建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的。</a:t>
            </a:r>
            <a:endParaRPr lang="en-US" altLang="zh-CN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20000"/>
              </a:lnSpc>
              <a:buNone/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zh-CN" sz="1800" b="1" u="sng" kern="100" dirty="0">
                <a:solidFill>
                  <a:srgbClr val="050EBB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只需将算法</a:t>
            </a:r>
            <a:r>
              <a:rPr lang="en-US" altLang="zh-CN" sz="1800" b="1" u="sng" kern="100" dirty="0">
                <a:solidFill>
                  <a:srgbClr val="050EBB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2.1</a:t>
            </a:r>
            <a:r>
              <a:rPr lang="zh-CN" altLang="zh-CN" sz="1800" b="1" u="sng" kern="100" dirty="0">
                <a:solidFill>
                  <a:srgbClr val="050EBB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的第一行语句</a:t>
            </a:r>
            <a:endParaRPr lang="zh-CN" altLang="zh-CN" sz="1800" b="1" u="sng" kern="100" dirty="0">
              <a:solidFill>
                <a:srgbClr val="050EBB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9240" indent="153035" algn="just">
              <a:lnSpc>
                <a:spcPct val="120000"/>
              </a:lnSpc>
              <a:buNone/>
            </a:pP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m = 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ListLen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(La);  </a:t>
            </a:r>
            <a:r>
              <a:rPr lang="en-US" altLang="zh-CN" kern="10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求线性表</a:t>
            </a:r>
            <a:r>
              <a:rPr lang="en-US" altLang="zh-CN" kern="10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LA</a:t>
            </a:r>
            <a:r>
              <a:rPr lang="zh-CN" altLang="zh-CN" kern="10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长度</a:t>
            </a:r>
            <a:endParaRPr lang="zh-CN" altLang="zh-CN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替换为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9240" indent="153035" algn="just">
              <a:lnSpc>
                <a:spcPct val="120000"/>
              </a:lnSpc>
              <a:buNone/>
            </a:pP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ClearList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(La);   </a:t>
            </a: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m = 0;  </a:t>
            </a:r>
            <a:r>
              <a:rPr lang="en-US" altLang="zh-CN" kern="10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m</a:t>
            </a:r>
            <a:r>
              <a:rPr lang="zh-CN" altLang="zh-CN" kern="10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置为</a:t>
            </a:r>
            <a:r>
              <a:rPr lang="en-US" altLang="zh-CN" kern="10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kern="100" dirty="0" err="1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ClearList</a:t>
            </a:r>
            <a:r>
              <a:rPr lang="en-US" altLang="zh-CN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(La)</a:t>
            </a:r>
            <a:r>
              <a:rPr lang="zh-CN" altLang="en-US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是确保</a:t>
            </a:r>
            <a:r>
              <a:rPr lang="en-US" altLang="zh-CN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La</a:t>
            </a:r>
            <a:r>
              <a:rPr lang="zh-CN" altLang="en-US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是空表</a:t>
            </a:r>
            <a:endParaRPr lang="zh-CN" altLang="zh-CN" kern="100" dirty="0">
              <a:solidFill>
                <a:srgbClr val="0070C0"/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并传递一个空线性表给形参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La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，就得到本例问题的求解算法。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76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4D77CD9-DA76-F5A3-10C4-0F6B01EF2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C8E9426-BA69-87AE-5013-CC897158F912}"/>
              </a:ext>
            </a:extLst>
          </p:cNvPr>
          <p:cNvSpPr txBox="1"/>
          <p:nvPr/>
        </p:nvSpPr>
        <p:spPr>
          <a:xfrm>
            <a:off x="728733" y="595311"/>
            <a:ext cx="10592188" cy="586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15000"/>
              </a:lnSpc>
              <a:buNone/>
            </a:pPr>
            <a:r>
              <a:rPr lang="zh-CN" altLang="zh-CN" sz="18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例</a:t>
            </a:r>
            <a:r>
              <a:rPr lang="en-US" altLang="zh-CN" sz="18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anose="02020603050405020304" pitchFamily="18" charset="0"/>
              </a:rPr>
              <a:t>2-3  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判别两个集合是否相等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。两个集合相等的充分必要条件是它们具有相同的元素。当以线性表表示集合时，两个相等的线性表的长度应该相等，且表中所有数据元素都能一一对应，但相同的数据元素在各自的线性表中的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位序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不一定相同。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判别两个线性表中的数据元素是否完全相同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sz="18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算法的基本思想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为：首先判别两表的长度是否相等；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在表长相等的前提下，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对于一个表中的所有元素，都能在另一个表中找到和它相等的元素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的话，便可得到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两个线性表表示的集合相等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的结论（表长相等就不必两个表双向验证）；反之，只要有一个元素在另一个表中不能找到相等元素时，便可得出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不等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的结论。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9240" algn="just">
              <a:lnSpc>
                <a:spcPct val="110000"/>
              </a:lnSpc>
              <a:spcBef>
                <a:spcPts val="600"/>
              </a:spcBef>
            </a:pPr>
            <a:r>
              <a:rPr lang="en-US" altLang="zh-CN" sz="16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Status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IsEqual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(List La, List </a:t>
            </a:r>
            <a:r>
              <a:rPr lang="en-US" altLang="zh-CN" sz="16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16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kern="100" dirty="0">
                <a:solidFill>
                  <a:srgbClr val="C00000"/>
                </a:solidFill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算法  </a:t>
            </a:r>
            <a:r>
              <a:rPr lang="en-US" altLang="zh-CN" sz="1600" b="1" kern="100" dirty="0">
                <a:solidFill>
                  <a:srgbClr val="C00000"/>
                </a:solidFill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2.2   </a:t>
            </a:r>
            <a:r>
              <a:rPr lang="zh-CN" altLang="zh-CN" sz="1600" kern="10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判别两个线性表是否相等</a:t>
            </a:r>
            <a:endParaRPr lang="zh-CN" altLang="zh-CN" sz="1600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9240" algn="just">
              <a:lnSpc>
                <a:spcPct val="110000"/>
              </a:lnSpc>
              <a:buNone/>
            </a:pP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若线性表</a:t>
            </a:r>
            <a:r>
              <a:rPr lang="en-US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La</a:t>
            </a:r>
            <a:r>
              <a:rPr lang="zh-CN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kern="100" dirty="0" err="1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zh-CN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不仅长度相等，且所含数据元素也相同，则返回</a:t>
            </a:r>
            <a:r>
              <a:rPr lang="en-US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TRUE, </a:t>
            </a:r>
            <a:r>
              <a:rPr lang="zh-CN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否则返回</a:t>
            </a:r>
            <a:r>
              <a:rPr lang="en-US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FALSE</a:t>
            </a:r>
            <a:endParaRPr lang="zh-CN" altLang="zh-CN" sz="1600" kern="100" dirty="0">
              <a:solidFill>
                <a:srgbClr val="0070C0"/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9240" algn="just">
              <a:lnSpc>
                <a:spcPct val="110000"/>
              </a:lnSpc>
              <a:buNone/>
            </a:pP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m = </a:t>
            </a:r>
            <a:r>
              <a:rPr lang="en-US" altLang="zh-CN" sz="16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ListLen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(La), n = </a:t>
            </a:r>
            <a:r>
              <a:rPr lang="en-US" altLang="zh-CN" sz="16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ListLen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9240" algn="just">
              <a:lnSpc>
                <a:spcPct val="110000"/>
              </a:lnSpc>
              <a:buNone/>
            </a:pP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(m </a:t>
            </a:r>
            <a:r>
              <a:rPr lang="en-US" altLang="zh-CN" sz="16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 n)  </a:t>
            </a:r>
            <a:r>
              <a:rPr lang="en-US" altLang="zh-CN" sz="16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 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FALSE;                </a:t>
            </a:r>
            <a:r>
              <a:rPr lang="en-US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若两表的长度不等，则两集合不等</a:t>
            </a:r>
          </a:p>
          <a:p>
            <a:pPr marL="269240" algn="just">
              <a:lnSpc>
                <a:spcPct val="110000"/>
              </a:lnSpc>
              <a:buNone/>
            </a:pP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else {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9240" indent="361315" algn="just">
              <a:lnSpc>
                <a:spcPct val="110000"/>
              </a:lnSpc>
              <a:buNone/>
            </a:pPr>
            <a:r>
              <a:rPr lang="en-US" altLang="zh-CN" sz="16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int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1;   </a:t>
            </a:r>
            <a:r>
              <a:rPr lang="en-US" altLang="zh-CN" sz="16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Status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found = TRUE; 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9240" indent="361315" algn="just">
              <a:lnSpc>
                <a:spcPct val="110000"/>
              </a:lnSpc>
              <a:buNone/>
            </a:pPr>
            <a:r>
              <a:rPr lang="en-US" altLang="zh-CN" sz="16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while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6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&lt;=m </a:t>
            </a:r>
            <a:r>
              <a:rPr lang="en-US" altLang="zh-CN" sz="16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&amp;&amp;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found) </a:t>
            </a:r>
            <a:r>
              <a:rPr lang="en-US" altLang="zh-CN" sz="16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r>
              <a:rPr lang="en-US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若有</a:t>
            </a:r>
            <a:r>
              <a:rPr lang="en-US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La</a:t>
            </a:r>
            <a:r>
              <a:rPr lang="zh-CN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有元素不在</a:t>
            </a:r>
            <a:r>
              <a:rPr lang="en-US" altLang="zh-CN" sz="1600" kern="100" dirty="0" err="1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zh-CN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中，则结束循环</a:t>
            </a:r>
          </a:p>
          <a:p>
            <a:pPr marL="269240" indent="361315" algn="just">
              <a:lnSpc>
                <a:spcPct val="110000"/>
              </a:lnSpc>
              <a:buNone/>
            </a:pP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6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 = </a:t>
            </a:r>
            <a:r>
              <a:rPr lang="en-US" altLang="zh-CN" sz="16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GetElem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(La, </a:t>
            </a:r>
            <a:r>
              <a:rPr lang="en-US" altLang="zh-CN" sz="16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          </a:t>
            </a:r>
            <a:r>
              <a:rPr lang="en-US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取得</a:t>
            </a:r>
            <a:r>
              <a:rPr lang="en-US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La</a:t>
            </a:r>
            <a:r>
              <a:rPr lang="zh-CN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中第</a:t>
            </a:r>
            <a:r>
              <a:rPr lang="en-US" altLang="zh-CN" sz="1600" kern="100" dirty="0" err="1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个元素</a:t>
            </a:r>
            <a:r>
              <a:rPr lang="en-US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lang="zh-CN" altLang="zh-CN" sz="1600" kern="100" dirty="0">
              <a:solidFill>
                <a:srgbClr val="0070C0"/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9240" indent="361315" algn="just">
              <a:lnSpc>
                <a:spcPct val="110000"/>
              </a:lnSpc>
              <a:buNone/>
            </a:pP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6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6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LocateElem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e, equal)) </a:t>
            </a:r>
            <a:r>
              <a:rPr lang="en-US" altLang="zh-CN" sz="16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++;    </a:t>
            </a:r>
            <a:r>
              <a:rPr lang="en-US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存在</a:t>
            </a:r>
            <a:r>
              <a:rPr lang="en-US" altLang="zh-CN" sz="1600" kern="100" dirty="0" err="1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zh-CN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中，则依次检查下一个元素</a:t>
            </a:r>
          </a:p>
          <a:p>
            <a:pPr marL="269240" indent="361315" algn="just">
              <a:lnSpc>
                <a:spcPct val="110000"/>
              </a:lnSpc>
              <a:buNone/>
            </a:pP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6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else 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found = FALSE;                  </a:t>
            </a:r>
            <a:r>
              <a:rPr lang="en-US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否则</a:t>
            </a:r>
            <a:r>
              <a:rPr lang="en-US" altLang="zh-CN" sz="1600" kern="100" dirty="0" err="1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zh-CN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中没有和</a:t>
            </a:r>
            <a:r>
              <a:rPr lang="en-US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相同元素，两表不相同</a:t>
            </a:r>
          </a:p>
          <a:p>
            <a:pPr marL="269240" indent="361315" algn="just">
              <a:lnSpc>
                <a:spcPct val="110000"/>
              </a:lnSpc>
              <a:buNone/>
            </a:pPr>
            <a:r>
              <a:rPr lang="en-US" altLang="zh-CN" sz="16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9240" indent="361315" algn="just">
              <a:lnSpc>
                <a:spcPct val="110000"/>
              </a:lnSpc>
              <a:buNone/>
            </a:pPr>
            <a:r>
              <a:rPr lang="en-US" altLang="zh-CN" sz="16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return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found;            </a:t>
            </a:r>
            <a:r>
              <a:rPr lang="en-US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found</a:t>
            </a:r>
            <a:r>
              <a:rPr lang="zh-CN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表达验证结果，全部元素匹配则返回</a:t>
            </a:r>
            <a:r>
              <a:rPr lang="en-US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r>
              <a:rPr lang="zh-CN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，否则</a:t>
            </a:r>
            <a:r>
              <a:rPr lang="en-US" altLang="zh-CN" sz="1600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endParaRPr lang="zh-CN" altLang="zh-CN" sz="1600" kern="100" dirty="0">
              <a:solidFill>
                <a:srgbClr val="0070C0"/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9240" algn="just">
              <a:lnSpc>
                <a:spcPct val="110000"/>
              </a:lnSpc>
              <a:buNone/>
            </a:pP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39395" algn="just">
              <a:lnSpc>
                <a:spcPct val="110000"/>
              </a:lnSpc>
              <a:buNone/>
            </a:pPr>
            <a:r>
              <a:rPr lang="en-US" altLang="zh-CN" sz="16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2E0061-57D1-1684-2315-B00A01F9D9B7}"/>
              </a:ext>
            </a:extLst>
          </p:cNvPr>
          <p:cNvSpPr txBox="1"/>
          <p:nvPr/>
        </p:nvSpPr>
        <p:spPr>
          <a:xfrm>
            <a:off x="6238341" y="3013267"/>
            <a:ext cx="5384286" cy="27197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76200" cmpd="thinThick">
            <a:solidFill>
              <a:schemeClr val="accent3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两个算法的时间复杂度取决于抽象数据类型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List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定义中基本操作的实现代码的执行时间。</a:t>
            </a:r>
            <a:endParaRPr lang="en-US" altLang="zh-CN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假如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LA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和</a:t>
            </a:r>
            <a:r>
              <a:rPr lang="en-US" altLang="zh-CN" sz="18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LB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的长度分别为</a:t>
            </a:r>
            <a:r>
              <a:rPr lang="en-US" altLang="zh-CN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GetElem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和</a:t>
            </a:r>
            <a:r>
              <a:rPr lang="en-US" altLang="zh-CN" sz="18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ListInsert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这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两个操作的执行时间与表长无关，</a:t>
            </a:r>
            <a:r>
              <a:rPr lang="en-US" altLang="zh-CN" sz="18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LocateElem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的执行时间和表长成正比，则两个算法的时间复杂度都是</a:t>
            </a:r>
            <a:r>
              <a:rPr lang="en-US" altLang="zh-CN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8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18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  <a:sym typeface="Symbol" panose="05050102010706020507" pitchFamily="18" charset="2"/>
              </a:rPr>
              <a:t></a:t>
            </a:r>
            <a:r>
              <a:rPr lang="en-US" altLang="zh-CN" sz="18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后面将会看到，改变存储结构或元素排列次序，相应算法的效率可得到数量级意义的提升。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791282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uiExpand="1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E75FA1F-B2B0-EDC6-7178-916CCDD59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2B00B5-2D35-9DBF-CDD3-57E5A52DC104}"/>
              </a:ext>
            </a:extLst>
          </p:cNvPr>
          <p:cNvSpPr txBox="1"/>
          <p:nvPr/>
        </p:nvSpPr>
        <p:spPr>
          <a:xfrm>
            <a:off x="429047" y="961565"/>
            <a:ext cx="4688039" cy="5759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15000"/>
              </a:lnSpc>
              <a:buNone/>
            </a:pPr>
            <a:r>
              <a:rPr lang="en-US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16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线性表的顺序表示指的是用一组</a:t>
            </a:r>
            <a:r>
              <a:rPr lang="zh-CN" altLang="zh-CN" sz="1600" b="1" kern="100" dirty="0">
                <a:solidFill>
                  <a:srgbClr val="050EBB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地址连续</a:t>
            </a:r>
            <a:r>
              <a:rPr lang="zh-CN" altLang="zh-CN" sz="16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的存储单元依次存储线性表的数据元素。</a:t>
            </a:r>
            <a:endParaRPr lang="en-US" altLang="zh-CN" sz="1600" b="1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15000"/>
              </a:lnSpc>
              <a:buNone/>
            </a:pPr>
            <a:r>
              <a:rPr lang="en-US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假设线性表的每个元素需占用</a:t>
            </a:r>
            <a:r>
              <a:rPr lang="en-US" altLang="zh-CN" sz="1600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个存储单元，并以所占的第一个单元的存储地址作为数据元素的</a:t>
            </a:r>
            <a:r>
              <a:rPr lang="zh-CN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存储位置，则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线性表中第</a:t>
            </a:r>
            <a:r>
              <a:rPr lang="en-US" altLang="zh-CN" sz="1600" i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个数据元素的存储位置</a:t>
            </a:r>
            <a:r>
              <a:rPr lang="en-US" altLang="zh-CN" sz="1600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LOC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i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600" i="1" kern="100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和第</a:t>
            </a:r>
            <a:r>
              <a:rPr lang="en-US" altLang="zh-CN" sz="1600" i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个数据元素的存储位置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LOC(</a:t>
            </a:r>
            <a:r>
              <a:rPr lang="en-US" altLang="zh-CN" sz="1600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600" i="1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之间满足下列关系：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buNone/>
            </a:pPr>
            <a:r>
              <a:rPr lang="en-US" altLang="zh-CN" sz="1600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LOC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i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600" i="1" kern="100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= </a:t>
            </a:r>
            <a:r>
              <a:rPr lang="en-US" altLang="zh-CN" sz="1600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LOC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600" i="1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+ </a:t>
            </a:r>
            <a:r>
              <a:rPr lang="en-US" altLang="zh-CN" sz="1600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buNone/>
            </a:pPr>
            <a:r>
              <a:rPr lang="zh-CN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一般来说，线性表的第</a:t>
            </a:r>
            <a:r>
              <a:rPr lang="en-US" altLang="zh-CN" sz="1600" i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个数据元素</a:t>
            </a:r>
            <a:r>
              <a:rPr lang="en-US" altLang="zh-CN" sz="1600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600" i="1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的存储位置为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15000"/>
              </a:lnSpc>
              <a:buNone/>
            </a:pPr>
            <a:r>
              <a:rPr lang="en-US" altLang="zh-CN" sz="1600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LOC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600" i="1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= </a:t>
            </a:r>
            <a:r>
              <a:rPr lang="en-US" altLang="zh-CN" sz="1600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LOC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i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600" kern="100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+ (</a:t>
            </a:r>
            <a:r>
              <a:rPr lang="en-US" altLang="zh-CN" sz="16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-1) 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(2-2)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buNone/>
            </a:pPr>
            <a:r>
              <a:rPr lang="zh-CN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式中</a:t>
            </a:r>
            <a:r>
              <a:rPr lang="en-US" altLang="zh-CN" sz="1600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LOC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i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600" kern="100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是线性表的第一个数据元素</a:t>
            </a:r>
            <a:r>
              <a:rPr lang="en-US" altLang="zh-CN" sz="1600" i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600" kern="100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的存储位置，通常称作线性表的</a:t>
            </a:r>
            <a:r>
              <a:rPr lang="zh-CN" altLang="zh-CN" sz="16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起始位置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zh-CN" altLang="zh-CN" sz="16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基地址</a:t>
            </a:r>
            <a:r>
              <a:rPr lang="zh-CN" altLang="en-US" sz="16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、基址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15000"/>
              </a:lnSpc>
              <a:spcBef>
                <a:spcPts val="1200"/>
              </a:spcBef>
              <a:buNone/>
            </a:pPr>
            <a:r>
              <a:rPr lang="en-US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线性表的这种机内表示称作线性表的顺序存储结构或顺序映像（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sequential mapping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），通常，称这种存储结构的线性表为</a:t>
            </a:r>
            <a:r>
              <a:rPr lang="zh-CN" altLang="zh-CN" sz="16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顺序表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。它的特点是，为表中相邻的元素</a:t>
            </a:r>
            <a:r>
              <a:rPr lang="en-US" altLang="zh-CN" sz="1600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600" i="1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i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600" i="1" kern="100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赋以相邻的存储位置</a:t>
            </a:r>
            <a:r>
              <a:rPr lang="en-US" altLang="zh-CN" sz="1600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LOC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600" i="1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LOC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i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600" i="1" kern="100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6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15000"/>
              </a:lnSpc>
              <a:spcBef>
                <a:spcPts val="1200"/>
              </a:spcBef>
              <a:buNone/>
            </a:pPr>
            <a:r>
              <a:rPr lang="en-US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也就是说，以元素在计算机内“</a:t>
            </a:r>
            <a:r>
              <a:rPr lang="zh-CN" altLang="zh-CN" sz="16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物理位置相邻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”来表示线性表中数据元素之间的</a:t>
            </a:r>
            <a:r>
              <a:rPr lang="zh-CN" altLang="zh-CN" sz="1600" b="1" kern="100" dirty="0">
                <a:solidFill>
                  <a:srgbClr val="050EBB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逻辑关系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60F827-5DE8-952B-79FF-3B8AFA68D1DF}"/>
              </a:ext>
            </a:extLst>
          </p:cNvPr>
          <p:cNvSpPr txBox="1"/>
          <p:nvPr/>
        </p:nvSpPr>
        <p:spPr>
          <a:xfrm>
            <a:off x="1344911" y="248769"/>
            <a:ext cx="59610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buNone/>
              <a:defRPr sz="3200" b="1" kern="10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2800" dirty="0">
                <a:solidFill>
                  <a:srgbClr val="050EBB"/>
                </a:solidFill>
              </a:rPr>
              <a:t>2.2  </a:t>
            </a:r>
            <a:r>
              <a:rPr lang="zh-CN" altLang="zh-CN" sz="2800" dirty="0">
                <a:solidFill>
                  <a:srgbClr val="050EBB"/>
                </a:solidFill>
              </a:rPr>
              <a:t>线性表的顺序表示和实现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C5D1CCD-9556-2176-87A9-4BA9B262B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049" name="图片 1">
            <a:extLst>
              <a:ext uri="{FF2B5EF4-FFF2-40B4-BE49-F238E27FC236}">
                <a16:creationId xmlns:a16="http://schemas.microsoft.com/office/drawing/2014/main" id="{9617C21B-A398-D27F-A81D-A92937CF5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082" y="2621085"/>
            <a:ext cx="6540352" cy="3489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73779E4E-6431-55F1-10F3-D68F68055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8889" y="6022687"/>
            <a:ext cx="5427993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2.2  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线性表的顺序存储结构示意图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Both"/>
              <a:tabLst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数据元素在顺序存储结构的地址和位序；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(b) 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顺序表的结构记录和元素数组存储区及下标和指针示意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1851364-E451-025D-D883-032191DB3C6A}"/>
              </a:ext>
            </a:extLst>
          </p:cNvPr>
          <p:cNvSpPr txBox="1"/>
          <p:nvPr/>
        </p:nvSpPr>
        <p:spPr>
          <a:xfrm>
            <a:off x="5333226" y="873478"/>
            <a:ext cx="6598068" cy="1766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15000"/>
              </a:lnSpc>
            </a:pPr>
            <a:r>
              <a:rPr lang="en-US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每一个数据元素的存储位置都和线性表的</a:t>
            </a:r>
            <a:r>
              <a:rPr lang="zh-CN" altLang="zh-CN" sz="16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起始位置</a:t>
            </a:r>
            <a:r>
              <a:rPr lang="zh-CN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相差一个和数据元素在线性表中的位序成正比的</a:t>
            </a:r>
            <a:r>
              <a:rPr lang="zh-CN" altLang="zh-CN" sz="16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常数</a:t>
            </a:r>
            <a:r>
              <a:rPr lang="en-US" altLang="zh-CN" sz="1600" b="1" i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（称为</a:t>
            </a:r>
            <a:r>
              <a:rPr lang="zh-CN" altLang="zh-CN" sz="16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元素大小</a:t>
            </a:r>
            <a:r>
              <a:rPr lang="zh-CN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，即存储所占字节数，若元素类型为</a:t>
            </a:r>
            <a:r>
              <a:rPr lang="en-US" altLang="zh-CN" sz="1600" kern="1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zh-CN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，可用</a:t>
            </a:r>
            <a:r>
              <a:rPr lang="en-US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语言求类型大小的运算求得：</a:t>
            </a:r>
            <a:r>
              <a:rPr lang="en-US" altLang="zh-CN" sz="1600" b="1" kern="1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sizeof</a:t>
            </a:r>
            <a:r>
              <a:rPr lang="en-US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kern="1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），如图</a:t>
            </a:r>
            <a:r>
              <a:rPr lang="en-US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2.2(a)</a:t>
            </a:r>
            <a:r>
              <a:rPr lang="zh-CN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所示。</a:t>
            </a:r>
            <a:endParaRPr lang="en-US" altLang="zh-CN" sz="1600" kern="1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15000"/>
              </a:lnSpc>
            </a:pPr>
            <a:r>
              <a:rPr lang="zh-CN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只要确定了元素的存储起始位置，表中任一数据元素都可随机存取，所以线性表的顺序存储结构是一种</a:t>
            </a:r>
            <a:r>
              <a:rPr lang="zh-CN" altLang="zh-CN" sz="1600" b="1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随机存取</a:t>
            </a:r>
            <a:r>
              <a:rPr lang="zh-CN" altLang="zh-CN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的存储结构。</a:t>
            </a:r>
            <a:endParaRPr lang="zh-CN" altLang="en-US" sz="1600" kern="1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807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0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3DBF614-9A4D-D50D-E824-F9FF18A2D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BA0F172-AF1C-2029-3568-C3B35EF533F9}"/>
              </a:ext>
            </a:extLst>
          </p:cNvPr>
          <p:cNvSpPr txBox="1"/>
          <p:nvPr/>
        </p:nvSpPr>
        <p:spPr>
          <a:xfrm>
            <a:off x="724095" y="543740"/>
            <a:ext cx="10629705" cy="5821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20040" algn="just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//----- </a:t>
            </a:r>
            <a:r>
              <a:rPr lang="zh-CN" altLang="zh-CN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线性表的动态分配顺序存储结构</a:t>
            </a:r>
            <a:r>
              <a:rPr lang="en-US" altLang="zh-CN" b="1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-----</a:t>
            </a:r>
            <a:endParaRPr lang="zh-CN" altLang="zh-CN" b="1" kern="100" dirty="0">
              <a:solidFill>
                <a:srgbClr val="0070C0"/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21310" algn="just">
              <a:lnSpc>
                <a:spcPct val="120000"/>
              </a:lnSpc>
              <a:buNone/>
            </a:pP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typedef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struct {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472440" algn="just">
              <a:lnSpc>
                <a:spcPct val="120000"/>
              </a:lnSpc>
              <a:buNone/>
            </a:pP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*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 </a:t>
            </a:r>
            <a:r>
              <a:rPr lang="en-US" altLang="zh-CN" kern="10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存储空间基址</a:t>
            </a:r>
            <a:endParaRPr lang="zh-CN" altLang="zh-CN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474345" algn="just">
              <a:lnSpc>
                <a:spcPct val="120000"/>
              </a:lnSpc>
              <a:buNone/>
            </a:pP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int       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  </a:t>
            </a:r>
            <a:r>
              <a:rPr lang="en-US" altLang="zh-CN" kern="10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当前长度</a:t>
            </a:r>
            <a:endParaRPr lang="zh-CN" altLang="zh-CN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474345" algn="just">
              <a:lnSpc>
                <a:spcPct val="120000"/>
              </a:lnSpc>
              <a:buNone/>
            </a:pP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int       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size;    </a:t>
            </a:r>
            <a:r>
              <a:rPr lang="en-US" altLang="zh-CN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当前分配的存储容量，以</a:t>
            </a:r>
            <a:r>
              <a:rPr lang="en-US" altLang="zh-CN" kern="100" dirty="0" err="1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sizeof</a:t>
            </a:r>
            <a:r>
              <a:rPr lang="en-US" altLang="zh-CN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为单位</a:t>
            </a:r>
          </a:p>
          <a:p>
            <a:pPr indent="474345" algn="just">
              <a:lnSpc>
                <a:spcPct val="120000"/>
              </a:lnSpc>
              <a:buNone/>
            </a:pP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int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inc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  </a:t>
            </a:r>
            <a:r>
              <a:rPr lang="en-US" altLang="zh-CN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每次存储空间扩容的增量</a:t>
            </a:r>
          </a:p>
          <a:p>
            <a:pPr indent="321310" algn="just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*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SqList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*List;    </a:t>
            </a:r>
            <a:r>
              <a:rPr lang="en-US" altLang="zh-CN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顺序表类型</a:t>
            </a:r>
            <a:r>
              <a:rPr lang="en-US" altLang="zh-CN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定义为指针类型，可实现完全动态存储分配和回收</a:t>
            </a:r>
            <a:r>
              <a:rPr lang="en-US" altLang="zh-CN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kern="100" dirty="0">
              <a:solidFill>
                <a:srgbClr val="0070C0"/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20040" algn="just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SqList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L;           </a:t>
            </a:r>
            <a:r>
              <a:rPr lang="en-US" altLang="zh-CN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L</a:t>
            </a:r>
            <a:r>
              <a:rPr lang="zh-CN" altLang="zh-CN" kern="100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被声明为顺序表指针变量，须调用初始化操作才能使用</a:t>
            </a:r>
          </a:p>
          <a:p>
            <a:pPr indent="266700"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zh-CN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在上述定义中，定义了一个包含存储顺序表结构信息的</a:t>
            </a:r>
            <a:r>
              <a:rPr lang="zh-CN" altLang="zh-CN" b="1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结构体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，称为顺序表的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结构记录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，简称</a:t>
            </a:r>
            <a:r>
              <a:rPr lang="zh-CN" altLang="zh-CN" b="1" kern="10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记录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顺序表定义为记录的指针类型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SqList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和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List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，两个类型名等价，前者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打头以区分采用不同存储表示的线性表类型，后者正是算法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应用的线性表类型名，从中可见，封装做得好的类型，使用者不用了解类型的数据存储结构和操作的实现细节。</a:t>
            </a:r>
            <a:endParaRPr lang="en-US" altLang="zh-CN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结构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记录含有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个域，指针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指示元素存储空间的</a:t>
            </a:r>
            <a:r>
              <a:rPr lang="zh-CN" altLang="zh-CN" b="1" kern="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基地址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，可作为元素一维数组；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值为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线性表当前</a:t>
            </a:r>
            <a:r>
              <a:rPr lang="zh-CN" altLang="zh-CN" b="1" kern="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长度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2.2(b)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不仅展示了顺序表的存储结构，还直观示意了下标和指针对存储结构单元位置的表达。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484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组合 179">
            <a:extLst>
              <a:ext uri="{FF2B5EF4-FFF2-40B4-BE49-F238E27FC236}">
                <a16:creationId xmlns:a16="http://schemas.microsoft.com/office/drawing/2014/main" id="{F48A58F8-4F17-4D17-C126-0DB187A79597}"/>
              </a:ext>
            </a:extLst>
          </p:cNvPr>
          <p:cNvGrpSpPr/>
          <p:nvPr/>
        </p:nvGrpSpPr>
        <p:grpSpPr>
          <a:xfrm>
            <a:off x="5462781" y="4058557"/>
            <a:ext cx="1418871" cy="2248174"/>
            <a:chOff x="5272897" y="4223353"/>
            <a:chExt cx="1418871" cy="2248174"/>
          </a:xfrm>
        </p:grpSpPr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FA96CC4E-CD96-2B6F-5A34-BB5CDF182793}"/>
                </a:ext>
              </a:extLst>
            </p:cNvPr>
            <p:cNvSpPr/>
            <p:nvPr/>
          </p:nvSpPr>
          <p:spPr>
            <a:xfrm>
              <a:off x="6177355" y="4639806"/>
              <a:ext cx="514413" cy="457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矩形 142">
              <a:extLst>
                <a:ext uri="{FF2B5EF4-FFF2-40B4-BE49-F238E27FC236}">
                  <a16:creationId xmlns:a16="http://schemas.microsoft.com/office/drawing/2014/main" id="{E20D878A-99BD-BB9C-719E-CDA37AF9C0D2}"/>
                </a:ext>
              </a:extLst>
            </p:cNvPr>
            <p:cNvSpPr/>
            <p:nvPr/>
          </p:nvSpPr>
          <p:spPr>
            <a:xfrm>
              <a:off x="6177355" y="5100353"/>
              <a:ext cx="514413" cy="457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1E72FCE2-E00E-8E51-CBB7-5AB344B70AA2}"/>
                </a:ext>
              </a:extLst>
            </p:cNvPr>
            <p:cNvSpPr/>
            <p:nvPr/>
          </p:nvSpPr>
          <p:spPr>
            <a:xfrm>
              <a:off x="6177354" y="5557553"/>
              <a:ext cx="514413" cy="457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rgbClr val="C00000"/>
                </a:solidFill>
              </a:endParaRPr>
            </a:p>
          </p:txBody>
        </p:sp>
        <p:grpSp>
          <p:nvGrpSpPr>
            <p:cNvPr id="179" name="组合 178">
              <a:extLst>
                <a:ext uri="{FF2B5EF4-FFF2-40B4-BE49-F238E27FC236}">
                  <a16:creationId xmlns:a16="http://schemas.microsoft.com/office/drawing/2014/main" id="{559583B3-EA0C-9EB8-339D-85FACBCCDE3E}"/>
                </a:ext>
              </a:extLst>
            </p:cNvPr>
            <p:cNvGrpSpPr/>
            <p:nvPr/>
          </p:nvGrpSpPr>
          <p:grpSpPr>
            <a:xfrm>
              <a:off x="5272897" y="4636459"/>
              <a:ext cx="928968" cy="1784338"/>
              <a:chOff x="5272897" y="4636459"/>
              <a:chExt cx="928968" cy="1784338"/>
            </a:xfrm>
          </p:grpSpPr>
          <p:sp>
            <p:nvSpPr>
              <p:cNvPr id="140" name="文本框 81922">
                <a:extLst>
                  <a:ext uri="{FF2B5EF4-FFF2-40B4-BE49-F238E27FC236}">
                    <a16:creationId xmlns:a16="http://schemas.microsoft.com/office/drawing/2014/main" id="{949A8522-3F2E-E6A2-A946-1690AA6D8F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3527" y="4636459"/>
                <a:ext cx="847604" cy="455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>
                  <a:lnSpc>
                    <a:spcPct val="10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dirty="0" err="1">
                    <a:solidFill>
                      <a:schemeClr val="accent6">
                        <a:lumMod val="50000"/>
                      </a:schemeClr>
                    </a:solidFill>
                    <a:ea typeface="楷体_GB2312" pitchFamily="49" charset="-122"/>
                  </a:rPr>
                  <a:t>elem</a:t>
                </a:r>
                <a:endParaRPr lang="zh-CN" altLang="en-US" sz="24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1" name="文本框 81922">
                <a:extLst>
                  <a:ext uri="{FF2B5EF4-FFF2-40B4-BE49-F238E27FC236}">
                    <a16:creationId xmlns:a16="http://schemas.microsoft.com/office/drawing/2014/main" id="{4E79D51F-62C3-9AC6-9BE5-4CC15886CF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20074" y="5091776"/>
                <a:ext cx="881791" cy="455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>
                  <a:lnSpc>
                    <a:spcPct val="10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dirty="0" err="1">
                    <a:solidFill>
                      <a:schemeClr val="accent6">
                        <a:lumMod val="50000"/>
                      </a:schemeClr>
                    </a:solidFill>
                    <a:ea typeface="楷体_GB2312" pitchFamily="49" charset="-122"/>
                  </a:rPr>
                  <a:t>len</a:t>
                </a:r>
                <a:endParaRPr lang="zh-CN" altLang="en-US" sz="24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5" name="文本框 81922">
                <a:extLst>
                  <a:ext uri="{FF2B5EF4-FFF2-40B4-BE49-F238E27FC236}">
                    <a16:creationId xmlns:a16="http://schemas.microsoft.com/office/drawing/2014/main" id="{EA44E49D-CD29-5541-AB00-E0DF41365C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72897" y="5536131"/>
                <a:ext cx="916714" cy="8846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>
                  <a:lnSpc>
                    <a:spcPct val="10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chemeClr val="accent6">
                        <a:lumMod val="50000"/>
                      </a:schemeClr>
                    </a:solidFill>
                    <a:ea typeface="楷体_GB2312" pitchFamily="49" charset="-122"/>
                  </a:rPr>
                  <a:t>size</a:t>
                </a:r>
              </a:p>
              <a:p>
                <a:pPr algn="r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dirty="0" err="1">
                    <a:solidFill>
                      <a:schemeClr val="accent6">
                        <a:lumMod val="50000"/>
                      </a:schemeClr>
                    </a:solidFill>
                  </a:rPr>
                  <a:t>inc</a:t>
                </a:r>
                <a:endParaRPr lang="zh-CN" altLang="en-US" sz="24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46" name="文本框 81922">
              <a:extLst>
                <a:ext uri="{FF2B5EF4-FFF2-40B4-BE49-F238E27FC236}">
                  <a16:creationId xmlns:a16="http://schemas.microsoft.com/office/drawing/2014/main" id="{7B8C0649-9C03-4261-9467-544BE4DC8A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058" y="4223353"/>
              <a:ext cx="472887" cy="455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chemeClr val="accent6">
                      <a:lumMod val="50000"/>
                    </a:schemeClr>
                  </a:solidFill>
                  <a:ea typeface="楷体_GB2312" pitchFamily="49" charset="-122"/>
                </a:rPr>
                <a:t>L</a:t>
              </a:r>
              <a:endParaRPr lang="zh-CN" altLang="en-US" sz="2400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1E72FCE2-E00E-8E51-CBB7-5AB344B70AA2}"/>
                </a:ext>
              </a:extLst>
            </p:cNvPr>
            <p:cNvSpPr/>
            <p:nvPr/>
          </p:nvSpPr>
          <p:spPr>
            <a:xfrm>
              <a:off x="6177354" y="6014327"/>
              <a:ext cx="514413" cy="457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FBE6771-7741-1E72-6E2A-EA9F5B646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282593"/>
            <a:ext cx="2743200" cy="365125"/>
          </a:xfrm>
        </p:spPr>
        <p:txBody>
          <a:bodyPr/>
          <a:lstStyle/>
          <a:p>
            <a:fld id="{D7C0FE0B-717B-41AE-9FA2-CA4BF851D1C3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147" name="标题 1">
            <a:extLst>
              <a:ext uri="{FF2B5EF4-FFF2-40B4-BE49-F238E27FC236}">
                <a16:creationId xmlns:a16="http://schemas.microsoft.com/office/drawing/2014/main" id="{F0879BFD-A109-A5E5-0E68-CADDBC9486C1}"/>
              </a:ext>
            </a:extLst>
          </p:cNvPr>
          <p:cNvSpPr txBox="1">
            <a:spLocks/>
          </p:cNvSpPr>
          <p:nvPr/>
        </p:nvSpPr>
        <p:spPr>
          <a:xfrm>
            <a:off x="1562671" y="321398"/>
            <a:ext cx="5393300" cy="5590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宋体" panose="02010600030101010101" pitchFamily="2" charset="-122"/>
                <a:cs typeface="+mn-cs"/>
              </a:rPr>
              <a:t>算法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宋体" panose="02010600030101010101" pitchFamily="2" charset="-122"/>
                <a:cs typeface="+mn-cs"/>
              </a:rPr>
              <a:t>2.3</a:t>
            </a:r>
            <a:r>
              <a:rPr lang="en-US" altLang="zh-CN" sz="2800" b="1" dirty="0">
                <a:solidFill>
                  <a:srgbClr val="C00000"/>
                </a:solidFill>
                <a:latin typeface="微软雅黑" pitchFamily="34" charset="-122"/>
                <a:ea typeface="宋体" panose="02010600030101010101" pitchFamily="2" charset="-122"/>
                <a:cs typeface="+mn-cs"/>
              </a:rPr>
              <a:t>  </a:t>
            </a:r>
            <a:r>
              <a:rPr lang="zh-CN" altLang="en-US" sz="2800" b="1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顺序</a:t>
            </a:r>
            <a:r>
              <a:rPr lang="zh-CN" altLang="en-US" sz="2800" b="1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表的初始化操作</a:t>
            </a:r>
            <a:endParaRPr lang="zh-CN" altLang="en-US" sz="2800" dirty="0"/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AE2A4D7A-9897-C27C-49B5-0A2930155FE2}"/>
              </a:ext>
            </a:extLst>
          </p:cNvPr>
          <p:cNvSpPr txBox="1"/>
          <p:nvPr/>
        </p:nvSpPr>
        <p:spPr>
          <a:xfrm>
            <a:off x="538177" y="1163541"/>
            <a:ext cx="10585176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SqList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InitList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size, </a:t>
            </a:r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) </a:t>
            </a:r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5B2DBC4B-EEEC-9E24-69CC-B378755889E6}"/>
              </a:ext>
            </a:extLst>
          </p:cNvPr>
          <p:cNvSpPr txBox="1"/>
          <p:nvPr/>
        </p:nvSpPr>
        <p:spPr>
          <a:xfrm>
            <a:off x="719107" y="3396150"/>
            <a:ext cx="6115722" cy="1669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L-&gt;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      </a:t>
            </a:r>
            <a:r>
              <a:rPr lang="en-US" altLang="zh-CN" sz="2000" b="1" dirty="0">
                <a:solidFill>
                  <a:srgbClr val="00808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// </a:t>
            </a:r>
            <a:r>
              <a:rPr lang="zh-CN" altLang="en-US" sz="2000" b="1" dirty="0">
                <a:solidFill>
                  <a:srgbClr val="00808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空表长度为</a:t>
            </a:r>
            <a:r>
              <a:rPr lang="en-US" altLang="zh-CN" sz="2000" b="1" dirty="0">
                <a:solidFill>
                  <a:srgbClr val="00808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0</a:t>
            </a: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L-&gt;size = size;  </a:t>
            </a:r>
            <a:r>
              <a:rPr lang="en-US" altLang="zh-CN" sz="2000" b="1" dirty="0">
                <a:solidFill>
                  <a:srgbClr val="00808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// </a:t>
            </a:r>
            <a:r>
              <a:rPr lang="zh-CN" altLang="en-US" sz="2000" b="1" dirty="0">
                <a:solidFill>
                  <a:srgbClr val="00808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初始分配容量</a:t>
            </a:r>
            <a:endParaRPr lang="en-US" altLang="zh-CN" sz="2000" b="1" dirty="0">
              <a:solidFill>
                <a:srgbClr val="008080"/>
              </a:solidFill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L-&gt;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inc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inc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   </a:t>
            </a:r>
            <a:r>
              <a:rPr lang="en-US" altLang="zh-CN" sz="2000" b="1" dirty="0">
                <a:solidFill>
                  <a:srgbClr val="00808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// </a:t>
            </a:r>
            <a:r>
              <a:rPr lang="zh-CN" altLang="en-US" sz="2000" b="1" dirty="0">
                <a:solidFill>
                  <a:srgbClr val="00808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扩容增量</a:t>
            </a:r>
            <a:endParaRPr lang="en-US" altLang="zh-CN" sz="2000" b="1" dirty="0">
              <a:solidFill>
                <a:srgbClr val="008080"/>
              </a:solidFill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L;    </a:t>
            </a:r>
            <a:r>
              <a:rPr lang="en-US" altLang="zh-CN" sz="2000" b="1" dirty="0">
                <a:solidFill>
                  <a:srgbClr val="00808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// </a:t>
            </a:r>
            <a:r>
              <a:rPr lang="zh-CN" altLang="en-US" sz="2000" b="1" dirty="0">
                <a:solidFill>
                  <a:srgbClr val="00808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返回空表</a:t>
            </a:r>
            <a:r>
              <a:rPr lang="en-US" altLang="zh-CN" sz="2000" b="1" dirty="0">
                <a:solidFill>
                  <a:srgbClr val="00808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L</a:t>
            </a:r>
            <a:endParaRPr lang="zh-CN" altLang="en-US" sz="2000" b="1" dirty="0">
              <a:solidFill>
                <a:srgbClr val="008080"/>
              </a:solidFill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FBA62774-F72B-75A3-258F-93345752923B}"/>
              </a:ext>
            </a:extLst>
          </p:cNvPr>
          <p:cNvSpPr txBox="1"/>
          <p:nvPr/>
        </p:nvSpPr>
        <p:spPr>
          <a:xfrm>
            <a:off x="6321327" y="1239712"/>
            <a:ext cx="38484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//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构造</a:t>
            </a:r>
            <a:r>
              <a:rPr lang="zh-CN" altLang="en-US" sz="2000" b="1" dirty="0">
                <a:solidFill>
                  <a:srgbClr val="00808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并返回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一个空的线性表 </a:t>
            </a:r>
            <a:endParaRPr lang="zh-CN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5591B0D9-CBBA-9F30-DF47-ED66CCC6412A}"/>
              </a:ext>
            </a:extLst>
          </p:cNvPr>
          <p:cNvSpPr txBox="1"/>
          <p:nvPr/>
        </p:nvSpPr>
        <p:spPr>
          <a:xfrm>
            <a:off x="705802" y="2422405"/>
            <a:ext cx="10663693" cy="467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627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L-&gt;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elem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= (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ElemType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*)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  <a:sym typeface="Symbol" panose="05050102010706020507" pitchFamily="18" charset="2"/>
              </a:rPr>
              <a:t>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ElemType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));</a:t>
            </a:r>
            <a:endParaRPr lang="zh-CN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E8E9BD9F-645C-429F-C2BD-076541C7659B}"/>
              </a:ext>
            </a:extLst>
          </p:cNvPr>
          <p:cNvSpPr txBox="1"/>
          <p:nvPr/>
        </p:nvSpPr>
        <p:spPr>
          <a:xfrm>
            <a:off x="705803" y="2964640"/>
            <a:ext cx="61157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(</a:t>
            </a:r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L-&gt;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elem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exit(OVERFLOW);</a:t>
            </a:r>
            <a:endParaRPr lang="zh-CN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2B77C212-BDA6-736D-3A98-D122F6CCD1C6}"/>
              </a:ext>
            </a:extLst>
          </p:cNvPr>
          <p:cNvSpPr txBox="1"/>
          <p:nvPr/>
        </p:nvSpPr>
        <p:spPr>
          <a:xfrm>
            <a:off x="561669" y="5065768"/>
            <a:ext cx="486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6A5B6AC1-FB7F-7058-B6F8-79507E65E67A}"/>
              </a:ext>
            </a:extLst>
          </p:cNvPr>
          <p:cNvGrpSpPr/>
          <p:nvPr/>
        </p:nvGrpSpPr>
        <p:grpSpPr>
          <a:xfrm>
            <a:off x="6624445" y="4073658"/>
            <a:ext cx="4869022" cy="859829"/>
            <a:chOff x="6331649" y="4365898"/>
            <a:chExt cx="4869022" cy="859829"/>
          </a:xfrm>
        </p:grpSpPr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35089036-BDF8-685F-1133-211CE218C283}"/>
                </a:ext>
              </a:extLst>
            </p:cNvPr>
            <p:cNvSpPr/>
            <p:nvPr/>
          </p:nvSpPr>
          <p:spPr>
            <a:xfrm>
              <a:off x="6938459" y="4768527"/>
              <a:ext cx="514413" cy="457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矩形 155">
              <a:extLst>
                <a:ext uri="{FF2B5EF4-FFF2-40B4-BE49-F238E27FC236}">
                  <a16:creationId xmlns:a16="http://schemas.microsoft.com/office/drawing/2014/main" id="{305BCF9A-6D1F-E418-1F5F-71F35FCC4814}"/>
                </a:ext>
              </a:extLst>
            </p:cNvPr>
            <p:cNvSpPr/>
            <p:nvPr/>
          </p:nvSpPr>
          <p:spPr>
            <a:xfrm>
              <a:off x="7452520" y="4767357"/>
              <a:ext cx="514413" cy="45823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92FEC614-60E6-13AD-C955-0A685E4723E5}"/>
                </a:ext>
              </a:extLst>
            </p:cNvPr>
            <p:cNvSpPr/>
            <p:nvPr/>
          </p:nvSpPr>
          <p:spPr>
            <a:xfrm>
              <a:off x="7966581" y="4768527"/>
              <a:ext cx="514413" cy="457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12E90511-99A2-30B8-ED3C-4C735823FC39}"/>
                </a:ext>
              </a:extLst>
            </p:cNvPr>
            <p:cNvSpPr/>
            <p:nvPr/>
          </p:nvSpPr>
          <p:spPr>
            <a:xfrm>
              <a:off x="8482420" y="4767498"/>
              <a:ext cx="832669" cy="457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accent6">
                      <a:lumMod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…</a:t>
              </a:r>
              <a:endParaRPr lang="zh-CN" altLang="en-US" dirty="0"/>
            </a:p>
          </p:txBody>
        </p:sp>
        <p:sp>
          <p:nvSpPr>
            <p:cNvPr id="159" name="矩形 158">
              <a:extLst>
                <a:ext uri="{FF2B5EF4-FFF2-40B4-BE49-F238E27FC236}">
                  <a16:creationId xmlns:a16="http://schemas.microsoft.com/office/drawing/2014/main" id="{C1D4DC23-B3DB-5610-F6A6-6AA86CE4865F}"/>
                </a:ext>
              </a:extLst>
            </p:cNvPr>
            <p:cNvSpPr/>
            <p:nvPr/>
          </p:nvSpPr>
          <p:spPr>
            <a:xfrm>
              <a:off x="9318997" y="4767497"/>
              <a:ext cx="514413" cy="45670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44166703-BC12-FFCD-3219-BE0BD5AF9178}"/>
                </a:ext>
              </a:extLst>
            </p:cNvPr>
            <p:cNvSpPr/>
            <p:nvPr/>
          </p:nvSpPr>
          <p:spPr>
            <a:xfrm>
              <a:off x="10635679" y="4767497"/>
              <a:ext cx="514413" cy="45670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文本框 81922">
              <a:extLst>
                <a:ext uri="{FF2B5EF4-FFF2-40B4-BE49-F238E27FC236}">
                  <a16:creationId xmlns:a16="http://schemas.microsoft.com/office/drawing/2014/main" id="{1DA7AC4F-4E54-E167-25E7-1E910EE5AF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8459" y="4365898"/>
              <a:ext cx="512459" cy="425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200" b="1" dirty="0">
                  <a:solidFill>
                    <a:schemeClr val="accent6">
                      <a:lumMod val="50000"/>
                    </a:schemeClr>
                  </a:solidFill>
                </a:rPr>
                <a:t>0</a:t>
              </a:r>
              <a:endParaRPr lang="zh-CN" altLang="en-US" sz="2200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62" name="文本框 81922">
              <a:extLst>
                <a:ext uri="{FF2B5EF4-FFF2-40B4-BE49-F238E27FC236}">
                  <a16:creationId xmlns:a16="http://schemas.microsoft.com/office/drawing/2014/main" id="{FEF95B61-6FAD-2B23-0271-69A44D84B0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3320" y="4370859"/>
              <a:ext cx="512459" cy="425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200" b="1" dirty="0">
                  <a:solidFill>
                    <a:schemeClr val="accent6">
                      <a:lumMod val="50000"/>
                    </a:schemeClr>
                  </a:solidFill>
                </a:rPr>
                <a:t>1</a:t>
              </a:r>
              <a:endParaRPr lang="zh-CN" altLang="en-US" sz="2200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63" name="文本框 81922">
              <a:extLst>
                <a:ext uri="{FF2B5EF4-FFF2-40B4-BE49-F238E27FC236}">
                  <a16:creationId xmlns:a16="http://schemas.microsoft.com/office/drawing/2014/main" id="{222E1BE1-D4F2-3ABB-019A-39963F6FF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4627" y="4365898"/>
              <a:ext cx="512459" cy="425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200" b="1" dirty="0">
                  <a:solidFill>
                    <a:schemeClr val="accent6">
                      <a:lumMod val="50000"/>
                    </a:schemeClr>
                  </a:solidFill>
                </a:rPr>
                <a:t>2</a:t>
              </a:r>
              <a:endParaRPr lang="zh-CN" altLang="en-US" sz="2200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64" name="文本框 81922">
              <a:extLst>
                <a:ext uri="{FF2B5EF4-FFF2-40B4-BE49-F238E27FC236}">
                  <a16:creationId xmlns:a16="http://schemas.microsoft.com/office/drawing/2014/main" id="{B701FF45-3A82-E984-B341-B9367569D8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39858" y="4365898"/>
              <a:ext cx="512459" cy="432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200" b="1" dirty="0">
                  <a:solidFill>
                    <a:schemeClr val="accent6">
                      <a:lumMod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…</a:t>
              </a:r>
              <a:endParaRPr lang="zh-CN" altLang="en-US" sz="2200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65" name="文本框 81922">
              <a:extLst>
                <a:ext uri="{FF2B5EF4-FFF2-40B4-BE49-F238E27FC236}">
                  <a16:creationId xmlns:a16="http://schemas.microsoft.com/office/drawing/2014/main" id="{6923DA4C-3AB3-5021-5A2F-8F102D23DF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27137" y="4373144"/>
              <a:ext cx="512459" cy="425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200" b="1" dirty="0">
                  <a:solidFill>
                    <a:schemeClr val="accent6">
                      <a:lumMod val="50000"/>
                    </a:schemeClr>
                  </a:solidFill>
                </a:rPr>
                <a:t>i</a:t>
              </a:r>
              <a:endParaRPr lang="zh-CN" altLang="en-US" sz="2200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F2429491-8C53-0B2D-CB02-273FE0606531}"/>
                </a:ext>
              </a:extLst>
            </p:cNvPr>
            <p:cNvSpPr/>
            <p:nvPr/>
          </p:nvSpPr>
          <p:spPr>
            <a:xfrm>
              <a:off x="9833410" y="4768394"/>
              <a:ext cx="832669" cy="457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accent6">
                      <a:lumMod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…</a:t>
              </a:r>
              <a:endParaRPr lang="zh-CN" altLang="en-US" dirty="0"/>
            </a:p>
          </p:txBody>
        </p:sp>
        <p:sp>
          <p:nvSpPr>
            <p:cNvPr id="167" name="文本框 81922">
              <a:extLst>
                <a:ext uri="{FF2B5EF4-FFF2-40B4-BE49-F238E27FC236}">
                  <a16:creationId xmlns:a16="http://schemas.microsoft.com/office/drawing/2014/main" id="{227DDD05-2F36-0696-89C9-BFDEA1C8FF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90848" y="4366794"/>
              <a:ext cx="512459" cy="432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200" b="1" dirty="0">
                  <a:solidFill>
                    <a:schemeClr val="accent6">
                      <a:lumMod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…</a:t>
              </a:r>
              <a:endParaRPr lang="zh-CN" altLang="en-US" sz="2200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68" name="文本框 81922">
              <a:extLst>
                <a:ext uri="{FF2B5EF4-FFF2-40B4-BE49-F238E27FC236}">
                  <a16:creationId xmlns:a16="http://schemas.microsoft.com/office/drawing/2014/main" id="{F06B50DD-0449-6A61-57D9-EA274AF748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88212" y="4365898"/>
              <a:ext cx="512459" cy="425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200" b="1" dirty="0">
                  <a:solidFill>
                    <a:schemeClr val="accent6">
                      <a:lumMod val="50000"/>
                    </a:schemeClr>
                  </a:solidFill>
                </a:rPr>
                <a:t>19</a:t>
              </a:r>
              <a:endParaRPr lang="zh-CN" altLang="en-US" sz="2200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cxnSp>
          <p:nvCxnSpPr>
            <p:cNvPr id="169" name="直接箭头连接符 168">
              <a:extLst>
                <a:ext uri="{FF2B5EF4-FFF2-40B4-BE49-F238E27FC236}">
                  <a16:creationId xmlns:a16="http://schemas.microsoft.com/office/drawing/2014/main" id="{D51882DF-8B4C-B127-B0F7-475F82B5A64B}"/>
                </a:ext>
              </a:extLst>
            </p:cNvPr>
            <p:cNvCxnSpPr>
              <a:cxnSpLocks/>
              <a:endCxn id="155" idx="1"/>
            </p:cNvCxnSpPr>
            <p:nvPr/>
          </p:nvCxnSpPr>
          <p:spPr>
            <a:xfrm>
              <a:off x="6331649" y="4995850"/>
              <a:ext cx="606810" cy="1277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oval" w="med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0" name="文本框 169">
            <a:extLst>
              <a:ext uri="{FF2B5EF4-FFF2-40B4-BE49-F238E27FC236}">
                <a16:creationId xmlns:a16="http://schemas.microsoft.com/office/drawing/2014/main" id="{7C3EB873-B4E2-EE83-CADD-B06DA9C9434A}"/>
              </a:ext>
            </a:extLst>
          </p:cNvPr>
          <p:cNvSpPr txBox="1"/>
          <p:nvPr/>
        </p:nvSpPr>
        <p:spPr>
          <a:xfrm>
            <a:off x="8837552" y="2506351"/>
            <a:ext cx="24182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//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分配元素空间</a:t>
            </a:r>
            <a:endParaRPr lang="zh-CN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9BD07275-0420-407C-AB1C-08014BE0B63F}"/>
              </a:ext>
            </a:extLst>
          </p:cNvPr>
          <p:cNvSpPr txBox="1"/>
          <p:nvPr/>
        </p:nvSpPr>
        <p:spPr>
          <a:xfrm>
            <a:off x="6486101" y="4914284"/>
            <a:ext cx="283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C00000"/>
                </a:solidFill>
              </a:rPr>
              <a:t>0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3A1FB0C2-70E5-F508-09D6-94A79FACD66C}"/>
              </a:ext>
            </a:extLst>
          </p:cNvPr>
          <p:cNvSpPr txBox="1"/>
          <p:nvPr/>
        </p:nvSpPr>
        <p:spPr>
          <a:xfrm>
            <a:off x="6359402" y="5407027"/>
            <a:ext cx="56811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C00000"/>
                </a:solidFill>
              </a:rPr>
              <a:t>20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65222778-86F2-6358-5724-80459CB0B57E}"/>
              </a:ext>
            </a:extLst>
          </p:cNvPr>
          <p:cNvSpPr txBox="1"/>
          <p:nvPr/>
        </p:nvSpPr>
        <p:spPr>
          <a:xfrm>
            <a:off x="705802" y="1592177"/>
            <a:ext cx="10663693" cy="467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627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SqList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L;</a:t>
            </a:r>
            <a:endParaRPr lang="zh-CN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4" name="文本框 150">
            <a:extLst>
              <a:ext uri="{FF2B5EF4-FFF2-40B4-BE49-F238E27FC236}">
                <a16:creationId xmlns:a16="http://schemas.microsoft.com/office/drawing/2014/main" id="{5591B0D9-CBBA-9F30-DF47-ED66CCC6412A}"/>
              </a:ext>
            </a:extLst>
          </p:cNvPr>
          <p:cNvSpPr txBox="1"/>
          <p:nvPr/>
        </p:nvSpPr>
        <p:spPr>
          <a:xfrm>
            <a:off x="716271" y="1958205"/>
            <a:ext cx="10663693" cy="4675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627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(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(L = (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SqList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(*L)))) exit(OVERFLOW);</a:t>
            </a:r>
            <a:endParaRPr lang="zh-CN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5" name="文本框 6">
            <a:extLst>
              <a:ext uri="{FF2B5EF4-FFF2-40B4-BE49-F238E27FC236}">
                <a16:creationId xmlns:a16="http://schemas.microsoft.com/office/drawing/2014/main" id="{AC25B33D-FE25-92AE-8AC4-C0ABC6775BBD}"/>
              </a:ext>
            </a:extLst>
          </p:cNvPr>
          <p:cNvSpPr txBox="1"/>
          <p:nvPr/>
        </p:nvSpPr>
        <p:spPr>
          <a:xfrm>
            <a:off x="4974017" y="885745"/>
            <a:ext cx="793899" cy="523220"/>
          </a:xfrm>
          <a:prstGeom prst="rect">
            <a:avLst/>
          </a:prstGeom>
          <a:noFill/>
          <a:ln w="38100" cmpd="sng">
            <a:noFill/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en-US" altLang="zh-CN" sz="2800" noProof="1">
                <a:solidFill>
                  <a:srgbClr val="C00000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10</a:t>
            </a:r>
          </a:p>
        </p:txBody>
      </p:sp>
      <p:sp>
        <p:nvSpPr>
          <p:cNvPr id="176" name="Text Box 78">
            <a:extLst>
              <a:ext uri="{FF2B5EF4-FFF2-40B4-BE49-F238E27FC236}">
                <a16:creationId xmlns:a16="http://schemas.microsoft.com/office/drawing/2014/main" id="{84DA82C8-A1C6-2EA5-5148-CC67A15EC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0833" y="886264"/>
            <a:ext cx="671420" cy="523220"/>
          </a:xfrm>
          <a:prstGeom prst="rect">
            <a:avLst/>
          </a:prstGeom>
          <a:noFill/>
          <a:ln w="38100" cmpd="sng">
            <a:noFill/>
          </a:ln>
        </p:spPr>
        <p:txBody>
          <a:bodyPr wrap="square" anchor="b">
            <a:spAutoFit/>
          </a:bodyPr>
          <a:lstStyle>
            <a:defPPr>
              <a:defRPr lang="zh-CN"/>
            </a:defPPr>
            <a:lvl1pPr algn="ctr" defTabSz="457200" fontAlgn="ctr">
              <a:spcBef>
                <a:spcPct val="50000"/>
              </a:spcBef>
              <a:defRPr sz="2800">
                <a:solidFill>
                  <a:srgbClr val="C00000"/>
                </a:solidFill>
                <a:effectLst>
                  <a:outerShdw blurRad="38100" dist="38100" dir="2700000">
                    <a:srgbClr val="000000"/>
                  </a:outerShdw>
                </a:effectLst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lang="en-US" altLang="zh-CN" dirty="0"/>
              <a:t>20</a:t>
            </a:r>
          </a:p>
        </p:txBody>
      </p:sp>
      <p:sp>
        <p:nvSpPr>
          <p:cNvPr id="178" name="文本框 171">
            <a:extLst>
              <a:ext uri="{FF2B5EF4-FFF2-40B4-BE49-F238E27FC236}">
                <a16:creationId xmlns:a16="http://schemas.microsoft.com/office/drawing/2014/main" id="{3A1FB0C2-70E5-F508-09D6-94A79FACD66C}"/>
              </a:ext>
            </a:extLst>
          </p:cNvPr>
          <p:cNvSpPr txBox="1"/>
          <p:nvPr/>
        </p:nvSpPr>
        <p:spPr>
          <a:xfrm>
            <a:off x="6359402" y="5863801"/>
            <a:ext cx="56811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rgbClr val="C00000"/>
                </a:solidFill>
              </a:rPr>
              <a:t>10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818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/>
      <p:bldP spid="149" grpId="0" uiExpand="1" build="p"/>
      <p:bldP spid="150" grpId="0"/>
      <p:bldP spid="151" grpId="0"/>
      <p:bldP spid="152" grpId="0"/>
      <p:bldP spid="153" grpId="0"/>
      <p:bldP spid="170" grpId="0"/>
      <p:bldP spid="171" grpId="0"/>
      <p:bldP spid="172" grpId="0"/>
      <p:bldP spid="173" grpId="0"/>
      <p:bldP spid="174" grpId="0"/>
      <p:bldP spid="175" grpId="0"/>
      <p:bldP spid="176" grpId="0"/>
      <p:bldP spid="17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F37B9C9-6DE2-A779-8852-F7A5E4599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53" name="Text Box 2">
            <a:extLst>
              <a:ext uri="{FF2B5EF4-FFF2-40B4-BE49-F238E27FC236}">
                <a16:creationId xmlns:a16="http://schemas.microsoft.com/office/drawing/2014/main" id="{522CE07C-7B84-B441-4D57-3EDEC530A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865291"/>
            <a:ext cx="11784632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ListInsert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SqList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L,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ElemType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</a:p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(!L ||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&lt;1 ||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&gt;L-&gt;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len+1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ERROR; </a:t>
            </a:r>
            <a:r>
              <a:rPr lang="en-US" altLang="zh-CN" sz="2200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// </a:t>
            </a:r>
            <a:r>
              <a:rPr lang="zh-CN" altLang="en-US" sz="2200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若插入位置不合法，报错</a:t>
            </a:r>
          </a:p>
          <a:p>
            <a:endParaRPr lang="en-US" altLang="zh-CN" sz="2200" b="1" dirty="0">
              <a:solidFill>
                <a:srgbClr val="CC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endParaRPr lang="en-US" altLang="zh-CN" sz="2200" b="1" dirty="0">
              <a:solidFill>
                <a:srgbClr val="CC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endParaRPr lang="en-US" altLang="zh-CN" sz="2200" b="1" dirty="0">
              <a:solidFill>
                <a:srgbClr val="CC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endParaRPr lang="en-US" altLang="zh-CN" sz="2200" b="1" dirty="0">
              <a:solidFill>
                <a:srgbClr val="CC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endParaRPr lang="en-US" altLang="zh-CN" sz="2200" b="1" dirty="0">
              <a:solidFill>
                <a:srgbClr val="CC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endParaRPr lang="en-US" altLang="zh-CN" sz="2200" b="1" dirty="0">
              <a:solidFill>
                <a:srgbClr val="CC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endParaRPr lang="en-US" altLang="zh-CN" sz="2200" b="1" dirty="0">
              <a:solidFill>
                <a:srgbClr val="CC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endParaRPr lang="en-US" altLang="zh-CN" sz="2200" b="1" dirty="0">
              <a:solidFill>
                <a:srgbClr val="CC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endParaRPr lang="en-US" altLang="zh-CN" sz="2200" b="1" dirty="0">
              <a:solidFill>
                <a:srgbClr val="CC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200" b="1" dirty="0">
                <a:solidFill>
                  <a:srgbClr val="0070C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// </a:t>
            </a:r>
            <a:r>
              <a:rPr lang="en-US" altLang="zh-CN" sz="2200" b="1" dirty="0" err="1">
                <a:solidFill>
                  <a:srgbClr val="0070C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ListInsert</a:t>
            </a:r>
            <a:r>
              <a:rPr lang="en-US" altLang="zh-CN" sz="2200" b="1" dirty="0">
                <a:solidFill>
                  <a:srgbClr val="0070C0"/>
                </a:solidFill>
                <a:latin typeface="Courier New" panose="02070309020205020404" pitchFamily="49" charset="0"/>
                <a:ea typeface="楷体_GB2312" pitchFamily="49" charset="-122"/>
                <a:cs typeface="Courier New" panose="02070309020205020404" pitchFamily="49" charset="0"/>
              </a:rPr>
              <a:t>                         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840FE91-A979-4E10-6A9C-81D4213DCC2F}"/>
              </a:ext>
            </a:extLst>
          </p:cNvPr>
          <p:cNvSpPr txBox="1"/>
          <p:nvPr/>
        </p:nvSpPr>
        <p:spPr>
          <a:xfrm>
            <a:off x="7183692" y="4235686"/>
            <a:ext cx="594480" cy="584774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A</a:t>
            </a:r>
          </a:p>
        </p:txBody>
      </p:sp>
      <p:sp>
        <p:nvSpPr>
          <p:cNvPr id="55" name="文本框 6">
            <a:extLst>
              <a:ext uri="{FF2B5EF4-FFF2-40B4-BE49-F238E27FC236}">
                <a16:creationId xmlns:a16="http://schemas.microsoft.com/office/drawing/2014/main" id="{745B434E-C3B8-4916-7DCC-C2097D9DB74D}"/>
              </a:ext>
            </a:extLst>
          </p:cNvPr>
          <p:cNvSpPr txBox="1"/>
          <p:nvPr/>
        </p:nvSpPr>
        <p:spPr>
          <a:xfrm>
            <a:off x="7772579" y="4235686"/>
            <a:ext cx="594481" cy="584774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C</a:t>
            </a:r>
          </a:p>
        </p:txBody>
      </p:sp>
      <p:sp>
        <p:nvSpPr>
          <p:cNvPr id="56" name="文本框 7">
            <a:extLst>
              <a:ext uri="{FF2B5EF4-FFF2-40B4-BE49-F238E27FC236}">
                <a16:creationId xmlns:a16="http://schemas.microsoft.com/office/drawing/2014/main" id="{C1A31AED-358A-7041-9149-EF3BE6B35EE6}"/>
              </a:ext>
            </a:extLst>
          </p:cNvPr>
          <p:cNvSpPr txBox="1"/>
          <p:nvPr/>
        </p:nvSpPr>
        <p:spPr>
          <a:xfrm>
            <a:off x="8372719" y="4235684"/>
            <a:ext cx="587022" cy="58477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E</a:t>
            </a:r>
          </a:p>
        </p:txBody>
      </p:sp>
      <p:sp>
        <p:nvSpPr>
          <p:cNvPr id="57" name="Text Box 78">
            <a:extLst>
              <a:ext uri="{FF2B5EF4-FFF2-40B4-BE49-F238E27FC236}">
                <a16:creationId xmlns:a16="http://schemas.microsoft.com/office/drawing/2014/main" id="{74E499CF-F500-B716-C266-87B488062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5296" y="4754849"/>
            <a:ext cx="51375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8080"/>
                </a:solidFill>
              </a:rPr>
              <a:t>  </a:t>
            </a:r>
            <a:r>
              <a:rPr lang="zh-CN" altLang="en-US" sz="2000" b="1" dirty="0">
                <a:solidFill>
                  <a:srgbClr val="008080"/>
                </a:solidFill>
              </a:rPr>
              <a:t>元素下标：</a:t>
            </a:r>
            <a:r>
              <a:rPr lang="en-US" altLang="zh-CN" sz="2000" b="1" dirty="0">
                <a:solidFill>
                  <a:srgbClr val="008080"/>
                </a:solidFill>
              </a:rPr>
              <a:t> 0    </a:t>
            </a:r>
            <a:r>
              <a:rPr lang="en-US" altLang="zh-CN" b="1" dirty="0">
                <a:solidFill>
                  <a:srgbClr val="008080"/>
                </a:solidFill>
              </a:rPr>
              <a:t>    </a:t>
            </a:r>
            <a:r>
              <a:rPr lang="en-US" altLang="zh-CN" sz="2000" b="1" dirty="0">
                <a:solidFill>
                  <a:srgbClr val="008080"/>
                </a:solidFill>
              </a:rPr>
              <a:t>1    </a:t>
            </a:r>
            <a:r>
              <a:rPr lang="en-US" altLang="zh-CN" b="1" dirty="0">
                <a:solidFill>
                  <a:srgbClr val="008080"/>
                </a:solidFill>
              </a:rPr>
              <a:t>    </a:t>
            </a:r>
            <a:r>
              <a:rPr lang="en-US" altLang="zh-CN" sz="2000" b="1" dirty="0">
                <a:solidFill>
                  <a:srgbClr val="008080"/>
                </a:solidFill>
              </a:rPr>
              <a:t>2     </a:t>
            </a:r>
            <a:r>
              <a:rPr lang="en-US" altLang="zh-CN" b="1" dirty="0">
                <a:solidFill>
                  <a:srgbClr val="008080"/>
                </a:solidFill>
              </a:rPr>
              <a:t>  </a:t>
            </a:r>
            <a:r>
              <a:rPr lang="en-US" altLang="zh-CN" sz="2000" b="1" dirty="0">
                <a:solidFill>
                  <a:srgbClr val="008080"/>
                </a:solidFill>
              </a:rPr>
              <a:t>3    </a:t>
            </a:r>
            <a:r>
              <a:rPr lang="en-US" altLang="zh-CN" b="1" dirty="0">
                <a:solidFill>
                  <a:srgbClr val="008080"/>
                </a:solidFill>
              </a:rPr>
              <a:t>    </a:t>
            </a:r>
            <a:r>
              <a:rPr lang="en-US" altLang="zh-CN" sz="2000" b="1" dirty="0">
                <a:solidFill>
                  <a:srgbClr val="008080"/>
                </a:solidFill>
              </a:rPr>
              <a:t>4  </a:t>
            </a:r>
            <a:r>
              <a:rPr lang="en-US" altLang="zh-CN" b="1" dirty="0">
                <a:solidFill>
                  <a:srgbClr val="008080"/>
                </a:solidFill>
              </a:rPr>
              <a:t>      </a:t>
            </a:r>
            <a:r>
              <a:rPr lang="en-US" altLang="zh-CN" sz="2000" b="1" dirty="0">
                <a:solidFill>
                  <a:srgbClr val="008080"/>
                </a:solidFill>
              </a:rPr>
              <a:t>5 </a:t>
            </a:r>
          </a:p>
        </p:txBody>
      </p:sp>
      <p:sp>
        <p:nvSpPr>
          <p:cNvPr id="58" name="Text Box 78">
            <a:extLst>
              <a:ext uri="{FF2B5EF4-FFF2-40B4-BE49-F238E27FC236}">
                <a16:creationId xmlns:a16="http://schemas.microsoft.com/office/drawing/2014/main" id="{BED611AC-B623-D5E5-BBDA-20E8FD872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4033" y="3853614"/>
            <a:ext cx="531606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</a:rPr>
              <a:t>插入位置： </a:t>
            </a:r>
            <a:r>
              <a:rPr lang="en-US" altLang="zh-CN" sz="2000" b="1" dirty="0">
                <a:solidFill>
                  <a:srgbClr val="FF0000"/>
                </a:solidFill>
              </a:rPr>
              <a:t>1        2   </a:t>
            </a:r>
            <a:r>
              <a:rPr lang="en-US" altLang="zh-CN" b="1" dirty="0">
                <a:solidFill>
                  <a:srgbClr val="FF0000"/>
                </a:solidFill>
              </a:rPr>
              <a:t>   </a:t>
            </a:r>
            <a:r>
              <a:rPr lang="en-US" altLang="zh-CN" sz="2000" b="1" dirty="0">
                <a:solidFill>
                  <a:srgbClr val="FF0000"/>
                </a:solidFill>
              </a:rPr>
              <a:t> 3       4    </a:t>
            </a:r>
            <a:r>
              <a:rPr lang="en-US" altLang="zh-CN" b="1" dirty="0">
                <a:solidFill>
                  <a:srgbClr val="FF0000"/>
                </a:solidFill>
              </a:rPr>
              <a:t>    </a:t>
            </a:r>
            <a:r>
              <a:rPr lang="en-US" altLang="zh-CN" sz="2000" b="1" dirty="0">
                <a:solidFill>
                  <a:srgbClr val="FF0000"/>
                </a:solidFill>
              </a:rPr>
              <a:t>5        6      7 </a:t>
            </a:r>
          </a:p>
        </p:txBody>
      </p:sp>
      <p:sp>
        <p:nvSpPr>
          <p:cNvPr id="59" name="文本框 7">
            <a:extLst>
              <a:ext uri="{FF2B5EF4-FFF2-40B4-BE49-F238E27FC236}">
                <a16:creationId xmlns:a16="http://schemas.microsoft.com/office/drawing/2014/main" id="{C006310D-7244-02DA-93F9-69F242CD5A19}"/>
              </a:ext>
            </a:extLst>
          </p:cNvPr>
          <p:cNvSpPr txBox="1"/>
          <p:nvPr/>
        </p:nvSpPr>
        <p:spPr>
          <a:xfrm>
            <a:off x="8964486" y="4235684"/>
            <a:ext cx="587022" cy="58477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G</a:t>
            </a:r>
          </a:p>
        </p:txBody>
      </p:sp>
      <p:sp>
        <p:nvSpPr>
          <p:cNvPr id="60" name="文本框 7">
            <a:extLst>
              <a:ext uri="{FF2B5EF4-FFF2-40B4-BE49-F238E27FC236}">
                <a16:creationId xmlns:a16="http://schemas.microsoft.com/office/drawing/2014/main" id="{A4CEC693-83FE-E2D1-36EC-9097345F8B2E}"/>
              </a:ext>
            </a:extLst>
          </p:cNvPr>
          <p:cNvSpPr txBox="1"/>
          <p:nvPr/>
        </p:nvSpPr>
        <p:spPr>
          <a:xfrm>
            <a:off x="9561385" y="4235684"/>
            <a:ext cx="587022" cy="58477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D</a:t>
            </a:r>
          </a:p>
        </p:txBody>
      </p:sp>
      <p:sp>
        <p:nvSpPr>
          <p:cNvPr id="61" name="文本框 7">
            <a:extLst>
              <a:ext uri="{FF2B5EF4-FFF2-40B4-BE49-F238E27FC236}">
                <a16:creationId xmlns:a16="http://schemas.microsoft.com/office/drawing/2014/main" id="{214E5A5E-E80D-BB09-10CF-DF0F3B73624A}"/>
              </a:ext>
            </a:extLst>
          </p:cNvPr>
          <p:cNvSpPr txBox="1"/>
          <p:nvPr/>
        </p:nvSpPr>
        <p:spPr>
          <a:xfrm>
            <a:off x="10149360" y="4235684"/>
            <a:ext cx="587022" cy="58477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B</a:t>
            </a: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87297E8F-1395-46CF-18F7-86E26454F059}"/>
              </a:ext>
            </a:extLst>
          </p:cNvPr>
          <p:cNvGrpSpPr/>
          <p:nvPr/>
        </p:nvGrpSpPr>
        <p:grpSpPr>
          <a:xfrm>
            <a:off x="4310107" y="3900661"/>
            <a:ext cx="1600648" cy="1791400"/>
            <a:chOff x="4988208" y="4350797"/>
            <a:chExt cx="1600648" cy="1791400"/>
          </a:xfrm>
        </p:grpSpPr>
        <p:sp>
          <p:nvSpPr>
            <p:cNvPr id="63" name="文本框 81922">
              <a:extLst>
                <a:ext uri="{FF2B5EF4-FFF2-40B4-BE49-F238E27FC236}">
                  <a16:creationId xmlns:a16="http://schemas.microsoft.com/office/drawing/2014/main" id="{E946D0DE-2CD3-4F6C-BA8F-F6292E3520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1063" y="4763903"/>
              <a:ext cx="987156" cy="464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 err="1">
                  <a:solidFill>
                    <a:srgbClr val="008080"/>
                  </a:solidFill>
                  <a:latin typeface="+mn-lt"/>
                  <a:ea typeface="+mn-ea"/>
                </a:rPr>
                <a:t>elem</a:t>
              </a:r>
              <a:endParaRPr lang="zh-CN" altLang="en-US" sz="2400" b="1" dirty="0">
                <a:solidFill>
                  <a:srgbClr val="008080"/>
                </a:solidFill>
                <a:latin typeface="+mn-lt"/>
                <a:ea typeface="+mn-ea"/>
              </a:endParaRPr>
            </a:p>
          </p:txBody>
        </p:sp>
        <p:sp>
          <p:nvSpPr>
            <p:cNvPr id="64" name="文本框 81922">
              <a:extLst>
                <a:ext uri="{FF2B5EF4-FFF2-40B4-BE49-F238E27FC236}">
                  <a16:creationId xmlns:a16="http://schemas.microsoft.com/office/drawing/2014/main" id="{16307666-188E-3599-B51A-33D09EADB3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8208" y="5219220"/>
              <a:ext cx="1110746" cy="464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>
                <a:lnSpc>
                  <a:spcPct val="105000"/>
                </a:lnSpc>
                <a:spcBef>
                  <a:spcPct val="0"/>
                </a:spcBef>
                <a:buClrTx/>
                <a:buNone/>
              </a:pPr>
              <a:r>
                <a:rPr lang="en-US" altLang="zh-CN" sz="2400" b="1" dirty="0" err="1">
                  <a:solidFill>
                    <a:srgbClr val="008080"/>
                  </a:solidFill>
                  <a:latin typeface="+mn-lt"/>
                  <a:ea typeface="+mn-ea"/>
                </a:rPr>
                <a:t>len</a:t>
              </a:r>
              <a:endParaRPr lang="zh-CN" altLang="en-US" sz="2400" b="1" dirty="0">
                <a:solidFill>
                  <a:srgbClr val="008080"/>
                </a:solidFill>
                <a:latin typeface="+mn-lt"/>
                <a:ea typeface="+mn-ea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9D04E9E5-703E-DA05-7302-983C4B7B2C63}"/>
                </a:ext>
              </a:extLst>
            </p:cNvPr>
            <p:cNvSpPr/>
            <p:nvPr/>
          </p:nvSpPr>
          <p:spPr>
            <a:xfrm>
              <a:off x="6074443" y="4767250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A7761788-7DA9-17E3-2AB7-0582E2D29C07}"/>
                </a:ext>
              </a:extLst>
            </p:cNvPr>
            <p:cNvSpPr/>
            <p:nvPr/>
          </p:nvSpPr>
          <p:spPr>
            <a:xfrm>
              <a:off x="6074443" y="5227797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55066CF8-E82C-898D-9C15-25613776D1C0}"/>
                </a:ext>
              </a:extLst>
            </p:cNvPr>
            <p:cNvSpPr/>
            <p:nvPr/>
          </p:nvSpPr>
          <p:spPr>
            <a:xfrm>
              <a:off x="6074442" y="5684997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68" name="文本框 81922">
              <a:extLst>
                <a:ext uri="{FF2B5EF4-FFF2-40B4-BE49-F238E27FC236}">
                  <a16:creationId xmlns:a16="http://schemas.microsoft.com/office/drawing/2014/main" id="{4C211460-F074-4946-94E9-4D3D154F3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9055" y="5663575"/>
              <a:ext cx="1067644" cy="464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>
                <a:lnSpc>
                  <a:spcPct val="105000"/>
                </a:lnSpc>
                <a:spcBef>
                  <a:spcPct val="0"/>
                </a:spcBef>
                <a:buClrTx/>
                <a:buNone/>
              </a:pPr>
              <a:r>
                <a:rPr lang="en-US" altLang="zh-CN" sz="2400" b="1" dirty="0">
                  <a:solidFill>
                    <a:srgbClr val="008080"/>
                  </a:solidFill>
                  <a:latin typeface="+mn-lt"/>
                  <a:ea typeface="+mn-ea"/>
                </a:rPr>
                <a:t>size</a:t>
              </a:r>
              <a:endParaRPr lang="zh-CN" altLang="en-US" sz="2400" b="1" dirty="0">
                <a:solidFill>
                  <a:srgbClr val="008080"/>
                </a:solidFill>
                <a:latin typeface="+mn-lt"/>
                <a:ea typeface="+mn-ea"/>
              </a:endParaRPr>
            </a:p>
          </p:txBody>
        </p:sp>
        <p:sp>
          <p:nvSpPr>
            <p:cNvPr id="69" name="文本框 81922">
              <a:extLst>
                <a:ext uri="{FF2B5EF4-FFF2-40B4-BE49-F238E27FC236}">
                  <a16:creationId xmlns:a16="http://schemas.microsoft.com/office/drawing/2014/main" id="{364E8E1A-11A6-1A56-5398-3C66CCC115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9146" y="4350797"/>
              <a:ext cx="472887" cy="455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008080"/>
                  </a:solidFill>
                  <a:ea typeface="楷体_GB2312" pitchFamily="49" charset="-122"/>
                </a:rPr>
                <a:t>L</a:t>
              </a:r>
              <a:endParaRPr lang="zh-CN" altLang="en-US" sz="2400" b="1" dirty="0">
                <a:solidFill>
                  <a:srgbClr val="008080"/>
                </a:solidFill>
              </a:endParaRPr>
            </a:p>
          </p:txBody>
        </p:sp>
      </p:grpSp>
      <p:sp>
        <p:nvSpPr>
          <p:cNvPr id="70" name="文本框 7">
            <a:extLst>
              <a:ext uri="{FF2B5EF4-FFF2-40B4-BE49-F238E27FC236}">
                <a16:creationId xmlns:a16="http://schemas.microsoft.com/office/drawing/2014/main" id="{65D3D95D-541B-681D-4C78-C9A9BA894149}"/>
              </a:ext>
            </a:extLst>
          </p:cNvPr>
          <p:cNvSpPr txBox="1"/>
          <p:nvPr/>
        </p:nvSpPr>
        <p:spPr>
          <a:xfrm>
            <a:off x="5504432" y="4739685"/>
            <a:ext cx="283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8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92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8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4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70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dirty="0">
                <a:solidFill>
                  <a:srgbClr val="C00000"/>
                </a:solidFill>
              </a:rPr>
              <a:t>6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71" name="文本框 40">
            <a:extLst>
              <a:ext uri="{FF2B5EF4-FFF2-40B4-BE49-F238E27FC236}">
                <a16:creationId xmlns:a16="http://schemas.microsoft.com/office/drawing/2014/main" id="{67B92140-F4F3-6DDD-15FF-1E5D3F1507EA}"/>
              </a:ext>
            </a:extLst>
          </p:cNvPr>
          <p:cNvSpPr txBox="1"/>
          <p:nvPr/>
        </p:nvSpPr>
        <p:spPr>
          <a:xfrm>
            <a:off x="5383871" y="5229670"/>
            <a:ext cx="56811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8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92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8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4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70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dirty="0">
                <a:solidFill>
                  <a:srgbClr val="C00000"/>
                </a:solidFill>
              </a:rPr>
              <a:t>6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1D4B0847-8E1B-6BF2-46E6-E3CA19D5EF3A}"/>
              </a:ext>
            </a:extLst>
          </p:cNvPr>
          <p:cNvCxnSpPr>
            <a:cxnSpLocks/>
          </p:cNvCxnSpPr>
          <p:nvPr/>
        </p:nvCxnSpPr>
        <p:spPr>
          <a:xfrm>
            <a:off x="5647174" y="4542406"/>
            <a:ext cx="1536518" cy="0"/>
          </a:xfrm>
          <a:prstGeom prst="straightConnector1">
            <a:avLst/>
          </a:prstGeom>
          <a:ln w="38100"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 Box 78">
            <a:extLst>
              <a:ext uri="{FF2B5EF4-FFF2-40B4-BE49-F238E27FC236}">
                <a16:creationId xmlns:a16="http://schemas.microsoft.com/office/drawing/2014/main" id="{7A232F0B-7499-2A89-3BF9-0EB0ADC18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627" y="5150854"/>
            <a:ext cx="3573133" cy="1015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tx1"/>
                </a:solidFill>
              </a:rPr>
              <a:t>算法分三个步骤：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marL="457200" indent="-457200">
              <a:spcBef>
                <a:spcPct val="50000"/>
              </a:spcBef>
              <a:buAutoNum type="arabicPeriod"/>
            </a:pPr>
            <a:r>
              <a:rPr lang="zh-CN" altLang="en-US" sz="2400" dirty="0">
                <a:solidFill>
                  <a:schemeClr val="tx1"/>
                </a:solidFill>
              </a:rPr>
              <a:t>插入位置合法性检查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7ACCDC6A-EC53-7BD3-0E0C-1E5ACF3D305A}"/>
              </a:ext>
            </a:extLst>
          </p:cNvPr>
          <p:cNvSpPr/>
          <p:nvPr/>
        </p:nvSpPr>
        <p:spPr>
          <a:xfrm>
            <a:off x="1423431" y="255181"/>
            <a:ext cx="3960440" cy="50178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算法</a:t>
            </a:r>
            <a:r>
              <a:rPr lang="en-US" altLang="zh-CN" sz="2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2.4  </a:t>
            </a:r>
            <a:r>
              <a:rPr lang="zh-CN" altLang="en-US" sz="2600" b="1" dirty="0">
                <a:solidFill>
                  <a:srgbClr val="2D04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顺序表的插入</a:t>
            </a:r>
          </a:p>
        </p:txBody>
      </p: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4B70C218-EFA1-B5A6-C2EA-897D12EADA98}"/>
              </a:ext>
            </a:extLst>
          </p:cNvPr>
          <p:cNvCxnSpPr/>
          <p:nvPr/>
        </p:nvCxnSpPr>
        <p:spPr>
          <a:xfrm>
            <a:off x="3536645" y="1238946"/>
            <a:ext cx="152226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C0D5E549-24DE-074A-655E-4AF52FAAE07C}"/>
              </a:ext>
            </a:extLst>
          </p:cNvPr>
          <p:cNvCxnSpPr>
            <a:cxnSpLocks/>
          </p:cNvCxnSpPr>
          <p:nvPr/>
        </p:nvCxnSpPr>
        <p:spPr>
          <a:xfrm>
            <a:off x="5248078" y="1252353"/>
            <a:ext cx="84792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A2194F10-9BC3-9312-DBA2-8CDC6D2F4363}"/>
              </a:ext>
            </a:extLst>
          </p:cNvPr>
          <p:cNvCxnSpPr>
            <a:cxnSpLocks/>
          </p:cNvCxnSpPr>
          <p:nvPr/>
        </p:nvCxnSpPr>
        <p:spPr>
          <a:xfrm>
            <a:off x="6410841" y="1238946"/>
            <a:ext cx="168422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876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5" grpId="0" animBg="1"/>
      <p:bldP spid="56" grpId="0" animBg="1"/>
      <p:bldP spid="57" grpId="0"/>
      <p:bldP spid="58" grpId="0"/>
      <p:bldP spid="59" grpId="0" animBg="1"/>
      <p:bldP spid="60" grpId="0" animBg="1"/>
      <p:bldP spid="61" grpId="0" animBg="1"/>
      <p:bldP spid="70" grpId="0"/>
      <p:bldP spid="71" grpId="0"/>
      <p:bldP spid="7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extLst>
              <a:ext uri="{FF2B5EF4-FFF2-40B4-BE49-F238E27FC236}">
                <a16:creationId xmlns:a16="http://schemas.microsoft.com/office/drawing/2014/main" id="{5C415A87-5E1F-4F65-859D-0C7BA4584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72" y="811146"/>
            <a:ext cx="11689976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ListInsert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SqList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L,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ElemType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e)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(!L ||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&lt;1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&gt;L-&gt;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len+1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ERROR; </a:t>
            </a:r>
            <a:r>
              <a:rPr lang="en-US" altLang="zh-CN" sz="2200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// </a:t>
            </a:r>
            <a:r>
              <a:rPr lang="zh-CN" altLang="en-US" sz="2200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若插入位置不合法，报错</a:t>
            </a:r>
          </a:p>
          <a:p>
            <a:r>
              <a:rPr lang="zh-CN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(L-&gt;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&gt;= L-&gt;size)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altLang="zh-CN" sz="2200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// </a:t>
            </a:r>
            <a:r>
              <a:rPr lang="zh-CN" altLang="en-US" sz="2200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若当前存储空间已满，则增加空间</a:t>
            </a:r>
          </a:p>
          <a:p>
            <a:r>
              <a:rPr lang="zh-CN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L-&gt;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ElemType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*)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realloc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(L-&gt;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                                    </a:t>
            </a:r>
          </a:p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(L-&gt;size + L-&gt;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inc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)*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ElemType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L-&gt;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(OVERFLOW);  </a:t>
            </a:r>
            <a:r>
              <a:rPr lang="en-US" altLang="zh-CN" sz="2200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// </a:t>
            </a:r>
            <a:r>
              <a:rPr lang="zh-CN" altLang="en-US" sz="2200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若存储分配失败，报错</a:t>
            </a:r>
          </a:p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L-&gt;size += L-&gt;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inc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            </a:t>
            </a:r>
            <a:r>
              <a:rPr lang="en-US" altLang="zh-CN" sz="2200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// </a:t>
            </a:r>
            <a:r>
              <a:rPr lang="zh-CN" altLang="en-US" sz="2200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更新存储容量</a:t>
            </a:r>
          </a:p>
          <a:p>
            <a:r>
              <a:rPr lang="zh-CN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200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//</a:t>
            </a:r>
            <a:r>
              <a:rPr lang="zh-CN" altLang="en-US" sz="2200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插入元素 </a:t>
            </a:r>
            <a:r>
              <a:rPr lang="en-US" altLang="zh-CN" sz="2200" b="1" dirty="0">
                <a:solidFill>
                  <a:srgbClr val="CC330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e</a:t>
            </a:r>
          </a:p>
          <a:p>
            <a:r>
              <a:rPr lang="en-US" altLang="zh-CN" sz="2200" b="1" dirty="0">
                <a:solidFill>
                  <a:srgbClr val="9933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zh-CN" sz="2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...... </a:t>
            </a:r>
          </a:p>
          <a:p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200" b="1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// </a:t>
            </a:r>
            <a:r>
              <a:rPr lang="en-US" altLang="zh-CN" sz="2200" b="1" dirty="0" err="1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ListInsert_Sq</a:t>
            </a:r>
            <a:r>
              <a:rPr lang="en-US" altLang="zh-CN" sz="2200" b="1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                   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0385431-6C8D-492A-B140-27235C946ADD}"/>
              </a:ext>
            </a:extLst>
          </p:cNvPr>
          <p:cNvCxnSpPr>
            <a:cxnSpLocks/>
          </p:cNvCxnSpPr>
          <p:nvPr/>
        </p:nvCxnSpPr>
        <p:spPr>
          <a:xfrm>
            <a:off x="5375920" y="2492896"/>
            <a:ext cx="104201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C7570F41-A84A-46B6-88DC-A625F00B6143}"/>
              </a:ext>
            </a:extLst>
          </p:cNvPr>
          <p:cNvGrpSpPr/>
          <p:nvPr/>
        </p:nvGrpSpPr>
        <p:grpSpPr>
          <a:xfrm>
            <a:off x="6428027" y="4123234"/>
            <a:ext cx="3552690" cy="923218"/>
            <a:chOff x="6428027" y="4123234"/>
            <a:chExt cx="3552690" cy="923218"/>
          </a:xfrm>
        </p:grpSpPr>
        <p:sp>
          <p:nvSpPr>
            <p:cNvPr id="7" name="Text Box 78">
              <a:extLst>
                <a:ext uri="{FF2B5EF4-FFF2-40B4-BE49-F238E27FC236}">
                  <a16:creationId xmlns:a16="http://schemas.microsoft.com/office/drawing/2014/main" id="{7E5A7129-77D7-4272-A7FC-59A14021F8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8954" y="4646342"/>
              <a:ext cx="340329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8080"/>
                  </a:solidFill>
                </a:rPr>
                <a:t>0    </a:t>
              </a:r>
              <a:r>
                <a:rPr lang="en-US" altLang="zh-CN" b="1" dirty="0">
                  <a:solidFill>
                    <a:srgbClr val="008080"/>
                  </a:solidFill>
                </a:rPr>
                <a:t>    </a:t>
              </a:r>
              <a:r>
                <a:rPr lang="en-US" altLang="zh-CN" sz="2000" b="1" dirty="0">
                  <a:solidFill>
                    <a:srgbClr val="008080"/>
                  </a:solidFill>
                </a:rPr>
                <a:t>1    </a:t>
              </a:r>
              <a:r>
                <a:rPr lang="en-US" altLang="zh-CN" b="1" dirty="0">
                  <a:solidFill>
                    <a:srgbClr val="008080"/>
                  </a:solidFill>
                </a:rPr>
                <a:t>    </a:t>
              </a:r>
              <a:r>
                <a:rPr lang="en-US" altLang="zh-CN" sz="2000" b="1" dirty="0">
                  <a:solidFill>
                    <a:srgbClr val="008080"/>
                  </a:solidFill>
                </a:rPr>
                <a:t>2    </a:t>
              </a:r>
              <a:r>
                <a:rPr lang="en-US" altLang="zh-CN" sz="1600" b="1" dirty="0">
                  <a:solidFill>
                    <a:srgbClr val="008080"/>
                  </a:solidFill>
                </a:rPr>
                <a:t>    </a:t>
              </a:r>
              <a:r>
                <a:rPr lang="en-US" altLang="zh-CN" sz="2000" b="1" dirty="0">
                  <a:solidFill>
                    <a:srgbClr val="008080"/>
                  </a:solidFill>
                </a:rPr>
                <a:t>3    </a:t>
              </a:r>
              <a:r>
                <a:rPr lang="en-US" altLang="zh-CN" sz="1600" b="1" dirty="0">
                  <a:solidFill>
                    <a:srgbClr val="008080"/>
                  </a:solidFill>
                </a:rPr>
                <a:t>    </a:t>
              </a:r>
              <a:r>
                <a:rPr lang="en-US" altLang="zh-CN" sz="2000" b="1" dirty="0">
                  <a:solidFill>
                    <a:srgbClr val="008080"/>
                  </a:solidFill>
                </a:rPr>
                <a:t>4    </a:t>
              </a:r>
              <a:r>
                <a:rPr lang="en-US" altLang="zh-CN" sz="1600" b="1" dirty="0">
                  <a:solidFill>
                    <a:srgbClr val="008080"/>
                  </a:solidFill>
                </a:rPr>
                <a:t>    </a:t>
              </a:r>
              <a:r>
                <a:rPr lang="en-US" altLang="zh-CN" sz="2000" b="1" dirty="0">
                  <a:solidFill>
                    <a:srgbClr val="008080"/>
                  </a:solidFill>
                </a:rPr>
                <a:t>5</a:t>
              </a: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2D7065D3-8CE8-48BF-9C29-3B6F863E2FC9}"/>
                </a:ext>
              </a:extLst>
            </p:cNvPr>
            <p:cNvGrpSpPr/>
            <p:nvPr/>
          </p:nvGrpSpPr>
          <p:grpSpPr>
            <a:xfrm>
              <a:off x="6428027" y="4123234"/>
              <a:ext cx="3552690" cy="584776"/>
              <a:chOff x="6428027" y="4123234"/>
              <a:chExt cx="3552690" cy="584776"/>
            </a:xfrm>
          </p:grpSpPr>
          <p:sp>
            <p:nvSpPr>
              <p:cNvPr id="9" name="文本框 4">
                <a:extLst>
                  <a:ext uri="{FF2B5EF4-FFF2-40B4-BE49-F238E27FC236}">
                    <a16:creationId xmlns:a16="http://schemas.microsoft.com/office/drawing/2014/main" id="{79B4CD37-90C3-44D8-A7C5-8F7799396D61}"/>
                  </a:ext>
                </a:extLst>
              </p:cNvPr>
              <p:cNvSpPr txBox="1"/>
              <p:nvPr/>
            </p:nvSpPr>
            <p:spPr>
              <a:xfrm>
                <a:off x="6428027" y="4123236"/>
                <a:ext cx="594480" cy="584774"/>
              </a:xfrm>
              <a:prstGeom prst="rect">
                <a:avLst/>
              </a:prstGeom>
              <a:solidFill>
                <a:srgbClr val="CCFFFF"/>
              </a:solidFill>
              <a:ln w="38100" cmpd="sng">
                <a:solidFill>
                  <a:schemeClr val="tx1"/>
                </a:solidFill>
              </a:ln>
            </p:spPr>
            <p:txBody>
              <a:bodyPr wrap="square" anchor="b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fontAlgn="ctr" hangingPunct="1">
                  <a:spcBef>
                    <a:spcPct val="50000"/>
                  </a:spcBef>
                  <a:defRPr/>
                </a:pPr>
                <a:r>
                  <a:rPr lang="en-US" altLang="zh-CN" sz="3200" noProof="1">
                    <a:solidFill>
                      <a:srgbClr val="0000CC"/>
                    </a:solidFill>
                    <a:effectLst>
                      <a:outerShdw blurRad="38100" dist="38100" dir="2700000">
                        <a:srgbClr val="000000"/>
                      </a:outerShdw>
                    </a:effectLst>
                  </a:rPr>
                  <a:t>A</a:t>
                </a:r>
              </a:p>
            </p:txBody>
          </p:sp>
          <p:sp>
            <p:nvSpPr>
              <p:cNvPr id="10" name="文本框 6">
                <a:extLst>
                  <a:ext uri="{FF2B5EF4-FFF2-40B4-BE49-F238E27FC236}">
                    <a16:creationId xmlns:a16="http://schemas.microsoft.com/office/drawing/2014/main" id="{863449EB-C75A-49A8-9BA1-D9EA699F3FC2}"/>
                  </a:ext>
                </a:extLst>
              </p:cNvPr>
              <p:cNvSpPr txBox="1"/>
              <p:nvPr/>
            </p:nvSpPr>
            <p:spPr>
              <a:xfrm>
                <a:off x="7016914" y="4123236"/>
                <a:ext cx="594481" cy="584774"/>
              </a:xfrm>
              <a:prstGeom prst="rect">
                <a:avLst/>
              </a:prstGeom>
              <a:solidFill>
                <a:srgbClr val="CCFFFF"/>
              </a:solidFill>
              <a:ln w="38100" cmpd="sng">
                <a:solidFill>
                  <a:schemeClr val="tx1"/>
                </a:solidFill>
              </a:ln>
            </p:spPr>
            <p:txBody>
              <a:bodyPr wrap="square" anchor="b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ctr">
                  <a:spcBef>
                    <a:spcPct val="50000"/>
                  </a:spcBef>
                  <a:defRPr/>
                </a:pPr>
                <a:r>
                  <a:rPr lang="en-US" altLang="zh-CN" sz="3200" noProof="1">
                    <a:solidFill>
                      <a:srgbClr val="0000CC"/>
                    </a:solidFill>
                    <a:effectLst>
                      <a:outerShdw blurRad="38100" dist="38100" dir="2700000">
                        <a:srgbClr val="000000"/>
                      </a:outerShdw>
                    </a:effectLst>
                  </a:rPr>
                  <a:t>C</a:t>
                </a:r>
              </a:p>
            </p:txBody>
          </p:sp>
          <p:sp>
            <p:nvSpPr>
              <p:cNvPr id="11" name="文本框 7">
                <a:extLst>
                  <a:ext uri="{FF2B5EF4-FFF2-40B4-BE49-F238E27FC236}">
                    <a16:creationId xmlns:a16="http://schemas.microsoft.com/office/drawing/2014/main" id="{E89DD05A-557C-4789-B408-EDA9A93F4495}"/>
                  </a:ext>
                </a:extLst>
              </p:cNvPr>
              <p:cNvSpPr txBox="1"/>
              <p:nvPr/>
            </p:nvSpPr>
            <p:spPr>
              <a:xfrm>
                <a:off x="7617054" y="4123234"/>
                <a:ext cx="587022" cy="584775"/>
              </a:xfrm>
              <a:prstGeom prst="rect">
                <a:avLst/>
              </a:prstGeom>
              <a:solidFill>
                <a:srgbClr val="CCFFFF"/>
              </a:solidFill>
              <a:ln w="38100" cmpd="sng">
                <a:solidFill>
                  <a:schemeClr val="tx1"/>
                </a:solidFill>
              </a:ln>
            </p:spPr>
            <p:txBody>
              <a:bodyPr wrap="square" anchor="b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ctr">
                  <a:spcBef>
                    <a:spcPct val="50000"/>
                  </a:spcBef>
                  <a:defRPr/>
                </a:pPr>
                <a:r>
                  <a:rPr lang="en-US" altLang="zh-CN" sz="3200" noProof="1">
                    <a:solidFill>
                      <a:srgbClr val="0000CC"/>
                    </a:solidFill>
                    <a:effectLst>
                      <a:outerShdw blurRad="38100" dist="38100" dir="2700000">
                        <a:srgbClr val="000000"/>
                      </a:outerShdw>
                    </a:effectLst>
                  </a:rPr>
                  <a:t>E</a:t>
                </a:r>
              </a:p>
            </p:txBody>
          </p:sp>
          <p:sp>
            <p:nvSpPr>
              <p:cNvPr id="12" name="文本框 7">
                <a:extLst>
                  <a:ext uri="{FF2B5EF4-FFF2-40B4-BE49-F238E27FC236}">
                    <a16:creationId xmlns:a16="http://schemas.microsoft.com/office/drawing/2014/main" id="{1A2F8A2C-BEE2-4309-BFEE-4704479D3E93}"/>
                  </a:ext>
                </a:extLst>
              </p:cNvPr>
              <p:cNvSpPr txBox="1"/>
              <p:nvPr/>
            </p:nvSpPr>
            <p:spPr>
              <a:xfrm>
                <a:off x="8208821" y="4123234"/>
                <a:ext cx="587022" cy="584775"/>
              </a:xfrm>
              <a:prstGeom prst="rect">
                <a:avLst/>
              </a:prstGeom>
              <a:solidFill>
                <a:srgbClr val="CCFFFF"/>
              </a:solidFill>
              <a:ln w="38100" cmpd="sng">
                <a:solidFill>
                  <a:schemeClr val="tx1"/>
                </a:solidFill>
              </a:ln>
            </p:spPr>
            <p:txBody>
              <a:bodyPr wrap="square" anchor="b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ctr">
                  <a:spcBef>
                    <a:spcPct val="50000"/>
                  </a:spcBef>
                  <a:defRPr/>
                </a:pPr>
                <a:r>
                  <a:rPr lang="en-US" altLang="zh-CN" sz="3200" noProof="1">
                    <a:solidFill>
                      <a:srgbClr val="0000CC"/>
                    </a:solidFill>
                    <a:effectLst>
                      <a:outerShdw blurRad="38100" dist="38100" dir="2700000">
                        <a:srgbClr val="000000"/>
                      </a:outerShdw>
                    </a:effectLst>
                  </a:rPr>
                  <a:t>G</a:t>
                </a:r>
              </a:p>
            </p:txBody>
          </p:sp>
          <p:sp>
            <p:nvSpPr>
              <p:cNvPr id="13" name="文本框 7">
                <a:extLst>
                  <a:ext uri="{FF2B5EF4-FFF2-40B4-BE49-F238E27FC236}">
                    <a16:creationId xmlns:a16="http://schemas.microsoft.com/office/drawing/2014/main" id="{3AC07BDF-FF1E-4B64-A6AE-42D8152D975F}"/>
                  </a:ext>
                </a:extLst>
              </p:cNvPr>
              <p:cNvSpPr txBox="1"/>
              <p:nvPr/>
            </p:nvSpPr>
            <p:spPr>
              <a:xfrm>
                <a:off x="8805720" y="4123234"/>
                <a:ext cx="587022" cy="584775"/>
              </a:xfrm>
              <a:prstGeom prst="rect">
                <a:avLst/>
              </a:prstGeom>
              <a:solidFill>
                <a:srgbClr val="CCFFFF"/>
              </a:solidFill>
              <a:ln w="38100" cmpd="sng">
                <a:solidFill>
                  <a:schemeClr val="tx1"/>
                </a:solidFill>
              </a:ln>
            </p:spPr>
            <p:txBody>
              <a:bodyPr wrap="square" anchor="b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ctr">
                  <a:spcBef>
                    <a:spcPct val="50000"/>
                  </a:spcBef>
                  <a:defRPr/>
                </a:pPr>
                <a:r>
                  <a:rPr lang="en-US" altLang="zh-CN" sz="3200" noProof="1">
                    <a:solidFill>
                      <a:srgbClr val="0000CC"/>
                    </a:solidFill>
                    <a:effectLst>
                      <a:outerShdw blurRad="38100" dist="38100" dir="2700000">
                        <a:srgbClr val="000000"/>
                      </a:outerShdw>
                    </a:effectLst>
                  </a:rPr>
                  <a:t>D</a:t>
                </a:r>
              </a:p>
            </p:txBody>
          </p:sp>
          <p:sp>
            <p:nvSpPr>
              <p:cNvPr id="14" name="文本框 7">
                <a:extLst>
                  <a:ext uri="{FF2B5EF4-FFF2-40B4-BE49-F238E27FC236}">
                    <a16:creationId xmlns:a16="http://schemas.microsoft.com/office/drawing/2014/main" id="{BB66DD24-327D-4381-BB6B-D9500F77E34C}"/>
                  </a:ext>
                </a:extLst>
              </p:cNvPr>
              <p:cNvSpPr txBox="1"/>
              <p:nvPr/>
            </p:nvSpPr>
            <p:spPr>
              <a:xfrm>
                <a:off x="9393695" y="4123234"/>
                <a:ext cx="587022" cy="584775"/>
              </a:xfrm>
              <a:prstGeom prst="rect">
                <a:avLst/>
              </a:prstGeom>
              <a:solidFill>
                <a:srgbClr val="CCFFFF"/>
              </a:solidFill>
              <a:ln w="38100" cmpd="sng">
                <a:solidFill>
                  <a:schemeClr val="tx1"/>
                </a:solidFill>
              </a:ln>
            </p:spPr>
            <p:txBody>
              <a:bodyPr wrap="square" anchor="b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ctr">
                  <a:spcBef>
                    <a:spcPct val="50000"/>
                  </a:spcBef>
                  <a:defRPr/>
                </a:pPr>
                <a:r>
                  <a:rPr lang="en-US" altLang="zh-CN" sz="3200" noProof="1">
                    <a:solidFill>
                      <a:srgbClr val="0000CC"/>
                    </a:solidFill>
                    <a:effectLst>
                      <a:outerShdw blurRad="38100" dist="38100" dir="2700000">
                        <a:srgbClr val="000000"/>
                      </a:outerShdw>
                    </a:effectLst>
                  </a:rPr>
                  <a:t>B</a:t>
                </a:r>
              </a:p>
            </p:txBody>
          </p:sp>
        </p:grpSp>
      </p:grpSp>
      <p:sp>
        <p:nvSpPr>
          <p:cNvPr id="15" name="文本框 4">
            <a:extLst>
              <a:ext uri="{FF2B5EF4-FFF2-40B4-BE49-F238E27FC236}">
                <a16:creationId xmlns:a16="http://schemas.microsoft.com/office/drawing/2014/main" id="{E2376274-7BB6-4BC7-ACD4-E90596963B09}"/>
              </a:ext>
            </a:extLst>
          </p:cNvPr>
          <p:cNvSpPr txBox="1"/>
          <p:nvPr/>
        </p:nvSpPr>
        <p:spPr>
          <a:xfrm>
            <a:off x="6428027" y="5490973"/>
            <a:ext cx="594480" cy="584774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A</a:t>
            </a:r>
          </a:p>
        </p:txBody>
      </p:sp>
      <p:sp>
        <p:nvSpPr>
          <p:cNvPr id="16" name="文本框 6">
            <a:extLst>
              <a:ext uri="{FF2B5EF4-FFF2-40B4-BE49-F238E27FC236}">
                <a16:creationId xmlns:a16="http://schemas.microsoft.com/office/drawing/2014/main" id="{53C3C4A8-A784-4EE8-84E4-895E55C16282}"/>
              </a:ext>
            </a:extLst>
          </p:cNvPr>
          <p:cNvSpPr txBox="1"/>
          <p:nvPr/>
        </p:nvSpPr>
        <p:spPr>
          <a:xfrm>
            <a:off x="7016914" y="5490973"/>
            <a:ext cx="594481" cy="584774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C</a:t>
            </a:r>
          </a:p>
        </p:txBody>
      </p:sp>
      <p:sp>
        <p:nvSpPr>
          <p:cNvPr id="17" name="文本框 7">
            <a:extLst>
              <a:ext uri="{FF2B5EF4-FFF2-40B4-BE49-F238E27FC236}">
                <a16:creationId xmlns:a16="http://schemas.microsoft.com/office/drawing/2014/main" id="{ED8C3AA4-C85C-49C2-97E1-475278BD9F0B}"/>
              </a:ext>
            </a:extLst>
          </p:cNvPr>
          <p:cNvSpPr txBox="1"/>
          <p:nvPr/>
        </p:nvSpPr>
        <p:spPr>
          <a:xfrm>
            <a:off x="7617054" y="5490971"/>
            <a:ext cx="587022" cy="58477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E</a:t>
            </a:r>
          </a:p>
        </p:txBody>
      </p:sp>
      <p:sp>
        <p:nvSpPr>
          <p:cNvPr id="20" name="Text Box 78">
            <a:extLst>
              <a:ext uri="{FF2B5EF4-FFF2-40B4-BE49-F238E27FC236}">
                <a16:creationId xmlns:a16="http://schemas.microsoft.com/office/drawing/2014/main" id="{1A20BAC6-E193-4652-95AE-3FAF92C74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1510" y="6027137"/>
            <a:ext cx="531943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008080"/>
                </a:solidFill>
              </a:rPr>
              <a:t>0    </a:t>
            </a:r>
            <a:r>
              <a:rPr lang="en-US" altLang="zh-CN" sz="1600" b="1" dirty="0">
                <a:solidFill>
                  <a:srgbClr val="008080"/>
                </a:solidFill>
              </a:rPr>
              <a:t>    </a:t>
            </a:r>
            <a:r>
              <a:rPr lang="en-US" altLang="zh-CN" sz="2000" b="1" dirty="0">
                <a:solidFill>
                  <a:srgbClr val="008080"/>
                </a:solidFill>
              </a:rPr>
              <a:t>1     </a:t>
            </a:r>
            <a:r>
              <a:rPr lang="en-US" altLang="zh-CN" sz="1600" b="1" dirty="0">
                <a:solidFill>
                  <a:srgbClr val="008080"/>
                </a:solidFill>
              </a:rPr>
              <a:t>   </a:t>
            </a:r>
            <a:r>
              <a:rPr lang="en-US" altLang="zh-CN" sz="2000" b="1" dirty="0">
                <a:solidFill>
                  <a:srgbClr val="008080"/>
                </a:solidFill>
              </a:rPr>
              <a:t>2     </a:t>
            </a:r>
            <a:r>
              <a:rPr lang="en-US" altLang="zh-CN" sz="1600" b="1" dirty="0">
                <a:solidFill>
                  <a:srgbClr val="008080"/>
                </a:solidFill>
              </a:rPr>
              <a:t>   </a:t>
            </a:r>
            <a:r>
              <a:rPr lang="en-US" altLang="zh-CN" sz="2000" b="1" dirty="0">
                <a:solidFill>
                  <a:srgbClr val="008080"/>
                </a:solidFill>
              </a:rPr>
              <a:t>3     </a:t>
            </a:r>
            <a:r>
              <a:rPr lang="en-US" altLang="zh-CN" sz="1600" b="1" dirty="0">
                <a:solidFill>
                  <a:srgbClr val="008080"/>
                </a:solidFill>
              </a:rPr>
              <a:t>   </a:t>
            </a:r>
            <a:r>
              <a:rPr lang="en-US" altLang="zh-CN" sz="2000" b="1" dirty="0">
                <a:solidFill>
                  <a:srgbClr val="008080"/>
                </a:solidFill>
              </a:rPr>
              <a:t>4     </a:t>
            </a:r>
            <a:r>
              <a:rPr lang="en-US" altLang="zh-CN" sz="1600" b="1" dirty="0">
                <a:solidFill>
                  <a:srgbClr val="008080"/>
                </a:solidFill>
              </a:rPr>
              <a:t>   </a:t>
            </a:r>
            <a:r>
              <a:rPr lang="en-US" altLang="zh-CN" sz="2000" b="1" dirty="0">
                <a:solidFill>
                  <a:srgbClr val="008080"/>
                </a:solidFill>
              </a:rPr>
              <a:t>5     </a:t>
            </a:r>
            <a:r>
              <a:rPr lang="en-US" altLang="zh-CN" sz="1600" b="1" dirty="0">
                <a:solidFill>
                  <a:srgbClr val="008080"/>
                </a:solidFill>
              </a:rPr>
              <a:t>   </a:t>
            </a:r>
            <a:r>
              <a:rPr lang="en-US" altLang="zh-CN" sz="2000" b="1" dirty="0">
                <a:solidFill>
                  <a:srgbClr val="008080"/>
                </a:solidFill>
              </a:rPr>
              <a:t>6     </a:t>
            </a:r>
            <a:r>
              <a:rPr lang="en-US" altLang="zh-CN" sz="1600" b="1" dirty="0">
                <a:solidFill>
                  <a:srgbClr val="008080"/>
                </a:solidFill>
              </a:rPr>
              <a:t>   </a:t>
            </a:r>
            <a:r>
              <a:rPr lang="en-US" altLang="zh-CN" sz="2000" b="1" dirty="0">
                <a:solidFill>
                  <a:srgbClr val="008080"/>
                </a:solidFill>
              </a:rPr>
              <a:t>7     </a:t>
            </a:r>
            <a:r>
              <a:rPr lang="en-US" altLang="zh-CN" sz="1600" b="1" dirty="0">
                <a:solidFill>
                  <a:srgbClr val="008080"/>
                </a:solidFill>
              </a:rPr>
              <a:t>   </a:t>
            </a:r>
            <a:r>
              <a:rPr lang="en-US" altLang="zh-CN" sz="2000" b="1" dirty="0">
                <a:solidFill>
                  <a:srgbClr val="008080"/>
                </a:solidFill>
              </a:rPr>
              <a:t>8</a:t>
            </a:r>
          </a:p>
        </p:txBody>
      </p:sp>
      <p:sp>
        <p:nvSpPr>
          <p:cNvPr id="21" name="文本框 7">
            <a:extLst>
              <a:ext uri="{FF2B5EF4-FFF2-40B4-BE49-F238E27FC236}">
                <a16:creationId xmlns:a16="http://schemas.microsoft.com/office/drawing/2014/main" id="{44B97223-7DE2-4BC0-95E7-4E7D89D5FF45}"/>
              </a:ext>
            </a:extLst>
          </p:cNvPr>
          <p:cNvSpPr txBox="1"/>
          <p:nvPr/>
        </p:nvSpPr>
        <p:spPr>
          <a:xfrm>
            <a:off x="8208821" y="5490971"/>
            <a:ext cx="587022" cy="58477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G</a:t>
            </a:r>
          </a:p>
        </p:txBody>
      </p:sp>
      <p:sp>
        <p:nvSpPr>
          <p:cNvPr id="22" name="文本框 7">
            <a:extLst>
              <a:ext uri="{FF2B5EF4-FFF2-40B4-BE49-F238E27FC236}">
                <a16:creationId xmlns:a16="http://schemas.microsoft.com/office/drawing/2014/main" id="{A6585F84-FAC0-4983-8AD4-4DB5C6F70AC8}"/>
              </a:ext>
            </a:extLst>
          </p:cNvPr>
          <p:cNvSpPr txBox="1"/>
          <p:nvPr/>
        </p:nvSpPr>
        <p:spPr>
          <a:xfrm>
            <a:off x="8805720" y="5490971"/>
            <a:ext cx="587022" cy="58477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D</a:t>
            </a:r>
          </a:p>
        </p:txBody>
      </p:sp>
      <p:sp>
        <p:nvSpPr>
          <p:cNvPr id="23" name="文本框 7">
            <a:extLst>
              <a:ext uri="{FF2B5EF4-FFF2-40B4-BE49-F238E27FC236}">
                <a16:creationId xmlns:a16="http://schemas.microsoft.com/office/drawing/2014/main" id="{CC9B7EAB-BB89-4C13-B2F6-C1EB0061F39F}"/>
              </a:ext>
            </a:extLst>
          </p:cNvPr>
          <p:cNvSpPr txBox="1"/>
          <p:nvPr/>
        </p:nvSpPr>
        <p:spPr>
          <a:xfrm>
            <a:off x="9393695" y="5490971"/>
            <a:ext cx="587022" cy="58477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24" name="文本框 7">
            <a:extLst>
              <a:ext uri="{FF2B5EF4-FFF2-40B4-BE49-F238E27FC236}">
                <a16:creationId xmlns:a16="http://schemas.microsoft.com/office/drawing/2014/main" id="{A4F1F5B0-0ACD-40CC-8C02-52BC43EDB061}"/>
              </a:ext>
            </a:extLst>
          </p:cNvPr>
          <p:cNvSpPr txBox="1"/>
          <p:nvPr/>
        </p:nvSpPr>
        <p:spPr>
          <a:xfrm>
            <a:off x="9981670" y="5490971"/>
            <a:ext cx="587022" cy="58477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endParaRPr lang="en-US" altLang="zh-CN" sz="3200" noProof="1">
              <a:solidFill>
                <a:srgbClr val="0000CC"/>
              </a:solidFill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25" name="文本框 7">
            <a:extLst>
              <a:ext uri="{FF2B5EF4-FFF2-40B4-BE49-F238E27FC236}">
                <a16:creationId xmlns:a16="http://schemas.microsoft.com/office/drawing/2014/main" id="{94B1C121-827B-4E8B-BD48-BD308539C6D2}"/>
              </a:ext>
            </a:extLst>
          </p:cNvPr>
          <p:cNvSpPr txBox="1"/>
          <p:nvPr/>
        </p:nvSpPr>
        <p:spPr>
          <a:xfrm>
            <a:off x="10569645" y="5490971"/>
            <a:ext cx="587022" cy="58477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endParaRPr lang="en-US" altLang="zh-CN" sz="3200" noProof="1">
              <a:solidFill>
                <a:srgbClr val="0000CC"/>
              </a:solidFill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26" name="文本框 7">
            <a:extLst>
              <a:ext uri="{FF2B5EF4-FFF2-40B4-BE49-F238E27FC236}">
                <a16:creationId xmlns:a16="http://schemas.microsoft.com/office/drawing/2014/main" id="{3EF5AE44-83FE-495F-8039-42E0B65143C7}"/>
              </a:ext>
            </a:extLst>
          </p:cNvPr>
          <p:cNvSpPr txBox="1"/>
          <p:nvPr/>
        </p:nvSpPr>
        <p:spPr>
          <a:xfrm>
            <a:off x="11156667" y="5490971"/>
            <a:ext cx="587022" cy="58477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endParaRPr lang="en-US" altLang="zh-CN" sz="3200" noProof="1">
              <a:solidFill>
                <a:srgbClr val="0000CC"/>
              </a:solidFill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12E496E-FC06-422D-83C4-CCF6F1453208}"/>
              </a:ext>
            </a:extLst>
          </p:cNvPr>
          <p:cNvGrpSpPr/>
          <p:nvPr/>
        </p:nvGrpSpPr>
        <p:grpSpPr>
          <a:xfrm>
            <a:off x="4248764" y="3764678"/>
            <a:ext cx="1569801" cy="1791400"/>
            <a:chOff x="5019055" y="4350797"/>
            <a:chExt cx="1569801" cy="1791400"/>
          </a:xfrm>
        </p:grpSpPr>
        <p:sp>
          <p:nvSpPr>
            <p:cNvPr id="28" name="文本框 81922">
              <a:extLst>
                <a:ext uri="{FF2B5EF4-FFF2-40B4-BE49-F238E27FC236}">
                  <a16:creationId xmlns:a16="http://schemas.microsoft.com/office/drawing/2014/main" id="{C742AF9C-C1C9-4392-A4D9-9E7C9653F3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1063" y="4763903"/>
              <a:ext cx="987156" cy="464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 err="1">
                  <a:solidFill>
                    <a:srgbClr val="008080"/>
                  </a:solidFill>
                  <a:latin typeface="+mn-lt"/>
                  <a:ea typeface="+mn-ea"/>
                </a:rPr>
                <a:t>elem</a:t>
              </a:r>
              <a:endParaRPr lang="zh-CN" altLang="en-US" sz="2400" b="1" dirty="0">
                <a:solidFill>
                  <a:srgbClr val="008080"/>
                </a:solidFill>
                <a:latin typeface="+mn-lt"/>
                <a:ea typeface="+mn-ea"/>
              </a:endParaRPr>
            </a:p>
          </p:txBody>
        </p:sp>
        <p:sp>
          <p:nvSpPr>
            <p:cNvPr id="29" name="文本框 81922">
              <a:extLst>
                <a:ext uri="{FF2B5EF4-FFF2-40B4-BE49-F238E27FC236}">
                  <a16:creationId xmlns:a16="http://schemas.microsoft.com/office/drawing/2014/main" id="{125A5308-428C-44DD-A594-3ECC3FB6D1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354" y="5219220"/>
              <a:ext cx="662599" cy="464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>
                <a:lnSpc>
                  <a:spcPct val="105000"/>
                </a:lnSpc>
                <a:spcBef>
                  <a:spcPct val="0"/>
                </a:spcBef>
                <a:buClrTx/>
                <a:buNone/>
              </a:pPr>
              <a:r>
                <a:rPr lang="en-US" altLang="zh-CN" sz="2400" b="1" dirty="0" err="1">
                  <a:solidFill>
                    <a:srgbClr val="008080"/>
                  </a:solidFill>
                  <a:latin typeface="+mn-lt"/>
                  <a:ea typeface="+mn-ea"/>
                </a:rPr>
                <a:t>len</a:t>
              </a:r>
              <a:endParaRPr lang="zh-CN" altLang="en-US" sz="2400" b="1" dirty="0">
                <a:solidFill>
                  <a:srgbClr val="008080"/>
                </a:solidFill>
                <a:latin typeface="+mn-lt"/>
                <a:ea typeface="+mn-ea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D93993E7-6EEA-4265-BEB7-C58003236C20}"/>
                </a:ext>
              </a:extLst>
            </p:cNvPr>
            <p:cNvSpPr/>
            <p:nvPr/>
          </p:nvSpPr>
          <p:spPr>
            <a:xfrm>
              <a:off x="6074443" y="4767250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678101C6-980A-4CBD-8C95-126E0D92022C}"/>
                </a:ext>
              </a:extLst>
            </p:cNvPr>
            <p:cNvSpPr/>
            <p:nvPr/>
          </p:nvSpPr>
          <p:spPr>
            <a:xfrm>
              <a:off x="6074443" y="5227797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15F8ACB-09A4-4EAB-9EDA-50B8BBE930D9}"/>
                </a:ext>
              </a:extLst>
            </p:cNvPr>
            <p:cNvSpPr/>
            <p:nvPr/>
          </p:nvSpPr>
          <p:spPr>
            <a:xfrm>
              <a:off x="6074442" y="5684997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33" name="文本框 81922">
              <a:extLst>
                <a:ext uri="{FF2B5EF4-FFF2-40B4-BE49-F238E27FC236}">
                  <a16:creationId xmlns:a16="http://schemas.microsoft.com/office/drawing/2014/main" id="{34D44A79-4041-42B7-A0C2-423CDAA670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9055" y="5663575"/>
              <a:ext cx="1067644" cy="464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>
                <a:lnSpc>
                  <a:spcPct val="105000"/>
                </a:lnSpc>
                <a:spcBef>
                  <a:spcPct val="0"/>
                </a:spcBef>
                <a:buClrTx/>
                <a:buNone/>
              </a:pPr>
              <a:r>
                <a:rPr lang="en-US" altLang="zh-CN" sz="2400" b="1" dirty="0">
                  <a:solidFill>
                    <a:srgbClr val="008080"/>
                  </a:solidFill>
                  <a:latin typeface="+mn-lt"/>
                  <a:ea typeface="+mn-ea"/>
                </a:rPr>
                <a:t>size</a:t>
              </a:r>
              <a:endParaRPr lang="zh-CN" altLang="en-US" sz="2400" b="1" dirty="0">
                <a:solidFill>
                  <a:srgbClr val="008080"/>
                </a:solidFill>
                <a:latin typeface="+mn-lt"/>
                <a:ea typeface="+mn-ea"/>
              </a:endParaRPr>
            </a:p>
          </p:txBody>
        </p:sp>
        <p:sp>
          <p:nvSpPr>
            <p:cNvPr id="34" name="文本框 81922">
              <a:extLst>
                <a:ext uri="{FF2B5EF4-FFF2-40B4-BE49-F238E27FC236}">
                  <a16:creationId xmlns:a16="http://schemas.microsoft.com/office/drawing/2014/main" id="{79E9DFAC-5A75-48F9-A53F-5CC3B15AA2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9146" y="4350797"/>
              <a:ext cx="472887" cy="455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008080"/>
                  </a:solidFill>
                  <a:ea typeface="楷体_GB2312" pitchFamily="49" charset="-122"/>
                </a:rPr>
                <a:t>L</a:t>
              </a:r>
              <a:endParaRPr lang="zh-CN" altLang="en-US" sz="2400" b="1" dirty="0">
                <a:solidFill>
                  <a:srgbClr val="008080"/>
                </a:solidFill>
              </a:endParaRPr>
            </a:p>
          </p:txBody>
        </p:sp>
      </p:grpSp>
      <p:sp>
        <p:nvSpPr>
          <p:cNvPr id="35" name="文本框 7">
            <a:extLst>
              <a:ext uri="{FF2B5EF4-FFF2-40B4-BE49-F238E27FC236}">
                <a16:creationId xmlns:a16="http://schemas.microsoft.com/office/drawing/2014/main" id="{65F616F6-6C63-499B-915A-08A24B625F08}"/>
              </a:ext>
            </a:extLst>
          </p:cNvPr>
          <p:cNvSpPr txBox="1"/>
          <p:nvPr/>
        </p:nvSpPr>
        <p:spPr>
          <a:xfrm>
            <a:off x="5452423" y="4603702"/>
            <a:ext cx="283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8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92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8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4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70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dirty="0">
                <a:solidFill>
                  <a:srgbClr val="C00000"/>
                </a:solidFill>
              </a:rPr>
              <a:t>6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36" name="文本框 40">
            <a:extLst>
              <a:ext uri="{FF2B5EF4-FFF2-40B4-BE49-F238E27FC236}">
                <a16:creationId xmlns:a16="http://schemas.microsoft.com/office/drawing/2014/main" id="{79CE6739-9259-49B2-99F9-0A6304DEEB04}"/>
              </a:ext>
            </a:extLst>
          </p:cNvPr>
          <p:cNvSpPr txBox="1"/>
          <p:nvPr/>
        </p:nvSpPr>
        <p:spPr>
          <a:xfrm>
            <a:off x="5311863" y="5093687"/>
            <a:ext cx="56811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8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92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8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4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70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dirty="0">
                <a:solidFill>
                  <a:srgbClr val="C00000"/>
                </a:solidFill>
              </a:rPr>
              <a:t>6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987507B1-FCA8-418D-B5DB-341CBBDCE632}"/>
              </a:ext>
            </a:extLst>
          </p:cNvPr>
          <p:cNvCxnSpPr>
            <a:cxnSpLocks/>
          </p:cNvCxnSpPr>
          <p:nvPr/>
        </p:nvCxnSpPr>
        <p:spPr>
          <a:xfrm flipV="1">
            <a:off x="5561357" y="4395475"/>
            <a:ext cx="869690" cy="14256"/>
          </a:xfrm>
          <a:prstGeom prst="straightConnector1">
            <a:avLst/>
          </a:prstGeom>
          <a:ln w="38100"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30180CD3-92C1-43A9-AD0C-16AD7750F13A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5551480" y="4429743"/>
            <a:ext cx="876547" cy="1353617"/>
          </a:xfrm>
          <a:prstGeom prst="straightConnector1">
            <a:avLst/>
          </a:prstGeom>
          <a:ln w="38100"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40">
            <a:extLst>
              <a:ext uri="{FF2B5EF4-FFF2-40B4-BE49-F238E27FC236}">
                <a16:creationId xmlns:a16="http://schemas.microsoft.com/office/drawing/2014/main" id="{6B2D4682-F2BD-46BD-A454-2A4F8211021F}"/>
              </a:ext>
            </a:extLst>
          </p:cNvPr>
          <p:cNvSpPr txBox="1"/>
          <p:nvPr/>
        </p:nvSpPr>
        <p:spPr>
          <a:xfrm>
            <a:off x="5317327" y="5099006"/>
            <a:ext cx="56811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8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92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8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4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70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dirty="0">
                <a:solidFill>
                  <a:srgbClr val="C00000"/>
                </a:solidFill>
              </a:rPr>
              <a:t>9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40" name="Text Box 78">
            <a:extLst>
              <a:ext uri="{FF2B5EF4-FFF2-40B4-BE49-F238E27FC236}">
                <a16:creationId xmlns:a16="http://schemas.microsoft.com/office/drawing/2014/main" id="{D7A8FE3F-D6F1-439E-97F0-60F49EC08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428" y="5309489"/>
            <a:ext cx="3337481" cy="938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200" b="1" dirty="0">
                <a:solidFill>
                  <a:schemeClr val="tx1"/>
                </a:solidFill>
              </a:rPr>
              <a:t>2. </a:t>
            </a:r>
            <a:r>
              <a:rPr lang="zh-CN" altLang="en-US" sz="2200" b="1" dirty="0">
                <a:solidFill>
                  <a:schemeClr val="tx1"/>
                </a:solidFill>
              </a:rPr>
              <a:t>若存储空间已满，</a:t>
            </a:r>
            <a:endParaRPr lang="en-US" altLang="zh-CN" sz="2200" b="1" dirty="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sz="2200" b="1" dirty="0"/>
              <a:t>    </a:t>
            </a:r>
            <a:r>
              <a:rPr lang="zh-CN" altLang="en-US" sz="2200" b="1" dirty="0">
                <a:solidFill>
                  <a:schemeClr val="tx1"/>
                </a:solidFill>
              </a:rPr>
              <a:t>则需增加</a:t>
            </a:r>
            <a:r>
              <a:rPr lang="en-US" altLang="zh-CN" sz="2200" b="1" dirty="0" err="1">
                <a:solidFill>
                  <a:schemeClr val="tx1"/>
                </a:solidFill>
              </a:rPr>
              <a:t>空间</a:t>
            </a:r>
            <a:endParaRPr lang="zh-CN" altLang="en-US" sz="2200" b="1" dirty="0">
              <a:solidFill>
                <a:schemeClr val="tx1"/>
              </a:solidFill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98B39973-0003-4BC7-8C06-6060C8B0D065}"/>
              </a:ext>
            </a:extLst>
          </p:cNvPr>
          <p:cNvSpPr/>
          <p:nvPr/>
        </p:nvSpPr>
        <p:spPr>
          <a:xfrm>
            <a:off x="1441543" y="218620"/>
            <a:ext cx="4642117" cy="50313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600" b="1" dirty="0">
                <a:solidFill>
                  <a:srgbClr val="2D04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算法</a:t>
            </a:r>
            <a:r>
              <a:rPr lang="en-US" altLang="zh-CN" sz="2600" b="1" dirty="0">
                <a:solidFill>
                  <a:srgbClr val="2D04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2.4  </a:t>
            </a:r>
            <a:r>
              <a:rPr lang="zh-CN" altLang="en-US" sz="2600" b="1" dirty="0">
                <a:solidFill>
                  <a:srgbClr val="2D04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顺序表的插入</a:t>
            </a:r>
            <a:r>
              <a:rPr lang="en-US" altLang="zh-CN" sz="2600" b="1" dirty="0">
                <a:solidFill>
                  <a:srgbClr val="2D04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(</a:t>
            </a:r>
            <a:r>
              <a:rPr lang="zh-CN" altLang="en-US" sz="2600" b="1" dirty="0">
                <a:solidFill>
                  <a:srgbClr val="2D04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续）</a:t>
            </a:r>
          </a:p>
        </p:txBody>
      </p:sp>
    </p:spTree>
    <p:extLst>
      <p:ext uri="{BB962C8B-B14F-4D97-AF65-F5344CB8AC3E}">
        <p14:creationId xmlns:p14="http://schemas.microsoft.com/office/powerpoint/2010/main" val="600412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9" dur="1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" presetID="8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1" dur="1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000"/>
                            </p:stCondLst>
                            <p:childTnLst>
                              <p:par>
                                <p:cTn id="98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9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500"/>
                            </p:stCondLst>
                            <p:childTnLst>
                              <p:par>
                                <p:cTn id="102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500"/>
                            </p:stCondLst>
                            <p:childTnLst>
                              <p:par>
                                <p:cTn id="1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000"/>
                            </p:stCondLst>
                            <p:childTnLst>
                              <p:par>
                                <p:cTn id="1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20" grpId="0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5" grpId="0"/>
      <p:bldP spid="35" grpId="1"/>
      <p:bldP spid="36" grpId="0"/>
      <p:bldP spid="36" grpId="1"/>
      <p:bldP spid="36" grpId="2"/>
      <p:bldP spid="3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53E7CF4-BDCF-0A04-E4D6-FCC41270E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文本框 7">
            <a:extLst>
              <a:ext uri="{FF2B5EF4-FFF2-40B4-BE49-F238E27FC236}">
                <a16:creationId xmlns:a16="http://schemas.microsoft.com/office/drawing/2014/main" id="{8D259568-13F2-42C0-179C-4AD6419F7058}"/>
              </a:ext>
            </a:extLst>
          </p:cNvPr>
          <p:cNvSpPr txBox="1"/>
          <p:nvPr/>
        </p:nvSpPr>
        <p:spPr>
          <a:xfrm>
            <a:off x="9787521" y="5097863"/>
            <a:ext cx="587022" cy="58477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endParaRPr lang="en-US" altLang="zh-CN" sz="3200" noProof="1">
              <a:solidFill>
                <a:srgbClr val="0000CC"/>
              </a:solidFill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4" name="文本框 7">
            <a:extLst>
              <a:ext uri="{FF2B5EF4-FFF2-40B4-BE49-F238E27FC236}">
                <a16:creationId xmlns:a16="http://schemas.microsoft.com/office/drawing/2014/main" id="{34A061AC-A572-2831-5164-0CAEF45FA3FD}"/>
              </a:ext>
            </a:extLst>
          </p:cNvPr>
          <p:cNvSpPr txBox="1"/>
          <p:nvPr/>
        </p:nvSpPr>
        <p:spPr>
          <a:xfrm>
            <a:off x="8014672" y="5097863"/>
            <a:ext cx="587022" cy="58477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endParaRPr lang="en-US" altLang="zh-CN" sz="3200" noProof="1">
              <a:solidFill>
                <a:srgbClr val="0000CC"/>
              </a:solidFill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5" name="文本框 7">
            <a:extLst>
              <a:ext uri="{FF2B5EF4-FFF2-40B4-BE49-F238E27FC236}">
                <a16:creationId xmlns:a16="http://schemas.microsoft.com/office/drawing/2014/main" id="{40386BDA-65F8-1721-D62E-0DA554FD495D}"/>
              </a:ext>
            </a:extLst>
          </p:cNvPr>
          <p:cNvSpPr txBox="1"/>
          <p:nvPr/>
        </p:nvSpPr>
        <p:spPr>
          <a:xfrm>
            <a:off x="8611571" y="5097863"/>
            <a:ext cx="587022" cy="58477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endParaRPr lang="en-US" altLang="zh-CN" sz="3200" noProof="1">
              <a:solidFill>
                <a:srgbClr val="0000CC"/>
              </a:solidFill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3B302C9D-CFBA-EC86-7AEF-3EC099CB0793}"/>
              </a:ext>
            </a:extLst>
          </p:cNvPr>
          <p:cNvSpPr txBox="1"/>
          <p:nvPr/>
        </p:nvSpPr>
        <p:spPr>
          <a:xfrm>
            <a:off x="9199546" y="5097863"/>
            <a:ext cx="587022" cy="58477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endParaRPr lang="en-US" altLang="zh-CN" sz="3200" noProof="1">
              <a:solidFill>
                <a:srgbClr val="0000CC"/>
              </a:solidFill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F05BEBC9-9022-2F52-F1EA-E109D56B7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813" y="792645"/>
            <a:ext cx="10490373" cy="3168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ListInsert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SqList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L,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ElemType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e)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114000"/>
              </a:lnSpc>
            </a:pP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......</a:t>
            </a:r>
            <a:r>
              <a:rPr lang="en-US" altLang="zh-CN" sz="2200" b="1" dirty="0">
                <a:solidFill>
                  <a:srgbClr val="9933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zh-CN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14000"/>
              </a:lnSpc>
            </a:pPr>
            <a:r>
              <a:rPr lang="zh-CN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memmove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(L-&gt;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elem+i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L-&gt;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elem+i-1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>
              <a:lnSpc>
                <a:spcPct val="114000"/>
              </a:lnSpc>
            </a:pP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(L-&gt;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len-i+1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)*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ElemType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)); </a:t>
            </a:r>
            <a:r>
              <a:rPr lang="en-US" altLang="zh-CN" sz="2200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//</a:t>
            </a:r>
            <a:r>
              <a:rPr lang="zh-CN" altLang="zh-CN" sz="2200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“腾位”后移</a:t>
            </a:r>
            <a:r>
              <a:rPr lang="en-US" altLang="zh-CN" sz="2200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1</a:t>
            </a:r>
            <a:r>
              <a:rPr lang="zh-CN" altLang="zh-CN" sz="2200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位</a:t>
            </a:r>
          </a:p>
          <a:p>
            <a:pPr>
              <a:lnSpc>
                <a:spcPct val="114000"/>
              </a:lnSpc>
            </a:pP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L-&gt;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-1] = e; </a:t>
            </a:r>
            <a:r>
              <a:rPr lang="en-US" altLang="zh-CN" sz="2200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// </a:t>
            </a:r>
            <a:r>
              <a:rPr lang="zh-CN" altLang="en-US" sz="2200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插入 </a:t>
            </a:r>
            <a:r>
              <a:rPr lang="en-US" altLang="zh-CN" sz="22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e</a:t>
            </a:r>
          </a:p>
          <a:p>
            <a:pPr>
              <a:lnSpc>
                <a:spcPct val="114000"/>
              </a:lnSpc>
            </a:pPr>
            <a:r>
              <a:rPr lang="en-US" altLang="zh-CN" sz="2200" b="1" dirty="0">
                <a:solidFill>
                  <a:srgbClr val="9933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L-&gt;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++;        </a:t>
            </a:r>
            <a:r>
              <a:rPr lang="en-US" altLang="zh-CN" sz="2200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// </a:t>
            </a:r>
            <a:r>
              <a:rPr lang="zh-CN" altLang="en-US" sz="2200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表长增 </a:t>
            </a:r>
            <a:r>
              <a:rPr lang="en-US" altLang="zh-CN" sz="22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1</a:t>
            </a:r>
          </a:p>
          <a:p>
            <a:pPr>
              <a:lnSpc>
                <a:spcPct val="114000"/>
              </a:lnSpc>
            </a:pP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OK;</a:t>
            </a:r>
          </a:p>
          <a:p>
            <a:pPr>
              <a:lnSpc>
                <a:spcPct val="114000"/>
              </a:lnSpc>
            </a:pP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200" b="1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// </a:t>
            </a:r>
            <a:r>
              <a:rPr lang="en-US" altLang="zh-CN" sz="2200" b="1" dirty="0" err="1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ListInsert</a:t>
            </a:r>
            <a:r>
              <a:rPr lang="en-US" altLang="zh-CN" sz="2200" b="1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                   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5044A4F-23A5-7D6C-34D6-A3FA6A17AD87}"/>
              </a:ext>
            </a:extLst>
          </p:cNvPr>
          <p:cNvCxnSpPr>
            <a:cxnSpLocks/>
          </p:cNvCxnSpPr>
          <p:nvPr/>
        </p:nvCxnSpPr>
        <p:spPr>
          <a:xfrm>
            <a:off x="8203522" y="4517831"/>
            <a:ext cx="0" cy="573501"/>
          </a:xfrm>
          <a:prstGeom prst="straightConnector1">
            <a:avLst/>
          </a:prstGeom>
          <a:ln w="38100">
            <a:solidFill>
              <a:srgbClr val="C00000"/>
            </a:solidFill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78">
            <a:extLst>
              <a:ext uri="{FF2B5EF4-FFF2-40B4-BE49-F238E27FC236}">
                <a16:creationId xmlns:a16="http://schemas.microsoft.com/office/drawing/2014/main" id="{A606010A-7DE6-8D6C-9C2D-321516565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5490" y="3933056"/>
            <a:ext cx="6714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8080"/>
                </a:solidFill>
              </a:rPr>
              <a:t>q</a:t>
            </a:r>
          </a:p>
        </p:txBody>
      </p:sp>
      <p:sp>
        <p:nvSpPr>
          <p:cNvPr id="10" name="文本框 6">
            <a:extLst>
              <a:ext uri="{FF2B5EF4-FFF2-40B4-BE49-F238E27FC236}">
                <a16:creationId xmlns:a16="http://schemas.microsoft.com/office/drawing/2014/main" id="{309FB614-E029-899F-5E4F-8975C62C6395}"/>
              </a:ext>
            </a:extLst>
          </p:cNvPr>
          <p:cNvSpPr txBox="1"/>
          <p:nvPr/>
        </p:nvSpPr>
        <p:spPr>
          <a:xfrm>
            <a:off x="9067709" y="5105219"/>
            <a:ext cx="793899" cy="584775"/>
          </a:xfrm>
          <a:prstGeom prst="rect">
            <a:avLst/>
          </a:prstGeom>
          <a:noFill/>
          <a:ln w="38100" cmpd="sng">
            <a:noFill/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B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739C210-639D-3CA3-5637-43E629351581}"/>
              </a:ext>
            </a:extLst>
          </p:cNvPr>
          <p:cNvCxnSpPr>
            <a:cxnSpLocks/>
          </p:cNvCxnSpPr>
          <p:nvPr/>
        </p:nvCxnSpPr>
        <p:spPr>
          <a:xfrm>
            <a:off x="9521400" y="4517831"/>
            <a:ext cx="0" cy="573501"/>
          </a:xfrm>
          <a:prstGeom prst="straightConnector1">
            <a:avLst/>
          </a:prstGeom>
          <a:ln w="38100">
            <a:solidFill>
              <a:srgbClr val="C00000"/>
            </a:solidFill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Box 78">
            <a:extLst>
              <a:ext uri="{FF2B5EF4-FFF2-40B4-BE49-F238E27FC236}">
                <a16:creationId xmlns:a16="http://schemas.microsoft.com/office/drawing/2014/main" id="{3EBEF5A7-3096-76BA-158E-8779A36C4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5650" y="3933056"/>
            <a:ext cx="6714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8080"/>
                </a:solidFill>
              </a:rPr>
              <a:t>p</a:t>
            </a:r>
          </a:p>
        </p:txBody>
      </p:sp>
      <p:sp>
        <p:nvSpPr>
          <p:cNvPr id="13" name="文本框 6">
            <a:extLst>
              <a:ext uri="{FF2B5EF4-FFF2-40B4-BE49-F238E27FC236}">
                <a16:creationId xmlns:a16="http://schemas.microsoft.com/office/drawing/2014/main" id="{C5A2587E-1F4A-B684-02DF-91216BB3B382}"/>
              </a:ext>
            </a:extLst>
          </p:cNvPr>
          <p:cNvSpPr txBox="1"/>
          <p:nvPr/>
        </p:nvSpPr>
        <p:spPr>
          <a:xfrm>
            <a:off x="8508132" y="5097863"/>
            <a:ext cx="793899" cy="584775"/>
          </a:xfrm>
          <a:prstGeom prst="rect">
            <a:avLst/>
          </a:prstGeom>
          <a:noFill/>
          <a:ln w="38100" cmpd="sng">
            <a:noFill/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D</a:t>
            </a:r>
          </a:p>
        </p:txBody>
      </p:sp>
      <p:sp>
        <p:nvSpPr>
          <p:cNvPr id="14" name="文本框 6">
            <a:extLst>
              <a:ext uri="{FF2B5EF4-FFF2-40B4-BE49-F238E27FC236}">
                <a16:creationId xmlns:a16="http://schemas.microsoft.com/office/drawing/2014/main" id="{990F5C25-491E-93D2-1EFB-71E08DA6F37D}"/>
              </a:ext>
            </a:extLst>
          </p:cNvPr>
          <p:cNvSpPr txBox="1"/>
          <p:nvPr/>
        </p:nvSpPr>
        <p:spPr>
          <a:xfrm>
            <a:off x="7899554" y="5105219"/>
            <a:ext cx="793899" cy="584775"/>
          </a:xfrm>
          <a:prstGeom prst="rect">
            <a:avLst/>
          </a:prstGeom>
          <a:noFill/>
          <a:ln w="38100" cmpd="sng">
            <a:noFill/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G</a:t>
            </a:r>
          </a:p>
        </p:txBody>
      </p:sp>
      <p:sp>
        <p:nvSpPr>
          <p:cNvPr id="15" name="文本框 6">
            <a:extLst>
              <a:ext uri="{FF2B5EF4-FFF2-40B4-BE49-F238E27FC236}">
                <a16:creationId xmlns:a16="http://schemas.microsoft.com/office/drawing/2014/main" id="{AC25B33D-FE25-92AE-8AC4-C0ABC6775BBD}"/>
              </a:ext>
            </a:extLst>
          </p:cNvPr>
          <p:cNvSpPr txBox="1"/>
          <p:nvPr/>
        </p:nvSpPr>
        <p:spPr>
          <a:xfrm>
            <a:off x="8038641" y="457082"/>
            <a:ext cx="793899" cy="584775"/>
          </a:xfrm>
          <a:prstGeom prst="rect">
            <a:avLst/>
          </a:prstGeom>
          <a:noFill/>
          <a:ln w="38100" cmpd="sng">
            <a:noFill/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C00000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H</a:t>
            </a:r>
          </a:p>
        </p:txBody>
      </p:sp>
      <p:sp>
        <p:nvSpPr>
          <p:cNvPr id="16" name="Text Box 78">
            <a:extLst>
              <a:ext uri="{FF2B5EF4-FFF2-40B4-BE49-F238E27FC236}">
                <a16:creationId xmlns:a16="http://schemas.microsoft.com/office/drawing/2014/main" id="{84DA82C8-A1C6-2EA5-5148-CC67A15EC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3008" y="470324"/>
            <a:ext cx="6714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7" name="文本框 4">
            <a:extLst>
              <a:ext uri="{FF2B5EF4-FFF2-40B4-BE49-F238E27FC236}">
                <a16:creationId xmlns:a16="http://schemas.microsoft.com/office/drawing/2014/main" id="{AB7356D3-048C-BFC7-85A2-07CB5E94528A}"/>
              </a:ext>
            </a:extLst>
          </p:cNvPr>
          <p:cNvSpPr txBox="1"/>
          <p:nvPr/>
        </p:nvSpPr>
        <p:spPr>
          <a:xfrm>
            <a:off x="6233878" y="5097865"/>
            <a:ext cx="594480" cy="584774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A</a:t>
            </a:r>
          </a:p>
        </p:txBody>
      </p:sp>
      <p:sp>
        <p:nvSpPr>
          <p:cNvPr id="18" name="文本框 6">
            <a:extLst>
              <a:ext uri="{FF2B5EF4-FFF2-40B4-BE49-F238E27FC236}">
                <a16:creationId xmlns:a16="http://schemas.microsoft.com/office/drawing/2014/main" id="{22E4A3EC-D895-4C67-0289-F42861DD9E30}"/>
              </a:ext>
            </a:extLst>
          </p:cNvPr>
          <p:cNvSpPr txBox="1"/>
          <p:nvPr/>
        </p:nvSpPr>
        <p:spPr>
          <a:xfrm>
            <a:off x="6822765" y="5097865"/>
            <a:ext cx="594481" cy="584774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C</a:t>
            </a: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8AF9F2D5-3932-4EAF-C2BB-368B975EDCCA}"/>
              </a:ext>
            </a:extLst>
          </p:cNvPr>
          <p:cNvSpPr txBox="1"/>
          <p:nvPr/>
        </p:nvSpPr>
        <p:spPr>
          <a:xfrm>
            <a:off x="7422905" y="5097863"/>
            <a:ext cx="587022" cy="58477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r>
              <a:rPr lang="en-US" altLang="zh-CN" sz="32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E</a:t>
            </a:r>
          </a:p>
        </p:txBody>
      </p:sp>
      <p:sp>
        <p:nvSpPr>
          <p:cNvPr id="20" name="Text Box 78">
            <a:extLst>
              <a:ext uri="{FF2B5EF4-FFF2-40B4-BE49-F238E27FC236}">
                <a16:creationId xmlns:a16="http://schemas.microsoft.com/office/drawing/2014/main" id="{0DE24794-0F87-B185-F0B2-BCC1FFFC4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3427" y="5636572"/>
            <a:ext cx="52061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008080"/>
                </a:solidFill>
              </a:rPr>
              <a:t>0    </a:t>
            </a:r>
            <a:r>
              <a:rPr lang="en-US" altLang="zh-CN" sz="1600" b="1" dirty="0">
                <a:solidFill>
                  <a:srgbClr val="008080"/>
                </a:solidFill>
              </a:rPr>
              <a:t>    </a:t>
            </a:r>
            <a:r>
              <a:rPr lang="en-US" altLang="zh-CN" sz="2000" b="1" dirty="0">
                <a:solidFill>
                  <a:srgbClr val="008080"/>
                </a:solidFill>
              </a:rPr>
              <a:t>1     </a:t>
            </a:r>
            <a:r>
              <a:rPr lang="en-US" altLang="zh-CN" sz="1600" b="1" dirty="0">
                <a:solidFill>
                  <a:srgbClr val="008080"/>
                </a:solidFill>
              </a:rPr>
              <a:t>    </a:t>
            </a:r>
            <a:r>
              <a:rPr lang="en-US" altLang="zh-CN" sz="2000" b="1" dirty="0">
                <a:solidFill>
                  <a:srgbClr val="008080"/>
                </a:solidFill>
              </a:rPr>
              <a:t>2    </a:t>
            </a:r>
            <a:r>
              <a:rPr lang="en-US" altLang="zh-CN" sz="1600" b="1" dirty="0">
                <a:solidFill>
                  <a:srgbClr val="008080"/>
                </a:solidFill>
              </a:rPr>
              <a:t>    </a:t>
            </a:r>
            <a:r>
              <a:rPr lang="en-US" altLang="zh-CN" sz="2000" b="1" dirty="0">
                <a:solidFill>
                  <a:srgbClr val="008080"/>
                </a:solidFill>
              </a:rPr>
              <a:t>3    </a:t>
            </a:r>
            <a:r>
              <a:rPr lang="en-US" altLang="zh-CN" sz="1600" b="1" dirty="0">
                <a:solidFill>
                  <a:srgbClr val="008080"/>
                </a:solidFill>
              </a:rPr>
              <a:t>    </a:t>
            </a:r>
            <a:r>
              <a:rPr lang="en-US" altLang="zh-CN" sz="2000" b="1" dirty="0">
                <a:solidFill>
                  <a:srgbClr val="008080"/>
                </a:solidFill>
              </a:rPr>
              <a:t>4    </a:t>
            </a:r>
            <a:r>
              <a:rPr lang="en-US" altLang="zh-CN" sz="1600" b="1" dirty="0">
                <a:solidFill>
                  <a:srgbClr val="008080"/>
                </a:solidFill>
              </a:rPr>
              <a:t>    </a:t>
            </a:r>
            <a:r>
              <a:rPr lang="en-US" altLang="zh-CN" sz="2000" b="1" dirty="0">
                <a:solidFill>
                  <a:srgbClr val="008080"/>
                </a:solidFill>
              </a:rPr>
              <a:t>5    </a:t>
            </a:r>
            <a:r>
              <a:rPr lang="en-US" altLang="zh-CN" sz="1600" b="1" dirty="0">
                <a:solidFill>
                  <a:srgbClr val="008080"/>
                </a:solidFill>
              </a:rPr>
              <a:t>    </a:t>
            </a:r>
            <a:r>
              <a:rPr lang="en-US" altLang="zh-CN" sz="2000" b="1" dirty="0">
                <a:solidFill>
                  <a:srgbClr val="008080"/>
                </a:solidFill>
              </a:rPr>
              <a:t>6    </a:t>
            </a:r>
            <a:r>
              <a:rPr lang="en-US" altLang="zh-CN" sz="1600" b="1" dirty="0">
                <a:solidFill>
                  <a:srgbClr val="008080"/>
                </a:solidFill>
              </a:rPr>
              <a:t>    </a:t>
            </a:r>
            <a:r>
              <a:rPr lang="en-US" altLang="zh-CN" sz="2000" b="1" dirty="0">
                <a:solidFill>
                  <a:srgbClr val="008080"/>
                </a:solidFill>
              </a:rPr>
              <a:t>7    </a:t>
            </a:r>
            <a:r>
              <a:rPr lang="en-US" altLang="zh-CN" sz="1600" b="1" dirty="0">
                <a:solidFill>
                  <a:srgbClr val="008080"/>
                </a:solidFill>
              </a:rPr>
              <a:t>    </a:t>
            </a:r>
            <a:r>
              <a:rPr lang="en-US" altLang="zh-CN" sz="2000" b="1" dirty="0">
                <a:solidFill>
                  <a:srgbClr val="008080"/>
                </a:solidFill>
              </a:rPr>
              <a:t>8</a:t>
            </a:r>
          </a:p>
        </p:txBody>
      </p:sp>
      <p:sp>
        <p:nvSpPr>
          <p:cNvPr id="21" name="文本框 7">
            <a:extLst>
              <a:ext uri="{FF2B5EF4-FFF2-40B4-BE49-F238E27FC236}">
                <a16:creationId xmlns:a16="http://schemas.microsoft.com/office/drawing/2014/main" id="{EAF511FF-3156-F0B8-6E9D-4C7FAFC95300}"/>
              </a:ext>
            </a:extLst>
          </p:cNvPr>
          <p:cNvSpPr txBox="1"/>
          <p:nvPr/>
        </p:nvSpPr>
        <p:spPr>
          <a:xfrm>
            <a:off x="10375496" y="5097863"/>
            <a:ext cx="587022" cy="58477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endParaRPr lang="en-US" altLang="zh-CN" sz="3200" noProof="1">
              <a:solidFill>
                <a:srgbClr val="0000CC"/>
              </a:solidFill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22" name="文本框 7">
            <a:extLst>
              <a:ext uri="{FF2B5EF4-FFF2-40B4-BE49-F238E27FC236}">
                <a16:creationId xmlns:a16="http://schemas.microsoft.com/office/drawing/2014/main" id="{9520B77D-B504-9E12-7BAF-A7D41F2C5688}"/>
              </a:ext>
            </a:extLst>
          </p:cNvPr>
          <p:cNvSpPr txBox="1"/>
          <p:nvPr/>
        </p:nvSpPr>
        <p:spPr>
          <a:xfrm>
            <a:off x="10962518" y="5097863"/>
            <a:ext cx="587022" cy="58477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ct val="50000"/>
              </a:spcBef>
              <a:defRPr/>
            </a:pPr>
            <a:endParaRPr lang="en-US" altLang="zh-CN" sz="3200" noProof="1">
              <a:solidFill>
                <a:srgbClr val="0000CC"/>
              </a:solidFill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F9E6E16A-AEA9-1308-11C0-0862386D8C2F}"/>
              </a:ext>
            </a:extLst>
          </p:cNvPr>
          <p:cNvGrpSpPr/>
          <p:nvPr/>
        </p:nvGrpSpPr>
        <p:grpSpPr>
          <a:xfrm>
            <a:off x="4075031" y="4733855"/>
            <a:ext cx="1574546" cy="1791400"/>
            <a:chOff x="5014310" y="4350797"/>
            <a:chExt cx="1574546" cy="1791400"/>
          </a:xfrm>
        </p:grpSpPr>
        <p:sp>
          <p:nvSpPr>
            <p:cNvPr id="24" name="文本框 81922">
              <a:extLst>
                <a:ext uri="{FF2B5EF4-FFF2-40B4-BE49-F238E27FC236}">
                  <a16:creationId xmlns:a16="http://schemas.microsoft.com/office/drawing/2014/main" id="{B7F22B86-8767-BBAF-B6E5-655CC8A6C3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1063" y="4763903"/>
              <a:ext cx="987156" cy="464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 err="1">
                  <a:solidFill>
                    <a:srgbClr val="008080"/>
                  </a:solidFill>
                  <a:latin typeface="+mn-lt"/>
                  <a:ea typeface="+mn-ea"/>
                </a:rPr>
                <a:t>elem</a:t>
              </a:r>
              <a:endParaRPr lang="zh-CN" altLang="en-US" sz="2400" b="1" dirty="0">
                <a:solidFill>
                  <a:srgbClr val="008080"/>
                </a:solidFill>
                <a:latin typeface="+mn-lt"/>
                <a:ea typeface="+mn-ea"/>
              </a:endParaRPr>
            </a:p>
          </p:txBody>
        </p:sp>
        <p:sp>
          <p:nvSpPr>
            <p:cNvPr id="25" name="文本框 81922">
              <a:extLst>
                <a:ext uri="{FF2B5EF4-FFF2-40B4-BE49-F238E27FC236}">
                  <a16:creationId xmlns:a16="http://schemas.microsoft.com/office/drawing/2014/main" id="{DF77F785-D9BC-5DFE-FE44-199873CF4F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4310" y="5219220"/>
              <a:ext cx="1084644" cy="464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>
                <a:lnSpc>
                  <a:spcPct val="105000"/>
                </a:lnSpc>
                <a:spcBef>
                  <a:spcPct val="0"/>
                </a:spcBef>
                <a:buClrTx/>
                <a:buNone/>
              </a:pPr>
              <a:r>
                <a:rPr lang="en-US" altLang="zh-CN" sz="2400" b="1" dirty="0">
                  <a:solidFill>
                    <a:srgbClr val="008080"/>
                  </a:solidFill>
                  <a:latin typeface="+mn-lt"/>
                  <a:ea typeface="+mn-ea"/>
                </a:rPr>
                <a:t>length</a:t>
              </a:r>
              <a:endParaRPr lang="zh-CN" altLang="en-US" sz="2400" b="1" dirty="0">
                <a:solidFill>
                  <a:srgbClr val="008080"/>
                </a:solidFill>
                <a:latin typeface="+mn-lt"/>
                <a:ea typeface="+mn-ea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C62519A-DF50-7D73-8388-FF47966FEDDF}"/>
                </a:ext>
              </a:extLst>
            </p:cNvPr>
            <p:cNvSpPr/>
            <p:nvPr/>
          </p:nvSpPr>
          <p:spPr>
            <a:xfrm>
              <a:off x="6074443" y="4767250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073A0D20-8970-0382-60C7-9F2DB860E5D8}"/>
                </a:ext>
              </a:extLst>
            </p:cNvPr>
            <p:cNvSpPr/>
            <p:nvPr/>
          </p:nvSpPr>
          <p:spPr>
            <a:xfrm>
              <a:off x="6074443" y="5227797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A3FC4EE1-01B8-E98B-268F-1BD79C29D905}"/>
                </a:ext>
              </a:extLst>
            </p:cNvPr>
            <p:cNvSpPr/>
            <p:nvPr/>
          </p:nvSpPr>
          <p:spPr>
            <a:xfrm>
              <a:off x="6074442" y="5684997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29" name="文本框 81922">
              <a:extLst>
                <a:ext uri="{FF2B5EF4-FFF2-40B4-BE49-F238E27FC236}">
                  <a16:creationId xmlns:a16="http://schemas.microsoft.com/office/drawing/2014/main" id="{2D0AEDAA-A392-7F6B-B14A-CD5E84D92B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9055" y="5663575"/>
              <a:ext cx="1067644" cy="464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>
                <a:lnSpc>
                  <a:spcPct val="105000"/>
                </a:lnSpc>
                <a:spcBef>
                  <a:spcPct val="0"/>
                </a:spcBef>
                <a:buClrTx/>
                <a:buNone/>
              </a:pPr>
              <a:r>
                <a:rPr lang="en-US" altLang="zh-CN" sz="2400" b="1" dirty="0">
                  <a:solidFill>
                    <a:srgbClr val="008080"/>
                  </a:solidFill>
                  <a:latin typeface="+mn-lt"/>
                  <a:ea typeface="+mn-ea"/>
                </a:rPr>
                <a:t>size</a:t>
              </a:r>
              <a:endParaRPr lang="zh-CN" altLang="en-US" sz="2400" b="1" dirty="0">
                <a:solidFill>
                  <a:srgbClr val="008080"/>
                </a:solidFill>
                <a:latin typeface="+mn-lt"/>
                <a:ea typeface="+mn-ea"/>
              </a:endParaRPr>
            </a:p>
          </p:txBody>
        </p:sp>
        <p:sp>
          <p:nvSpPr>
            <p:cNvPr id="30" name="文本框 81922">
              <a:extLst>
                <a:ext uri="{FF2B5EF4-FFF2-40B4-BE49-F238E27FC236}">
                  <a16:creationId xmlns:a16="http://schemas.microsoft.com/office/drawing/2014/main" id="{952772D2-FBD0-A06C-7825-1D8200A736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9146" y="4350797"/>
              <a:ext cx="472887" cy="455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008080"/>
                  </a:solidFill>
                  <a:ea typeface="楷体_GB2312" pitchFamily="49" charset="-122"/>
                </a:rPr>
                <a:t>L</a:t>
              </a:r>
              <a:endParaRPr lang="zh-CN" altLang="en-US" sz="2400" b="1" dirty="0">
                <a:solidFill>
                  <a:srgbClr val="008080"/>
                </a:solidFill>
              </a:endParaRPr>
            </a:p>
          </p:txBody>
        </p:sp>
      </p:grpSp>
      <p:sp>
        <p:nvSpPr>
          <p:cNvPr id="31" name="文本框 7">
            <a:extLst>
              <a:ext uri="{FF2B5EF4-FFF2-40B4-BE49-F238E27FC236}">
                <a16:creationId xmlns:a16="http://schemas.microsoft.com/office/drawing/2014/main" id="{D882C481-F089-823F-9AE1-A1E9CCA93044}"/>
              </a:ext>
            </a:extLst>
          </p:cNvPr>
          <p:cNvSpPr txBox="1"/>
          <p:nvPr/>
        </p:nvSpPr>
        <p:spPr>
          <a:xfrm>
            <a:off x="5268500" y="6049575"/>
            <a:ext cx="283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8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92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8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4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70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dirty="0">
                <a:solidFill>
                  <a:srgbClr val="C00000"/>
                </a:solidFill>
              </a:rPr>
              <a:t>9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32" name="文本框 40">
            <a:extLst>
              <a:ext uri="{FF2B5EF4-FFF2-40B4-BE49-F238E27FC236}">
                <a16:creationId xmlns:a16="http://schemas.microsoft.com/office/drawing/2014/main" id="{AC3AD318-9FE8-8764-A767-8464F97B94B4}"/>
              </a:ext>
            </a:extLst>
          </p:cNvPr>
          <p:cNvSpPr txBox="1"/>
          <p:nvPr/>
        </p:nvSpPr>
        <p:spPr>
          <a:xfrm>
            <a:off x="5115129" y="5610483"/>
            <a:ext cx="56811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8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92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8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4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70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dirty="0">
                <a:solidFill>
                  <a:srgbClr val="C00000"/>
                </a:solidFill>
              </a:rPr>
              <a:t>6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33" name="文本框 40">
            <a:extLst>
              <a:ext uri="{FF2B5EF4-FFF2-40B4-BE49-F238E27FC236}">
                <a16:creationId xmlns:a16="http://schemas.microsoft.com/office/drawing/2014/main" id="{E49511A6-BC5D-98DE-30B8-05DEC081723B}"/>
              </a:ext>
            </a:extLst>
          </p:cNvPr>
          <p:cNvSpPr txBox="1"/>
          <p:nvPr/>
        </p:nvSpPr>
        <p:spPr>
          <a:xfrm>
            <a:off x="5093401" y="5635814"/>
            <a:ext cx="56811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8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92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8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4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70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dirty="0">
                <a:solidFill>
                  <a:srgbClr val="C00000"/>
                </a:solidFill>
              </a:rPr>
              <a:t>7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2A764E7D-B30E-8447-62C7-066B464E0E71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5377457" y="5390251"/>
            <a:ext cx="856421" cy="1"/>
          </a:xfrm>
          <a:prstGeom prst="straightConnector1">
            <a:avLst/>
          </a:prstGeom>
          <a:ln w="38100"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0F5F25D0-5259-47B7-E31C-61BD48ADCDFB}"/>
              </a:ext>
            </a:extLst>
          </p:cNvPr>
          <p:cNvSpPr txBox="1"/>
          <p:nvPr/>
        </p:nvSpPr>
        <p:spPr>
          <a:xfrm>
            <a:off x="5995791" y="2425350"/>
            <a:ext cx="5539976" cy="12383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2200" dirty="0"/>
              <a:t>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j =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-1;</a:t>
            </a:r>
          </a:p>
          <a:p>
            <a:pPr>
              <a:lnSpc>
                <a:spcPct val="114000"/>
              </a:lnSpc>
            </a:pPr>
            <a:r>
              <a:rPr lang="en-US" altLang="zh-CN" sz="2200" dirty="0"/>
              <a:t>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=L-&gt;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-1; 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&gt;=j; --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     </a:t>
            </a:r>
          </a:p>
          <a:p>
            <a:pPr>
              <a:lnSpc>
                <a:spcPct val="114000"/>
              </a:lnSpc>
            </a:pP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L-&gt;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[i+1] = L-&gt;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endParaRPr lang="zh-CN" altLang="en-US" sz="2200" dirty="0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47862B5A-CDB2-FAF0-7B78-DE777D83D067}"/>
              </a:ext>
            </a:extLst>
          </p:cNvPr>
          <p:cNvSpPr/>
          <p:nvPr/>
        </p:nvSpPr>
        <p:spPr>
          <a:xfrm>
            <a:off x="1308059" y="207106"/>
            <a:ext cx="4543011" cy="53799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600" b="1" dirty="0">
                <a:solidFill>
                  <a:srgbClr val="2D04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算法</a:t>
            </a:r>
            <a:r>
              <a:rPr lang="en-US" altLang="zh-CN" sz="2600" b="1" dirty="0">
                <a:solidFill>
                  <a:srgbClr val="2D04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2.4  </a:t>
            </a:r>
            <a:r>
              <a:rPr lang="zh-CN" altLang="en-US" sz="2600" b="1" dirty="0">
                <a:solidFill>
                  <a:srgbClr val="2D04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顺序表的插入</a:t>
            </a:r>
            <a:r>
              <a:rPr lang="en-US" altLang="zh-CN" sz="2600" b="1" dirty="0">
                <a:solidFill>
                  <a:srgbClr val="2D04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(</a:t>
            </a:r>
            <a:r>
              <a:rPr lang="zh-CN" altLang="en-US" sz="2600" b="1" dirty="0">
                <a:solidFill>
                  <a:srgbClr val="2D04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续</a:t>
            </a:r>
            <a:r>
              <a:rPr lang="en-US" altLang="zh-CN" sz="2600" b="1" dirty="0">
                <a:solidFill>
                  <a:srgbClr val="2D04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)</a:t>
            </a:r>
            <a:endParaRPr lang="zh-CN" altLang="en-US" sz="2600" b="1" dirty="0">
              <a:solidFill>
                <a:srgbClr val="2D04F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37" name="Text Box 78">
            <a:extLst>
              <a:ext uri="{FF2B5EF4-FFF2-40B4-BE49-F238E27FC236}">
                <a16:creationId xmlns:a16="http://schemas.microsoft.com/office/drawing/2014/main" id="{E323CB8A-4F71-08E0-24D3-3F89CB5FE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428" y="5309489"/>
            <a:ext cx="3337481" cy="4308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200" b="1" dirty="0">
                <a:sym typeface="+mn-ea"/>
              </a:rPr>
              <a:t>3. </a:t>
            </a:r>
            <a:r>
              <a:rPr lang="zh-CN" altLang="en-US" sz="2200" b="1" dirty="0">
                <a:sym typeface="+mn-ea"/>
              </a:rPr>
              <a:t>在第 </a:t>
            </a:r>
            <a:r>
              <a:rPr lang="en-US" altLang="zh-CN" sz="2200" b="1" dirty="0" err="1">
                <a:sym typeface="+mn-ea"/>
              </a:rPr>
              <a:t>i</a:t>
            </a:r>
            <a:r>
              <a:rPr lang="en-US" altLang="zh-CN" sz="2200" b="1" dirty="0">
                <a:sym typeface="+mn-ea"/>
              </a:rPr>
              <a:t> </a:t>
            </a:r>
            <a:r>
              <a:rPr lang="zh-CN" altLang="en-US" sz="2200" b="1" dirty="0">
                <a:sym typeface="+mn-ea"/>
              </a:rPr>
              <a:t>位置插入元素 </a:t>
            </a:r>
            <a:r>
              <a:rPr lang="en-US" altLang="zh-CN" sz="2200" b="1" dirty="0">
                <a:sym typeface="+mn-ea"/>
              </a:rPr>
              <a:t>e</a:t>
            </a:r>
            <a:endParaRPr lang="zh-CN" altLang="en-US" sz="2200" b="1" dirty="0">
              <a:solidFill>
                <a:schemeClr val="tx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F5E42BA-BFCD-5AA9-0249-43D9775E384E}"/>
              </a:ext>
            </a:extLst>
          </p:cNvPr>
          <p:cNvSpPr/>
          <p:nvPr/>
        </p:nvSpPr>
        <p:spPr>
          <a:xfrm>
            <a:off x="1105319" y="1637881"/>
            <a:ext cx="7330272" cy="739929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箭头: 上下 38">
            <a:extLst>
              <a:ext uri="{FF2B5EF4-FFF2-40B4-BE49-F238E27FC236}">
                <a16:creationId xmlns:a16="http://schemas.microsoft.com/office/drawing/2014/main" id="{93C7FD85-EFC2-BB1A-5EE5-B4FC03CABC42}"/>
              </a:ext>
            </a:extLst>
          </p:cNvPr>
          <p:cNvSpPr/>
          <p:nvPr/>
        </p:nvSpPr>
        <p:spPr>
          <a:xfrm rot="19017141">
            <a:off x="5814305" y="2245425"/>
            <a:ext cx="296426" cy="452175"/>
          </a:xfrm>
          <a:prstGeom prst="upDownArrow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4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12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4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1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2.96296E-6 L 0.04818 2.96296E-6 " pathEditMode="relative" rAng="0" ptsTypes="AA">
                                      <p:cBhvr>
                                        <p:cTn id="11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2.96296E-6 L -0.04818 -0.00139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09" y="-69"/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7037E-6 L -0.05508 0.00695 " pathEditMode="relative" rAng="0" ptsTypes="AA">
                                      <p:cBhvr>
                                        <p:cTn id="12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60" y="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000"/>
                            </p:stCondLst>
                            <p:childTnLst>
                              <p:par>
                                <p:cTn id="125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500"/>
                            </p:stCondLst>
                            <p:childTnLst>
                              <p:par>
                                <p:cTn id="12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3.7037E-7 L 0.04583 0.00116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2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4500"/>
                            </p:stCondLst>
                            <p:childTnLst>
                              <p:par>
                                <p:cTn id="13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818 -0.00139 L -0.0944 0.00139 " pathEditMode="relative" rAng="0" ptsTypes="AA">
                                      <p:cBhvr>
                                        <p:cTn id="13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18" y="139"/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508 0.00695 L -0.097 0.00718 " pathEditMode="relative" rAng="0" ptsTypes="AA">
                                      <p:cBhvr>
                                        <p:cTn id="13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9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6500"/>
                            </p:stCondLst>
                            <p:childTnLst>
                              <p:par>
                                <p:cTn id="13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2.96296E-6 L 0.05 -0.00116 " pathEditMode="relative" rAng="0" ptsTypes="AA">
                                      <p:cBhvr>
                                        <p:cTn id="13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8500"/>
                            </p:stCondLst>
                            <p:childTnLst>
                              <p:par>
                                <p:cTn id="14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44 0.00139 L -0.14948 -0.00092 " pathEditMode="relative" rAng="0" ptsTypes="AA">
                                      <p:cBhvr>
                                        <p:cTn id="14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60" y="-116"/>
                                    </p:animMotion>
                                  </p:childTnLst>
                                </p:cTn>
                              </p:par>
                              <p:par>
                                <p:cTn id="142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7 0.00718 L -0.16497 0.00718 " pathEditMode="relative" rAng="0" ptsTypes="AA">
                                      <p:cBhvr>
                                        <p:cTn id="14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9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000"/>
                            </p:stCondLst>
                            <p:childTnLst>
                              <p:par>
                                <p:cTn id="152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7.40741E-7 L -0.01146 0.67777 " pathEditMode="relative" rAng="0" ptsTypes="AA">
                                      <p:cBhvr>
                                        <p:cTn id="15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3" y="340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000"/>
                            </p:stCondLst>
                            <p:childTnLst>
                              <p:par>
                                <p:cTn id="162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000"/>
                            </p:stCondLst>
                            <p:childTnLst>
                              <p:par>
                                <p:cTn id="17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9" grpId="0"/>
      <p:bldP spid="10" grpId="0"/>
      <p:bldP spid="10" grpId="1"/>
      <p:bldP spid="10" grpId="2"/>
      <p:bldP spid="12" grpId="0"/>
      <p:bldP spid="12" grpId="1"/>
      <p:bldP spid="12" grpId="2"/>
      <p:bldP spid="12" grpId="3"/>
      <p:bldP spid="13" grpId="0"/>
      <p:bldP spid="13" grpId="1"/>
      <p:bldP spid="13" grpId="2"/>
      <p:bldP spid="14" grpId="0"/>
      <p:bldP spid="14" grpId="1"/>
      <p:bldP spid="15" grpId="0"/>
      <p:bldP spid="15" grpId="1"/>
      <p:bldP spid="16" grpId="0"/>
      <p:bldP spid="17" grpId="0" animBg="1"/>
      <p:bldP spid="18" grpId="0" animBg="1"/>
      <p:bldP spid="19" grpId="0" animBg="1"/>
      <p:bldP spid="20" grpId="0"/>
      <p:bldP spid="21" grpId="0" animBg="1"/>
      <p:bldP spid="22" grpId="0" animBg="1"/>
      <p:bldP spid="31" grpId="0"/>
      <p:bldP spid="32" grpId="0"/>
      <p:bldP spid="32" grpId="1"/>
      <p:bldP spid="33" grpId="0"/>
      <p:bldP spid="35" grpId="0" animBg="1"/>
      <p:bldP spid="35" grpId="1" animBg="1"/>
      <p:bldP spid="38" grpId="0" animBg="1"/>
      <p:bldP spid="3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D1F86D18-B1D8-F58E-AAE7-1BC802D75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1115" y="4169619"/>
            <a:ext cx="529949" cy="42840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  <a:miter lim="800000"/>
            <a:headEnd/>
            <a:tailEnd/>
          </a:ln>
        </p:spPr>
        <p:txBody>
          <a:bodyPr lIns="90123" tIns="46966" rIns="90123" bIns="46966" anchor="ctr"/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zh-CN" sz="1799" dirty="0">
                <a:sym typeface="宋体" panose="02010600030101010101" pitchFamily="2" charset="-122"/>
              </a:rPr>
              <a:t>0</a:t>
            </a:r>
            <a:endParaRPr lang="zh-CN" altLang="en-US" sz="1799" dirty="0">
              <a:sym typeface="宋体" panose="02010600030101010101" pitchFamily="2" charset="-122"/>
            </a:endParaRPr>
          </a:p>
        </p:txBody>
      </p:sp>
      <p:sp>
        <p:nvSpPr>
          <p:cNvPr id="22" name="矩形 27">
            <a:extLst>
              <a:ext uri="{FF2B5EF4-FFF2-40B4-BE49-F238E27FC236}">
                <a16:creationId xmlns:a16="http://schemas.microsoft.com/office/drawing/2014/main" id="{C4DFD519-6570-E99E-50E1-F89E402B2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1064" y="4169619"/>
            <a:ext cx="529949" cy="42840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  <a:miter lim="800000"/>
            <a:headEnd/>
            <a:tailEnd/>
          </a:ln>
        </p:spPr>
        <p:txBody>
          <a:bodyPr lIns="90123" tIns="46966" rIns="90123" bIns="46966" anchor="ctr"/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zh-CN" sz="1799" dirty="0">
                <a:sym typeface="宋体" panose="02010600030101010101" pitchFamily="2" charset="-122"/>
              </a:rPr>
              <a:t>1</a:t>
            </a:r>
            <a:endParaRPr lang="zh-CN" altLang="en-US" sz="1799" dirty="0">
              <a:sym typeface="宋体" panose="02010600030101010101" pitchFamily="2" charset="-122"/>
            </a:endParaRPr>
          </a:p>
        </p:txBody>
      </p:sp>
      <p:sp>
        <p:nvSpPr>
          <p:cNvPr id="23" name="矩形 27">
            <a:extLst>
              <a:ext uri="{FF2B5EF4-FFF2-40B4-BE49-F238E27FC236}">
                <a16:creationId xmlns:a16="http://schemas.microsoft.com/office/drawing/2014/main" id="{B6ED713A-BEC2-37AE-A8C0-E86B1C5A5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1013" y="4169619"/>
            <a:ext cx="529949" cy="42840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  <a:miter lim="800000"/>
            <a:headEnd/>
            <a:tailEnd/>
          </a:ln>
        </p:spPr>
        <p:txBody>
          <a:bodyPr lIns="90123" tIns="46966" rIns="90123" bIns="46966" anchor="ctr"/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zh-CN" sz="1799" dirty="0">
                <a:sym typeface="宋体" panose="02010600030101010101" pitchFamily="2" charset="-122"/>
              </a:rPr>
              <a:t>2</a:t>
            </a:r>
            <a:endParaRPr lang="zh-CN" altLang="en-US" sz="1799" dirty="0">
              <a:sym typeface="宋体" panose="02010600030101010101" pitchFamily="2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1933E2B-2D7F-5565-FF36-75DBFF35A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8824" y="4169619"/>
            <a:ext cx="529949" cy="42840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  <a:miter lim="800000"/>
            <a:headEnd/>
            <a:tailEnd/>
          </a:ln>
        </p:spPr>
        <p:txBody>
          <a:bodyPr lIns="90123" tIns="46966" rIns="90123" bIns="46966" anchor="ctr"/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zh-CN" sz="1799" dirty="0">
                <a:sym typeface="宋体" panose="02010600030101010101" pitchFamily="2" charset="-122"/>
              </a:rPr>
              <a:t>3</a:t>
            </a:r>
            <a:endParaRPr lang="zh-CN" altLang="en-US" sz="1799" dirty="0">
              <a:sym typeface="宋体" panose="02010600030101010101" pitchFamily="2" charset="-122"/>
            </a:endParaRPr>
          </a:p>
        </p:txBody>
      </p:sp>
      <p:sp>
        <p:nvSpPr>
          <p:cNvPr id="30" name="矩形 27">
            <a:extLst>
              <a:ext uri="{FF2B5EF4-FFF2-40B4-BE49-F238E27FC236}">
                <a16:creationId xmlns:a16="http://schemas.microsoft.com/office/drawing/2014/main" id="{71E64AB8-3C7D-2E6E-ED1A-A7234DEB3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8773" y="4169619"/>
            <a:ext cx="529949" cy="42840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  <a:miter lim="800000"/>
            <a:headEnd/>
            <a:tailEnd/>
          </a:ln>
        </p:spPr>
        <p:txBody>
          <a:bodyPr lIns="90123" tIns="46966" rIns="90123" bIns="46966" anchor="ctr"/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zh-CN" sz="1799" dirty="0">
                <a:sym typeface="宋体" panose="02010600030101010101" pitchFamily="2" charset="-122"/>
              </a:rPr>
              <a:t>4</a:t>
            </a:r>
            <a:endParaRPr lang="zh-CN" altLang="en-US" sz="1799" dirty="0">
              <a:sym typeface="宋体" panose="02010600030101010101" pitchFamily="2" charset="-122"/>
            </a:endParaRPr>
          </a:p>
        </p:txBody>
      </p:sp>
      <p:sp>
        <p:nvSpPr>
          <p:cNvPr id="31" name="矩形 27">
            <a:extLst>
              <a:ext uri="{FF2B5EF4-FFF2-40B4-BE49-F238E27FC236}">
                <a16:creationId xmlns:a16="http://schemas.microsoft.com/office/drawing/2014/main" id="{BE0F0639-33F5-2A80-EF0A-3703C0888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8722" y="4169619"/>
            <a:ext cx="529949" cy="42840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  <a:miter lim="800000"/>
            <a:headEnd/>
            <a:tailEnd/>
          </a:ln>
        </p:spPr>
        <p:txBody>
          <a:bodyPr lIns="90123" tIns="46966" rIns="90123" bIns="46966" anchor="ctr"/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799" dirty="0">
                <a:sym typeface="宋体" panose="02010600030101010101" pitchFamily="2" charset="-122"/>
              </a:rPr>
              <a:t>5</a:t>
            </a:r>
            <a:endParaRPr lang="zh-CN" altLang="en-US" sz="1799" dirty="0">
              <a:sym typeface="宋体" panose="02010600030101010101" pitchFamily="2" charset="-122"/>
            </a:endParaRPr>
          </a:p>
        </p:txBody>
      </p:sp>
      <p:sp>
        <p:nvSpPr>
          <p:cNvPr id="32" name="矩形 27">
            <a:extLst>
              <a:ext uri="{FF2B5EF4-FFF2-40B4-BE49-F238E27FC236}">
                <a16:creationId xmlns:a16="http://schemas.microsoft.com/office/drawing/2014/main" id="{5E786E10-0032-AD06-FADF-3AEE9F6FA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2976" y="4169619"/>
            <a:ext cx="529949" cy="42840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  <a:miter lim="800000"/>
            <a:headEnd/>
            <a:tailEnd/>
          </a:ln>
        </p:spPr>
        <p:txBody>
          <a:bodyPr lIns="90123" tIns="46966" rIns="90123" bIns="46966" anchor="ctr"/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zh-CN" sz="1799" dirty="0">
                <a:sym typeface="宋体" panose="02010600030101010101" pitchFamily="2" charset="-122"/>
              </a:rPr>
              <a:t>6</a:t>
            </a:r>
            <a:endParaRPr lang="zh-CN" altLang="en-US" sz="1799" dirty="0">
              <a:sym typeface="宋体" panose="02010600030101010101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45A8C5C-A26C-3EEA-8BC4-6AEC2C7B8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矩形 27">
            <a:extLst>
              <a:ext uri="{FF2B5EF4-FFF2-40B4-BE49-F238E27FC236}">
                <a16:creationId xmlns:a16="http://schemas.microsoft.com/office/drawing/2014/main" id="{E063C4D2-B52B-E1F3-84EF-E499D6C45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1064" y="4553086"/>
            <a:ext cx="529949" cy="428402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90123" tIns="46966" rIns="90123" bIns="46966" anchor="ctr"/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200" dirty="0">
                <a:latin typeface="Calibri" panose="020F0502020204030204" pitchFamily="34" charset="0"/>
                <a:sym typeface="宋体" panose="02010600030101010101" pitchFamily="2" charset="-122"/>
              </a:rPr>
              <a:t>8</a:t>
            </a:r>
            <a:endParaRPr lang="zh-CN" altLang="en-US" sz="2200" dirty="0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" name="矩形 27">
            <a:extLst>
              <a:ext uri="{FF2B5EF4-FFF2-40B4-BE49-F238E27FC236}">
                <a16:creationId xmlns:a16="http://schemas.microsoft.com/office/drawing/2014/main" id="{55F0D711-265A-5B5D-96E5-56E54A524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8319" y="4553086"/>
            <a:ext cx="529949" cy="428402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90123" tIns="46966" rIns="90123" bIns="46966" anchor="ctr"/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200">
                <a:latin typeface="Calibri" panose="020F0502020204030204" pitchFamily="34" charset="0"/>
                <a:sym typeface="宋体" panose="02010600030101010101" pitchFamily="2" charset="-122"/>
              </a:rPr>
              <a:t>10</a:t>
            </a:r>
            <a:endParaRPr lang="zh-CN" altLang="en-US" sz="2200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5" name="矩形 27">
            <a:extLst>
              <a:ext uri="{FF2B5EF4-FFF2-40B4-BE49-F238E27FC236}">
                <a16:creationId xmlns:a16="http://schemas.microsoft.com/office/drawing/2014/main" id="{70DC4B3F-5D91-F553-2A51-DF5C911B7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8268" y="4553086"/>
            <a:ext cx="529949" cy="428402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90123" tIns="46966" rIns="90123" bIns="46966" anchor="ctr"/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200" dirty="0">
                <a:latin typeface="Calibri" panose="020F0502020204030204" pitchFamily="34" charset="0"/>
                <a:sym typeface="宋体" panose="02010600030101010101" pitchFamily="2" charset="-122"/>
              </a:rPr>
              <a:t>17</a:t>
            </a:r>
            <a:endParaRPr lang="zh-CN" altLang="en-US" sz="2200" dirty="0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6" name="矩形 27">
            <a:extLst>
              <a:ext uri="{FF2B5EF4-FFF2-40B4-BE49-F238E27FC236}">
                <a16:creationId xmlns:a16="http://schemas.microsoft.com/office/drawing/2014/main" id="{819B6B45-3214-38DF-2C62-FCE96733B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1115" y="4553086"/>
            <a:ext cx="529949" cy="428402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90123" tIns="46966" rIns="90123" bIns="46966" anchor="ctr"/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200" dirty="0">
                <a:latin typeface="Calibri" panose="020F0502020204030204" pitchFamily="34" charset="0"/>
                <a:sym typeface="宋体" panose="02010600030101010101" pitchFamily="2" charset="-122"/>
              </a:rPr>
              <a:t>3</a:t>
            </a:r>
            <a:endParaRPr lang="zh-CN" altLang="en-US" sz="2200" dirty="0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420BF9-75A8-872C-1250-5A24936AA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7551" y="4553086"/>
            <a:ext cx="529949" cy="428402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90123" tIns="46966" rIns="90123" bIns="46966" anchor="ctr"/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200">
                <a:latin typeface="Calibri" panose="020F0502020204030204" pitchFamily="34" charset="0"/>
                <a:sym typeface="宋体" panose="02010600030101010101" pitchFamily="2" charset="-122"/>
              </a:rPr>
              <a:t>5</a:t>
            </a:r>
            <a:endParaRPr lang="zh-CN" altLang="en-US" sz="2200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8" name="矩形 27">
            <a:extLst>
              <a:ext uri="{FF2B5EF4-FFF2-40B4-BE49-F238E27FC236}">
                <a16:creationId xmlns:a16="http://schemas.microsoft.com/office/drawing/2014/main" id="{A4F01557-9935-8277-60A9-93BFB2EE8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7500" y="4553086"/>
            <a:ext cx="529949" cy="428402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90123" tIns="46966" rIns="90123" bIns="46966" anchor="ctr"/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200" dirty="0">
                <a:latin typeface="Calibri" panose="020F0502020204030204" pitchFamily="34" charset="0"/>
                <a:sym typeface="宋体" panose="02010600030101010101" pitchFamily="2" charset="-122"/>
              </a:rPr>
              <a:t>6</a:t>
            </a:r>
            <a:endParaRPr lang="zh-CN" altLang="en-US" sz="2200" dirty="0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9" name="矩形 27">
            <a:extLst>
              <a:ext uri="{FF2B5EF4-FFF2-40B4-BE49-F238E27FC236}">
                <a16:creationId xmlns:a16="http://schemas.microsoft.com/office/drawing/2014/main" id="{445CCF8A-E29A-CBAB-7745-0159949A6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9189" y="4553086"/>
            <a:ext cx="529949" cy="428402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90123" tIns="46966" rIns="90123" bIns="46966" anchor="ctr"/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200" dirty="0">
                <a:latin typeface="Calibri" panose="020F0502020204030204" pitchFamily="34" charset="0"/>
                <a:sym typeface="宋体" panose="02010600030101010101" pitchFamily="2" charset="-122"/>
              </a:rPr>
              <a:t>2</a:t>
            </a:r>
            <a:endParaRPr lang="zh-CN" altLang="en-US" sz="2200" dirty="0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4" name="标题 2">
            <a:extLst>
              <a:ext uri="{FF2B5EF4-FFF2-40B4-BE49-F238E27FC236}">
                <a16:creationId xmlns:a16="http://schemas.microsoft.com/office/drawing/2014/main" id="{5A89697A-D4BF-07B0-62D0-6D7563ED482B}"/>
              </a:ext>
            </a:extLst>
          </p:cNvPr>
          <p:cNvSpPr txBox="1">
            <a:spLocks/>
          </p:cNvSpPr>
          <p:nvPr/>
        </p:nvSpPr>
        <p:spPr>
          <a:xfrm>
            <a:off x="1413388" y="276711"/>
            <a:ext cx="5337036" cy="4566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799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算法</a:t>
            </a:r>
            <a:r>
              <a:rPr lang="en-US" altLang="zh-CN" sz="2799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2. 5  </a:t>
            </a:r>
            <a:r>
              <a:rPr lang="zh-CN" altLang="en-US" sz="2799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删除顺序表的第</a:t>
            </a:r>
            <a:r>
              <a:rPr lang="en-US" altLang="zh-CN" sz="2799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2799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元素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B3988D4-CAA9-1E68-F224-36B98ACADC79}"/>
              </a:ext>
            </a:extLst>
          </p:cNvPr>
          <p:cNvSpPr txBox="1"/>
          <p:nvPr/>
        </p:nvSpPr>
        <p:spPr>
          <a:xfrm>
            <a:off x="971772" y="949656"/>
            <a:ext cx="6032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ElemType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ListDelete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SqList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L, 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2906173-2261-1577-788B-6D756ABB76C0}"/>
              </a:ext>
            </a:extLst>
          </p:cNvPr>
          <p:cNvSpPr txBox="1"/>
          <p:nvPr/>
        </p:nvSpPr>
        <p:spPr>
          <a:xfrm>
            <a:off x="1309925" y="1355440"/>
            <a:ext cx="9892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nn-NO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nn-NO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nn-NO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 || i&lt;1 || i&gt;L-&gt;len) </a:t>
            </a:r>
            <a:r>
              <a:rPr lang="nn-NO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nn-NO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errV</a:t>
            </a:r>
            <a:r>
              <a:rPr lang="nn-NO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  <a:r>
              <a:rPr lang="nn-NO" altLang="zh-CN" sz="2000" b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删除位置</a:t>
            </a:r>
            <a:r>
              <a:rPr lang="nn-NO" altLang="zh-CN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不合法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49E90BE-C1BD-17D2-97E2-4251AE56D242}"/>
              </a:ext>
            </a:extLst>
          </p:cNvPr>
          <p:cNvSpPr/>
          <p:nvPr/>
        </p:nvSpPr>
        <p:spPr>
          <a:xfrm>
            <a:off x="1309925" y="1805505"/>
            <a:ext cx="951503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ElemType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*p = &amp;(L-&gt;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[i-1]);  </a:t>
            </a:r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为被删除元素的位置</a:t>
            </a:r>
          </a:p>
          <a:p>
            <a:pPr>
              <a:spcBef>
                <a:spcPct val="10000"/>
              </a:spcBef>
            </a:pP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ElemType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e = *p;                </a:t>
            </a:r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被删除元素的值赋给</a:t>
            </a: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173AB46-BA39-B84F-8202-942C6D383E4C}"/>
              </a:ext>
            </a:extLst>
          </p:cNvPr>
          <p:cNvSpPr/>
          <p:nvPr/>
        </p:nvSpPr>
        <p:spPr>
          <a:xfrm>
            <a:off x="1309925" y="2564477"/>
            <a:ext cx="118000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memmove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(p,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p+1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(L-&gt;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len-i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)*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ElemType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));  </a:t>
            </a:r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zh-CN" altLang="zh-CN" sz="2000" b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被删元素之后的所有元素前移</a:t>
            </a:r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zh-CN" altLang="zh-CN" sz="2000" b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位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0DF93D1-AE84-20AE-C98E-D2266CDD0007}"/>
              </a:ext>
            </a:extLst>
          </p:cNvPr>
          <p:cNvSpPr/>
          <p:nvPr/>
        </p:nvSpPr>
        <p:spPr>
          <a:xfrm>
            <a:off x="221581" y="2999682"/>
            <a:ext cx="582421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10000"/>
              </a:spcBef>
            </a:pP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--L-&gt;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       </a:t>
            </a:r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表长减</a:t>
            </a:r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>
              <a:spcBef>
                <a:spcPct val="10000"/>
              </a:spcBef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e; </a:t>
            </a:r>
            <a:endParaRPr lang="zh-CN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4" name="直接箭头连接符 33">
            <a:extLst>
              <a:ext uri="{FF2B5EF4-FFF2-40B4-BE49-F238E27FC236}">
                <a16:creationId xmlns:a16="http://schemas.microsoft.com/office/drawing/2014/main" id="{E5A98C22-0CB6-A941-5588-1860054DAB8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025536" y="4989367"/>
            <a:ext cx="0" cy="428402"/>
          </a:xfrm>
          <a:prstGeom prst="straightConnector1">
            <a:avLst/>
          </a:prstGeom>
          <a:noFill/>
          <a:ln w="38100">
            <a:solidFill>
              <a:srgbClr val="7030A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直接箭头连接符 33">
            <a:extLst>
              <a:ext uri="{FF2B5EF4-FFF2-40B4-BE49-F238E27FC236}">
                <a16:creationId xmlns:a16="http://schemas.microsoft.com/office/drawing/2014/main" id="{A9BF226D-EFC7-D40B-D18B-DA59FB01D8D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0752828" y="4989367"/>
            <a:ext cx="0" cy="428402"/>
          </a:xfrm>
          <a:prstGeom prst="straightConnector1">
            <a:avLst/>
          </a:prstGeom>
          <a:noFill/>
          <a:ln w="38100">
            <a:solidFill>
              <a:srgbClr val="0070C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AAAFADED-6395-D4AA-CF19-7E47B3E68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5260" y="4557133"/>
            <a:ext cx="529949" cy="428402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90123" tIns="46966" rIns="90123" bIns="46966" anchor="ctr"/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200" dirty="0">
                <a:latin typeface="Calibri" panose="020F0502020204030204" pitchFamily="34" charset="0"/>
                <a:sym typeface="宋体" panose="02010600030101010101" pitchFamily="2" charset="-122"/>
              </a:rPr>
              <a:t>5</a:t>
            </a:r>
            <a:endParaRPr lang="zh-CN" altLang="en-US" sz="2200" dirty="0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7" name="矩形 27">
            <a:extLst>
              <a:ext uri="{FF2B5EF4-FFF2-40B4-BE49-F238E27FC236}">
                <a16:creationId xmlns:a16="http://schemas.microsoft.com/office/drawing/2014/main" id="{B57BF719-F9B1-FE11-59C9-87A0E01B2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9791" y="4553674"/>
            <a:ext cx="529949" cy="428402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90123" tIns="46966" rIns="90123" bIns="46966" anchor="ctr"/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200" dirty="0">
                <a:latin typeface="Calibri" panose="020F0502020204030204" pitchFamily="34" charset="0"/>
                <a:sym typeface="宋体" panose="02010600030101010101" pitchFamily="2" charset="-122"/>
              </a:rPr>
              <a:t>6</a:t>
            </a:r>
            <a:endParaRPr lang="zh-CN" altLang="en-US" sz="2200" dirty="0"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06E19C0-82BF-934C-A4DC-B290E5B72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6899" y="4557133"/>
            <a:ext cx="529949" cy="428402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90123" tIns="46966" rIns="90123" bIns="46966" anchor="ctr"/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200" dirty="0">
                <a:latin typeface="Calibri" panose="020F0502020204030204" pitchFamily="34" charset="0"/>
                <a:sym typeface="宋体" panose="02010600030101010101" pitchFamily="2" charset="-122"/>
              </a:rPr>
              <a:t>2</a:t>
            </a:r>
            <a:endParaRPr lang="zh-CN" altLang="en-US" sz="2200" dirty="0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4" name="矩形 278659">
            <a:extLst>
              <a:ext uri="{FF2B5EF4-FFF2-40B4-BE49-F238E27FC236}">
                <a16:creationId xmlns:a16="http://schemas.microsoft.com/office/drawing/2014/main" id="{102CB2B4-2DB8-E61C-4E32-33C70A27F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7271" y="829964"/>
            <a:ext cx="354153" cy="262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1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altLang="zh-CN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altLang="zh-CN" sz="2200" b="1" baseline="-250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A63D555-19E5-C4BE-08DF-F1002C7DB9F8}"/>
              </a:ext>
            </a:extLst>
          </p:cNvPr>
          <p:cNvSpPr txBox="1"/>
          <p:nvPr/>
        </p:nvSpPr>
        <p:spPr>
          <a:xfrm>
            <a:off x="437776" y="4353031"/>
            <a:ext cx="449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</a:rPr>
              <a:t>（</a:t>
            </a:r>
            <a:r>
              <a:rPr lang="en-US" altLang="zh-CN" sz="2000" b="1" dirty="0">
                <a:solidFill>
                  <a:srgbClr val="0070C0"/>
                </a:solidFill>
              </a:rPr>
              <a:t>1</a:t>
            </a:r>
            <a:r>
              <a:rPr lang="zh-CN" altLang="en-US" sz="2000" b="1" dirty="0">
                <a:solidFill>
                  <a:srgbClr val="0070C0"/>
                </a:solidFill>
              </a:rPr>
              <a:t>）首先判断删除位置</a:t>
            </a:r>
            <a:r>
              <a:rPr lang="en-US" altLang="zh-CN" sz="2000" b="1" dirty="0" err="1">
                <a:solidFill>
                  <a:srgbClr val="C00000"/>
                </a:solidFill>
              </a:rPr>
              <a:t>i</a:t>
            </a:r>
            <a:r>
              <a:rPr lang="zh-CN" altLang="en-US" sz="2000" b="1" dirty="0">
                <a:solidFill>
                  <a:srgbClr val="0070C0"/>
                </a:solidFill>
              </a:rPr>
              <a:t>是否合法</a:t>
            </a:r>
            <a:endParaRPr lang="en-US" altLang="zh-CN" sz="2000" b="1" dirty="0">
              <a:solidFill>
                <a:srgbClr val="0070C0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8183105-8837-5226-1E7B-AEEEA5516280}"/>
              </a:ext>
            </a:extLst>
          </p:cNvPr>
          <p:cNvSpPr txBox="1"/>
          <p:nvPr/>
        </p:nvSpPr>
        <p:spPr>
          <a:xfrm>
            <a:off x="432189" y="4859177"/>
            <a:ext cx="48634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</a:rPr>
              <a:t>（</a:t>
            </a:r>
            <a:r>
              <a:rPr lang="en-US" altLang="zh-CN" sz="2000" b="1" dirty="0">
                <a:solidFill>
                  <a:srgbClr val="0070C0"/>
                </a:solidFill>
              </a:rPr>
              <a:t>2</a:t>
            </a:r>
            <a:r>
              <a:rPr lang="zh-CN" altLang="en-US" sz="2000" b="1" dirty="0">
                <a:solidFill>
                  <a:srgbClr val="0070C0"/>
                </a:solidFill>
              </a:rPr>
              <a:t>）然后获得被删除元素的位置和值，</a:t>
            </a:r>
            <a:endParaRPr lang="en-US" altLang="zh-CN" sz="2000" b="1" dirty="0">
              <a:solidFill>
                <a:srgbClr val="0070C0"/>
              </a:solidFill>
            </a:endParaRPr>
          </a:p>
          <a:p>
            <a:r>
              <a:rPr lang="en-US" altLang="zh-CN" sz="2000" b="1" dirty="0">
                <a:solidFill>
                  <a:srgbClr val="0070C0"/>
                </a:solidFill>
              </a:rPr>
              <a:t>          </a:t>
            </a:r>
            <a:r>
              <a:rPr lang="zh-CN" altLang="en-US" sz="2000" b="1" dirty="0">
                <a:solidFill>
                  <a:srgbClr val="0070C0"/>
                </a:solidFill>
              </a:rPr>
              <a:t>以及表尾元素的位置；</a:t>
            </a:r>
            <a:endParaRPr lang="en-US" altLang="zh-CN" sz="2000" b="1" dirty="0">
              <a:solidFill>
                <a:srgbClr val="0070C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BEAD426-7A65-4BF9-2D9C-D1C38AE4E0F0}"/>
              </a:ext>
            </a:extLst>
          </p:cNvPr>
          <p:cNvSpPr txBox="1"/>
          <p:nvPr/>
        </p:nvSpPr>
        <p:spPr>
          <a:xfrm>
            <a:off x="413801" y="5641565"/>
            <a:ext cx="4863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</a:rPr>
              <a:t>（</a:t>
            </a:r>
            <a:r>
              <a:rPr lang="en-US" altLang="zh-CN" sz="2000" b="1" dirty="0">
                <a:solidFill>
                  <a:srgbClr val="0070C0"/>
                </a:solidFill>
              </a:rPr>
              <a:t>3</a:t>
            </a:r>
            <a:r>
              <a:rPr lang="zh-CN" altLang="en-US" sz="2000" b="1" dirty="0">
                <a:solidFill>
                  <a:srgbClr val="0070C0"/>
                </a:solidFill>
              </a:rPr>
              <a:t>）将被删除元素之后的元素依次左移；</a:t>
            </a:r>
            <a:endParaRPr lang="en-US" altLang="zh-CN" sz="2000" b="1" dirty="0">
              <a:solidFill>
                <a:srgbClr val="0070C0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59BAF26-37C6-4405-254D-972E9FBBF3BB}"/>
              </a:ext>
            </a:extLst>
          </p:cNvPr>
          <p:cNvSpPr txBox="1"/>
          <p:nvPr/>
        </p:nvSpPr>
        <p:spPr>
          <a:xfrm>
            <a:off x="423622" y="6145358"/>
            <a:ext cx="4863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</a:rPr>
              <a:t>（</a:t>
            </a:r>
            <a:r>
              <a:rPr lang="en-US" altLang="zh-CN" sz="2000" b="1" dirty="0">
                <a:solidFill>
                  <a:srgbClr val="0070C0"/>
                </a:solidFill>
              </a:rPr>
              <a:t>4</a:t>
            </a:r>
            <a:r>
              <a:rPr lang="zh-CN" altLang="en-US" sz="2000" b="1" dirty="0">
                <a:solidFill>
                  <a:srgbClr val="0070C0"/>
                </a:solidFill>
              </a:rPr>
              <a:t>）最后将表长减</a:t>
            </a:r>
            <a:r>
              <a:rPr lang="en-US" altLang="zh-CN" sz="2000" b="1" dirty="0">
                <a:solidFill>
                  <a:srgbClr val="C00000"/>
                </a:solidFill>
              </a:rPr>
              <a:t>1</a:t>
            </a:r>
            <a:r>
              <a:rPr lang="zh-CN" altLang="en-US" sz="2000" b="1" dirty="0">
                <a:solidFill>
                  <a:srgbClr val="0070C0"/>
                </a:solidFill>
              </a:rPr>
              <a:t>；</a:t>
            </a:r>
            <a:endParaRPr lang="en-US" altLang="zh-CN" sz="2000" b="1" dirty="0">
              <a:solidFill>
                <a:srgbClr val="0070C0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EF58536-AF7D-3CB5-C382-E48E31C145D4}"/>
              </a:ext>
            </a:extLst>
          </p:cNvPr>
          <p:cNvSpPr/>
          <p:nvPr/>
        </p:nvSpPr>
        <p:spPr>
          <a:xfrm>
            <a:off x="971772" y="3709742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0" name="矩形 278659">
            <a:extLst>
              <a:ext uri="{FF2B5EF4-FFF2-40B4-BE49-F238E27FC236}">
                <a16:creationId xmlns:a16="http://schemas.microsoft.com/office/drawing/2014/main" id="{60792608-159F-2A1B-E87C-8327AA649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3644" y="4602684"/>
            <a:ext cx="3781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1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17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0865B138-17B6-1F70-29BA-4B46C6FC94F6}"/>
              </a:ext>
            </a:extLst>
          </p:cNvPr>
          <p:cNvGrpSpPr/>
          <p:nvPr/>
        </p:nvGrpSpPr>
        <p:grpSpPr>
          <a:xfrm>
            <a:off x="5381195" y="4193859"/>
            <a:ext cx="1318285" cy="1790467"/>
            <a:chOff x="5019055" y="4350797"/>
            <a:chExt cx="1569801" cy="1791400"/>
          </a:xfrm>
        </p:grpSpPr>
        <p:sp>
          <p:nvSpPr>
            <p:cNvPr id="42" name="文本框 81922">
              <a:extLst>
                <a:ext uri="{FF2B5EF4-FFF2-40B4-BE49-F238E27FC236}">
                  <a16:creationId xmlns:a16="http://schemas.microsoft.com/office/drawing/2014/main" id="{99764BD7-619A-4236-01E0-BE2D5F13FA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1063" y="4763903"/>
              <a:ext cx="987156" cy="39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dirty="0" err="1">
                  <a:solidFill>
                    <a:srgbClr val="008080"/>
                  </a:solidFill>
                  <a:latin typeface="+mn-lt"/>
                  <a:ea typeface="+mn-ea"/>
                </a:rPr>
                <a:t>elem</a:t>
              </a:r>
              <a:endParaRPr lang="zh-CN" altLang="en-US" sz="2000" b="1" dirty="0">
                <a:solidFill>
                  <a:srgbClr val="008080"/>
                </a:solidFill>
                <a:latin typeface="+mn-lt"/>
                <a:ea typeface="+mn-ea"/>
              </a:endParaRPr>
            </a:p>
          </p:txBody>
        </p:sp>
        <p:sp>
          <p:nvSpPr>
            <p:cNvPr id="43" name="文本框 81922">
              <a:extLst>
                <a:ext uri="{FF2B5EF4-FFF2-40B4-BE49-F238E27FC236}">
                  <a16:creationId xmlns:a16="http://schemas.microsoft.com/office/drawing/2014/main" id="{40440DD6-BA84-8718-70A7-959DB87AF0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1982" y="5219220"/>
              <a:ext cx="1026972" cy="39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>
                <a:lnSpc>
                  <a:spcPct val="105000"/>
                </a:lnSpc>
                <a:spcBef>
                  <a:spcPct val="0"/>
                </a:spcBef>
                <a:buClrTx/>
                <a:buNone/>
              </a:pPr>
              <a:r>
                <a:rPr lang="en-US" altLang="zh-CN" sz="2000" b="1" dirty="0" err="1">
                  <a:solidFill>
                    <a:srgbClr val="008080"/>
                  </a:solidFill>
                  <a:latin typeface="+mn-lt"/>
                  <a:ea typeface="+mn-ea"/>
                </a:rPr>
                <a:t>len</a:t>
              </a:r>
              <a:endParaRPr lang="zh-CN" altLang="en-US" sz="2000" b="1" dirty="0">
                <a:solidFill>
                  <a:srgbClr val="008080"/>
                </a:solidFill>
                <a:latin typeface="+mn-lt"/>
                <a:ea typeface="+mn-ea"/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A6D46EE5-15B7-76EC-E935-72164A307E5E}"/>
                </a:ext>
              </a:extLst>
            </p:cNvPr>
            <p:cNvSpPr/>
            <p:nvPr/>
          </p:nvSpPr>
          <p:spPr>
            <a:xfrm>
              <a:off x="6074443" y="4767250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399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CA2664C9-21FF-701E-2F3D-32B8BFFA1C62}"/>
                </a:ext>
              </a:extLst>
            </p:cNvPr>
            <p:cNvSpPr/>
            <p:nvPr/>
          </p:nvSpPr>
          <p:spPr>
            <a:xfrm>
              <a:off x="6074443" y="5227797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399" b="1" dirty="0">
                <a:solidFill>
                  <a:srgbClr val="C00000"/>
                </a:solidFill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40BB0FF2-6198-E376-0D44-933C15EC9653}"/>
                </a:ext>
              </a:extLst>
            </p:cNvPr>
            <p:cNvSpPr/>
            <p:nvPr/>
          </p:nvSpPr>
          <p:spPr>
            <a:xfrm>
              <a:off x="6074442" y="5684997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399" b="1" dirty="0">
                <a:solidFill>
                  <a:srgbClr val="C00000"/>
                </a:solidFill>
              </a:endParaRPr>
            </a:p>
          </p:txBody>
        </p:sp>
        <p:sp>
          <p:nvSpPr>
            <p:cNvPr id="47" name="文本框 81922">
              <a:extLst>
                <a:ext uri="{FF2B5EF4-FFF2-40B4-BE49-F238E27FC236}">
                  <a16:creationId xmlns:a16="http://schemas.microsoft.com/office/drawing/2014/main" id="{1DDD1F40-637E-78BD-AF1A-82C6391342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9055" y="5663575"/>
              <a:ext cx="1067644" cy="39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>
                <a:lnSpc>
                  <a:spcPct val="105000"/>
                </a:lnSpc>
                <a:spcBef>
                  <a:spcPct val="0"/>
                </a:spcBef>
                <a:buClrTx/>
                <a:buNone/>
              </a:pPr>
              <a:r>
                <a:rPr lang="en-US" altLang="zh-CN" sz="2000" b="1" dirty="0">
                  <a:solidFill>
                    <a:srgbClr val="008080"/>
                  </a:solidFill>
                  <a:latin typeface="+mn-lt"/>
                  <a:ea typeface="+mn-ea"/>
                </a:rPr>
                <a:t>size</a:t>
              </a:r>
              <a:endParaRPr lang="zh-CN" altLang="en-US" sz="2000" b="1" dirty="0">
                <a:solidFill>
                  <a:srgbClr val="008080"/>
                </a:solidFill>
                <a:latin typeface="+mn-lt"/>
                <a:ea typeface="+mn-ea"/>
              </a:endParaRPr>
            </a:p>
          </p:txBody>
        </p:sp>
        <p:sp>
          <p:nvSpPr>
            <p:cNvPr id="48" name="文本框 81922">
              <a:extLst>
                <a:ext uri="{FF2B5EF4-FFF2-40B4-BE49-F238E27FC236}">
                  <a16:creationId xmlns:a16="http://schemas.microsoft.com/office/drawing/2014/main" id="{0F163811-8D01-9723-0711-F8E20C1361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9146" y="4350797"/>
              <a:ext cx="472887" cy="455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399" b="1" dirty="0">
                  <a:solidFill>
                    <a:srgbClr val="008080"/>
                  </a:solidFill>
                  <a:ea typeface="楷体_GB2312" pitchFamily="49" charset="-122"/>
                </a:rPr>
                <a:t>L</a:t>
              </a:r>
              <a:endParaRPr lang="zh-CN" altLang="en-US" sz="2399" b="1" dirty="0">
                <a:solidFill>
                  <a:srgbClr val="008080"/>
                </a:solidFill>
              </a:endParaRPr>
            </a:p>
          </p:txBody>
        </p:sp>
      </p:grpSp>
      <p:sp>
        <p:nvSpPr>
          <p:cNvPr id="49" name="文本框 7">
            <a:extLst>
              <a:ext uri="{FF2B5EF4-FFF2-40B4-BE49-F238E27FC236}">
                <a16:creationId xmlns:a16="http://schemas.microsoft.com/office/drawing/2014/main" id="{4FCA561F-A86E-3742-1A1F-B39BF2647AC2}"/>
              </a:ext>
            </a:extLst>
          </p:cNvPr>
          <p:cNvSpPr txBox="1"/>
          <p:nvPr/>
        </p:nvSpPr>
        <p:spPr>
          <a:xfrm>
            <a:off x="6338329" y="5065246"/>
            <a:ext cx="2833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8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92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8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4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70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200" b="1" dirty="0">
                <a:solidFill>
                  <a:srgbClr val="C00000"/>
                </a:solidFill>
              </a:rPr>
              <a:t>7</a:t>
            </a:r>
            <a:endParaRPr lang="zh-CN" altLang="en-US" sz="2200" b="1" dirty="0">
              <a:solidFill>
                <a:srgbClr val="C00000"/>
              </a:solidFill>
            </a:endParaRPr>
          </a:p>
        </p:txBody>
      </p:sp>
      <p:sp>
        <p:nvSpPr>
          <p:cNvPr id="50" name="文本框 40">
            <a:extLst>
              <a:ext uri="{FF2B5EF4-FFF2-40B4-BE49-F238E27FC236}">
                <a16:creationId xmlns:a16="http://schemas.microsoft.com/office/drawing/2014/main" id="{C6D8376D-9C8A-9ED5-E76A-33FAB13A1A1B}"/>
              </a:ext>
            </a:extLst>
          </p:cNvPr>
          <p:cNvSpPr txBox="1"/>
          <p:nvPr/>
        </p:nvSpPr>
        <p:spPr>
          <a:xfrm>
            <a:off x="6194387" y="5589354"/>
            <a:ext cx="567817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8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92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8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4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70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200" b="1" dirty="0">
                <a:solidFill>
                  <a:srgbClr val="C00000"/>
                </a:solidFill>
              </a:rPr>
              <a:t>7</a:t>
            </a:r>
            <a:endParaRPr lang="zh-CN" altLang="en-US" sz="2200" b="1" dirty="0">
              <a:solidFill>
                <a:srgbClr val="C00000"/>
              </a:solidFill>
            </a:endParaRP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DF33D0CE-C3B6-73E9-2E8B-0D6E1E8EA6B5}"/>
              </a:ext>
            </a:extLst>
          </p:cNvPr>
          <p:cNvCxnSpPr>
            <a:endCxn id="6" idx="1"/>
          </p:cNvCxnSpPr>
          <p:nvPr/>
        </p:nvCxnSpPr>
        <p:spPr>
          <a:xfrm flipV="1">
            <a:off x="6460753" y="4767287"/>
            <a:ext cx="750361" cy="2336"/>
          </a:xfrm>
          <a:prstGeom prst="straightConnector1">
            <a:avLst/>
          </a:prstGeom>
          <a:ln w="38100"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7">
            <a:extLst>
              <a:ext uri="{FF2B5EF4-FFF2-40B4-BE49-F238E27FC236}">
                <a16:creationId xmlns:a16="http://schemas.microsoft.com/office/drawing/2014/main" id="{2CA06FF0-60AE-1730-26C0-A4A552C5C234}"/>
              </a:ext>
            </a:extLst>
          </p:cNvPr>
          <p:cNvSpPr txBox="1"/>
          <p:nvPr/>
        </p:nvSpPr>
        <p:spPr>
          <a:xfrm>
            <a:off x="6361920" y="5150458"/>
            <a:ext cx="259007" cy="331324"/>
          </a:xfrm>
          <a:prstGeom prst="rect">
            <a:avLst/>
          </a:prstGeom>
          <a:solidFill>
            <a:srgbClr val="CC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algn="ctr" defTabSz="1219835">
              <a:defRPr sz="2399">
                <a:solidFill>
                  <a:schemeClr val="lt1"/>
                </a:solidFill>
              </a:defRPr>
            </a:lvl1pPr>
            <a:lvl2pPr marL="609600" defTabSz="1219835">
              <a:defRPr sz="2400">
                <a:solidFill>
                  <a:schemeClr val="lt1"/>
                </a:solidFill>
              </a:defRPr>
            </a:lvl2pPr>
            <a:lvl3pPr marL="1219835" defTabSz="1219835">
              <a:defRPr sz="2400">
                <a:solidFill>
                  <a:schemeClr val="lt1"/>
                </a:solidFill>
              </a:defRPr>
            </a:lvl3pPr>
            <a:lvl4pPr marL="1829435" defTabSz="1219835">
              <a:defRPr sz="2400">
                <a:solidFill>
                  <a:schemeClr val="lt1"/>
                </a:solidFill>
              </a:defRPr>
            </a:lvl4pPr>
            <a:lvl5pPr marL="2439035" defTabSz="1219835">
              <a:defRPr sz="2400">
                <a:solidFill>
                  <a:schemeClr val="lt1"/>
                </a:solidFill>
              </a:defRPr>
            </a:lvl5pPr>
            <a:lvl6pPr marL="3049270" defTabSz="1219835">
              <a:defRPr sz="2400">
                <a:solidFill>
                  <a:schemeClr val="lt1"/>
                </a:solidFill>
              </a:defRPr>
            </a:lvl6pPr>
            <a:lvl7pPr marL="3658870" defTabSz="1219835">
              <a:defRPr sz="2400">
                <a:solidFill>
                  <a:schemeClr val="lt1"/>
                </a:solidFill>
              </a:defRPr>
            </a:lvl7pPr>
            <a:lvl8pPr marL="4268470" defTabSz="1219835">
              <a:defRPr sz="2400">
                <a:solidFill>
                  <a:schemeClr val="lt1"/>
                </a:solidFill>
              </a:defRPr>
            </a:lvl8pPr>
            <a:lvl9pPr marL="4878705" defTabSz="1219835">
              <a:defRPr sz="2400">
                <a:solidFill>
                  <a:schemeClr val="lt1"/>
                </a:solidFill>
              </a:defRPr>
            </a:lvl9pPr>
          </a:lstStyle>
          <a:p>
            <a:pPr>
              <a:lnSpc>
                <a:spcPts val="2000"/>
              </a:lnSpc>
            </a:pP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lang="zh-CN" alt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6248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3.7037E-6 L -0.08346 0.13032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80" y="65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56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3.33333E-6 L -0.49714 -0.32477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857" y="-162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3.7037E-6 L 0.04727 -0.00024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57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1.85185E-6 L -0.04336 0.00023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7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0"/>
                            </p:stCondLst>
                            <p:childTnLst>
                              <p:par>
                                <p:cTn id="6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27 -0.00024 L 0.09454 -0.00024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1.85185E-6 L -0.04336 -1.85185E-6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7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9000"/>
                            </p:stCondLst>
                            <p:childTnLst>
                              <p:par>
                                <p:cTn id="67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454 -0.00024 L 0.12982 -0.00024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1000"/>
                            </p:stCondLst>
                            <p:childTnLst>
                              <p:par>
                                <p:cTn id="70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11111E-6 L -0.04349 1.11111E-6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7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3000"/>
                            </p:stCondLst>
                            <p:childTnLst>
                              <p:par>
                                <p:cTn id="73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982 -0.00024 L 0.17709 -0.00024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  <p:bldP spid="3" grpId="1" animBg="1" autoUpdateAnimBg="0"/>
      <p:bldP spid="4" grpId="0" animBg="1" autoUpdateAnimBg="0"/>
      <p:bldP spid="4" grpId="1" animBg="1" autoUpdateAnimBg="0"/>
      <p:bldP spid="5" grpId="0" animBg="1" autoUpdateAnimBg="0"/>
      <p:bldP spid="5" grpId="1" animBg="1" autoUpdateAnimBg="0"/>
      <p:bldP spid="6" grpId="0" animBg="1" autoUpdateAnimBg="0"/>
      <p:bldP spid="6" grpId="1" animBg="1" autoUpdateAnimBg="0"/>
      <p:bldP spid="7" grpId="0" animBg="1" autoUpdateAnimBg="0"/>
      <p:bldP spid="7" grpId="1" animBg="1" autoUpdateAnimBg="0"/>
      <p:bldP spid="8" grpId="0" animBg="1" autoUpdateAnimBg="0"/>
      <p:bldP spid="8" grpId="1" animBg="1" autoUpdateAnimBg="0"/>
      <p:bldP spid="9" grpId="0" animBg="1" autoUpdateAnimBg="0"/>
      <p:bldP spid="9" grpId="1" animBg="1" autoUpdateAnimBg="0"/>
      <p:bldP spid="16" grpId="0"/>
      <p:bldP spid="17" grpId="0"/>
      <p:bldP spid="18" grpId="0"/>
      <p:bldP spid="20" grpId="0"/>
      <p:bldP spid="26" grpId="0" animBg="1" autoUpdateAnimBg="0"/>
      <p:bldP spid="26" grpId="1" animBg="1" autoUpdateAnimBg="0"/>
      <p:bldP spid="26" grpId="2" animBg="1"/>
      <p:bldP spid="27" grpId="0" animBg="1" autoUpdateAnimBg="0"/>
      <p:bldP spid="27" grpId="1" animBg="1" autoUpdateAnimBg="0"/>
      <p:bldP spid="27" grpId="2" animBg="1"/>
      <p:bldP spid="28" grpId="0" animBg="1" autoUpdateAnimBg="0"/>
      <p:bldP spid="28" grpId="1" animBg="1" autoUpdateAnimBg="0"/>
      <p:bldP spid="28" grpId="2" animBg="1"/>
      <p:bldP spid="34" grpId="0"/>
      <p:bldP spid="34" grpId="1"/>
      <p:bldP spid="35" grpId="0"/>
      <p:bldP spid="36" grpId="0"/>
      <p:bldP spid="37" grpId="0"/>
      <p:bldP spid="38" grpId="0"/>
      <p:bldP spid="40" grpId="0"/>
      <p:bldP spid="40" grpId="1"/>
      <p:bldP spid="5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矩形 308">
            <a:extLst>
              <a:ext uri="{FF2B5EF4-FFF2-40B4-BE49-F238E27FC236}">
                <a16:creationId xmlns:a16="http://schemas.microsoft.com/office/drawing/2014/main" id="{F7575419-CDEC-F72A-A742-DBA032FF4B79}"/>
              </a:ext>
            </a:extLst>
          </p:cNvPr>
          <p:cNvSpPr/>
          <p:nvPr/>
        </p:nvSpPr>
        <p:spPr>
          <a:xfrm>
            <a:off x="5268703" y="2713295"/>
            <a:ext cx="6934199" cy="379092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B4A6EA8-9B73-E99F-F196-280FF7C7D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1462" y="6434252"/>
            <a:ext cx="2743200" cy="365125"/>
          </a:xfrm>
        </p:spPr>
        <p:txBody>
          <a:bodyPr/>
          <a:lstStyle/>
          <a:p>
            <a:fld id="{D7C0FE0B-717B-41AE-9FA2-CA4BF851D1C3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231" name="Text Box 2">
            <a:extLst>
              <a:ext uri="{FF2B5EF4-FFF2-40B4-BE49-F238E27FC236}">
                <a16:creationId xmlns:a16="http://schemas.microsoft.com/office/drawing/2014/main" id="{212684AA-1291-73B4-76A7-8673E0F1B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548" y="818463"/>
            <a:ext cx="9211045" cy="4960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SqList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MergeList_Sq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SqList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La,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SqList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Lb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// 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归并升序顺序表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La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和</a:t>
            </a:r>
            <a:r>
              <a:rPr lang="en-US" altLang="zh-CN" dirty="0" err="1">
                <a:solidFill>
                  <a:srgbClr val="0070C0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Lb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CN" b="1" dirty="0"/>
              <a:t>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SqList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Lc;</a:t>
            </a:r>
            <a:r>
              <a:rPr lang="en-US" altLang="zh-CN" dirty="0"/>
              <a:t>    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ElemType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*pa, *pb, *pc, *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pa_end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, *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pb_end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(!La || !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Lb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NULL;</a:t>
            </a:r>
          </a:p>
          <a:p>
            <a:pPr>
              <a:lnSpc>
                <a:spcPct val="11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pa = La-&gt;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  pb =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Lb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Lc =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InitList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(La-&gt;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Lb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, La-&gt;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inc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Lc-&gt;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Lc-&gt;size;</a:t>
            </a:r>
          </a:p>
          <a:p>
            <a:pPr>
              <a:lnSpc>
                <a:spcPct val="11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pc = Lc-&gt;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pa_end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La-&gt;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+ La-&gt;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-1;  </a:t>
            </a:r>
          </a:p>
          <a:p>
            <a:pPr>
              <a:lnSpc>
                <a:spcPct val="11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pb_end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Lb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Lb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-1;</a:t>
            </a:r>
          </a:p>
          <a:p>
            <a:pPr>
              <a:lnSpc>
                <a:spcPct val="11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(pa&lt;=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pa_end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pb&lt;=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pb_end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(*pa&lt;=*pb) *pc++ = *pa++;</a:t>
            </a:r>
          </a:p>
          <a:p>
            <a:pPr>
              <a:lnSpc>
                <a:spcPct val="11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*pc++ = *pb++;</a:t>
            </a:r>
          </a:p>
          <a:p>
            <a:pPr>
              <a:lnSpc>
                <a:spcPct val="1100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while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(pa&lt;=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pa_end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 *pc++ = *pa++;</a:t>
            </a:r>
          </a:p>
          <a:p>
            <a:pPr>
              <a:lnSpc>
                <a:spcPct val="11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(pb&lt;=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pb_end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 *pc++ = *pb++;</a:t>
            </a:r>
          </a:p>
          <a:p>
            <a:pPr>
              <a:lnSpc>
                <a:spcPct val="110000"/>
              </a:lnSpc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return Lc;</a:t>
            </a:r>
          </a:p>
          <a:p>
            <a:pPr>
              <a:lnSpc>
                <a:spcPct val="1100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2" name="Text Box 78">
            <a:extLst>
              <a:ext uri="{FF2B5EF4-FFF2-40B4-BE49-F238E27FC236}">
                <a16:creationId xmlns:a16="http://schemas.microsoft.com/office/drawing/2014/main" id="{4F86C08D-C5F4-C73A-DF9A-0DB4F91E8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8222" y="694351"/>
            <a:ext cx="2930579" cy="15799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</a:pPr>
            <a:r>
              <a:rPr lang="en-US" altLang="zh-CN" dirty="0"/>
              <a:t>1. </a:t>
            </a:r>
            <a:r>
              <a:rPr lang="zh-CN" altLang="en-US" dirty="0"/>
              <a:t>初始化</a:t>
            </a:r>
            <a:r>
              <a:rPr lang="en-US" altLang="zh-CN" dirty="0"/>
              <a:t>Lc</a:t>
            </a:r>
          </a:p>
          <a:p>
            <a:pPr>
              <a:spcBef>
                <a:spcPts val="200"/>
              </a:spcBef>
            </a:pPr>
            <a:r>
              <a:rPr lang="en-US" altLang="zh-CN" dirty="0"/>
              <a:t>2. </a:t>
            </a:r>
            <a:r>
              <a:rPr lang="zh-CN" altLang="en-US" dirty="0"/>
              <a:t>从</a:t>
            </a:r>
            <a:r>
              <a:rPr lang="en-US" altLang="zh-CN" dirty="0"/>
              <a:t>La</a:t>
            </a:r>
            <a:r>
              <a:rPr lang="zh-CN" altLang="en-US" dirty="0"/>
              <a:t>和</a:t>
            </a:r>
            <a:r>
              <a:rPr lang="en-US" altLang="zh-CN" dirty="0" err="1"/>
              <a:t>Lb</a:t>
            </a:r>
            <a:r>
              <a:rPr lang="zh-CN" altLang="en-US" dirty="0"/>
              <a:t>各取一个元素，</a:t>
            </a:r>
            <a:endParaRPr lang="en-US" altLang="zh-CN" dirty="0"/>
          </a:p>
          <a:p>
            <a:pPr>
              <a:spcBef>
                <a:spcPts val="200"/>
              </a:spcBef>
            </a:pPr>
            <a:r>
              <a:rPr lang="en-US" altLang="zh-CN" dirty="0"/>
              <a:t>    </a:t>
            </a:r>
            <a:r>
              <a:rPr lang="zh-CN" altLang="en-US" dirty="0"/>
              <a:t>将较小元素复制到</a:t>
            </a:r>
            <a:r>
              <a:rPr lang="en-US" altLang="zh-CN" dirty="0"/>
              <a:t>Lc</a:t>
            </a:r>
          </a:p>
          <a:p>
            <a:pPr>
              <a:spcBef>
                <a:spcPts val="200"/>
              </a:spcBef>
            </a:pPr>
            <a:r>
              <a:rPr lang="en-US" altLang="zh-CN" dirty="0"/>
              <a:t>3. </a:t>
            </a:r>
            <a:r>
              <a:rPr lang="zh-CN" altLang="en-US" dirty="0"/>
              <a:t>将</a:t>
            </a:r>
            <a:r>
              <a:rPr lang="en-US" altLang="zh-CN" dirty="0"/>
              <a:t>La</a:t>
            </a:r>
            <a:r>
              <a:rPr lang="zh-CN" altLang="en-US" dirty="0"/>
              <a:t>或</a:t>
            </a:r>
            <a:r>
              <a:rPr lang="en-US" altLang="zh-CN" dirty="0" err="1"/>
              <a:t>Lb</a:t>
            </a:r>
            <a:r>
              <a:rPr lang="zh-CN" altLang="en-US" dirty="0"/>
              <a:t>中未处理完的</a:t>
            </a:r>
            <a:endParaRPr lang="en-US" altLang="zh-CN" dirty="0"/>
          </a:p>
          <a:p>
            <a:pPr>
              <a:spcBef>
                <a:spcPts val="200"/>
              </a:spcBef>
            </a:pPr>
            <a:r>
              <a:rPr lang="en-US" altLang="zh-CN" dirty="0"/>
              <a:t>    </a:t>
            </a:r>
            <a:r>
              <a:rPr lang="zh-CN" altLang="en-US" dirty="0"/>
              <a:t>数据复制到</a:t>
            </a:r>
            <a:r>
              <a:rPr lang="en-US" altLang="zh-CN" dirty="0"/>
              <a:t>Lc</a:t>
            </a:r>
          </a:p>
        </p:txBody>
      </p:sp>
      <p:sp>
        <p:nvSpPr>
          <p:cNvPr id="233" name="文本框 4">
            <a:extLst>
              <a:ext uri="{FF2B5EF4-FFF2-40B4-BE49-F238E27FC236}">
                <a16:creationId xmlns:a16="http://schemas.microsoft.com/office/drawing/2014/main" id="{EAEE3277-FBAB-217A-FBA7-837918361B8C}"/>
              </a:ext>
            </a:extLst>
          </p:cNvPr>
          <p:cNvSpPr txBox="1"/>
          <p:nvPr/>
        </p:nvSpPr>
        <p:spPr>
          <a:xfrm>
            <a:off x="7243236" y="4963826"/>
            <a:ext cx="429955" cy="46166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endParaRPr lang="en-US" altLang="zh-CN" sz="2400" noProof="1">
              <a:solidFill>
                <a:srgbClr val="0000CC"/>
              </a:solidFill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234" name="Text Box 78">
            <a:extLst>
              <a:ext uri="{FF2B5EF4-FFF2-40B4-BE49-F238E27FC236}">
                <a16:creationId xmlns:a16="http://schemas.microsoft.com/office/drawing/2014/main" id="{88EBFC3C-2D83-4B31-1DA5-021C2612F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4178" y="4639983"/>
            <a:ext cx="322321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 dirty="0">
                <a:solidFill>
                  <a:srgbClr val="008080"/>
                </a:solidFill>
              </a:rPr>
              <a:t>  </a:t>
            </a:r>
            <a:r>
              <a:rPr lang="zh-CN" altLang="en-US" sz="1600" b="1" dirty="0">
                <a:solidFill>
                  <a:srgbClr val="008080"/>
                </a:solidFill>
              </a:rPr>
              <a:t> </a:t>
            </a:r>
            <a:r>
              <a:rPr lang="en-US" altLang="zh-CN" sz="1600" b="1" dirty="0">
                <a:solidFill>
                  <a:srgbClr val="008080"/>
                </a:solidFill>
              </a:rPr>
              <a:t>0      1      2      3       4       5      6</a:t>
            </a:r>
          </a:p>
        </p:txBody>
      </p:sp>
      <p:grpSp>
        <p:nvGrpSpPr>
          <p:cNvPr id="235" name="组合 234">
            <a:extLst>
              <a:ext uri="{FF2B5EF4-FFF2-40B4-BE49-F238E27FC236}">
                <a16:creationId xmlns:a16="http://schemas.microsoft.com/office/drawing/2014/main" id="{891D50D2-2E57-91C2-8897-AF5148A520AE}"/>
              </a:ext>
            </a:extLst>
          </p:cNvPr>
          <p:cNvGrpSpPr/>
          <p:nvPr/>
        </p:nvGrpSpPr>
        <p:grpSpPr>
          <a:xfrm>
            <a:off x="5753805" y="4618817"/>
            <a:ext cx="1191562" cy="1713770"/>
            <a:chOff x="5397294" y="4428427"/>
            <a:chExt cx="1191562" cy="1713770"/>
          </a:xfrm>
        </p:grpSpPr>
        <p:sp>
          <p:nvSpPr>
            <p:cNvPr id="236" name="文本框 81922">
              <a:extLst>
                <a:ext uri="{FF2B5EF4-FFF2-40B4-BE49-F238E27FC236}">
                  <a16:creationId xmlns:a16="http://schemas.microsoft.com/office/drawing/2014/main" id="{747EC1E5-3968-A036-4041-3236AE0309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7294" y="4829525"/>
              <a:ext cx="707424" cy="402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r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  <a:defRPr sz="2000" b="1">
                  <a:solidFill>
                    <a:srgbClr val="002060"/>
                  </a:solidFill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 err="1"/>
                <a:t>elem</a:t>
              </a:r>
              <a:endParaRPr lang="zh-CN" altLang="en-US" dirty="0"/>
            </a:p>
          </p:txBody>
        </p:sp>
        <p:sp>
          <p:nvSpPr>
            <p:cNvPr id="237" name="文本框 81922">
              <a:extLst>
                <a:ext uri="{FF2B5EF4-FFF2-40B4-BE49-F238E27FC236}">
                  <a16:creationId xmlns:a16="http://schemas.microsoft.com/office/drawing/2014/main" id="{62443484-6649-5EE6-FC9F-E355DB3773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0013" y="5236089"/>
              <a:ext cx="568114" cy="402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r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  <a:defRPr sz="2000" b="1">
                  <a:solidFill>
                    <a:srgbClr val="002060"/>
                  </a:solidFill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 err="1"/>
                <a:t>len</a:t>
              </a:r>
              <a:endParaRPr lang="zh-CN" altLang="en-US" dirty="0"/>
            </a:p>
          </p:txBody>
        </p:sp>
        <p:sp>
          <p:nvSpPr>
            <p:cNvPr id="238" name="矩形 237">
              <a:extLst>
                <a:ext uri="{FF2B5EF4-FFF2-40B4-BE49-F238E27FC236}">
                  <a16:creationId xmlns:a16="http://schemas.microsoft.com/office/drawing/2014/main" id="{40244AE6-85D7-F2F1-C73E-FE66A487C261}"/>
                </a:ext>
              </a:extLst>
            </p:cNvPr>
            <p:cNvSpPr/>
            <p:nvPr/>
          </p:nvSpPr>
          <p:spPr>
            <a:xfrm>
              <a:off x="6074443" y="4767250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9" name="矩形 238">
              <a:extLst>
                <a:ext uri="{FF2B5EF4-FFF2-40B4-BE49-F238E27FC236}">
                  <a16:creationId xmlns:a16="http://schemas.microsoft.com/office/drawing/2014/main" id="{6ED4862F-1289-2A3B-3D08-1F63BA7B03E6}"/>
                </a:ext>
              </a:extLst>
            </p:cNvPr>
            <p:cNvSpPr/>
            <p:nvPr/>
          </p:nvSpPr>
          <p:spPr>
            <a:xfrm>
              <a:off x="6074443" y="5227797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240" name="矩形 239">
              <a:extLst>
                <a:ext uri="{FF2B5EF4-FFF2-40B4-BE49-F238E27FC236}">
                  <a16:creationId xmlns:a16="http://schemas.microsoft.com/office/drawing/2014/main" id="{3E93526C-FED0-E960-A3BF-34AFF4449EEE}"/>
                </a:ext>
              </a:extLst>
            </p:cNvPr>
            <p:cNvSpPr/>
            <p:nvPr/>
          </p:nvSpPr>
          <p:spPr>
            <a:xfrm>
              <a:off x="6074442" y="5684997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241" name="文本框 81922">
              <a:extLst>
                <a:ext uri="{FF2B5EF4-FFF2-40B4-BE49-F238E27FC236}">
                  <a16:creationId xmlns:a16="http://schemas.microsoft.com/office/drawing/2014/main" id="{E1F7CFB1-AF8A-4D74-9D3F-E276CE66AF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7295" y="5739779"/>
              <a:ext cx="700832" cy="394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r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  <a:defRPr sz="2000" b="1">
                  <a:solidFill>
                    <a:srgbClr val="002060"/>
                  </a:solidFill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/>
                <a:t>size</a:t>
              </a:r>
              <a:endParaRPr lang="zh-CN" altLang="en-US" dirty="0"/>
            </a:p>
          </p:txBody>
        </p:sp>
        <p:sp>
          <p:nvSpPr>
            <p:cNvPr id="242" name="文本框 81922">
              <a:extLst>
                <a:ext uri="{FF2B5EF4-FFF2-40B4-BE49-F238E27FC236}">
                  <a16:creationId xmlns:a16="http://schemas.microsoft.com/office/drawing/2014/main" id="{2C3B5CDE-3A1A-31C3-66B2-6A3D876411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22230" y="4428427"/>
              <a:ext cx="665885" cy="402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r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  <a:defRPr sz="2000" b="1">
                  <a:solidFill>
                    <a:srgbClr val="002060"/>
                  </a:solidFill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/>
                <a:t>Lc</a:t>
              </a:r>
              <a:endParaRPr lang="zh-CN" altLang="en-US" dirty="0"/>
            </a:p>
          </p:txBody>
        </p:sp>
      </p:grpSp>
      <p:sp>
        <p:nvSpPr>
          <p:cNvPr id="243" name="文本框 7">
            <a:extLst>
              <a:ext uri="{FF2B5EF4-FFF2-40B4-BE49-F238E27FC236}">
                <a16:creationId xmlns:a16="http://schemas.microsoft.com/office/drawing/2014/main" id="{7BDF7E04-7409-C01D-2E7D-D9ACEECB64E2}"/>
              </a:ext>
            </a:extLst>
          </p:cNvPr>
          <p:cNvSpPr txBox="1"/>
          <p:nvPr/>
        </p:nvSpPr>
        <p:spPr>
          <a:xfrm>
            <a:off x="6550234" y="5380211"/>
            <a:ext cx="283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8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92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8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4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70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dirty="0">
                <a:solidFill>
                  <a:srgbClr val="C00000"/>
                </a:solidFill>
              </a:rPr>
              <a:t>7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244" name="文本框 40">
            <a:extLst>
              <a:ext uri="{FF2B5EF4-FFF2-40B4-BE49-F238E27FC236}">
                <a16:creationId xmlns:a16="http://schemas.microsoft.com/office/drawing/2014/main" id="{DBBD104F-4971-52D8-556C-CE62266373CF}"/>
              </a:ext>
            </a:extLst>
          </p:cNvPr>
          <p:cNvSpPr txBox="1"/>
          <p:nvPr/>
        </p:nvSpPr>
        <p:spPr>
          <a:xfrm>
            <a:off x="6413725" y="5870196"/>
            <a:ext cx="56811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8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92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8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4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70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dirty="0">
                <a:solidFill>
                  <a:srgbClr val="C00000"/>
                </a:solidFill>
              </a:rPr>
              <a:t>7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cxnSp>
        <p:nvCxnSpPr>
          <p:cNvPr id="245" name="直接箭头连接符 244">
            <a:extLst>
              <a:ext uri="{FF2B5EF4-FFF2-40B4-BE49-F238E27FC236}">
                <a16:creationId xmlns:a16="http://schemas.microsoft.com/office/drawing/2014/main" id="{5F3447F0-6ABB-C190-A5A0-0B3A75602865}"/>
              </a:ext>
            </a:extLst>
          </p:cNvPr>
          <p:cNvCxnSpPr>
            <a:cxnSpLocks/>
          </p:cNvCxnSpPr>
          <p:nvPr/>
        </p:nvCxnSpPr>
        <p:spPr>
          <a:xfrm>
            <a:off x="6732570" y="5193039"/>
            <a:ext cx="518362" cy="0"/>
          </a:xfrm>
          <a:prstGeom prst="straightConnector1">
            <a:avLst/>
          </a:prstGeom>
          <a:ln w="38100"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6" name="组合 245">
            <a:extLst>
              <a:ext uri="{FF2B5EF4-FFF2-40B4-BE49-F238E27FC236}">
                <a16:creationId xmlns:a16="http://schemas.microsoft.com/office/drawing/2014/main" id="{D869C5F3-54FA-FD95-8F90-2D388A890B6E}"/>
              </a:ext>
            </a:extLst>
          </p:cNvPr>
          <p:cNvGrpSpPr/>
          <p:nvPr/>
        </p:nvGrpSpPr>
        <p:grpSpPr>
          <a:xfrm>
            <a:off x="6552163" y="3547077"/>
            <a:ext cx="622015" cy="398489"/>
            <a:chOff x="6651475" y="3931446"/>
            <a:chExt cx="622015" cy="400110"/>
          </a:xfrm>
        </p:grpSpPr>
        <p:cxnSp>
          <p:nvCxnSpPr>
            <p:cNvPr id="247" name="直接箭头连接符 246">
              <a:extLst>
                <a:ext uri="{FF2B5EF4-FFF2-40B4-BE49-F238E27FC236}">
                  <a16:creationId xmlns:a16="http://schemas.microsoft.com/office/drawing/2014/main" id="{E29BA339-6B50-5BBA-9999-70E5A8DA1B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8433" y="3941776"/>
              <a:ext cx="0" cy="378246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oval" w="med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8" name="Text Box 78">
              <a:extLst>
                <a:ext uri="{FF2B5EF4-FFF2-40B4-BE49-F238E27FC236}">
                  <a16:creationId xmlns:a16="http://schemas.microsoft.com/office/drawing/2014/main" id="{3D6661FC-1B63-A777-4761-68B8396D84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1475" y="3931446"/>
              <a:ext cx="622015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C00000"/>
                  </a:solidFill>
                </a:rPr>
                <a:t>pa</a:t>
              </a:r>
            </a:p>
          </p:txBody>
        </p:sp>
      </p:grpSp>
      <p:sp>
        <p:nvSpPr>
          <p:cNvPr id="249" name="文本框 4">
            <a:extLst>
              <a:ext uri="{FF2B5EF4-FFF2-40B4-BE49-F238E27FC236}">
                <a16:creationId xmlns:a16="http://schemas.microsoft.com/office/drawing/2014/main" id="{9B16F42A-C276-4FB9-9DB9-A6123DC1652C}"/>
              </a:ext>
            </a:extLst>
          </p:cNvPr>
          <p:cNvSpPr txBox="1"/>
          <p:nvPr/>
        </p:nvSpPr>
        <p:spPr>
          <a:xfrm>
            <a:off x="7675928" y="4963826"/>
            <a:ext cx="429955" cy="46166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endParaRPr lang="en-US" altLang="zh-CN" sz="2400" noProof="1">
              <a:solidFill>
                <a:srgbClr val="0000CC"/>
              </a:solidFill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250" name="文本框 4">
            <a:extLst>
              <a:ext uri="{FF2B5EF4-FFF2-40B4-BE49-F238E27FC236}">
                <a16:creationId xmlns:a16="http://schemas.microsoft.com/office/drawing/2014/main" id="{33BB9C19-1686-7262-AFE5-852A674BCF8B}"/>
              </a:ext>
            </a:extLst>
          </p:cNvPr>
          <p:cNvSpPr txBox="1"/>
          <p:nvPr/>
        </p:nvSpPr>
        <p:spPr>
          <a:xfrm>
            <a:off x="8089949" y="4963826"/>
            <a:ext cx="429955" cy="46166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endParaRPr lang="en-US" altLang="zh-CN" sz="2400" noProof="1">
              <a:solidFill>
                <a:srgbClr val="0000CC"/>
              </a:solidFill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251" name="文本框 4">
            <a:extLst>
              <a:ext uri="{FF2B5EF4-FFF2-40B4-BE49-F238E27FC236}">
                <a16:creationId xmlns:a16="http://schemas.microsoft.com/office/drawing/2014/main" id="{1DF1F8F2-788C-2490-B405-FFC473F24F94}"/>
              </a:ext>
            </a:extLst>
          </p:cNvPr>
          <p:cNvSpPr txBox="1"/>
          <p:nvPr/>
        </p:nvSpPr>
        <p:spPr>
          <a:xfrm>
            <a:off x="8519053" y="4961853"/>
            <a:ext cx="429955" cy="46166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endParaRPr lang="en-US" altLang="zh-CN" sz="2400" noProof="1">
              <a:solidFill>
                <a:srgbClr val="0000CC"/>
              </a:solidFill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252" name="文本框 4">
            <a:extLst>
              <a:ext uri="{FF2B5EF4-FFF2-40B4-BE49-F238E27FC236}">
                <a16:creationId xmlns:a16="http://schemas.microsoft.com/office/drawing/2014/main" id="{DA122712-5172-508B-DA10-90AEF253B6BD}"/>
              </a:ext>
            </a:extLst>
          </p:cNvPr>
          <p:cNvSpPr txBox="1"/>
          <p:nvPr/>
        </p:nvSpPr>
        <p:spPr>
          <a:xfrm>
            <a:off x="8948157" y="4963826"/>
            <a:ext cx="429955" cy="46166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endParaRPr lang="en-US" altLang="zh-CN" sz="2400" noProof="1">
              <a:solidFill>
                <a:srgbClr val="0000CC"/>
              </a:solidFill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253" name="文本框 4">
            <a:extLst>
              <a:ext uri="{FF2B5EF4-FFF2-40B4-BE49-F238E27FC236}">
                <a16:creationId xmlns:a16="http://schemas.microsoft.com/office/drawing/2014/main" id="{62C40D37-FFB4-9C3F-06EA-D88C505295C1}"/>
              </a:ext>
            </a:extLst>
          </p:cNvPr>
          <p:cNvSpPr txBox="1"/>
          <p:nvPr/>
        </p:nvSpPr>
        <p:spPr>
          <a:xfrm>
            <a:off x="9378112" y="4961853"/>
            <a:ext cx="429955" cy="46166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endParaRPr lang="en-US" altLang="zh-CN" sz="2400" noProof="1">
              <a:solidFill>
                <a:srgbClr val="0000CC"/>
              </a:solidFill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254" name="文本框 4">
            <a:extLst>
              <a:ext uri="{FF2B5EF4-FFF2-40B4-BE49-F238E27FC236}">
                <a16:creationId xmlns:a16="http://schemas.microsoft.com/office/drawing/2014/main" id="{BB2FABAE-8F79-640C-D78A-F5C934AE8578}"/>
              </a:ext>
            </a:extLst>
          </p:cNvPr>
          <p:cNvSpPr txBox="1"/>
          <p:nvPr/>
        </p:nvSpPr>
        <p:spPr>
          <a:xfrm>
            <a:off x="9806404" y="4961853"/>
            <a:ext cx="429955" cy="46166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endParaRPr lang="en-US" altLang="zh-CN" sz="2400" noProof="1">
              <a:solidFill>
                <a:srgbClr val="0000CC"/>
              </a:solidFill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255" name="文本框 4">
            <a:extLst>
              <a:ext uri="{FF2B5EF4-FFF2-40B4-BE49-F238E27FC236}">
                <a16:creationId xmlns:a16="http://schemas.microsoft.com/office/drawing/2014/main" id="{5730F15A-50AE-48A0-8D43-1B183E57F1F6}"/>
              </a:ext>
            </a:extLst>
          </p:cNvPr>
          <p:cNvSpPr txBox="1"/>
          <p:nvPr/>
        </p:nvSpPr>
        <p:spPr>
          <a:xfrm>
            <a:off x="6757420" y="3094389"/>
            <a:ext cx="429955" cy="46166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en-US" altLang="zh-CN" sz="24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A</a:t>
            </a:r>
          </a:p>
        </p:txBody>
      </p:sp>
      <p:sp>
        <p:nvSpPr>
          <p:cNvPr id="256" name="Text Box 78">
            <a:extLst>
              <a:ext uri="{FF2B5EF4-FFF2-40B4-BE49-F238E27FC236}">
                <a16:creationId xmlns:a16="http://schemas.microsoft.com/office/drawing/2014/main" id="{08C6155A-8397-8162-0FBF-4EBEBA7B3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6277" y="2780397"/>
            <a:ext cx="173995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1" dirty="0">
                <a:solidFill>
                  <a:srgbClr val="008080"/>
                </a:solidFill>
              </a:rPr>
              <a:t>0       1      2      3</a:t>
            </a:r>
          </a:p>
        </p:txBody>
      </p:sp>
      <p:grpSp>
        <p:nvGrpSpPr>
          <p:cNvPr id="257" name="组合 256">
            <a:extLst>
              <a:ext uri="{FF2B5EF4-FFF2-40B4-BE49-F238E27FC236}">
                <a16:creationId xmlns:a16="http://schemas.microsoft.com/office/drawing/2014/main" id="{61515651-AC77-AAA3-E0B5-684D6FB156EF}"/>
              </a:ext>
            </a:extLst>
          </p:cNvPr>
          <p:cNvGrpSpPr/>
          <p:nvPr/>
        </p:nvGrpSpPr>
        <p:grpSpPr>
          <a:xfrm>
            <a:off x="5297363" y="2713769"/>
            <a:ext cx="1226535" cy="1731642"/>
            <a:chOff x="5371985" y="4410555"/>
            <a:chExt cx="1217521" cy="1731642"/>
          </a:xfrm>
        </p:grpSpPr>
        <p:sp>
          <p:nvSpPr>
            <p:cNvPr id="258" name="文本框 81922">
              <a:extLst>
                <a:ext uri="{FF2B5EF4-FFF2-40B4-BE49-F238E27FC236}">
                  <a16:creationId xmlns:a16="http://schemas.microsoft.com/office/drawing/2014/main" id="{B77EBA11-38A3-7C68-8346-EC77C54C0A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1985" y="4792981"/>
              <a:ext cx="716081" cy="402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dirty="0" err="1">
                  <a:solidFill>
                    <a:srgbClr val="002060"/>
                  </a:solidFill>
                  <a:latin typeface="+mn-lt"/>
                  <a:ea typeface="+mn-ea"/>
                </a:rPr>
                <a:t>elem</a:t>
              </a:r>
              <a:endParaRPr lang="zh-CN" altLang="en-US" sz="2000" b="1" dirty="0">
                <a:solidFill>
                  <a:srgbClr val="002060"/>
                </a:solidFill>
                <a:latin typeface="+mn-lt"/>
                <a:ea typeface="+mn-ea"/>
              </a:endParaRPr>
            </a:p>
          </p:txBody>
        </p:sp>
        <p:sp>
          <p:nvSpPr>
            <p:cNvPr id="259" name="文本框 81922">
              <a:extLst>
                <a:ext uri="{FF2B5EF4-FFF2-40B4-BE49-F238E27FC236}">
                  <a16:creationId xmlns:a16="http://schemas.microsoft.com/office/drawing/2014/main" id="{3E40A1CB-0378-D10D-9FEB-2DB25378A1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3447" y="5248638"/>
              <a:ext cx="616059" cy="402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r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  <a:defRPr sz="2000" b="1">
                  <a:solidFill>
                    <a:srgbClr val="002060"/>
                  </a:solidFill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 err="1"/>
                <a:t>len</a:t>
              </a:r>
              <a:endParaRPr lang="zh-CN" altLang="en-US" dirty="0"/>
            </a:p>
          </p:txBody>
        </p:sp>
        <p:sp>
          <p:nvSpPr>
            <p:cNvPr id="260" name="矩形 259">
              <a:extLst>
                <a:ext uri="{FF2B5EF4-FFF2-40B4-BE49-F238E27FC236}">
                  <a16:creationId xmlns:a16="http://schemas.microsoft.com/office/drawing/2014/main" id="{E41B74EF-DA45-9849-FE73-FB24F1220B5E}"/>
                </a:ext>
              </a:extLst>
            </p:cNvPr>
            <p:cNvSpPr/>
            <p:nvPr/>
          </p:nvSpPr>
          <p:spPr>
            <a:xfrm>
              <a:off x="6074443" y="4767250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1" name="矩形 260">
              <a:extLst>
                <a:ext uri="{FF2B5EF4-FFF2-40B4-BE49-F238E27FC236}">
                  <a16:creationId xmlns:a16="http://schemas.microsoft.com/office/drawing/2014/main" id="{CB9E4516-1E9C-6404-67EA-F580CE38DF14}"/>
                </a:ext>
              </a:extLst>
            </p:cNvPr>
            <p:cNvSpPr/>
            <p:nvPr/>
          </p:nvSpPr>
          <p:spPr>
            <a:xfrm>
              <a:off x="6074443" y="5227797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262" name="矩形 261">
              <a:extLst>
                <a:ext uri="{FF2B5EF4-FFF2-40B4-BE49-F238E27FC236}">
                  <a16:creationId xmlns:a16="http://schemas.microsoft.com/office/drawing/2014/main" id="{A8497ED5-8EE7-F0A8-5CCD-9996F49CD02C}"/>
                </a:ext>
              </a:extLst>
            </p:cNvPr>
            <p:cNvSpPr/>
            <p:nvPr/>
          </p:nvSpPr>
          <p:spPr>
            <a:xfrm>
              <a:off x="6074442" y="5684997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263" name="文本框 81922">
              <a:extLst>
                <a:ext uri="{FF2B5EF4-FFF2-40B4-BE49-F238E27FC236}">
                  <a16:creationId xmlns:a16="http://schemas.microsoft.com/office/drawing/2014/main" id="{47B66540-54C3-E826-0129-280A36D5D2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9007" y="5711170"/>
              <a:ext cx="664052" cy="402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r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  <a:defRPr sz="2000" b="1">
                  <a:solidFill>
                    <a:srgbClr val="002060"/>
                  </a:solidFill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/>
                <a:t>size</a:t>
              </a:r>
              <a:endParaRPr lang="zh-CN" altLang="en-US" dirty="0"/>
            </a:p>
          </p:txBody>
        </p:sp>
        <p:sp>
          <p:nvSpPr>
            <p:cNvPr id="264" name="文本框 81922">
              <a:extLst>
                <a:ext uri="{FF2B5EF4-FFF2-40B4-BE49-F238E27FC236}">
                  <a16:creationId xmlns:a16="http://schemas.microsoft.com/office/drawing/2014/main" id="{A1134169-3726-057D-BF09-5B2D45F57D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9114" y="4410555"/>
              <a:ext cx="600392" cy="394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r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  <a:defRPr sz="2000" b="1">
                  <a:solidFill>
                    <a:srgbClr val="002060"/>
                  </a:solidFill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/>
                <a:t>La</a:t>
              </a:r>
              <a:endParaRPr lang="zh-CN" altLang="en-US" dirty="0"/>
            </a:p>
          </p:txBody>
        </p:sp>
      </p:grpSp>
      <p:sp>
        <p:nvSpPr>
          <p:cNvPr id="265" name="文本框 7">
            <a:extLst>
              <a:ext uri="{FF2B5EF4-FFF2-40B4-BE49-F238E27FC236}">
                <a16:creationId xmlns:a16="http://schemas.microsoft.com/office/drawing/2014/main" id="{AF6139E2-A543-609C-8A49-C3B2154EBDDD}"/>
              </a:ext>
            </a:extLst>
          </p:cNvPr>
          <p:cNvSpPr txBox="1"/>
          <p:nvPr/>
        </p:nvSpPr>
        <p:spPr>
          <a:xfrm>
            <a:off x="6113875" y="3510774"/>
            <a:ext cx="283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8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92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8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4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70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dirty="0">
                <a:solidFill>
                  <a:srgbClr val="C00000"/>
                </a:solidFill>
              </a:rPr>
              <a:t>4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266" name="文本框 40">
            <a:extLst>
              <a:ext uri="{FF2B5EF4-FFF2-40B4-BE49-F238E27FC236}">
                <a16:creationId xmlns:a16="http://schemas.microsoft.com/office/drawing/2014/main" id="{4170AF57-C867-16D4-7947-7B40CB2A53A8}"/>
              </a:ext>
            </a:extLst>
          </p:cNvPr>
          <p:cNvSpPr txBox="1"/>
          <p:nvPr/>
        </p:nvSpPr>
        <p:spPr>
          <a:xfrm>
            <a:off x="5977366" y="4000759"/>
            <a:ext cx="56811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8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92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8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4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70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dirty="0">
                <a:solidFill>
                  <a:srgbClr val="C00000"/>
                </a:solidFill>
              </a:rPr>
              <a:t>4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cxnSp>
        <p:nvCxnSpPr>
          <p:cNvPr id="267" name="直接箭头连接符 266">
            <a:extLst>
              <a:ext uri="{FF2B5EF4-FFF2-40B4-BE49-F238E27FC236}">
                <a16:creationId xmlns:a16="http://schemas.microsoft.com/office/drawing/2014/main" id="{6A076AF9-0CB4-CCAC-152A-4C35E7463026}"/>
              </a:ext>
            </a:extLst>
          </p:cNvPr>
          <p:cNvCxnSpPr>
            <a:cxnSpLocks/>
          </p:cNvCxnSpPr>
          <p:nvPr/>
        </p:nvCxnSpPr>
        <p:spPr>
          <a:xfrm>
            <a:off x="6275788" y="3314041"/>
            <a:ext cx="466525" cy="1620"/>
          </a:xfrm>
          <a:prstGeom prst="straightConnector1">
            <a:avLst/>
          </a:prstGeom>
          <a:ln w="38100"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文本框 4">
            <a:extLst>
              <a:ext uri="{FF2B5EF4-FFF2-40B4-BE49-F238E27FC236}">
                <a16:creationId xmlns:a16="http://schemas.microsoft.com/office/drawing/2014/main" id="{894A0B50-E2DE-60E2-9B2B-64A2F4CAE8BC}"/>
              </a:ext>
            </a:extLst>
          </p:cNvPr>
          <p:cNvSpPr txBox="1"/>
          <p:nvPr/>
        </p:nvSpPr>
        <p:spPr>
          <a:xfrm>
            <a:off x="7185649" y="3094389"/>
            <a:ext cx="429955" cy="46166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en-US" altLang="zh-CN" sz="24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D</a:t>
            </a:r>
          </a:p>
        </p:txBody>
      </p:sp>
      <p:sp>
        <p:nvSpPr>
          <p:cNvPr id="269" name="文本框 4">
            <a:extLst>
              <a:ext uri="{FF2B5EF4-FFF2-40B4-BE49-F238E27FC236}">
                <a16:creationId xmlns:a16="http://schemas.microsoft.com/office/drawing/2014/main" id="{8144F52D-14C9-2689-CF6C-F364A3463FA8}"/>
              </a:ext>
            </a:extLst>
          </p:cNvPr>
          <p:cNvSpPr txBox="1"/>
          <p:nvPr/>
        </p:nvSpPr>
        <p:spPr>
          <a:xfrm>
            <a:off x="7604133" y="3094389"/>
            <a:ext cx="429955" cy="46166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en-US" altLang="zh-CN" sz="24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G</a:t>
            </a:r>
          </a:p>
        </p:txBody>
      </p:sp>
      <p:sp>
        <p:nvSpPr>
          <p:cNvPr id="270" name="文本框 4">
            <a:extLst>
              <a:ext uri="{FF2B5EF4-FFF2-40B4-BE49-F238E27FC236}">
                <a16:creationId xmlns:a16="http://schemas.microsoft.com/office/drawing/2014/main" id="{532E1E82-6091-F974-DDA0-0B4F67F5A7EA}"/>
              </a:ext>
            </a:extLst>
          </p:cNvPr>
          <p:cNvSpPr txBox="1"/>
          <p:nvPr/>
        </p:nvSpPr>
        <p:spPr>
          <a:xfrm>
            <a:off x="8034088" y="3094389"/>
            <a:ext cx="429955" cy="46166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en-US" altLang="zh-CN" sz="24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S</a:t>
            </a:r>
          </a:p>
        </p:txBody>
      </p:sp>
      <p:sp>
        <p:nvSpPr>
          <p:cNvPr id="271" name="文本框 4">
            <a:extLst>
              <a:ext uri="{FF2B5EF4-FFF2-40B4-BE49-F238E27FC236}">
                <a16:creationId xmlns:a16="http://schemas.microsoft.com/office/drawing/2014/main" id="{73B896D3-5C3F-686D-1A05-30264A6DF4AB}"/>
              </a:ext>
            </a:extLst>
          </p:cNvPr>
          <p:cNvSpPr txBox="1"/>
          <p:nvPr/>
        </p:nvSpPr>
        <p:spPr>
          <a:xfrm>
            <a:off x="10376759" y="3081641"/>
            <a:ext cx="429955" cy="46166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en-US" altLang="zh-CN" sz="24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272" name="Text Box 78">
            <a:extLst>
              <a:ext uri="{FF2B5EF4-FFF2-40B4-BE49-F238E27FC236}">
                <a16:creationId xmlns:a16="http://schemas.microsoft.com/office/drawing/2014/main" id="{68864E15-1F79-5F55-3D43-D4A0B5CDE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1556" y="2728471"/>
            <a:ext cx="13335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600" b="1" dirty="0">
                <a:solidFill>
                  <a:srgbClr val="008080"/>
                </a:solidFill>
              </a:rPr>
              <a:t> </a:t>
            </a:r>
            <a:r>
              <a:rPr lang="en-US" altLang="zh-CN" sz="1600" b="1" dirty="0">
                <a:solidFill>
                  <a:srgbClr val="008080"/>
                </a:solidFill>
              </a:rPr>
              <a:t>0      1      2</a:t>
            </a:r>
          </a:p>
        </p:txBody>
      </p:sp>
      <p:grpSp>
        <p:nvGrpSpPr>
          <p:cNvPr id="273" name="组合 272">
            <a:extLst>
              <a:ext uri="{FF2B5EF4-FFF2-40B4-BE49-F238E27FC236}">
                <a16:creationId xmlns:a16="http://schemas.microsoft.com/office/drawing/2014/main" id="{9CEF6D63-8C85-C257-39C7-0BD8B73CFD47}"/>
              </a:ext>
            </a:extLst>
          </p:cNvPr>
          <p:cNvGrpSpPr/>
          <p:nvPr/>
        </p:nvGrpSpPr>
        <p:grpSpPr>
          <a:xfrm>
            <a:off x="8861462" y="2728471"/>
            <a:ext cx="1230065" cy="1723283"/>
            <a:chOff x="5358791" y="4418914"/>
            <a:chExt cx="1230065" cy="1723283"/>
          </a:xfrm>
        </p:grpSpPr>
        <p:sp>
          <p:nvSpPr>
            <p:cNvPr id="274" name="文本框 81922">
              <a:extLst>
                <a:ext uri="{FF2B5EF4-FFF2-40B4-BE49-F238E27FC236}">
                  <a16:creationId xmlns:a16="http://schemas.microsoft.com/office/drawing/2014/main" id="{8D29EFC3-7F69-0239-20EB-8D83D929D2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8791" y="4812024"/>
              <a:ext cx="720665" cy="402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r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  <a:defRPr sz="2000" b="1">
                  <a:solidFill>
                    <a:srgbClr val="002060"/>
                  </a:solidFill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 err="1"/>
                <a:t>elem</a:t>
              </a:r>
              <a:endParaRPr lang="zh-CN" altLang="en-US" dirty="0"/>
            </a:p>
          </p:txBody>
        </p:sp>
        <p:sp>
          <p:nvSpPr>
            <p:cNvPr id="275" name="文本框 81922">
              <a:extLst>
                <a:ext uri="{FF2B5EF4-FFF2-40B4-BE49-F238E27FC236}">
                  <a16:creationId xmlns:a16="http://schemas.microsoft.com/office/drawing/2014/main" id="{7E368375-050D-F251-7BA0-63FDBBC1EA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0013" y="5285926"/>
              <a:ext cx="568113" cy="402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r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  <a:defRPr sz="2000" b="1">
                  <a:solidFill>
                    <a:srgbClr val="002060"/>
                  </a:solidFill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 err="1"/>
                <a:t>len</a:t>
              </a:r>
              <a:endParaRPr lang="zh-CN" altLang="en-US" dirty="0"/>
            </a:p>
          </p:txBody>
        </p:sp>
        <p:sp>
          <p:nvSpPr>
            <p:cNvPr id="276" name="矩形 275">
              <a:extLst>
                <a:ext uri="{FF2B5EF4-FFF2-40B4-BE49-F238E27FC236}">
                  <a16:creationId xmlns:a16="http://schemas.microsoft.com/office/drawing/2014/main" id="{98A3AAC5-2601-7FE1-6190-1F259FC62076}"/>
                </a:ext>
              </a:extLst>
            </p:cNvPr>
            <p:cNvSpPr/>
            <p:nvPr/>
          </p:nvSpPr>
          <p:spPr>
            <a:xfrm>
              <a:off x="6074443" y="4767250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7" name="矩形 276">
              <a:extLst>
                <a:ext uri="{FF2B5EF4-FFF2-40B4-BE49-F238E27FC236}">
                  <a16:creationId xmlns:a16="http://schemas.microsoft.com/office/drawing/2014/main" id="{9265CFDA-872C-E51B-F350-CFAA94469A04}"/>
                </a:ext>
              </a:extLst>
            </p:cNvPr>
            <p:cNvSpPr/>
            <p:nvPr/>
          </p:nvSpPr>
          <p:spPr>
            <a:xfrm>
              <a:off x="6074443" y="5227797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278" name="矩形 277">
              <a:extLst>
                <a:ext uri="{FF2B5EF4-FFF2-40B4-BE49-F238E27FC236}">
                  <a16:creationId xmlns:a16="http://schemas.microsoft.com/office/drawing/2014/main" id="{FFC8058E-7AE3-4CE1-CEB7-165599A4A16A}"/>
                </a:ext>
              </a:extLst>
            </p:cNvPr>
            <p:cNvSpPr/>
            <p:nvPr/>
          </p:nvSpPr>
          <p:spPr>
            <a:xfrm>
              <a:off x="6074442" y="5684997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279" name="文本框 81922">
              <a:extLst>
                <a:ext uri="{FF2B5EF4-FFF2-40B4-BE49-F238E27FC236}">
                  <a16:creationId xmlns:a16="http://schemas.microsoft.com/office/drawing/2014/main" id="{FBF65051-40A9-25A1-65E2-B9D9AAE8FA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5485" y="5733436"/>
              <a:ext cx="641915" cy="402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r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  <a:defRPr sz="2000" b="1">
                  <a:solidFill>
                    <a:srgbClr val="002060"/>
                  </a:solidFill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/>
                <a:t>size</a:t>
              </a:r>
              <a:endParaRPr lang="zh-CN" altLang="en-US" dirty="0"/>
            </a:p>
          </p:txBody>
        </p:sp>
        <p:sp>
          <p:nvSpPr>
            <p:cNvPr id="280" name="文本框 81922">
              <a:extLst>
                <a:ext uri="{FF2B5EF4-FFF2-40B4-BE49-F238E27FC236}">
                  <a16:creationId xmlns:a16="http://schemas.microsoft.com/office/drawing/2014/main" id="{76D10795-3B5A-5ECE-CF6C-3E9D96B326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71111" y="4418914"/>
              <a:ext cx="671550" cy="402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lnSpc>
                  <a:spcPct val="10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dirty="0" err="1">
                  <a:solidFill>
                    <a:srgbClr val="008080"/>
                  </a:solidFill>
                  <a:latin typeface="+mn-lt"/>
                  <a:ea typeface="+mn-ea"/>
                </a:rPr>
                <a:t>Lb</a:t>
              </a:r>
              <a:endParaRPr lang="zh-CN" altLang="en-US" sz="2000" b="1" dirty="0">
                <a:solidFill>
                  <a:srgbClr val="008080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81" name="文本框 7">
            <a:extLst>
              <a:ext uri="{FF2B5EF4-FFF2-40B4-BE49-F238E27FC236}">
                <a16:creationId xmlns:a16="http://schemas.microsoft.com/office/drawing/2014/main" id="{5A33CC1E-DD36-2358-E26D-F9C04CAA9B0B}"/>
              </a:ext>
            </a:extLst>
          </p:cNvPr>
          <p:cNvSpPr txBox="1"/>
          <p:nvPr/>
        </p:nvSpPr>
        <p:spPr>
          <a:xfrm>
            <a:off x="9696394" y="3499378"/>
            <a:ext cx="283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8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92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8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4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70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dirty="0">
                <a:solidFill>
                  <a:srgbClr val="C00000"/>
                </a:solidFill>
              </a:rPr>
              <a:t>3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282" name="文本框 40">
            <a:extLst>
              <a:ext uri="{FF2B5EF4-FFF2-40B4-BE49-F238E27FC236}">
                <a16:creationId xmlns:a16="http://schemas.microsoft.com/office/drawing/2014/main" id="{50B3CAA3-EBE9-A3F6-72C9-AF3D57B7A789}"/>
              </a:ext>
            </a:extLst>
          </p:cNvPr>
          <p:cNvSpPr txBox="1"/>
          <p:nvPr/>
        </p:nvSpPr>
        <p:spPr>
          <a:xfrm>
            <a:off x="9554105" y="3989324"/>
            <a:ext cx="56811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8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92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8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4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70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dirty="0">
                <a:solidFill>
                  <a:srgbClr val="C00000"/>
                </a:solidFill>
              </a:rPr>
              <a:t>3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cxnSp>
        <p:nvCxnSpPr>
          <p:cNvPr id="283" name="直接箭头连接符 282">
            <a:extLst>
              <a:ext uri="{FF2B5EF4-FFF2-40B4-BE49-F238E27FC236}">
                <a16:creationId xmlns:a16="http://schemas.microsoft.com/office/drawing/2014/main" id="{C6FF6321-4F27-0572-E80B-E4668F9A345F}"/>
              </a:ext>
            </a:extLst>
          </p:cNvPr>
          <p:cNvCxnSpPr>
            <a:cxnSpLocks/>
          </p:cNvCxnSpPr>
          <p:nvPr/>
        </p:nvCxnSpPr>
        <p:spPr>
          <a:xfrm>
            <a:off x="9878730" y="3312206"/>
            <a:ext cx="479147" cy="0"/>
          </a:xfrm>
          <a:prstGeom prst="straightConnector1">
            <a:avLst/>
          </a:prstGeom>
          <a:ln w="38100"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文本框 4">
            <a:extLst>
              <a:ext uri="{FF2B5EF4-FFF2-40B4-BE49-F238E27FC236}">
                <a16:creationId xmlns:a16="http://schemas.microsoft.com/office/drawing/2014/main" id="{42110AC0-AD10-61B1-6A3D-EEF64671C091}"/>
              </a:ext>
            </a:extLst>
          </p:cNvPr>
          <p:cNvSpPr txBox="1"/>
          <p:nvPr/>
        </p:nvSpPr>
        <p:spPr>
          <a:xfrm>
            <a:off x="10806714" y="3079668"/>
            <a:ext cx="429955" cy="46166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en-US" altLang="zh-CN" sz="24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A</a:t>
            </a:r>
          </a:p>
        </p:txBody>
      </p:sp>
      <p:sp>
        <p:nvSpPr>
          <p:cNvPr id="285" name="文本框 4">
            <a:extLst>
              <a:ext uri="{FF2B5EF4-FFF2-40B4-BE49-F238E27FC236}">
                <a16:creationId xmlns:a16="http://schemas.microsoft.com/office/drawing/2014/main" id="{60FC25D2-0806-46E5-A754-17480A448168}"/>
              </a:ext>
            </a:extLst>
          </p:cNvPr>
          <p:cNvSpPr txBox="1"/>
          <p:nvPr/>
        </p:nvSpPr>
        <p:spPr>
          <a:xfrm>
            <a:off x="11223472" y="3081641"/>
            <a:ext cx="429955" cy="46166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en-US" altLang="zh-CN" sz="24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E</a:t>
            </a:r>
          </a:p>
        </p:txBody>
      </p:sp>
      <p:sp>
        <p:nvSpPr>
          <p:cNvPr id="286" name="文本框 4">
            <a:extLst>
              <a:ext uri="{FF2B5EF4-FFF2-40B4-BE49-F238E27FC236}">
                <a16:creationId xmlns:a16="http://schemas.microsoft.com/office/drawing/2014/main" id="{472BB4C7-3489-C61C-2F1B-4059192C7849}"/>
              </a:ext>
            </a:extLst>
          </p:cNvPr>
          <p:cNvSpPr txBox="1"/>
          <p:nvPr/>
        </p:nvSpPr>
        <p:spPr>
          <a:xfrm>
            <a:off x="10810698" y="3081641"/>
            <a:ext cx="429955" cy="461665"/>
          </a:xfrm>
          <a:prstGeom prst="rect">
            <a:avLst/>
          </a:prstGeom>
          <a:solidFill>
            <a:srgbClr val="CCFFFF"/>
          </a:solidFill>
          <a:ln w="38100" cmpd="sng">
            <a:solidFill>
              <a:schemeClr val="tx1"/>
            </a:solidFill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en-US" altLang="zh-CN" sz="24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D</a:t>
            </a:r>
          </a:p>
        </p:txBody>
      </p:sp>
      <p:grpSp>
        <p:nvGrpSpPr>
          <p:cNvPr id="287" name="组合 286">
            <a:extLst>
              <a:ext uri="{FF2B5EF4-FFF2-40B4-BE49-F238E27FC236}">
                <a16:creationId xmlns:a16="http://schemas.microsoft.com/office/drawing/2014/main" id="{8A2CEE9C-3DBE-35F1-42AB-3AB05C4B6473}"/>
              </a:ext>
            </a:extLst>
          </p:cNvPr>
          <p:cNvGrpSpPr/>
          <p:nvPr/>
        </p:nvGrpSpPr>
        <p:grpSpPr>
          <a:xfrm>
            <a:off x="10183855" y="3557407"/>
            <a:ext cx="622015" cy="441740"/>
            <a:chOff x="6650661" y="3941776"/>
            <a:chExt cx="622015" cy="441740"/>
          </a:xfrm>
        </p:grpSpPr>
        <p:cxnSp>
          <p:nvCxnSpPr>
            <p:cNvPr id="288" name="直接箭头连接符 287">
              <a:extLst>
                <a:ext uri="{FF2B5EF4-FFF2-40B4-BE49-F238E27FC236}">
                  <a16:creationId xmlns:a16="http://schemas.microsoft.com/office/drawing/2014/main" id="{75B8ABE2-FE88-4890-6A25-F93F83FFD0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8433" y="3941776"/>
              <a:ext cx="0" cy="378246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oval" w="med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9" name="Text Box 78">
              <a:extLst>
                <a:ext uri="{FF2B5EF4-FFF2-40B4-BE49-F238E27FC236}">
                  <a16:creationId xmlns:a16="http://schemas.microsoft.com/office/drawing/2014/main" id="{5EA5411D-CCA9-1D12-7F6B-6258CF92AD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0661" y="3983406"/>
              <a:ext cx="622015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C00000"/>
                  </a:solidFill>
                </a:rPr>
                <a:t>pb</a:t>
              </a:r>
            </a:p>
          </p:txBody>
        </p:sp>
      </p:grpSp>
      <p:grpSp>
        <p:nvGrpSpPr>
          <p:cNvPr id="290" name="组合 289">
            <a:extLst>
              <a:ext uri="{FF2B5EF4-FFF2-40B4-BE49-F238E27FC236}">
                <a16:creationId xmlns:a16="http://schemas.microsoft.com/office/drawing/2014/main" id="{10DBBBF1-8BDD-34EF-F42B-F30560C37842}"/>
              </a:ext>
            </a:extLst>
          </p:cNvPr>
          <p:cNvGrpSpPr/>
          <p:nvPr/>
        </p:nvGrpSpPr>
        <p:grpSpPr>
          <a:xfrm>
            <a:off x="7218773" y="5423391"/>
            <a:ext cx="622015" cy="709039"/>
            <a:chOff x="6811111" y="3941776"/>
            <a:chExt cx="622015" cy="709039"/>
          </a:xfrm>
        </p:grpSpPr>
        <p:cxnSp>
          <p:nvCxnSpPr>
            <p:cNvPr id="291" name="直接箭头连接符 290">
              <a:extLst>
                <a:ext uri="{FF2B5EF4-FFF2-40B4-BE49-F238E27FC236}">
                  <a16:creationId xmlns:a16="http://schemas.microsoft.com/office/drawing/2014/main" id="{F2640D43-96FC-D212-FEF3-9EA5F7E365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8433" y="3941776"/>
              <a:ext cx="0" cy="378246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oval" w="med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2" name="Text Box 78">
              <a:extLst>
                <a:ext uri="{FF2B5EF4-FFF2-40B4-BE49-F238E27FC236}">
                  <a16:creationId xmlns:a16="http://schemas.microsoft.com/office/drawing/2014/main" id="{E9D9693A-C2D9-B3E2-C1E5-6233848EB2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1111" y="4250705"/>
              <a:ext cx="622015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C00000"/>
                  </a:solidFill>
                </a:rPr>
                <a:t>pc</a:t>
              </a:r>
            </a:p>
          </p:txBody>
        </p:sp>
      </p:grpSp>
      <p:grpSp>
        <p:nvGrpSpPr>
          <p:cNvPr id="293" name="组合 292">
            <a:extLst>
              <a:ext uri="{FF2B5EF4-FFF2-40B4-BE49-F238E27FC236}">
                <a16:creationId xmlns:a16="http://schemas.microsoft.com/office/drawing/2014/main" id="{18809F20-0F32-8479-6876-68B0199C5E3C}"/>
              </a:ext>
            </a:extLst>
          </p:cNvPr>
          <p:cNvGrpSpPr/>
          <p:nvPr/>
        </p:nvGrpSpPr>
        <p:grpSpPr>
          <a:xfrm>
            <a:off x="7883819" y="3555408"/>
            <a:ext cx="1102300" cy="743753"/>
            <a:chOff x="6656008" y="3941532"/>
            <a:chExt cx="1102300" cy="743753"/>
          </a:xfrm>
        </p:grpSpPr>
        <p:cxnSp>
          <p:nvCxnSpPr>
            <p:cNvPr id="294" name="直接箭头连接符 293">
              <a:extLst>
                <a:ext uri="{FF2B5EF4-FFF2-40B4-BE49-F238E27FC236}">
                  <a16:creationId xmlns:a16="http://schemas.microsoft.com/office/drawing/2014/main" id="{5D418A97-862B-6A9A-687F-4D38C75105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7115" y="3941532"/>
              <a:ext cx="0" cy="378246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oval" w="med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5" name="Text Box 78">
              <a:extLst>
                <a:ext uri="{FF2B5EF4-FFF2-40B4-BE49-F238E27FC236}">
                  <a16:creationId xmlns:a16="http://schemas.microsoft.com/office/drawing/2014/main" id="{B80B6431-56B3-4C14-1C84-35D61E52B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6008" y="4285175"/>
              <a:ext cx="110230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dirty="0" err="1">
                  <a:solidFill>
                    <a:srgbClr val="C00000"/>
                  </a:solidFill>
                </a:rPr>
                <a:t>pa_last</a:t>
              </a:r>
              <a:endParaRPr lang="en-US" altLang="zh-CN" sz="2000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96" name="组合 295">
            <a:extLst>
              <a:ext uri="{FF2B5EF4-FFF2-40B4-BE49-F238E27FC236}">
                <a16:creationId xmlns:a16="http://schemas.microsoft.com/office/drawing/2014/main" id="{9E9D60BF-36BC-9A75-277D-18C21B14C3EF}"/>
              </a:ext>
            </a:extLst>
          </p:cNvPr>
          <p:cNvGrpSpPr/>
          <p:nvPr/>
        </p:nvGrpSpPr>
        <p:grpSpPr>
          <a:xfrm>
            <a:off x="11127215" y="3541333"/>
            <a:ext cx="1097965" cy="737454"/>
            <a:chOff x="6672600" y="3919119"/>
            <a:chExt cx="1097965" cy="737454"/>
          </a:xfrm>
        </p:grpSpPr>
        <p:cxnSp>
          <p:nvCxnSpPr>
            <p:cNvPr id="297" name="直接箭头连接符 296">
              <a:extLst>
                <a:ext uri="{FF2B5EF4-FFF2-40B4-BE49-F238E27FC236}">
                  <a16:creationId xmlns:a16="http://schemas.microsoft.com/office/drawing/2014/main" id="{BFF5BFA7-6A83-85E6-9549-FF085BA9E6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8106" y="3919119"/>
              <a:ext cx="0" cy="378246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oval" w="med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8" name="Text Box 78">
              <a:extLst>
                <a:ext uri="{FF2B5EF4-FFF2-40B4-BE49-F238E27FC236}">
                  <a16:creationId xmlns:a16="http://schemas.microsoft.com/office/drawing/2014/main" id="{066D08F9-36DA-6D82-D2CE-E36932AD6D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2600" y="4256463"/>
              <a:ext cx="1097965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dirty="0" err="1">
                  <a:solidFill>
                    <a:srgbClr val="C00000"/>
                  </a:solidFill>
                </a:rPr>
                <a:t>pb_last</a:t>
              </a:r>
              <a:endParaRPr lang="en-US" altLang="zh-CN" sz="20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299" name="文本框 4">
            <a:extLst>
              <a:ext uri="{FF2B5EF4-FFF2-40B4-BE49-F238E27FC236}">
                <a16:creationId xmlns:a16="http://schemas.microsoft.com/office/drawing/2014/main" id="{D23E8327-D092-D6DB-7247-0F645A450585}"/>
              </a:ext>
            </a:extLst>
          </p:cNvPr>
          <p:cNvSpPr txBox="1"/>
          <p:nvPr/>
        </p:nvSpPr>
        <p:spPr>
          <a:xfrm>
            <a:off x="11219488" y="3081641"/>
            <a:ext cx="429955" cy="461665"/>
          </a:xfrm>
          <a:prstGeom prst="rect">
            <a:avLst/>
          </a:prstGeom>
          <a:noFill/>
          <a:ln w="38100" cmpd="sng">
            <a:noFill/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en-US" altLang="zh-CN" sz="24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E</a:t>
            </a:r>
          </a:p>
        </p:txBody>
      </p:sp>
      <p:sp>
        <p:nvSpPr>
          <p:cNvPr id="300" name="文本框 4">
            <a:extLst>
              <a:ext uri="{FF2B5EF4-FFF2-40B4-BE49-F238E27FC236}">
                <a16:creationId xmlns:a16="http://schemas.microsoft.com/office/drawing/2014/main" id="{0233841D-DF3E-318D-0578-335F770BB529}"/>
              </a:ext>
            </a:extLst>
          </p:cNvPr>
          <p:cNvSpPr txBox="1"/>
          <p:nvPr/>
        </p:nvSpPr>
        <p:spPr>
          <a:xfrm>
            <a:off x="6753683" y="3095065"/>
            <a:ext cx="429955" cy="461665"/>
          </a:xfrm>
          <a:prstGeom prst="rect">
            <a:avLst/>
          </a:prstGeom>
          <a:noFill/>
          <a:ln w="38100" cmpd="sng">
            <a:noFill/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en-US" altLang="zh-CN" sz="24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A</a:t>
            </a:r>
          </a:p>
        </p:txBody>
      </p:sp>
      <p:sp>
        <p:nvSpPr>
          <p:cNvPr id="301" name="文本框 4">
            <a:extLst>
              <a:ext uri="{FF2B5EF4-FFF2-40B4-BE49-F238E27FC236}">
                <a16:creationId xmlns:a16="http://schemas.microsoft.com/office/drawing/2014/main" id="{B6BF7E63-DFD8-C311-DE16-D9457A98BB77}"/>
              </a:ext>
            </a:extLst>
          </p:cNvPr>
          <p:cNvSpPr txBox="1"/>
          <p:nvPr/>
        </p:nvSpPr>
        <p:spPr>
          <a:xfrm>
            <a:off x="10388129" y="3088691"/>
            <a:ext cx="429955" cy="461665"/>
          </a:xfrm>
          <a:prstGeom prst="rect">
            <a:avLst/>
          </a:prstGeom>
          <a:noFill/>
          <a:ln w="38100" cmpd="sng">
            <a:noFill/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en-US" altLang="zh-CN" sz="24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302" name="文本框 4">
            <a:extLst>
              <a:ext uri="{FF2B5EF4-FFF2-40B4-BE49-F238E27FC236}">
                <a16:creationId xmlns:a16="http://schemas.microsoft.com/office/drawing/2014/main" id="{44C05C76-EF7A-89D3-D4F3-534C8DE49542}"/>
              </a:ext>
            </a:extLst>
          </p:cNvPr>
          <p:cNvSpPr txBox="1"/>
          <p:nvPr/>
        </p:nvSpPr>
        <p:spPr>
          <a:xfrm>
            <a:off x="7194132" y="3109697"/>
            <a:ext cx="429955" cy="461665"/>
          </a:xfrm>
          <a:prstGeom prst="rect">
            <a:avLst/>
          </a:prstGeom>
          <a:noFill/>
          <a:ln w="38100" cmpd="sng">
            <a:noFill/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en-US" altLang="zh-CN" sz="24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D</a:t>
            </a:r>
          </a:p>
        </p:txBody>
      </p:sp>
      <p:sp>
        <p:nvSpPr>
          <p:cNvPr id="303" name="文本框 4">
            <a:extLst>
              <a:ext uri="{FF2B5EF4-FFF2-40B4-BE49-F238E27FC236}">
                <a16:creationId xmlns:a16="http://schemas.microsoft.com/office/drawing/2014/main" id="{9C881FEE-2035-0941-E430-06D39B8561BB}"/>
              </a:ext>
            </a:extLst>
          </p:cNvPr>
          <p:cNvSpPr txBox="1"/>
          <p:nvPr/>
        </p:nvSpPr>
        <p:spPr>
          <a:xfrm>
            <a:off x="10822068" y="3093743"/>
            <a:ext cx="429955" cy="461665"/>
          </a:xfrm>
          <a:prstGeom prst="rect">
            <a:avLst/>
          </a:prstGeom>
          <a:noFill/>
          <a:ln w="38100" cmpd="sng">
            <a:noFill/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en-US" altLang="zh-CN" sz="24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D</a:t>
            </a:r>
          </a:p>
        </p:txBody>
      </p:sp>
      <p:sp>
        <p:nvSpPr>
          <p:cNvPr id="304" name="文本框 4">
            <a:extLst>
              <a:ext uri="{FF2B5EF4-FFF2-40B4-BE49-F238E27FC236}">
                <a16:creationId xmlns:a16="http://schemas.microsoft.com/office/drawing/2014/main" id="{D5B0BBD9-7375-335A-7F7B-83811C4462CB}"/>
              </a:ext>
            </a:extLst>
          </p:cNvPr>
          <p:cNvSpPr txBox="1"/>
          <p:nvPr/>
        </p:nvSpPr>
        <p:spPr>
          <a:xfrm>
            <a:off x="8043833" y="3093743"/>
            <a:ext cx="429955" cy="461665"/>
          </a:xfrm>
          <a:prstGeom prst="rect">
            <a:avLst/>
          </a:prstGeom>
          <a:noFill/>
          <a:ln w="38100" cmpd="sng">
            <a:noFill/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en-US" altLang="zh-CN" sz="24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S</a:t>
            </a:r>
          </a:p>
        </p:txBody>
      </p:sp>
      <p:sp>
        <p:nvSpPr>
          <p:cNvPr id="305" name="文本框 4">
            <a:extLst>
              <a:ext uri="{FF2B5EF4-FFF2-40B4-BE49-F238E27FC236}">
                <a16:creationId xmlns:a16="http://schemas.microsoft.com/office/drawing/2014/main" id="{106597C3-4A57-B954-F4B2-A9DE2206C922}"/>
              </a:ext>
            </a:extLst>
          </p:cNvPr>
          <p:cNvSpPr txBox="1"/>
          <p:nvPr/>
        </p:nvSpPr>
        <p:spPr>
          <a:xfrm>
            <a:off x="7603109" y="3087085"/>
            <a:ext cx="429955" cy="461665"/>
          </a:xfrm>
          <a:prstGeom prst="rect">
            <a:avLst/>
          </a:prstGeom>
          <a:noFill/>
          <a:ln w="38100" cmpd="sng">
            <a:noFill/>
          </a:ln>
        </p:spPr>
        <p:txBody>
          <a:bodyPr wrap="square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ctr" hangingPunct="1">
              <a:spcBef>
                <a:spcPct val="50000"/>
              </a:spcBef>
              <a:defRPr/>
            </a:pPr>
            <a:r>
              <a:rPr lang="en-US" altLang="zh-CN" sz="2400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G</a:t>
            </a:r>
          </a:p>
        </p:txBody>
      </p:sp>
      <p:sp>
        <p:nvSpPr>
          <p:cNvPr id="308" name="文本框 307">
            <a:extLst>
              <a:ext uri="{FF2B5EF4-FFF2-40B4-BE49-F238E27FC236}">
                <a16:creationId xmlns:a16="http://schemas.microsoft.com/office/drawing/2014/main" id="{6324E653-F9CF-5F2D-B232-C9C158FACA8C}"/>
              </a:ext>
            </a:extLst>
          </p:cNvPr>
          <p:cNvSpPr txBox="1"/>
          <p:nvPr/>
        </p:nvSpPr>
        <p:spPr>
          <a:xfrm>
            <a:off x="1372069" y="253944"/>
            <a:ext cx="4259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算法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2.7  </a:t>
            </a:r>
            <a:r>
              <a:rPr lang="zh-CN" altLang="en-US" sz="2800" b="1" dirty="0">
                <a:solidFill>
                  <a:srgbClr val="1122A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归并有序顺序表</a:t>
            </a:r>
            <a:endParaRPr lang="zh-CN" altLang="en-US" sz="2800" dirty="0">
              <a:solidFill>
                <a:srgbClr val="1122A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62024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2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2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2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2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00"/>
                            </p:stCondLst>
                            <p:childTnLst>
                              <p:par>
                                <p:cTn id="1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2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2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2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000"/>
                            </p:stCondLst>
                            <p:childTnLst>
                              <p:par>
                                <p:cTn id="1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2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2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2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2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2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2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500" tmFilter="0, 0; .2, .5; .8, .5; 1, 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0" dur="250" autoRev="1" fill="hold"/>
                                        <p:tgtEl>
                                          <p:spTgt spid="30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500"/>
                            </p:stCondLst>
                            <p:childTnLst>
                              <p:par>
                                <p:cTn id="202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3.7037E-6 L 0.03959 0.27153 " pathEditMode="relative" rAng="0" ptsTypes="AA">
                                      <p:cBhvr>
                                        <p:cTn id="203" dur="20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79" y="135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500"/>
                            </p:stCondLst>
                            <p:childTnLst>
                              <p:par>
                                <p:cTn id="20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4.81481E-6 L 0.03412 -0.00092 " pathEditMode="relative" rAng="0" ptsTypes="AA">
                                      <p:cBhvr>
                                        <p:cTn id="206" dur="20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6" y="-46"/>
                                    </p:animMotion>
                                  </p:childTnLst>
                                </p:cTn>
                              </p:par>
                              <p:par>
                                <p:cTn id="20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1.11111E-6 L 0.03437 0.0007 " pathEditMode="relative" rAng="0" ptsTypes="AA">
                                      <p:cBhvr>
                                        <p:cTn id="208" dur="2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9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1000"/>
                                        <p:tgtEl>
                                          <p:spTgt spid="2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2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2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500" tmFilter="0, 0; .2, .5; .8, .5; 1, 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3" dur="250" autoRev="1" fill="hold"/>
                                        <p:tgtEl>
                                          <p:spTgt spid="30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500"/>
                            </p:stCondLst>
                            <p:childTnLst>
                              <p:par>
                                <p:cTn id="225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2.22222E-6 L -0.22174 0.27315 " pathEditMode="relative" rAng="0" ptsTypes="AA">
                                      <p:cBhvr>
                                        <p:cTn id="226" dur="20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94" y="13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2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4.07407E-6 L 0.03255 -0.00186 " pathEditMode="relative" rAng="0" ptsTypes="AA">
                                      <p:cBhvr>
                                        <p:cTn id="229" dur="20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8" y="-93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437 0.0007 L 0.06823 0.0037 " pathEditMode="relative" rAng="0" ptsTypes="AA">
                                      <p:cBhvr>
                                        <p:cTn id="231" dur="2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3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8" dur="500" tmFilter="0, 0; .2, .5; .8, .5; 1, 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9" dur="250" autoRev="1" fill="hold"/>
                                        <p:tgtEl>
                                          <p:spTgt spid="30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500"/>
                            </p:stCondLst>
                            <p:childTnLst>
                              <p:par>
                                <p:cTn id="24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2.96296E-6 L 0.07357 0.27014 " pathEditMode="relative" rAng="0" ptsTypes="AA">
                                      <p:cBhvr>
                                        <p:cTn id="242" dur="20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72" y="134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412 -0.00092 L 0.0694 -0.00115 " pathEditMode="relative" rAng="0" ptsTypes="AA">
                                      <p:cBhvr>
                                        <p:cTn id="245" dur="20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8" y="-23"/>
                                    </p:animMotion>
                                  </p:childTnLst>
                                </p:cTn>
                              </p:par>
                              <p:par>
                                <p:cTn id="24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823 0.0037 L 0.10351 0.0037 " pathEditMode="relative" rAng="0" ptsTypes="AA">
                                      <p:cBhvr>
                                        <p:cTn id="247" dur="2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4" dur="500" tmFilter="0, 0; .2, .5; .8, .5; 1, 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5" dur="250" autoRev="1" fill="hold"/>
                                        <p:tgtEl>
                                          <p:spTgt spid="30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500"/>
                            </p:stCondLst>
                            <p:childTnLst>
                              <p:par>
                                <p:cTn id="25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22222E-6 L -0.18958 0.27246 " pathEditMode="relative" rAng="0" ptsTypes="AA">
                                      <p:cBhvr>
                                        <p:cTn id="258" dur="20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79" y="1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2500"/>
                            </p:stCondLst>
                            <p:childTnLst>
                              <p:par>
                                <p:cTn id="26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255 -0.00186 L 0.06211 -0.00186 " pathEditMode="relative" rAng="0" ptsTypes="AA">
                                      <p:cBhvr>
                                        <p:cTn id="261" dur="20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1" y="0"/>
                                    </p:animMotion>
                                  </p:childTnLst>
                                </p:cTn>
                              </p:par>
                              <p:par>
                                <p:cTn id="26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351 0.0037 L 0.1388 0.0037 " pathEditMode="relative" rAng="0" ptsTypes="AA">
                                      <p:cBhvr>
                                        <p:cTn id="263" dur="2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 tmFilter="0, 0; .2, .5; .8, .5; 1, 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1" dur="250" autoRev="1" fill="hold"/>
                                        <p:tgtEl>
                                          <p:spTgt spid="29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500"/>
                            </p:stCondLst>
                            <p:childTnLst>
                              <p:par>
                                <p:cTn id="27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3.7037E-7 L -0.18568 0.27431 " pathEditMode="relative" rAng="0" ptsTypes="AA">
                                      <p:cBhvr>
                                        <p:cTn id="274" dur="20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84" y="13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2500"/>
                            </p:stCondLst>
                            <p:childTnLst>
                              <p:par>
                                <p:cTn id="27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211 -0.00186 L 0.11315 -0.00186 " pathEditMode="relative" rAng="0" ptsTypes="AA">
                                      <p:cBhvr>
                                        <p:cTn id="277" dur="20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52" y="0"/>
                                    </p:animMotion>
                                  </p:childTnLst>
                                </p:cTn>
                              </p:par>
                              <p:par>
                                <p:cTn id="27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88 0.0037 L 0.17409 0.0037 " pathEditMode="relative" rAng="0" ptsTypes="AA">
                                      <p:cBhvr>
                                        <p:cTn id="279" dur="2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1000"/>
                                        <p:tgtEl>
                                          <p:spTgt spid="2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3" dur="1000" fill="hold"/>
                                        <p:tgtEl>
                                          <p:spTgt spid="2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1000" fill="hold"/>
                                        <p:tgtEl>
                                          <p:spTgt spid="2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1" dur="500" tmFilter="0, 0; .2, .5; .8, .5; 1, 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2" dur="250" autoRev="1" fill="hold"/>
                                        <p:tgtEl>
                                          <p:spTgt spid="30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500"/>
                            </p:stCondLst>
                            <p:childTnLst>
                              <p:par>
                                <p:cTn id="30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7037E-6 L 0.14622 0.27338 " pathEditMode="relative" rAng="0" ptsTypes="AA">
                                      <p:cBhvr>
                                        <p:cTn id="305" dur="20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05" y="13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" fill="hold">
                            <p:stCondLst>
                              <p:cond delay="2500"/>
                            </p:stCondLst>
                            <p:childTnLst>
                              <p:par>
                                <p:cTn id="30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94 -0.00115 L 0.10065 0.0007 " pathEditMode="relative" rAng="0" ptsTypes="AA">
                                      <p:cBhvr>
                                        <p:cTn id="308" dur="20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3" y="93"/>
                                    </p:animMotion>
                                  </p:childTnLst>
                                </p:cTn>
                              </p:par>
                              <p:par>
                                <p:cTn id="30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409 0.0037 L 0.21002 0.0037 " pathEditMode="relative" rAng="0" ptsTypes="AA">
                                      <p:cBhvr>
                                        <p:cTn id="310" dur="2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500" tmFilter="0, 0; .2, .5; .8, .5; 1, 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8" dur="250" autoRev="1" fill="hold"/>
                                        <p:tgtEl>
                                          <p:spTgt spid="30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500"/>
                            </p:stCondLst>
                            <p:childTnLst>
                              <p:par>
                                <p:cTn id="32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2.22222E-6 L 0.14688 0.27246 " pathEditMode="relative" rAng="0" ptsTypes="AA">
                                      <p:cBhvr>
                                        <p:cTn id="321" dur="20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44" y="1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2500"/>
                            </p:stCondLst>
                            <p:childTnLst>
                              <p:par>
                                <p:cTn id="32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065 0.0007 L 0.14284 0.0007 " pathEditMode="relative" rAng="0" ptsTypes="AA">
                                      <p:cBhvr>
                                        <p:cTn id="324" dur="20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9" y="0"/>
                                    </p:animMotion>
                                  </p:childTnLst>
                                </p:cTn>
                              </p:par>
                              <p:par>
                                <p:cTn id="32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002 0.0037 L 0.25104 0.0037 " pathEditMode="relative" rAng="0" ptsTypes="AA">
                                      <p:cBhvr>
                                        <p:cTn id="326" dur="2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1000"/>
                                        <p:tgtEl>
                                          <p:spTgt spid="2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1000" fill="hold"/>
                                        <p:tgtEl>
                                          <p:spTgt spid="2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1000" fill="hold"/>
                                        <p:tgtEl>
                                          <p:spTgt spid="2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1000"/>
                                        <p:tgtEl>
                                          <p:spTgt spid="2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1000" fill="hold"/>
                                        <p:tgtEl>
                                          <p:spTgt spid="2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1000" fill="hold"/>
                                        <p:tgtEl>
                                          <p:spTgt spid="2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" grpId="0" animBg="1"/>
      <p:bldP spid="233" grpId="0" animBg="1"/>
      <p:bldP spid="234" grpId="0"/>
      <p:bldP spid="243" grpId="0"/>
      <p:bldP spid="244" grpId="0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  <p:bldP spid="256" grpId="0"/>
      <p:bldP spid="265" grpId="0"/>
      <p:bldP spid="266" grpId="0"/>
      <p:bldP spid="268" grpId="0" animBg="1"/>
      <p:bldP spid="269" grpId="0" animBg="1"/>
      <p:bldP spid="270" grpId="0" animBg="1"/>
      <p:bldP spid="271" grpId="0" animBg="1"/>
      <p:bldP spid="272" grpId="0"/>
      <p:bldP spid="281" grpId="0"/>
      <p:bldP spid="282" grpId="0"/>
      <p:bldP spid="284" grpId="0" animBg="1"/>
      <p:bldP spid="285" grpId="0" animBg="1"/>
      <p:bldP spid="286" grpId="0" animBg="1"/>
      <p:bldP spid="299" grpId="0" animBg="1"/>
      <p:bldP spid="299" grpId="1"/>
      <p:bldP spid="299" grpId="2"/>
      <p:bldP spid="300" grpId="0"/>
      <p:bldP spid="300" grpId="1"/>
      <p:bldP spid="300" grpId="2"/>
      <p:bldP spid="301" grpId="0" animBg="1"/>
      <p:bldP spid="301" grpId="1"/>
      <p:bldP spid="301" grpId="2"/>
      <p:bldP spid="302" grpId="0"/>
      <p:bldP spid="302" grpId="1"/>
      <p:bldP spid="302" grpId="2"/>
      <p:bldP spid="303" grpId="0"/>
      <p:bldP spid="303" grpId="1"/>
      <p:bldP spid="303" grpId="2"/>
      <p:bldP spid="304" grpId="0"/>
      <p:bldP spid="304" grpId="1"/>
      <p:bldP spid="304" grpId="2"/>
      <p:bldP spid="305" grpId="0"/>
      <p:bldP spid="305" grpId="1"/>
      <p:bldP spid="305" grpId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EBDFF52-D2D6-74DD-381E-35A4A2627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2739" y="6366983"/>
            <a:ext cx="2743200" cy="365125"/>
          </a:xfrm>
        </p:spPr>
        <p:txBody>
          <a:bodyPr/>
          <a:lstStyle/>
          <a:p>
            <a:fld id="{D7C0FE0B-717B-41AE-9FA2-CA4BF851D1C3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55" name="标题 2">
            <a:extLst>
              <a:ext uri="{FF2B5EF4-FFF2-40B4-BE49-F238E27FC236}">
                <a16:creationId xmlns:a16="http://schemas.microsoft.com/office/drawing/2014/main" id="{028BD9DE-8897-8B32-832D-7466C3750324}"/>
              </a:ext>
            </a:extLst>
          </p:cNvPr>
          <p:cNvSpPr txBox="1">
            <a:spLocks/>
          </p:cNvSpPr>
          <p:nvPr/>
        </p:nvSpPr>
        <p:spPr>
          <a:xfrm>
            <a:off x="1324758" y="245325"/>
            <a:ext cx="8312489" cy="4566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799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算法</a:t>
            </a:r>
            <a:r>
              <a:rPr lang="en-US" altLang="zh-CN" sz="2799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2.9  </a:t>
            </a:r>
            <a:r>
              <a:rPr lang="zh-CN" altLang="en-US" sz="2799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带头结点的单链表第</a:t>
            </a:r>
            <a:r>
              <a:rPr lang="en-US" altLang="zh-CN" sz="2799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2799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个元素前插入元素</a:t>
            </a:r>
            <a:endParaRPr lang="zh-CN" altLang="en-US" dirty="0">
              <a:solidFill>
                <a:srgbClr val="002060"/>
              </a:solidFill>
              <a:latin typeface="+mj-ea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D9F6A6AA-3370-7974-11F8-65EDA3030CD6}"/>
              </a:ext>
            </a:extLst>
          </p:cNvPr>
          <p:cNvSpPr txBox="1"/>
          <p:nvPr/>
        </p:nvSpPr>
        <p:spPr>
          <a:xfrm>
            <a:off x="531941" y="910080"/>
            <a:ext cx="81868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ListInsert_L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LinkList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L, 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ElemType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e) 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F59665F-BD19-30B0-5EEC-EFE289A4A6D0}"/>
              </a:ext>
            </a:extLst>
          </p:cNvPr>
          <p:cNvSpPr txBox="1"/>
          <p:nvPr/>
        </p:nvSpPr>
        <p:spPr>
          <a:xfrm>
            <a:off x="874795" y="1635616"/>
            <a:ext cx="5848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LNode *s, *p = L;   </a:t>
            </a:r>
            <a:r>
              <a:rPr lang="nn-NO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nn-NO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j = 0;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651CE95-96BC-DA52-A5C5-23F8E58B8F17}"/>
              </a:ext>
            </a:extLst>
          </p:cNvPr>
          <p:cNvSpPr/>
          <p:nvPr/>
        </p:nvSpPr>
        <p:spPr>
          <a:xfrm>
            <a:off x="869620" y="2020219"/>
            <a:ext cx="10250794" cy="388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(p &amp;&amp; j&lt;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-1) { p = p-&gt;next;  ++j; }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zh-CN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令</a:t>
            </a: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zh-CN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指向第</a:t>
            </a:r>
            <a:r>
              <a:rPr lang="en-US" altLang="zh-CN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zh-CN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个元素结点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E0C9A6E-186E-02F5-EB26-AC325B22D77F}"/>
              </a:ext>
            </a:extLst>
          </p:cNvPr>
          <p:cNvSpPr/>
          <p:nvPr/>
        </p:nvSpPr>
        <p:spPr>
          <a:xfrm>
            <a:off x="869619" y="2393174"/>
            <a:ext cx="98174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(!p) 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ERROR;         </a:t>
            </a: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若</a:t>
            </a: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空，则</a:t>
            </a:r>
            <a:r>
              <a:rPr lang="en-US" altLang="zh-CN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大于表长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+1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，不合法，报错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5A7D3A4-505D-B822-6C35-02A754D9A1A4}"/>
              </a:ext>
            </a:extLst>
          </p:cNvPr>
          <p:cNvSpPr/>
          <p:nvPr/>
        </p:nvSpPr>
        <p:spPr>
          <a:xfrm>
            <a:off x="869620" y="2824411"/>
            <a:ext cx="108097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(!(s = (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LinkList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LNode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)))) exit(OVERFLOW); </a:t>
            </a: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altLang="zh-CN" sz="2000" b="1" dirty="0">
                <a:solidFill>
                  <a:srgbClr val="0070C0"/>
                </a:solidFill>
                <a:latin typeface="+mn-ea"/>
                <a:cs typeface="Courier New" panose="02070309020205020404" pitchFamily="49" charset="0"/>
              </a:rPr>
              <a:t> </a:t>
            </a:r>
            <a:r>
              <a:rPr lang="zh-CN" altLang="en-US" sz="2000" dirty="0">
                <a:solidFill>
                  <a:srgbClr val="0070C0"/>
                </a:solidFill>
                <a:latin typeface="+mn-ea"/>
                <a:cs typeface="Courier New" panose="02070309020205020404" pitchFamily="49" charset="0"/>
              </a:rPr>
              <a:t>分配结点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cs typeface="Courier New" panose="02070309020205020404" pitchFamily="49" charset="0"/>
              </a:rPr>
              <a:t> </a:t>
            </a:r>
            <a:endParaRPr lang="zh-CN" altLang="en-US" sz="2000" dirty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cs typeface="Courier New" panose="02070309020205020404" pitchFamily="49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D94836F-91B4-76C0-BA72-0A700C2725DE}"/>
              </a:ext>
            </a:extLst>
          </p:cNvPr>
          <p:cNvSpPr/>
          <p:nvPr/>
        </p:nvSpPr>
        <p:spPr>
          <a:xfrm>
            <a:off x="885918" y="3848003"/>
            <a:ext cx="27348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OK; </a:t>
            </a:r>
            <a:endParaRPr lang="zh-CN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35304DD-C05F-39A1-3F37-9133A53CC8FF}"/>
              </a:ext>
            </a:extLst>
          </p:cNvPr>
          <p:cNvSpPr/>
          <p:nvPr/>
        </p:nvSpPr>
        <p:spPr>
          <a:xfrm>
            <a:off x="668768" y="4208305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D830292A-E105-9880-4125-EB023D8DDD63}"/>
              </a:ext>
            </a:extLst>
          </p:cNvPr>
          <p:cNvSpPr txBox="1"/>
          <p:nvPr/>
        </p:nvSpPr>
        <p:spPr>
          <a:xfrm>
            <a:off x="869620" y="3213828"/>
            <a:ext cx="94121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s-&gt;data = e;                        </a:t>
            </a: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zh-CN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新元素值赋给新结点</a:t>
            </a:r>
            <a:endParaRPr lang="en-US" altLang="zh-CN" sz="2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s-&gt;next = p-&gt;next;   </a:t>
            </a:r>
            <a:r>
              <a:rPr lang="en-US" altLang="zh-CN" sz="20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p-&gt;next = s;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zh-CN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新结点插入</a:t>
            </a:r>
          </a:p>
        </p:txBody>
      </p:sp>
      <p:grpSp>
        <p:nvGrpSpPr>
          <p:cNvPr id="64" name="Group 7">
            <a:extLst>
              <a:ext uri="{FF2B5EF4-FFF2-40B4-BE49-F238E27FC236}">
                <a16:creationId xmlns:a16="http://schemas.microsoft.com/office/drawing/2014/main" id="{B6A4A28E-2BD4-039E-3F4A-417A2BD172F6}"/>
              </a:ext>
            </a:extLst>
          </p:cNvPr>
          <p:cNvGrpSpPr>
            <a:grpSpLocks/>
          </p:cNvGrpSpPr>
          <p:nvPr/>
        </p:nvGrpSpPr>
        <p:grpSpPr bwMode="auto">
          <a:xfrm>
            <a:off x="6043135" y="5663493"/>
            <a:ext cx="913924" cy="431575"/>
            <a:chOff x="0" y="0"/>
            <a:chExt cx="1440" cy="680"/>
          </a:xfrm>
        </p:grpSpPr>
        <p:sp>
          <p:nvSpPr>
            <p:cNvPr id="65" name="Rectangle 8">
              <a:extLst>
                <a:ext uri="{FF2B5EF4-FFF2-40B4-BE49-F238E27FC236}">
                  <a16:creationId xmlns:a16="http://schemas.microsoft.com/office/drawing/2014/main" id="{E08F0821-7EDB-32F8-DFB6-342776171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962" cy="6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123" tIns="46966" rIns="90123" bIns="46966" anchor="ctr"/>
            <a:lstStyle>
              <a:lvl1pPr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3333FF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999" b="1" dirty="0">
                  <a:solidFill>
                    <a:srgbClr val="000000"/>
                  </a:solidFill>
                </a:rPr>
                <a:t>a</a:t>
              </a:r>
              <a:r>
                <a:rPr lang="zh-CN" altLang="en-US" sz="1999" b="1" baseline="-16000" dirty="0">
                  <a:solidFill>
                    <a:srgbClr val="000000"/>
                  </a:solidFill>
                </a:rPr>
                <a:t>i</a:t>
              </a:r>
              <a:r>
                <a:rPr lang="en-US" altLang="zh-CN" sz="1999" b="1" baseline="-16000" dirty="0">
                  <a:solidFill>
                    <a:srgbClr val="000000"/>
                  </a:solidFill>
                </a:rPr>
                <a:t>-1</a:t>
              </a:r>
            </a:p>
          </p:txBody>
        </p:sp>
        <p:sp>
          <p:nvSpPr>
            <p:cNvPr id="66" name="Rectangle 9">
              <a:extLst>
                <a:ext uri="{FF2B5EF4-FFF2-40B4-BE49-F238E27FC236}">
                  <a16:creationId xmlns:a16="http://schemas.microsoft.com/office/drawing/2014/main" id="{EC1EC6B3-0E44-66EA-D137-F37ACCB10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0"/>
              <a:ext cx="480" cy="68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 cap="flat" cmpd="sng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123" tIns="46966" rIns="90123" bIns="46966" anchor="ctr"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en-US" sz="1599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67" name="Group 10">
            <a:extLst>
              <a:ext uri="{FF2B5EF4-FFF2-40B4-BE49-F238E27FC236}">
                <a16:creationId xmlns:a16="http://schemas.microsoft.com/office/drawing/2014/main" id="{4A15577D-F54E-3E66-3080-88000BB720E3}"/>
              </a:ext>
            </a:extLst>
          </p:cNvPr>
          <p:cNvGrpSpPr>
            <a:grpSpLocks/>
          </p:cNvGrpSpPr>
          <p:nvPr/>
        </p:nvGrpSpPr>
        <p:grpSpPr bwMode="auto">
          <a:xfrm>
            <a:off x="7255354" y="5663493"/>
            <a:ext cx="913924" cy="431575"/>
            <a:chOff x="0" y="0"/>
            <a:chExt cx="576" cy="384"/>
          </a:xfrm>
        </p:grpSpPr>
        <p:sp>
          <p:nvSpPr>
            <p:cNvPr id="68" name="Rectangle 11">
              <a:extLst>
                <a:ext uri="{FF2B5EF4-FFF2-40B4-BE49-F238E27FC236}">
                  <a16:creationId xmlns:a16="http://schemas.microsoft.com/office/drawing/2014/main" id="{32B47EF4-BE9C-234E-F56B-F2D5BF3BD9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5" cy="38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123" tIns="46966" rIns="90123" bIns="46966" anchor="ctr"/>
            <a:lstStyle>
              <a:lvl1pPr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3333FF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999" b="1" dirty="0">
                  <a:solidFill>
                    <a:srgbClr val="000000"/>
                  </a:solidFill>
                </a:rPr>
                <a:t>a</a:t>
              </a:r>
              <a:r>
                <a:rPr lang="zh-CN" altLang="en-US" sz="1999" b="1" baseline="-25000" dirty="0">
                  <a:solidFill>
                    <a:srgbClr val="000000"/>
                  </a:solidFill>
                </a:rPr>
                <a:t>i</a:t>
              </a:r>
              <a:endParaRPr lang="zh-CN" altLang="en-US" sz="1799" dirty="0">
                <a:solidFill>
                  <a:srgbClr val="000000"/>
                </a:solidFill>
              </a:endParaRPr>
            </a:p>
          </p:txBody>
        </p:sp>
        <p:sp>
          <p:nvSpPr>
            <p:cNvPr id="69" name="Rectangle 12">
              <a:extLst>
                <a:ext uri="{FF2B5EF4-FFF2-40B4-BE49-F238E27FC236}">
                  <a16:creationId xmlns:a16="http://schemas.microsoft.com/office/drawing/2014/main" id="{B381CBD2-D201-7C61-B26B-7DE1A88B9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0"/>
              <a:ext cx="192" cy="38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 cap="flat" cmpd="sng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123" tIns="46966" rIns="90123" bIns="46966" anchor="ctr"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en-US" sz="1599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70" name="Rectangle 13">
            <a:extLst>
              <a:ext uri="{FF2B5EF4-FFF2-40B4-BE49-F238E27FC236}">
                <a16:creationId xmlns:a16="http://schemas.microsoft.com/office/drawing/2014/main" id="{5D107227-7083-BA12-A119-1468E1FD5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7172" y="5733307"/>
            <a:ext cx="837764" cy="304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0794" anchorCtr="1"/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999">
                <a:solidFill>
                  <a:srgbClr val="000000"/>
                </a:solidFill>
                <a:latin typeface="Times New Roman" panose="02020603050405020304" pitchFamily="18" charset="0"/>
              </a:rPr>
              <a:t>• • •</a:t>
            </a:r>
          </a:p>
        </p:txBody>
      </p:sp>
      <p:sp>
        <p:nvSpPr>
          <p:cNvPr id="71" name="Line 14">
            <a:extLst>
              <a:ext uri="{FF2B5EF4-FFF2-40B4-BE49-F238E27FC236}">
                <a16:creationId xmlns:a16="http://schemas.microsoft.com/office/drawing/2014/main" id="{0C0DE5F7-434B-0444-6D88-14A519FCCB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98392" y="5898321"/>
            <a:ext cx="4569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0794"/>
          <a:lstStyle/>
          <a:p>
            <a:endParaRPr lang="zh-CN" altLang="en-US" sz="1799"/>
          </a:p>
        </p:txBody>
      </p:sp>
      <p:sp>
        <p:nvSpPr>
          <p:cNvPr id="72" name="Line 15">
            <a:extLst>
              <a:ext uri="{FF2B5EF4-FFF2-40B4-BE49-F238E27FC236}">
                <a16:creationId xmlns:a16="http://schemas.microsoft.com/office/drawing/2014/main" id="{133E2C6C-EBEC-BEB6-5B6B-2B7F6300EB1C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0611" y="5898321"/>
            <a:ext cx="4569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0794"/>
          <a:lstStyle/>
          <a:p>
            <a:endParaRPr lang="zh-CN" altLang="en-US" sz="1799"/>
          </a:p>
        </p:txBody>
      </p:sp>
      <p:sp>
        <p:nvSpPr>
          <p:cNvPr id="73" name="Line 16">
            <a:extLst>
              <a:ext uri="{FF2B5EF4-FFF2-40B4-BE49-F238E27FC236}">
                <a16:creationId xmlns:a16="http://schemas.microsoft.com/office/drawing/2014/main" id="{DF944337-E8FD-6294-423F-CEE2AE8A61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4292" y="5898321"/>
            <a:ext cx="24201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0794"/>
          <a:lstStyle/>
          <a:p>
            <a:endParaRPr lang="zh-CN" altLang="en-US" sz="1799"/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904EB85D-989C-757D-3C1E-281638E43F3C}"/>
              </a:ext>
            </a:extLst>
          </p:cNvPr>
          <p:cNvGrpSpPr/>
          <p:nvPr/>
        </p:nvGrpSpPr>
        <p:grpSpPr>
          <a:xfrm>
            <a:off x="7261701" y="5009784"/>
            <a:ext cx="913924" cy="428402"/>
            <a:chOff x="4605015" y="2703984"/>
            <a:chExt cx="914400" cy="428625"/>
          </a:xfrm>
        </p:grpSpPr>
        <p:sp>
          <p:nvSpPr>
            <p:cNvPr id="75" name="Rectangle 17">
              <a:extLst>
                <a:ext uri="{FF2B5EF4-FFF2-40B4-BE49-F238E27FC236}">
                  <a16:creationId xmlns:a16="http://schemas.microsoft.com/office/drawing/2014/main" id="{9C486436-F0AC-3D9A-EF48-A4D5BAE76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5015" y="2703984"/>
              <a:ext cx="609600" cy="42862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123" tIns="46966" rIns="90123" bIns="46966" anchor="ctr"/>
            <a:lstStyle>
              <a:lvl1pPr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3333FF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999" b="1" baseline="-16000">
                <a:solidFill>
                  <a:srgbClr val="000000"/>
                </a:solidFill>
              </a:endParaRPr>
            </a:p>
          </p:txBody>
        </p:sp>
        <p:sp>
          <p:nvSpPr>
            <p:cNvPr id="76" name="Rectangle 18">
              <a:extLst>
                <a:ext uri="{FF2B5EF4-FFF2-40B4-BE49-F238E27FC236}">
                  <a16:creationId xmlns:a16="http://schemas.microsoft.com/office/drawing/2014/main" id="{BD378019-4204-287B-4CD5-DBFD45AD1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4615" y="2703984"/>
              <a:ext cx="304800" cy="428625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 cap="flat" cmpd="sng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123" tIns="46966" rIns="90123" bIns="46966" anchor="ctr"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en-US" sz="1599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77" name="Text Box 19">
            <a:extLst>
              <a:ext uri="{FF2B5EF4-FFF2-40B4-BE49-F238E27FC236}">
                <a16:creationId xmlns:a16="http://schemas.microsoft.com/office/drawing/2014/main" id="{6601FF16-2971-6F49-0992-DF0DE999C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7960" y="3229786"/>
            <a:ext cx="33855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</p:txBody>
      </p:sp>
      <p:grpSp>
        <p:nvGrpSpPr>
          <p:cNvPr id="78" name="Group 23">
            <a:extLst>
              <a:ext uri="{FF2B5EF4-FFF2-40B4-BE49-F238E27FC236}">
                <a16:creationId xmlns:a16="http://schemas.microsoft.com/office/drawing/2014/main" id="{B4A15E77-457C-F693-20BE-687E2E32CBBB}"/>
              </a:ext>
            </a:extLst>
          </p:cNvPr>
          <p:cNvGrpSpPr>
            <a:grpSpLocks/>
          </p:cNvGrpSpPr>
          <p:nvPr/>
        </p:nvGrpSpPr>
        <p:grpSpPr bwMode="auto">
          <a:xfrm>
            <a:off x="7288959" y="4323073"/>
            <a:ext cx="365569" cy="687346"/>
            <a:chOff x="28" y="168"/>
            <a:chExt cx="577" cy="1083"/>
          </a:xfrm>
        </p:grpSpPr>
        <p:sp>
          <p:nvSpPr>
            <p:cNvPr id="79" name="Text Box 24">
              <a:extLst>
                <a:ext uri="{FF2B5EF4-FFF2-40B4-BE49-F238E27FC236}">
                  <a16:creationId xmlns:a16="http://schemas.microsoft.com/office/drawing/2014/main" id="{99FC6FED-073A-37FE-20A0-0FC9EB9811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" y="168"/>
              <a:ext cx="577" cy="7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3333FF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rgbClr val="C00000"/>
                  </a:solidFill>
                  <a:latin typeface="Courier New" panose="02070309020205020404" pitchFamily="49" charset="0"/>
                  <a:ea typeface="楷体_GB2312" pitchFamily="49" charset="-122"/>
                  <a:cs typeface="Courier New" panose="02070309020205020404" pitchFamily="49" charset="0"/>
                </a:rPr>
                <a:t>s</a:t>
              </a:r>
              <a:endParaRPr lang="zh-CN" alt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0" name="Line 25">
              <a:extLst>
                <a:ext uri="{FF2B5EF4-FFF2-40B4-BE49-F238E27FC236}">
                  <a16:creationId xmlns:a16="http://schemas.microsoft.com/office/drawing/2014/main" id="{C6612074-F7A0-E7D7-150C-6550811C8F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9" y="621"/>
              <a:ext cx="0" cy="63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799"/>
            </a:p>
          </p:txBody>
        </p:sp>
      </p:grpSp>
      <p:sp>
        <p:nvSpPr>
          <p:cNvPr id="81" name="Line 26">
            <a:extLst>
              <a:ext uri="{FF2B5EF4-FFF2-40B4-BE49-F238E27FC236}">
                <a16:creationId xmlns:a16="http://schemas.microsoft.com/office/drawing/2014/main" id="{2FAACDFA-69F2-2994-4C80-D80C2E857183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0611" y="5250959"/>
            <a:ext cx="0" cy="41014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 type="oval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799"/>
          </a:p>
        </p:txBody>
      </p:sp>
      <p:sp>
        <p:nvSpPr>
          <p:cNvPr id="82" name="Line 27">
            <a:extLst>
              <a:ext uri="{FF2B5EF4-FFF2-40B4-BE49-F238E27FC236}">
                <a16:creationId xmlns:a16="http://schemas.microsoft.com/office/drawing/2014/main" id="{5738F380-2593-1650-1E05-DBCA512274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66659" y="5250958"/>
            <a:ext cx="495042" cy="647363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 type="oval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799"/>
          </a:p>
        </p:txBody>
      </p:sp>
      <p:sp>
        <p:nvSpPr>
          <p:cNvPr id="83" name="Rectangle 30">
            <a:extLst>
              <a:ext uri="{FF2B5EF4-FFF2-40B4-BE49-F238E27FC236}">
                <a16:creationId xmlns:a16="http://schemas.microsoft.com/office/drawing/2014/main" id="{0FB2A286-9400-06F7-93CD-6F342018A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4587" y="5716847"/>
            <a:ext cx="851804" cy="309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0794" anchorCtr="1"/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999" dirty="0">
                <a:solidFill>
                  <a:srgbClr val="000000"/>
                </a:solidFill>
                <a:latin typeface="Times New Roman" panose="02020603050405020304" pitchFamily="18" charset="0"/>
              </a:rPr>
              <a:t>• • •</a:t>
            </a:r>
          </a:p>
        </p:txBody>
      </p:sp>
      <p:grpSp>
        <p:nvGrpSpPr>
          <p:cNvPr id="84" name="Group 7">
            <a:extLst>
              <a:ext uri="{FF2B5EF4-FFF2-40B4-BE49-F238E27FC236}">
                <a16:creationId xmlns:a16="http://schemas.microsoft.com/office/drawing/2014/main" id="{A1FF3D65-5BE2-8B74-1A63-AB40D3DCC2DF}"/>
              </a:ext>
            </a:extLst>
          </p:cNvPr>
          <p:cNvGrpSpPr>
            <a:grpSpLocks/>
          </p:cNvGrpSpPr>
          <p:nvPr/>
        </p:nvGrpSpPr>
        <p:grpSpPr bwMode="auto">
          <a:xfrm>
            <a:off x="4292911" y="5663246"/>
            <a:ext cx="913924" cy="431575"/>
            <a:chOff x="0" y="0"/>
            <a:chExt cx="1440" cy="680"/>
          </a:xfrm>
        </p:grpSpPr>
        <p:sp>
          <p:nvSpPr>
            <p:cNvPr id="85" name="Rectangle 8">
              <a:extLst>
                <a:ext uri="{FF2B5EF4-FFF2-40B4-BE49-F238E27FC236}">
                  <a16:creationId xmlns:a16="http://schemas.microsoft.com/office/drawing/2014/main" id="{7C6F071F-7F42-3AAE-3E68-8B81C54A0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962" cy="6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123" tIns="46966" rIns="90123" bIns="46966" anchor="ctr"/>
            <a:lstStyle>
              <a:lvl1pPr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3333FF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999" b="1" dirty="0">
                  <a:solidFill>
                    <a:srgbClr val="000000"/>
                  </a:solidFill>
                </a:rPr>
                <a:t>a</a:t>
              </a:r>
              <a:r>
                <a:rPr lang="zh-CN" altLang="en-US" sz="1999" b="1" baseline="-16000" dirty="0">
                  <a:solidFill>
                    <a:srgbClr val="000000"/>
                  </a:solidFill>
                </a:rPr>
                <a:t>1</a:t>
              </a:r>
              <a:endParaRPr lang="en-US" altLang="zh-CN" sz="1999" b="1" baseline="-16000" dirty="0">
                <a:solidFill>
                  <a:srgbClr val="000000"/>
                </a:solidFill>
              </a:endParaRPr>
            </a:p>
          </p:txBody>
        </p:sp>
        <p:sp>
          <p:nvSpPr>
            <p:cNvPr id="86" name="Rectangle 9">
              <a:extLst>
                <a:ext uri="{FF2B5EF4-FFF2-40B4-BE49-F238E27FC236}">
                  <a16:creationId xmlns:a16="http://schemas.microsoft.com/office/drawing/2014/main" id="{01F3B00F-4B1A-3E7D-EE9D-89B7E3AFD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0"/>
              <a:ext cx="480" cy="68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 cap="flat" cmpd="sng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123" tIns="46966" rIns="90123" bIns="46966" anchor="ctr"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en-US" sz="1599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87" name="Rectangle 8">
            <a:extLst>
              <a:ext uri="{FF2B5EF4-FFF2-40B4-BE49-F238E27FC236}">
                <a16:creationId xmlns:a16="http://schemas.microsoft.com/office/drawing/2014/main" id="{562CD3FB-AD33-86C7-1E85-6FEE536E2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1105" y="5663246"/>
            <a:ext cx="610552" cy="4315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123" tIns="46966" rIns="90123" bIns="46966" anchor="ctr"/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en-US" altLang="zh-CN" sz="1999" b="1" baseline="-16000" dirty="0">
              <a:solidFill>
                <a:srgbClr val="0070C0"/>
              </a:solidFill>
            </a:endParaRPr>
          </a:p>
        </p:txBody>
      </p:sp>
      <p:sp>
        <p:nvSpPr>
          <p:cNvPr id="88" name="Rectangle 9">
            <a:extLst>
              <a:ext uri="{FF2B5EF4-FFF2-40B4-BE49-F238E27FC236}">
                <a16:creationId xmlns:a16="http://schemas.microsoft.com/office/drawing/2014/main" id="{8FB4F432-68F3-C7BE-8079-4CFF3050A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388" y="5663246"/>
            <a:ext cx="304641" cy="431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 cap="flat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123" tIns="46966" rIns="90123" bIns="46966"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en-US" sz="1599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5CBC24D0-3B51-FB04-D89E-2A1940E9F1B3}"/>
              </a:ext>
            </a:extLst>
          </p:cNvPr>
          <p:cNvGrpSpPr/>
          <p:nvPr/>
        </p:nvGrpSpPr>
        <p:grpSpPr>
          <a:xfrm>
            <a:off x="2733088" y="5567162"/>
            <a:ext cx="357473" cy="341323"/>
            <a:chOff x="50503" y="3069754"/>
            <a:chExt cx="453207" cy="533400"/>
          </a:xfrm>
        </p:grpSpPr>
        <p:sp>
          <p:nvSpPr>
            <p:cNvPr id="90" name="Line 31">
              <a:extLst>
                <a:ext uri="{FF2B5EF4-FFF2-40B4-BE49-F238E27FC236}">
                  <a16:creationId xmlns:a16="http://schemas.microsoft.com/office/drawing/2014/main" id="{BA98BB64-EB07-FE6F-9240-5C75CE455B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503" y="3584476"/>
              <a:ext cx="453207" cy="18678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91" name="Line 32">
              <a:extLst>
                <a:ext uri="{FF2B5EF4-FFF2-40B4-BE49-F238E27FC236}">
                  <a16:creationId xmlns:a16="http://schemas.microsoft.com/office/drawing/2014/main" id="{67B99D70-BE59-E40C-9682-70FE703AB7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03" y="3069754"/>
              <a:ext cx="0" cy="53340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799"/>
            </a:p>
          </p:txBody>
        </p:sp>
      </p:grpSp>
      <p:sp>
        <p:nvSpPr>
          <p:cNvPr id="92" name="Text Box 34">
            <a:extLst>
              <a:ext uri="{FF2B5EF4-FFF2-40B4-BE49-F238E27FC236}">
                <a16:creationId xmlns:a16="http://schemas.microsoft.com/office/drawing/2014/main" id="{186D12DB-D523-6724-F47B-34B8B054B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0561" y="6091293"/>
            <a:ext cx="953610" cy="399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999" dirty="0">
                <a:solidFill>
                  <a:srgbClr val="0070C0"/>
                </a:solidFill>
                <a:ea typeface="隶书" panose="02010509060101010101" pitchFamily="49" charset="-122"/>
              </a:rPr>
              <a:t>头结点</a:t>
            </a:r>
            <a:endParaRPr lang="zh-CN" altLang="en-US" sz="1999" dirty="0">
              <a:solidFill>
                <a:srgbClr val="0070C0"/>
              </a:solidFill>
            </a:endParaRPr>
          </a:p>
        </p:txBody>
      </p:sp>
      <p:sp>
        <p:nvSpPr>
          <p:cNvPr id="93" name="Line 14">
            <a:extLst>
              <a:ext uri="{FF2B5EF4-FFF2-40B4-BE49-F238E27FC236}">
                <a16:creationId xmlns:a16="http://schemas.microsoft.com/office/drawing/2014/main" id="{54CE8B64-982C-997D-4516-054F8CFDDE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2708" y="5877269"/>
            <a:ext cx="4569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0794"/>
          <a:lstStyle/>
          <a:p>
            <a:endParaRPr lang="zh-CN" altLang="en-US" sz="1799"/>
          </a:p>
        </p:txBody>
      </p:sp>
      <p:sp>
        <p:nvSpPr>
          <p:cNvPr id="94" name="Line 14">
            <a:extLst>
              <a:ext uri="{FF2B5EF4-FFF2-40B4-BE49-F238E27FC236}">
                <a16:creationId xmlns:a16="http://schemas.microsoft.com/office/drawing/2014/main" id="{BAE31B3C-644A-5DE2-CB09-9EA4965338B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2616" y="5879157"/>
            <a:ext cx="28788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0794"/>
          <a:lstStyle/>
          <a:p>
            <a:endParaRPr lang="zh-CN" altLang="en-US" sz="1799"/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F52A8496-F4CC-038F-D448-C9FB31CBE18D}"/>
              </a:ext>
            </a:extLst>
          </p:cNvPr>
          <p:cNvGrpSpPr/>
          <p:nvPr/>
        </p:nvGrpSpPr>
        <p:grpSpPr>
          <a:xfrm>
            <a:off x="3306534" y="5009783"/>
            <a:ext cx="365569" cy="651315"/>
            <a:chOff x="737682" y="2533085"/>
            <a:chExt cx="365759" cy="809707"/>
          </a:xfrm>
        </p:grpSpPr>
        <p:sp>
          <p:nvSpPr>
            <p:cNvPr id="96" name="Text Box 21">
              <a:extLst>
                <a:ext uri="{FF2B5EF4-FFF2-40B4-BE49-F238E27FC236}">
                  <a16:creationId xmlns:a16="http://schemas.microsoft.com/office/drawing/2014/main" id="{498D08CF-42FE-F872-181E-395F1CF82D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682" y="2533085"/>
              <a:ext cx="365759" cy="573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3333FF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b="1" dirty="0">
                  <a:solidFill>
                    <a:srgbClr val="C00000"/>
                  </a:solidFill>
                  <a:latin typeface="Courier New" panose="02070309020205020404" pitchFamily="49" charset="0"/>
                  <a:ea typeface="楷体_GB2312" pitchFamily="49" charset="-122"/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97" name="Line 48">
              <a:extLst>
                <a:ext uri="{FF2B5EF4-FFF2-40B4-BE49-F238E27FC236}">
                  <a16:creationId xmlns:a16="http://schemas.microsoft.com/office/drawing/2014/main" id="{07551D28-85F9-D5A5-3015-BAC9EF9CCC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8029" y="2832923"/>
              <a:ext cx="3818" cy="509869"/>
            </a:xfrm>
            <a:prstGeom prst="line">
              <a:avLst/>
            </a:prstGeom>
            <a:noFill/>
            <a:ln w="25400">
              <a:solidFill>
                <a:srgbClr val="3333CC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 sz="1799"/>
            </a:p>
          </p:txBody>
        </p:sp>
      </p:grpSp>
      <p:sp>
        <p:nvSpPr>
          <p:cNvPr id="98" name="文本框 81922">
            <a:extLst>
              <a:ext uri="{FF2B5EF4-FFF2-40B4-BE49-F238E27FC236}">
                <a16:creationId xmlns:a16="http://schemas.microsoft.com/office/drawing/2014/main" id="{A20BE1DC-63AE-45D0-22C6-7C0412C61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7277" y="5149838"/>
            <a:ext cx="472641" cy="455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lnSpc>
                <a:spcPct val="10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399" b="1" dirty="0">
                <a:solidFill>
                  <a:srgbClr val="002060"/>
                </a:solidFill>
                <a:ea typeface="楷体_GB2312" pitchFamily="49" charset="-122"/>
              </a:rPr>
              <a:t>L</a:t>
            </a:r>
            <a:endParaRPr lang="zh-CN" altLang="en-US" sz="2399" b="1" dirty="0">
              <a:solidFill>
                <a:srgbClr val="002060"/>
              </a:solidFill>
            </a:endParaRPr>
          </a:p>
        </p:txBody>
      </p:sp>
      <p:sp>
        <p:nvSpPr>
          <p:cNvPr id="99" name="文本框 56">
            <a:extLst>
              <a:ext uri="{FF2B5EF4-FFF2-40B4-BE49-F238E27FC236}">
                <a16:creationId xmlns:a16="http://schemas.microsoft.com/office/drawing/2014/main" id="{5F59665F-BD19-30B0-5EEC-EFE289A4A6D0}"/>
              </a:ext>
            </a:extLst>
          </p:cNvPr>
          <p:cNvSpPr txBox="1"/>
          <p:nvPr/>
        </p:nvSpPr>
        <p:spPr>
          <a:xfrm>
            <a:off x="887578" y="1253842"/>
            <a:ext cx="91032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(!</a:t>
            </a:r>
            <a:r>
              <a:rPr lang="nn-NO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 || i&lt;1) </a:t>
            </a:r>
            <a:r>
              <a:rPr lang="nn-NO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nn-NO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ERROR;  </a:t>
            </a:r>
            <a:r>
              <a:rPr lang="nn-NO" altLang="zh-CN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nn-NO" altLang="zh-CN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若</a:t>
            </a: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不存在或</a:t>
            </a:r>
            <a:r>
              <a:rPr lang="en-US" altLang="zh-CN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不合法，则报错</a:t>
            </a:r>
            <a:endParaRPr lang="nn-NO" altLang="zh-CN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821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7.40741E-7 L 0.0763 0.0037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15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63 0.0037 L 0.22174 0.00231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66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6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48148E-6 L 0.41211 0.26343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599" y="131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5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2" dur="7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  <p:bldP spid="59" grpId="0"/>
      <p:bldP spid="60" grpId="0"/>
      <p:bldP spid="61" grpId="0"/>
      <p:bldP spid="63" grpId="0"/>
      <p:bldP spid="71" grpId="0" animBg="1"/>
      <p:bldP spid="71" grpId="1" animBg="1"/>
      <p:bldP spid="75" grpId="0" bldLvl="0" autoUpdateAnimBg="0"/>
      <p:bldP spid="75" grpId="1" bldLvl="0" autoUpdateAnimBg="0"/>
      <p:bldP spid="76" grpId="0" bldLvl="0" autoUpdateAnimBg="0"/>
      <p:bldP spid="76" grpId="1" bldLvl="0" autoUpdateAnimBg="0"/>
      <p:bldP spid="77" grpId="0"/>
      <p:bldP spid="77" grpId="1"/>
      <p:bldP spid="9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78A8AD0-CB32-1029-53DD-6F8746292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18</a:t>
            </a:fld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485D30A-523A-65DB-24A1-750C79607164}"/>
              </a:ext>
            </a:extLst>
          </p:cNvPr>
          <p:cNvGrpSpPr/>
          <p:nvPr/>
        </p:nvGrpSpPr>
        <p:grpSpPr>
          <a:xfrm>
            <a:off x="6090980" y="1434552"/>
            <a:ext cx="825667" cy="461665"/>
            <a:chOff x="4665796" y="1541542"/>
            <a:chExt cx="825667" cy="461665"/>
          </a:xfrm>
        </p:grpSpPr>
        <p:sp>
          <p:nvSpPr>
            <p:cNvPr id="4" name="Text Box 78">
              <a:extLst>
                <a:ext uri="{FF2B5EF4-FFF2-40B4-BE49-F238E27FC236}">
                  <a16:creationId xmlns:a16="http://schemas.microsoft.com/office/drawing/2014/main" id="{B1945219-7A40-82B5-C43D-4FCCB74608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5796" y="1541542"/>
              <a:ext cx="35393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F14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</a:t>
              </a:r>
            </a:p>
          </p:txBody>
        </p: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2BA5C397-FB42-89E7-56C8-DF014FF90A13}"/>
                </a:ext>
              </a:extLst>
            </p:cNvPr>
            <p:cNvCxnSpPr>
              <a:cxnSpLocks/>
            </p:cNvCxnSpPr>
            <p:nvPr/>
          </p:nvCxnSpPr>
          <p:spPr>
            <a:xfrm>
              <a:off x="5012205" y="1788280"/>
              <a:ext cx="479258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oval" w="med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BA019B-5D3D-330D-017B-30CDF128D86B}"/>
              </a:ext>
            </a:extLst>
          </p:cNvPr>
          <p:cNvGrpSpPr/>
          <p:nvPr/>
        </p:nvGrpSpPr>
        <p:grpSpPr>
          <a:xfrm>
            <a:off x="7791231" y="1484376"/>
            <a:ext cx="563509" cy="369461"/>
            <a:chOff x="7383417" y="1497582"/>
            <a:chExt cx="563509" cy="369461"/>
          </a:xfrm>
        </p:grpSpPr>
        <p:sp>
          <p:nvSpPr>
            <p:cNvPr id="7" name="Rectangle 74">
              <a:extLst>
                <a:ext uri="{FF2B5EF4-FFF2-40B4-BE49-F238E27FC236}">
                  <a16:creationId xmlns:a16="http://schemas.microsoft.com/office/drawing/2014/main" id="{B7D2E9BD-2F91-19A1-3ACC-74E7EFBA9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3417" y="1497582"/>
              <a:ext cx="563509" cy="36946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rgbClr val="00808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bIns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80000"/>
                </a:lnSpc>
              </a:pPr>
              <a:endParaRPr lang="en-US" altLang="zh-CN" sz="2400" b="1" dirty="0">
                <a:solidFill>
                  <a:srgbClr val="0F14F1"/>
                </a:solidFill>
              </a:endParaRPr>
            </a:p>
          </p:txBody>
        </p:sp>
        <p:sp>
          <p:nvSpPr>
            <p:cNvPr id="8" name="Line 75">
              <a:extLst>
                <a:ext uri="{FF2B5EF4-FFF2-40B4-BE49-F238E27FC236}">
                  <a16:creationId xmlns:a16="http://schemas.microsoft.com/office/drawing/2014/main" id="{CB8EEDDA-8826-EDA2-2B76-4D9CF23DDC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1522" y="1497582"/>
              <a:ext cx="0" cy="369461"/>
            </a:xfrm>
            <a:prstGeom prst="line">
              <a:avLst/>
            </a:prstGeom>
            <a:noFill/>
            <a:ln w="25400">
              <a:solidFill>
                <a:srgbClr val="00808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400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125E5BB-6834-D654-45B6-4AA2340078C1}"/>
              </a:ext>
            </a:extLst>
          </p:cNvPr>
          <p:cNvGrpSpPr/>
          <p:nvPr/>
        </p:nvGrpSpPr>
        <p:grpSpPr>
          <a:xfrm flipH="1">
            <a:off x="6929318" y="804604"/>
            <a:ext cx="276367" cy="686543"/>
            <a:chOff x="6794267" y="1107614"/>
            <a:chExt cx="380999" cy="688861"/>
          </a:xfrm>
        </p:grpSpPr>
        <p:sp>
          <p:nvSpPr>
            <p:cNvPr id="10" name="Text Box 78">
              <a:extLst>
                <a:ext uri="{FF2B5EF4-FFF2-40B4-BE49-F238E27FC236}">
                  <a16:creationId xmlns:a16="http://schemas.microsoft.com/office/drawing/2014/main" id="{6F915CA4-4C06-A012-C7C3-59E68966B2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4267" y="1107614"/>
              <a:ext cx="380999" cy="3048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1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F14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</a:t>
              </a: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3132DC59-9BE5-1FC5-0552-AA9AE723DBFA}"/>
                </a:ext>
              </a:extLst>
            </p:cNvPr>
            <p:cNvCxnSpPr>
              <a:cxnSpLocks/>
            </p:cNvCxnSpPr>
            <p:nvPr/>
          </p:nvCxnSpPr>
          <p:spPr>
            <a:xfrm>
              <a:off x="6888088" y="1412776"/>
              <a:ext cx="0" cy="383699"/>
            </a:xfrm>
            <a:prstGeom prst="straightConnector1">
              <a:avLst/>
            </a:prstGeom>
            <a:ln w="38100">
              <a:solidFill>
                <a:srgbClr val="0F14F1"/>
              </a:solidFill>
              <a:headEnd type="oval" w="med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7292D12-0515-9EB4-CF6C-D4E5015A9B01}"/>
              </a:ext>
            </a:extLst>
          </p:cNvPr>
          <p:cNvGrpSpPr/>
          <p:nvPr/>
        </p:nvGrpSpPr>
        <p:grpSpPr>
          <a:xfrm>
            <a:off x="6918154" y="1491147"/>
            <a:ext cx="563509" cy="369461"/>
            <a:chOff x="7383417" y="1497582"/>
            <a:chExt cx="563509" cy="369461"/>
          </a:xfrm>
        </p:grpSpPr>
        <p:sp>
          <p:nvSpPr>
            <p:cNvPr id="13" name="Rectangle 74">
              <a:extLst>
                <a:ext uri="{FF2B5EF4-FFF2-40B4-BE49-F238E27FC236}">
                  <a16:creationId xmlns:a16="http://schemas.microsoft.com/office/drawing/2014/main" id="{DEAAAF82-283C-ED36-5C2B-97426FE30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3417" y="1497582"/>
              <a:ext cx="563509" cy="36946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rgbClr val="00808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bIns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80000"/>
                </a:lnSpc>
              </a:pPr>
              <a:endParaRPr lang="en-US" altLang="zh-CN" sz="2400" b="1" dirty="0">
                <a:solidFill>
                  <a:srgbClr val="0F14F1"/>
                </a:solidFill>
              </a:endParaRPr>
            </a:p>
          </p:txBody>
        </p:sp>
        <p:sp>
          <p:nvSpPr>
            <p:cNvPr id="14" name="Line 75">
              <a:extLst>
                <a:ext uri="{FF2B5EF4-FFF2-40B4-BE49-F238E27FC236}">
                  <a16:creationId xmlns:a16="http://schemas.microsoft.com/office/drawing/2014/main" id="{07838CC7-D7BD-10C8-C81A-B61CD2F03F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1522" y="1497582"/>
              <a:ext cx="0" cy="369461"/>
            </a:xfrm>
            <a:prstGeom prst="line">
              <a:avLst/>
            </a:prstGeom>
            <a:noFill/>
            <a:ln w="25400">
              <a:solidFill>
                <a:srgbClr val="00808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40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8D1D75A-1C7A-12E1-D234-478407FB2227}"/>
              </a:ext>
            </a:extLst>
          </p:cNvPr>
          <p:cNvGrpSpPr/>
          <p:nvPr/>
        </p:nvGrpSpPr>
        <p:grpSpPr>
          <a:xfrm>
            <a:off x="8679635" y="1491147"/>
            <a:ext cx="563509" cy="369461"/>
            <a:chOff x="7383417" y="1497582"/>
            <a:chExt cx="563509" cy="369461"/>
          </a:xfrm>
        </p:grpSpPr>
        <p:sp>
          <p:nvSpPr>
            <p:cNvPr id="16" name="Rectangle 74">
              <a:extLst>
                <a:ext uri="{FF2B5EF4-FFF2-40B4-BE49-F238E27FC236}">
                  <a16:creationId xmlns:a16="http://schemas.microsoft.com/office/drawing/2014/main" id="{DDA20AEA-483D-5E67-763C-A994A4C4C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3417" y="1497582"/>
              <a:ext cx="563509" cy="36946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rgbClr val="00808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bIns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80000"/>
                </a:lnSpc>
              </a:pPr>
              <a:endParaRPr lang="en-US" altLang="zh-CN" sz="2400" b="1" dirty="0">
                <a:solidFill>
                  <a:srgbClr val="0F14F1"/>
                </a:solidFill>
              </a:endParaRPr>
            </a:p>
          </p:txBody>
        </p:sp>
        <p:sp>
          <p:nvSpPr>
            <p:cNvPr id="17" name="Line 75">
              <a:extLst>
                <a:ext uri="{FF2B5EF4-FFF2-40B4-BE49-F238E27FC236}">
                  <a16:creationId xmlns:a16="http://schemas.microsoft.com/office/drawing/2014/main" id="{D13176EC-3870-645E-07E9-3468EEA223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1522" y="1497582"/>
              <a:ext cx="0" cy="369461"/>
            </a:xfrm>
            <a:prstGeom prst="line">
              <a:avLst/>
            </a:prstGeom>
            <a:noFill/>
            <a:ln w="25400">
              <a:solidFill>
                <a:srgbClr val="00808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40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F4F2FFE-F969-2D11-9ECC-3C4868444348}"/>
              </a:ext>
            </a:extLst>
          </p:cNvPr>
          <p:cNvGrpSpPr/>
          <p:nvPr/>
        </p:nvGrpSpPr>
        <p:grpSpPr>
          <a:xfrm>
            <a:off x="9546013" y="1483151"/>
            <a:ext cx="563509" cy="369461"/>
            <a:chOff x="7383417" y="1497582"/>
            <a:chExt cx="563509" cy="369461"/>
          </a:xfrm>
        </p:grpSpPr>
        <p:sp>
          <p:nvSpPr>
            <p:cNvPr id="19" name="Rectangle 74">
              <a:extLst>
                <a:ext uri="{FF2B5EF4-FFF2-40B4-BE49-F238E27FC236}">
                  <a16:creationId xmlns:a16="http://schemas.microsoft.com/office/drawing/2014/main" id="{A09B1D21-157F-5B96-D2AB-30DAC65FC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3417" y="1497582"/>
              <a:ext cx="563509" cy="36946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rgbClr val="00808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bIns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80000"/>
                </a:lnSpc>
              </a:pPr>
              <a:endParaRPr lang="en-US" altLang="zh-CN" sz="2400" b="1" dirty="0">
                <a:solidFill>
                  <a:srgbClr val="0F14F1"/>
                </a:solidFill>
              </a:endParaRPr>
            </a:p>
          </p:txBody>
        </p:sp>
        <p:sp>
          <p:nvSpPr>
            <p:cNvPr id="20" name="Line 75">
              <a:extLst>
                <a:ext uri="{FF2B5EF4-FFF2-40B4-BE49-F238E27FC236}">
                  <a16:creationId xmlns:a16="http://schemas.microsoft.com/office/drawing/2014/main" id="{9FD64C1F-4E1E-ADAC-59F4-8437FC039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1522" y="1497582"/>
              <a:ext cx="0" cy="369461"/>
            </a:xfrm>
            <a:prstGeom prst="line">
              <a:avLst/>
            </a:prstGeom>
            <a:noFill/>
            <a:ln w="25400">
              <a:solidFill>
                <a:srgbClr val="00808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1678846-DD78-5D49-C3E4-E2579604F85A}"/>
              </a:ext>
            </a:extLst>
          </p:cNvPr>
          <p:cNvGrpSpPr/>
          <p:nvPr/>
        </p:nvGrpSpPr>
        <p:grpSpPr>
          <a:xfrm>
            <a:off x="10411658" y="1480655"/>
            <a:ext cx="563509" cy="369461"/>
            <a:chOff x="7383417" y="1497582"/>
            <a:chExt cx="563509" cy="369461"/>
          </a:xfrm>
        </p:grpSpPr>
        <p:sp>
          <p:nvSpPr>
            <p:cNvPr id="22" name="Rectangle 74">
              <a:extLst>
                <a:ext uri="{FF2B5EF4-FFF2-40B4-BE49-F238E27FC236}">
                  <a16:creationId xmlns:a16="http://schemas.microsoft.com/office/drawing/2014/main" id="{F1633D78-A867-BE9D-CE28-1F97B4C12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3417" y="1497582"/>
              <a:ext cx="563509" cy="36946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rgbClr val="00808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bIns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80000"/>
                </a:lnSpc>
              </a:pPr>
              <a:endParaRPr lang="en-US" altLang="zh-CN" sz="2400" b="1" dirty="0">
                <a:solidFill>
                  <a:srgbClr val="0F14F1"/>
                </a:solidFill>
              </a:endParaRPr>
            </a:p>
          </p:txBody>
        </p:sp>
        <p:sp>
          <p:nvSpPr>
            <p:cNvPr id="23" name="Line 75">
              <a:extLst>
                <a:ext uri="{FF2B5EF4-FFF2-40B4-BE49-F238E27FC236}">
                  <a16:creationId xmlns:a16="http://schemas.microsoft.com/office/drawing/2014/main" id="{DF7192EC-2694-758E-D003-C0BE7177D2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1522" y="1497582"/>
              <a:ext cx="0" cy="369461"/>
            </a:xfrm>
            <a:prstGeom prst="line">
              <a:avLst/>
            </a:prstGeom>
            <a:noFill/>
            <a:ln w="25400">
              <a:solidFill>
                <a:srgbClr val="00808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400"/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3C3BEAA1-05DC-B16C-D276-8602AA52DE17}"/>
              </a:ext>
            </a:extLst>
          </p:cNvPr>
          <p:cNvSpPr txBox="1"/>
          <p:nvPr/>
        </p:nvSpPr>
        <p:spPr>
          <a:xfrm>
            <a:off x="6260518" y="342547"/>
            <a:ext cx="31642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*s=“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abcd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”;</a:t>
            </a:r>
            <a:endParaRPr lang="zh-CN" alt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E3F9A2F-3E16-0290-8953-53ACF798837D}"/>
              </a:ext>
            </a:extLst>
          </p:cNvPr>
          <p:cNvSpPr txBox="1"/>
          <p:nvPr/>
        </p:nvSpPr>
        <p:spPr>
          <a:xfrm>
            <a:off x="6505647" y="1996828"/>
            <a:ext cx="993046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/>
              <a:t>初始建头结点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2414FEF-F1C1-299E-E79E-23EE2FD3BBF1}"/>
              </a:ext>
            </a:extLst>
          </p:cNvPr>
          <p:cNvSpPr txBox="1"/>
          <p:nvPr/>
        </p:nvSpPr>
        <p:spPr>
          <a:xfrm>
            <a:off x="7791231" y="2002165"/>
            <a:ext cx="3267052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/>
              <a:t>依次在表尾插入各元素结点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44AE98C8-1055-2377-B08D-9FE404B7E353}"/>
              </a:ext>
            </a:extLst>
          </p:cNvPr>
          <p:cNvCxnSpPr>
            <a:cxnSpLocks/>
          </p:cNvCxnSpPr>
          <p:nvPr/>
        </p:nvCxnSpPr>
        <p:spPr>
          <a:xfrm flipV="1">
            <a:off x="7386175" y="1681126"/>
            <a:ext cx="416380" cy="6770"/>
          </a:xfrm>
          <a:prstGeom prst="straightConnector1">
            <a:avLst/>
          </a:prstGeom>
          <a:ln w="38100">
            <a:solidFill>
              <a:srgbClr val="C00000"/>
            </a:solidFill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3CE9C641-4C28-FFAF-E176-5CA44BDDB5A8}"/>
              </a:ext>
            </a:extLst>
          </p:cNvPr>
          <p:cNvCxnSpPr>
            <a:cxnSpLocks/>
          </p:cNvCxnSpPr>
          <p:nvPr/>
        </p:nvCxnSpPr>
        <p:spPr>
          <a:xfrm flipV="1">
            <a:off x="8259252" y="1684511"/>
            <a:ext cx="416380" cy="6770"/>
          </a:xfrm>
          <a:prstGeom prst="straightConnector1">
            <a:avLst/>
          </a:prstGeom>
          <a:ln w="38100">
            <a:solidFill>
              <a:srgbClr val="C00000"/>
            </a:solidFill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9F73431A-14DD-F9C0-6A1D-B131F2F069F6}"/>
              </a:ext>
            </a:extLst>
          </p:cNvPr>
          <p:cNvCxnSpPr>
            <a:cxnSpLocks/>
          </p:cNvCxnSpPr>
          <p:nvPr/>
        </p:nvCxnSpPr>
        <p:spPr>
          <a:xfrm flipV="1">
            <a:off x="9131560" y="1687896"/>
            <a:ext cx="416380" cy="6770"/>
          </a:xfrm>
          <a:prstGeom prst="straightConnector1">
            <a:avLst/>
          </a:prstGeom>
          <a:ln w="38100">
            <a:solidFill>
              <a:srgbClr val="C00000"/>
            </a:solidFill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1AD1E333-22BC-10A7-B36E-5BF887CF8D2E}"/>
              </a:ext>
            </a:extLst>
          </p:cNvPr>
          <p:cNvCxnSpPr>
            <a:cxnSpLocks/>
          </p:cNvCxnSpPr>
          <p:nvPr/>
        </p:nvCxnSpPr>
        <p:spPr>
          <a:xfrm flipV="1">
            <a:off x="10004425" y="1684511"/>
            <a:ext cx="416380" cy="6770"/>
          </a:xfrm>
          <a:prstGeom prst="straightConnector1">
            <a:avLst/>
          </a:prstGeom>
          <a:ln w="38100">
            <a:solidFill>
              <a:srgbClr val="C00000"/>
            </a:solidFill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22">
            <a:extLst>
              <a:ext uri="{FF2B5EF4-FFF2-40B4-BE49-F238E27FC236}">
                <a16:creationId xmlns:a16="http://schemas.microsoft.com/office/drawing/2014/main" id="{BB047E5F-B859-7C0D-A558-758FD433A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2298" y="1412046"/>
            <a:ext cx="216045" cy="414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3600"/>
              </a:lnSpc>
            </a:pPr>
            <a:r>
              <a:rPr lang="en-US" altLang="zh-C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∧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3BEA308-72C4-8243-7568-74C346F21A9F}"/>
              </a:ext>
            </a:extLst>
          </p:cNvPr>
          <p:cNvSpPr txBox="1"/>
          <p:nvPr/>
        </p:nvSpPr>
        <p:spPr>
          <a:xfrm>
            <a:off x="655458" y="1100303"/>
            <a:ext cx="5165035" cy="196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b="1" dirty="0"/>
              <a:t>构建单链表，需要逐个结点分配存储空间。</a:t>
            </a:r>
            <a:endParaRPr lang="en-US" altLang="zh-CN" b="1" dirty="0"/>
          </a:p>
          <a:p>
            <a:pPr>
              <a:lnSpc>
                <a:spcPct val="114000"/>
              </a:lnSpc>
            </a:pPr>
            <a:r>
              <a:rPr lang="zh-CN" altLang="en-US" b="1" dirty="0"/>
              <a:t>示例：由元素序列</a:t>
            </a:r>
            <a:endParaRPr lang="en-US" altLang="zh-CN" b="1" dirty="0"/>
          </a:p>
          <a:p>
            <a:pPr>
              <a:lnSpc>
                <a:spcPct val="114000"/>
              </a:lnSpc>
            </a:pP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s</a:t>
            </a:r>
            <a:r>
              <a:rPr lang="en-US" altLang="zh-CN" b="1" dirty="0"/>
              <a:t>=“a, b, c, d”</a:t>
            </a:r>
          </a:p>
          <a:p>
            <a:pPr>
              <a:lnSpc>
                <a:spcPct val="114000"/>
              </a:lnSpc>
            </a:pPr>
            <a:r>
              <a:rPr lang="zh-CN" altLang="en-US" b="1" dirty="0"/>
              <a:t>构造单链线性表 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14000"/>
              </a:lnSpc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辅助指针 </a:t>
            </a:r>
            <a:r>
              <a:rPr lang="en-US" altLang="zh-CN" b="1" dirty="0">
                <a:solidFill>
                  <a:srgbClr val="C00000"/>
                </a:solidFill>
              </a:rPr>
              <a:t>p</a:t>
            </a:r>
            <a:r>
              <a:rPr lang="en-US" altLang="zh-CN" b="1" dirty="0">
                <a:solidFill>
                  <a:srgbClr val="0F14F1"/>
                </a:solidFill>
              </a:rPr>
              <a:t> </a:t>
            </a:r>
            <a:r>
              <a:rPr lang="zh-CN" altLang="en-US" b="1" dirty="0"/>
              <a:t>总是指着当前</a:t>
            </a:r>
            <a:r>
              <a:rPr lang="zh-CN" altLang="en-US" b="1" dirty="0">
                <a:solidFill>
                  <a:srgbClr val="0F14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表尾结点</a:t>
            </a:r>
            <a:r>
              <a:rPr lang="zh-CN" altLang="en-US" b="1" dirty="0"/>
              <a:t>，以简化</a:t>
            </a:r>
            <a:r>
              <a:rPr lang="zh-CN" altLang="en-US" b="1" dirty="0">
                <a:solidFill>
                  <a:srgbClr val="0F14F1"/>
                </a:solidFill>
              </a:rPr>
              <a:t>在表尾插入结点</a:t>
            </a:r>
            <a:r>
              <a:rPr lang="zh-CN" altLang="en-US" b="1" dirty="0"/>
              <a:t>。</a:t>
            </a:r>
            <a:endParaRPr lang="en-US" altLang="zh-CN" b="1" dirty="0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DD2FE35-96B2-D2E0-2867-5E0A88D18322}"/>
              </a:ext>
            </a:extLst>
          </p:cNvPr>
          <p:cNvSpPr/>
          <p:nvPr/>
        </p:nvSpPr>
        <p:spPr>
          <a:xfrm>
            <a:off x="1422599" y="186701"/>
            <a:ext cx="4198014" cy="61781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算法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2.11  </a:t>
            </a:r>
            <a:r>
              <a:rPr lang="zh-CN" altLang="en-US" sz="2400" b="1" dirty="0">
                <a:solidFill>
                  <a:srgbClr val="1122A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构建单链线性表</a:t>
            </a:r>
            <a:endParaRPr lang="zh-CN" altLang="en-US" sz="2400" dirty="0">
              <a:solidFill>
                <a:srgbClr val="1122A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D60637A-D7DA-1BC1-F0FE-8F5B3E18D12F}"/>
              </a:ext>
            </a:extLst>
          </p:cNvPr>
          <p:cNvSpPr txBox="1"/>
          <p:nvPr/>
        </p:nvSpPr>
        <p:spPr>
          <a:xfrm>
            <a:off x="1412604" y="3158436"/>
            <a:ext cx="10178153" cy="31393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LinkList CreateList(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n,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ElemType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s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zh-CN" alt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算法2.11</a:t>
            </a:r>
          </a:p>
          <a:p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zh-CN" alt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由元素序列</a:t>
            </a:r>
            <a:r>
              <a:rPr lang="zh-CN" alt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的头</a:t>
            </a: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个元素建立并返回带表头结点的单链线性表</a:t>
            </a:r>
            <a:endParaRPr lang="en-US" altLang="zh-CN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(n&lt;0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s)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NULL;</a:t>
            </a:r>
            <a:endParaRPr lang="zh-CN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LinkList L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p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 = p = (LinkList)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alloc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1, 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(LNode))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)) exit(OVERFLOW)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i=0; i&lt;n; ++i) 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{          </a:t>
            </a: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将</a:t>
            </a:r>
            <a:r>
              <a:rPr lang="zh-CN" alt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的元素逐个插入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的当前表尾</a:t>
            </a:r>
          </a:p>
          <a:p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-&gt;next = (LinkList)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alloc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(s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izeof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(LNode))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)) exit(OVERFLOW)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en-US" altLang="zh-CN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 = p-&gt;next;   p-&gt;data = s[i];   </a:t>
            </a: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指向新表尾，存入元素</a:t>
            </a:r>
          </a:p>
          <a:p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-&gt;next = NULL;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5" name="Rectangle 22">
            <a:extLst>
              <a:ext uri="{FF2B5EF4-FFF2-40B4-BE49-F238E27FC236}">
                <a16:creationId xmlns:a16="http://schemas.microsoft.com/office/drawing/2014/main" id="{A09704CB-3063-1505-C2DF-170D76839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3379" y="1408742"/>
            <a:ext cx="216045" cy="414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altLang="zh-C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∧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A091240-5198-715F-1555-710F838B4DFF}"/>
              </a:ext>
            </a:extLst>
          </p:cNvPr>
          <p:cNvCxnSpPr>
            <a:cxnSpLocks/>
          </p:cNvCxnSpPr>
          <p:nvPr/>
        </p:nvCxnSpPr>
        <p:spPr>
          <a:xfrm>
            <a:off x="2939921" y="4867203"/>
            <a:ext cx="58168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5B196FB5-3983-DC2B-24A8-1E1EDC59D369}"/>
              </a:ext>
            </a:extLst>
          </p:cNvPr>
          <p:cNvCxnSpPr>
            <a:cxnSpLocks/>
          </p:cNvCxnSpPr>
          <p:nvPr/>
        </p:nvCxnSpPr>
        <p:spPr>
          <a:xfrm>
            <a:off x="3660001" y="4867203"/>
            <a:ext cx="56056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C8245D81-4A27-5232-9DD4-9E3927C34A1F}"/>
              </a:ext>
            </a:extLst>
          </p:cNvPr>
          <p:cNvCxnSpPr>
            <a:cxnSpLocks/>
          </p:cNvCxnSpPr>
          <p:nvPr/>
        </p:nvCxnSpPr>
        <p:spPr>
          <a:xfrm>
            <a:off x="2802288" y="5152383"/>
            <a:ext cx="94172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AD62A44F-B7DC-92F0-AA37-8D334E80BBA6}"/>
              </a:ext>
            </a:extLst>
          </p:cNvPr>
          <p:cNvCxnSpPr>
            <a:cxnSpLocks/>
          </p:cNvCxnSpPr>
          <p:nvPr/>
        </p:nvCxnSpPr>
        <p:spPr>
          <a:xfrm flipV="1">
            <a:off x="4319316" y="5136872"/>
            <a:ext cx="4543857" cy="56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4EB24F49-5AE9-8EDF-A591-625C81BCC233}"/>
              </a:ext>
            </a:extLst>
          </p:cNvPr>
          <p:cNvCxnSpPr>
            <a:cxnSpLocks/>
          </p:cNvCxnSpPr>
          <p:nvPr/>
        </p:nvCxnSpPr>
        <p:spPr>
          <a:xfrm>
            <a:off x="2009889" y="5423448"/>
            <a:ext cx="164913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5661E86E-214A-1991-042F-653E3228AEBF}"/>
              </a:ext>
            </a:extLst>
          </p:cNvPr>
          <p:cNvCxnSpPr>
            <a:cxnSpLocks/>
          </p:cNvCxnSpPr>
          <p:nvPr/>
        </p:nvCxnSpPr>
        <p:spPr>
          <a:xfrm>
            <a:off x="4072831" y="5423448"/>
            <a:ext cx="197636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56682E8E-FC16-0CFB-B78C-A364EC8B2357}"/>
              </a:ext>
            </a:extLst>
          </p:cNvPr>
          <p:cNvCxnSpPr>
            <a:cxnSpLocks/>
          </p:cNvCxnSpPr>
          <p:nvPr/>
        </p:nvCxnSpPr>
        <p:spPr>
          <a:xfrm>
            <a:off x="4319316" y="4867203"/>
            <a:ext cx="4569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2CA83326-1F49-601F-C5F8-6161C4772F0F}"/>
              </a:ext>
            </a:extLst>
          </p:cNvPr>
          <p:cNvSpPr txBox="1"/>
          <p:nvPr/>
        </p:nvSpPr>
        <p:spPr>
          <a:xfrm>
            <a:off x="4727896" y="3019489"/>
            <a:ext cx="2204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C00000"/>
                </a:solidFill>
              </a:rPr>
              <a:t>4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4247F8C-7F83-258B-7FD1-AFC1709A828C}"/>
              </a:ext>
            </a:extLst>
          </p:cNvPr>
          <p:cNvSpPr txBox="1"/>
          <p:nvPr/>
        </p:nvSpPr>
        <p:spPr>
          <a:xfrm>
            <a:off x="6049191" y="2983426"/>
            <a:ext cx="98078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C00000"/>
                </a:solidFill>
              </a:rPr>
              <a:t>“</a:t>
            </a:r>
            <a:r>
              <a:rPr lang="en-US" altLang="zh-CN" sz="2000" b="1" dirty="0" err="1">
                <a:solidFill>
                  <a:srgbClr val="C00000"/>
                </a:solidFill>
              </a:rPr>
              <a:t>abcd</a:t>
            </a:r>
            <a:r>
              <a:rPr lang="en-US" altLang="zh-CN" sz="2000" b="1" dirty="0">
                <a:solidFill>
                  <a:srgbClr val="C00000"/>
                </a:solidFill>
              </a:rPr>
              <a:t>”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BB72C4E-D924-55F8-BE33-0A9A281D92A1}"/>
              </a:ext>
            </a:extLst>
          </p:cNvPr>
          <p:cNvSpPr txBox="1"/>
          <p:nvPr/>
        </p:nvSpPr>
        <p:spPr>
          <a:xfrm>
            <a:off x="7858827" y="1441348"/>
            <a:ext cx="220406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2D04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zh-CN" altLang="en-US" sz="2800" b="1" dirty="0">
              <a:solidFill>
                <a:srgbClr val="2D04F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8DA261B-087B-4F1B-5E1F-846AD97DDD0F}"/>
              </a:ext>
            </a:extLst>
          </p:cNvPr>
          <p:cNvSpPr txBox="1"/>
          <p:nvPr/>
        </p:nvSpPr>
        <p:spPr>
          <a:xfrm>
            <a:off x="8741922" y="1471795"/>
            <a:ext cx="220406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2D04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endParaRPr lang="zh-CN" altLang="en-US" sz="2800" b="1" dirty="0">
              <a:solidFill>
                <a:srgbClr val="2D04F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EA8E2DF-0C94-A10B-8360-FA0E917CBB49}"/>
              </a:ext>
            </a:extLst>
          </p:cNvPr>
          <p:cNvSpPr txBox="1"/>
          <p:nvPr/>
        </p:nvSpPr>
        <p:spPr>
          <a:xfrm>
            <a:off x="9608528" y="1441347"/>
            <a:ext cx="220406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2D04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zh-CN" altLang="en-US" sz="2800" b="1" dirty="0">
              <a:solidFill>
                <a:srgbClr val="2D04F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9845F75-0CED-F032-B862-8B7ABF4337A6}"/>
              </a:ext>
            </a:extLst>
          </p:cNvPr>
          <p:cNvSpPr txBox="1"/>
          <p:nvPr/>
        </p:nvSpPr>
        <p:spPr>
          <a:xfrm>
            <a:off x="10468467" y="1458891"/>
            <a:ext cx="220406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2D04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endParaRPr lang="zh-CN" altLang="en-US" sz="2800" b="1" dirty="0">
              <a:solidFill>
                <a:srgbClr val="2D04F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61D1007-0CD1-6F9E-40E6-82D0C1F95A1F}"/>
              </a:ext>
            </a:extLst>
          </p:cNvPr>
          <p:cNvSpPr txBox="1"/>
          <p:nvPr/>
        </p:nvSpPr>
        <p:spPr>
          <a:xfrm>
            <a:off x="387895" y="4561285"/>
            <a:ext cx="98078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2D04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US" altLang="zh-CN" sz="2000" b="1" dirty="0">
                <a:solidFill>
                  <a:srgbClr val="2D04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zh-CN" altLang="en-US" sz="2000" b="1" dirty="0">
                <a:solidFill>
                  <a:srgbClr val="2D04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ode</a:t>
            </a:r>
            <a:r>
              <a:rPr lang="en-US" altLang="zh-CN" sz="2000" b="1" dirty="0">
                <a:solidFill>
                  <a:srgbClr val="2D04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endParaRPr lang="zh-CN" altLang="en-US" sz="2000" b="1" dirty="0">
              <a:solidFill>
                <a:srgbClr val="2D04FC"/>
              </a:solidFill>
            </a:endParaRP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D3C3DB5E-18E3-13EE-6EF6-CDB748415060}"/>
              </a:ext>
            </a:extLst>
          </p:cNvPr>
          <p:cNvCxnSpPr>
            <a:cxnSpLocks/>
          </p:cNvCxnSpPr>
          <p:nvPr/>
        </p:nvCxnSpPr>
        <p:spPr>
          <a:xfrm flipH="1">
            <a:off x="1300589" y="4502692"/>
            <a:ext cx="3105587" cy="260421"/>
          </a:xfrm>
          <a:prstGeom prst="line">
            <a:avLst/>
          </a:prstGeom>
          <a:ln w="19050"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B5ADDAF0-752D-4D9C-888B-8E426EC72B46}"/>
              </a:ext>
            </a:extLst>
          </p:cNvPr>
          <p:cNvSpPr txBox="1"/>
          <p:nvPr/>
        </p:nvSpPr>
        <p:spPr>
          <a:xfrm>
            <a:off x="343967" y="4865712"/>
            <a:ext cx="98078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</a:rPr>
              <a:t>可互换</a:t>
            </a: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FF3D177D-A2C8-26B2-A508-97AC92F73E07}"/>
              </a:ext>
            </a:extLst>
          </p:cNvPr>
          <p:cNvSpPr/>
          <p:nvPr/>
        </p:nvSpPr>
        <p:spPr>
          <a:xfrm>
            <a:off x="3041415" y="4309147"/>
            <a:ext cx="288229" cy="288000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10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500"/>
                            </p:stCondLst>
                            <p:childTnLst>
                              <p:par>
                                <p:cTn id="7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000"/>
                            </p:stCondLst>
                            <p:childTnLst>
                              <p:par>
                                <p:cTn id="8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500"/>
                            </p:stCondLst>
                            <p:childTnLst>
                              <p:par>
                                <p:cTn id="9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4000"/>
                            </p:stCondLst>
                            <p:childTnLst>
                              <p:par>
                                <p:cTn id="9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0"/>
                            </p:stCondLst>
                            <p:childTnLst>
                              <p:par>
                                <p:cTn id="10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500"/>
                            </p:stCondLst>
                            <p:childTnLst>
                              <p:par>
                                <p:cTn id="1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3500"/>
                            </p:stCondLst>
                            <p:childTnLst>
                              <p:par>
                                <p:cTn id="1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4500"/>
                            </p:stCondLst>
                            <p:childTnLst>
                              <p:par>
                                <p:cTn id="1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500"/>
                            </p:stCondLst>
                            <p:childTnLst>
                              <p:par>
                                <p:cTn id="16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11111E-6 L 0.06419 -0.00092 " pathEditMode="relative" rAng="0" ptsTypes="AA">
                                      <p:cBhvr>
                                        <p:cTn id="16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03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6500"/>
                            </p:stCondLst>
                            <p:childTnLst>
                              <p:par>
                                <p:cTn id="168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7000"/>
                            </p:stCondLst>
                            <p:childTnLst>
                              <p:par>
                                <p:cTn id="1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8000"/>
                            </p:stCondLst>
                            <p:childTnLst>
                              <p:par>
                                <p:cTn id="17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00"/>
                            </p:stCondLst>
                            <p:childTnLst>
                              <p:par>
                                <p:cTn id="1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500"/>
                            </p:stCondLst>
                            <p:childTnLst>
                              <p:par>
                                <p:cTn id="191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2000"/>
                            </p:stCondLst>
                            <p:childTnLst>
                              <p:par>
                                <p:cTn id="1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4000"/>
                            </p:stCondLst>
                            <p:childTnLst>
                              <p:par>
                                <p:cTn id="203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0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4500"/>
                            </p:stCondLst>
                            <p:childTnLst>
                              <p:par>
                                <p:cTn id="2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5500"/>
                            </p:stCondLst>
                            <p:childTnLst>
                              <p:par>
                                <p:cTn id="2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6500"/>
                            </p:stCondLst>
                            <p:childTnLst>
                              <p:par>
                                <p:cTn id="21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7000"/>
                            </p:stCondLst>
                            <p:childTnLst>
                              <p:par>
                                <p:cTn id="2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8000"/>
                            </p:stCondLst>
                            <p:childTnLst>
                              <p:par>
                                <p:cTn id="2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9000"/>
                            </p:stCondLst>
                            <p:childTnLst>
                              <p:par>
                                <p:cTn id="23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9500"/>
                            </p:stCondLst>
                            <p:childTnLst>
                              <p:par>
                                <p:cTn id="2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10500"/>
                            </p:stCondLst>
                            <p:childTnLst>
                              <p:par>
                                <p:cTn id="23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419 -0.00092 L 0.13294 0.00023 " pathEditMode="relative" rAng="0" ptsTypes="AA">
                                      <p:cBhvr>
                                        <p:cTn id="2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38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11500"/>
                            </p:stCondLst>
                            <p:childTnLst>
                              <p:par>
                                <p:cTn id="24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12000"/>
                            </p:stCondLst>
                            <p:childTnLst>
                              <p:par>
                                <p:cTn id="2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13000"/>
                            </p:stCondLst>
                            <p:childTnLst>
                              <p:par>
                                <p:cTn id="24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14000"/>
                            </p:stCondLst>
                            <p:childTnLst>
                              <p:par>
                                <p:cTn id="25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15000"/>
                            </p:stCondLst>
                            <p:childTnLst>
                              <p:par>
                                <p:cTn id="2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16000"/>
                            </p:stCondLst>
                            <p:childTnLst>
                              <p:par>
                                <p:cTn id="266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294 0.00023 L 0.20547 0.00093 " pathEditMode="relative" rAng="0" ptsTypes="AA">
                                      <p:cBhvr>
                                        <p:cTn id="2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20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17000"/>
                            </p:stCondLst>
                            <p:childTnLst>
                              <p:par>
                                <p:cTn id="26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18000"/>
                            </p:stCondLst>
                            <p:childTnLst>
                              <p:par>
                                <p:cTn id="2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19000"/>
                            </p:stCondLst>
                            <p:childTnLst>
                              <p:par>
                                <p:cTn id="2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20000"/>
                            </p:stCondLst>
                            <p:childTnLst>
                              <p:par>
                                <p:cTn id="283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547 0.00093 L 0.27682 -0.00092 " pathEditMode="relative" rAng="0" ptsTypes="AA">
                                      <p:cBhvr>
                                        <p:cTn id="28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68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21000"/>
                            </p:stCondLst>
                            <p:childTnLst>
                              <p:par>
                                <p:cTn id="28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5" dur="500"/>
                                        <p:tgtEl>
                                          <p:spTgt spid="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500"/>
                            </p:stCondLst>
                            <p:childTnLst>
                              <p:par>
                                <p:cTn id="29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5" dur="500"/>
                                        <p:tgtEl>
                                          <p:spTgt spid="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31" grpId="0" autoUpdateAnimBg="0"/>
      <p:bldP spid="32" grpId="0" uiExpand="1" build="p"/>
      <p:bldP spid="34" grpId="0" uiExpand="1" build="p" animBg="1"/>
      <p:bldP spid="35" grpId="0" autoUpdateAnimBg="0"/>
      <p:bldP spid="35" grpId="1"/>
      <p:bldP spid="43" grpId="0"/>
      <p:bldP spid="44" grpId="0"/>
      <p:bldP spid="45" grpId="0"/>
      <p:bldP spid="46" grpId="0"/>
      <p:bldP spid="47" grpId="0"/>
      <p:bldP spid="48" grpId="0"/>
      <p:bldP spid="49" grpId="0"/>
      <p:bldP spid="51" grpId="0"/>
      <p:bldP spid="5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11"/>
          <p:cNvSpPr>
            <a:spLocks noChangeArrowheads="1"/>
          </p:cNvSpPr>
          <p:nvPr/>
        </p:nvSpPr>
        <p:spPr bwMode="auto">
          <a:xfrm>
            <a:off x="7601410" y="4870983"/>
            <a:ext cx="610870" cy="4315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123" tIns="46966" rIns="90123" bIns="46966" anchor="ctr"/>
          <a:lstStyle/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999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endParaRPr lang="zh-CN" altLang="en-US" sz="1999" b="1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" name="Rectangle 12"/>
          <p:cNvSpPr>
            <a:spLocks noChangeArrowheads="1"/>
          </p:cNvSpPr>
          <p:nvPr/>
        </p:nvSpPr>
        <p:spPr bwMode="auto">
          <a:xfrm>
            <a:off x="8210692" y="4870983"/>
            <a:ext cx="304641" cy="4315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123" tIns="46966" rIns="90123" bIns="46966" anchor="ctr"/>
          <a:lstStyle/>
          <a:p>
            <a:pPr algn="ctr"/>
            <a:endParaRPr lang="en-US" sz="1599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BDD1160-A5C8-4F1D-BD00-C727BA48994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2346" y="279855"/>
            <a:ext cx="5157535" cy="455612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算法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2. 12  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有序单链表的合并</a:t>
            </a:r>
            <a:endParaRPr lang="zh-CN" altLang="en-US" sz="2800" dirty="0">
              <a:solidFill>
                <a:srgbClr val="00206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08D95C-1BAC-4B6A-856F-0C56B54E50B8}"/>
              </a:ext>
            </a:extLst>
          </p:cNvPr>
          <p:cNvSpPr txBox="1"/>
          <p:nvPr/>
        </p:nvSpPr>
        <p:spPr>
          <a:xfrm>
            <a:off x="606743" y="834571"/>
            <a:ext cx="72635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LinkList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MergeList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LinkList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La,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LinkList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Lb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88C4931-53C9-463D-B96E-551D1E672570}"/>
              </a:ext>
            </a:extLst>
          </p:cNvPr>
          <p:cNvSpPr txBox="1"/>
          <p:nvPr/>
        </p:nvSpPr>
        <p:spPr>
          <a:xfrm>
            <a:off x="1016482" y="1611331"/>
            <a:ext cx="10137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LinkList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*Lc, *pc, *pa = La-&gt;next, *pb =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Lb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-&gt;next;</a:t>
            </a:r>
          </a:p>
        </p:txBody>
      </p:sp>
      <p:sp>
        <p:nvSpPr>
          <p:cNvPr id="2" name="矩形 1"/>
          <p:cNvSpPr/>
          <p:nvPr/>
        </p:nvSpPr>
        <p:spPr>
          <a:xfrm>
            <a:off x="1033357" y="1941099"/>
            <a:ext cx="76011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Lc = pc = La;        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用</a:t>
            </a: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的头结点作为</a:t>
            </a:r>
            <a:r>
              <a:rPr lang="en-US" altLang="zh-CN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Lc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的头结点</a:t>
            </a:r>
          </a:p>
        </p:txBody>
      </p:sp>
      <p:sp>
        <p:nvSpPr>
          <p:cNvPr id="4" name="矩形 3"/>
          <p:cNvSpPr/>
          <p:nvPr/>
        </p:nvSpPr>
        <p:spPr>
          <a:xfrm>
            <a:off x="1037634" y="2250031"/>
            <a:ext cx="708316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(pa &amp;&amp; pb)</a:t>
            </a:r>
          </a:p>
          <a:p>
            <a:pPr>
              <a:spcBef>
                <a:spcPct val="10000"/>
              </a:spcBef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(pa-&gt;data &lt;= pb-&gt;data) 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zh-CN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23135" y="3558730"/>
            <a:ext cx="489399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pc-&gt;next = pa ? pa :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pb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</p:txBody>
      </p:sp>
      <p:sp>
        <p:nvSpPr>
          <p:cNvPr id="13" name="矩形 12"/>
          <p:cNvSpPr/>
          <p:nvPr/>
        </p:nvSpPr>
        <p:spPr>
          <a:xfrm>
            <a:off x="538015" y="4166431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88C4931-53C9-463D-B96E-551D1E672570}"/>
              </a:ext>
            </a:extLst>
          </p:cNvPr>
          <p:cNvSpPr txBox="1"/>
          <p:nvPr/>
        </p:nvSpPr>
        <p:spPr>
          <a:xfrm>
            <a:off x="1484168" y="3224107"/>
            <a:ext cx="8513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} else {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pc-&gt;next = pb;   pc = pb;   pb = pb-&gt;next; 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3" name="Rectangle 8"/>
          <p:cNvSpPr>
            <a:spLocks noChangeArrowheads="1"/>
          </p:cNvSpPr>
          <p:nvPr/>
        </p:nvSpPr>
        <p:spPr bwMode="auto">
          <a:xfrm>
            <a:off x="8785911" y="4871230"/>
            <a:ext cx="610552" cy="4315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123" tIns="46966" rIns="90123" bIns="46966" anchor="ctr"/>
          <a:lstStyle/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999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11</a:t>
            </a:r>
          </a:p>
        </p:txBody>
      </p:sp>
      <p:sp>
        <p:nvSpPr>
          <p:cNvPr id="44" name="Rectangle 9"/>
          <p:cNvSpPr>
            <a:spLocks noChangeArrowheads="1"/>
          </p:cNvSpPr>
          <p:nvPr/>
        </p:nvSpPr>
        <p:spPr bwMode="auto">
          <a:xfrm>
            <a:off x="9395194" y="4871230"/>
            <a:ext cx="304641" cy="4315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123" tIns="46966" rIns="90123" bIns="46966"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en-US" sz="1599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45" name="Group 10"/>
          <p:cNvGrpSpPr>
            <a:grpSpLocks/>
          </p:cNvGrpSpPr>
          <p:nvPr/>
        </p:nvGrpSpPr>
        <p:grpSpPr bwMode="auto">
          <a:xfrm>
            <a:off x="9998129" y="4871230"/>
            <a:ext cx="913924" cy="431575"/>
            <a:chOff x="0" y="0"/>
            <a:chExt cx="576" cy="384"/>
          </a:xfrm>
        </p:grpSpPr>
        <p:sp>
          <p:nvSpPr>
            <p:cNvPr id="46" name="Rectangle 11"/>
            <p:cNvSpPr>
              <a:spLocks noChangeArrowheads="1"/>
            </p:cNvSpPr>
            <p:nvPr/>
          </p:nvSpPr>
          <p:spPr bwMode="auto">
            <a:xfrm>
              <a:off x="0" y="0"/>
              <a:ext cx="385" cy="38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123" tIns="46966" rIns="90123" bIns="46966" anchor="ctr"/>
            <a:lstStyle/>
            <a:p>
              <a:pPr algn="ctr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999" b="1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16</a:t>
              </a:r>
              <a:endParaRPr lang="zh-CN" altLang="en-US" sz="1999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" name="Rectangle 12"/>
            <p:cNvSpPr>
              <a:spLocks noChangeArrowheads="1"/>
            </p:cNvSpPr>
            <p:nvPr/>
          </p:nvSpPr>
          <p:spPr bwMode="auto">
            <a:xfrm>
              <a:off x="384" y="0"/>
              <a:ext cx="192" cy="3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123" tIns="46966" rIns="90123" bIns="46966" anchor="ctr"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en-US" sz="1599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49" name="Line 14"/>
          <p:cNvSpPr>
            <a:spLocks noChangeShapeType="1"/>
          </p:cNvSpPr>
          <p:nvPr/>
        </p:nvSpPr>
        <p:spPr bwMode="auto">
          <a:xfrm>
            <a:off x="9541167" y="5106058"/>
            <a:ext cx="4569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0794"/>
          <a:lstStyle/>
          <a:p>
            <a:endParaRPr lang="zh-CN" altLang="en-US" sz="1799"/>
          </a:p>
        </p:txBody>
      </p:sp>
      <p:sp>
        <p:nvSpPr>
          <p:cNvPr id="51" name="Line 16"/>
          <p:cNvSpPr>
            <a:spLocks noChangeShapeType="1"/>
          </p:cNvSpPr>
          <p:nvPr/>
        </p:nvSpPr>
        <p:spPr bwMode="auto">
          <a:xfrm>
            <a:off x="8356984" y="5102148"/>
            <a:ext cx="432101" cy="390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0794"/>
          <a:lstStyle/>
          <a:p>
            <a:endParaRPr lang="zh-CN" altLang="en-US" sz="1799"/>
          </a:p>
        </p:txBody>
      </p:sp>
      <p:sp>
        <p:nvSpPr>
          <p:cNvPr id="73" name="Rectangle 8"/>
          <p:cNvSpPr>
            <a:spLocks noChangeArrowheads="1"/>
          </p:cNvSpPr>
          <p:nvPr/>
        </p:nvSpPr>
        <p:spPr bwMode="auto">
          <a:xfrm>
            <a:off x="6449881" y="4870983"/>
            <a:ext cx="610552" cy="4315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123" tIns="46966" rIns="90123" bIns="46966" anchor="ctr"/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999" b="1" dirty="0">
                <a:solidFill>
                  <a:srgbClr val="000000"/>
                </a:solidFill>
              </a:rPr>
              <a:t>2</a:t>
            </a:r>
            <a:endParaRPr lang="en-US" altLang="zh-CN" sz="1999" b="1" baseline="-16000" dirty="0">
              <a:solidFill>
                <a:srgbClr val="000000"/>
              </a:solidFill>
            </a:endParaRPr>
          </a:p>
        </p:txBody>
      </p:sp>
      <p:sp>
        <p:nvSpPr>
          <p:cNvPr id="74" name="Rectangle 9"/>
          <p:cNvSpPr>
            <a:spLocks noChangeArrowheads="1"/>
          </p:cNvSpPr>
          <p:nvPr/>
        </p:nvSpPr>
        <p:spPr bwMode="auto">
          <a:xfrm>
            <a:off x="7059164" y="4870983"/>
            <a:ext cx="304641" cy="4315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123" tIns="46966" rIns="90123" bIns="46966"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en-US" sz="1599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6" name="Rectangle 8"/>
          <p:cNvSpPr>
            <a:spLocks noChangeArrowheads="1"/>
          </p:cNvSpPr>
          <p:nvPr/>
        </p:nvSpPr>
        <p:spPr bwMode="auto">
          <a:xfrm>
            <a:off x="5248075" y="4870983"/>
            <a:ext cx="610552" cy="431575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123" tIns="46966" rIns="90123" bIns="46966" anchor="ctr"/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en-US" altLang="zh-CN" sz="1999" b="1" baseline="-16000" dirty="0">
              <a:solidFill>
                <a:srgbClr val="0070C0"/>
              </a:solidFill>
            </a:endParaRPr>
          </a:p>
        </p:txBody>
      </p:sp>
      <p:sp>
        <p:nvSpPr>
          <p:cNvPr id="77" name="Rectangle 9"/>
          <p:cNvSpPr>
            <a:spLocks noChangeArrowheads="1"/>
          </p:cNvSpPr>
          <p:nvPr/>
        </p:nvSpPr>
        <p:spPr bwMode="auto">
          <a:xfrm>
            <a:off x="5857358" y="4870983"/>
            <a:ext cx="304641" cy="4315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123" tIns="46966" rIns="90123" bIns="46966"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en-US" sz="1599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8" name="Line 31"/>
          <p:cNvSpPr>
            <a:spLocks noChangeShapeType="1"/>
          </p:cNvSpPr>
          <p:nvPr/>
        </p:nvSpPr>
        <p:spPr bwMode="auto">
          <a:xfrm flipV="1">
            <a:off x="4767809" y="5014924"/>
            <a:ext cx="480266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799"/>
          </a:p>
        </p:txBody>
      </p:sp>
      <p:sp>
        <p:nvSpPr>
          <p:cNvPr id="81" name="Line 14"/>
          <p:cNvSpPr>
            <a:spLocks noChangeShapeType="1"/>
          </p:cNvSpPr>
          <p:nvPr/>
        </p:nvSpPr>
        <p:spPr bwMode="auto">
          <a:xfrm>
            <a:off x="6009679" y="5085006"/>
            <a:ext cx="4569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0794"/>
          <a:lstStyle/>
          <a:p>
            <a:endParaRPr lang="zh-CN" altLang="en-US" sz="1799"/>
          </a:p>
        </p:txBody>
      </p:sp>
      <p:sp>
        <p:nvSpPr>
          <p:cNvPr id="82" name="Line 14"/>
          <p:cNvSpPr>
            <a:spLocks noChangeShapeType="1"/>
          </p:cNvSpPr>
          <p:nvPr/>
        </p:nvSpPr>
        <p:spPr bwMode="auto">
          <a:xfrm flipV="1">
            <a:off x="7193396" y="5085007"/>
            <a:ext cx="400090" cy="18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0794"/>
          <a:lstStyle/>
          <a:p>
            <a:endParaRPr lang="zh-CN" altLang="en-US" sz="1799"/>
          </a:p>
        </p:txBody>
      </p:sp>
      <p:grpSp>
        <p:nvGrpSpPr>
          <p:cNvPr id="19" name="组合 18"/>
          <p:cNvGrpSpPr/>
          <p:nvPr/>
        </p:nvGrpSpPr>
        <p:grpSpPr>
          <a:xfrm>
            <a:off x="6039751" y="4293621"/>
            <a:ext cx="486380" cy="577362"/>
            <a:chOff x="1580094" y="2650554"/>
            <a:chExt cx="486633" cy="707232"/>
          </a:xfrm>
        </p:grpSpPr>
        <p:sp>
          <p:nvSpPr>
            <p:cNvPr id="62" name="Text Box 21"/>
            <p:cNvSpPr txBox="1">
              <a:spLocks noChangeArrowheads="1"/>
            </p:cNvSpPr>
            <p:nvPr/>
          </p:nvSpPr>
          <p:spPr bwMode="auto">
            <a:xfrm>
              <a:off x="1580094" y="2650554"/>
              <a:ext cx="486633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3333FF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1999" dirty="0">
                  <a:solidFill>
                    <a:srgbClr val="00B050"/>
                  </a:solidFill>
                  <a:ea typeface="楷体_GB2312" pitchFamily="49" charset="-122"/>
                </a:rPr>
                <a:t>p</a:t>
              </a:r>
              <a:r>
                <a:rPr lang="en-US" altLang="zh-CN" sz="1999" dirty="0">
                  <a:solidFill>
                    <a:srgbClr val="00B050"/>
                  </a:solidFill>
                  <a:ea typeface="楷体_GB2312" pitchFamily="49" charset="-122"/>
                </a:rPr>
                <a:t>a</a:t>
              </a:r>
              <a:endParaRPr lang="zh-CN" altLang="zh-CN" sz="1999" dirty="0">
                <a:solidFill>
                  <a:srgbClr val="00B050"/>
                </a:solidFill>
                <a:ea typeface="楷体_GB2312" pitchFamily="49" charset="-122"/>
              </a:endParaRPr>
            </a:p>
          </p:txBody>
        </p:sp>
        <p:sp>
          <p:nvSpPr>
            <p:cNvPr id="83" name="Line 48"/>
            <p:cNvSpPr>
              <a:spLocks noChangeShapeType="1"/>
            </p:cNvSpPr>
            <p:nvPr/>
          </p:nvSpPr>
          <p:spPr bwMode="auto">
            <a:xfrm>
              <a:off x="2066727" y="2748186"/>
              <a:ext cx="0" cy="609600"/>
            </a:xfrm>
            <a:prstGeom prst="line">
              <a:avLst/>
            </a:prstGeom>
            <a:ln w="34925">
              <a:solidFill>
                <a:srgbClr val="00B050"/>
              </a:solidFill>
              <a:headEnd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>
              <a:spAutoFit/>
            </a:bodyPr>
            <a:lstStyle/>
            <a:p>
              <a:endParaRPr lang="zh-CN" altLang="en-US" sz="1799"/>
            </a:p>
          </p:txBody>
        </p:sp>
      </p:grpSp>
      <p:sp>
        <p:nvSpPr>
          <p:cNvPr id="17" name="矩形 16"/>
          <p:cNvSpPr/>
          <p:nvPr/>
        </p:nvSpPr>
        <p:spPr>
          <a:xfrm>
            <a:off x="950482" y="3893976"/>
            <a:ext cx="39298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free(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Lb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   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Lc;  </a:t>
            </a:r>
          </a:p>
        </p:txBody>
      </p:sp>
      <p:sp>
        <p:nvSpPr>
          <p:cNvPr id="18" name="矩形 17"/>
          <p:cNvSpPr/>
          <p:nvPr/>
        </p:nvSpPr>
        <p:spPr>
          <a:xfrm>
            <a:off x="1900630" y="2882629"/>
            <a:ext cx="70831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pc-&gt;next = pa;   pc = pa;   pa = pa-&gt;next;</a:t>
            </a:r>
          </a:p>
        </p:txBody>
      </p:sp>
      <p:sp>
        <p:nvSpPr>
          <p:cNvPr id="58" name="Rectangle 11"/>
          <p:cNvSpPr>
            <a:spLocks noChangeArrowheads="1"/>
          </p:cNvSpPr>
          <p:nvPr/>
        </p:nvSpPr>
        <p:spPr bwMode="auto">
          <a:xfrm>
            <a:off x="7577882" y="6029219"/>
            <a:ext cx="610870" cy="4315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123" tIns="46966" rIns="90123" bIns="46966" anchor="ctr"/>
          <a:lstStyle/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999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</a:t>
            </a:r>
            <a:endParaRPr lang="zh-CN" altLang="en-US" sz="1999" b="1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" name="Rectangle 12"/>
          <p:cNvSpPr>
            <a:spLocks noChangeArrowheads="1"/>
          </p:cNvSpPr>
          <p:nvPr/>
        </p:nvSpPr>
        <p:spPr bwMode="auto">
          <a:xfrm>
            <a:off x="8187165" y="6029219"/>
            <a:ext cx="304641" cy="4315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123" tIns="46966" rIns="90123" bIns="46966"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en-US" sz="1599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3" name="Rectangle 8"/>
          <p:cNvSpPr>
            <a:spLocks noChangeArrowheads="1"/>
          </p:cNvSpPr>
          <p:nvPr/>
        </p:nvSpPr>
        <p:spPr bwMode="auto">
          <a:xfrm>
            <a:off x="6426354" y="6029219"/>
            <a:ext cx="610552" cy="4315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123" tIns="46966" rIns="90123" bIns="46966" anchor="ctr"/>
          <a:lstStyle/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999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69" name="Rectangle 9"/>
          <p:cNvSpPr>
            <a:spLocks noChangeArrowheads="1"/>
          </p:cNvSpPr>
          <p:nvPr/>
        </p:nvSpPr>
        <p:spPr bwMode="auto">
          <a:xfrm>
            <a:off x="7035636" y="6029219"/>
            <a:ext cx="304641" cy="4315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123" tIns="46966" rIns="90123" bIns="46966" anchor="ctr"/>
          <a:lstStyle/>
          <a:p>
            <a:pPr algn="ctr"/>
            <a:endParaRPr lang="en-US" sz="1599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5224548" y="6029219"/>
            <a:ext cx="913924" cy="431575"/>
            <a:chOff x="531019" y="4516626"/>
            <a:chExt cx="914400" cy="431800"/>
          </a:xfrm>
        </p:grpSpPr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531019" y="4516626"/>
              <a:ext cx="610870" cy="431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123" tIns="46966" rIns="90123" bIns="46966" anchor="ctr"/>
            <a:lstStyle>
              <a:lvl1pPr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3333FF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999" b="1" baseline="-16000" dirty="0">
                <a:solidFill>
                  <a:srgbClr val="0070C0"/>
                </a:solidFill>
              </a:endParaRPr>
            </a:p>
          </p:txBody>
        </p:sp>
        <p:sp>
          <p:nvSpPr>
            <p:cNvPr id="75" name="Rectangle 9"/>
            <p:cNvSpPr>
              <a:spLocks noChangeArrowheads="1"/>
            </p:cNvSpPr>
            <p:nvPr/>
          </p:nvSpPr>
          <p:spPr bwMode="auto">
            <a:xfrm>
              <a:off x="1140619" y="4516626"/>
              <a:ext cx="304800" cy="431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123" tIns="46966" rIns="90123" bIns="46966" anchor="ctr"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en-US" sz="1599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84" name="Line 31"/>
          <p:cNvSpPr>
            <a:spLocks noChangeShapeType="1"/>
          </p:cNvSpPr>
          <p:nvPr/>
        </p:nvSpPr>
        <p:spPr bwMode="auto">
          <a:xfrm flipV="1">
            <a:off x="4744282" y="6173160"/>
            <a:ext cx="480266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799"/>
          </a:p>
        </p:txBody>
      </p:sp>
      <p:sp>
        <p:nvSpPr>
          <p:cNvPr id="85" name="Line 14"/>
          <p:cNvSpPr>
            <a:spLocks noChangeShapeType="1"/>
          </p:cNvSpPr>
          <p:nvPr/>
        </p:nvSpPr>
        <p:spPr bwMode="auto">
          <a:xfrm>
            <a:off x="5986151" y="6243243"/>
            <a:ext cx="4569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0794"/>
          <a:lstStyle/>
          <a:p>
            <a:endParaRPr lang="zh-CN" altLang="en-US" sz="1799"/>
          </a:p>
        </p:txBody>
      </p:sp>
      <p:sp>
        <p:nvSpPr>
          <p:cNvPr id="86" name="Line 14"/>
          <p:cNvSpPr>
            <a:spLocks noChangeShapeType="1"/>
          </p:cNvSpPr>
          <p:nvPr/>
        </p:nvSpPr>
        <p:spPr bwMode="auto">
          <a:xfrm flipV="1">
            <a:off x="7172250" y="6243243"/>
            <a:ext cx="400090" cy="18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0794"/>
          <a:lstStyle/>
          <a:p>
            <a:endParaRPr lang="zh-CN" altLang="en-US" sz="1799"/>
          </a:p>
        </p:txBody>
      </p:sp>
      <p:sp>
        <p:nvSpPr>
          <p:cNvPr id="87" name="Text Box 21"/>
          <p:cNvSpPr txBox="1">
            <a:spLocks noChangeArrowheads="1"/>
          </p:cNvSpPr>
          <p:nvPr/>
        </p:nvSpPr>
        <p:spPr bwMode="auto">
          <a:xfrm>
            <a:off x="8172396" y="6064880"/>
            <a:ext cx="321807" cy="46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399" dirty="0">
                <a:solidFill>
                  <a:srgbClr val="000000"/>
                </a:solidFill>
                <a:ea typeface="楷体_GB2312" pitchFamily="49" charset="-122"/>
              </a:rPr>
              <a:t>^</a:t>
            </a:r>
            <a:endParaRPr lang="zh-CN" altLang="zh-CN" sz="2399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88" name="Text Box 21"/>
          <p:cNvSpPr txBox="1">
            <a:spLocks noChangeArrowheads="1"/>
          </p:cNvSpPr>
          <p:nvPr/>
        </p:nvSpPr>
        <p:spPr bwMode="auto">
          <a:xfrm>
            <a:off x="10607412" y="4928672"/>
            <a:ext cx="321807" cy="393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72000" rIns="0" bIns="0" anchor="b" anchorCtr="0">
            <a:spAutoFit/>
          </a:bodyPr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399" dirty="0">
                <a:solidFill>
                  <a:srgbClr val="000000"/>
                </a:solidFill>
                <a:ea typeface="楷体_GB2312" pitchFamily="49" charset="-122"/>
              </a:rPr>
              <a:t>^</a:t>
            </a:r>
            <a:endParaRPr lang="zh-CN" altLang="zh-CN" sz="2399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89" name="Text Box 21"/>
          <p:cNvSpPr txBox="1">
            <a:spLocks noChangeArrowheads="1"/>
          </p:cNvSpPr>
          <p:nvPr/>
        </p:nvSpPr>
        <p:spPr bwMode="auto">
          <a:xfrm>
            <a:off x="4748611" y="4527465"/>
            <a:ext cx="513808" cy="399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999" dirty="0">
                <a:solidFill>
                  <a:srgbClr val="00B050"/>
                </a:solidFill>
                <a:ea typeface="楷体_GB2312" pitchFamily="49" charset="-122"/>
              </a:rPr>
              <a:t>La</a:t>
            </a:r>
            <a:endParaRPr lang="zh-CN" altLang="zh-CN" sz="1999" dirty="0">
              <a:solidFill>
                <a:srgbClr val="00B050"/>
              </a:solidFill>
              <a:ea typeface="楷体_GB2312" pitchFamily="49" charset="-122"/>
            </a:endParaRPr>
          </a:p>
        </p:txBody>
      </p:sp>
      <p:sp>
        <p:nvSpPr>
          <p:cNvPr id="90" name="Text Box 21"/>
          <p:cNvSpPr txBox="1">
            <a:spLocks noChangeArrowheads="1"/>
          </p:cNvSpPr>
          <p:nvPr/>
        </p:nvSpPr>
        <p:spPr bwMode="auto">
          <a:xfrm>
            <a:off x="4703355" y="5717401"/>
            <a:ext cx="513808" cy="399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3333FF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3333FF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SzPct val="40000"/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999" dirty="0" err="1">
                <a:solidFill>
                  <a:srgbClr val="FF0000"/>
                </a:solidFill>
                <a:ea typeface="楷体_GB2312" pitchFamily="49" charset="-122"/>
              </a:rPr>
              <a:t>Lb</a:t>
            </a:r>
            <a:endParaRPr lang="zh-CN" altLang="zh-CN" sz="1999" dirty="0">
              <a:solidFill>
                <a:srgbClr val="FF0000"/>
              </a:solidFill>
              <a:ea typeface="楷体_GB2312" pitchFamily="49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327633" y="5620091"/>
            <a:ext cx="486380" cy="402420"/>
            <a:chOff x="1634679" y="3893780"/>
            <a:chExt cx="486633" cy="616134"/>
          </a:xfrm>
        </p:grpSpPr>
        <p:sp>
          <p:nvSpPr>
            <p:cNvPr id="91" name="Line 48"/>
            <p:cNvSpPr>
              <a:spLocks noChangeShapeType="1"/>
            </p:cNvSpPr>
            <p:nvPr/>
          </p:nvSpPr>
          <p:spPr bwMode="auto">
            <a:xfrm>
              <a:off x="2062426" y="3900314"/>
              <a:ext cx="0" cy="609600"/>
            </a:xfrm>
            <a:prstGeom prst="line">
              <a:avLst/>
            </a:prstGeom>
            <a:ln w="34925">
              <a:solidFill>
                <a:srgbClr val="FF0000"/>
              </a:solidFill>
              <a:headEnd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>
              <a:spAutoFit/>
            </a:bodyPr>
            <a:lstStyle/>
            <a:p>
              <a:endParaRPr lang="zh-CN" altLang="en-US" sz="1799"/>
            </a:p>
          </p:txBody>
        </p:sp>
        <p:sp>
          <p:nvSpPr>
            <p:cNvPr id="92" name="Text Box 21"/>
            <p:cNvSpPr txBox="1">
              <a:spLocks noChangeArrowheads="1"/>
            </p:cNvSpPr>
            <p:nvPr/>
          </p:nvSpPr>
          <p:spPr bwMode="auto">
            <a:xfrm>
              <a:off x="1634679" y="3893780"/>
              <a:ext cx="486633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3333FF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1999" dirty="0">
                  <a:solidFill>
                    <a:srgbClr val="FF0000"/>
                  </a:solidFill>
                  <a:ea typeface="楷体_GB2312" pitchFamily="49" charset="-122"/>
                </a:rPr>
                <a:t>p</a:t>
              </a:r>
              <a:r>
                <a:rPr lang="en-US" altLang="zh-CN" sz="1999" dirty="0">
                  <a:solidFill>
                    <a:srgbClr val="FF0000"/>
                  </a:solidFill>
                  <a:ea typeface="楷体_GB2312" pitchFamily="49" charset="-122"/>
                </a:rPr>
                <a:t>b</a:t>
              </a:r>
              <a:endParaRPr lang="zh-CN" altLang="zh-CN" sz="1999" dirty="0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104135" y="4288254"/>
            <a:ext cx="486380" cy="593210"/>
            <a:chOff x="410543" y="2637706"/>
            <a:chExt cx="486633" cy="725799"/>
          </a:xfrm>
        </p:grpSpPr>
        <p:sp>
          <p:nvSpPr>
            <p:cNvPr id="93" name="Line 48"/>
            <p:cNvSpPr>
              <a:spLocks noChangeShapeType="1"/>
            </p:cNvSpPr>
            <p:nvPr/>
          </p:nvSpPr>
          <p:spPr bwMode="auto">
            <a:xfrm>
              <a:off x="878521" y="2753905"/>
              <a:ext cx="0" cy="609600"/>
            </a:xfrm>
            <a:prstGeom prst="line">
              <a:avLst/>
            </a:prstGeom>
            <a:ln w="34925">
              <a:solidFill>
                <a:srgbClr val="0066FF"/>
              </a:solidFill>
              <a:headEnd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>
              <a:spAutoFit/>
            </a:bodyPr>
            <a:lstStyle/>
            <a:p>
              <a:endParaRPr lang="zh-CN" altLang="en-US" sz="1799"/>
            </a:p>
          </p:txBody>
        </p:sp>
        <p:sp>
          <p:nvSpPr>
            <p:cNvPr id="94" name="Text Box 21"/>
            <p:cNvSpPr txBox="1">
              <a:spLocks noChangeArrowheads="1"/>
            </p:cNvSpPr>
            <p:nvPr/>
          </p:nvSpPr>
          <p:spPr bwMode="auto">
            <a:xfrm>
              <a:off x="410543" y="2637706"/>
              <a:ext cx="486633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3333FF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zh-CN" sz="1999" dirty="0">
                  <a:solidFill>
                    <a:srgbClr val="0066FF"/>
                  </a:solidFill>
                  <a:ea typeface="楷体_GB2312" pitchFamily="49" charset="-122"/>
                </a:rPr>
                <a:t>p</a:t>
              </a:r>
              <a:r>
                <a:rPr lang="en-US" altLang="zh-CN" sz="1999" dirty="0">
                  <a:solidFill>
                    <a:srgbClr val="0066FF"/>
                  </a:solidFill>
                  <a:ea typeface="楷体_GB2312" pitchFamily="49" charset="-122"/>
                </a:rPr>
                <a:t>c</a:t>
              </a:r>
              <a:endParaRPr lang="zh-CN" altLang="zh-CN" sz="1999" dirty="0">
                <a:solidFill>
                  <a:srgbClr val="0066FF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700361" y="5190786"/>
            <a:ext cx="552236" cy="399902"/>
            <a:chOff x="-21505" y="3677756"/>
            <a:chExt cx="552524" cy="400110"/>
          </a:xfrm>
        </p:grpSpPr>
        <p:sp>
          <p:nvSpPr>
            <p:cNvPr id="95" name="Line 31"/>
            <p:cNvSpPr>
              <a:spLocks noChangeShapeType="1"/>
            </p:cNvSpPr>
            <p:nvPr/>
          </p:nvSpPr>
          <p:spPr bwMode="auto">
            <a:xfrm flipV="1">
              <a:off x="50503" y="3717826"/>
              <a:ext cx="480516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96" name="Text Box 21"/>
            <p:cNvSpPr txBox="1">
              <a:spLocks noChangeArrowheads="1"/>
            </p:cNvSpPr>
            <p:nvPr/>
          </p:nvSpPr>
          <p:spPr bwMode="auto">
            <a:xfrm>
              <a:off x="-21505" y="3677756"/>
              <a:ext cx="51407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3333FF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3333FF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SzPct val="40000"/>
                <a:buFont typeface="Wingdings" panose="05000000000000000000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999" dirty="0" err="1">
                  <a:solidFill>
                    <a:srgbClr val="0066FF"/>
                  </a:solidFill>
                  <a:ea typeface="楷体_GB2312" pitchFamily="49" charset="-122"/>
                </a:rPr>
                <a:t>Lc</a:t>
              </a:r>
              <a:endParaRPr lang="zh-CN" altLang="zh-CN" sz="1999" dirty="0">
                <a:solidFill>
                  <a:srgbClr val="0066FF"/>
                </a:solidFill>
                <a:ea typeface="楷体_GB2312" pitchFamily="49" charset="-122"/>
              </a:endParaRPr>
            </a:p>
          </p:txBody>
        </p:sp>
      </p:grp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74C03216-935E-4326-876D-B48AFBCC8FF3}"/>
              </a:ext>
            </a:extLst>
          </p:cNvPr>
          <p:cNvCxnSpPr>
            <a:cxnSpLocks/>
          </p:cNvCxnSpPr>
          <p:nvPr/>
        </p:nvCxnSpPr>
        <p:spPr>
          <a:xfrm>
            <a:off x="1634003" y="2936572"/>
            <a:ext cx="4001253" cy="0"/>
          </a:xfrm>
          <a:prstGeom prst="line">
            <a:avLst/>
          </a:prstGeom>
          <a:ln w="381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74C03216-935E-4326-876D-B48AFBCC8FF3}"/>
              </a:ext>
            </a:extLst>
          </p:cNvPr>
          <p:cNvCxnSpPr>
            <a:cxnSpLocks/>
          </p:cNvCxnSpPr>
          <p:nvPr/>
        </p:nvCxnSpPr>
        <p:spPr>
          <a:xfrm>
            <a:off x="1634003" y="3589450"/>
            <a:ext cx="1114513" cy="0"/>
          </a:xfrm>
          <a:prstGeom prst="line">
            <a:avLst/>
          </a:prstGeom>
          <a:ln w="381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Line 14"/>
          <p:cNvSpPr>
            <a:spLocks noChangeShapeType="1"/>
          </p:cNvSpPr>
          <p:nvPr/>
        </p:nvSpPr>
        <p:spPr bwMode="auto">
          <a:xfrm flipH="1">
            <a:off x="6957439" y="5082829"/>
            <a:ext cx="234883" cy="939682"/>
          </a:xfrm>
          <a:prstGeom prst="line">
            <a:avLst/>
          </a:prstGeom>
          <a:ln w="34925">
            <a:solidFill>
              <a:srgbClr val="C00000"/>
            </a:solidFill>
            <a:headEnd type="oval" w="med" len="med"/>
            <a:tailEnd type="triangle" w="med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tIns="10794"/>
          <a:lstStyle/>
          <a:p>
            <a:endParaRPr lang="zh-CN" altLang="en-US" sz="1799"/>
          </a:p>
        </p:txBody>
      </p:sp>
      <p:sp>
        <p:nvSpPr>
          <p:cNvPr id="100" name="Line 14"/>
          <p:cNvSpPr>
            <a:spLocks noChangeShapeType="1"/>
          </p:cNvSpPr>
          <p:nvPr/>
        </p:nvSpPr>
        <p:spPr bwMode="auto">
          <a:xfrm flipV="1">
            <a:off x="7171563" y="5309265"/>
            <a:ext cx="747827" cy="939681"/>
          </a:xfrm>
          <a:prstGeom prst="line">
            <a:avLst/>
          </a:prstGeom>
          <a:ln w="34925">
            <a:solidFill>
              <a:srgbClr val="C00000"/>
            </a:solidFill>
            <a:headEnd type="oval" w="med" len="med"/>
            <a:tailEnd type="triangle" w="med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tIns="10794"/>
          <a:lstStyle/>
          <a:p>
            <a:endParaRPr lang="zh-CN" altLang="en-US" sz="1799"/>
          </a:p>
        </p:txBody>
      </p:sp>
      <p:sp>
        <p:nvSpPr>
          <p:cNvPr id="101" name="Line 14"/>
          <p:cNvSpPr>
            <a:spLocks noChangeShapeType="1"/>
          </p:cNvSpPr>
          <p:nvPr/>
        </p:nvSpPr>
        <p:spPr bwMode="auto">
          <a:xfrm flipH="1">
            <a:off x="7954496" y="5106058"/>
            <a:ext cx="391959" cy="916453"/>
          </a:xfrm>
          <a:prstGeom prst="line">
            <a:avLst/>
          </a:prstGeom>
          <a:ln w="34925">
            <a:solidFill>
              <a:srgbClr val="C00000"/>
            </a:solidFill>
            <a:headEnd type="oval" w="med" len="med"/>
            <a:tailEnd type="triangle" w="med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tIns="10794"/>
          <a:lstStyle/>
          <a:p>
            <a:endParaRPr lang="zh-CN" altLang="en-US" sz="1799"/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74C03216-935E-4326-876D-B48AFBCC8FF3}"/>
              </a:ext>
            </a:extLst>
          </p:cNvPr>
          <p:cNvCxnSpPr>
            <a:cxnSpLocks/>
          </p:cNvCxnSpPr>
          <p:nvPr/>
        </p:nvCxnSpPr>
        <p:spPr>
          <a:xfrm>
            <a:off x="1182954" y="2576115"/>
            <a:ext cx="2160986" cy="0"/>
          </a:xfrm>
          <a:prstGeom prst="line">
            <a:avLst/>
          </a:prstGeom>
          <a:ln w="3810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Line 14"/>
          <p:cNvSpPr>
            <a:spLocks noChangeShapeType="1"/>
          </p:cNvSpPr>
          <p:nvPr/>
        </p:nvSpPr>
        <p:spPr bwMode="auto">
          <a:xfrm flipV="1">
            <a:off x="8323409" y="5309266"/>
            <a:ext cx="779865" cy="944411"/>
          </a:xfrm>
          <a:prstGeom prst="line">
            <a:avLst/>
          </a:prstGeom>
          <a:ln w="34925">
            <a:solidFill>
              <a:srgbClr val="C00000"/>
            </a:solidFill>
            <a:headEnd type="oval" w="med" len="med"/>
            <a:tailEnd type="triangle" w="med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tIns="10794"/>
          <a:lstStyle/>
          <a:p>
            <a:endParaRPr lang="zh-CN" altLang="en-US" sz="1799"/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74C03216-935E-4326-876D-B48AFBCC8FF3}"/>
              </a:ext>
            </a:extLst>
          </p:cNvPr>
          <p:cNvCxnSpPr>
            <a:cxnSpLocks/>
          </p:cNvCxnSpPr>
          <p:nvPr/>
        </p:nvCxnSpPr>
        <p:spPr>
          <a:xfrm>
            <a:off x="1087261" y="3928685"/>
            <a:ext cx="2873367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2BCDF5E9-806C-C89B-8FCF-DCDDCB075693}"/>
              </a:ext>
            </a:extLst>
          </p:cNvPr>
          <p:cNvSpPr/>
          <p:nvPr/>
        </p:nvSpPr>
        <p:spPr>
          <a:xfrm>
            <a:off x="1023134" y="1189982"/>
            <a:ext cx="106726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(!La || !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Lb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NULL;      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若</a:t>
            </a: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和</a:t>
            </a:r>
            <a:r>
              <a:rPr lang="en-US" altLang="zh-CN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Lb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不存在，则返回</a:t>
            </a: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，报错</a:t>
            </a:r>
          </a:p>
        </p:txBody>
      </p:sp>
      <p:sp>
        <p:nvSpPr>
          <p:cNvPr id="14" name="灯片编号占位符 1">
            <a:extLst>
              <a:ext uri="{FF2B5EF4-FFF2-40B4-BE49-F238E27FC236}">
                <a16:creationId xmlns:a16="http://schemas.microsoft.com/office/drawing/2014/main" id="{C34B798C-5EF4-95E2-34D2-98786DC3E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2613" y="6367255"/>
            <a:ext cx="2743200" cy="365125"/>
          </a:xfrm>
        </p:spPr>
        <p:txBody>
          <a:bodyPr/>
          <a:lstStyle/>
          <a:p>
            <a:fld id="{D7C0FE0B-717B-41AE-9FA2-CA4BF851D1C3}" type="slidenum">
              <a:rPr lang="zh-CN" altLang="en-US" smtClean="0"/>
              <a:t>19</a:t>
            </a:fld>
            <a:endParaRPr lang="zh-CN" altLang="en-US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56EC987-D167-9B4E-32CD-43686CFC0F3F}"/>
              </a:ext>
            </a:extLst>
          </p:cNvPr>
          <p:cNvCxnSpPr>
            <a:cxnSpLocks/>
          </p:cNvCxnSpPr>
          <p:nvPr/>
        </p:nvCxnSpPr>
        <p:spPr>
          <a:xfrm>
            <a:off x="1033357" y="4208676"/>
            <a:ext cx="2873367" cy="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941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6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00"/>
                            </p:stCondLst>
                            <p:childTnLst>
                              <p:par>
                                <p:cTn id="73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75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000"/>
                            </p:stCondLst>
                            <p:childTnLst>
                              <p:par>
                                <p:cTn id="8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4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8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9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48148E-6 L 0.12031 0.00023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1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000"/>
                            </p:stCondLst>
                            <p:childTnLst>
                              <p:par>
                                <p:cTn id="104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4.44444E-6 L 0.10235 0.00162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17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000"/>
                            </p:stCondLst>
                            <p:childTnLst>
                              <p:par>
                                <p:cTn id="126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3000"/>
                            </p:stCondLst>
                            <p:childTnLst>
                              <p:par>
                                <p:cTn id="13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3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4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500"/>
                            </p:stCondLst>
                            <p:childTnLst>
                              <p:par>
                                <p:cTn id="1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000"/>
                            </p:stCondLst>
                            <p:childTnLst>
                              <p:par>
                                <p:cTn id="1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031 0.00023 L 0.13373 0.16667 " pathEditMode="relative" rAng="0" ptsTypes="AA">
                                      <p:cBhvr>
                                        <p:cTn id="16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4" y="8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4000"/>
                            </p:stCondLst>
                            <p:childTnLst>
                              <p:par>
                                <p:cTn id="169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2.59259E-6 L 0.09232 0.00278 " pathEditMode="relative" rAng="0" ptsTypes="AA">
                                      <p:cBhvr>
                                        <p:cTn id="17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09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6000"/>
                            </p:stCondLst>
                            <p:childTnLst>
                              <p:par>
                                <p:cTn id="172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7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6500"/>
                            </p:stCondLst>
                            <p:childTnLst>
                              <p:par>
                                <p:cTn id="1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8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8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000"/>
                            </p:stCondLst>
                            <p:childTnLst>
                              <p:par>
                                <p:cTn id="19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9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500"/>
                            </p:stCondLst>
                            <p:childTnLst>
                              <p:par>
                                <p:cTn id="2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1000"/>
                            </p:stCondLst>
                            <p:childTnLst>
                              <p:par>
                                <p:cTn id="213" presetID="56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373 0.16667 L 0.21393 -0.00232 " pathEditMode="relative" rAng="0" ptsTypes="AA">
                                      <p:cBhvr>
                                        <p:cTn id="21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10" y="-8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3000"/>
                            </p:stCondLst>
                            <p:childTnLst>
                              <p:par>
                                <p:cTn id="216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724 -0.00093 L 0.25 4.44444E-6 " pathEditMode="relative" rAng="0" ptsTypes="AA">
                                      <p:cBhvr>
                                        <p:cTn id="21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38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5000"/>
                            </p:stCondLst>
                            <p:childTnLst>
                              <p:par>
                                <p:cTn id="219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3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3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1000"/>
                            </p:stCondLst>
                            <p:childTnLst>
                              <p:par>
                                <p:cTn id="23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2000"/>
                            </p:stCondLst>
                            <p:childTnLst>
                              <p:par>
                                <p:cTn id="24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4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5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500"/>
                            </p:stCondLst>
                            <p:childTnLst>
                              <p:par>
                                <p:cTn id="2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500"/>
                            </p:stCondLst>
                            <p:childTnLst>
                              <p:par>
                                <p:cTn id="2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1000"/>
                            </p:stCondLst>
                            <p:childTnLst>
                              <p:par>
                                <p:cTn id="27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393 -0.00232 L 0.21784 0.16667 " pathEditMode="relative" rAng="0" ptsTypes="AA">
                                      <p:cBhvr>
                                        <p:cTn id="27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" y="8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3000"/>
                            </p:stCondLst>
                            <p:childTnLst>
                              <p:par>
                                <p:cTn id="273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232 0.00278 L 0.21029 0.00047 " pathEditMode="relative" rAng="0" ptsTypes="AA">
                                      <p:cBhvr>
                                        <p:cTn id="27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98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5000"/>
                            </p:stCondLst>
                            <p:childTnLst>
                              <p:par>
                                <p:cTn id="276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77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6000"/>
                            </p:stCondLst>
                            <p:childTnLst>
                              <p:par>
                                <p:cTn id="2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500"/>
                            </p:stCondLst>
                            <p:childTnLst>
                              <p:par>
                                <p:cTn id="28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1000"/>
                            </p:stCondLst>
                            <p:childTnLst>
                              <p:par>
                                <p:cTn id="2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1500"/>
                            </p:stCondLst>
                            <p:childTnLst>
                              <p:par>
                                <p:cTn id="2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500"/>
                            </p:stCondLst>
                            <p:childTnLst>
                              <p:par>
                                <p:cTn id="306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0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1000"/>
                            </p:stCondLst>
                            <p:childTnLst>
                              <p:par>
                                <p:cTn id="3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8" fill="hold">
                            <p:stCondLst>
                              <p:cond delay="500"/>
                            </p:stCondLst>
                            <p:childTnLst>
                              <p:par>
                                <p:cTn id="31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1000"/>
                            </p:stCondLst>
                            <p:childTnLst>
                              <p:par>
                                <p:cTn id="329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4" grpId="0"/>
      <p:bldP spid="12" grpId="0"/>
      <p:bldP spid="41" grpId="0"/>
      <p:bldP spid="51" grpId="0" animBg="1"/>
      <p:bldP spid="82" grpId="0" animBg="1"/>
      <p:bldP spid="17" grpId="0"/>
      <p:bldP spid="18" grpId="0"/>
      <p:bldP spid="84" grpId="0" animBg="1"/>
      <p:bldP spid="85" grpId="0" animBg="1"/>
      <p:bldP spid="86" grpId="0" animBg="1"/>
      <p:bldP spid="90" grpId="0"/>
      <p:bldP spid="99" grpId="0" animBg="1"/>
      <p:bldP spid="100" grpId="0" animBg="1"/>
      <p:bldP spid="101" grpId="0" animBg="1"/>
      <p:bldP spid="103" grpId="0" animBg="1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E404AE5-C56D-2D09-E748-D059820A5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1B6753E-24BF-1383-31DA-AE86A3F71994}"/>
              </a:ext>
            </a:extLst>
          </p:cNvPr>
          <p:cNvSpPr txBox="1"/>
          <p:nvPr/>
        </p:nvSpPr>
        <p:spPr>
          <a:xfrm>
            <a:off x="581913" y="2776464"/>
            <a:ext cx="10903561" cy="369331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CN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Status</a:t>
            </a:r>
            <a:r>
              <a:rPr lang="en-US" altLang="zh-CN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ListInsert</a:t>
            </a:r>
            <a:r>
              <a:rPr lang="en-US" altLang="zh-CN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DuLinkList</a:t>
            </a:r>
            <a:r>
              <a:rPr lang="en-US" altLang="zh-CN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L, </a:t>
            </a:r>
            <a:r>
              <a:rPr lang="en-US" altLang="zh-CN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e) {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等线" panose="02010600030101010101" pitchFamily="2" charset="-122"/>
                <a:ea typeface="黑体" panose="02010609060101010101" pitchFamily="49" charset="-122"/>
                <a:cs typeface="Courier New" panose="02070309020205020404" pitchFamily="49" charset="0"/>
              </a:rPr>
              <a:t>算法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等线" panose="02010600030101010101" pitchFamily="2" charset="-122"/>
                <a:ea typeface="黑体" panose="02010609060101010101" pitchFamily="49" charset="-122"/>
                <a:cs typeface="Courier New" panose="02070309020205020404" pitchFamily="49" charset="0"/>
              </a:rPr>
              <a:t> 2.15</a:t>
            </a:r>
            <a:endParaRPr lang="zh-CN" altLang="zh-CN" kern="100" dirty="0">
              <a:solidFill>
                <a:schemeClr val="accent6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在带头结点双向循环线性表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中第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个元素结点之前插入元素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≤表长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endParaRPr lang="zh-CN" altLang="zh-CN" kern="100" dirty="0">
              <a:solidFill>
                <a:schemeClr val="accent6">
                  <a:lumMod val="75000"/>
                </a:schemeClr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if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 || 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&lt;1) </a:t>
            </a: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ERROR;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若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和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不合法，则报错</a:t>
            </a:r>
            <a:endParaRPr lang="zh-CN" altLang="zh-CN" kern="100" dirty="0">
              <a:solidFill>
                <a:schemeClr val="accent6">
                  <a:lumMod val="75000"/>
                </a:schemeClr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DuLNode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*p, *s;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if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(p = 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GetElemPos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(L, 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-1))) </a:t>
            </a: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ERROR;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p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指向位序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的结点，若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空则报错</a:t>
            </a:r>
            <a:endParaRPr lang="zh-CN" altLang="zh-CN" kern="100" dirty="0">
              <a:solidFill>
                <a:schemeClr val="accent6">
                  <a:lumMod val="75000"/>
                </a:schemeClr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if 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 = (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DuLNode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*)</a:t>
            </a: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malloc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sizeof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DuLNode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)))) </a:t>
            </a: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exit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(OVERFLOW);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分配插入结点</a:t>
            </a:r>
            <a:endParaRPr lang="zh-CN" altLang="zh-CN" kern="100" dirty="0">
              <a:solidFill>
                <a:schemeClr val="accent6">
                  <a:lumMod val="75000"/>
                </a:schemeClr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s-&gt;data = e;  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置入元素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lang="zh-CN" altLang="zh-CN" kern="1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s-&gt;next = p-&gt;next;	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// </a:t>
            </a:r>
            <a:r>
              <a:rPr lang="en-US" altLang="zh-CN" b="1" kern="10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①</a:t>
            </a:r>
          </a:p>
          <a:p>
            <a:pPr algn="just">
              <a:buNone/>
            </a:pPr>
            <a:r>
              <a:rPr lang="en-US" altLang="zh-CN" kern="1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p-&gt;next-&gt;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prev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s;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en-US" altLang="zh-CN" b="1" kern="10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结点的后继双向链接为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结点的后继</a:t>
            </a:r>
          </a:p>
          <a:p>
            <a:pPr algn="just">
              <a:buNone/>
            </a:pP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s-&gt;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prev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p;  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en-US" altLang="zh-CN" b="1" kern="10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③</a:t>
            </a:r>
          </a:p>
          <a:p>
            <a:pPr algn="just">
              <a:buNone/>
            </a:pPr>
            <a:r>
              <a:rPr lang="en-US" altLang="zh-CN" kern="1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p-&gt;next = s;  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en-US" altLang="zh-CN" b="1" kern="10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④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结点双向链接为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结点的后继（和上一行语句不能对调）</a:t>
            </a:r>
          </a:p>
          <a:p>
            <a:pPr algn="just">
              <a:buNone/>
            </a:pP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return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OK;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  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7862B5A-CDB2-FAF0-7B78-DE777D83D067}"/>
              </a:ext>
            </a:extLst>
          </p:cNvPr>
          <p:cNvSpPr/>
          <p:nvPr/>
        </p:nvSpPr>
        <p:spPr>
          <a:xfrm>
            <a:off x="1448780" y="213216"/>
            <a:ext cx="4326092" cy="57505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算法</a:t>
            </a:r>
            <a:r>
              <a:rPr lang="en-US" altLang="zh-CN" sz="2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2.15  </a:t>
            </a:r>
            <a:r>
              <a:rPr lang="zh-CN" altLang="en-US" sz="2600" b="1" dirty="0">
                <a:solidFill>
                  <a:srgbClr val="2D04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双向链表的插入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68ACDAD-0629-F760-58F5-71DE4F1474AF}"/>
              </a:ext>
            </a:extLst>
          </p:cNvPr>
          <p:cNvGrpSpPr/>
          <p:nvPr/>
        </p:nvGrpSpPr>
        <p:grpSpPr>
          <a:xfrm>
            <a:off x="7333892" y="1305415"/>
            <a:ext cx="959589" cy="388800"/>
            <a:chOff x="1170292" y="1012713"/>
            <a:chExt cx="959589" cy="388800"/>
          </a:xfrm>
        </p:grpSpPr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D11CA2F0-28C5-4755-CC5D-7CE5210D55B4}"/>
                </a:ext>
              </a:extLst>
            </p:cNvPr>
            <p:cNvSpPr txBox="1"/>
            <p:nvPr/>
          </p:nvSpPr>
          <p:spPr>
            <a:xfrm>
              <a:off x="1893524" y="1012713"/>
              <a:ext cx="236357" cy="388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algn="ctr">
                <a:defRPr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endParaRPr lang="zh-CN" altLang="en-US" sz="2000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69318C9F-7898-90BE-77B7-E6FD238B2048}"/>
                </a:ext>
              </a:extLst>
            </p:cNvPr>
            <p:cNvSpPr txBox="1"/>
            <p:nvPr/>
          </p:nvSpPr>
          <p:spPr>
            <a:xfrm>
              <a:off x="1406236" y="1012713"/>
              <a:ext cx="491837" cy="388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algn="ctr">
                <a:defRPr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sz="2000" i="1" dirty="0"/>
                <a:t>a</a:t>
              </a:r>
              <a:r>
                <a:rPr lang="en-US" altLang="zh-CN" sz="2000" i="1" baseline="-25000" dirty="0"/>
                <a:t>i</a:t>
              </a:r>
              <a:r>
                <a:rPr lang="en-US" altLang="zh-CN" sz="2000" baseline="-25000" dirty="0"/>
                <a:t>-1</a:t>
              </a:r>
              <a:endParaRPr lang="zh-CN" altLang="en-US" sz="2000" baseline="-25000" dirty="0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7AB26751-C6EF-EF56-4616-5DFCB1076D24}"/>
                </a:ext>
              </a:extLst>
            </p:cNvPr>
            <p:cNvSpPr txBox="1"/>
            <p:nvPr/>
          </p:nvSpPr>
          <p:spPr>
            <a:xfrm>
              <a:off x="1170292" y="1012713"/>
              <a:ext cx="236357" cy="388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algn="ctr">
                <a:defRPr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endParaRPr lang="zh-CN" altLang="en-US" sz="2000" dirty="0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A58600C3-73C9-62D3-FB96-D4F1DEEFCFA2}"/>
                </a:ext>
              </a:extLst>
            </p:cNvPr>
            <p:cNvSpPr/>
            <p:nvPr/>
          </p:nvSpPr>
          <p:spPr>
            <a:xfrm>
              <a:off x="1170292" y="1012713"/>
              <a:ext cx="959589" cy="388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A6EB0AB6-C2F2-C108-1098-B89C17E05755}"/>
              </a:ext>
            </a:extLst>
          </p:cNvPr>
          <p:cNvGrpSpPr/>
          <p:nvPr/>
        </p:nvGrpSpPr>
        <p:grpSpPr>
          <a:xfrm>
            <a:off x="8124579" y="2150542"/>
            <a:ext cx="959589" cy="388800"/>
            <a:chOff x="1170292" y="1012713"/>
            <a:chExt cx="959589" cy="388800"/>
          </a:xfrm>
        </p:grpSpPr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4A4AF1D2-C2DD-47AA-8CFB-D83FEE44DBFC}"/>
                </a:ext>
              </a:extLst>
            </p:cNvPr>
            <p:cNvSpPr txBox="1"/>
            <p:nvPr/>
          </p:nvSpPr>
          <p:spPr>
            <a:xfrm>
              <a:off x="1893524" y="1012713"/>
              <a:ext cx="236357" cy="388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algn="ctr">
                <a:defRPr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endParaRPr lang="zh-CN" altLang="en-US" sz="2000" dirty="0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DA5657AC-9A7D-478E-C674-9862423E66B5}"/>
                </a:ext>
              </a:extLst>
            </p:cNvPr>
            <p:cNvSpPr txBox="1"/>
            <p:nvPr/>
          </p:nvSpPr>
          <p:spPr>
            <a:xfrm>
              <a:off x="1406236" y="1012713"/>
              <a:ext cx="491837" cy="38048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algn="ctr">
                <a:defRPr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endParaRPr lang="zh-CN" altLang="en-US" sz="2000" dirty="0">
                <a:solidFill>
                  <a:srgbClr val="C00000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F089228B-8FB4-37C5-4676-42E0BEFC9D96}"/>
                </a:ext>
              </a:extLst>
            </p:cNvPr>
            <p:cNvSpPr txBox="1"/>
            <p:nvPr/>
          </p:nvSpPr>
          <p:spPr>
            <a:xfrm>
              <a:off x="1170292" y="1012713"/>
              <a:ext cx="236357" cy="388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algn="ctr">
                <a:defRPr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endParaRPr lang="zh-CN" altLang="en-US" sz="2000" dirty="0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677B21F5-C20A-B934-5FBB-78CBB969B7DE}"/>
                </a:ext>
              </a:extLst>
            </p:cNvPr>
            <p:cNvSpPr/>
            <p:nvPr/>
          </p:nvSpPr>
          <p:spPr>
            <a:xfrm>
              <a:off x="1170292" y="1012713"/>
              <a:ext cx="959589" cy="388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4A0CED21-4028-5704-9251-027B2E9A28FA}"/>
              </a:ext>
            </a:extLst>
          </p:cNvPr>
          <p:cNvGrpSpPr/>
          <p:nvPr/>
        </p:nvGrpSpPr>
        <p:grpSpPr>
          <a:xfrm>
            <a:off x="8780356" y="1305415"/>
            <a:ext cx="959589" cy="388800"/>
            <a:chOff x="1170292" y="1012713"/>
            <a:chExt cx="959589" cy="388800"/>
          </a:xfrm>
        </p:grpSpPr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0E8838F4-5455-1FF0-6818-98DBA3023E5E}"/>
                </a:ext>
              </a:extLst>
            </p:cNvPr>
            <p:cNvSpPr txBox="1"/>
            <p:nvPr/>
          </p:nvSpPr>
          <p:spPr>
            <a:xfrm>
              <a:off x="1893524" y="1012713"/>
              <a:ext cx="236357" cy="388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algn="ctr">
                <a:defRPr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endParaRPr lang="zh-CN" altLang="en-US" sz="2000" dirty="0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3FE1F472-21FB-2C0E-9480-7A1D1950B2AC}"/>
                </a:ext>
              </a:extLst>
            </p:cNvPr>
            <p:cNvSpPr txBox="1"/>
            <p:nvPr/>
          </p:nvSpPr>
          <p:spPr>
            <a:xfrm>
              <a:off x="1406236" y="1012713"/>
              <a:ext cx="491837" cy="388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algn="ctr">
                <a:defRPr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sz="2000" i="1" dirty="0"/>
                <a:t>a</a:t>
              </a:r>
              <a:r>
                <a:rPr lang="en-US" altLang="zh-CN" sz="2000" i="1" baseline="-25000" dirty="0"/>
                <a:t>i</a:t>
              </a:r>
              <a:endParaRPr lang="zh-CN" altLang="en-US" sz="2000" baseline="-25000" dirty="0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06E68915-9C5A-66F7-63F3-2BE1AD019BA2}"/>
                </a:ext>
              </a:extLst>
            </p:cNvPr>
            <p:cNvSpPr txBox="1"/>
            <p:nvPr/>
          </p:nvSpPr>
          <p:spPr>
            <a:xfrm>
              <a:off x="1170292" y="1012713"/>
              <a:ext cx="236357" cy="388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algn="ctr">
                <a:defRPr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endParaRPr lang="zh-CN" altLang="en-US" sz="2000" dirty="0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DCC5A2CA-C959-76F1-E635-7770E990B2C7}"/>
                </a:ext>
              </a:extLst>
            </p:cNvPr>
            <p:cNvSpPr/>
            <p:nvPr/>
          </p:nvSpPr>
          <p:spPr>
            <a:xfrm>
              <a:off x="1170292" y="1012713"/>
              <a:ext cx="959589" cy="388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</p:grp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046627A1-58FF-CDFC-B647-67FC66338A23}"/>
              </a:ext>
            </a:extLst>
          </p:cNvPr>
          <p:cNvCxnSpPr>
            <a:cxnSpLocks/>
          </p:cNvCxnSpPr>
          <p:nvPr/>
        </p:nvCxnSpPr>
        <p:spPr>
          <a:xfrm>
            <a:off x="8175302" y="1425268"/>
            <a:ext cx="605054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155D16ED-8106-CEE9-FE3A-EA07B88C4285}"/>
              </a:ext>
            </a:extLst>
          </p:cNvPr>
          <p:cNvCxnSpPr>
            <a:cxnSpLocks/>
          </p:cNvCxnSpPr>
          <p:nvPr/>
        </p:nvCxnSpPr>
        <p:spPr>
          <a:xfrm>
            <a:off x="9622437" y="1425268"/>
            <a:ext cx="605054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1F5D35D0-A970-D43D-1C45-17ED9FB58682}"/>
              </a:ext>
            </a:extLst>
          </p:cNvPr>
          <p:cNvCxnSpPr>
            <a:cxnSpLocks/>
          </p:cNvCxnSpPr>
          <p:nvPr/>
        </p:nvCxnSpPr>
        <p:spPr>
          <a:xfrm>
            <a:off x="6723753" y="1425268"/>
            <a:ext cx="605054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AE52A2CE-9747-3857-E33C-A7449A8FC0D8}"/>
              </a:ext>
            </a:extLst>
          </p:cNvPr>
          <p:cNvCxnSpPr>
            <a:cxnSpLocks/>
          </p:cNvCxnSpPr>
          <p:nvPr/>
        </p:nvCxnSpPr>
        <p:spPr>
          <a:xfrm flipH="1">
            <a:off x="6816515" y="1588411"/>
            <a:ext cx="635555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4B27E8FB-1A95-70E2-2CFF-C956EED5539D}"/>
              </a:ext>
            </a:extLst>
          </p:cNvPr>
          <p:cNvCxnSpPr>
            <a:cxnSpLocks/>
          </p:cNvCxnSpPr>
          <p:nvPr/>
        </p:nvCxnSpPr>
        <p:spPr>
          <a:xfrm flipH="1">
            <a:off x="9739945" y="1595906"/>
            <a:ext cx="544557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1741D818-C40F-90F0-C9C1-9D7A3FA0974C}"/>
              </a:ext>
            </a:extLst>
          </p:cNvPr>
          <p:cNvCxnSpPr>
            <a:cxnSpLocks/>
          </p:cNvCxnSpPr>
          <p:nvPr/>
        </p:nvCxnSpPr>
        <p:spPr>
          <a:xfrm flipH="1">
            <a:off x="8270474" y="1588411"/>
            <a:ext cx="635555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DAAD6166-995E-BEA0-4EF2-3A4AA080D22F}"/>
              </a:ext>
            </a:extLst>
          </p:cNvPr>
          <p:cNvCxnSpPr>
            <a:cxnSpLocks/>
          </p:cNvCxnSpPr>
          <p:nvPr/>
        </p:nvCxnSpPr>
        <p:spPr>
          <a:xfrm flipH="1">
            <a:off x="8164394" y="1425335"/>
            <a:ext cx="10909" cy="725207"/>
          </a:xfrm>
          <a:prstGeom prst="straightConnector1">
            <a:avLst/>
          </a:prstGeom>
          <a:ln w="19050">
            <a:solidFill>
              <a:srgbClr val="C00000"/>
            </a:solidFill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D01157F4-11C0-299E-CB6A-1BD21F488311}"/>
              </a:ext>
            </a:extLst>
          </p:cNvPr>
          <p:cNvCxnSpPr>
            <a:cxnSpLocks/>
          </p:cNvCxnSpPr>
          <p:nvPr/>
        </p:nvCxnSpPr>
        <p:spPr>
          <a:xfrm flipH="1">
            <a:off x="8909494" y="1593274"/>
            <a:ext cx="1" cy="565572"/>
          </a:xfrm>
          <a:prstGeom prst="straightConnector1">
            <a:avLst/>
          </a:prstGeom>
          <a:ln w="19050">
            <a:solidFill>
              <a:srgbClr val="C00000"/>
            </a:solidFill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E008F045-B4C2-21FD-43A7-1B3438B5D39B}"/>
              </a:ext>
            </a:extLst>
          </p:cNvPr>
          <p:cNvCxnSpPr>
            <a:cxnSpLocks/>
          </p:cNvCxnSpPr>
          <p:nvPr/>
        </p:nvCxnSpPr>
        <p:spPr>
          <a:xfrm flipV="1">
            <a:off x="8253307" y="1694215"/>
            <a:ext cx="10973" cy="650728"/>
          </a:xfrm>
          <a:prstGeom prst="straightConnector1">
            <a:avLst/>
          </a:prstGeom>
          <a:ln w="19050">
            <a:solidFill>
              <a:srgbClr val="C00000"/>
            </a:solidFill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31FAB043-40B8-BC70-4ABC-5D64F5D90CB4}"/>
              </a:ext>
            </a:extLst>
          </p:cNvPr>
          <p:cNvCxnSpPr>
            <a:cxnSpLocks/>
          </p:cNvCxnSpPr>
          <p:nvPr/>
        </p:nvCxnSpPr>
        <p:spPr>
          <a:xfrm flipV="1">
            <a:off x="8999269" y="1694214"/>
            <a:ext cx="10973" cy="650728"/>
          </a:xfrm>
          <a:prstGeom prst="straightConnector1">
            <a:avLst/>
          </a:prstGeom>
          <a:ln w="19050">
            <a:solidFill>
              <a:srgbClr val="C00000"/>
            </a:solidFill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8C99E898-D239-01DC-AC19-97577C1FF571}"/>
              </a:ext>
            </a:extLst>
          </p:cNvPr>
          <p:cNvSpPr txBox="1"/>
          <p:nvPr/>
        </p:nvSpPr>
        <p:spPr>
          <a:xfrm>
            <a:off x="9056404" y="1768490"/>
            <a:ext cx="257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611069B0-C337-6F55-E188-170FC72E2CB9}"/>
              </a:ext>
            </a:extLst>
          </p:cNvPr>
          <p:cNvSpPr txBox="1"/>
          <p:nvPr/>
        </p:nvSpPr>
        <p:spPr>
          <a:xfrm>
            <a:off x="8620423" y="1751554"/>
            <a:ext cx="275267" cy="314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AC78601-B5DF-4491-786C-7741BA62C344}"/>
              </a:ext>
            </a:extLst>
          </p:cNvPr>
          <p:cNvSpPr txBox="1"/>
          <p:nvPr/>
        </p:nvSpPr>
        <p:spPr>
          <a:xfrm>
            <a:off x="8304031" y="1769937"/>
            <a:ext cx="275267" cy="314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0A03416E-469C-1649-CE13-775860C6E359}"/>
              </a:ext>
            </a:extLst>
          </p:cNvPr>
          <p:cNvSpPr txBox="1"/>
          <p:nvPr/>
        </p:nvSpPr>
        <p:spPr>
          <a:xfrm>
            <a:off x="7861898" y="1768489"/>
            <a:ext cx="21961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④</a:t>
            </a: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670A4E60-9FFA-D733-E804-5A5109C9CFD2}"/>
              </a:ext>
            </a:extLst>
          </p:cNvPr>
          <p:cNvGrpSpPr/>
          <p:nvPr/>
        </p:nvGrpSpPr>
        <p:grpSpPr>
          <a:xfrm>
            <a:off x="7652204" y="674044"/>
            <a:ext cx="209694" cy="626590"/>
            <a:chOff x="7643344" y="961104"/>
            <a:chExt cx="209694" cy="626590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53806A2A-2321-2B4A-E6D8-73C3656F56DD}"/>
                </a:ext>
              </a:extLst>
            </p:cNvPr>
            <p:cNvSpPr txBox="1"/>
            <p:nvPr/>
          </p:nvSpPr>
          <p:spPr>
            <a:xfrm>
              <a:off x="7643344" y="961104"/>
              <a:ext cx="209694" cy="369332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accent5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endParaRPr lang="zh-CN" altLang="en-US" sz="24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08BA88A2-7A86-B21E-F0BC-149D3C2CEA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04825" y="1301625"/>
              <a:ext cx="1" cy="286069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headEnd type="oval" w="med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文本框 69">
            <a:extLst>
              <a:ext uri="{FF2B5EF4-FFF2-40B4-BE49-F238E27FC236}">
                <a16:creationId xmlns:a16="http://schemas.microsoft.com/office/drawing/2014/main" id="{CEB6A055-F632-367E-E9FA-5B2E7F770D72}"/>
              </a:ext>
            </a:extLst>
          </p:cNvPr>
          <p:cNvSpPr txBox="1"/>
          <p:nvPr/>
        </p:nvSpPr>
        <p:spPr>
          <a:xfrm>
            <a:off x="6425990" y="1394883"/>
            <a:ext cx="257907" cy="317395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>
              <a:lnSpc>
                <a:spcPts val="1700"/>
              </a:lnSpc>
            </a:pPr>
            <a:r>
              <a:rPr lang="en-US" altLang="zh-CN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zh-CN" altLang="en-US" sz="4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BDBFCBFA-7590-B3D9-A673-1B3AAA2F1FB3}"/>
              </a:ext>
            </a:extLst>
          </p:cNvPr>
          <p:cNvSpPr txBox="1"/>
          <p:nvPr/>
        </p:nvSpPr>
        <p:spPr>
          <a:xfrm>
            <a:off x="10330345" y="1376819"/>
            <a:ext cx="257907" cy="317395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>
              <a:lnSpc>
                <a:spcPts val="1700"/>
              </a:lnSpc>
            </a:pPr>
            <a:r>
              <a:rPr lang="en-US" altLang="zh-CN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zh-CN" altLang="en-US" sz="4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3FD9BF42-0041-13FE-7DF0-3C9F81774924}"/>
              </a:ext>
            </a:extLst>
          </p:cNvPr>
          <p:cNvCxnSpPr/>
          <p:nvPr/>
        </p:nvCxnSpPr>
        <p:spPr>
          <a:xfrm>
            <a:off x="1726018" y="4199869"/>
            <a:ext cx="309407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8A3C83D7-EB55-CB40-B279-559555353D63}"/>
              </a:ext>
            </a:extLst>
          </p:cNvPr>
          <p:cNvCxnSpPr>
            <a:cxnSpLocks/>
          </p:cNvCxnSpPr>
          <p:nvPr/>
        </p:nvCxnSpPr>
        <p:spPr>
          <a:xfrm>
            <a:off x="1726018" y="4442646"/>
            <a:ext cx="498887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FE5701B3-E158-D049-6A74-D39BFEF70CD7}"/>
              </a:ext>
            </a:extLst>
          </p:cNvPr>
          <p:cNvSpPr txBox="1"/>
          <p:nvPr/>
        </p:nvSpPr>
        <p:spPr>
          <a:xfrm>
            <a:off x="556846" y="2084791"/>
            <a:ext cx="41579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kern="100" dirty="0" err="1">
                <a:solidFill>
                  <a:srgbClr val="050EBB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ListInsert</a:t>
            </a:r>
            <a:r>
              <a:rPr lang="en-US" altLang="zh-CN" sz="2400" b="1" kern="100" dirty="0">
                <a:solidFill>
                  <a:srgbClr val="050EBB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sz="2400" b="1" kern="100" dirty="0" err="1">
                <a:solidFill>
                  <a:srgbClr val="050EBB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L2</a:t>
            </a:r>
            <a:r>
              <a:rPr lang="en-US" altLang="zh-CN" sz="2400" b="1" kern="100" dirty="0">
                <a:solidFill>
                  <a:srgbClr val="050EBB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kern="100" dirty="0" err="1">
                <a:solidFill>
                  <a:srgbClr val="050EBB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</a:t>
            </a:r>
            <a:r>
              <a:rPr lang="en-US" altLang="zh-CN" sz="2400" b="1" kern="100" dirty="0">
                <a:solidFill>
                  <a:srgbClr val="050EBB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, x);</a:t>
            </a:r>
            <a:endParaRPr lang="zh-CN" altLang="en-US" sz="2400" b="1" dirty="0">
              <a:solidFill>
                <a:srgbClr val="050EB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913A474-86DA-9875-1B14-C10970C7EF25}"/>
              </a:ext>
            </a:extLst>
          </p:cNvPr>
          <p:cNvGrpSpPr/>
          <p:nvPr/>
        </p:nvGrpSpPr>
        <p:grpSpPr>
          <a:xfrm>
            <a:off x="4779335" y="1300634"/>
            <a:ext cx="959589" cy="388800"/>
            <a:chOff x="1170292" y="1012713"/>
            <a:chExt cx="959589" cy="388800"/>
          </a:xfrm>
        </p:grpSpPr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26F0094B-A2EF-38CC-F85E-D5CE41F1EC44}"/>
                </a:ext>
              </a:extLst>
            </p:cNvPr>
            <p:cNvSpPr txBox="1"/>
            <p:nvPr/>
          </p:nvSpPr>
          <p:spPr>
            <a:xfrm>
              <a:off x="1893524" y="1012713"/>
              <a:ext cx="236357" cy="388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algn="ctr">
                <a:defRPr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endParaRPr lang="zh-CN" altLang="en-US" sz="20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1B31C898-81E3-1A60-2EB1-CD0EE0F44105}"/>
                </a:ext>
              </a:extLst>
            </p:cNvPr>
            <p:cNvSpPr txBox="1"/>
            <p:nvPr/>
          </p:nvSpPr>
          <p:spPr>
            <a:xfrm>
              <a:off x="1406236" y="1012713"/>
              <a:ext cx="491837" cy="388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algn="ctr">
                <a:defRPr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sz="2000" i="1" dirty="0" err="1"/>
                <a:t>a</a:t>
              </a:r>
              <a:r>
                <a:rPr lang="en-US" altLang="zh-CN" sz="2000" baseline="-25000" dirty="0" err="1"/>
                <a:t>1</a:t>
              </a:r>
              <a:endParaRPr lang="zh-CN" altLang="en-US" sz="2000" baseline="-250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3119F8C9-5D99-F963-1916-4752CD42DBFF}"/>
                </a:ext>
              </a:extLst>
            </p:cNvPr>
            <p:cNvSpPr txBox="1"/>
            <p:nvPr/>
          </p:nvSpPr>
          <p:spPr>
            <a:xfrm>
              <a:off x="1170292" y="1012713"/>
              <a:ext cx="236357" cy="388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algn="ctr">
                <a:defRPr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endParaRPr lang="zh-CN" altLang="en-US" sz="2000" dirty="0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C5E3AACE-521B-F71B-89DF-F64E04C5396C}"/>
                </a:ext>
              </a:extLst>
            </p:cNvPr>
            <p:cNvSpPr/>
            <p:nvPr/>
          </p:nvSpPr>
          <p:spPr>
            <a:xfrm>
              <a:off x="1170292" y="1012713"/>
              <a:ext cx="959589" cy="388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</p:grp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87E31F73-E8BE-BDF4-0B3A-3A2C5D70F64B}"/>
              </a:ext>
            </a:extLst>
          </p:cNvPr>
          <p:cNvCxnSpPr>
            <a:cxnSpLocks/>
          </p:cNvCxnSpPr>
          <p:nvPr/>
        </p:nvCxnSpPr>
        <p:spPr>
          <a:xfrm>
            <a:off x="5620745" y="1420487"/>
            <a:ext cx="605054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F479779C-2F0D-7872-9DF8-B6EB6CDFA7DB}"/>
              </a:ext>
            </a:extLst>
          </p:cNvPr>
          <p:cNvCxnSpPr>
            <a:cxnSpLocks/>
          </p:cNvCxnSpPr>
          <p:nvPr/>
        </p:nvCxnSpPr>
        <p:spPr>
          <a:xfrm flipH="1">
            <a:off x="5715917" y="1583630"/>
            <a:ext cx="63555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92398FCC-C01F-ABE1-F7DE-58B518CCE228}"/>
              </a:ext>
            </a:extLst>
          </p:cNvPr>
          <p:cNvGrpSpPr/>
          <p:nvPr/>
        </p:nvGrpSpPr>
        <p:grpSpPr>
          <a:xfrm>
            <a:off x="3336771" y="1301699"/>
            <a:ext cx="959589" cy="397792"/>
            <a:chOff x="1170292" y="1012713"/>
            <a:chExt cx="959589" cy="397792"/>
          </a:xfrm>
        </p:grpSpPr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EEDBE14C-6B08-CCE0-3CAF-BDDF72CB2108}"/>
                </a:ext>
              </a:extLst>
            </p:cNvPr>
            <p:cNvSpPr txBox="1"/>
            <p:nvPr/>
          </p:nvSpPr>
          <p:spPr>
            <a:xfrm>
              <a:off x="1893524" y="1012713"/>
              <a:ext cx="236357" cy="388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algn="ctr">
                <a:defRPr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endParaRPr lang="zh-CN" altLang="en-US" sz="2000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B2A9A08C-A8FC-8B20-DF5B-6FDE1E5EFB4E}"/>
                </a:ext>
              </a:extLst>
            </p:cNvPr>
            <p:cNvSpPr txBox="1"/>
            <p:nvPr/>
          </p:nvSpPr>
          <p:spPr>
            <a:xfrm>
              <a:off x="1406236" y="1012713"/>
              <a:ext cx="491837" cy="39779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algn="ctr">
                <a:defRPr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pPr>
                <a:lnSpc>
                  <a:spcPct val="150000"/>
                </a:lnSpc>
              </a:pPr>
              <a:endParaRPr lang="zh-CN" altLang="en-US" sz="2400" baseline="-250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16928C00-AF35-EB7F-357E-B4A9AAF6C1A2}"/>
                </a:ext>
              </a:extLst>
            </p:cNvPr>
            <p:cNvSpPr txBox="1"/>
            <p:nvPr/>
          </p:nvSpPr>
          <p:spPr>
            <a:xfrm>
              <a:off x="1170292" y="1012713"/>
              <a:ext cx="236357" cy="388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algn="ctr">
                <a:defRPr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endParaRPr lang="zh-CN" altLang="en-US" sz="2000" dirty="0"/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971159F3-AC08-A751-2C5E-C6F100904A28}"/>
                </a:ext>
              </a:extLst>
            </p:cNvPr>
            <p:cNvSpPr/>
            <p:nvPr/>
          </p:nvSpPr>
          <p:spPr>
            <a:xfrm>
              <a:off x="1170292" y="1012713"/>
              <a:ext cx="959589" cy="388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</p:grp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2363618C-CF17-220C-0960-5B88AFB31097}"/>
              </a:ext>
            </a:extLst>
          </p:cNvPr>
          <p:cNvCxnSpPr>
            <a:cxnSpLocks/>
          </p:cNvCxnSpPr>
          <p:nvPr/>
        </p:nvCxnSpPr>
        <p:spPr>
          <a:xfrm>
            <a:off x="4178181" y="1421552"/>
            <a:ext cx="605054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B9A85EB2-278A-3AA1-3865-325E78B92B27}"/>
              </a:ext>
            </a:extLst>
          </p:cNvPr>
          <p:cNvCxnSpPr>
            <a:cxnSpLocks/>
          </p:cNvCxnSpPr>
          <p:nvPr/>
        </p:nvCxnSpPr>
        <p:spPr>
          <a:xfrm flipH="1">
            <a:off x="4273353" y="1584695"/>
            <a:ext cx="635555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2ADC148B-804F-B71C-57C9-73EF6A9EF0A1}"/>
              </a:ext>
            </a:extLst>
          </p:cNvPr>
          <p:cNvGrpSpPr/>
          <p:nvPr/>
        </p:nvGrpSpPr>
        <p:grpSpPr>
          <a:xfrm>
            <a:off x="2437920" y="1285808"/>
            <a:ext cx="898629" cy="369332"/>
            <a:chOff x="7279406" y="988952"/>
            <a:chExt cx="898629" cy="369332"/>
          </a:xfrm>
        </p:grpSpPr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599DAEF2-4D52-F92A-3A67-5605635394DA}"/>
                </a:ext>
              </a:extLst>
            </p:cNvPr>
            <p:cNvSpPr txBox="1"/>
            <p:nvPr/>
          </p:nvSpPr>
          <p:spPr>
            <a:xfrm>
              <a:off x="7279406" y="988952"/>
              <a:ext cx="567902" cy="369332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400" b="1" dirty="0" err="1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L2</a:t>
              </a:r>
              <a:endParaRPr lang="zh-CN" alt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3C7C91C6-5C46-601C-5F64-A5EA980CFC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04826" y="1199371"/>
              <a:ext cx="373209" cy="2390"/>
            </a:xfrm>
            <a:prstGeom prst="straightConnector1">
              <a:avLst/>
            </a:prstGeom>
            <a:ln w="19050">
              <a:solidFill>
                <a:srgbClr val="0070C0"/>
              </a:solidFill>
              <a:headEnd type="oval" w="med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" name="文本框 96">
            <a:extLst>
              <a:ext uri="{FF2B5EF4-FFF2-40B4-BE49-F238E27FC236}">
                <a16:creationId xmlns:a16="http://schemas.microsoft.com/office/drawing/2014/main" id="{02FCF456-6F3F-A8F8-7E61-39EF5C4CE3A4}"/>
              </a:ext>
            </a:extLst>
          </p:cNvPr>
          <p:cNvSpPr txBox="1"/>
          <p:nvPr/>
        </p:nvSpPr>
        <p:spPr>
          <a:xfrm>
            <a:off x="8434468" y="2100056"/>
            <a:ext cx="369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endParaRPr lang="zh-CN" altLang="en-US" sz="24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2334B972-B839-E978-EFED-9BF264E3757C}"/>
              </a:ext>
            </a:extLst>
          </p:cNvPr>
          <p:cNvCxnSpPr>
            <a:cxnSpLocks/>
          </p:cNvCxnSpPr>
          <p:nvPr/>
        </p:nvCxnSpPr>
        <p:spPr>
          <a:xfrm>
            <a:off x="916171" y="4722640"/>
            <a:ext cx="1694121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5747DCA1-C939-FD39-89F8-77A118F161E2}"/>
              </a:ext>
            </a:extLst>
          </p:cNvPr>
          <p:cNvCxnSpPr>
            <a:cxnSpLocks/>
          </p:cNvCxnSpPr>
          <p:nvPr/>
        </p:nvCxnSpPr>
        <p:spPr>
          <a:xfrm>
            <a:off x="916170" y="4981366"/>
            <a:ext cx="247561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83BCD8E2-AA41-BC7F-150A-5473540A5343}"/>
              </a:ext>
            </a:extLst>
          </p:cNvPr>
          <p:cNvCxnSpPr>
            <a:cxnSpLocks/>
          </p:cNvCxnSpPr>
          <p:nvPr/>
        </p:nvCxnSpPr>
        <p:spPr>
          <a:xfrm>
            <a:off x="916170" y="5293256"/>
            <a:ext cx="247561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2E2CA63B-F074-EDFD-DB7E-75F8769D59CD}"/>
              </a:ext>
            </a:extLst>
          </p:cNvPr>
          <p:cNvCxnSpPr>
            <a:cxnSpLocks/>
          </p:cNvCxnSpPr>
          <p:nvPr/>
        </p:nvCxnSpPr>
        <p:spPr>
          <a:xfrm>
            <a:off x="916170" y="5573246"/>
            <a:ext cx="174472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01FC7C33-B000-83D9-A779-81642979CF89}"/>
              </a:ext>
            </a:extLst>
          </p:cNvPr>
          <p:cNvCxnSpPr>
            <a:cxnSpLocks/>
          </p:cNvCxnSpPr>
          <p:nvPr/>
        </p:nvCxnSpPr>
        <p:spPr>
          <a:xfrm>
            <a:off x="916170" y="5847920"/>
            <a:ext cx="174472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178DFB16-9809-8F7F-BEFF-DBD73DA410AF}"/>
              </a:ext>
            </a:extLst>
          </p:cNvPr>
          <p:cNvGrpSpPr/>
          <p:nvPr/>
        </p:nvGrpSpPr>
        <p:grpSpPr>
          <a:xfrm>
            <a:off x="7479367" y="2147848"/>
            <a:ext cx="645214" cy="369332"/>
            <a:chOff x="7400379" y="988952"/>
            <a:chExt cx="777656" cy="369332"/>
          </a:xfrm>
        </p:grpSpPr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900720D2-CC54-1F95-7681-C60758996AF6}"/>
                </a:ext>
              </a:extLst>
            </p:cNvPr>
            <p:cNvSpPr txBox="1"/>
            <p:nvPr/>
          </p:nvSpPr>
          <p:spPr>
            <a:xfrm>
              <a:off x="7400379" y="988952"/>
              <a:ext cx="446929" cy="369332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  <a:endParaRPr lang="zh-CN" alt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234157E7-F8B1-73E1-8DCE-9E6189BFEC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04826" y="1199371"/>
              <a:ext cx="373209" cy="2390"/>
            </a:xfrm>
            <a:prstGeom prst="straightConnector1">
              <a:avLst/>
            </a:prstGeom>
            <a:ln w="19050">
              <a:solidFill>
                <a:srgbClr val="00B050"/>
              </a:solidFill>
              <a:headEnd type="oval" w="med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296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1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9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1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50"/>
                            </p:stCondLst>
                            <p:childTnLst>
                              <p:par>
                                <p:cTn id="8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9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750"/>
                            </p:stCondLst>
                            <p:childTnLst>
                              <p:par>
                                <p:cTn id="91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25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5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7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50"/>
                            </p:stCondLst>
                            <p:childTnLst>
                              <p:par>
                                <p:cTn id="1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5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750"/>
                            </p:stCondLst>
                            <p:childTnLst>
                              <p:par>
                                <p:cTn id="127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2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66" grpId="0"/>
      <p:bldP spid="67" grpId="0"/>
      <p:bldP spid="68" grpId="0"/>
      <p:bldP spid="9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EDB4467-3585-181A-B5F6-5C80D3E27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21</a:t>
            </a:fld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02BC9EF-B0F2-7ABC-D96E-BD8544AD34DB}"/>
              </a:ext>
            </a:extLst>
          </p:cNvPr>
          <p:cNvGrpSpPr/>
          <p:nvPr/>
        </p:nvGrpSpPr>
        <p:grpSpPr>
          <a:xfrm>
            <a:off x="5838542" y="1492909"/>
            <a:ext cx="959589" cy="388800"/>
            <a:chOff x="1170292" y="1012713"/>
            <a:chExt cx="959589" cy="388800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45B861E-333E-447F-89DE-4308FE537B41}"/>
                </a:ext>
              </a:extLst>
            </p:cNvPr>
            <p:cNvSpPr txBox="1"/>
            <p:nvPr/>
          </p:nvSpPr>
          <p:spPr>
            <a:xfrm>
              <a:off x="1893524" y="1012713"/>
              <a:ext cx="236357" cy="388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algn="ctr">
                <a:defRPr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endParaRPr lang="zh-CN" altLang="en-US" sz="20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00558D3-BAE1-776A-D9E2-6A4498BB4B21}"/>
                </a:ext>
              </a:extLst>
            </p:cNvPr>
            <p:cNvSpPr txBox="1"/>
            <p:nvPr/>
          </p:nvSpPr>
          <p:spPr>
            <a:xfrm>
              <a:off x="1406236" y="1012713"/>
              <a:ext cx="491837" cy="388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algn="ctr">
                <a:defRPr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sz="2000" i="1" dirty="0"/>
                <a:t>a</a:t>
              </a:r>
              <a:r>
                <a:rPr lang="en-US" altLang="zh-CN" sz="2000" i="1" baseline="-25000" dirty="0"/>
                <a:t>i</a:t>
              </a:r>
              <a:r>
                <a:rPr lang="en-US" altLang="zh-CN" sz="2000" baseline="-25000" dirty="0"/>
                <a:t>-1</a:t>
              </a:r>
              <a:endParaRPr lang="zh-CN" altLang="en-US" sz="2000" baseline="-250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5BCDC4E-2E8B-7345-D53C-3B3AEE33474B}"/>
                </a:ext>
              </a:extLst>
            </p:cNvPr>
            <p:cNvSpPr txBox="1"/>
            <p:nvPr/>
          </p:nvSpPr>
          <p:spPr>
            <a:xfrm>
              <a:off x="1170292" y="1012713"/>
              <a:ext cx="236357" cy="388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algn="ctr">
                <a:defRPr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endParaRPr lang="zh-CN" altLang="en-US" sz="2000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B384982-0A80-119C-8A66-F97E7FD66F99}"/>
                </a:ext>
              </a:extLst>
            </p:cNvPr>
            <p:cNvSpPr/>
            <p:nvPr/>
          </p:nvSpPr>
          <p:spPr>
            <a:xfrm>
              <a:off x="1170292" y="1012713"/>
              <a:ext cx="959589" cy="388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80D2450-952A-F026-AE62-2484193892C1}"/>
              </a:ext>
            </a:extLst>
          </p:cNvPr>
          <p:cNvGrpSpPr/>
          <p:nvPr/>
        </p:nvGrpSpPr>
        <p:grpSpPr>
          <a:xfrm>
            <a:off x="7285006" y="1492909"/>
            <a:ext cx="959589" cy="388800"/>
            <a:chOff x="1170292" y="1012713"/>
            <a:chExt cx="959589" cy="388800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63FD2FF3-6ECB-8712-2603-7C0DC6D99904}"/>
                </a:ext>
              </a:extLst>
            </p:cNvPr>
            <p:cNvSpPr txBox="1"/>
            <p:nvPr/>
          </p:nvSpPr>
          <p:spPr>
            <a:xfrm>
              <a:off x="1893524" y="1012713"/>
              <a:ext cx="236357" cy="388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algn="ctr">
                <a:defRPr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endParaRPr lang="zh-CN" altLang="en-US" sz="20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E7623C0-9483-FE2E-33CE-149AC2236123}"/>
                </a:ext>
              </a:extLst>
            </p:cNvPr>
            <p:cNvSpPr txBox="1"/>
            <p:nvPr/>
          </p:nvSpPr>
          <p:spPr>
            <a:xfrm>
              <a:off x="1406236" y="1012713"/>
              <a:ext cx="491837" cy="388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algn="ctr">
                <a:defRPr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sz="2000" i="1" dirty="0"/>
                <a:t>a</a:t>
              </a:r>
              <a:r>
                <a:rPr lang="en-US" altLang="zh-CN" sz="2000" i="1" baseline="-25000" dirty="0"/>
                <a:t>i</a:t>
              </a:r>
              <a:endParaRPr lang="zh-CN" altLang="en-US" sz="2000" baseline="-250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CBBE8AC-A46C-B203-54C4-4EB792640063}"/>
                </a:ext>
              </a:extLst>
            </p:cNvPr>
            <p:cNvSpPr txBox="1"/>
            <p:nvPr/>
          </p:nvSpPr>
          <p:spPr>
            <a:xfrm>
              <a:off x="1170292" y="1012713"/>
              <a:ext cx="236357" cy="388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algn="ctr">
                <a:defRPr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endParaRPr lang="zh-CN" altLang="en-US" sz="2000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867AB59-2125-0631-EDFB-F68B6D6EAE03}"/>
                </a:ext>
              </a:extLst>
            </p:cNvPr>
            <p:cNvSpPr/>
            <p:nvPr/>
          </p:nvSpPr>
          <p:spPr>
            <a:xfrm>
              <a:off x="1170292" y="1012713"/>
              <a:ext cx="959589" cy="388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</p:grp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93CD8009-C6E7-A6D2-93A0-326A6451E079}"/>
              </a:ext>
            </a:extLst>
          </p:cNvPr>
          <p:cNvCxnSpPr>
            <a:cxnSpLocks/>
          </p:cNvCxnSpPr>
          <p:nvPr/>
        </p:nvCxnSpPr>
        <p:spPr>
          <a:xfrm>
            <a:off x="6679952" y="1612762"/>
            <a:ext cx="605054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9D7A37B8-B883-EF84-5D98-E1F39B08FC1E}"/>
              </a:ext>
            </a:extLst>
          </p:cNvPr>
          <p:cNvCxnSpPr>
            <a:cxnSpLocks/>
          </p:cNvCxnSpPr>
          <p:nvPr/>
        </p:nvCxnSpPr>
        <p:spPr>
          <a:xfrm>
            <a:off x="5228403" y="1612762"/>
            <a:ext cx="605054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7D4BEA2-2E49-4E31-094F-4EF36D86835C}"/>
              </a:ext>
            </a:extLst>
          </p:cNvPr>
          <p:cNvCxnSpPr>
            <a:cxnSpLocks/>
          </p:cNvCxnSpPr>
          <p:nvPr/>
        </p:nvCxnSpPr>
        <p:spPr>
          <a:xfrm flipH="1">
            <a:off x="5321165" y="1775905"/>
            <a:ext cx="635555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1EA04812-64F8-BD13-F0CA-D1486C88298C}"/>
              </a:ext>
            </a:extLst>
          </p:cNvPr>
          <p:cNvCxnSpPr>
            <a:cxnSpLocks/>
          </p:cNvCxnSpPr>
          <p:nvPr/>
        </p:nvCxnSpPr>
        <p:spPr>
          <a:xfrm flipH="1">
            <a:off x="6775124" y="1775905"/>
            <a:ext cx="635555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FED97E3D-61F7-5654-9DF2-C565BD79B114}"/>
              </a:ext>
            </a:extLst>
          </p:cNvPr>
          <p:cNvGrpSpPr/>
          <p:nvPr/>
        </p:nvGrpSpPr>
        <p:grpSpPr>
          <a:xfrm>
            <a:off x="7578565" y="737968"/>
            <a:ext cx="257907" cy="757655"/>
            <a:chOff x="7578565" y="737968"/>
            <a:chExt cx="257907" cy="75765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6252CEB2-077C-453D-09C9-175FC1EA0C7F}"/>
                </a:ext>
              </a:extLst>
            </p:cNvPr>
            <p:cNvSpPr txBox="1"/>
            <p:nvPr/>
          </p:nvSpPr>
          <p:spPr>
            <a:xfrm>
              <a:off x="7578565" y="737968"/>
              <a:ext cx="257907" cy="369332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endParaRPr lang="zh-CN" alt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2D740F6A-5989-7B00-F980-769976EC64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88259" y="1109690"/>
              <a:ext cx="1" cy="385933"/>
            </a:xfrm>
            <a:prstGeom prst="straightConnector1">
              <a:avLst/>
            </a:prstGeom>
            <a:ln w="19050">
              <a:solidFill>
                <a:srgbClr val="0070C0"/>
              </a:solidFill>
              <a:headEnd type="oval" w="med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034125B-1158-D3C7-6DFB-A22009560DC0}"/>
              </a:ext>
            </a:extLst>
          </p:cNvPr>
          <p:cNvGrpSpPr/>
          <p:nvPr/>
        </p:nvGrpSpPr>
        <p:grpSpPr>
          <a:xfrm>
            <a:off x="8745757" y="1500403"/>
            <a:ext cx="959589" cy="388800"/>
            <a:chOff x="1170292" y="1012713"/>
            <a:chExt cx="959589" cy="388800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1D583810-8EA6-00B9-2E46-48498910FB1E}"/>
                </a:ext>
              </a:extLst>
            </p:cNvPr>
            <p:cNvSpPr txBox="1"/>
            <p:nvPr/>
          </p:nvSpPr>
          <p:spPr>
            <a:xfrm>
              <a:off x="1893524" y="1012713"/>
              <a:ext cx="236357" cy="388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algn="ctr">
                <a:defRPr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endParaRPr lang="zh-CN" altLang="en-US" sz="20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CE6D36AF-7877-1065-1548-C7E115626A69}"/>
                </a:ext>
              </a:extLst>
            </p:cNvPr>
            <p:cNvSpPr txBox="1"/>
            <p:nvPr/>
          </p:nvSpPr>
          <p:spPr>
            <a:xfrm>
              <a:off x="1406236" y="1012713"/>
              <a:ext cx="491837" cy="388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algn="ctr">
                <a:defRPr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sz="2000" i="1" dirty="0"/>
                <a:t>a</a:t>
              </a:r>
              <a:r>
                <a:rPr lang="en-US" altLang="zh-CN" sz="2000" i="1" baseline="-25000" dirty="0"/>
                <a:t>i</a:t>
              </a:r>
              <a:r>
                <a:rPr lang="en-US" altLang="zh-CN" sz="2000" baseline="-25000" dirty="0"/>
                <a:t>+1</a:t>
              </a:r>
              <a:endParaRPr lang="zh-CN" altLang="en-US" sz="2000" baseline="-25000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1C32317-9C1E-9BC0-24D9-E2DE5FC727D3}"/>
                </a:ext>
              </a:extLst>
            </p:cNvPr>
            <p:cNvSpPr txBox="1"/>
            <p:nvPr/>
          </p:nvSpPr>
          <p:spPr>
            <a:xfrm>
              <a:off x="1170292" y="1012713"/>
              <a:ext cx="236357" cy="388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algn="ctr">
                <a:defRPr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endParaRPr lang="zh-CN" altLang="en-US" sz="2000" dirty="0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A6D2939-3A8B-999A-437B-5063052439F1}"/>
                </a:ext>
              </a:extLst>
            </p:cNvPr>
            <p:cNvSpPr/>
            <p:nvPr/>
          </p:nvSpPr>
          <p:spPr>
            <a:xfrm>
              <a:off x="1170292" y="1012713"/>
              <a:ext cx="959589" cy="388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90A46F3-C277-36B8-4757-382E8D9201E8}"/>
              </a:ext>
            </a:extLst>
          </p:cNvPr>
          <p:cNvCxnSpPr>
            <a:cxnSpLocks/>
          </p:cNvCxnSpPr>
          <p:nvPr/>
        </p:nvCxnSpPr>
        <p:spPr>
          <a:xfrm>
            <a:off x="8140703" y="1620256"/>
            <a:ext cx="605054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298507EE-8C71-F47E-575D-8EBC4891ABDD}"/>
              </a:ext>
            </a:extLst>
          </p:cNvPr>
          <p:cNvCxnSpPr>
            <a:cxnSpLocks/>
          </p:cNvCxnSpPr>
          <p:nvPr/>
        </p:nvCxnSpPr>
        <p:spPr>
          <a:xfrm>
            <a:off x="9587838" y="1620256"/>
            <a:ext cx="605054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88F498CB-32BA-3B9F-E384-1F199212FC7D}"/>
              </a:ext>
            </a:extLst>
          </p:cNvPr>
          <p:cNvCxnSpPr>
            <a:cxnSpLocks/>
          </p:cNvCxnSpPr>
          <p:nvPr/>
        </p:nvCxnSpPr>
        <p:spPr>
          <a:xfrm flipH="1">
            <a:off x="9705346" y="1790894"/>
            <a:ext cx="544557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1F87DDCA-AF1F-5DFE-8397-20C58E7A1774}"/>
              </a:ext>
            </a:extLst>
          </p:cNvPr>
          <p:cNvCxnSpPr>
            <a:cxnSpLocks/>
          </p:cNvCxnSpPr>
          <p:nvPr/>
        </p:nvCxnSpPr>
        <p:spPr>
          <a:xfrm flipH="1">
            <a:off x="8235875" y="1783399"/>
            <a:ext cx="635555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310790B7-A739-96AA-8672-6226AD380F31}"/>
              </a:ext>
            </a:extLst>
          </p:cNvPr>
          <p:cNvSpPr/>
          <p:nvPr/>
        </p:nvSpPr>
        <p:spPr>
          <a:xfrm>
            <a:off x="6674433" y="1214649"/>
            <a:ext cx="2534654" cy="397304"/>
          </a:xfrm>
          <a:custGeom>
            <a:avLst/>
            <a:gdLst>
              <a:gd name="connsiteX0" fmla="*/ 0 w 2534654"/>
              <a:gd name="connsiteY0" fmla="*/ 397304 h 397304"/>
              <a:gd name="connsiteX1" fmla="*/ 1401580 w 2534654"/>
              <a:gd name="connsiteY1" fmla="*/ 67520 h 397304"/>
              <a:gd name="connsiteX2" fmla="*/ 2353456 w 2534654"/>
              <a:gd name="connsiteY2" fmla="*/ 15055 h 397304"/>
              <a:gd name="connsiteX3" fmla="*/ 2533338 w 2534654"/>
              <a:gd name="connsiteY3" fmla="*/ 262393 h 397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4654" h="397304">
                <a:moveTo>
                  <a:pt x="0" y="397304"/>
                </a:moveTo>
                <a:cubicBezTo>
                  <a:pt x="504668" y="264266"/>
                  <a:pt x="1009337" y="131228"/>
                  <a:pt x="1401580" y="67520"/>
                </a:cubicBezTo>
                <a:cubicBezTo>
                  <a:pt x="1793823" y="3812"/>
                  <a:pt x="2164830" y="-17424"/>
                  <a:pt x="2353456" y="15055"/>
                </a:cubicBezTo>
                <a:cubicBezTo>
                  <a:pt x="2542082" y="47534"/>
                  <a:pt x="2537710" y="154963"/>
                  <a:pt x="2533338" y="262393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7265DCE2-4A36-BAA1-207A-98DDA3D187A9}"/>
              </a:ext>
            </a:extLst>
          </p:cNvPr>
          <p:cNvSpPr/>
          <p:nvPr/>
        </p:nvSpPr>
        <p:spPr>
          <a:xfrm rot="10800000">
            <a:off x="6369484" y="1787210"/>
            <a:ext cx="2534654" cy="397304"/>
          </a:xfrm>
          <a:custGeom>
            <a:avLst/>
            <a:gdLst>
              <a:gd name="connsiteX0" fmla="*/ 0 w 2534654"/>
              <a:gd name="connsiteY0" fmla="*/ 397304 h 397304"/>
              <a:gd name="connsiteX1" fmla="*/ 1401580 w 2534654"/>
              <a:gd name="connsiteY1" fmla="*/ 67520 h 397304"/>
              <a:gd name="connsiteX2" fmla="*/ 2353456 w 2534654"/>
              <a:gd name="connsiteY2" fmla="*/ 15055 h 397304"/>
              <a:gd name="connsiteX3" fmla="*/ 2533338 w 2534654"/>
              <a:gd name="connsiteY3" fmla="*/ 262393 h 397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4654" h="397304">
                <a:moveTo>
                  <a:pt x="0" y="397304"/>
                </a:moveTo>
                <a:cubicBezTo>
                  <a:pt x="504668" y="264266"/>
                  <a:pt x="1009337" y="131228"/>
                  <a:pt x="1401580" y="67520"/>
                </a:cubicBezTo>
                <a:cubicBezTo>
                  <a:pt x="1793823" y="3812"/>
                  <a:pt x="2164830" y="-17424"/>
                  <a:pt x="2353456" y="15055"/>
                </a:cubicBezTo>
                <a:cubicBezTo>
                  <a:pt x="2542082" y="47534"/>
                  <a:pt x="2537710" y="154963"/>
                  <a:pt x="2533338" y="262393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BB8C812-9A0F-F4D3-868D-A78F3ECEE0F6}"/>
              </a:ext>
            </a:extLst>
          </p:cNvPr>
          <p:cNvSpPr txBox="1"/>
          <p:nvPr/>
        </p:nvSpPr>
        <p:spPr>
          <a:xfrm>
            <a:off x="7035289" y="1141843"/>
            <a:ext cx="257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BD29D42-067B-CB64-BCBF-7766933ED557}"/>
              </a:ext>
            </a:extLst>
          </p:cNvPr>
          <p:cNvSpPr txBox="1"/>
          <p:nvPr/>
        </p:nvSpPr>
        <p:spPr>
          <a:xfrm>
            <a:off x="8235875" y="1956656"/>
            <a:ext cx="275267" cy="314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9A526A0-9D75-EFD4-691D-6CF5F860E576}"/>
              </a:ext>
            </a:extLst>
          </p:cNvPr>
          <p:cNvSpPr txBox="1"/>
          <p:nvPr/>
        </p:nvSpPr>
        <p:spPr>
          <a:xfrm>
            <a:off x="10321359" y="1585174"/>
            <a:ext cx="257907" cy="317395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>
              <a:lnSpc>
                <a:spcPts val="1700"/>
              </a:lnSpc>
            </a:pPr>
            <a:r>
              <a:rPr lang="en-US" altLang="zh-CN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zh-CN" altLang="en-US" sz="4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974614C-B5D6-BFFD-A22C-5032DCD56173}"/>
              </a:ext>
            </a:extLst>
          </p:cNvPr>
          <p:cNvSpPr txBox="1"/>
          <p:nvPr/>
        </p:nvSpPr>
        <p:spPr>
          <a:xfrm>
            <a:off x="4934211" y="1580045"/>
            <a:ext cx="257907" cy="317395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>
              <a:lnSpc>
                <a:spcPts val="1700"/>
              </a:lnSpc>
            </a:pPr>
            <a:r>
              <a:rPr lang="en-US" altLang="zh-CN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zh-CN" altLang="en-US" sz="4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C93489DF-9F67-3C5F-1504-FDEBB9687817}"/>
              </a:ext>
            </a:extLst>
          </p:cNvPr>
          <p:cNvSpPr/>
          <p:nvPr/>
        </p:nvSpPr>
        <p:spPr>
          <a:xfrm>
            <a:off x="1448780" y="213216"/>
            <a:ext cx="4326092" cy="57505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算法</a:t>
            </a:r>
            <a:r>
              <a:rPr lang="en-US" altLang="zh-CN" sz="2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2.16  </a:t>
            </a:r>
            <a:r>
              <a:rPr lang="zh-CN" altLang="en-US" sz="2600" b="1" dirty="0">
                <a:solidFill>
                  <a:srgbClr val="2D04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双向链表的删除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EA9883-46D2-6979-411D-ABDAAF2FF80E}"/>
              </a:ext>
            </a:extLst>
          </p:cNvPr>
          <p:cNvSpPr txBox="1"/>
          <p:nvPr/>
        </p:nvSpPr>
        <p:spPr>
          <a:xfrm>
            <a:off x="791968" y="3105355"/>
            <a:ext cx="9693948" cy="313932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ListDelete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DuLinkList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L, </a:t>
            </a: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{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en-US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算法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2.16</a:t>
            </a:r>
            <a:endParaRPr lang="zh-CN" altLang="zh-CN" kern="100" dirty="0">
              <a:solidFill>
                <a:schemeClr val="accent6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删除带头结点的双向循环线性表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的第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个元素，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≤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≤表长</a:t>
            </a:r>
            <a:endParaRPr lang="zh-CN" altLang="zh-CN" kern="100" dirty="0">
              <a:solidFill>
                <a:schemeClr val="accent6">
                  <a:lumMod val="75000"/>
                </a:schemeClr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if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 || 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&lt;1) </a:t>
            </a: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errV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        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不合法，则报错</a:t>
            </a:r>
          </a:p>
          <a:p>
            <a:pPr algn="just">
              <a:buNone/>
            </a:pP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DuLNode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*p;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if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(p = 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GetElemPos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(L, 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))) </a:t>
            </a: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errV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确定第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元素的位置指针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endParaRPr lang="zh-CN" altLang="zh-CN" kern="1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e = p-&gt;data;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被删元素值赋给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lang="zh-CN" altLang="zh-CN" kern="1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p-&gt;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prev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-&gt;next = p-&gt;next;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en-US" altLang="zh-CN" b="1" kern="10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next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链删除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结点</a:t>
            </a:r>
            <a:endParaRPr lang="en-US" altLang="zh-CN" kern="1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kern="1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p-&gt;next-&gt;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prev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p-&gt;</a:t>
            </a:r>
            <a:r>
              <a:rPr lang="en-US" altLang="zh-CN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prev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en-US" altLang="zh-CN" b="1" kern="10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prev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链删除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结点</a:t>
            </a:r>
          </a:p>
          <a:p>
            <a:pPr algn="just">
              <a:buNone/>
            </a:pP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free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(p);             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回收被删的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结点</a:t>
            </a:r>
            <a:endParaRPr lang="en-US" altLang="zh-CN" kern="1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b="1" kern="1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e;            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返回</a:t>
            </a:r>
            <a:r>
              <a:rPr lang="zh-CN" altLang="en-US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被删元素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值</a:t>
            </a:r>
          </a:p>
          <a:p>
            <a:pPr algn="just">
              <a:buNone/>
            </a:pPr>
            <a:r>
              <a:rPr lang="en-US" altLang="zh-CN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FD9BF42-0041-13FE-7DF0-3C9F81774924}"/>
              </a:ext>
            </a:extLst>
          </p:cNvPr>
          <p:cNvCxnSpPr>
            <a:cxnSpLocks/>
          </p:cNvCxnSpPr>
          <p:nvPr/>
        </p:nvCxnSpPr>
        <p:spPr>
          <a:xfrm>
            <a:off x="1903057" y="4535240"/>
            <a:ext cx="2877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8FEBA505-D84A-CC37-30F1-E9321EC34097}"/>
              </a:ext>
            </a:extLst>
          </p:cNvPr>
          <p:cNvCxnSpPr>
            <a:cxnSpLocks/>
          </p:cNvCxnSpPr>
          <p:nvPr/>
        </p:nvCxnSpPr>
        <p:spPr>
          <a:xfrm>
            <a:off x="1152008" y="4802624"/>
            <a:ext cx="3036711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203C75C3-0123-416F-2419-668867002380}"/>
              </a:ext>
            </a:extLst>
          </p:cNvPr>
          <p:cNvSpPr txBox="1"/>
          <p:nvPr/>
        </p:nvSpPr>
        <p:spPr>
          <a:xfrm>
            <a:off x="951078" y="2270565"/>
            <a:ext cx="41579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solidFill>
                  <a:srgbClr val="050EBB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 = </a:t>
            </a:r>
            <a:r>
              <a:rPr lang="en-US" altLang="zh-CN" sz="2400" b="1" kern="100" dirty="0" err="1">
                <a:solidFill>
                  <a:srgbClr val="050EBB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ListDelete</a:t>
            </a:r>
            <a:r>
              <a:rPr lang="en-US" altLang="zh-CN" sz="2400" b="1" kern="100" dirty="0">
                <a:solidFill>
                  <a:srgbClr val="050EBB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sz="2400" b="1" kern="100" dirty="0" err="1">
                <a:solidFill>
                  <a:srgbClr val="050EBB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L2</a:t>
            </a:r>
            <a:r>
              <a:rPr lang="en-US" altLang="zh-CN" sz="2400" b="1" kern="100" dirty="0">
                <a:solidFill>
                  <a:srgbClr val="050EBB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kern="100" dirty="0" err="1">
                <a:solidFill>
                  <a:srgbClr val="050EBB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</a:t>
            </a:r>
            <a:r>
              <a:rPr lang="en-US" altLang="zh-CN" sz="2400" b="1" kern="100" dirty="0">
                <a:solidFill>
                  <a:srgbClr val="050EBB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);</a:t>
            </a:r>
            <a:endParaRPr lang="zh-CN" altLang="en-US" sz="2400" b="1" dirty="0">
              <a:solidFill>
                <a:srgbClr val="050EB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68E724F8-A454-FB43-88DB-88F067817F66}"/>
              </a:ext>
            </a:extLst>
          </p:cNvPr>
          <p:cNvGrpSpPr/>
          <p:nvPr/>
        </p:nvGrpSpPr>
        <p:grpSpPr>
          <a:xfrm>
            <a:off x="7267799" y="2288312"/>
            <a:ext cx="673961" cy="461665"/>
            <a:chOff x="7267799" y="2288312"/>
            <a:chExt cx="673961" cy="461665"/>
          </a:xfrm>
        </p:grpSpPr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B45725AA-1716-D28D-B0EC-3DB2C77AB574}"/>
                </a:ext>
              </a:extLst>
            </p:cNvPr>
            <p:cNvSpPr txBox="1"/>
            <p:nvPr/>
          </p:nvSpPr>
          <p:spPr>
            <a:xfrm>
              <a:off x="7267799" y="2288312"/>
              <a:ext cx="3690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kern="100" dirty="0">
                  <a:solidFill>
                    <a:srgbClr val="050EBB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e</a:t>
              </a:r>
              <a:endParaRPr lang="zh-CN" altLang="en-US" sz="2400" b="1" kern="100" dirty="0">
                <a:solidFill>
                  <a:srgbClr val="050EBB"/>
                </a:solidFill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8471A7AB-5B9D-7E5D-0CDD-E8D954157ADC}"/>
                </a:ext>
              </a:extLst>
            </p:cNvPr>
            <p:cNvSpPr/>
            <p:nvPr/>
          </p:nvSpPr>
          <p:spPr>
            <a:xfrm>
              <a:off x="7570333" y="2329723"/>
              <a:ext cx="371427" cy="36482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5E295E10-A117-E283-F7A8-F16D4E51755E}"/>
              </a:ext>
            </a:extLst>
          </p:cNvPr>
          <p:cNvSpPr txBox="1"/>
          <p:nvPr/>
        </p:nvSpPr>
        <p:spPr>
          <a:xfrm>
            <a:off x="7596764" y="2261678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i="1" dirty="0">
                <a:solidFill>
                  <a:srgbClr val="C00000"/>
                </a:solidFill>
              </a:rPr>
              <a:t>a</a:t>
            </a:r>
            <a:r>
              <a:rPr lang="en-US" altLang="zh-CN" sz="2000" b="1" i="1" baseline="-25000" dirty="0">
                <a:solidFill>
                  <a:srgbClr val="C00000"/>
                </a:solidFill>
              </a:rPr>
              <a:t>i</a:t>
            </a:r>
            <a:endParaRPr lang="zh-CN" altLang="en-US" sz="2000" b="1" i="1" baseline="-25000" dirty="0">
              <a:solidFill>
                <a:srgbClr val="C00000"/>
              </a:solidFill>
            </a:endParaRP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1F46996F-9C53-C0F2-C42D-B6121B5CD268}"/>
              </a:ext>
            </a:extLst>
          </p:cNvPr>
          <p:cNvCxnSpPr>
            <a:cxnSpLocks/>
          </p:cNvCxnSpPr>
          <p:nvPr/>
        </p:nvCxnSpPr>
        <p:spPr>
          <a:xfrm>
            <a:off x="1112768" y="5086435"/>
            <a:ext cx="334972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2D0AF63E-F64D-FAE9-1153-2864CB05DB94}"/>
              </a:ext>
            </a:extLst>
          </p:cNvPr>
          <p:cNvCxnSpPr>
            <a:cxnSpLocks/>
          </p:cNvCxnSpPr>
          <p:nvPr/>
        </p:nvCxnSpPr>
        <p:spPr>
          <a:xfrm>
            <a:off x="1112768" y="5375721"/>
            <a:ext cx="334972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B130B6EE-8170-1520-6B49-CE39A96F46E4}"/>
              </a:ext>
            </a:extLst>
          </p:cNvPr>
          <p:cNvCxnSpPr>
            <a:cxnSpLocks/>
          </p:cNvCxnSpPr>
          <p:nvPr/>
        </p:nvCxnSpPr>
        <p:spPr>
          <a:xfrm>
            <a:off x="1112767" y="5615728"/>
            <a:ext cx="125810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E5ADE4DE-E7F6-0BB8-62C2-26E0B4F1A785}"/>
              </a:ext>
            </a:extLst>
          </p:cNvPr>
          <p:cNvCxnSpPr>
            <a:cxnSpLocks/>
          </p:cNvCxnSpPr>
          <p:nvPr/>
        </p:nvCxnSpPr>
        <p:spPr>
          <a:xfrm>
            <a:off x="1112767" y="5894063"/>
            <a:ext cx="125810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26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1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500"/>
                            </p:stCondLst>
                            <p:childTnLst>
                              <p:par>
                                <p:cTn id="78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6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8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26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26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4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2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3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2000"/>
                            </p:stCondLst>
                            <p:childTnLst>
                              <p:par>
                                <p:cTn id="142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500"/>
                            </p:stCondLst>
                            <p:childTnLst>
                              <p:par>
                                <p:cTn id="1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2.22222E-6 L -0.53099 -0.01759 " pathEditMode="relative" rAng="0" ptsTypes="AA">
                                      <p:cBhvr>
                                        <p:cTn id="152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549" y="-880"/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2000"/>
                            </p:stCondLst>
                            <p:childTnLst>
                              <p:par>
                                <p:cTn id="160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/>
      <p:bldP spid="36" grpId="0"/>
      <p:bldP spid="46" grpId="0"/>
      <p:bldP spid="46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925B3EF-1C38-A4BB-503D-25221420C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AD20030-8631-348F-B5E6-277AEE25552C}"/>
              </a:ext>
            </a:extLst>
          </p:cNvPr>
          <p:cNvSpPr/>
          <p:nvPr/>
        </p:nvSpPr>
        <p:spPr>
          <a:xfrm>
            <a:off x="1525772" y="260499"/>
            <a:ext cx="4447953" cy="53694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50EB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2.4  </a:t>
            </a:r>
            <a:r>
              <a:rPr lang="zh-CN" altLang="zh-CN" sz="2400" b="1" dirty="0">
                <a:solidFill>
                  <a:srgbClr val="050EB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一元多项式的表示及相加</a:t>
            </a:r>
            <a:endParaRPr lang="zh-CN" altLang="en-US" sz="2400" b="1" dirty="0">
              <a:solidFill>
                <a:srgbClr val="050EB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FBDFF8-7536-2A28-4DD9-0387ECF4E5D9}"/>
              </a:ext>
            </a:extLst>
          </p:cNvPr>
          <p:cNvSpPr txBox="1"/>
          <p:nvPr/>
        </p:nvSpPr>
        <p:spPr>
          <a:xfrm>
            <a:off x="350873" y="945700"/>
            <a:ext cx="7623545" cy="2936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15000"/>
              </a:lnSpc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一般情况下的一元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次多项式可写成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15000"/>
              </a:lnSpc>
              <a:buNone/>
            </a:pPr>
            <a:r>
              <a:rPr lang="en-US" altLang="zh-CN" sz="1800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1800" i="1" kern="100" baseline="-25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= </a:t>
            </a:r>
            <a:r>
              <a:rPr lang="en-US" altLang="zh-CN" sz="1800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1800" kern="100" baseline="-25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800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1800" i="1" kern="100" baseline="30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lang="en-US" altLang="zh-CN" sz="1800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1800" kern="100" baseline="-25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1800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1800" i="1" kern="100" baseline="30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1800" i="1" kern="100" dirty="0" err="1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800" kern="100" baseline="-25000" dirty="0" err="1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800" i="1" kern="100" dirty="0" err="1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800" i="1" kern="100" baseline="30000" dirty="0" err="1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(2-7)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其中，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1800" i="1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是指数为</a:t>
            </a:r>
            <a:r>
              <a:rPr lang="en-US" altLang="zh-CN" sz="1800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800" i="1" kern="100" baseline="-25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的项的非零系数，且满足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889760" algn="l">
              <a:lnSpc>
                <a:spcPct val="115000"/>
              </a:lnSpc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≤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i="1" kern="100" dirty="0" err="1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1800" kern="100" baseline="-25000" dirty="0" err="1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altLang="zh-CN" sz="1800" i="1" kern="100" dirty="0" err="1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1800" kern="100" baseline="-25000" dirty="0" err="1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…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 </a:t>
            </a:r>
            <a:r>
              <a:rPr lang="en-US" altLang="zh-CN" sz="1800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800" kern="100" baseline="-25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若用一个长度为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且每个元素有两个数据项（系数项和指数项）的线性表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15000"/>
              </a:lnSpc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( </a:t>
            </a:r>
            <a:r>
              <a:rPr lang="en-US" altLang="zh-CN" sz="1800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1800" kern="100" baseline="-25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800" kern="100" baseline="-25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), ( </a:t>
            </a:r>
            <a:r>
              <a:rPr lang="en-US" altLang="zh-CN" sz="1800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1800" kern="100" baseline="-25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800" kern="100" baseline="-25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), …,( 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1800" i="1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800" i="1" kern="100" baseline="-25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) )                          (2-8)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便可唯一确定多项式</a:t>
            </a:r>
            <a:r>
              <a:rPr lang="en-US" altLang="zh-CN" sz="1800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1800" i="1" kern="100" baseline="-25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。在最坏情况下，</a:t>
            </a:r>
            <a:r>
              <a:rPr lang="en-US" altLang="zh-CN" sz="1800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）个系数都不为零，则比只存储每项系数的方案要多存储一倍的数据。但是，对于类似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的稀疏多项式，这种表示将大大节省空间。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AB80698-AE3A-6FC0-2438-7C5A620B23FC}"/>
              </a:ext>
            </a:extLst>
          </p:cNvPr>
          <p:cNvSpPr txBox="1"/>
          <p:nvPr/>
        </p:nvSpPr>
        <p:spPr>
          <a:xfrm>
            <a:off x="398721" y="3982264"/>
            <a:ext cx="7979736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一元稀疏多项式的顺序表类型定义如下：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buNone/>
            </a:pPr>
            <a:r>
              <a:rPr lang="en-US" altLang="zh-CN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typedef</a:t>
            </a:r>
            <a:r>
              <a:rPr lang="en-US" altLang="zh-CN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struct {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float</a:t>
            </a:r>
            <a:r>
              <a:rPr lang="en-US" altLang="zh-CN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coef</a:t>
            </a:r>
            <a:r>
              <a:rPr lang="en-US" altLang="zh-CN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系数</a:t>
            </a:r>
            <a:endParaRPr lang="zh-CN" altLang="zh-CN" kern="100" dirty="0">
              <a:solidFill>
                <a:schemeClr val="accent6">
                  <a:lumMod val="75000"/>
                </a:schemeClr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int</a:t>
            </a:r>
            <a:r>
              <a:rPr lang="en-US" altLang="zh-CN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expn</a:t>
            </a:r>
            <a:r>
              <a:rPr lang="en-US" altLang="zh-CN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指数</a:t>
            </a:r>
          </a:p>
          <a:p>
            <a:pPr algn="just">
              <a:spcAft>
                <a:spcPts val="600"/>
              </a:spcAft>
              <a:buNone/>
            </a:pPr>
            <a:r>
              <a:rPr lang="en-US" altLang="zh-CN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Term;       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项类型</a:t>
            </a:r>
          </a:p>
          <a:p>
            <a:pPr algn="just">
              <a:buNone/>
            </a:pPr>
            <a:r>
              <a:rPr lang="en-US" altLang="zh-CN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typedef</a:t>
            </a:r>
            <a:r>
              <a:rPr lang="en-US" altLang="zh-CN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struct {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Term  *term;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存储空间基址</a:t>
            </a:r>
          </a:p>
          <a:p>
            <a:pPr algn="just">
              <a:buNone/>
            </a:pPr>
            <a:r>
              <a:rPr lang="en-US" altLang="zh-CN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int</a:t>
            </a:r>
            <a:r>
              <a:rPr lang="en-US" altLang="zh-CN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termNum</a:t>
            </a:r>
            <a:r>
              <a:rPr lang="en-US" altLang="zh-CN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长度（项数）</a:t>
            </a:r>
          </a:p>
          <a:p>
            <a:pPr algn="just">
              <a:spcAft>
                <a:spcPts val="600"/>
              </a:spcAft>
              <a:buNone/>
            </a:pPr>
            <a:r>
              <a:rPr lang="en-US" altLang="zh-CN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 *</a:t>
            </a:r>
            <a:r>
              <a:rPr lang="en-US" altLang="zh-CN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Poly;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一元稀疏多项式（指针）类型（需动态生成，可彻底回收）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A1512A0-EE87-6CA4-3E2E-411D85D052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8703" y="3968150"/>
            <a:ext cx="3089171" cy="123697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51F7F23-2D56-4FE1-66A4-8AF738053D37}"/>
              </a:ext>
            </a:extLst>
          </p:cNvPr>
          <p:cNvSpPr txBox="1"/>
          <p:nvPr/>
        </p:nvSpPr>
        <p:spPr>
          <a:xfrm>
            <a:off x="7634176" y="5205122"/>
            <a:ext cx="30036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2.16  </a:t>
            </a:r>
            <a:r>
              <a:rPr lang="zh-CN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一元稀疏多项式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algn="ctr">
              <a:spcAft>
                <a:spcPts val="600"/>
              </a:spcAft>
            </a:pPr>
            <a:r>
              <a:rPr lang="en-US" altLang="zh-CN" i="1" dirty="0"/>
              <a:t>S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 = 1 + </a:t>
            </a:r>
            <a:r>
              <a:rPr lang="en-US" altLang="zh-CN" dirty="0" err="1"/>
              <a:t>3</a:t>
            </a:r>
            <a:r>
              <a:rPr lang="en-US" altLang="zh-CN" i="1" dirty="0" err="1"/>
              <a:t>x</a:t>
            </a:r>
            <a:r>
              <a:rPr lang="en-US" altLang="zh-CN" baseline="30000" dirty="0" err="1"/>
              <a:t>10000</a:t>
            </a:r>
            <a:r>
              <a:rPr lang="en-US" altLang="zh-CN" dirty="0"/>
              <a:t> + </a:t>
            </a:r>
            <a:r>
              <a:rPr lang="en-US" altLang="zh-CN" dirty="0" err="1"/>
              <a:t>2</a:t>
            </a:r>
            <a:r>
              <a:rPr lang="en-US" altLang="zh-CN" i="1" dirty="0" err="1"/>
              <a:t>x</a:t>
            </a:r>
            <a:r>
              <a:rPr lang="en-US" altLang="zh-CN" baseline="30000" dirty="0" err="1"/>
              <a:t>20000</a:t>
            </a:r>
            <a:endParaRPr lang="zh-CN" altLang="zh-CN" dirty="0"/>
          </a:p>
          <a:p>
            <a:pPr algn="ctr">
              <a:spcAft>
                <a:spcPts val="600"/>
              </a:spcAft>
              <a:buNone/>
            </a:pPr>
            <a:r>
              <a:rPr lang="zh-CN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的压缩存储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0683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266FBA9-C10B-7A8C-733B-7A81F26D4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B54521C-04DA-0F7E-4918-1557F8C1E31F}"/>
              </a:ext>
            </a:extLst>
          </p:cNvPr>
          <p:cNvSpPr/>
          <p:nvPr/>
        </p:nvSpPr>
        <p:spPr>
          <a:xfrm>
            <a:off x="1334386" y="223284"/>
            <a:ext cx="4960088" cy="53694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b="1" kern="100" dirty="0">
                <a:solidFill>
                  <a:srgbClr val="C00000"/>
                </a:solidFill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算法</a:t>
            </a:r>
            <a:r>
              <a:rPr lang="en-US" altLang="zh-CN" sz="2400" b="1" kern="100" dirty="0">
                <a:solidFill>
                  <a:srgbClr val="C00000"/>
                </a:solidFill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2.19   </a:t>
            </a:r>
            <a:r>
              <a:rPr lang="zh-CN" altLang="zh-CN" sz="2400" b="1" dirty="0">
                <a:solidFill>
                  <a:srgbClr val="050EBB"/>
                </a:solidFill>
              </a:rPr>
              <a:t>构建一元稀疏多项式</a:t>
            </a:r>
            <a:endParaRPr lang="zh-CN" altLang="zh-CN" sz="2400" b="1" kern="100" dirty="0">
              <a:solidFill>
                <a:srgbClr val="050EBB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8F0800-E724-D480-D204-1E2CCCAAF724}"/>
              </a:ext>
            </a:extLst>
          </p:cNvPr>
          <p:cNvSpPr txBox="1"/>
          <p:nvPr/>
        </p:nvSpPr>
        <p:spPr>
          <a:xfrm>
            <a:off x="388090" y="2864453"/>
            <a:ext cx="10329530" cy="377026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Poly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allocPoly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m)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辅助操作：为一个</a:t>
            </a:r>
            <a:r>
              <a:rPr lang="en-US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项多项式分配存储空间</a:t>
            </a:r>
            <a:endParaRPr lang="zh-CN" altLang="zh-CN" sz="2800" kern="100" dirty="0">
              <a:solidFill>
                <a:schemeClr val="accent6">
                  <a:lumMod val="75000"/>
                </a:schemeClr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Poly Q;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(Q = (Poly)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malloc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sizeof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(*Q))))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exit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(OVERFLOW);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分配结构记录空间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(Q-&gt;term = (Term*)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malloc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(m*</a:t>
            </a:r>
            <a:r>
              <a:rPr lang="en-US" altLang="zh-CN" sz="1800" b="1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sizeof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(Term))))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分配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项存储空间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exit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(OVERFLOW);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若失败，则异常退出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Q;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返回分配了空间的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空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多项式</a:t>
            </a:r>
          </a:p>
          <a:p>
            <a:pPr algn="just">
              <a:buNone/>
            </a:pP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Poly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CreatePoly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(Term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ts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[],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m)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kern="1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ts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项构建并返回一元稀疏多项式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Poly P =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allocPoly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(m));               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分配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项空间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=0;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&lt;m;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++) P-&gt;term[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= 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ts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依次存入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项（系数和指数）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P-&gt;</a:t>
            </a:r>
            <a:r>
              <a:rPr lang="en-US" altLang="zh-CN" sz="18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termNum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m;                              </a:t>
            </a:r>
            <a:r>
              <a:rPr lang="en-US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保存项数</a:t>
            </a: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sz="18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P;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9D18FCA4-9D00-E6FD-8EBD-E8FD44F81A82}"/>
              </a:ext>
            </a:extLst>
          </p:cNvPr>
          <p:cNvGrpSpPr/>
          <p:nvPr/>
        </p:nvGrpSpPr>
        <p:grpSpPr>
          <a:xfrm>
            <a:off x="7214065" y="1217177"/>
            <a:ext cx="2297353" cy="1052631"/>
            <a:chOff x="712255" y="1057250"/>
            <a:chExt cx="2297353" cy="1052631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5B950910-021C-AC6C-9470-12A631FD8854}"/>
                </a:ext>
              </a:extLst>
            </p:cNvPr>
            <p:cNvGrpSpPr/>
            <p:nvPr/>
          </p:nvGrpSpPr>
          <p:grpSpPr>
            <a:xfrm>
              <a:off x="1714112" y="1327506"/>
              <a:ext cx="1239978" cy="782375"/>
              <a:chOff x="1690258" y="540327"/>
              <a:chExt cx="1239978" cy="782375"/>
            </a:xfrm>
          </p:grpSpPr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B4A4BE1-4909-2D8E-4579-C33A4F6D2991}"/>
                  </a:ext>
                </a:extLst>
              </p:cNvPr>
              <p:cNvSpPr txBox="1"/>
              <p:nvPr/>
            </p:nvSpPr>
            <p:spPr>
              <a:xfrm>
                <a:off x="1696804" y="542355"/>
                <a:ext cx="301986" cy="38753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sz="2000"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dirty="0"/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E28AC1B-BEC9-BFAC-151E-BC0DCB10A7AA}"/>
                  </a:ext>
                </a:extLst>
              </p:cNvPr>
              <p:cNvSpPr txBox="1"/>
              <p:nvPr/>
            </p:nvSpPr>
            <p:spPr>
              <a:xfrm>
                <a:off x="2005336" y="542355"/>
                <a:ext cx="301986" cy="38753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sz="2000"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dirty="0"/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ABECED41-7B85-ACE8-1B0E-222A094CCD09}"/>
                  </a:ext>
                </a:extLst>
              </p:cNvPr>
              <p:cNvSpPr txBox="1"/>
              <p:nvPr/>
            </p:nvSpPr>
            <p:spPr>
              <a:xfrm>
                <a:off x="2313867" y="540327"/>
                <a:ext cx="301986" cy="38753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sz="2000"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dirty="0"/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66D6D5B-A5D1-8F9B-55E6-2B7915226F16}"/>
                  </a:ext>
                </a:extLst>
              </p:cNvPr>
              <p:cNvSpPr txBox="1"/>
              <p:nvPr/>
            </p:nvSpPr>
            <p:spPr>
              <a:xfrm>
                <a:off x="2628250" y="540327"/>
                <a:ext cx="301986" cy="38753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sz="2000"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dirty="0"/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662185B-CB80-5536-0A61-8E110B3E7CDD}"/>
                  </a:ext>
                </a:extLst>
              </p:cNvPr>
              <p:cNvSpPr txBox="1"/>
              <p:nvPr/>
            </p:nvSpPr>
            <p:spPr>
              <a:xfrm>
                <a:off x="1696804" y="935168"/>
                <a:ext cx="301986" cy="38753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sz="2000"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dirty="0"/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3C2C587-E479-AF21-2CF5-8E97C0F6A45E}"/>
                  </a:ext>
                </a:extLst>
              </p:cNvPr>
              <p:cNvSpPr txBox="1"/>
              <p:nvPr/>
            </p:nvSpPr>
            <p:spPr>
              <a:xfrm>
                <a:off x="2005336" y="935168"/>
                <a:ext cx="301986" cy="38753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sz="2000"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dirty="0"/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199183F-0DA1-A31A-1103-DBD2714AF683}"/>
                  </a:ext>
                </a:extLst>
              </p:cNvPr>
              <p:cNvSpPr txBox="1"/>
              <p:nvPr/>
            </p:nvSpPr>
            <p:spPr>
              <a:xfrm>
                <a:off x="2313867" y="933889"/>
                <a:ext cx="301986" cy="38753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sz="2000"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dirty="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3CC1E89E-6FA7-295B-0E49-B379CE0E87B7}"/>
                  </a:ext>
                </a:extLst>
              </p:cNvPr>
              <p:cNvSpPr txBox="1"/>
              <p:nvPr/>
            </p:nvSpPr>
            <p:spPr>
              <a:xfrm>
                <a:off x="2627868" y="934788"/>
                <a:ext cx="301986" cy="38753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sz="2000"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dirty="0"/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CD4A7EA9-D007-430F-F58C-A94FEBCFCBAD}"/>
                  </a:ext>
                </a:extLst>
              </p:cNvPr>
              <p:cNvSpPr/>
              <p:nvPr/>
            </p:nvSpPr>
            <p:spPr>
              <a:xfrm>
                <a:off x="1690258" y="541223"/>
                <a:ext cx="1239978" cy="774171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noFill/>
                </a:endParaRPr>
              </a:p>
            </p:txBody>
          </p: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23BBE6B-F711-04E1-36E7-EA6ED22B7457}"/>
                </a:ext>
              </a:extLst>
            </p:cNvPr>
            <p:cNvSpPr txBox="1"/>
            <p:nvPr/>
          </p:nvSpPr>
          <p:spPr>
            <a:xfrm>
              <a:off x="1730014" y="1065533"/>
              <a:ext cx="1279594" cy="230832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r>
                <a:rPr lang="en-US" altLang="zh-CN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0    1     2     3</a:t>
              </a:r>
              <a:endPara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0C3BF98-04C2-2119-5F89-11A68FF35A99}"/>
                </a:ext>
              </a:extLst>
            </p:cNvPr>
            <p:cNvSpPr txBox="1"/>
            <p:nvPr/>
          </p:nvSpPr>
          <p:spPr>
            <a:xfrm>
              <a:off x="952796" y="1382773"/>
              <a:ext cx="777218" cy="276999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r"/>
              <a:r>
                <a:rPr lang="en-US" altLang="zh-CN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coef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30EAC4B-1771-07AC-4F4D-7E77996ACD72}"/>
                </a:ext>
              </a:extLst>
            </p:cNvPr>
            <p:cNvSpPr txBox="1"/>
            <p:nvPr/>
          </p:nvSpPr>
          <p:spPr>
            <a:xfrm>
              <a:off x="959738" y="1742673"/>
              <a:ext cx="777218" cy="276999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r"/>
              <a:r>
                <a:rPr lang="en-US" altLang="zh-CN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expn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099742B-7DDC-51B0-3741-7DB2203E2E16}"/>
                </a:ext>
              </a:extLst>
            </p:cNvPr>
            <p:cNvSpPr txBox="1"/>
            <p:nvPr/>
          </p:nvSpPr>
          <p:spPr>
            <a:xfrm>
              <a:off x="712255" y="1057250"/>
              <a:ext cx="1017759" cy="276999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term[]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C46CAC1C-F7A6-44DE-2414-2A6A981D9105}"/>
              </a:ext>
            </a:extLst>
          </p:cNvPr>
          <p:cNvGrpSpPr/>
          <p:nvPr/>
        </p:nvGrpSpPr>
        <p:grpSpPr>
          <a:xfrm>
            <a:off x="9673016" y="1217177"/>
            <a:ext cx="1943354" cy="1052251"/>
            <a:chOff x="3171206" y="1057250"/>
            <a:chExt cx="1943354" cy="1052251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C734606E-FBA5-F118-98A5-23C85487BF6A}"/>
                </a:ext>
              </a:extLst>
            </p:cNvPr>
            <p:cNvSpPr txBox="1"/>
            <p:nvPr/>
          </p:nvSpPr>
          <p:spPr>
            <a:xfrm>
              <a:off x="4188965" y="1065533"/>
              <a:ext cx="925595" cy="230832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r>
                <a:rPr lang="en-US" altLang="zh-CN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0    1    2</a:t>
              </a:r>
              <a:endPara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8E921580-EA5A-4516-F7CC-AEF5B848DB73}"/>
                </a:ext>
              </a:extLst>
            </p:cNvPr>
            <p:cNvSpPr txBox="1"/>
            <p:nvPr/>
          </p:nvSpPr>
          <p:spPr>
            <a:xfrm>
              <a:off x="3411747" y="1382773"/>
              <a:ext cx="777218" cy="276999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r"/>
              <a:r>
                <a:rPr lang="en-US" altLang="zh-CN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coef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63AF5CE0-2788-E9F9-477D-43EC083999E1}"/>
                </a:ext>
              </a:extLst>
            </p:cNvPr>
            <p:cNvSpPr txBox="1"/>
            <p:nvPr/>
          </p:nvSpPr>
          <p:spPr>
            <a:xfrm>
              <a:off x="3418689" y="1742673"/>
              <a:ext cx="777218" cy="276999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r"/>
              <a:r>
                <a:rPr lang="en-US" altLang="zh-CN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expn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57EA53B2-CA9C-9C8F-0AC1-D59894E0C87F}"/>
                </a:ext>
              </a:extLst>
            </p:cNvPr>
            <p:cNvSpPr txBox="1"/>
            <p:nvPr/>
          </p:nvSpPr>
          <p:spPr>
            <a:xfrm>
              <a:off x="3171206" y="1057250"/>
              <a:ext cx="1017759" cy="276999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term[]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0C380BB5-AADA-1795-11B9-8BC35FC3F9F4}"/>
                </a:ext>
              </a:extLst>
            </p:cNvPr>
            <p:cNvGrpSpPr/>
            <p:nvPr/>
          </p:nvGrpSpPr>
          <p:grpSpPr>
            <a:xfrm>
              <a:off x="4175873" y="1335330"/>
              <a:ext cx="925595" cy="774171"/>
              <a:chOff x="3486556" y="2656467"/>
              <a:chExt cx="925595" cy="774171"/>
            </a:xfrm>
          </p:grpSpPr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7D4BF61-8631-D0FE-5223-40C95602C888}"/>
                  </a:ext>
                </a:extLst>
              </p:cNvPr>
              <p:cNvSpPr txBox="1"/>
              <p:nvPr/>
            </p:nvSpPr>
            <p:spPr>
              <a:xfrm>
                <a:off x="3495593" y="3041466"/>
                <a:ext cx="316398" cy="3888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sz="2000" dirty="0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4B26D32-AF84-EC6D-EA05-982820F66BEC}"/>
                  </a:ext>
                </a:extLst>
              </p:cNvPr>
              <p:cNvSpPr txBox="1"/>
              <p:nvPr/>
            </p:nvSpPr>
            <p:spPr>
              <a:xfrm>
                <a:off x="4099565" y="3041466"/>
                <a:ext cx="301986" cy="38753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sz="2000"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dirty="0"/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A8731921-1C96-7574-C532-CB53EABA4ABF}"/>
                  </a:ext>
                </a:extLst>
              </p:cNvPr>
              <p:cNvSpPr txBox="1"/>
              <p:nvPr/>
            </p:nvSpPr>
            <p:spPr>
              <a:xfrm>
                <a:off x="3797579" y="3041466"/>
                <a:ext cx="301986" cy="3888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sz="2000" dirty="0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6CEB0D5-152F-28CF-39E0-2AF60F2A84E4}"/>
                  </a:ext>
                </a:extLst>
              </p:cNvPr>
              <p:cNvSpPr txBox="1"/>
              <p:nvPr/>
            </p:nvSpPr>
            <p:spPr>
              <a:xfrm>
                <a:off x="3495593" y="2664244"/>
                <a:ext cx="316398" cy="3888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sz="2000" dirty="0"/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455060E-1929-57DB-D8FE-9D83CAA00521}"/>
                  </a:ext>
                </a:extLst>
              </p:cNvPr>
              <p:cNvSpPr txBox="1"/>
              <p:nvPr/>
            </p:nvSpPr>
            <p:spPr>
              <a:xfrm>
                <a:off x="4099565" y="2664243"/>
                <a:ext cx="306050" cy="3804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sz="2000" dirty="0"/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73C8FD97-BEAE-2939-D343-6D88EBED51F0}"/>
                  </a:ext>
                </a:extLst>
              </p:cNvPr>
              <p:cNvSpPr txBox="1"/>
              <p:nvPr/>
            </p:nvSpPr>
            <p:spPr>
              <a:xfrm>
                <a:off x="3797579" y="2664244"/>
                <a:ext cx="301986" cy="3888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sz="2000" dirty="0"/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6AE6FB6B-93C4-4627-92A0-2AD2AA9902A5}"/>
                  </a:ext>
                </a:extLst>
              </p:cNvPr>
              <p:cNvSpPr/>
              <p:nvPr/>
            </p:nvSpPr>
            <p:spPr>
              <a:xfrm>
                <a:off x="3486556" y="2656467"/>
                <a:ext cx="925595" cy="774171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noFill/>
                </a:endParaRPr>
              </a:p>
            </p:txBody>
          </p:sp>
        </p:grp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06387D12-8EA7-D969-FFDC-A238EFB33D91}"/>
              </a:ext>
            </a:extLst>
          </p:cNvPr>
          <p:cNvSpPr txBox="1"/>
          <p:nvPr/>
        </p:nvSpPr>
        <p:spPr>
          <a:xfrm>
            <a:off x="7538531" y="2376999"/>
            <a:ext cx="4151968" cy="30777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zh-CN" altLang="zh-CN" dirty="0"/>
              <a:t>图</a:t>
            </a:r>
            <a:r>
              <a:rPr lang="en-US" altLang="zh-CN" dirty="0"/>
              <a:t>2.17  </a:t>
            </a:r>
            <a:r>
              <a:rPr lang="zh-CN" altLang="zh-CN" dirty="0"/>
              <a:t>一元稀疏多项式</a:t>
            </a:r>
            <a:r>
              <a:rPr lang="zh-CN" altLang="en-US" dirty="0"/>
              <a:t>构建</a:t>
            </a:r>
            <a:r>
              <a:rPr lang="zh-CN" altLang="zh-CN" dirty="0"/>
              <a:t>示例</a:t>
            </a:r>
            <a:r>
              <a:rPr lang="en-US" altLang="zh-CN" dirty="0"/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2274A21-3922-6A5A-04BE-627F6EE00288}"/>
              </a:ext>
            </a:extLst>
          </p:cNvPr>
          <p:cNvSpPr txBox="1"/>
          <p:nvPr/>
        </p:nvSpPr>
        <p:spPr>
          <a:xfrm>
            <a:off x="388703" y="977500"/>
            <a:ext cx="44329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构建  </a:t>
            </a:r>
            <a:r>
              <a:rPr lang="en-US" altLang="zh-CN" sz="2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7+3x+9x</a:t>
            </a:r>
            <a:r>
              <a:rPr lang="en-US" altLang="zh-CN" sz="2000" baseline="30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en-US" altLang="zh-CN" sz="2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+5x</a:t>
            </a:r>
            <a:r>
              <a:rPr lang="en-US" altLang="zh-CN" sz="2000" baseline="30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17</a:t>
            </a:r>
            <a:r>
              <a:rPr lang="en-US" altLang="zh-CN" sz="20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8x+22x</a:t>
            </a:r>
            <a:r>
              <a:rPr lang="en-US" altLang="zh-CN" sz="2000" baseline="30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en-US" altLang="zh-CN" sz="2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-9x</a:t>
            </a:r>
            <a:r>
              <a:rPr lang="en-US" altLang="zh-CN" sz="2000" baseline="30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endParaRPr lang="zh-CN" altLang="en-US" sz="20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1C63273-D257-53FA-E1E2-69492153E3D5}"/>
              </a:ext>
            </a:extLst>
          </p:cNvPr>
          <p:cNvSpPr txBox="1"/>
          <p:nvPr/>
        </p:nvSpPr>
        <p:spPr>
          <a:xfrm>
            <a:off x="388090" y="1358034"/>
            <a:ext cx="6263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Term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tsa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[] = { {7,0}, {3,1}, {9,8}, {5,17} };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Poly pa = </a:t>
            </a:r>
            <a:r>
              <a:rPr lang="en-US" altLang="zh-CN" kern="1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CreatePoly</a:t>
            </a:r>
            <a:r>
              <a:rPr lang="en-US" altLang="zh-CN" kern="100" dirty="0"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tsa</a:t>
            </a:r>
            <a:r>
              <a:rPr lang="en-US" altLang="zh-CN" kern="100" dirty="0">
                <a:latin typeface="Courier New" panose="02070309020205020404" pitchFamily="49" charset="0"/>
                <a:cs typeface="Times New Roman" panose="02020603050405020304" pitchFamily="18" charset="0"/>
              </a:rPr>
              <a:t>, 4);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2CED7DBC-BDB6-FED7-411C-135D8C9AC599}"/>
              </a:ext>
            </a:extLst>
          </p:cNvPr>
          <p:cNvCxnSpPr>
            <a:cxnSpLocks/>
          </p:cNvCxnSpPr>
          <p:nvPr/>
        </p:nvCxnSpPr>
        <p:spPr>
          <a:xfrm>
            <a:off x="866383" y="5460272"/>
            <a:ext cx="312082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4D8C260D-5C48-402B-2831-D7F3122B2675}"/>
              </a:ext>
            </a:extLst>
          </p:cNvPr>
          <p:cNvSpPr txBox="1"/>
          <p:nvPr/>
        </p:nvSpPr>
        <p:spPr>
          <a:xfrm>
            <a:off x="8277368" y="1533061"/>
            <a:ext cx="203459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A447497-E7C9-662C-301D-0AE49F3E3AA6}"/>
              </a:ext>
            </a:extLst>
          </p:cNvPr>
          <p:cNvSpPr txBox="1"/>
          <p:nvPr/>
        </p:nvSpPr>
        <p:spPr>
          <a:xfrm>
            <a:off x="8586694" y="1538812"/>
            <a:ext cx="203459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8" name="文本框 45">
            <a:extLst>
              <a:ext uri="{FF2B5EF4-FFF2-40B4-BE49-F238E27FC236}">
                <a16:creationId xmlns:a16="http://schemas.microsoft.com/office/drawing/2014/main" id="{4D8C260D-5C48-402B-2831-D7F3122B2675}"/>
              </a:ext>
            </a:extLst>
          </p:cNvPr>
          <p:cNvSpPr txBox="1"/>
          <p:nvPr/>
        </p:nvSpPr>
        <p:spPr>
          <a:xfrm>
            <a:off x="8898780" y="1540081"/>
            <a:ext cx="203459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49" name="文本框 45">
            <a:extLst>
              <a:ext uri="{FF2B5EF4-FFF2-40B4-BE49-F238E27FC236}">
                <a16:creationId xmlns:a16="http://schemas.microsoft.com/office/drawing/2014/main" id="{4D8C260D-5C48-402B-2831-D7F3122B2675}"/>
              </a:ext>
            </a:extLst>
          </p:cNvPr>
          <p:cNvSpPr txBox="1"/>
          <p:nvPr/>
        </p:nvSpPr>
        <p:spPr>
          <a:xfrm>
            <a:off x="9210447" y="1536367"/>
            <a:ext cx="203459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7CF1F683-5D72-DEDD-4681-FC9ADC8E7E72}"/>
              </a:ext>
            </a:extLst>
          </p:cNvPr>
          <p:cNvSpPr txBox="1"/>
          <p:nvPr/>
        </p:nvSpPr>
        <p:spPr>
          <a:xfrm>
            <a:off x="8277368" y="1915172"/>
            <a:ext cx="203459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1D8D7D0-3B95-1250-EEF5-0675ED7B55D0}"/>
              </a:ext>
            </a:extLst>
          </p:cNvPr>
          <p:cNvSpPr txBox="1"/>
          <p:nvPr/>
        </p:nvSpPr>
        <p:spPr>
          <a:xfrm>
            <a:off x="8586694" y="1920923"/>
            <a:ext cx="203459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2" name="文本框 45">
            <a:extLst>
              <a:ext uri="{FF2B5EF4-FFF2-40B4-BE49-F238E27FC236}">
                <a16:creationId xmlns:a16="http://schemas.microsoft.com/office/drawing/2014/main" id="{FE790005-D38C-EC21-8F2F-6E2FD3658338}"/>
              </a:ext>
            </a:extLst>
          </p:cNvPr>
          <p:cNvSpPr txBox="1"/>
          <p:nvPr/>
        </p:nvSpPr>
        <p:spPr>
          <a:xfrm>
            <a:off x="8898780" y="1922192"/>
            <a:ext cx="203459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53" name="文本框 45">
            <a:extLst>
              <a:ext uri="{FF2B5EF4-FFF2-40B4-BE49-F238E27FC236}">
                <a16:creationId xmlns:a16="http://schemas.microsoft.com/office/drawing/2014/main" id="{95E7108D-7430-EBE1-2CED-F8B20C4417FB}"/>
              </a:ext>
            </a:extLst>
          </p:cNvPr>
          <p:cNvSpPr txBox="1"/>
          <p:nvPr/>
        </p:nvSpPr>
        <p:spPr>
          <a:xfrm>
            <a:off x="9170190" y="1918478"/>
            <a:ext cx="270044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17</a:t>
            </a:r>
            <a:endParaRPr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9C028C4-A9FB-5E77-7852-42C4AC39446B}"/>
              </a:ext>
            </a:extLst>
          </p:cNvPr>
          <p:cNvSpPr txBox="1"/>
          <p:nvPr/>
        </p:nvSpPr>
        <p:spPr>
          <a:xfrm>
            <a:off x="10735385" y="1535744"/>
            <a:ext cx="203459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B6B1638-A9AF-2D7A-71D7-8A14030F22ED}"/>
              </a:ext>
            </a:extLst>
          </p:cNvPr>
          <p:cNvSpPr txBox="1"/>
          <p:nvPr/>
        </p:nvSpPr>
        <p:spPr>
          <a:xfrm>
            <a:off x="10998703" y="1535744"/>
            <a:ext cx="283967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56" name="文本框 45">
            <a:extLst>
              <a:ext uri="{FF2B5EF4-FFF2-40B4-BE49-F238E27FC236}">
                <a16:creationId xmlns:a16="http://schemas.microsoft.com/office/drawing/2014/main" id="{9CD2BE04-DCAF-0F91-6332-A3DE9F97C2C2}"/>
              </a:ext>
            </a:extLst>
          </p:cNvPr>
          <p:cNvSpPr txBox="1"/>
          <p:nvPr/>
        </p:nvSpPr>
        <p:spPr>
          <a:xfrm>
            <a:off x="11305044" y="1542764"/>
            <a:ext cx="283967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-9</a:t>
            </a:r>
            <a:endParaRPr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A4A375B3-23EA-2C42-C4E6-B60C1BB69E80}"/>
              </a:ext>
            </a:extLst>
          </p:cNvPr>
          <p:cNvSpPr txBox="1"/>
          <p:nvPr/>
        </p:nvSpPr>
        <p:spPr>
          <a:xfrm>
            <a:off x="10735385" y="1917855"/>
            <a:ext cx="203459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D15F4891-EE3C-A5D7-081C-0AD9FE590DD6}"/>
              </a:ext>
            </a:extLst>
          </p:cNvPr>
          <p:cNvSpPr txBox="1"/>
          <p:nvPr/>
        </p:nvSpPr>
        <p:spPr>
          <a:xfrm>
            <a:off x="11044711" y="1923606"/>
            <a:ext cx="203459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59" name="文本框 45">
            <a:extLst>
              <a:ext uri="{FF2B5EF4-FFF2-40B4-BE49-F238E27FC236}">
                <a16:creationId xmlns:a16="http://schemas.microsoft.com/office/drawing/2014/main" id="{5CD183F7-CA7B-DBDA-E0D3-782F3CC618F6}"/>
              </a:ext>
            </a:extLst>
          </p:cNvPr>
          <p:cNvSpPr txBox="1"/>
          <p:nvPr/>
        </p:nvSpPr>
        <p:spPr>
          <a:xfrm>
            <a:off x="11356797" y="1924875"/>
            <a:ext cx="203459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8</a:t>
            </a:r>
            <a:endParaRPr lang="zh-CN" altLang="en-US" dirty="0"/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A9467DA1-3156-DE35-9948-BA1EC22FC322}"/>
              </a:ext>
            </a:extLst>
          </p:cNvPr>
          <p:cNvGrpSpPr/>
          <p:nvPr/>
        </p:nvGrpSpPr>
        <p:grpSpPr>
          <a:xfrm>
            <a:off x="7461547" y="760228"/>
            <a:ext cx="365485" cy="512609"/>
            <a:chOff x="7461547" y="760228"/>
            <a:chExt cx="365485" cy="512609"/>
          </a:xfrm>
        </p:grpSpPr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B31B32DE-BEED-45C6-80B6-B340A556205F}"/>
                </a:ext>
              </a:extLst>
            </p:cNvPr>
            <p:cNvSpPr txBox="1"/>
            <p:nvPr/>
          </p:nvSpPr>
          <p:spPr>
            <a:xfrm>
              <a:off x="7461547" y="760228"/>
              <a:ext cx="365485" cy="276999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38B408B6-090C-4CEA-324D-80C5C0FAAF1F}"/>
                </a:ext>
              </a:extLst>
            </p:cNvPr>
            <p:cNvCxnSpPr/>
            <p:nvPr/>
          </p:nvCxnSpPr>
          <p:spPr>
            <a:xfrm>
              <a:off x="7667286" y="1042249"/>
              <a:ext cx="0" cy="230588"/>
            </a:xfrm>
            <a:prstGeom prst="straightConnector1">
              <a:avLst/>
            </a:prstGeom>
            <a:ln w="28575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1E12FB10-745B-4250-F4A3-7BAF365F0966}"/>
              </a:ext>
            </a:extLst>
          </p:cNvPr>
          <p:cNvGrpSpPr/>
          <p:nvPr/>
        </p:nvGrpSpPr>
        <p:grpSpPr>
          <a:xfrm>
            <a:off x="9982200" y="763472"/>
            <a:ext cx="365485" cy="512609"/>
            <a:chOff x="7461547" y="760228"/>
            <a:chExt cx="365485" cy="512609"/>
          </a:xfrm>
        </p:grpSpPr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3D057D48-9B36-9876-14F5-1218F61E862F}"/>
                </a:ext>
              </a:extLst>
            </p:cNvPr>
            <p:cNvSpPr txBox="1"/>
            <p:nvPr/>
          </p:nvSpPr>
          <p:spPr>
            <a:xfrm>
              <a:off x="7461547" y="760228"/>
              <a:ext cx="365485" cy="276999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B12D8A2D-5A17-258B-3D2F-8EFDC684C313}"/>
                </a:ext>
              </a:extLst>
            </p:cNvPr>
            <p:cNvCxnSpPr/>
            <p:nvPr/>
          </p:nvCxnSpPr>
          <p:spPr>
            <a:xfrm>
              <a:off x="7667286" y="1042249"/>
              <a:ext cx="0" cy="230588"/>
            </a:xfrm>
            <a:prstGeom prst="straightConnector1">
              <a:avLst/>
            </a:prstGeom>
            <a:ln w="28575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A71A4C2B-8278-7968-6B7B-8C2F2D72BCBD}"/>
              </a:ext>
            </a:extLst>
          </p:cNvPr>
          <p:cNvCxnSpPr>
            <a:cxnSpLocks/>
          </p:cNvCxnSpPr>
          <p:nvPr/>
        </p:nvCxnSpPr>
        <p:spPr>
          <a:xfrm>
            <a:off x="866383" y="5733132"/>
            <a:ext cx="589579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3DF594B1-E257-E6F8-11CE-3EB1BA3BD1DB}"/>
              </a:ext>
            </a:extLst>
          </p:cNvPr>
          <p:cNvSpPr txBox="1"/>
          <p:nvPr/>
        </p:nvSpPr>
        <p:spPr>
          <a:xfrm>
            <a:off x="365047" y="2051656"/>
            <a:ext cx="6849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Term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tsb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[] = { {8,1}, {22,7}, {-9,8}, {5,17} };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Poly pb = </a:t>
            </a:r>
            <a:r>
              <a:rPr lang="en-US" altLang="zh-CN" kern="1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CreatePoly</a:t>
            </a:r>
            <a:r>
              <a:rPr lang="en-US" altLang="zh-CN" kern="100" dirty="0"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tsb</a:t>
            </a:r>
            <a:r>
              <a:rPr lang="en-US" altLang="zh-CN" kern="100" dirty="0">
                <a:latin typeface="Courier New" panose="02070309020205020404" pitchFamily="49" charset="0"/>
                <a:cs typeface="Times New Roman" panose="02020603050405020304" pitchFamily="18" charset="0"/>
              </a:rPr>
              <a:t>, 3);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E9563553-7400-16B5-D779-1366ABB58D9D}"/>
              </a:ext>
            </a:extLst>
          </p:cNvPr>
          <p:cNvGrpSpPr/>
          <p:nvPr/>
        </p:nvGrpSpPr>
        <p:grpSpPr>
          <a:xfrm>
            <a:off x="7423250" y="756550"/>
            <a:ext cx="473693" cy="512609"/>
            <a:chOff x="7429651" y="760228"/>
            <a:chExt cx="473693" cy="512609"/>
          </a:xfrm>
        </p:grpSpPr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4C5F8356-173F-381D-CD0D-5F5DFF7C6C16}"/>
                </a:ext>
              </a:extLst>
            </p:cNvPr>
            <p:cNvSpPr txBox="1"/>
            <p:nvPr/>
          </p:nvSpPr>
          <p:spPr>
            <a:xfrm>
              <a:off x="7429651" y="760228"/>
              <a:ext cx="473693" cy="276999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r"/>
              <a:r>
                <a:rPr lang="en-US" altLang="zh-CN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pa</a:t>
              </a:r>
              <a:endParaRPr lang="zh-CN" alt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DC21CC20-8D18-E4A9-49DB-6A5B1EB3F918}"/>
                </a:ext>
              </a:extLst>
            </p:cNvPr>
            <p:cNvCxnSpPr/>
            <p:nvPr/>
          </p:nvCxnSpPr>
          <p:spPr>
            <a:xfrm>
              <a:off x="7667286" y="1042249"/>
              <a:ext cx="0" cy="230588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E4AAF9F4-728F-4333-6B44-40B27873C565}"/>
              </a:ext>
            </a:extLst>
          </p:cNvPr>
          <p:cNvGrpSpPr/>
          <p:nvPr/>
        </p:nvGrpSpPr>
        <p:grpSpPr>
          <a:xfrm>
            <a:off x="9945049" y="772362"/>
            <a:ext cx="473693" cy="512609"/>
            <a:chOff x="7429651" y="760228"/>
            <a:chExt cx="473693" cy="512609"/>
          </a:xfrm>
        </p:grpSpPr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932444F5-3E15-DA70-F1D5-2D85A333D85D}"/>
                </a:ext>
              </a:extLst>
            </p:cNvPr>
            <p:cNvSpPr txBox="1"/>
            <p:nvPr/>
          </p:nvSpPr>
          <p:spPr>
            <a:xfrm>
              <a:off x="7429651" y="760228"/>
              <a:ext cx="473693" cy="276999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r"/>
              <a:r>
                <a:rPr lang="en-US" altLang="zh-CN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pb</a:t>
              </a:r>
              <a:endParaRPr lang="zh-CN" alt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BAD0209B-0BA2-41F9-9185-B1A9DC19566C}"/>
                </a:ext>
              </a:extLst>
            </p:cNvPr>
            <p:cNvCxnSpPr/>
            <p:nvPr/>
          </p:nvCxnSpPr>
          <p:spPr>
            <a:xfrm>
              <a:off x="7667286" y="1042249"/>
              <a:ext cx="0" cy="230588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138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5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000"/>
                            </p:stCondLst>
                            <p:childTnLst>
                              <p:par>
                                <p:cTn id="1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000"/>
                            </p:stCondLst>
                            <p:childTnLst>
                              <p:par>
                                <p:cTn id="17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矩形 111">
            <a:extLst>
              <a:ext uri="{FF2B5EF4-FFF2-40B4-BE49-F238E27FC236}">
                <a16:creationId xmlns:a16="http://schemas.microsoft.com/office/drawing/2014/main" id="{9E01C1A3-3464-1ADB-6103-9327C3FE92EB}"/>
              </a:ext>
            </a:extLst>
          </p:cNvPr>
          <p:cNvSpPr/>
          <p:nvPr/>
        </p:nvSpPr>
        <p:spPr>
          <a:xfrm>
            <a:off x="175267" y="1863450"/>
            <a:ext cx="7193263" cy="3075373"/>
          </a:xfrm>
          <a:prstGeom prst="rect">
            <a:avLst/>
          </a:prstGeom>
          <a:solidFill>
            <a:srgbClr val="FDF3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8746B412-2BB5-8DFB-289C-301D480AF722}"/>
              </a:ext>
            </a:extLst>
          </p:cNvPr>
          <p:cNvSpPr txBox="1"/>
          <p:nvPr/>
        </p:nvSpPr>
        <p:spPr>
          <a:xfrm>
            <a:off x="106762" y="935983"/>
            <a:ext cx="10423378" cy="586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Poly 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AddPoly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(Poly pa, Poly pb)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两个一元稀疏多项式相加，返回和多项式</a:t>
            </a:r>
            <a:endParaRPr lang="zh-CN" altLang="zh-CN" sz="1600" kern="100" dirty="0">
              <a:solidFill>
                <a:schemeClr val="accent6">
                  <a:lumMod val="75000"/>
                </a:schemeClr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=0, j=0, k=0;  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float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c;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pam = pa-&gt;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termNum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pbn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pb-&gt;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termNum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两个多项式的项</a:t>
            </a:r>
            <a:r>
              <a:rPr lang="zh-CN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数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Poly pc = 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allocPoly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(pam + 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pbn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   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按最大需求预分配和多项式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存储空间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while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&lt; pam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&amp;&amp;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j &lt; 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pbn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依次比较两多项式的项的指数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switch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(Compare(pa-&gt;term[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].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expn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pb-&gt;term[j].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expn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))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比较指数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case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-1: pc-&gt;term[k++] = pa-&gt;term[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++]; 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break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pa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项指数较小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case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1: pc-&gt;term[k++] = pb-&gt;term[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j++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 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break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pb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项指数较小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case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0: c = pa-&gt;term[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].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coef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+ pb-&gt;term[j].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coef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相等</a:t>
            </a:r>
            <a:r>
              <a:rPr lang="zh-CN" altLang="en-US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则系数相加</a:t>
            </a:r>
            <a:endParaRPr lang="zh-CN" altLang="zh-CN" sz="1600" kern="1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(c!=0)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系数和不为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，构建和项，并添加到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pc-&gt;term[k].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expn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pa-&gt;term[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].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expn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pc-&gt;term[k].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coef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c;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k++;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系数和为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则消去此项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++;   </a:t>
            </a:r>
            <a:r>
              <a:rPr lang="en-US" altLang="zh-CN" sz="1600" kern="100" dirty="0" err="1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j++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   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pa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pb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均取下一项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//switch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600" kern="100" dirty="0">
                <a:latin typeface="Courier New" panose="02070309020205020404" pitchFamily="49" charset="0"/>
                <a:cs typeface="Times New Roman" panose="02020603050405020304" pitchFamily="18" charset="0"/>
              </a:rPr>
              <a:t>pc-&gt;</a:t>
            </a:r>
            <a:r>
              <a:rPr lang="en-US" altLang="zh-CN" sz="1600" kern="1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termNum</a:t>
            </a:r>
            <a:r>
              <a:rPr lang="en-US" altLang="zh-CN" sz="1600" kern="100" dirty="0">
                <a:latin typeface="Courier New" panose="02070309020205020404" pitchFamily="49" charset="0"/>
                <a:cs typeface="Times New Roman" panose="02020603050405020304" pitchFamily="18" charset="0"/>
              </a:rPr>
              <a:t>++;  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// </a:t>
            </a:r>
            <a:r>
              <a:rPr lang="zh-CN" altLang="en-US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与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k</a:t>
            </a:r>
            <a:r>
              <a:rPr lang="zh-CN" altLang="en-US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同步，支持</a:t>
            </a:r>
            <a:r>
              <a:rPr lang="en-US" altLang="zh-CN" sz="1600" b="1" kern="100" dirty="0" err="1">
                <a:solidFill>
                  <a:srgbClr val="00B05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AnyviewC</a:t>
            </a:r>
            <a:r>
              <a:rPr lang="zh-CN" altLang="en-US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实时可视跟踪</a:t>
            </a:r>
            <a:endParaRPr lang="en-US" altLang="zh-CN" sz="1600" kern="1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kern="10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90000"/>
              </a:lnSpc>
            </a:pP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600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== pam)    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pa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已处理完，将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pb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剩余部分添加到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endParaRPr lang="zh-CN" altLang="zh-CN" sz="1600" kern="1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memcpy</a:t>
            </a: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(pc-&gt;</a:t>
            </a:r>
            <a:r>
              <a:rPr lang="en-US" altLang="zh-CN" sz="1600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term+k</a:t>
            </a: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pb-&gt;</a:t>
            </a:r>
            <a:r>
              <a:rPr lang="en-US" altLang="zh-CN" sz="1600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term+j</a:t>
            </a: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(</a:t>
            </a:r>
            <a:r>
              <a:rPr lang="en-US" altLang="zh-CN" sz="1600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pbn</a:t>
            </a: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-j)*</a:t>
            </a:r>
            <a:r>
              <a:rPr lang="en-US" altLang="zh-CN" sz="16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sizeof</a:t>
            </a: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(Term));  k += </a:t>
            </a:r>
            <a:r>
              <a:rPr lang="en-US" altLang="zh-CN" sz="1600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pbn</a:t>
            </a: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-j; </a:t>
            </a: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6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(j == </a:t>
            </a:r>
            <a:r>
              <a:rPr lang="en-US" altLang="zh-CN" sz="1600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pbn</a:t>
            </a: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    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pb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已处理完，将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剩余部分添加到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endParaRPr lang="zh-CN" altLang="zh-CN" sz="1600" kern="1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memcpy</a:t>
            </a: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(pc-&gt;</a:t>
            </a:r>
            <a:r>
              <a:rPr lang="en-US" altLang="zh-CN" sz="1600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term+k</a:t>
            </a: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pa-&gt;</a:t>
            </a:r>
            <a:r>
              <a:rPr lang="en-US" altLang="zh-CN" sz="1600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term+i</a:t>
            </a: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(pam-</a:t>
            </a:r>
            <a:r>
              <a:rPr lang="en-US" altLang="zh-CN" sz="1600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)*</a:t>
            </a:r>
            <a:r>
              <a:rPr lang="en-US" altLang="zh-CN" sz="16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sizeof</a:t>
            </a: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(Term));  k += pam-</a:t>
            </a:r>
            <a:r>
              <a:rPr lang="en-US" altLang="zh-CN" sz="1600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600" b="1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(k &lt; pam + </a:t>
            </a:r>
            <a:r>
              <a:rPr lang="en-US" altLang="zh-CN" sz="1600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pbn</a:t>
            </a: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的实际项数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小于预分配的项数，则按实际调整空间</a:t>
            </a:r>
          </a:p>
          <a:p>
            <a:pPr>
              <a:lnSpc>
                <a:spcPct val="90000"/>
              </a:lnSpc>
            </a:pP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(NULL == (pc-&gt;term = (Term*)</a:t>
            </a:r>
            <a:r>
              <a:rPr lang="en-US" altLang="zh-CN" sz="16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realloc</a:t>
            </a: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(pc-&gt;term, k*</a:t>
            </a:r>
            <a:r>
              <a:rPr lang="en-US" altLang="zh-CN" sz="1600" b="1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sizeof</a:t>
            </a: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(Term)))) </a:t>
            </a: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NULL;</a:t>
            </a:r>
            <a:endParaRPr lang="zh-CN" altLang="zh-CN" sz="1600" kern="100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pc-&gt;</a:t>
            </a:r>
            <a:r>
              <a:rPr lang="en-US" altLang="zh-CN" sz="1600" kern="100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termNum</a:t>
            </a: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k;  </a:t>
            </a:r>
            <a:r>
              <a:rPr lang="en-US" altLang="zh-CN" sz="1600" b="1" kern="100" dirty="0">
                <a:latin typeface="Courier New" panose="02070309020205020404" pitchFamily="49" charset="0"/>
                <a:cs typeface="Times New Roman" panose="02020603050405020304" pitchFamily="18" charset="0"/>
              </a:rPr>
              <a:t>return</a:t>
            </a:r>
            <a:r>
              <a:rPr lang="en-US" altLang="zh-CN" sz="1600" kern="100" dirty="0">
                <a:latin typeface="Courier New" panose="02070309020205020404" pitchFamily="49" charset="0"/>
                <a:cs typeface="Times New Roman" panose="02020603050405020304" pitchFamily="18" charset="0"/>
              </a:rPr>
              <a:t> pc; </a:t>
            </a:r>
            <a:r>
              <a:rPr lang="en-US" altLang="zh-CN" sz="1600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和多项式的项数</a:t>
            </a:r>
            <a:r>
              <a:rPr lang="zh-CN" altLang="en-US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600" kern="1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返回所求的和多项式</a:t>
            </a:r>
            <a:endParaRPr lang="zh-CN" altLang="zh-CN" sz="1600" kern="1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6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23B4C92-B4D1-4CA4-EB22-7F050DFD6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3146" y="6356350"/>
            <a:ext cx="430653" cy="365125"/>
          </a:xfrm>
        </p:spPr>
        <p:txBody>
          <a:bodyPr/>
          <a:lstStyle/>
          <a:p>
            <a:fld id="{D7C0FE0B-717B-41AE-9FA2-CA4BF851D1C3}" type="slidenum">
              <a:rPr lang="zh-CN" altLang="en-US" smtClean="0"/>
              <a:t>24</a:t>
            </a:fld>
            <a:endParaRPr lang="zh-CN" altLang="en-US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47AD3E0-C032-B6E4-7877-93B114155913}"/>
              </a:ext>
            </a:extLst>
          </p:cNvPr>
          <p:cNvSpPr/>
          <p:nvPr/>
        </p:nvSpPr>
        <p:spPr>
          <a:xfrm>
            <a:off x="1334386" y="223284"/>
            <a:ext cx="4960088" cy="53694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b="1" kern="100" dirty="0">
                <a:solidFill>
                  <a:srgbClr val="C00000"/>
                </a:solidFill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算法</a:t>
            </a:r>
            <a:r>
              <a:rPr lang="en-US" altLang="zh-CN" sz="2400" b="1" kern="100" dirty="0">
                <a:solidFill>
                  <a:srgbClr val="C00000"/>
                </a:solidFill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2.21   </a:t>
            </a:r>
            <a:r>
              <a:rPr lang="zh-CN" altLang="zh-CN" sz="2400" b="1" dirty="0">
                <a:solidFill>
                  <a:srgbClr val="050EBB"/>
                </a:solidFill>
              </a:rPr>
              <a:t>一元稀疏多项式</a:t>
            </a:r>
            <a:r>
              <a:rPr lang="zh-CN" altLang="en-US" sz="2400" b="1" dirty="0">
                <a:solidFill>
                  <a:srgbClr val="050EBB"/>
                </a:solidFill>
              </a:rPr>
              <a:t>相加</a:t>
            </a:r>
            <a:endParaRPr lang="zh-CN" altLang="zh-CN" sz="2400" b="1" kern="100" dirty="0">
              <a:solidFill>
                <a:srgbClr val="050EBB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F858084-0ED0-893D-2182-167C6ADC2AB0}"/>
              </a:ext>
            </a:extLst>
          </p:cNvPr>
          <p:cNvGrpSpPr/>
          <p:nvPr/>
        </p:nvGrpSpPr>
        <p:grpSpPr>
          <a:xfrm>
            <a:off x="9235779" y="911162"/>
            <a:ext cx="2297353" cy="1052631"/>
            <a:chOff x="712255" y="1057250"/>
            <a:chExt cx="2297353" cy="1052631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544AB463-F988-F740-A8B6-63B510887589}"/>
                </a:ext>
              </a:extLst>
            </p:cNvPr>
            <p:cNvGrpSpPr/>
            <p:nvPr/>
          </p:nvGrpSpPr>
          <p:grpSpPr>
            <a:xfrm>
              <a:off x="1714112" y="1327506"/>
              <a:ext cx="1239978" cy="782375"/>
              <a:chOff x="1690258" y="540327"/>
              <a:chExt cx="1239978" cy="782375"/>
            </a:xfrm>
          </p:grpSpPr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18CAAF5-700C-2DCD-AC9E-BDE4E7F0B0B1}"/>
                  </a:ext>
                </a:extLst>
              </p:cNvPr>
              <p:cNvSpPr txBox="1"/>
              <p:nvPr/>
            </p:nvSpPr>
            <p:spPr>
              <a:xfrm>
                <a:off x="1696804" y="542355"/>
                <a:ext cx="301986" cy="38753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sz="2000"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dirty="0"/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B56EE52-348E-3623-1B35-A802A05AC00B}"/>
                  </a:ext>
                </a:extLst>
              </p:cNvPr>
              <p:cNvSpPr txBox="1"/>
              <p:nvPr/>
            </p:nvSpPr>
            <p:spPr>
              <a:xfrm>
                <a:off x="2005336" y="542355"/>
                <a:ext cx="301986" cy="38753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sz="2000"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dirty="0"/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258D633-A217-0A4E-E9AA-FA7043CCCB49}"/>
                  </a:ext>
                </a:extLst>
              </p:cNvPr>
              <p:cNvSpPr txBox="1"/>
              <p:nvPr/>
            </p:nvSpPr>
            <p:spPr>
              <a:xfrm>
                <a:off x="2313867" y="540327"/>
                <a:ext cx="301986" cy="38753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sz="2000"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dirty="0"/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03DDE24-8910-068E-03B7-5F59A464F058}"/>
                  </a:ext>
                </a:extLst>
              </p:cNvPr>
              <p:cNvSpPr txBox="1"/>
              <p:nvPr/>
            </p:nvSpPr>
            <p:spPr>
              <a:xfrm>
                <a:off x="2628250" y="540327"/>
                <a:ext cx="301986" cy="38753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sz="2000"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dirty="0"/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CC0EDC6-C584-ADB8-D90B-B4A1091428BE}"/>
                  </a:ext>
                </a:extLst>
              </p:cNvPr>
              <p:cNvSpPr txBox="1"/>
              <p:nvPr/>
            </p:nvSpPr>
            <p:spPr>
              <a:xfrm>
                <a:off x="1696804" y="935168"/>
                <a:ext cx="301986" cy="38753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sz="2000"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dirty="0"/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6FD1B43-10B9-6CCC-3274-FC5B91570453}"/>
                  </a:ext>
                </a:extLst>
              </p:cNvPr>
              <p:cNvSpPr txBox="1"/>
              <p:nvPr/>
            </p:nvSpPr>
            <p:spPr>
              <a:xfrm>
                <a:off x="2005336" y="935168"/>
                <a:ext cx="301986" cy="38753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sz="2000"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dirty="0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A97C6BD-FFC2-4272-4FCC-D12113FDC35C}"/>
                  </a:ext>
                </a:extLst>
              </p:cNvPr>
              <p:cNvSpPr txBox="1"/>
              <p:nvPr/>
            </p:nvSpPr>
            <p:spPr>
              <a:xfrm>
                <a:off x="2313867" y="933889"/>
                <a:ext cx="301986" cy="38753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sz="2000"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dirty="0"/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87E5864-180B-13E5-6DB4-FA52A20D1E61}"/>
                  </a:ext>
                </a:extLst>
              </p:cNvPr>
              <p:cNvSpPr txBox="1"/>
              <p:nvPr/>
            </p:nvSpPr>
            <p:spPr>
              <a:xfrm>
                <a:off x="2627868" y="934788"/>
                <a:ext cx="301986" cy="38753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sz="2000"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dirty="0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4D1A50D9-8377-418B-2AEE-1B89807EFD6A}"/>
                  </a:ext>
                </a:extLst>
              </p:cNvPr>
              <p:cNvSpPr/>
              <p:nvPr/>
            </p:nvSpPr>
            <p:spPr>
              <a:xfrm>
                <a:off x="1690258" y="541223"/>
                <a:ext cx="1239978" cy="774171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noFill/>
                </a:endParaRPr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3DE0666-7FE1-28FB-6EB8-A2D13F01C265}"/>
                </a:ext>
              </a:extLst>
            </p:cNvPr>
            <p:cNvSpPr txBox="1"/>
            <p:nvPr/>
          </p:nvSpPr>
          <p:spPr>
            <a:xfrm>
              <a:off x="1730014" y="1065533"/>
              <a:ext cx="1279594" cy="230832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r>
                <a:rPr lang="en-US" altLang="zh-CN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0    1     2     3</a:t>
              </a:r>
              <a:endPara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3239BBA-BD97-C431-7A4F-F1AA156F2966}"/>
                </a:ext>
              </a:extLst>
            </p:cNvPr>
            <p:cNvSpPr txBox="1"/>
            <p:nvPr/>
          </p:nvSpPr>
          <p:spPr>
            <a:xfrm>
              <a:off x="952796" y="1382773"/>
              <a:ext cx="777218" cy="276999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r"/>
              <a:r>
                <a:rPr lang="en-US" altLang="zh-CN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coef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0F06D97-F6D3-C751-4A03-7BE564B6A12D}"/>
                </a:ext>
              </a:extLst>
            </p:cNvPr>
            <p:cNvSpPr txBox="1"/>
            <p:nvPr/>
          </p:nvSpPr>
          <p:spPr>
            <a:xfrm>
              <a:off x="959738" y="1742673"/>
              <a:ext cx="777218" cy="276999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r"/>
              <a:r>
                <a:rPr lang="en-US" altLang="zh-CN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expn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C56CE4F-D2AD-3A8F-7ED1-68E2D40BE37F}"/>
                </a:ext>
              </a:extLst>
            </p:cNvPr>
            <p:cNvSpPr txBox="1"/>
            <p:nvPr/>
          </p:nvSpPr>
          <p:spPr>
            <a:xfrm>
              <a:off x="712255" y="1057250"/>
              <a:ext cx="1017759" cy="276999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term[]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D8AFF23-6B06-4BA4-B913-E07A01D719B4}"/>
              </a:ext>
            </a:extLst>
          </p:cNvPr>
          <p:cNvGrpSpPr/>
          <p:nvPr/>
        </p:nvGrpSpPr>
        <p:grpSpPr>
          <a:xfrm>
            <a:off x="9237082" y="2466604"/>
            <a:ext cx="1943354" cy="1052251"/>
            <a:chOff x="3171206" y="1057250"/>
            <a:chExt cx="1943354" cy="1052251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3F2316F-C4A8-E121-7C1A-F4C602119FA8}"/>
                </a:ext>
              </a:extLst>
            </p:cNvPr>
            <p:cNvSpPr txBox="1"/>
            <p:nvPr/>
          </p:nvSpPr>
          <p:spPr>
            <a:xfrm>
              <a:off x="4188965" y="1065533"/>
              <a:ext cx="925595" cy="230832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r>
                <a:rPr lang="en-US" altLang="zh-CN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0    1    2</a:t>
              </a:r>
              <a:endPara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9DF7568-5210-970A-6ACC-EB8B59627716}"/>
                </a:ext>
              </a:extLst>
            </p:cNvPr>
            <p:cNvSpPr txBox="1"/>
            <p:nvPr/>
          </p:nvSpPr>
          <p:spPr>
            <a:xfrm>
              <a:off x="3411747" y="1382773"/>
              <a:ext cx="777218" cy="276999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r"/>
              <a:r>
                <a:rPr lang="en-US" altLang="zh-CN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coef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0AB794D3-1D2D-5F32-DD82-E371F2EF38C4}"/>
                </a:ext>
              </a:extLst>
            </p:cNvPr>
            <p:cNvSpPr txBox="1"/>
            <p:nvPr/>
          </p:nvSpPr>
          <p:spPr>
            <a:xfrm>
              <a:off x="3418689" y="1742673"/>
              <a:ext cx="777218" cy="276999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r"/>
              <a:r>
                <a:rPr lang="en-US" altLang="zh-CN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expn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52A49BA-C5F8-ED1F-F2E5-635E2295609B}"/>
                </a:ext>
              </a:extLst>
            </p:cNvPr>
            <p:cNvSpPr txBox="1"/>
            <p:nvPr/>
          </p:nvSpPr>
          <p:spPr>
            <a:xfrm>
              <a:off x="3171206" y="1057250"/>
              <a:ext cx="1017759" cy="276999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term[]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92B41438-6787-0396-AB4E-B587869202E5}"/>
                </a:ext>
              </a:extLst>
            </p:cNvPr>
            <p:cNvGrpSpPr/>
            <p:nvPr/>
          </p:nvGrpSpPr>
          <p:grpSpPr>
            <a:xfrm>
              <a:off x="4175873" y="1335330"/>
              <a:ext cx="925595" cy="774171"/>
              <a:chOff x="3486556" y="2656467"/>
              <a:chExt cx="925595" cy="774171"/>
            </a:xfrm>
          </p:grpSpPr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1E358985-6DC3-5C68-64BF-D3E8F414AEDE}"/>
                  </a:ext>
                </a:extLst>
              </p:cNvPr>
              <p:cNvSpPr txBox="1"/>
              <p:nvPr/>
            </p:nvSpPr>
            <p:spPr>
              <a:xfrm>
                <a:off x="3495593" y="3041466"/>
                <a:ext cx="316398" cy="3888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sz="2000" dirty="0"/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B4C96BC-22B5-6213-2322-B8A1E016AF3A}"/>
                  </a:ext>
                </a:extLst>
              </p:cNvPr>
              <p:cNvSpPr txBox="1"/>
              <p:nvPr/>
            </p:nvSpPr>
            <p:spPr>
              <a:xfrm>
                <a:off x="4099565" y="3041466"/>
                <a:ext cx="301986" cy="38753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sz="2000"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dirty="0"/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E1C989E-50F1-2A57-9179-0B5899D95AFE}"/>
                  </a:ext>
                </a:extLst>
              </p:cNvPr>
              <p:cNvSpPr txBox="1"/>
              <p:nvPr/>
            </p:nvSpPr>
            <p:spPr>
              <a:xfrm>
                <a:off x="3797579" y="3041466"/>
                <a:ext cx="301986" cy="3888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sz="2000" dirty="0"/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E162C275-FC5D-3915-4B53-9EAF37F4966C}"/>
                  </a:ext>
                </a:extLst>
              </p:cNvPr>
              <p:cNvSpPr txBox="1"/>
              <p:nvPr/>
            </p:nvSpPr>
            <p:spPr>
              <a:xfrm>
                <a:off x="3495593" y="2664244"/>
                <a:ext cx="316398" cy="3888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sz="2000" dirty="0"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5283B15B-FB9B-C86A-FE0F-F2307B97A53F}"/>
                  </a:ext>
                </a:extLst>
              </p:cNvPr>
              <p:cNvSpPr txBox="1"/>
              <p:nvPr/>
            </p:nvSpPr>
            <p:spPr>
              <a:xfrm>
                <a:off x="4099565" y="2664243"/>
                <a:ext cx="306050" cy="3804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sz="2000" dirty="0"/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355B655-FFB1-31E4-CE8B-82EEA202D9D4}"/>
                  </a:ext>
                </a:extLst>
              </p:cNvPr>
              <p:cNvSpPr txBox="1"/>
              <p:nvPr/>
            </p:nvSpPr>
            <p:spPr>
              <a:xfrm>
                <a:off x="3797579" y="2664244"/>
                <a:ext cx="301986" cy="3888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algn="ctr">
                  <a:defRPr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endParaRPr lang="zh-CN" altLang="en-US" sz="2000" dirty="0"/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D2F88A7D-6301-773E-0601-7F514F4477EF}"/>
                  </a:ext>
                </a:extLst>
              </p:cNvPr>
              <p:cNvSpPr/>
              <p:nvPr/>
            </p:nvSpPr>
            <p:spPr>
              <a:xfrm>
                <a:off x="3486556" y="2656467"/>
                <a:ext cx="925595" cy="774171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noFill/>
                </a:endParaRPr>
              </a:p>
            </p:txBody>
          </p:sp>
        </p:grp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BDDC5AF7-6771-1029-AB3E-757FAD687ECF}"/>
              </a:ext>
            </a:extLst>
          </p:cNvPr>
          <p:cNvSpPr txBox="1"/>
          <p:nvPr/>
        </p:nvSpPr>
        <p:spPr>
          <a:xfrm>
            <a:off x="10299082" y="1227046"/>
            <a:ext cx="203459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51F1AB1-F575-8E2A-E36F-BEF8D8E11013}"/>
              </a:ext>
            </a:extLst>
          </p:cNvPr>
          <p:cNvSpPr txBox="1"/>
          <p:nvPr/>
        </p:nvSpPr>
        <p:spPr>
          <a:xfrm>
            <a:off x="10608408" y="1232797"/>
            <a:ext cx="203459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5" name="文本框 45">
            <a:extLst>
              <a:ext uri="{FF2B5EF4-FFF2-40B4-BE49-F238E27FC236}">
                <a16:creationId xmlns:a16="http://schemas.microsoft.com/office/drawing/2014/main" id="{CA549ED1-D5A6-D009-DD87-483EEA749A24}"/>
              </a:ext>
            </a:extLst>
          </p:cNvPr>
          <p:cNvSpPr txBox="1"/>
          <p:nvPr/>
        </p:nvSpPr>
        <p:spPr>
          <a:xfrm>
            <a:off x="10920494" y="1234066"/>
            <a:ext cx="203459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36" name="文本框 45">
            <a:extLst>
              <a:ext uri="{FF2B5EF4-FFF2-40B4-BE49-F238E27FC236}">
                <a16:creationId xmlns:a16="http://schemas.microsoft.com/office/drawing/2014/main" id="{CC3E3E6F-597E-A214-AA0B-98BA2EC02D17}"/>
              </a:ext>
            </a:extLst>
          </p:cNvPr>
          <p:cNvSpPr txBox="1"/>
          <p:nvPr/>
        </p:nvSpPr>
        <p:spPr>
          <a:xfrm>
            <a:off x="11232161" y="1230352"/>
            <a:ext cx="203459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F87F348-779A-6813-21E5-3CEA7DB59E51}"/>
              </a:ext>
            </a:extLst>
          </p:cNvPr>
          <p:cNvSpPr txBox="1"/>
          <p:nvPr/>
        </p:nvSpPr>
        <p:spPr>
          <a:xfrm>
            <a:off x="10299082" y="1609157"/>
            <a:ext cx="203459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E77ED7A-FD8C-7673-C6C2-B57A3D74BB3D}"/>
              </a:ext>
            </a:extLst>
          </p:cNvPr>
          <p:cNvSpPr txBox="1"/>
          <p:nvPr/>
        </p:nvSpPr>
        <p:spPr>
          <a:xfrm>
            <a:off x="10608408" y="1614908"/>
            <a:ext cx="203459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9" name="文本框 45">
            <a:extLst>
              <a:ext uri="{FF2B5EF4-FFF2-40B4-BE49-F238E27FC236}">
                <a16:creationId xmlns:a16="http://schemas.microsoft.com/office/drawing/2014/main" id="{61AD7575-24D3-EAE6-3E82-0C61D565EAA2}"/>
              </a:ext>
            </a:extLst>
          </p:cNvPr>
          <p:cNvSpPr txBox="1"/>
          <p:nvPr/>
        </p:nvSpPr>
        <p:spPr>
          <a:xfrm>
            <a:off x="10920494" y="1616177"/>
            <a:ext cx="203459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40" name="文本框 45">
            <a:extLst>
              <a:ext uri="{FF2B5EF4-FFF2-40B4-BE49-F238E27FC236}">
                <a16:creationId xmlns:a16="http://schemas.microsoft.com/office/drawing/2014/main" id="{AFE35CB9-8D5C-9936-3808-975A5AAE3E52}"/>
              </a:ext>
            </a:extLst>
          </p:cNvPr>
          <p:cNvSpPr txBox="1"/>
          <p:nvPr/>
        </p:nvSpPr>
        <p:spPr>
          <a:xfrm>
            <a:off x="11191904" y="1612463"/>
            <a:ext cx="270044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17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1973D22-3AEB-39FA-AD65-84A7274EAD8D}"/>
              </a:ext>
            </a:extLst>
          </p:cNvPr>
          <p:cNvSpPr txBox="1"/>
          <p:nvPr/>
        </p:nvSpPr>
        <p:spPr>
          <a:xfrm>
            <a:off x="10299451" y="2785171"/>
            <a:ext cx="203459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F209075-9CE6-115C-1B5B-A63594A4EE89}"/>
              </a:ext>
            </a:extLst>
          </p:cNvPr>
          <p:cNvSpPr txBox="1"/>
          <p:nvPr/>
        </p:nvSpPr>
        <p:spPr>
          <a:xfrm>
            <a:off x="10562769" y="2785171"/>
            <a:ext cx="283967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43" name="文本框 45">
            <a:extLst>
              <a:ext uri="{FF2B5EF4-FFF2-40B4-BE49-F238E27FC236}">
                <a16:creationId xmlns:a16="http://schemas.microsoft.com/office/drawing/2014/main" id="{8666787B-39C9-F437-E80B-B5FCF179B563}"/>
              </a:ext>
            </a:extLst>
          </p:cNvPr>
          <p:cNvSpPr txBox="1"/>
          <p:nvPr/>
        </p:nvSpPr>
        <p:spPr>
          <a:xfrm>
            <a:off x="10869110" y="2792191"/>
            <a:ext cx="283967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-9</a:t>
            </a:r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CF6DAAE-DEFB-6AF9-6A69-82A67B00B1A1}"/>
              </a:ext>
            </a:extLst>
          </p:cNvPr>
          <p:cNvSpPr txBox="1"/>
          <p:nvPr/>
        </p:nvSpPr>
        <p:spPr>
          <a:xfrm>
            <a:off x="10299451" y="3177914"/>
            <a:ext cx="203459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6F2E6D4-6763-9B6F-6E58-1AB588FA2386}"/>
              </a:ext>
            </a:extLst>
          </p:cNvPr>
          <p:cNvSpPr txBox="1"/>
          <p:nvPr/>
        </p:nvSpPr>
        <p:spPr>
          <a:xfrm>
            <a:off x="10608777" y="3183665"/>
            <a:ext cx="203459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4AF2B3B-F172-C14B-4938-CF28F7F13C65}"/>
              </a:ext>
            </a:extLst>
          </p:cNvPr>
          <p:cNvSpPr txBox="1"/>
          <p:nvPr/>
        </p:nvSpPr>
        <p:spPr>
          <a:xfrm>
            <a:off x="10920863" y="3184934"/>
            <a:ext cx="203459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8</a:t>
            </a:r>
            <a:endParaRPr lang="zh-CN" altLang="en-US" dirty="0"/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3BFC62AE-46AC-6243-410D-E67B77560ACA}"/>
              </a:ext>
            </a:extLst>
          </p:cNvPr>
          <p:cNvGrpSpPr/>
          <p:nvPr/>
        </p:nvGrpSpPr>
        <p:grpSpPr>
          <a:xfrm>
            <a:off x="9487215" y="450535"/>
            <a:ext cx="473693" cy="512609"/>
            <a:chOff x="7429651" y="760228"/>
            <a:chExt cx="473693" cy="512609"/>
          </a:xfrm>
        </p:grpSpPr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484E7428-C34C-29CF-92FF-DC41B8E54D21}"/>
                </a:ext>
              </a:extLst>
            </p:cNvPr>
            <p:cNvSpPr txBox="1"/>
            <p:nvPr/>
          </p:nvSpPr>
          <p:spPr>
            <a:xfrm>
              <a:off x="7429651" y="760228"/>
              <a:ext cx="473693" cy="276999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r"/>
              <a:r>
                <a:rPr lang="en-US" altLang="zh-CN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pa</a:t>
              </a:r>
              <a:endParaRPr lang="zh-CN" alt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EFA77043-880E-EBDD-2EAE-AE0F2457E493}"/>
                </a:ext>
              </a:extLst>
            </p:cNvPr>
            <p:cNvCxnSpPr/>
            <p:nvPr/>
          </p:nvCxnSpPr>
          <p:spPr>
            <a:xfrm>
              <a:off x="7667286" y="1042249"/>
              <a:ext cx="0" cy="230588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1051FA38-0599-8C52-20F0-18B7F0CBFF10}"/>
              </a:ext>
            </a:extLst>
          </p:cNvPr>
          <p:cNvGrpSpPr/>
          <p:nvPr/>
        </p:nvGrpSpPr>
        <p:grpSpPr>
          <a:xfrm>
            <a:off x="9441821" y="2013867"/>
            <a:ext cx="473693" cy="512609"/>
            <a:chOff x="7429651" y="760228"/>
            <a:chExt cx="473693" cy="512609"/>
          </a:xfrm>
        </p:grpSpPr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976092EB-86E4-FFDE-87D7-34259148F793}"/>
                </a:ext>
              </a:extLst>
            </p:cNvPr>
            <p:cNvSpPr txBox="1"/>
            <p:nvPr/>
          </p:nvSpPr>
          <p:spPr>
            <a:xfrm>
              <a:off x="7429651" y="760228"/>
              <a:ext cx="473693" cy="276999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r"/>
              <a:r>
                <a:rPr lang="en-US" altLang="zh-CN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pb</a:t>
              </a:r>
              <a:endParaRPr lang="zh-CN" alt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F7B43B4A-5E04-83BA-1AF5-973FFA7F1FA7}"/>
                </a:ext>
              </a:extLst>
            </p:cNvPr>
            <p:cNvCxnSpPr/>
            <p:nvPr/>
          </p:nvCxnSpPr>
          <p:spPr>
            <a:xfrm>
              <a:off x="7667286" y="1042249"/>
              <a:ext cx="0" cy="230588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C9A8D65E-1EAA-487B-9427-F2DBD12145B0}"/>
              </a:ext>
            </a:extLst>
          </p:cNvPr>
          <p:cNvGrpSpPr/>
          <p:nvPr/>
        </p:nvGrpSpPr>
        <p:grpSpPr>
          <a:xfrm>
            <a:off x="8722726" y="3409067"/>
            <a:ext cx="3255645" cy="1501629"/>
            <a:chOff x="5630157" y="600301"/>
            <a:chExt cx="3255645" cy="1501629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B8004D9F-BB39-4033-BCE9-801979BECBA5}"/>
                </a:ext>
              </a:extLst>
            </p:cNvPr>
            <p:cNvGrpSpPr/>
            <p:nvPr/>
          </p:nvGrpSpPr>
          <p:grpSpPr>
            <a:xfrm>
              <a:off x="6632014" y="1319554"/>
              <a:ext cx="1239978" cy="782376"/>
              <a:chOff x="1690258" y="540326"/>
              <a:chExt cx="1239978" cy="782376"/>
            </a:xfrm>
          </p:grpSpPr>
          <p:sp>
            <p:nvSpPr>
              <p:cNvPr id="75" name="文本框 61">
                <a:extLst>
                  <a:ext uri="{FF2B5EF4-FFF2-40B4-BE49-F238E27FC236}">
                    <a16:creationId xmlns:a16="http://schemas.microsoft.com/office/drawing/2014/main" id="{C8B1A11B-0F09-4CCC-8ABC-D7F62DDCBECF}"/>
                  </a:ext>
                </a:extLst>
              </p:cNvPr>
              <p:cNvSpPr txBox="1"/>
              <p:nvPr/>
            </p:nvSpPr>
            <p:spPr>
              <a:xfrm>
                <a:off x="1696803" y="542355"/>
                <a:ext cx="322497" cy="387534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defRPr sz="20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76" name="文本框 62">
                <a:extLst>
                  <a:ext uri="{FF2B5EF4-FFF2-40B4-BE49-F238E27FC236}">
                    <a16:creationId xmlns:a16="http://schemas.microsoft.com/office/drawing/2014/main" id="{21169247-B06B-424D-AD04-3D3DED5D828A}"/>
                  </a:ext>
                </a:extLst>
              </p:cNvPr>
              <p:cNvSpPr txBox="1"/>
              <p:nvPr/>
            </p:nvSpPr>
            <p:spPr>
              <a:xfrm>
                <a:off x="2005336" y="542355"/>
                <a:ext cx="301986" cy="387534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defRPr sz="20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77" name="文本框 64">
                <a:extLst>
                  <a:ext uri="{FF2B5EF4-FFF2-40B4-BE49-F238E27FC236}">
                    <a16:creationId xmlns:a16="http://schemas.microsoft.com/office/drawing/2014/main" id="{C4E590B4-A33D-4DD0-ADF6-7113EF641456}"/>
                  </a:ext>
                </a:extLst>
              </p:cNvPr>
              <p:cNvSpPr txBox="1"/>
              <p:nvPr/>
            </p:nvSpPr>
            <p:spPr>
              <a:xfrm>
                <a:off x="2620299" y="540327"/>
                <a:ext cx="301986" cy="387534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defRPr sz="20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78" name="文本框 65">
                <a:extLst>
                  <a:ext uri="{FF2B5EF4-FFF2-40B4-BE49-F238E27FC236}">
                    <a16:creationId xmlns:a16="http://schemas.microsoft.com/office/drawing/2014/main" id="{6CD7803A-25AD-4EA4-A3AB-A6FF64A97E6C}"/>
                  </a:ext>
                </a:extLst>
              </p:cNvPr>
              <p:cNvSpPr txBox="1"/>
              <p:nvPr/>
            </p:nvSpPr>
            <p:spPr>
              <a:xfrm>
                <a:off x="1696804" y="935168"/>
                <a:ext cx="301986" cy="387534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defRPr sz="20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79" name="文本框 66">
                <a:extLst>
                  <a:ext uri="{FF2B5EF4-FFF2-40B4-BE49-F238E27FC236}">
                    <a16:creationId xmlns:a16="http://schemas.microsoft.com/office/drawing/2014/main" id="{A0864BB5-625E-48BA-8436-0A10135FEA79}"/>
                  </a:ext>
                </a:extLst>
              </p:cNvPr>
              <p:cNvSpPr txBox="1"/>
              <p:nvPr/>
            </p:nvSpPr>
            <p:spPr>
              <a:xfrm>
                <a:off x="2005336" y="935168"/>
                <a:ext cx="301986" cy="387534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defRPr sz="20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80" name="文本框 67">
                <a:extLst>
                  <a:ext uri="{FF2B5EF4-FFF2-40B4-BE49-F238E27FC236}">
                    <a16:creationId xmlns:a16="http://schemas.microsoft.com/office/drawing/2014/main" id="{B0B6E0E9-E886-4D7A-8887-7166CE4AEA6F}"/>
                  </a:ext>
                </a:extLst>
              </p:cNvPr>
              <p:cNvSpPr txBox="1"/>
              <p:nvPr/>
            </p:nvSpPr>
            <p:spPr>
              <a:xfrm>
                <a:off x="2313867" y="939592"/>
                <a:ext cx="306050" cy="380480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defRPr sz="20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81" name="文本框 68">
                <a:extLst>
                  <a:ext uri="{FF2B5EF4-FFF2-40B4-BE49-F238E27FC236}">
                    <a16:creationId xmlns:a16="http://schemas.microsoft.com/office/drawing/2014/main" id="{E386BB0D-5364-4846-BAE2-EFAADF330AB7}"/>
                  </a:ext>
                </a:extLst>
              </p:cNvPr>
              <p:cNvSpPr txBox="1"/>
              <p:nvPr/>
            </p:nvSpPr>
            <p:spPr>
              <a:xfrm>
                <a:off x="2619917" y="934788"/>
                <a:ext cx="301986" cy="387534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defRPr sz="20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8A404CCC-F890-47BD-95E2-4AD164D5DEBE}"/>
                  </a:ext>
                </a:extLst>
              </p:cNvPr>
              <p:cNvSpPr/>
              <p:nvPr/>
            </p:nvSpPr>
            <p:spPr>
              <a:xfrm>
                <a:off x="1690258" y="541223"/>
                <a:ext cx="1239978" cy="774171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noFill/>
                </a:endParaRPr>
              </a:p>
            </p:txBody>
          </p:sp>
          <p:sp>
            <p:nvSpPr>
              <p:cNvPr id="83" name="文本框 63">
                <a:extLst>
                  <a:ext uri="{FF2B5EF4-FFF2-40B4-BE49-F238E27FC236}">
                    <a16:creationId xmlns:a16="http://schemas.microsoft.com/office/drawing/2014/main" id="{A224F0A1-707B-4D9D-92D0-1FC4B53F3034}"/>
                  </a:ext>
                </a:extLst>
              </p:cNvPr>
              <p:cNvSpPr txBox="1"/>
              <p:nvPr/>
            </p:nvSpPr>
            <p:spPr>
              <a:xfrm>
                <a:off x="2313866" y="540326"/>
                <a:ext cx="314019" cy="389975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defRPr sz="20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</p:grpSp>
        <p:sp>
          <p:nvSpPr>
            <p:cNvPr id="61" name="文本框 55">
              <a:extLst>
                <a:ext uri="{FF2B5EF4-FFF2-40B4-BE49-F238E27FC236}">
                  <a16:creationId xmlns:a16="http://schemas.microsoft.com/office/drawing/2014/main" id="{A88DCF5A-025E-49DF-A036-785D2D7F65FB}"/>
                </a:ext>
              </a:extLst>
            </p:cNvPr>
            <p:cNvSpPr txBox="1"/>
            <p:nvPr/>
          </p:nvSpPr>
          <p:spPr>
            <a:xfrm>
              <a:off x="6647915" y="1067072"/>
              <a:ext cx="2237887" cy="230832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0     1    2    3     4    5     6</a:t>
              </a:r>
              <a:endPara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本框 56">
              <a:extLst>
                <a:ext uri="{FF2B5EF4-FFF2-40B4-BE49-F238E27FC236}">
                  <a16:creationId xmlns:a16="http://schemas.microsoft.com/office/drawing/2014/main" id="{28DAC43F-153D-452C-A502-C79B95AB14E8}"/>
                </a:ext>
              </a:extLst>
            </p:cNvPr>
            <p:cNvSpPr txBox="1"/>
            <p:nvPr/>
          </p:nvSpPr>
          <p:spPr>
            <a:xfrm>
              <a:off x="5870698" y="1382773"/>
              <a:ext cx="777218" cy="276999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coef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3" name="文本框 57">
              <a:extLst>
                <a:ext uri="{FF2B5EF4-FFF2-40B4-BE49-F238E27FC236}">
                  <a16:creationId xmlns:a16="http://schemas.microsoft.com/office/drawing/2014/main" id="{F7EDF7A3-30B8-4B5B-8856-97BCE1A5CD68}"/>
                </a:ext>
              </a:extLst>
            </p:cNvPr>
            <p:cNvSpPr txBox="1"/>
            <p:nvPr/>
          </p:nvSpPr>
          <p:spPr>
            <a:xfrm>
              <a:off x="5877640" y="1742673"/>
              <a:ext cx="777218" cy="276999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expn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4" name="文本框 58">
              <a:extLst>
                <a:ext uri="{FF2B5EF4-FFF2-40B4-BE49-F238E27FC236}">
                  <a16:creationId xmlns:a16="http://schemas.microsoft.com/office/drawing/2014/main" id="{68C16D50-9B3C-4150-8256-A7658E51FFF0}"/>
                </a:ext>
              </a:extLst>
            </p:cNvPr>
            <p:cNvSpPr txBox="1"/>
            <p:nvPr/>
          </p:nvSpPr>
          <p:spPr>
            <a:xfrm>
              <a:off x="5630157" y="1057250"/>
              <a:ext cx="1017759" cy="276999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term[]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5" name="文本框 59">
              <a:extLst>
                <a:ext uri="{FF2B5EF4-FFF2-40B4-BE49-F238E27FC236}">
                  <a16:creationId xmlns:a16="http://schemas.microsoft.com/office/drawing/2014/main" id="{069BF4DF-57B9-4441-A0D6-91896CAE63D4}"/>
                </a:ext>
              </a:extLst>
            </p:cNvPr>
            <p:cNvSpPr txBox="1"/>
            <p:nvPr/>
          </p:nvSpPr>
          <p:spPr>
            <a:xfrm>
              <a:off x="5798183" y="600301"/>
              <a:ext cx="506258" cy="276999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pc</a:t>
              </a:r>
              <a:endParaRPr lang="zh-CN" alt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30A2BE8D-652B-4264-B9E9-9F249FBA8D18}"/>
                </a:ext>
              </a:extLst>
            </p:cNvPr>
            <p:cNvCxnSpPr/>
            <p:nvPr/>
          </p:nvCxnSpPr>
          <p:spPr>
            <a:xfrm>
              <a:off x="6083378" y="882322"/>
              <a:ext cx="0" cy="230588"/>
            </a:xfrm>
            <a:prstGeom prst="straightConnector1">
              <a:avLst/>
            </a:prstGeom>
            <a:ln w="28575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5C69BAE6-91EE-4F67-AD1C-1334312DED66}"/>
                </a:ext>
              </a:extLst>
            </p:cNvPr>
            <p:cNvGrpSpPr/>
            <p:nvPr/>
          </p:nvGrpSpPr>
          <p:grpSpPr>
            <a:xfrm>
              <a:off x="7862634" y="1318275"/>
              <a:ext cx="937627" cy="782376"/>
              <a:chOff x="1690258" y="540326"/>
              <a:chExt cx="937627" cy="782376"/>
            </a:xfrm>
          </p:grpSpPr>
          <p:sp>
            <p:nvSpPr>
              <p:cNvPr id="68" name="文本框 72">
                <a:extLst>
                  <a:ext uri="{FF2B5EF4-FFF2-40B4-BE49-F238E27FC236}">
                    <a16:creationId xmlns:a16="http://schemas.microsoft.com/office/drawing/2014/main" id="{C71F81B1-BC44-448D-BDA9-322D6143D023}"/>
                  </a:ext>
                </a:extLst>
              </p:cNvPr>
              <p:cNvSpPr txBox="1"/>
              <p:nvPr/>
            </p:nvSpPr>
            <p:spPr>
              <a:xfrm>
                <a:off x="1696804" y="542355"/>
                <a:ext cx="301986" cy="387534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defRPr sz="20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69" name="文本框 73">
                <a:extLst>
                  <a:ext uri="{FF2B5EF4-FFF2-40B4-BE49-F238E27FC236}">
                    <a16:creationId xmlns:a16="http://schemas.microsoft.com/office/drawing/2014/main" id="{C8DB730E-6141-467D-B779-7E6D8B858218}"/>
                  </a:ext>
                </a:extLst>
              </p:cNvPr>
              <p:cNvSpPr txBox="1"/>
              <p:nvPr/>
            </p:nvSpPr>
            <p:spPr>
              <a:xfrm>
                <a:off x="2005336" y="542355"/>
                <a:ext cx="301986" cy="387534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defRPr sz="20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70" name="文本框 75">
                <a:extLst>
                  <a:ext uri="{FF2B5EF4-FFF2-40B4-BE49-F238E27FC236}">
                    <a16:creationId xmlns:a16="http://schemas.microsoft.com/office/drawing/2014/main" id="{084546F3-D30D-4D40-A954-17D23936834A}"/>
                  </a:ext>
                </a:extLst>
              </p:cNvPr>
              <p:cNvSpPr txBox="1"/>
              <p:nvPr/>
            </p:nvSpPr>
            <p:spPr>
              <a:xfrm>
                <a:off x="1696804" y="935168"/>
                <a:ext cx="301986" cy="387534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defRPr sz="20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71" name="文本框 76">
                <a:extLst>
                  <a:ext uri="{FF2B5EF4-FFF2-40B4-BE49-F238E27FC236}">
                    <a16:creationId xmlns:a16="http://schemas.microsoft.com/office/drawing/2014/main" id="{608332EC-83E9-4DF2-8F63-8C947DF41AB4}"/>
                  </a:ext>
                </a:extLst>
              </p:cNvPr>
              <p:cNvSpPr txBox="1"/>
              <p:nvPr/>
            </p:nvSpPr>
            <p:spPr>
              <a:xfrm>
                <a:off x="2005336" y="935168"/>
                <a:ext cx="301986" cy="387534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defRPr sz="20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72" name="文本框 77">
                <a:extLst>
                  <a:ext uri="{FF2B5EF4-FFF2-40B4-BE49-F238E27FC236}">
                    <a16:creationId xmlns:a16="http://schemas.microsoft.com/office/drawing/2014/main" id="{514A3313-5448-4426-AA65-FE2080709D6B}"/>
                  </a:ext>
                </a:extLst>
              </p:cNvPr>
              <p:cNvSpPr txBox="1"/>
              <p:nvPr/>
            </p:nvSpPr>
            <p:spPr>
              <a:xfrm>
                <a:off x="2313867" y="939592"/>
                <a:ext cx="306050" cy="380480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defRPr sz="20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3341D20D-BDC8-4437-A36A-F51762797102}"/>
                  </a:ext>
                </a:extLst>
              </p:cNvPr>
              <p:cNvSpPr/>
              <p:nvPr/>
            </p:nvSpPr>
            <p:spPr>
              <a:xfrm>
                <a:off x="1690258" y="541223"/>
                <a:ext cx="937627" cy="774171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noFill/>
                </a:endParaRPr>
              </a:p>
            </p:txBody>
          </p:sp>
          <p:sp>
            <p:nvSpPr>
              <p:cNvPr id="74" name="文本框 80">
                <a:extLst>
                  <a:ext uri="{FF2B5EF4-FFF2-40B4-BE49-F238E27FC236}">
                    <a16:creationId xmlns:a16="http://schemas.microsoft.com/office/drawing/2014/main" id="{7C657C2D-A575-4DD8-B181-6C072623A0B0}"/>
                  </a:ext>
                </a:extLst>
              </p:cNvPr>
              <p:cNvSpPr txBox="1"/>
              <p:nvPr/>
            </p:nvSpPr>
            <p:spPr>
              <a:xfrm>
                <a:off x="2313866" y="540326"/>
                <a:ext cx="314019" cy="389975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defRPr sz="20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</p:grp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15B28BC9-852E-5E7D-24F0-B898526BEEA1}"/>
              </a:ext>
            </a:extLst>
          </p:cNvPr>
          <p:cNvGrpSpPr/>
          <p:nvPr/>
        </p:nvGrpSpPr>
        <p:grpSpPr>
          <a:xfrm>
            <a:off x="10242570" y="1177772"/>
            <a:ext cx="314767" cy="780347"/>
            <a:chOff x="10838311" y="5276789"/>
            <a:chExt cx="314767" cy="780347"/>
          </a:xfrm>
        </p:grpSpPr>
        <p:sp>
          <p:nvSpPr>
            <p:cNvPr id="86" name="文本框 61">
              <a:extLst>
                <a:ext uri="{FF2B5EF4-FFF2-40B4-BE49-F238E27FC236}">
                  <a16:creationId xmlns:a16="http://schemas.microsoft.com/office/drawing/2014/main" id="{83C8C027-E36B-BD9E-0686-58D7A2513B6D}"/>
                </a:ext>
              </a:extLst>
            </p:cNvPr>
            <p:cNvSpPr txBox="1"/>
            <p:nvPr/>
          </p:nvSpPr>
          <p:spPr>
            <a:xfrm>
              <a:off x="10838312" y="5276789"/>
              <a:ext cx="314766" cy="3875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defRPr sz="20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7</a:t>
              </a:r>
              <a:endParaRPr lang="zh-CN" altLang="en-US" dirty="0"/>
            </a:p>
          </p:txBody>
        </p:sp>
        <p:sp>
          <p:nvSpPr>
            <p:cNvPr id="87" name="文本框 65">
              <a:extLst>
                <a:ext uri="{FF2B5EF4-FFF2-40B4-BE49-F238E27FC236}">
                  <a16:creationId xmlns:a16="http://schemas.microsoft.com/office/drawing/2014/main" id="{C768444F-BA10-E698-9C29-7E6E438D87F0}"/>
                </a:ext>
              </a:extLst>
            </p:cNvPr>
            <p:cNvSpPr txBox="1"/>
            <p:nvPr/>
          </p:nvSpPr>
          <p:spPr>
            <a:xfrm>
              <a:off x="10838311" y="5669602"/>
              <a:ext cx="314765" cy="3875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defRPr sz="20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B1FC06F1-1DF7-E27A-38F9-7245D4C90237}"/>
              </a:ext>
            </a:extLst>
          </p:cNvPr>
          <p:cNvGrpSpPr/>
          <p:nvPr/>
        </p:nvGrpSpPr>
        <p:grpSpPr>
          <a:xfrm>
            <a:off x="10554024" y="1181931"/>
            <a:ext cx="314767" cy="780347"/>
            <a:chOff x="10838311" y="5276789"/>
            <a:chExt cx="314767" cy="780347"/>
          </a:xfrm>
        </p:grpSpPr>
        <p:sp>
          <p:nvSpPr>
            <p:cNvPr id="91" name="文本框 61">
              <a:extLst>
                <a:ext uri="{FF2B5EF4-FFF2-40B4-BE49-F238E27FC236}">
                  <a16:creationId xmlns:a16="http://schemas.microsoft.com/office/drawing/2014/main" id="{CB296141-197B-14C9-3A1C-D2A4F2516125}"/>
                </a:ext>
              </a:extLst>
            </p:cNvPr>
            <p:cNvSpPr txBox="1"/>
            <p:nvPr/>
          </p:nvSpPr>
          <p:spPr>
            <a:xfrm>
              <a:off x="10838312" y="5276789"/>
              <a:ext cx="314766" cy="3875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defRPr sz="20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92" name="文本框 65">
              <a:extLst>
                <a:ext uri="{FF2B5EF4-FFF2-40B4-BE49-F238E27FC236}">
                  <a16:creationId xmlns:a16="http://schemas.microsoft.com/office/drawing/2014/main" id="{1EAB691C-D66A-3D13-05B4-190C864AB780}"/>
                </a:ext>
              </a:extLst>
            </p:cNvPr>
            <p:cNvSpPr txBox="1"/>
            <p:nvPr/>
          </p:nvSpPr>
          <p:spPr>
            <a:xfrm>
              <a:off x="10838311" y="5669602"/>
              <a:ext cx="314765" cy="3875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defRPr sz="20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A0864668-856E-CA39-BCB4-7D637D0DCCEC}"/>
              </a:ext>
            </a:extLst>
          </p:cNvPr>
          <p:cNvGrpSpPr/>
          <p:nvPr/>
        </p:nvGrpSpPr>
        <p:grpSpPr>
          <a:xfrm>
            <a:off x="10234018" y="2743153"/>
            <a:ext cx="314767" cy="780347"/>
            <a:chOff x="10838311" y="5276789"/>
            <a:chExt cx="314767" cy="780347"/>
          </a:xfrm>
        </p:grpSpPr>
        <p:sp>
          <p:nvSpPr>
            <p:cNvPr id="94" name="文本框 61">
              <a:extLst>
                <a:ext uri="{FF2B5EF4-FFF2-40B4-BE49-F238E27FC236}">
                  <a16:creationId xmlns:a16="http://schemas.microsoft.com/office/drawing/2014/main" id="{E8C7DD02-6879-2549-7A0F-5362299B89DF}"/>
                </a:ext>
              </a:extLst>
            </p:cNvPr>
            <p:cNvSpPr txBox="1"/>
            <p:nvPr/>
          </p:nvSpPr>
          <p:spPr>
            <a:xfrm>
              <a:off x="10838312" y="5276789"/>
              <a:ext cx="314766" cy="38753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defRPr sz="20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11</a:t>
              </a:r>
              <a:endParaRPr lang="zh-CN" altLang="en-US" dirty="0"/>
            </a:p>
          </p:txBody>
        </p:sp>
        <p:sp>
          <p:nvSpPr>
            <p:cNvPr id="95" name="文本框 65">
              <a:extLst>
                <a:ext uri="{FF2B5EF4-FFF2-40B4-BE49-F238E27FC236}">
                  <a16:creationId xmlns:a16="http://schemas.microsoft.com/office/drawing/2014/main" id="{86246713-4CF2-F31D-42D0-FF38A25C5D99}"/>
                </a:ext>
              </a:extLst>
            </p:cNvPr>
            <p:cNvSpPr txBox="1"/>
            <p:nvPr/>
          </p:nvSpPr>
          <p:spPr>
            <a:xfrm>
              <a:off x="10838311" y="5669602"/>
              <a:ext cx="314765" cy="3875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defRPr sz="20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</p:grp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BC02EBE7-8908-4A0B-5440-241E3C3C4D7F}"/>
              </a:ext>
            </a:extLst>
          </p:cNvPr>
          <p:cNvCxnSpPr>
            <a:cxnSpLocks/>
          </p:cNvCxnSpPr>
          <p:nvPr/>
        </p:nvCxnSpPr>
        <p:spPr>
          <a:xfrm>
            <a:off x="175267" y="1216867"/>
            <a:ext cx="366308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F8A1ABAD-C99A-1420-7B18-E67FAAFC6F0B}"/>
              </a:ext>
            </a:extLst>
          </p:cNvPr>
          <p:cNvCxnSpPr>
            <a:cxnSpLocks/>
          </p:cNvCxnSpPr>
          <p:nvPr/>
        </p:nvCxnSpPr>
        <p:spPr>
          <a:xfrm>
            <a:off x="396779" y="1419850"/>
            <a:ext cx="3632961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5D04E10C-7891-B251-E27F-C43A46A593B1}"/>
              </a:ext>
            </a:extLst>
          </p:cNvPr>
          <p:cNvSpPr txBox="1"/>
          <p:nvPr/>
        </p:nvSpPr>
        <p:spPr>
          <a:xfrm>
            <a:off x="11394097" y="727534"/>
            <a:ext cx="641441" cy="473206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Pam</a:t>
            </a:r>
          </a:p>
          <a:p>
            <a:pPr algn="ctr">
              <a:lnSpc>
                <a:spcPts val="1800"/>
              </a:lnSpc>
            </a:pP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=4</a:t>
            </a:r>
            <a:endParaRPr lang="zh-CN" altLang="en-US" b="1" dirty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3CC4CC36-D840-B676-662F-ABE8C278C597}"/>
              </a:ext>
            </a:extLst>
          </p:cNvPr>
          <p:cNvSpPr txBox="1"/>
          <p:nvPr/>
        </p:nvSpPr>
        <p:spPr>
          <a:xfrm>
            <a:off x="11123953" y="2290866"/>
            <a:ext cx="641441" cy="473206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CN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Pbn</a:t>
            </a:r>
            <a:endParaRPr lang="en-US" altLang="zh-CN" b="1" dirty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>
              <a:lnSpc>
                <a:spcPts val="1800"/>
              </a:lnSpc>
            </a:pP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=3</a:t>
            </a:r>
            <a:endParaRPr lang="zh-CN" altLang="en-US" b="1" dirty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5" name="文本框 100">
            <a:extLst>
              <a:ext uri="{FF2B5EF4-FFF2-40B4-BE49-F238E27FC236}">
                <a16:creationId xmlns:a16="http://schemas.microsoft.com/office/drawing/2014/main" id="{5D04E10C-7891-B251-E27F-C43A46A593B1}"/>
              </a:ext>
            </a:extLst>
          </p:cNvPr>
          <p:cNvSpPr txBox="1"/>
          <p:nvPr/>
        </p:nvSpPr>
        <p:spPr>
          <a:xfrm>
            <a:off x="10251895" y="733074"/>
            <a:ext cx="296888" cy="250068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8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</p:txBody>
      </p:sp>
      <p:sp>
        <p:nvSpPr>
          <p:cNvPr id="106" name="文本框 100">
            <a:extLst>
              <a:ext uri="{FF2B5EF4-FFF2-40B4-BE49-F238E27FC236}">
                <a16:creationId xmlns:a16="http://schemas.microsoft.com/office/drawing/2014/main" id="{1E19AE5C-BCE4-2969-85AE-6210598ED1D1}"/>
              </a:ext>
            </a:extLst>
          </p:cNvPr>
          <p:cNvSpPr txBox="1"/>
          <p:nvPr/>
        </p:nvSpPr>
        <p:spPr>
          <a:xfrm>
            <a:off x="10242574" y="2266678"/>
            <a:ext cx="296888" cy="250068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8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</a:p>
        </p:txBody>
      </p:sp>
      <p:sp>
        <p:nvSpPr>
          <p:cNvPr id="107" name="文本框 100">
            <a:extLst>
              <a:ext uri="{FF2B5EF4-FFF2-40B4-BE49-F238E27FC236}">
                <a16:creationId xmlns:a16="http://schemas.microsoft.com/office/drawing/2014/main" id="{B574C28F-3333-A9EF-4120-FFDDB09E0901}"/>
              </a:ext>
            </a:extLst>
          </p:cNvPr>
          <p:cNvSpPr txBox="1"/>
          <p:nvPr/>
        </p:nvSpPr>
        <p:spPr>
          <a:xfrm>
            <a:off x="9733585" y="3688897"/>
            <a:ext cx="296888" cy="250068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8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</a:p>
        </p:txBody>
      </p: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1CB83A1D-6BF2-4BFC-CB72-DBDBC4324E5C}"/>
              </a:ext>
            </a:extLst>
          </p:cNvPr>
          <p:cNvCxnSpPr>
            <a:cxnSpLocks/>
          </p:cNvCxnSpPr>
          <p:nvPr/>
        </p:nvCxnSpPr>
        <p:spPr>
          <a:xfrm>
            <a:off x="396779" y="1650318"/>
            <a:ext cx="479722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20A55C01-456E-278D-F553-7B9541CF0E1A}"/>
              </a:ext>
            </a:extLst>
          </p:cNvPr>
          <p:cNvCxnSpPr>
            <a:cxnSpLocks/>
          </p:cNvCxnSpPr>
          <p:nvPr/>
        </p:nvCxnSpPr>
        <p:spPr>
          <a:xfrm>
            <a:off x="396779" y="1863450"/>
            <a:ext cx="3877509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椭圆 112">
            <a:extLst>
              <a:ext uri="{FF2B5EF4-FFF2-40B4-BE49-F238E27FC236}">
                <a16:creationId xmlns:a16="http://schemas.microsoft.com/office/drawing/2014/main" id="{7CA8BBB3-1907-5405-C670-EA00EC79EDEF}"/>
              </a:ext>
            </a:extLst>
          </p:cNvPr>
          <p:cNvSpPr/>
          <p:nvPr/>
        </p:nvSpPr>
        <p:spPr>
          <a:xfrm>
            <a:off x="10245922" y="1603841"/>
            <a:ext cx="314765" cy="303098"/>
          </a:xfrm>
          <a:prstGeom prst="ellipse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A3CD265A-01AB-8668-B7FD-B5035E606529}"/>
              </a:ext>
            </a:extLst>
          </p:cNvPr>
          <p:cNvSpPr/>
          <p:nvPr/>
        </p:nvSpPr>
        <p:spPr>
          <a:xfrm>
            <a:off x="10227317" y="3175849"/>
            <a:ext cx="314765" cy="303098"/>
          </a:xfrm>
          <a:prstGeom prst="ellipse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97324039-ACB5-7946-1356-6EF660A9A01B}"/>
              </a:ext>
            </a:extLst>
          </p:cNvPr>
          <p:cNvCxnSpPr>
            <a:cxnSpLocks/>
          </p:cNvCxnSpPr>
          <p:nvPr/>
        </p:nvCxnSpPr>
        <p:spPr>
          <a:xfrm>
            <a:off x="1601802" y="2290866"/>
            <a:ext cx="5426319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C8C53164-5A26-2C40-740A-EA14F57D70FD}"/>
              </a:ext>
            </a:extLst>
          </p:cNvPr>
          <p:cNvCxnSpPr>
            <a:cxnSpLocks/>
          </p:cNvCxnSpPr>
          <p:nvPr/>
        </p:nvCxnSpPr>
        <p:spPr>
          <a:xfrm>
            <a:off x="1561128" y="2518938"/>
            <a:ext cx="5426319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椭圆 118">
            <a:extLst>
              <a:ext uri="{FF2B5EF4-FFF2-40B4-BE49-F238E27FC236}">
                <a16:creationId xmlns:a16="http://schemas.microsoft.com/office/drawing/2014/main" id="{34F786B9-CB98-1750-D0C8-F25232A215C1}"/>
              </a:ext>
            </a:extLst>
          </p:cNvPr>
          <p:cNvSpPr/>
          <p:nvPr/>
        </p:nvSpPr>
        <p:spPr>
          <a:xfrm>
            <a:off x="10553312" y="1611751"/>
            <a:ext cx="314765" cy="303098"/>
          </a:xfrm>
          <a:prstGeom prst="ellipse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A2B23244-9550-5B55-2964-12FD5E80A618}"/>
              </a:ext>
            </a:extLst>
          </p:cNvPr>
          <p:cNvSpPr/>
          <p:nvPr/>
        </p:nvSpPr>
        <p:spPr>
          <a:xfrm>
            <a:off x="10234486" y="3179927"/>
            <a:ext cx="314765" cy="303098"/>
          </a:xfrm>
          <a:prstGeom prst="ellipse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7C585843-7716-D5D8-4DB1-D84D0FB9F697}"/>
              </a:ext>
            </a:extLst>
          </p:cNvPr>
          <p:cNvCxnSpPr>
            <a:cxnSpLocks/>
          </p:cNvCxnSpPr>
          <p:nvPr/>
        </p:nvCxnSpPr>
        <p:spPr>
          <a:xfrm>
            <a:off x="1561128" y="2974365"/>
            <a:ext cx="5426319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E51897A9-6DCC-120B-EA52-310EDE880D81}"/>
              </a:ext>
            </a:extLst>
          </p:cNvPr>
          <p:cNvGrpSpPr/>
          <p:nvPr/>
        </p:nvGrpSpPr>
        <p:grpSpPr>
          <a:xfrm>
            <a:off x="10555009" y="2738064"/>
            <a:ext cx="314767" cy="780347"/>
            <a:chOff x="10838311" y="5276789"/>
            <a:chExt cx="314767" cy="780347"/>
          </a:xfrm>
        </p:grpSpPr>
        <p:sp>
          <p:nvSpPr>
            <p:cNvPr id="127" name="文本框 61">
              <a:extLst>
                <a:ext uri="{FF2B5EF4-FFF2-40B4-BE49-F238E27FC236}">
                  <a16:creationId xmlns:a16="http://schemas.microsoft.com/office/drawing/2014/main" id="{E2CFAED9-F2D6-26DC-81EC-CB9A080EE7A8}"/>
                </a:ext>
              </a:extLst>
            </p:cNvPr>
            <p:cNvSpPr txBox="1"/>
            <p:nvPr/>
          </p:nvSpPr>
          <p:spPr>
            <a:xfrm>
              <a:off x="10838312" y="5276789"/>
              <a:ext cx="314766" cy="3875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defRPr sz="20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22</a:t>
              </a:r>
              <a:endParaRPr lang="zh-CN" altLang="en-US" dirty="0"/>
            </a:p>
          </p:txBody>
        </p:sp>
        <p:sp>
          <p:nvSpPr>
            <p:cNvPr id="128" name="文本框 65">
              <a:extLst>
                <a:ext uri="{FF2B5EF4-FFF2-40B4-BE49-F238E27FC236}">
                  <a16:creationId xmlns:a16="http://schemas.microsoft.com/office/drawing/2014/main" id="{E8D74FA3-829F-7E20-3510-E857AE551473}"/>
                </a:ext>
              </a:extLst>
            </p:cNvPr>
            <p:cNvSpPr txBox="1"/>
            <p:nvPr/>
          </p:nvSpPr>
          <p:spPr>
            <a:xfrm>
              <a:off x="10838311" y="5669602"/>
              <a:ext cx="314765" cy="3875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defRPr sz="20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7</a:t>
              </a:r>
              <a:endParaRPr lang="zh-CN" altLang="en-US" dirty="0"/>
            </a:p>
          </p:txBody>
        </p:sp>
      </p:grpSp>
      <p:sp>
        <p:nvSpPr>
          <p:cNvPr id="129" name="椭圆 128">
            <a:extLst>
              <a:ext uri="{FF2B5EF4-FFF2-40B4-BE49-F238E27FC236}">
                <a16:creationId xmlns:a16="http://schemas.microsoft.com/office/drawing/2014/main" id="{6043D9FF-0A8A-3EC3-37DD-8EF6BC7C7CB3}"/>
              </a:ext>
            </a:extLst>
          </p:cNvPr>
          <p:cNvSpPr/>
          <p:nvPr/>
        </p:nvSpPr>
        <p:spPr>
          <a:xfrm>
            <a:off x="10852908" y="1616177"/>
            <a:ext cx="314765" cy="303098"/>
          </a:xfrm>
          <a:prstGeom prst="ellipse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椭圆 129">
            <a:extLst>
              <a:ext uri="{FF2B5EF4-FFF2-40B4-BE49-F238E27FC236}">
                <a16:creationId xmlns:a16="http://schemas.microsoft.com/office/drawing/2014/main" id="{21FF6F60-BCE9-2E29-4B50-57FB9AB820A4}"/>
              </a:ext>
            </a:extLst>
          </p:cNvPr>
          <p:cNvSpPr/>
          <p:nvPr/>
        </p:nvSpPr>
        <p:spPr>
          <a:xfrm>
            <a:off x="10535898" y="3173095"/>
            <a:ext cx="314765" cy="303098"/>
          </a:xfrm>
          <a:prstGeom prst="ellipse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14FD8FAD-9941-E37B-10FF-EBAAF0F302CF}"/>
              </a:ext>
            </a:extLst>
          </p:cNvPr>
          <p:cNvCxnSpPr>
            <a:cxnSpLocks/>
          </p:cNvCxnSpPr>
          <p:nvPr/>
        </p:nvCxnSpPr>
        <p:spPr>
          <a:xfrm>
            <a:off x="1561128" y="2743606"/>
            <a:ext cx="5426319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椭圆 131">
            <a:extLst>
              <a:ext uri="{FF2B5EF4-FFF2-40B4-BE49-F238E27FC236}">
                <a16:creationId xmlns:a16="http://schemas.microsoft.com/office/drawing/2014/main" id="{DC6B24F1-6048-0ADF-208A-690C9107B65B}"/>
              </a:ext>
            </a:extLst>
          </p:cNvPr>
          <p:cNvSpPr/>
          <p:nvPr/>
        </p:nvSpPr>
        <p:spPr>
          <a:xfrm>
            <a:off x="10850478" y="3179927"/>
            <a:ext cx="314765" cy="303098"/>
          </a:xfrm>
          <a:prstGeom prst="ellipse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椭圆 132">
            <a:extLst>
              <a:ext uri="{FF2B5EF4-FFF2-40B4-BE49-F238E27FC236}">
                <a16:creationId xmlns:a16="http://schemas.microsoft.com/office/drawing/2014/main" id="{7D3F4BAA-958A-DF5C-CCA5-12ABF4606D00}"/>
              </a:ext>
            </a:extLst>
          </p:cNvPr>
          <p:cNvSpPr/>
          <p:nvPr/>
        </p:nvSpPr>
        <p:spPr>
          <a:xfrm>
            <a:off x="10843832" y="1611496"/>
            <a:ext cx="314765" cy="303098"/>
          </a:xfrm>
          <a:prstGeom prst="ellipse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F07CD15C-7B1F-445F-49E8-B51070373C8A}"/>
              </a:ext>
            </a:extLst>
          </p:cNvPr>
          <p:cNvCxnSpPr>
            <a:cxnSpLocks/>
          </p:cNvCxnSpPr>
          <p:nvPr/>
        </p:nvCxnSpPr>
        <p:spPr>
          <a:xfrm>
            <a:off x="1978968" y="3162011"/>
            <a:ext cx="120757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DA122786-4DE1-CA65-16DF-9639EF612998}"/>
              </a:ext>
            </a:extLst>
          </p:cNvPr>
          <p:cNvCxnSpPr>
            <a:cxnSpLocks/>
          </p:cNvCxnSpPr>
          <p:nvPr/>
        </p:nvCxnSpPr>
        <p:spPr>
          <a:xfrm>
            <a:off x="1978968" y="4284229"/>
            <a:ext cx="141816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A015BE90-B341-DA66-4972-D951792B715B}"/>
              </a:ext>
            </a:extLst>
          </p:cNvPr>
          <p:cNvCxnSpPr>
            <a:cxnSpLocks/>
          </p:cNvCxnSpPr>
          <p:nvPr/>
        </p:nvCxnSpPr>
        <p:spPr>
          <a:xfrm>
            <a:off x="2477461" y="2081356"/>
            <a:ext cx="141816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24B3CBD4-8A45-27FD-28D6-BD7D997638A8}"/>
              </a:ext>
            </a:extLst>
          </p:cNvPr>
          <p:cNvCxnSpPr>
            <a:cxnSpLocks/>
          </p:cNvCxnSpPr>
          <p:nvPr/>
        </p:nvCxnSpPr>
        <p:spPr>
          <a:xfrm>
            <a:off x="396779" y="5134899"/>
            <a:ext cx="1582189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F57D4E73-C9E2-E127-3088-712C84676824}"/>
              </a:ext>
            </a:extLst>
          </p:cNvPr>
          <p:cNvCxnSpPr>
            <a:cxnSpLocks/>
          </p:cNvCxnSpPr>
          <p:nvPr/>
        </p:nvCxnSpPr>
        <p:spPr>
          <a:xfrm>
            <a:off x="810707" y="5370426"/>
            <a:ext cx="84250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675673DF-5EDB-0B09-0DAC-622F40B5CB2A}"/>
              </a:ext>
            </a:extLst>
          </p:cNvPr>
          <p:cNvGrpSpPr/>
          <p:nvPr/>
        </p:nvGrpSpPr>
        <p:grpSpPr>
          <a:xfrm>
            <a:off x="11168061" y="1180674"/>
            <a:ext cx="314767" cy="780347"/>
            <a:chOff x="10838311" y="5276789"/>
            <a:chExt cx="314767" cy="780347"/>
          </a:xfrm>
        </p:grpSpPr>
        <p:sp>
          <p:nvSpPr>
            <p:cNvPr id="145" name="文本框 61">
              <a:extLst>
                <a:ext uri="{FF2B5EF4-FFF2-40B4-BE49-F238E27FC236}">
                  <a16:creationId xmlns:a16="http://schemas.microsoft.com/office/drawing/2014/main" id="{1669C33F-14A3-FC87-66CC-4271625A3020}"/>
                </a:ext>
              </a:extLst>
            </p:cNvPr>
            <p:cNvSpPr txBox="1"/>
            <p:nvPr/>
          </p:nvSpPr>
          <p:spPr>
            <a:xfrm>
              <a:off x="10838312" y="5276789"/>
              <a:ext cx="314766" cy="3875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defRPr sz="20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5</a:t>
              </a:r>
              <a:endParaRPr lang="zh-CN" altLang="en-US" dirty="0"/>
            </a:p>
          </p:txBody>
        </p:sp>
        <p:sp>
          <p:nvSpPr>
            <p:cNvPr id="146" name="文本框 65">
              <a:extLst>
                <a:ext uri="{FF2B5EF4-FFF2-40B4-BE49-F238E27FC236}">
                  <a16:creationId xmlns:a16="http://schemas.microsoft.com/office/drawing/2014/main" id="{695494E7-A81D-ECD8-7CE0-B66E75C60453}"/>
                </a:ext>
              </a:extLst>
            </p:cNvPr>
            <p:cNvSpPr txBox="1"/>
            <p:nvPr/>
          </p:nvSpPr>
          <p:spPr>
            <a:xfrm>
              <a:off x="10838311" y="5669602"/>
              <a:ext cx="314765" cy="3875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lIns="0" tIns="36000" rIns="0" bIns="36000" rtlCol="0">
              <a:sp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defRPr sz="20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17</a:t>
              </a:r>
              <a:endParaRPr lang="zh-CN" altLang="en-US" dirty="0"/>
            </a:p>
          </p:txBody>
        </p:sp>
      </p:grp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994FE462-2FAE-A49E-3C1D-84E2E70FABAD}"/>
              </a:ext>
            </a:extLst>
          </p:cNvPr>
          <p:cNvCxnSpPr>
            <a:cxnSpLocks/>
          </p:cNvCxnSpPr>
          <p:nvPr/>
        </p:nvCxnSpPr>
        <p:spPr>
          <a:xfrm>
            <a:off x="396779" y="5586557"/>
            <a:ext cx="162598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3C75D8B1-8901-506C-7ED5-6A085118F10F}"/>
              </a:ext>
            </a:extLst>
          </p:cNvPr>
          <p:cNvCxnSpPr>
            <a:cxnSpLocks/>
          </p:cNvCxnSpPr>
          <p:nvPr/>
        </p:nvCxnSpPr>
        <p:spPr>
          <a:xfrm>
            <a:off x="396779" y="6024361"/>
            <a:ext cx="2218959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88C417DD-0708-6CF5-0B8A-33367389C9BF}"/>
              </a:ext>
            </a:extLst>
          </p:cNvPr>
          <p:cNvCxnSpPr>
            <a:cxnSpLocks/>
          </p:cNvCxnSpPr>
          <p:nvPr/>
        </p:nvCxnSpPr>
        <p:spPr>
          <a:xfrm>
            <a:off x="654473" y="6254347"/>
            <a:ext cx="793534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EEDDEC61-B06C-4A53-97B6-05352EDBF6E0}"/>
              </a:ext>
            </a:extLst>
          </p:cNvPr>
          <p:cNvGrpSpPr/>
          <p:nvPr/>
        </p:nvGrpSpPr>
        <p:grpSpPr>
          <a:xfrm>
            <a:off x="8725825" y="3411226"/>
            <a:ext cx="2241835" cy="1501629"/>
            <a:chOff x="5630157" y="600301"/>
            <a:chExt cx="2241835" cy="1501629"/>
          </a:xfrm>
        </p:grpSpPr>
        <p:grpSp>
          <p:nvGrpSpPr>
            <p:cNvPr id="154" name="组合 153">
              <a:extLst>
                <a:ext uri="{FF2B5EF4-FFF2-40B4-BE49-F238E27FC236}">
                  <a16:creationId xmlns:a16="http://schemas.microsoft.com/office/drawing/2014/main" id="{78C64023-36FA-4595-813C-3792CC52E09F}"/>
                </a:ext>
              </a:extLst>
            </p:cNvPr>
            <p:cNvGrpSpPr/>
            <p:nvPr/>
          </p:nvGrpSpPr>
          <p:grpSpPr>
            <a:xfrm>
              <a:off x="6632014" y="1319554"/>
              <a:ext cx="1239978" cy="782376"/>
              <a:chOff x="1690258" y="540326"/>
              <a:chExt cx="1239978" cy="782376"/>
            </a:xfrm>
          </p:grpSpPr>
          <p:sp>
            <p:nvSpPr>
              <p:cNvPr id="161" name="文本框 98">
                <a:extLst>
                  <a:ext uri="{FF2B5EF4-FFF2-40B4-BE49-F238E27FC236}">
                    <a16:creationId xmlns:a16="http://schemas.microsoft.com/office/drawing/2014/main" id="{F68E1C56-6A1A-461D-BBC7-18C5C6ACBC60}"/>
                  </a:ext>
                </a:extLst>
              </p:cNvPr>
              <p:cNvSpPr txBox="1"/>
              <p:nvPr/>
            </p:nvSpPr>
            <p:spPr>
              <a:xfrm>
                <a:off x="1696804" y="542355"/>
                <a:ext cx="301986" cy="38753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defRPr sz="20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/>
                  <a:t>7</a:t>
                </a:r>
                <a:endParaRPr lang="zh-CN" altLang="en-US" dirty="0"/>
              </a:p>
            </p:txBody>
          </p:sp>
          <p:sp>
            <p:nvSpPr>
              <p:cNvPr id="162" name="文本框 99">
                <a:extLst>
                  <a:ext uri="{FF2B5EF4-FFF2-40B4-BE49-F238E27FC236}">
                    <a16:creationId xmlns:a16="http://schemas.microsoft.com/office/drawing/2014/main" id="{53A87542-C6FA-4B51-95B1-C344D570C603}"/>
                  </a:ext>
                </a:extLst>
              </p:cNvPr>
              <p:cNvSpPr txBox="1"/>
              <p:nvPr/>
            </p:nvSpPr>
            <p:spPr>
              <a:xfrm>
                <a:off x="2005336" y="542355"/>
                <a:ext cx="301986" cy="38753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defRPr sz="20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/>
                  <a:t>11</a:t>
                </a:r>
                <a:endParaRPr lang="zh-CN" altLang="en-US" dirty="0"/>
              </a:p>
            </p:txBody>
          </p:sp>
          <p:sp>
            <p:nvSpPr>
              <p:cNvPr id="163" name="文本框 100">
                <a:extLst>
                  <a:ext uri="{FF2B5EF4-FFF2-40B4-BE49-F238E27FC236}">
                    <a16:creationId xmlns:a16="http://schemas.microsoft.com/office/drawing/2014/main" id="{B3B22910-0076-4AD7-B436-8467366E774C}"/>
                  </a:ext>
                </a:extLst>
              </p:cNvPr>
              <p:cNvSpPr txBox="1"/>
              <p:nvPr/>
            </p:nvSpPr>
            <p:spPr>
              <a:xfrm>
                <a:off x="2620299" y="540327"/>
                <a:ext cx="301986" cy="38753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defRPr sz="20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/>
                  <a:t>5</a:t>
                </a:r>
                <a:endParaRPr lang="zh-CN" altLang="en-US" dirty="0"/>
              </a:p>
            </p:txBody>
          </p:sp>
          <p:sp>
            <p:nvSpPr>
              <p:cNvPr id="164" name="文本框 101">
                <a:extLst>
                  <a:ext uri="{FF2B5EF4-FFF2-40B4-BE49-F238E27FC236}">
                    <a16:creationId xmlns:a16="http://schemas.microsoft.com/office/drawing/2014/main" id="{47092B36-C994-435E-BDBA-5DB27F6E6694}"/>
                  </a:ext>
                </a:extLst>
              </p:cNvPr>
              <p:cNvSpPr txBox="1"/>
              <p:nvPr/>
            </p:nvSpPr>
            <p:spPr>
              <a:xfrm>
                <a:off x="1696804" y="935168"/>
                <a:ext cx="301986" cy="38753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defRPr sz="20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/>
                  <a:t>0</a:t>
                </a:r>
                <a:endParaRPr lang="zh-CN" altLang="en-US" dirty="0"/>
              </a:p>
            </p:txBody>
          </p:sp>
          <p:sp>
            <p:nvSpPr>
              <p:cNvPr id="165" name="文本框 102">
                <a:extLst>
                  <a:ext uri="{FF2B5EF4-FFF2-40B4-BE49-F238E27FC236}">
                    <a16:creationId xmlns:a16="http://schemas.microsoft.com/office/drawing/2014/main" id="{4D3836DD-8EB8-48C4-B92A-A4C2D9FCA2CA}"/>
                  </a:ext>
                </a:extLst>
              </p:cNvPr>
              <p:cNvSpPr txBox="1"/>
              <p:nvPr/>
            </p:nvSpPr>
            <p:spPr>
              <a:xfrm>
                <a:off x="2005336" y="935168"/>
                <a:ext cx="301986" cy="38753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defRPr sz="20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/>
                  <a:t>1</a:t>
                </a:r>
                <a:endParaRPr lang="zh-CN" altLang="en-US" dirty="0"/>
              </a:p>
            </p:txBody>
          </p:sp>
          <p:sp>
            <p:nvSpPr>
              <p:cNvPr id="166" name="文本框 103">
                <a:extLst>
                  <a:ext uri="{FF2B5EF4-FFF2-40B4-BE49-F238E27FC236}">
                    <a16:creationId xmlns:a16="http://schemas.microsoft.com/office/drawing/2014/main" id="{26FAFB03-CA9D-4A73-B8F2-51133DD340FB}"/>
                  </a:ext>
                </a:extLst>
              </p:cNvPr>
              <p:cNvSpPr txBox="1"/>
              <p:nvPr/>
            </p:nvSpPr>
            <p:spPr>
              <a:xfrm>
                <a:off x="2313867" y="939592"/>
                <a:ext cx="306050" cy="38048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defRPr sz="20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/>
                  <a:t>7</a:t>
                </a:r>
                <a:endParaRPr lang="zh-CN" altLang="en-US" dirty="0"/>
              </a:p>
            </p:txBody>
          </p:sp>
          <p:sp>
            <p:nvSpPr>
              <p:cNvPr id="167" name="文本框 104">
                <a:extLst>
                  <a:ext uri="{FF2B5EF4-FFF2-40B4-BE49-F238E27FC236}">
                    <a16:creationId xmlns:a16="http://schemas.microsoft.com/office/drawing/2014/main" id="{F369E0B4-6B90-4558-B5E5-BFDCAC6EC568}"/>
                  </a:ext>
                </a:extLst>
              </p:cNvPr>
              <p:cNvSpPr txBox="1"/>
              <p:nvPr/>
            </p:nvSpPr>
            <p:spPr>
              <a:xfrm>
                <a:off x="2619917" y="934788"/>
                <a:ext cx="301986" cy="38753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defRPr sz="20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/>
                  <a:t>17</a:t>
                </a:r>
                <a:endParaRPr lang="zh-CN" altLang="en-US" dirty="0"/>
              </a:p>
            </p:txBody>
          </p:sp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F5BD4279-6576-4D22-8566-6FB115758C47}"/>
                  </a:ext>
                </a:extLst>
              </p:cNvPr>
              <p:cNvSpPr/>
              <p:nvPr/>
            </p:nvSpPr>
            <p:spPr>
              <a:xfrm>
                <a:off x="1690258" y="541223"/>
                <a:ext cx="1239978" cy="774171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noFill/>
                </a:endParaRPr>
              </a:p>
            </p:txBody>
          </p:sp>
          <p:sp>
            <p:nvSpPr>
              <p:cNvPr id="169" name="文本框 106">
                <a:extLst>
                  <a:ext uri="{FF2B5EF4-FFF2-40B4-BE49-F238E27FC236}">
                    <a16:creationId xmlns:a16="http://schemas.microsoft.com/office/drawing/2014/main" id="{FC228AA0-DD6E-4537-988A-CAD602C1A3FE}"/>
                  </a:ext>
                </a:extLst>
              </p:cNvPr>
              <p:cNvSpPr txBox="1"/>
              <p:nvPr/>
            </p:nvSpPr>
            <p:spPr>
              <a:xfrm>
                <a:off x="2313866" y="540326"/>
                <a:ext cx="314019" cy="38997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txBody>
              <a:bodyPr wrap="square" lIns="0" tIns="36000" rIns="0" bIns="36000" rtlCol="0">
                <a:sp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defRPr sz="20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/>
                  <a:t>22</a:t>
                </a:r>
                <a:endParaRPr lang="zh-CN" altLang="en-US" dirty="0"/>
              </a:p>
            </p:txBody>
          </p:sp>
        </p:grpSp>
        <p:sp>
          <p:nvSpPr>
            <p:cNvPr id="155" name="文本框 84">
              <a:extLst>
                <a:ext uri="{FF2B5EF4-FFF2-40B4-BE49-F238E27FC236}">
                  <a16:creationId xmlns:a16="http://schemas.microsoft.com/office/drawing/2014/main" id="{2ABFB980-4342-4D20-B8D0-0C1D9AB1A814}"/>
                </a:ext>
              </a:extLst>
            </p:cNvPr>
            <p:cNvSpPr txBox="1"/>
            <p:nvPr/>
          </p:nvSpPr>
          <p:spPr>
            <a:xfrm>
              <a:off x="6647916" y="1067070"/>
              <a:ext cx="1215742" cy="230832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0    1    2    3 </a:t>
              </a:r>
              <a:endPara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6" name="文本框 85">
              <a:extLst>
                <a:ext uri="{FF2B5EF4-FFF2-40B4-BE49-F238E27FC236}">
                  <a16:creationId xmlns:a16="http://schemas.microsoft.com/office/drawing/2014/main" id="{D0487A7C-CFEE-44AC-8AB9-7F1594C7EF79}"/>
                </a:ext>
              </a:extLst>
            </p:cNvPr>
            <p:cNvSpPr txBox="1"/>
            <p:nvPr/>
          </p:nvSpPr>
          <p:spPr>
            <a:xfrm>
              <a:off x="5870698" y="1382773"/>
              <a:ext cx="777218" cy="276999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coef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7" name="文本框 86">
              <a:extLst>
                <a:ext uri="{FF2B5EF4-FFF2-40B4-BE49-F238E27FC236}">
                  <a16:creationId xmlns:a16="http://schemas.microsoft.com/office/drawing/2014/main" id="{0758C1C0-651B-486B-9A95-222155A54E95}"/>
                </a:ext>
              </a:extLst>
            </p:cNvPr>
            <p:cNvSpPr txBox="1"/>
            <p:nvPr/>
          </p:nvSpPr>
          <p:spPr>
            <a:xfrm>
              <a:off x="5877640" y="1742673"/>
              <a:ext cx="777218" cy="276999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expn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8" name="文本框 87">
              <a:extLst>
                <a:ext uri="{FF2B5EF4-FFF2-40B4-BE49-F238E27FC236}">
                  <a16:creationId xmlns:a16="http://schemas.microsoft.com/office/drawing/2014/main" id="{5236C270-F665-402C-BB1F-87986C7C2746}"/>
                </a:ext>
              </a:extLst>
            </p:cNvPr>
            <p:cNvSpPr txBox="1"/>
            <p:nvPr/>
          </p:nvSpPr>
          <p:spPr>
            <a:xfrm>
              <a:off x="5630157" y="1057250"/>
              <a:ext cx="1017759" cy="276999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term[]</a:t>
              </a:r>
              <a:endPara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9" name="文本框 88">
              <a:extLst>
                <a:ext uri="{FF2B5EF4-FFF2-40B4-BE49-F238E27FC236}">
                  <a16:creationId xmlns:a16="http://schemas.microsoft.com/office/drawing/2014/main" id="{8C216DCA-3FA8-4B7B-B083-4C44399BDDE2}"/>
                </a:ext>
              </a:extLst>
            </p:cNvPr>
            <p:cNvSpPr txBox="1"/>
            <p:nvPr/>
          </p:nvSpPr>
          <p:spPr>
            <a:xfrm>
              <a:off x="5778871" y="600301"/>
              <a:ext cx="525569" cy="276999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pc</a:t>
              </a:r>
              <a:endParaRPr lang="zh-CN" alt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60" name="直接箭头连接符 159">
              <a:extLst>
                <a:ext uri="{FF2B5EF4-FFF2-40B4-BE49-F238E27FC236}">
                  <a16:creationId xmlns:a16="http://schemas.microsoft.com/office/drawing/2014/main" id="{20899FBB-316D-424E-912F-50892E0D7C0C}"/>
                </a:ext>
              </a:extLst>
            </p:cNvPr>
            <p:cNvCxnSpPr/>
            <p:nvPr/>
          </p:nvCxnSpPr>
          <p:spPr>
            <a:xfrm>
              <a:off x="6083378" y="882322"/>
              <a:ext cx="0" cy="230588"/>
            </a:xfrm>
            <a:prstGeom prst="straightConnector1">
              <a:avLst/>
            </a:prstGeom>
            <a:ln w="28575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86050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2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2.96296E-6 L -0.71472 0.09352 " pathEditMode="relative" rAng="0" ptsTypes="AA">
                                      <p:cBhvr>
                                        <p:cTn id="113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742" y="4676"/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4.81481E-6 L -0.71315 -0.13264 " pathEditMode="relative" rAng="0" ptsTypes="AA">
                                      <p:cBhvr>
                                        <p:cTn id="115" dur="2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664" y="-6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17" presetID="16" presetClass="exit" presetSubtype="2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6" presetClass="exit" presetSubtype="2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2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3500"/>
                            </p:stCondLst>
                            <p:childTnLst>
                              <p:par>
                                <p:cTn id="124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2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40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2.22222E-6 L -0.04153 0.43102 " pathEditMode="relative" rAng="0" ptsTypes="AA">
                                      <p:cBhvr>
                                        <p:cTn id="136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3" y="21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000"/>
                            </p:stCondLst>
                            <p:childTnLst>
                              <p:par>
                                <p:cTn id="138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0 L 0.02292 0 " pathEditMode="relative" rAng="0" ptsTypes="AA">
                                      <p:cBhvr>
                                        <p:cTn id="139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000"/>
                            </p:stCondLst>
                            <p:childTnLst>
                              <p:par>
                                <p:cTn id="14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48148E-6 L 0.02721 -0.00023 " pathEditMode="relative" rAng="0" ptsTypes="AA">
                                      <p:cBhvr>
                                        <p:cTn id="142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4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4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4.44444E-6 L -0.73998 0.15857 " pathEditMode="relative" rAng="0" ptsTypes="AA">
                                      <p:cBhvr>
                                        <p:cTn id="168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005" y="7917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85185E-6 L -0.7138 -0.06875 " pathEditMode="relative" rAng="0" ptsTypes="AA">
                                      <p:cBhvr>
                                        <p:cTn id="170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690" y="-3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3000"/>
                            </p:stCondLst>
                            <p:childTnLst>
                              <p:par>
                                <p:cTn id="172" presetID="16" presetClass="exit" presetSubtype="2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7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6" presetClass="exit" presetSubtype="2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7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8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"/>
                            </p:stCondLst>
                            <p:childTnLst>
                              <p:par>
                                <p:cTn id="1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7037E-6 L -8.33333E-7 0.18634 " pathEditMode="relative" rAng="0" ptsTypes="AA">
                                      <p:cBhvr>
                                        <p:cTn id="190" dur="3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3000"/>
                            </p:stCondLst>
                            <p:childTnLst>
                              <p:par>
                                <p:cTn id="1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3.33333E-6 L -0.02513 0.22708 " pathEditMode="relative" rAng="0" ptsTypes="AA">
                                      <p:cBhvr>
                                        <p:cTn id="195" dur="2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63" y="11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5000"/>
                            </p:stCondLst>
                            <p:childTnLst>
                              <p:par>
                                <p:cTn id="19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5500"/>
                            </p:stCondLst>
                            <p:childTnLst>
                              <p:par>
                                <p:cTn id="2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500"/>
                            </p:stCondLst>
                            <p:childTnLst>
                              <p:par>
                                <p:cTn id="20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4.44444E-6 L -0.01562 0.20116 " pathEditMode="relative" rAng="0" ptsTypes="AA">
                                      <p:cBhvr>
                                        <p:cTn id="205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1" y="10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7500"/>
                            </p:stCondLst>
                            <p:childTnLst>
                              <p:par>
                                <p:cTn id="207" presetID="63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292 0 L 0.05053 0.00046 " pathEditMode="relative" rAng="0" ptsTypes="AA">
                                      <p:cBhvr>
                                        <p:cTn id="208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80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8500"/>
                            </p:stCondLst>
                            <p:childTnLst>
                              <p:par>
                                <p:cTn id="210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11111E-6 L 0.02435 0.0007 " pathEditMode="relative" rAng="0" ptsTypes="AA">
                                      <p:cBhvr>
                                        <p:cTn id="211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1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9500"/>
                            </p:stCondLst>
                            <p:childTnLst>
                              <p:par>
                                <p:cTn id="213" presetID="63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721 -0.00023 L 0.05156 0.00023 " pathEditMode="relative" rAng="0" ptsTypes="AA">
                                      <p:cBhvr>
                                        <p:cTn id="214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1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10500"/>
                            </p:stCondLst>
                            <p:childTnLst>
                              <p:par>
                                <p:cTn id="216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11000"/>
                            </p:stCondLst>
                            <p:childTnLst>
                              <p:par>
                                <p:cTn id="2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0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6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1000"/>
                            </p:stCondLst>
                            <p:childTnLst>
                              <p:par>
                                <p:cTn id="238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1.11111E-6 L -0.76445 0.125 " pathEditMode="relative" rAng="0" ptsTypes="AA">
                                      <p:cBhvr>
                                        <p:cTn id="239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229" y="6250"/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22222E-6 L -0.73854 -0.10185 " pathEditMode="relative" rAng="0" ptsTypes="AA">
                                      <p:cBhvr>
                                        <p:cTn id="241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927" y="-50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3000"/>
                            </p:stCondLst>
                            <p:childTnLst>
                              <p:par>
                                <p:cTn id="243" presetID="16" presetClass="exit" presetSubtype="2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4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6" presetClass="exit" presetSubtype="2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4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3500"/>
                            </p:stCondLst>
                            <p:childTnLst>
                              <p:par>
                                <p:cTn id="250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5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4000"/>
                            </p:stCondLst>
                            <p:childTnLst>
                              <p:par>
                                <p:cTn id="2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6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48148E-6 L -0.01706 0.20185 " pathEditMode="relative" rAng="0" ptsTypes="AA">
                                      <p:cBhvr>
                                        <p:cTn id="262" dur="2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9" y="100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2000"/>
                            </p:stCondLst>
                            <p:childTnLst>
                              <p:par>
                                <p:cTn id="264" presetID="63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435 0.0007 L 0.0487 0.00162 " pathEditMode="relative" rAng="0" ptsTypes="AA">
                                      <p:cBhvr>
                                        <p:cTn id="265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1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3000"/>
                            </p:stCondLst>
                            <p:childTnLst>
                              <p:par>
                                <p:cTn id="267" presetID="63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156 0.00023 L 0.07591 1.48148E-6 " pathEditMode="relative" rAng="0" ptsTypes="AA">
                                      <p:cBhvr>
                                        <p:cTn id="268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1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4000"/>
                            </p:stCondLst>
                            <p:childTnLst>
                              <p:par>
                                <p:cTn id="270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7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4500"/>
                            </p:stCondLst>
                            <p:childTnLst>
                              <p:par>
                                <p:cTn id="2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6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1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4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0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1000"/>
                            </p:stCondLst>
                            <p:childTnLst>
                              <p:par>
                                <p:cTn id="292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4.44444E-6 L -0.76445 0.125 " pathEditMode="relative" rAng="0" ptsTypes="AA">
                                      <p:cBhvr>
                                        <p:cTn id="293" dur="2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229" y="6250"/>
                                    </p:animMotion>
                                  </p:childTnLst>
                                </p:cTn>
                              </p:par>
                              <p:par>
                                <p:cTn id="294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85185E-6 L -0.76432 -0.10347 " pathEditMode="relative" rAng="0" ptsTypes="AA">
                                      <p:cBhvr>
                                        <p:cTn id="295" dur="2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216" y="-5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3000"/>
                            </p:stCondLst>
                            <p:childTnLst>
                              <p:par>
                                <p:cTn id="297" presetID="16" presetClass="exit" presetSubtype="2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9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6" presetClass="exit" presetSubtype="2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0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3500"/>
                            </p:stCondLst>
                            <p:childTnLst>
                              <p:par>
                                <p:cTn id="304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0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4000"/>
                            </p:stCondLst>
                            <p:childTnLst>
                              <p:par>
                                <p:cTn id="3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0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1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500"/>
                            </p:stCondLst>
                            <p:childTnLst>
                              <p:par>
                                <p:cTn id="3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2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1000"/>
                            </p:stCondLst>
                            <p:childTnLst>
                              <p:par>
                                <p:cTn id="329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3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5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63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053 0.00046 L 0.0767 0.00023 " pathEditMode="relative" rAng="0" ptsTypes="AA">
                                      <p:cBhvr>
                                        <p:cTn id="339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1000"/>
                            </p:stCondLst>
                            <p:childTnLst>
                              <p:par>
                                <p:cTn id="341" presetID="63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87 0.00162 L 0.07305 0.00069 " pathEditMode="relative" rAng="0" ptsTypes="AA">
                                      <p:cBhvr>
                                        <p:cTn id="342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1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4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4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7" fill="hold">
                            <p:stCondLst>
                              <p:cond delay="2500"/>
                            </p:stCondLst>
                            <p:childTnLst>
                              <p:par>
                                <p:cTn id="3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0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54" dur="1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1500"/>
                            </p:stCondLst>
                            <p:childTnLst>
                              <p:par>
                                <p:cTn id="356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5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2000"/>
                            </p:stCondLst>
                            <p:childTnLst>
                              <p:par>
                                <p:cTn id="360" presetID="3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1" dur="10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2" dur="10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3" dur="10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4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6" fill="hold">
                            <p:stCondLst>
                              <p:cond delay="3000"/>
                            </p:stCondLst>
                            <p:childTnLst>
                              <p:par>
                                <p:cTn id="3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9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7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>
                            <p:stCondLst>
                              <p:cond delay="500"/>
                            </p:stCondLst>
                            <p:childTnLst>
                              <p:par>
                                <p:cTn id="3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8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4.81481E-6 L -0.04297 0.42893 " pathEditMode="relative" rAng="0" ptsTypes="AA">
                                      <p:cBhvr>
                                        <p:cTn id="384" dur="2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48" y="214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2000"/>
                            </p:stCondLst>
                            <p:childTnLst>
                              <p:par>
                                <p:cTn id="386" presetID="63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591 1.48148E-6 L 0.10169 0.00069 " pathEditMode="relative" rAng="0" ptsTypes="AA">
                                      <p:cBhvr>
                                        <p:cTn id="387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9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3000"/>
                            </p:stCondLst>
                            <p:childTnLst>
                              <p:par>
                                <p:cTn id="389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9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2" fill="hold">
                            <p:stCondLst>
                              <p:cond delay="3500"/>
                            </p:stCondLst>
                            <p:childTnLst>
                              <p:par>
                                <p:cTn id="3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5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" fill="hold">
                      <p:stCondLst>
                        <p:cond delay="indefinite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id="398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9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0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0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4" fill="hold">
                            <p:stCondLst>
                              <p:cond delay="1000"/>
                            </p:stCondLst>
                            <p:childTnLst>
                              <p:par>
                                <p:cTn id="405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0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8" fill="hold">
                            <p:stCondLst>
                              <p:cond delay="1500"/>
                            </p:stCondLst>
                            <p:childTnLst>
                              <p:par>
                                <p:cTn id="4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1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indefinite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1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7" fill="hold">
                            <p:stCondLst>
                              <p:cond delay="500"/>
                            </p:stCondLst>
                            <p:childTnLst>
                              <p:par>
                                <p:cTn id="4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0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>
                      <p:stCondLst>
                        <p:cond delay="indefinite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6" fill="hold">
                            <p:stCondLst>
                              <p:cond delay="500"/>
                            </p:stCondLst>
                            <p:childTnLst>
                              <p:par>
                                <p:cTn id="42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9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1500"/>
                            </p:stCondLst>
                            <p:childTnLst>
                              <p:par>
                                <p:cTn id="431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3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animBg="1"/>
      <p:bldP spid="112" grpId="1" animBg="1"/>
      <p:bldP spid="101" grpId="0"/>
      <p:bldP spid="103" grpId="0"/>
      <p:bldP spid="105" grpId="0"/>
      <p:bldP spid="105" grpId="1"/>
      <p:bldP spid="105" grpId="2"/>
      <p:bldP spid="105" grpId="3"/>
      <p:bldP spid="106" grpId="0"/>
      <p:bldP spid="106" grpId="1"/>
      <p:bldP spid="106" grpId="2"/>
      <p:bldP spid="106" grpId="3"/>
      <p:bldP spid="107" grpId="0"/>
      <p:bldP spid="107" grpId="1"/>
      <p:bldP spid="107" grpId="2"/>
      <p:bldP spid="107" grpId="3"/>
      <p:bldP spid="107" grpId="4"/>
      <p:bldP spid="113" grpId="0" animBg="1"/>
      <p:bldP spid="113" grpId="1" animBg="1"/>
      <p:bldP spid="113" grpId="2" animBg="1"/>
      <p:bldP spid="114" grpId="0" animBg="1"/>
      <p:bldP spid="114" grpId="1" animBg="1"/>
      <p:bldP spid="114" grpId="2" animBg="1"/>
      <p:bldP spid="119" grpId="0" animBg="1"/>
      <p:bldP spid="119" grpId="1" animBg="1"/>
      <p:bldP spid="119" grpId="2" animBg="1"/>
      <p:bldP spid="120" grpId="0" animBg="1"/>
      <p:bldP spid="120" grpId="1" animBg="1"/>
      <p:bldP spid="120" grpId="2" animBg="1"/>
      <p:bldP spid="129" grpId="0" animBg="1"/>
      <p:bldP spid="129" grpId="1" animBg="1"/>
      <p:bldP spid="129" grpId="2" animBg="1"/>
      <p:bldP spid="130" grpId="0" animBg="1"/>
      <p:bldP spid="130" grpId="1" animBg="1"/>
      <p:bldP spid="130" grpId="2" animBg="1"/>
      <p:bldP spid="132" grpId="0" animBg="1"/>
      <p:bldP spid="132" grpId="1" animBg="1"/>
      <p:bldP spid="132" grpId="2" animBg="1"/>
      <p:bldP spid="133" grpId="0" animBg="1"/>
      <p:bldP spid="133" grpId="1" animBg="1"/>
      <p:bldP spid="133" grpId="2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2190</TotalTime>
  <Words>8371</Words>
  <Application>Microsoft Office PowerPoint</Application>
  <PresentationFormat>宽屏</PresentationFormat>
  <Paragraphs>843</Paragraphs>
  <Slides>24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2" baseType="lpstr">
      <vt:lpstr>等线</vt:lpstr>
      <vt:lpstr>仿宋</vt:lpstr>
      <vt:lpstr>黑体</vt:lpstr>
      <vt:lpstr>华文琥珀</vt:lpstr>
      <vt:lpstr>华文行楷</vt:lpstr>
      <vt:lpstr>楷体</vt:lpstr>
      <vt:lpstr>楷体_GB2312</vt:lpstr>
      <vt:lpstr>隶书</vt:lpstr>
      <vt:lpstr>宋体</vt:lpstr>
      <vt:lpstr>微软雅黑</vt:lpstr>
      <vt:lpstr>Aptos</vt:lpstr>
      <vt:lpstr>Arial</vt:lpstr>
      <vt:lpstr>Calibri</vt:lpstr>
      <vt:lpstr>Courier New</vt:lpstr>
      <vt:lpstr>Times New Roman</vt:lpstr>
      <vt:lpstr>Wide Latin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算法2. 12   有序单链表的合并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weimin wu</dc:creator>
  <cp:lastModifiedBy>weimin wu</cp:lastModifiedBy>
  <cp:revision>51</cp:revision>
  <dcterms:created xsi:type="dcterms:W3CDTF">2025-08-08T07:54:05Z</dcterms:created>
  <dcterms:modified xsi:type="dcterms:W3CDTF">2025-10-25T14:57:12Z</dcterms:modified>
</cp:coreProperties>
</file>