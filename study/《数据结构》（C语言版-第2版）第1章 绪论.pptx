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48" r:id="rId1"/>
    <p:sldMasterId id="2147483661" r:id="rId2"/>
  </p:sldMasterIdLst>
  <p:notesMasterIdLst>
    <p:notesMasterId r:id="rId59"/>
  </p:notesMasterIdLst>
  <p:handoutMasterIdLst>
    <p:handoutMasterId r:id="rId60"/>
  </p:handoutMasterIdLst>
  <p:sldIdLst>
    <p:sldId id="257" r:id="rId3"/>
    <p:sldId id="337" r:id="rId4"/>
    <p:sldId id="338" r:id="rId5"/>
    <p:sldId id="339" r:id="rId6"/>
    <p:sldId id="340" r:id="rId7"/>
    <p:sldId id="341" r:id="rId8"/>
    <p:sldId id="342" r:id="rId9"/>
    <p:sldId id="343" r:id="rId10"/>
    <p:sldId id="344" r:id="rId11"/>
    <p:sldId id="345" r:id="rId12"/>
    <p:sldId id="346" r:id="rId13"/>
    <p:sldId id="347" r:id="rId14"/>
    <p:sldId id="348" r:id="rId15"/>
    <p:sldId id="349" r:id="rId16"/>
    <p:sldId id="350" r:id="rId17"/>
    <p:sldId id="351" r:id="rId18"/>
    <p:sldId id="352" r:id="rId19"/>
    <p:sldId id="353" r:id="rId20"/>
    <p:sldId id="354" r:id="rId21"/>
    <p:sldId id="355" r:id="rId22"/>
    <p:sldId id="356" r:id="rId23"/>
    <p:sldId id="357" r:id="rId24"/>
    <p:sldId id="358" r:id="rId25"/>
    <p:sldId id="359" r:id="rId26"/>
    <p:sldId id="360" r:id="rId27"/>
    <p:sldId id="361" r:id="rId28"/>
    <p:sldId id="258" r:id="rId29"/>
    <p:sldId id="259" r:id="rId30"/>
    <p:sldId id="362" r:id="rId31"/>
    <p:sldId id="363" r:id="rId32"/>
    <p:sldId id="364" r:id="rId33"/>
    <p:sldId id="365" r:id="rId34"/>
    <p:sldId id="366" r:id="rId35"/>
    <p:sldId id="368" r:id="rId36"/>
    <p:sldId id="367" r:id="rId37"/>
    <p:sldId id="369" r:id="rId38"/>
    <p:sldId id="370" r:id="rId39"/>
    <p:sldId id="371" r:id="rId40"/>
    <p:sldId id="372" r:id="rId41"/>
    <p:sldId id="373" r:id="rId42"/>
    <p:sldId id="374" r:id="rId43"/>
    <p:sldId id="375" r:id="rId44"/>
    <p:sldId id="376" r:id="rId45"/>
    <p:sldId id="377" r:id="rId46"/>
    <p:sldId id="261" r:id="rId47"/>
    <p:sldId id="262" r:id="rId48"/>
    <p:sldId id="263" r:id="rId49"/>
    <p:sldId id="378" r:id="rId50"/>
    <p:sldId id="379" r:id="rId51"/>
    <p:sldId id="380" r:id="rId52"/>
    <p:sldId id="381" r:id="rId53"/>
    <p:sldId id="383" r:id="rId54"/>
    <p:sldId id="382" r:id="rId55"/>
    <p:sldId id="384" r:id="rId56"/>
    <p:sldId id="385" r:id="rId57"/>
    <p:sldId id="386" r:id="rId58"/>
  </p:sldIdLst>
  <p:sldSz cx="12192000" cy="6858000"/>
  <p:notesSz cx="6808788" cy="99425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132" autoAdjust="0"/>
    <p:restoredTop sz="94660"/>
  </p:normalViewPr>
  <p:slideViewPr>
    <p:cSldViewPr snapToGrid="0">
      <p:cViewPr varScale="1">
        <p:scale>
          <a:sx n="92" d="100"/>
          <a:sy n="92" d="100"/>
        </p:scale>
        <p:origin x="51" y="6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5" Type="http://schemas.openxmlformats.org/officeDocument/2006/relationships/slide" Target="slides/slide3.xml"/><Relationship Id="rId61" Type="http://schemas.openxmlformats.org/officeDocument/2006/relationships/presProps" Target="pres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489E284B-0BE8-88C1-75D3-D9468F49F22F}"/>
              </a:ext>
            </a:extLst>
          </p:cNvPr>
          <p:cNvSpPr>
            <a:spLocks noGrp="1"/>
          </p:cNvSpPr>
          <p:nvPr>
            <p:ph type="hdr" sz="quarter"/>
          </p:nvPr>
        </p:nvSpPr>
        <p:spPr>
          <a:xfrm>
            <a:off x="0" y="0"/>
            <a:ext cx="2950475" cy="498852"/>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E28A45FB-A781-C9AD-000F-10843DAB15D3}"/>
              </a:ext>
            </a:extLst>
          </p:cNvPr>
          <p:cNvSpPr>
            <a:spLocks noGrp="1"/>
          </p:cNvSpPr>
          <p:nvPr>
            <p:ph type="dt" sz="quarter" idx="1"/>
          </p:nvPr>
        </p:nvSpPr>
        <p:spPr>
          <a:xfrm>
            <a:off x="3856737" y="0"/>
            <a:ext cx="2950475" cy="498852"/>
          </a:xfrm>
          <a:prstGeom prst="rect">
            <a:avLst/>
          </a:prstGeom>
        </p:spPr>
        <p:txBody>
          <a:bodyPr vert="horz" lIns="91440" tIns="45720" rIns="91440" bIns="45720" rtlCol="0"/>
          <a:lstStyle>
            <a:lvl1pPr algn="r">
              <a:defRPr sz="1200"/>
            </a:lvl1pPr>
          </a:lstStyle>
          <a:p>
            <a:fld id="{1421B6DE-B41A-403F-9B52-FFC447586F26}" type="datetime1">
              <a:rPr lang="zh-CN" altLang="en-US" smtClean="0"/>
              <a:t>2025/10/25</a:t>
            </a:fld>
            <a:endParaRPr lang="zh-CN" altLang="en-US"/>
          </a:p>
        </p:txBody>
      </p:sp>
      <p:sp>
        <p:nvSpPr>
          <p:cNvPr id="4" name="页脚占位符 3">
            <a:extLst>
              <a:ext uri="{FF2B5EF4-FFF2-40B4-BE49-F238E27FC236}">
                <a16:creationId xmlns:a16="http://schemas.microsoft.com/office/drawing/2014/main" id="{2C8490BE-D21E-8A68-6A8A-D81321B682BA}"/>
              </a:ext>
            </a:extLst>
          </p:cNvPr>
          <p:cNvSpPr>
            <a:spLocks noGrp="1"/>
          </p:cNvSpPr>
          <p:nvPr>
            <p:ph type="ftr" sz="quarter" idx="2"/>
          </p:nvPr>
        </p:nvSpPr>
        <p:spPr>
          <a:xfrm>
            <a:off x="0" y="9443662"/>
            <a:ext cx="2950475" cy="498851"/>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3B2A9D0E-F93B-B81C-D895-E81590B2A638}"/>
              </a:ext>
            </a:extLst>
          </p:cNvPr>
          <p:cNvSpPr>
            <a:spLocks noGrp="1"/>
          </p:cNvSpPr>
          <p:nvPr>
            <p:ph type="sldNum" sz="quarter" idx="3"/>
          </p:nvPr>
        </p:nvSpPr>
        <p:spPr>
          <a:xfrm>
            <a:off x="3856737" y="9443662"/>
            <a:ext cx="2950475" cy="498851"/>
          </a:xfrm>
          <a:prstGeom prst="rect">
            <a:avLst/>
          </a:prstGeom>
        </p:spPr>
        <p:txBody>
          <a:bodyPr vert="horz" lIns="91440" tIns="45720" rIns="91440" bIns="45720" rtlCol="0" anchor="b"/>
          <a:lstStyle>
            <a:lvl1pPr algn="r">
              <a:defRPr sz="1200"/>
            </a:lvl1pPr>
          </a:lstStyle>
          <a:p>
            <a:fld id="{E0BFF6C7-31BD-4D3D-BCEE-DC34B51051D7}" type="slidenum">
              <a:rPr lang="zh-CN" altLang="en-US" smtClean="0"/>
              <a:t>‹#›</a:t>
            </a:fld>
            <a:endParaRPr lang="zh-CN" altLang="en-US"/>
          </a:p>
        </p:txBody>
      </p:sp>
    </p:spTree>
    <p:extLst>
      <p:ext uri="{BB962C8B-B14F-4D97-AF65-F5344CB8AC3E}">
        <p14:creationId xmlns:p14="http://schemas.microsoft.com/office/powerpoint/2010/main" val="2353501495"/>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50475" cy="49885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6737" y="0"/>
            <a:ext cx="2950475" cy="498852"/>
          </a:xfrm>
          <a:prstGeom prst="rect">
            <a:avLst/>
          </a:prstGeom>
        </p:spPr>
        <p:txBody>
          <a:bodyPr vert="horz" lIns="91440" tIns="45720" rIns="91440" bIns="45720" rtlCol="0"/>
          <a:lstStyle>
            <a:lvl1pPr algn="r">
              <a:defRPr sz="1200"/>
            </a:lvl1pPr>
          </a:lstStyle>
          <a:p>
            <a:fld id="{7DF99E71-46EE-48D6-9941-0F58F3F40838}" type="datetime1">
              <a:rPr lang="zh-CN" altLang="en-US" smtClean="0"/>
              <a:t>2025/10/25</a:t>
            </a:fld>
            <a:endParaRPr lang="zh-CN" altLang="en-US"/>
          </a:p>
        </p:txBody>
      </p:sp>
      <p:sp>
        <p:nvSpPr>
          <p:cNvPr id="4" name="幻灯片图像占位符 3"/>
          <p:cNvSpPr>
            <a:spLocks noGrp="1" noRot="1" noChangeAspect="1"/>
          </p:cNvSpPr>
          <p:nvPr>
            <p:ph type="sldImg" idx="2"/>
          </p:nvPr>
        </p:nvSpPr>
        <p:spPr>
          <a:xfrm>
            <a:off x="422275" y="1243013"/>
            <a:ext cx="5964238" cy="33559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0879" y="4784835"/>
            <a:ext cx="5447030" cy="3914864"/>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9443662"/>
            <a:ext cx="2950475" cy="49885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6737" y="9443662"/>
            <a:ext cx="2950475" cy="498851"/>
          </a:xfrm>
          <a:prstGeom prst="rect">
            <a:avLst/>
          </a:prstGeom>
        </p:spPr>
        <p:txBody>
          <a:bodyPr vert="horz" lIns="91440" tIns="45720" rIns="91440" bIns="45720" rtlCol="0" anchor="b"/>
          <a:lstStyle>
            <a:lvl1pPr algn="r">
              <a:defRPr sz="1200"/>
            </a:lvl1pPr>
          </a:lstStyle>
          <a:p>
            <a:fld id="{6A841D54-D9A7-4772-8AFF-21E7E4731131}" type="slidenum">
              <a:rPr lang="zh-CN" altLang="en-US" smtClean="0"/>
              <a:t>‹#›</a:t>
            </a:fld>
            <a:endParaRPr lang="zh-CN" altLang="en-US"/>
          </a:p>
        </p:txBody>
      </p:sp>
    </p:spTree>
    <p:extLst>
      <p:ext uri="{BB962C8B-B14F-4D97-AF65-F5344CB8AC3E}">
        <p14:creationId xmlns:p14="http://schemas.microsoft.com/office/powerpoint/2010/main" val="4154265586"/>
      </p:ext>
    </p:extLst>
  </p:cSld>
  <p:clrMap bg1="lt1" tx1="dk1" bg2="lt2" tx2="dk2" accent1="accent1" accent2="accent2" accent3="accent3" accent4="accent4" accent5="accent5" accent6="accent6" hlink="hlink" folHlink="folHlink"/>
  <p:hf hd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9A0DB2DC-4C9A-4742-B13C-FB6460FD3503}" type="slidenum">
              <a:rPr kumimoji="0" lang="zh-CN"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zh-CN"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53602" name="幻灯片图像占位符 153601"/>
          <p:cNvSpPr>
            <a:spLocks noGrp="1" noRot="1" noChangeAspect="1" noTextEdit="1"/>
          </p:cNvSpPr>
          <p:nvPr>
            <p:ph type="sldImg"/>
          </p:nvPr>
        </p:nvSpPr>
        <p:spPr/>
      </p:sp>
      <p:sp>
        <p:nvSpPr>
          <p:cNvPr id="153603" name="文本占位符 153602"/>
          <p:cNvSpPr>
            <a:spLocks noGrp="1"/>
          </p:cNvSpPr>
          <p:nvPr>
            <p:ph type="body" idx="1"/>
          </p:nvPr>
        </p:nvSpPr>
        <p:spPr>
          <a:xfrm>
            <a:off x="680879" y="4722694"/>
            <a:ext cx="5447030" cy="4474131"/>
          </a:xfrm>
        </p:spPr>
        <p:txBody>
          <a:bodyPr/>
          <a:lstStyle/>
          <a:p>
            <a:pPr lvl="0"/>
            <a:endParaRPr dirty="0"/>
          </a:p>
        </p:txBody>
      </p:sp>
      <p:sp>
        <p:nvSpPr>
          <p:cNvPr id="3" name="日期占位符 2">
            <a:extLst>
              <a:ext uri="{FF2B5EF4-FFF2-40B4-BE49-F238E27FC236}">
                <a16:creationId xmlns:a16="http://schemas.microsoft.com/office/drawing/2014/main" id="{3166BF0E-53FD-A09B-2AFF-F795C0AD4A38}"/>
              </a:ext>
            </a:extLst>
          </p:cNvPr>
          <p:cNvSpPr>
            <a:spLocks noGrp="1"/>
          </p:cNvSpPr>
          <p:nvPr>
            <p:ph type="dt" idx="1"/>
          </p:nvPr>
        </p:nvSpPr>
        <p:spPr/>
        <p:txBody>
          <a:bodyPr/>
          <a:lstStyle/>
          <a:p>
            <a:fld id="{76B08226-6410-48B3-BE44-273BB435DA7D}" type="datetime1">
              <a:rPr lang="zh-CN" altLang="en-US" smtClean="0"/>
              <a:t>2025/10/25</a:t>
            </a:fld>
            <a:endParaRPr lang="zh-CN" altLang="en-US"/>
          </a:p>
        </p:txBody>
      </p:sp>
      <p:sp>
        <p:nvSpPr>
          <p:cNvPr id="4" name="页脚占位符 3">
            <a:extLst>
              <a:ext uri="{FF2B5EF4-FFF2-40B4-BE49-F238E27FC236}">
                <a16:creationId xmlns:a16="http://schemas.microsoft.com/office/drawing/2014/main" id="{29F69D50-3C39-0D3A-B8A1-116DE47ED38A}"/>
              </a:ext>
            </a:extLst>
          </p:cNvPr>
          <p:cNvSpPr>
            <a:spLocks noGrp="1"/>
          </p:cNvSpPr>
          <p:nvPr>
            <p:ph type="ftr" sz="quarter" idx="4"/>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1</a:t>
            </a:r>
            <a:r>
              <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假设有这样一个五叉路口，其中</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E</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和</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C</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是两条单行道，另外三条是双向可行的道路，这样就构成了</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13</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条可通行的路线。</a:t>
            </a:r>
          </a:p>
          <a:p>
            <a:pPr algn="just"/>
            <a:r>
              <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2</a:t>
            </a:r>
            <a:r>
              <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显然这</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13</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条路线中，凡是相互交叉的都不能同时通行，例如，从</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E</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走向</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B</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和从</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A</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走向</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D</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是冲突的，还有从</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A</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走向</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C</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和</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B</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走向</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D</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也是冲突的，其他还可以列出很多。</a:t>
            </a:r>
            <a:endPar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r>
              <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3</a:t>
            </a:r>
            <a:r>
              <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但也有可以同时通行的，例如，从</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A</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走向</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B</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和从</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E</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走向</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C</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a:t>
            </a:r>
            <a:endPar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r>
              <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4</a:t>
            </a:r>
            <a:r>
              <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这就需要将这</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13</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条通路分成若干组，其中每一组都是可以同时通行且互不冲突。</a:t>
            </a:r>
          </a:p>
          <a:p>
            <a:pPr algn="just"/>
            <a:r>
              <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5</a:t>
            </a:r>
            <a:r>
              <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可设想在路口中间架设一个可进行多色变换的指示灯，以不同的颜色指引各组道路的通行，</a:t>
            </a:r>
            <a:endPar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r>
              <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6)</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显然理想的情况是希望能达到最大的通行容量，换句话说，希望交通灯颜色的变化尽可能少。这个问题可转化为“图的顶点的着色问题”。</a:t>
            </a:r>
          </a:p>
          <a:p>
            <a:pPr algn="just"/>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首先我们来看如何用图来描述这个问题？</a:t>
            </a:r>
            <a:endPar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用</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13</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个顶点表示这</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13</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条可以通行的</a:t>
            </a:r>
            <a:r>
              <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rPr>
              <a:t>线</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路，并且在每两个相互冲突的道路</a:t>
            </a:r>
            <a:r>
              <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rPr>
              <a:t>顶</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点之间画一条连线，</a:t>
            </a:r>
            <a:endPar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例如图中</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AD</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和</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EC</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之间的连线，</a:t>
            </a:r>
          </a:p>
          <a:p>
            <a:pPr algn="just"/>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AD</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和</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EA</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之间的连线，</a:t>
            </a:r>
          </a:p>
          <a:p>
            <a:pPr algn="just"/>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还有</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EA</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和</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AB</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之间的连线以及其他各条连线，均表示这些都是相互交叉的线路，</a:t>
            </a:r>
          </a:p>
          <a:p>
            <a:pPr algn="just"/>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图中的从</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D</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到</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C</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，还有从</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E</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到</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D</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以及从</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B</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到</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A</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这三条都是右转弯的通路，显然不会和任何通路冲突，所以它们和图中其他任何节点之间都不会有连线。</a:t>
            </a:r>
          </a:p>
          <a:p>
            <a:pPr algn="just"/>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现在要给图的每个</a:t>
            </a:r>
            <a:r>
              <a:rPr lang="zh-CN" altLang="zh-CN" sz="1800" kern="1200" dirty="0">
                <a:solidFill>
                  <a:srgbClr val="000000"/>
                </a:solidFill>
                <a:effectLst/>
                <a:latin typeface="Calibri" panose="020F0502020204030204" pitchFamily="34" charset="0"/>
                <a:ea typeface="等线" panose="02010600030101010101" pitchFamily="2" charset="-122"/>
                <a:cs typeface="+mn-cs"/>
              </a:rPr>
              <a:t>顶点都染上色：每个顶点染 </a:t>
            </a:r>
            <a:r>
              <a:rPr lang="en-US" altLang="zh-CN" sz="1800" kern="1200" dirty="0">
                <a:solidFill>
                  <a:srgbClr val="000000"/>
                </a:solidFill>
                <a:effectLst/>
                <a:latin typeface="Calibri" panose="020F0502020204030204" pitchFamily="34" charset="0"/>
                <a:ea typeface="等线" panose="02010600030101010101" pitchFamily="2" charset="-122"/>
                <a:cs typeface="+mn-cs"/>
              </a:rPr>
              <a:t>1 </a:t>
            </a:r>
            <a:r>
              <a:rPr lang="zh-CN" altLang="zh-CN" sz="1800" kern="1200" dirty="0">
                <a:solidFill>
                  <a:srgbClr val="000000"/>
                </a:solidFill>
                <a:effectLst/>
                <a:latin typeface="Calibri" panose="020F0502020204030204" pitchFamily="34" charset="0"/>
                <a:ea typeface="等线" panose="02010600030101010101" pitchFamily="2" charset="-122"/>
                <a:cs typeface="+mn-cs"/>
              </a:rPr>
              <a:t>种颜色；它表示在这种颜色的灯亮时能通行，</a:t>
            </a:r>
            <a:endParaRPr lang="en-US" altLang="zh-CN" sz="1800" kern="1200" dirty="0">
              <a:solidFill>
                <a:srgbClr val="000000"/>
              </a:solidFill>
              <a:effectLst/>
              <a:latin typeface="Calibri" panose="020F0502020204030204" pitchFamily="34" charset="0"/>
              <a:ea typeface="等线" panose="02010600030101010101" pitchFamily="2" charset="-122"/>
              <a:cs typeface="+mn-cs"/>
            </a:endParaRPr>
          </a:p>
          <a:p>
            <a:pPr algn="just"/>
            <a:r>
              <a:rPr lang="zh-CN" altLang="zh-CN" sz="1800" kern="1200" dirty="0">
                <a:solidFill>
                  <a:srgbClr val="000000"/>
                </a:solidFill>
                <a:effectLst/>
                <a:latin typeface="Calibri" panose="020F0502020204030204" pitchFamily="34" charset="0"/>
                <a:ea typeface="等线" panose="02010600030101010101" pitchFamily="2" charset="-122"/>
                <a:cs typeface="+mn-cs"/>
              </a:rPr>
              <a:t>那显然有线相连的两个顶点不能有相同的颜色；</a:t>
            </a:r>
            <a:endParaRPr lang="en-US" altLang="zh-CN" sz="1800" kern="1200" dirty="0">
              <a:solidFill>
                <a:srgbClr val="000000"/>
              </a:solidFill>
              <a:effectLst/>
              <a:latin typeface="Calibri" panose="020F0502020204030204" pitchFamily="34" charset="0"/>
              <a:ea typeface="等线" panose="02010600030101010101" pitchFamily="2" charset="-122"/>
              <a:cs typeface="+mn-cs"/>
            </a:endParaRPr>
          </a:p>
          <a:p>
            <a:pPr algn="just"/>
            <a:r>
              <a:rPr lang="zh-CN" altLang="zh-CN" sz="1800" kern="1200" dirty="0">
                <a:solidFill>
                  <a:srgbClr val="000000"/>
                </a:solidFill>
                <a:effectLst/>
                <a:latin typeface="Calibri" panose="020F0502020204030204" pitchFamily="34" charset="0"/>
                <a:ea typeface="等线" panose="02010600030101010101" pitchFamily="2" charset="-122"/>
                <a:cs typeface="+mn-cs"/>
              </a:rPr>
              <a:t>同时为了能实现尽可能大的交通流量，那就需要考虑尽可能用最少量的颜色。</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例如，图示的这个例子可以用一个四色的交通灯解决问题，三条右转弯的</a:t>
            </a:r>
            <a:r>
              <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rPr>
              <a:t>线路同行不受限，无须着色，或者说是任何灯色都可行。</a:t>
            </a:r>
            <a:endPar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第一组是这样的</a:t>
            </a:r>
            <a:r>
              <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rPr>
              <a:t>三</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条</a:t>
            </a:r>
            <a:r>
              <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rPr>
              <a:t>线</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路，就是从</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A</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分别走向</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B</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C</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，和</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D</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的三条通路，</a:t>
            </a:r>
            <a:endPar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第二组是从</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B</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到</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C</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和从</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B</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到</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D</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以及从</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E</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到</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A</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的三条通路，</a:t>
            </a:r>
            <a:endPar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剩下的四条通路可由另两种颜色控制。</a:t>
            </a:r>
          </a:p>
          <a:p>
            <a:r>
              <a:rPr lang="zh-CN" altLang="zh-CN" sz="1800" kern="1200" dirty="0">
                <a:solidFill>
                  <a:srgbClr val="000000"/>
                </a:solidFill>
                <a:effectLst/>
                <a:latin typeface="宋体" panose="02010600030101010101" pitchFamily="2" charset="-122"/>
                <a:ea typeface="等线" panose="02010600030101010101" pitchFamily="2" charset="-122"/>
                <a:cs typeface="+mn-cs"/>
              </a:rPr>
              <a:t>这种手工示范的顶点染色并不能保证求得最优解。</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r>
              <a:rPr lang="zh-CN" altLang="zh-CN" sz="1800" kern="1200" dirty="0">
                <a:solidFill>
                  <a:srgbClr val="000000"/>
                </a:solidFill>
                <a:effectLst/>
                <a:latin typeface="宋体" panose="02010600030101010101" pitchFamily="2" charset="-122"/>
                <a:ea typeface="等线" panose="02010600030101010101" pitchFamily="2" charset="-122"/>
                <a:cs typeface="+mn-cs"/>
              </a:rPr>
              <a:t>图着色问题曾经是长久未解的世界难题。直到</a:t>
            </a:r>
            <a:r>
              <a:rPr lang="en-US" altLang="zh-CN" sz="1800" kern="1200" dirty="0">
                <a:solidFill>
                  <a:srgbClr val="000000"/>
                </a:solidFill>
                <a:effectLst/>
                <a:latin typeface="宋体" panose="02010600030101010101" pitchFamily="2" charset="-122"/>
                <a:ea typeface="等线" panose="02010600030101010101" pitchFamily="2" charset="-122"/>
                <a:cs typeface="+mn-cs"/>
              </a:rPr>
              <a:t>2007</a:t>
            </a:r>
            <a:r>
              <a:rPr lang="zh-CN" altLang="zh-CN" sz="1800" kern="1200" dirty="0">
                <a:solidFill>
                  <a:srgbClr val="000000"/>
                </a:solidFill>
                <a:effectLst/>
                <a:latin typeface="宋体" panose="02010600030101010101" pitchFamily="2" charset="-122"/>
                <a:ea typeface="等线" panose="02010600030101010101" pitchFamily="2" charset="-122"/>
                <a:cs typeface="+mn-cs"/>
              </a:rPr>
              <a:t>年才被解决。</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r>
              <a:rPr lang="zh-CN" altLang="zh-CN" sz="1800" kern="1200" dirty="0">
                <a:solidFill>
                  <a:srgbClr val="000000"/>
                </a:solidFill>
                <a:effectLst/>
                <a:latin typeface="宋体" panose="02010600030101010101" pitchFamily="2" charset="-122"/>
                <a:ea typeface="等线" panose="02010600030101010101" pitchFamily="2" charset="-122"/>
                <a:cs typeface="+mn-cs"/>
              </a:rPr>
              <a:t>当然，这种交通灯设置方法，需要司机记住线路与灯色的对应关系，不是我们今天普遍采用的方法。但是，在即将到来的全面智能驾驶的时代，可能是一种可行方案。</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pPr algn="just"/>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在现实世界中图和网的应用极为广泛。</a:t>
            </a:r>
          </a:p>
          <a:p>
            <a:r>
              <a:rPr lang="zh-CN" altLang="en-US" dirty="0"/>
              <a:t>请看，</a:t>
            </a:r>
            <a:r>
              <a:rPr lang="en-US" altLang="zh-CN" dirty="0"/>
              <a:t>1</a:t>
            </a:r>
            <a:r>
              <a:rPr lang="zh-CN" altLang="en-US" dirty="0"/>
              <a:t>号颜色灯亮时，有</a:t>
            </a:r>
            <a:r>
              <a:rPr lang="en-US" altLang="zh-CN" dirty="0"/>
              <a:t>6</a:t>
            </a:r>
            <a:r>
              <a:rPr lang="zh-CN" altLang="en-US" dirty="0"/>
              <a:t>条线路可同时通行。</a:t>
            </a:r>
            <a:endParaRPr lang="en-US" altLang="zh-CN" dirty="0"/>
          </a:p>
          <a:p>
            <a:r>
              <a:rPr lang="zh-CN" altLang="en-US" dirty="0"/>
              <a:t>而</a:t>
            </a:r>
            <a:r>
              <a:rPr lang="en-US" altLang="zh-CN" dirty="0"/>
              <a:t>2</a:t>
            </a:r>
            <a:r>
              <a:rPr lang="zh-CN" altLang="en-US" dirty="0"/>
              <a:t>号颜色灯亮时、有</a:t>
            </a:r>
            <a:r>
              <a:rPr lang="en-US" altLang="zh-CN" dirty="0"/>
              <a:t>3</a:t>
            </a:r>
            <a:r>
              <a:rPr lang="zh-CN" altLang="en-US" dirty="0"/>
              <a:t>条线路可同时通行。</a:t>
            </a:r>
            <a:endParaRPr lang="en-US" altLang="zh-CN" dirty="0"/>
          </a:p>
          <a:p>
            <a:r>
              <a:rPr lang="zh-CN" altLang="en-US" dirty="0"/>
              <a:t>当</a:t>
            </a:r>
            <a:r>
              <a:rPr lang="en-US" altLang="zh-CN" dirty="0"/>
              <a:t>3</a:t>
            </a:r>
            <a:r>
              <a:rPr lang="zh-CN" altLang="en-US" dirty="0"/>
              <a:t>或者</a:t>
            </a:r>
            <a:r>
              <a:rPr lang="en-US" altLang="zh-CN" dirty="0"/>
              <a:t>4</a:t>
            </a:r>
            <a:r>
              <a:rPr lang="zh-CN" altLang="en-US" dirty="0"/>
              <a:t>号颜色灯亮时，则各只有</a:t>
            </a:r>
            <a:r>
              <a:rPr lang="en-US" altLang="zh-CN" dirty="0"/>
              <a:t>2</a:t>
            </a:r>
            <a:r>
              <a:rPr lang="zh-CN" altLang="en-US" dirty="0"/>
              <a:t>条线路可同时通行。</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C0AAA86-17AD-4CD6-A2E2-431C33793172}"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 name="日期占位符 4">
            <a:extLst>
              <a:ext uri="{FF2B5EF4-FFF2-40B4-BE49-F238E27FC236}">
                <a16:creationId xmlns:a16="http://schemas.microsoft.com/office/drawing/2014/main" id="{3A0A32C2-DB61-A642-D96D-F3F4971E648B}"/>
              </a:ext>
            </a:extLst>
          </p:cNvPr>
          <p:cNvSpPr>
            <a:spLocks noGrp="1"/>
          </p:cNvSpPr>
          <p:nvPr>
            <p:ph type="dt" idx="1"/>
          </p:nvPr>
        </p:nvSpPr>
        <p:spPr/>
        <p:txBody>
          <a:bodyPr/>
          <a:lstStyle/>
          <a:p>
            <a:fld id="{F21302C4-68ED-40A5-8208-71C53D91B53C}" type="datetime1">
              <a:rPr lang="zh-CN" altLang="en-US" smtClean="0"/>
              <a:t>2025/10/25</a:t>
            </a:fld>
            <a:endParaRPr lang="zh-CN" altLang="en-US"/>
          </a:p>
        </p:txBody>
      </p:sp>
      <p:sp>
        <p:nvSpPr>
          <p:cNvPr id="6" name="页脚占位符 5">
            <a:extLst>
              <a:ext uri="{FF2B5EF4-FFF2-40B4-BE49-F238E27FC236}">
                <a16:creationId xmlns:a16="http://schemas.microsoft.com/office/drawing/2014/main" id="{BDA33B19-90B0-9887-B2C3-17419A8100C1}"/>
              </a:ext>
            </a:extLst>
          </p:cNvPr>
          <p:cNvSpPr>
            <a:spLocks noGrp="1"/>
          </p:cNvSpPr>
          <p:nvPr>
            <p:ph type="ftr" sz="quarter" idx="4"/>
          </p:nvPr>
        </p:nvSpPr>
        <p:spPr/>
        <p:txBody>
          <a:bodyPr/>
          <a:lstStyle/>
          <a:p>
            <a:endParaRPr lang="zh-CN" altLang="en-US"/>
          </a:p>
        </p:txBody>
      </p:sp>
    </p:spTree>
    <p:extLst>
      <p:ext uri="{BB962C8B-B14F-4D97-AF65-F5344CB8AC3E}">
        <p14:creationId xmlns:p14="http://schemas.microsoft.com/office/powerpoint/2010/main" val="5342425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a:t>
            </a:r>
            <a:r>
              <a:rPr lang="en-US" altLang="zh-CN" dirty="0"/>
              <a:t>1</a:t>
            </a:r>
            <a:r>
              <a:rPr lang="zh-CN" altLang="en-US" dirty="0"/>
              <a:t>）程序员能自由分配和使用的内存区域是堆。申请分配堆中内存块的库函数有：</a:t>
            </a:r>
            <a:r>
              <a:rPr lang="en-US" altLang="zh-CN" dirty="0"/>
              <a:t>malloc</a:t>
            </a:r>
            <a:r>
              <a:rPr lang="zh-CN" altLang="en-US" dirty="0"/>
              <a:t>和</a:t>
            </a:r>
            <a:r>
              <a:rPr lang="en-US" altLang="zh-CN" dirty="0" err="1"/>
              <a:t>calloc</a:t>
            </a:r>
            <a:endParaRPr lang="en-US" altLang="zh-CN" dirty="0"/>
          </a:p>
          <a:p>
            <a:r>
              <a:rPr lang="zh-CN" altLang="en-US" dirty="0"/>
              <a:t>（</a:t>
            </a:r>
            <a:r>
              <a:rPr lang="en-US" altLang="zh-CN" dirty="0"/>
              <a:t>2</a:t>
            </a:r>
            <a:r>
              <a:rPr lang="zh-CN" altLang="en-US" dirty="0"/>
              <a:t>）参数</a:t>
            </a:r>
            <a:r>
              <a:rPr lang="en-US" altLang="zh-CN" dirty="0"/>
              <a:t>size</a:t>
            </a:r>
            <a:r>
              <a:rPr lang="zh-CN" altLang="en-US" dirty="0"/>
              <a:t>的实参一般用</a:t>
            </a:r>
            <a:r>
              <a:rPr lang="en-US" altLang="zh-CN" dirty="0" err="1"/>
              <a:t>sizeof</a:t>
            </a:r>
            <a:r>
              <a:rPr lang="en-US" altLang="zh-CN" dirty="0"/>
              <a:t>()</a:t>
            </a:r>
            <a:r>
              <a:rPr lang="zh-CN" altLang="en-US" dirty="0"/>
              <a:t>求得，</a:t>
            </a:r>
          </a:p>
          <a:p>
            <a:r>
              <a:rPr lang="zh-CN" altLang="en-US" dirty="0"/>
              <a:t>（</a:t>
            </a:r>
            <a:r>
              <a:rPr lang="en-US" altLang="zh-CN" dirty="0"/>
              <a:t>3</a:t>
            </a:r>
            <a:r>
              <a:rPr lang="zh-CN" altLang="en-US" dirty="0"/>
              <a:t>）两个函数功能相近，函数值是指向分配所得的一块地址连续的内存块的起始地址（也称基址）的指针，若为空指针，则是申请失败。</a:t>
            </a:r>
          </a:p>
          <a:p>
            <a:r>
              <a:rPr lang="zh-CN" altLang="en-US" dirty="0"/>
              <a:t>（</a:t>
            </a:r>
            <a:r>
              <a:rPr lang="en-US" altLang="zh-CN" dirty="0"/>
              <a:t>4</a:t>
            </a:r>
            <a:r>
              <a:rPr lang="zh-CN" altLang="en-US" dirty="0"/>
              <a:t>）</a:t>
            </a:r>
            <a:r>
              <a:rPr lang="en-US" altLang="zh-CN" dirty="0" err="1"/>
              <a:t>calloc</a:t>
            </a:r>
            <a:r>
              <a:rPr lang="zh-CN" altLang="en-US" dirty="0"/>
              <a:t>比</a:t>
            </a:r>
            <a:r>
              <a:rPr lang="en-US" altLang="zh-CN" dirty="0"/>
              <a:t>malloc</a:t>
            </a:r>
            <a:r>
              <a:rPr lang="zh-CN" altLang="en-US" dirty="0"/>
              <a:t>多一项功能，自动对所得的内存块按位清</a:t>
            </a:r>
            <a:r>
              <a:rPr lang="en-US" altLang="zh-CN" dirty="0"/>
              <a:t>0</a:t>
            </a:r>
            <a:r>
              <a:rPr lang="zh-CN" altLang="en-US" dirty="0"/>
              <a:t>，使其是一块“干净”的内存块。</a:t>
            </a:r>
            <a:endParaRPr lang="en-US" altLang="zh-CN" dirty="0"/>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5</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）例</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申请为整数、字符和结构分配存储空间</a:t>
            </a: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6</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）假设这三个指针变量是函数的局部变量，它们的存储单元在栈区的函数内存块内，</a:t>
            </a:r>
          </a:p>
          <a:p>
            <a:r>
              <a:rPr lang="zh-CN" altLang="en-US" dirty="0"/>
              <a:t>（</a:t>
            </a:r>
            <a:r>
              <a:rPr lang="en-US" altLang="zh-CN" dirty="0"/>
              <a:t>7</a:t>
            </a:r>
            <a:r>
              <a:rPr lang="zh-CN" altLang="en-US" dirty="0"/>
              <a:t>）三个语句依次为这三个指针申请分配堆中的存储空间。</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E7D502-EF43-437F-8737-10E5A342D707}"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 name="日期占位符 4">
            <a:extLst>
              <a:ext uri="{FF2B5EF4-FFF2-40B4-BE49-F238E27FC236}">
                <a16:creationId xmlns:a16="http://schemas.microsoft.com/office/drawing/2014/main" id="{79848F12-ABD9-D276-E12C-99EEDF5566F1}"/>
              </a:ext>
            </a:extLst>
          </p:cNvPr>
          <p:cNvSpPr>
            <a:spLocks noGrp="1"/>
          </p:cNvSpPr>
          <p:nvPr>
            <p:ph type="dt" idx="1"/>
          </p:nvPr>
        </p:nvSpPr>
        <p:spPr/>
        <p:txBody>
          <a:bodyPr/>
          <a:lstStyle/>
          <a:p>
            <a:fld id="{1CEAA66F-7447-46D8-B119-ABFD4FD2760B}" type="datetime1">
              <a:rPr lang="zh-CN" altLang="en-US" smtClean="0"/>
              <a:t>2025/10/25</a:t>
            </a:fld>
            <a:endParaRPr lang="zh-CN" altLang="en-US"/>
          </a:p>
        </p:txBody>
      </p:sp>
      <p:sp>
        <p:nvSpPr>
          <p:cNvPr id="6" name="页脚占位符 5">
            <a:extLst>
              <a:ext uri="{FF2B5EF4-FFF2-40B4-BE49-F238E27FC236}">
                <a16:creationId xmlns:a16="http://schemas.microsoft.com/office/drawing/2014/main" id="{279A2563-5719-4381-E77E-A1C8B12679A6}"/>
              </a:ext>
            </a:extLst>
          </p:cNvPr>
          <p:cNvSpPr>
            <a:spLocks noGrp="1"/>
          </p:cNvSpPr>
          <p:nvPr>
            <p:ph type="ftr" sz="quarter" idx="4"/>
          </p:nvPr>
        </p:nvSpPr>
        <p:spPr/>
        <p:txBody>
          <a:bodyPr/>
          <a:lstStyle/>
          <a:p>
            <a:endParaRPr lang="zh-CN" altLang="en-US"/>
          </a:p>
        </p:txBody>
      </p:sp>
    </p:spTree>
    <p:extLst>
      <p:ext uri="{BB962C8B-B14F-4D97-AF65-F5344CB8AC3E}">
        <p14:creationId xmlns:p14="http://schemas.microsoft.com/office/powerpoint/2010/main" val="11519986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a:t>
            </a:r>
            <a:r>
              <a:rPr lang="en-US" altLang="zh-CN" dirty="0"/>
              <a:t>1</a:t>
            </a:r>
            <a:r>
              <a:rPr lang="zh-CN" altLang="en-US" dirty="0"/>
              <a:t>）再看例</a:t>
            </a:r>
            <a:r>
              <a:rPr lang="en-US" altLang="zh-CN" dirty="0"/>
              <a:t>2</a:t>
            </a:r>
            <a:r>
              <a:rPr lang="zh-CN" altLang="en-US" dirty="0"/>
              <a:t>，用引用参数返回在函数内动态分配的存储空间。</a:t>
            </a:r>
            <a:endParaRPr lang="en-US" altLang="zh-CN" dirty="0"/>
          </a:p>
          <a:p>
            <a:r>
              <a:rPr lang="zh-CN" altLang="en-US" dirty="0"/>
              <a:t>（</a:t>
            </a:r>
            <a:r>
              <a:rPr lang="en-US" altLang="zh-CN" dirty="0"/>
              <a:t>2</a:t>
            </a:r>
            <a:r>
              <a:rPr lang="zh-CN" altLang="en-US" dirty="0"/>
              <a:t>）现在我们把例</a:t>
            </a:r>
            <a:r>
              <a:rPr lang="en-US" altLang="zh-CN" dirty="0"/>
              <a:t>1</a:t>
            </a:r>
            <a:r>
              <a:rPr lang="zh-CN" altLang="en-US" dirty="0"/>
              <a:t>出现的三个指针变量分别声明为全局变量和主函数的局部变量，</a:t>
            </a:r>
            <a:endParaRPr lang="en-US" altLang="zh-CN" dirty="0"/>
          </a:p>
          <a:p>
            <a:r>
              <a:rPr lang="zh-CN" altLang="en-US" dirty="0"/>
              <a:t>（</a:t>
            </a:r>
            <a:r>
              <a:rPr lang="en-US" altLang="zh-CN" dirty="0"/>
              <a:t>3</a:t>
            </a:r>
            <a:r>
              <a:rPr lang="zh-CN" altLang="en-US" dirty="0"/>
              <a:t>）定义了</a:t>
            </a:r>
            <a:r>
              <a:rPr lang="en-US" altLang="zh-CN" dirty="0"/>
              <a:t>f</a:t>
            </a:r>
            <a:r>
              <a:rPr lang="zh-CN" altLang="en-US" dirty="0"/>
              <a:t>函数，为这三个指针申请分配存储空间，其中，直接为全局变量分配空间，主函数的两个指针变量则通过引用形参为它们分配空间。</a:t>
            </a:r>
            <a:endParaRPr lang="en-US" altLang="zh-CN" dirty="0"/>
          </a:p>
          <a:p>
            <a:r>
              <a:rPr lang="zh-CN" altLang="en-US" dirty="0"/>
              <a:t>（</a:t>
            </a:r>
            <a:r>
              <a:rPr lang="en-US" altLang="zh-CN" dirty="0"/>
              <a:t>4</a:t>
            </a:r>
            <a:r>
              <a:rPr lang="zh-CN" altLang="en-US" dirty="0"/>
              <a:t>）如果堆中没有足够的空间，分配就失败，返回空指针。因此，在程序中，一般都要检测分配是否成功。</a:t>
            </a:r>
            <a:endParaRPr lang="en-US" altLang="zh-CN" dirty="0"/>
          </a:p>
          <a:p>
            <a:r>
              <a:rPr lang="zh-CN" altLang="en-US" dirty="0"/>
              <a:t>（</a:t>
            </a:r>
            <a:r>
              <a:rPr lang="en-US" altLang="zh-CN" dirty="0"/>
              <a:t>5</a:t>
            </a:r>
            <a:r>
              <a:rPr lang="zh-CN" altLang="en-US" dirty="0"/>
              <a:t>）全局变量的存储单元在全局变量区，所有函数都可访问，现在给刚分配在堆中的单元赋值了</a:t>
            </a:r>
            <a:r>
              <a:rPr lang="en-US" altLang="zh-CN" dirty="0"/>
              <a:t>69</a:t>
            </a:r>
            <a:r>
              <a:rPr lang="zh-CN" altLang="en-US" dirty="0"/>
              <a:t>。</a:t>
            </a:r>
            <a:endParaRPr lang="en-US" altLang="zh-CN" dirty="0"/>
          </a:p>
          <a:p>
            <a:r>
              <a:rPr lang="zh-CN" altLang="en-US" dirty="0"/>
              <a:t>（</a:t>
            </a:r>
            <a:r>
              <a:rPr lang="en-US" altLang="zh-CN" dirty="0"/>
              <a:t>6</a:t>
            </a:r>
            <a:r>
              <a:rPr lang="zh-CN" altLang="en-US" dirty="0"/>
              <a:t>）大家要重点观察另两个局部指针变量是如何传递地址给引用形参和获得在堆中分配的存储空间的。</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100" dirty="0">
                <a:solidFill>
                  <a:srgbClr val="C00000"/>
                </a:solidFill>
                <a:latin typeface="Courier New" panose="02070309020205020404" pitchFamily="49" charset="0"/>
                <a:ea typeface="宋体" panose="02010600030101010101" pitchFamily="2" charset="-122"/>
                <a:cs typeface="Courier New" panose="02070309020205020404" pitchFamily="49" charset="0"/>
              </a:rPr>
              <a:t>（</a:t>
            </a:r>
            <a:r>
              <a:rPr lang="en-US" altLang="zh-CN" sz="1200" b="0" kern="100" dirty="0">
                <a:solidFill>
                  <a:srgbClr val="C00000"/>
                </a:solidFill>
                <a:latin typeface="Courier New" panose="02070309020205020404" pitchFamily="49" charset="0"/>
                <a:ea typeface="宋体" panose="02010600030101010101" pitchFamily="2" charset="-122"/>
                <a:cs typeface="Courier New" panose="02070309020205020404" pitchFamily="49" charset="0"/>
              </a:rPr>
              <a:t>7</a:t>
            </a:r>
            <a:r>
              <a:rPr lang="zh-CN" altLang="en-US" sz="1200" b="0" kern="100" dirty="0">
                <a:solidFill>
                  <a:srgbClr val="C00000"/>
                </a:solidFill>
                <a:latin typeface="Courier New" panose="02070309020205020404" pitchFamily="49" charset="0"/>
                <a:ea typeface="宋体" panose="02010600030101010101" pitchFamily="2" charset="-122"/>
                <a:cs typeface="Courier New" panose="02070309020205020404" pitchFamily="49" charset="0"/>
              </a:rPr>
              <a:t>）当分配的内存块不再使用时，可用库函数</a:t>
            </a:r>
            <a:r>
              <a:rPr lang="en-US" altLang="zh-CN" sz="1200" b="0" kern="100" dirty="0">
                <a:solidFill>
                  <a:srgbClr val="C00000"/>
                </a:solidFill>
                <a:latin typeface="Courier New" panose="02070309020205020404" pitchFamily="49" charset="0"/>
                <a:ea typeface="宋体" panose="02010600030101010101" pitchFamily="2" charset="-122"/>
                <a:cs typeface="Courier New" panose="02070309020205020404" pitchFamily="49" charset="0"/>
              </a:rPr>
              <a:t>free</a:t>
            </a:r>
            <a:r>
              <a:rPr lang="zh-CN" altLang="en-US" sz="1200" b="0" kern="100" dirty="0">
                <a:solidFill>
                  <a:srgbClr val="C00000"/>
                </a:solidFill>
                <a:latin typeface="Courier New" panose="02070309020205020404" pitchFamily="49" charset="0"/>
                <a:ea typeface="宋体" panose="02010600030101010101" pitchFamily="2" charset="-122"/>
                <a:cs typeface="Courier New" panose="02070309020205020404" pitchFamily="49" charset="0"/>
              </a:rPr>
              <a:t>释放。释放后的存储空间可被另行分配，要注意的是，原来的指针仍指向这块空间，但不应再通过该指针做访问操作。</a:t>
            </a:r>
            <a:endParaRPr lang="en-US" altLang="zh-CN" sz="1200" b="0" kern="100" dirty="0">
              <a:solidFill>
                <a:srgbClr val="C00000"/>
              </a:solidFill>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a:t>
            </a:r>
            <a:r>
              <a:rPr lang="en-US" altLang="zh-CN" dirty="0"/>
              <a:t>8</a:t>
            </a:r>
            <a:r>
              <a:rPr lang="zh-CN" altLang="en-US" dirty="0"/>
              <a:t>）小结一下：教材中各种存储结构的元素存储空间基本采用在堆的动态分配。在函数中构建的存储结构，要用引用形参返回。</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a:t>
            </a:r>
            <a:r>
              <a:rPr lang="en-US" altLang="zh-CN" dirty="0"/>
              <a:t>9</a:t>
            </a:r>
            <a:r>
              <a:rPr lang="zh-CN" altLang="en-US" dirty="0"/>
              <a:t>）</a:t>
            </a:r>
            <a:r>
              <a:rPr lang="zh-CN" altLang="en-US" b="0" dirty="0"/>
              <a:t>不再使用的存储空间要主动及时释放，以便重新分配利用。</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E7D502-EF43-437F-8737-10E5A342D707}"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 name="日期占位符 4">
            <a:extLst>
              <a:ext uri="{FF2B5EF4-FFF2-40B4-BE49-F238E27FC236}">
                <a16:creationId xmlns:a16="http://schemas.microsoft.com/office/drawing/2014/main" id="{0319B80E-620B-DE18-C97B-EBF498CABD79}"/>
              </a:ext>
            </a:extLst>
          </p:cNvPr>
          <p:cNvSpPr>
            <a:spLocks noGrp="1"/>
          </p:cNvSpPr>
          <p:nvPr>
            <p:ph type="dt" idx="1"/>
          </p:nvPr>
        </p:nvSpPr>
        <p:spPr/>
        <p:txBody>
          <a:bodyPr/>
          <a:lstStyle/>
          <a:p>
            <a:fld id="{EEE69434-49EA-47A2-8A8C-C7D0D41D4201}" type="datetime1">
              <a:rPr lang="zh-CN" altLang="en-US" smtClean="0"/>
              <a:t>2025/10/25</a:t>
            </a:fld>
            <a:endParaRPr lang="zh-CN" altLang="en-US"/>
          </a:p>
        </p:txBody>
      </p:sp>
      <p:sp>
        <p:nvSpPr>
          <p:cNvPr id="6" name="页脚占位符 5">
            <a:extLst>
              <a:ext uri="{FF2B5EF4-FFF2-40B4-BE49-F238E27FC236}">
                <a16:creationId xmlns:a16="http://schemas.microsoft.com/office/drawing/2014/main" id="{11BF5952-FEAA-81BE-0B2F-72FDEE0B0794}"/>
              </a:ext>
            </a:extLst>
          </p:cNvPr>
          <p:cNvSpPr>
            <a:spLocks noGrp="1"/>
          </p:cNvSpPr>
          <p:nvPr>
            <p:ph type="ftr" sz="quarter" idx="4"/>
          </p:nvPr>
        </p:nvSpPr>
        <p:spPr/>
        <p:txBody>
          <a:bodyPr/>
          <a:lstStyle/>
          <a:p>
            <a:endParaRPr lang="zh-CN" altLang="en-US"/>
          </a:p>
        </p:txBody>
      </p:sp>
    </p:spTree>
    <p:extLst>
      <p:ext uri="{BB962C8B-B14F-4D97-AF65-F5344CB8AC3E}">
        <p14:creationId xmlns:p14="http://schemas.microsoft.com/office/powerpoint/2010/main" val="25338158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a:t>
            </a:r>
            <a:r>
              <a:rPr lang="en-US" altLang="zh-CN" dirty="0"/>
              <a:t>1</a:t>
            </a:r>
            <a:r>
              <a:rPr lang="zh-CN" altLang="en-US" dirty="0"/>
              <a:t>）当分配的内存块的太小或太大时，可用库函数</a:t>
            </a:r>
            <a:r>
              <a:rPr lang="en-US" altLang="zh-CN" dirty="0" err="1"/>
              <a:t>realloc</a:t>
            </a:r>
            <a:r>
              <a:rPr lang="zh-CN" altLang="en-US" dirty="0"/>
              <a:t>申请改变已分配的内存块的大小：</a:t>
            </a:r>
          </a:p>
          <a:p>
            <a:r>
              <a:rPr lang="zh-CN" altLang="en-US" dirty="0"/>
              <a:t>（</a:t>
            </a:r>
            <a:r>
              <a:rPr lang="en-US" altLang="zh-CN" dirty="0"/>
              <a:t>2</a:t>
            </a:r>
            <a:r>
              <a:rPr lang="zh-CN" altLang="en-US" dirty="0"/>
              <a:t>）参数</a:t>
            </a:r>
            <a:r>
              <a:rPr lang="en-US" altLang="zh-CN" dirty="0"/>
              <a:t>p</a:t>
            </a:r>
            <a:r>
              <a:rPr lang="zh-CN" altLang="en-US" dirty="0"/>
              <a:t>是指向现有内存块的指针，函数返回指向改变大小后的内存块的指针，不一定与</a:t>
            </a:r>
            <a:r>
              <a:rPr lang="en-US" altLang="zh-CN" dirty="0"/>
              <a:t>p</a:t>
            </a:r>
            <a:r>
              <a:rPr lang="zh-CN" altLang="en-US" dirty="0"/>
              <a:t>相同。原内存块的内容迁移到改变后的内存块，若内存块是改小的，则有部分内容被截去。</a:t>
            </a:r>
            <a:endParaRPr lang="en-US" altLang="zh-CN" dirty="0"/>
          </a:p>
          <a:p>
            <a:r>
              <a:rPr lang="zh-CN" altLang="en-US" dirty="0"/>
              <a:t>（</a:t>
            </a:r>
            <a:r>
              <a:rPr lang="en-US" altLang="zh-CN" dirty="0"/>
              <a:t>3</a:t>
            </a:r>
            <a:r>
              <a:rPr lang="zh-CN" altLang="en-US" dirty="0"/>
              <a:t>）例</a:t>
            </a:r>
            <a:r>
              <a:rPr lang="en-US" altLang="zh-CN" dirty="0"/>
              <a:t>3</a:t>
            </a:r>
            <a:r>
              <a:rPr lang="zh-CN" altLang="en-US" dirty="0"/>
              <a:t>演示了三种数组的存储分配特点。</a:t>
            </a:r>
            <a:endParaRPr lang="en-US" altLang="zh-CN" dirty="0"/>
          </a:p>
          <a:p>
            <a:r>
              <a:rPr lang="zh-CN" altLang="en-US" dirty="0"/>
              <a:t>（</a:t>
            </a:r>
            <a:r>
              <a:rPr lang="en-US" altLang="zh-CN" dirty="0"/>
              <a:t>4</a:t>
            </a:r>
            <a:r>
              <a:rPr lang="zh-CN" altLang="en-US" dirty="0"/>
              <a:t>）常规的数组是指定长度的，它的存储空间就分配在栈区或全局变量区。</a:t>
            </a:r>
            <a:endParaRPr lang="en-US" altLang="zh-CN" dirty="0"/>
          </a:p>
          <a:p>
            <a:r>
              <a:rPr lang="zh-CN" altLang="en-US" dirty="0"/>
              <a:t>（</a:t>
            </a:r>
            <a:r>
              <a:rPr lang="en-US" altLang="zh-CN" dirty="0"/>
              <a:t>5</a:t>
            </a:r>
            <a:r>
              <a:rPr lang="zh-CN" altLang="en-US" dirty="0"/>
              <a:t>）</a:t>
            </a:r>
            <a:r>
              <a:rPr lang="en-US" altLang="zh-CN" dirty="0"/>
              <a:t>C</a:t>
            </a:r>
            <a:r>
              <a:rPr lang="zh-CN" altLang="en-US" dirty="0"/>
              <a:t>语言扩展了所谓“变长数组”，在函数内声明的局部变量数组可以用一个表达式来定义数组的长度，</a:t>
            </a:r>
            <a:r>
              <a:rPr lang="zh-CN" altLang="en-US"/>
              <a:t>执行到声明</a:t>
            </a:r>
            <a:r>
              <a:rPr lang="zh-CN" altLang="en-US" dirty="0"/>
              <a:t>时，计算出的表达式的值作为数组的长度。这带来一定的灵活性，但一旦确定，数组的长度就不能再变了。</a:t>
            </a:r>
            <a:endParaRPr lang="en-US" altLang="zh-CN" dirty="0"/>
          </a:p>
          <a:p>
            <a:r>
              <a:rPr lang="zh-CN" altLang="en-US" dirty="0"/>
              <a:t>（</a:t>
            </a:r>
            <a:r>
              <a:rPr lang="en-US" altLang="zh-CN" dirty="0"/>
              <a:t>6</a:t>
            </a:r>
            <a:r>
              <a:rPr lang="zh-CN" altLang="en-US" dirty="0"/>
              <a:t>）真正的可变长数组，可通过对指针的动态存储分配和按需改变存储块大小从而改变数组长度。</a:t>
            </a:r>
            <a:endParaRPr lang="en-US" altLang="zh-CN" dirty="0"/>
          </a:p>
          <a:p>
            <a:r>
              <a:rPr lang="zh-CN" altLang="en-US" dirty="0"/>
              <a:t>（</a:t>
            </a:r>
            <a:r>
              <a:rPr lang="en-US" altLang="zh-CN" dirty="0"/>
              <a:t>7</a:t>
            </a:r>
            <a:r>
              <a:rPr lang="zh-CN" altLang="en-US" dirty="0"/>
              <a:t>）申请增大内存块时，若现有内存块后有足够空间可延长，则顺延加长，起始地址不变。</a:t>
            </a:r>
            <a:endParaRPr lang="en-US" altLang="zh-CN" dirty="0"/>
          </a:p>
          <a:p>
            <a:r>
              <a:rPr lang="zh-CN" altLang="en-US" dirty="0"/>
              <a:t>（</a:t>
            </a:r>
            <a:r>
              <a:rPr lang="en-US" altLang="zh-CN" dirty="0"/>
              <a:t>8</a:t>
            </a:r>
            <a:r>
              <a:rPr lang="zh-CN" altLang="en-US" dirty="0"/>
              <a:t>）若内存块后空间不足，则按新的大小另劈空间重新分配内存块，原有内容也对应迁移到新内存块。</a:t>
            </a:r>
            <a:endParaRPr lang="en-US" altLang="zh-CN" dirty="0"/>
          </a:p>
          <a:p>
            <a:r>
              <a:rPr lang="zh-CN" altLang="en-US" dirty="0"/>
              <a:t>（</a:t>
            </a:r>
            <a:r>
              <a:rPr lang="en-US" altLang="zh-CN" dirty="0"/>
              <a:t>9</a:t>
            </a:r>
            <a:r>
              <a:rPr lang="zh-CN" altLang="en-US" dirty="0"/>
              <a:t>）教材绝大部分的数据存储结构都采用动态内存分配，有的还需要调整内存大小。请复习巩固这部分内容</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E7D502-EF43-437F-8737-10E5A342D707}"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 name="日期占位符 4">
            <a:extLst>
              <a:ext uri="{FF2B5EF4-FFF2-40B4-BE49-F238E27FC236}">
                <a16:creationId xmlns:a16="http://schemas.microsoft.com/office/drawing/2014/main" id="{1899FF88-746F-F8C3-1F88-3579FD828BAD}"/>
              </a:ext>
            </a:extLst>
          </p:cNvPr>
          <p:cNvSpPr>
            <a:spLocks noGrp="1"/>
          </p:cNvSpPr>
          <p:nvPr>
            <p:ph type="dt" idx="1"/>
          </p:nvPr>
        </p:nvSpPr>
        <p:spPr/>
        <p:txBody>
          <a:bodyPr/>
          <a:lstStyle/>
          <a:p>
            <a:fld id="{5923610B-641D-4C1E-A553-CB6FB4350584}" type="datetime1">
              <a:rPr lang="zh-CN" altLang="en-US" smtClean="0"/>
              <a:t>2025/10/25</a:t>
            </a:fld>
            <a:endParaRPr lang="zh-CN" altLang="en-US"/>
          </a:p>
        </p:txBody>
      </p:sp>
      <p:sp>
        <p:nvSpPr>
          <p:cNvPr id="6" name="页脚占位符 5">
            <a:extLst>
              <a:ext uri="{FF2B5EF4-FFF2-40B4-BE49-F238E27FC236}">
                <a16:creationId xmlns:a16="http://schemas.microsoft.com/office/drawing/2014/main" id="{EE4F52BA-7136-569C-7124-0C1ABB238518}"/>
              </a:ext>
            </a:extLst>
          </p:cNvPr>
          <p:cNvSpPr>
            <a:spLocks noGrp="1"/>
          </p:cNvSpPr>
          <p:nvPr>
            <p:ph type="ftr" sz="quarter" idx="4"/>
          </p:nvPr>
        </p:nvSpPr>
        <p:spPr/>
        <p:txBody>
          <a:bodyPr/>
          <a:lstStyle/>
          <a:p>
            <a:endParaRPr lang="zh-CN" altLang="en-US"/>
          </a:p>
        </p:txBody>
      </p:sp>
    </p:spTree>
    <p:extLst>
      <p:ext uri="{BB962C8B-B14F-4D97-AF65-F5344CB8AC3E}">
        <p14:creationId xmlns:p14="http://schemas.microsoft.com/office/powerpoint/2010/main" val="45827543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lumMod val="95000"/>
          </a:schemeClr>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A2CC41-53EF-D792-C3D8-24D005077F38}"/>
              </a:ext>
            </a:extLst>
          </p:cNvPr>
          <p:cNvSpPr>
            <a:spLocks noGrp="1"/>
          </p:cNvSpPr>
          <p:nvPr>
            <p:ph type="ctrTitle"/>
          </p:nvPr>
        </p:nvSpPr>
        <p:spPr>
          <a:xfrm>
            <a:off x="1395291" y="48936"/>
            <a:ext cx="6629400" cy="712117"/>
          </a:xfrm>
        </p:spPr>
        <p:txBody>
          <a:bodyPr anchor="b">
            <a:normAutofit/>
          </a:bodyPr>
          <a:lstStyle>
            <a:lvl1pPr algn="ctr">
              <a:defRPr sz="3600"/>
            </a:lvl1pPr>
          </a:lstStyle>
          <a:p>
            <a:r>
              <a:rPr lang="zh-CN" altLang="en-US" dirty="0"/>
              <a:t>单击此处编辑母版标题样式</a:t>
            </a:r>
          </a:p>
        </p:txBody>
      </p:sp>
      <p:sp>
        <p:nvSpPr>
          <p:cNvPr id="3" name="副标题 2">
            <a:extLst>
              <a:ext uri="{FF2B5EF4-FFF2-40B4-BE49-F238E27FC236}">
                <a16:creationId xmlns:a16="http://schemas.microsoft.com/office/drawing/2014/main" id="{DAD09386-D71F-8627-81AE-8E5A2E01CA18}"/>
              </a:ext>
            </a:extLst>
          </p:cNvPr>
          <p:cNvSpPr>
            <a:spLocks noGrp="1"/>
          </p:cNvSpPr>
          <p:nvPr>
            <p:ph type="subTitle" idx="1"/>
          </p:nvPr>
        </p:nvSpPr>
        <p:spPr>
          <a:xfrm>
            <a:off x="554559" y="1036535"/>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14E5187-DE92-993A-0100-7ABE595C3625}"/>
              </a:ext>
            </a:extLst>
          </p:cNvPr>
          <p:cNvSpPr>
            <a:spLocks noGrp="1"/>
          </p:cNvSpPr>
          <p:nvPr>
            <p:ph type="dt" sz="half" idx="10"/>
          </p:nvPr>
        </p:nvSpPr>
        <p:spPr/>
        <p:txBody>
          <a:bodyPr/>
          <a:lstStyle/>
          <a:p>
            <a:fld id="{E31A4C10-AF4F-48C8-A3D0-21F6C6B43E20}" type="datetime1">
              <a:rPr lang="zh-CN" altLang="en-US" smtClean="0"/>
              <a:t>2025/10/25</a:t>
            </a:fld>
            <a:endParaRPr lang="zh-CN" altLang="en-US"/>
          </a:p>
        </p:txBody>
      </p:sp>
      <p:sp>
        <p:nvSpPr>
          <p:cNvPr id="5" name="页脚占位符 4">
            <a:extLst>
              <a:ext uri="{FF2B5EF4-FFF2-40B4-BE49-F238E27FC236}">
                <a16:creationId xmlns:a16="http://schemas.microsoft.com/office/drawing/2014/main" id="{30AAA60E-7CCA-E8F0-796A-1C44334A67D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0E3B1BE-AB2D-5A23-7D3C-F521ED3F0038}"/>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grpSp>
        <p:nvGrpSpPr>
          <p:cNvPr id="7" name="组合 6">
            <a:extLst>
              <a:ext uri="{FF2B5EF4-FFF2-40B4-BE49-F238E27FC236}">
                <a16:creationId xmlns:a16="http://schemas.microsoft.com/office/drawing/2014/main" id="{F8BBDDF8-8219-CDF6-F368-5129B2EA6B6E}"/>
              </a:ext>
            </a:extLst>
          </p:cNvPr>
          <p:cNvGrpSpPr/>
          <p:nvPr userDrawn="1"/>
        </p:nvGrpSpPr>
        <p:grpSpPr>
          <a:xfrm>
            <a:off x="554559" y="179743"/>
            <a:ext cx="700611" cy="581310"/>
            <a:chOff x="527657" y="117426"/>
            <a:chExt cx="1016528" cy="825488"/>
          </a:xfrm>
        </p:grpSpPr>
        <p:pic>
          <p:nvPicPr>
            <p:cNvPr id="8" name="Picture 3" descr="C:\Users\Administrator\Desktop\微立体创业计划\005.png">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9" name="Picture 4" descr="C:\Users\Administrator\Desktop\微立体创业计划\004.png">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0" name="图片 9">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10081117" y="87288"/>
            <a:ext cx="1988226" cy="470079"/>
          </a:xfrm>
          <a:prstGeom prst="rect">
            <a:avLst/>
          </a:prstGeom>
        </p:spPr>
      </p:pic>
    </p:spTree>
    <p:extLst>
      <p:ext uri="{BB962C8B-B14F-4D97-AF65-F5344CB8AC3E}">
        <p14:creationId xmlns:p14="http://schemas.microsoft.com/office/powerpoint/2010/main" val="23764959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CA4E304D-4302-9926-B9E4-A4F22949FF29}"/>
              </a:ext>
            </a:extLst>
          </p:cNvPr>
          <p:cNvSpPr>
            <a:spLocks noGrp="1"/>
          </p:cNvSpPr>
          <p:nvPr>
            <p:ph type="dt" sz="half" idx="10"/>
          </p:nvPr>
        </p:nvSpPr>
        <p:spPr/>
        <p:txBody>
          <a:bodyPr/>
          <a:lstStyle/>
          <a:p>
            <a:fld id="{C501E6E1-0DCB-46D3-9451-458026C877D9}" type="datetime1">
              <a:rPr lang="zh-CN" altLang="en-US" smtClean="0"/>
              <a:t>2025/10/25</a:t>
            </a:fld>
            <a:endParaRPr lang="zh-CN" altLang="en-US"/>
          </a:p>
        </p:txBody>
      </p:sp>
      <p:sp>
        <p:nvSpPr>
          <p:cNvPr id="5" name="页脚占位符 4">
            <a:extLst>
              <a:ext uri="{FF2B5EF4-FFF2-40B4-BE49-F238E27FC236}">
                <a16:creationId xmlns:a16="http://schemas.microsoft.com/office/drawing/2014/main" id="{4B4BA000-FB47-BDF4-4935-32802488258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DCFA3F2-32A8-6E83-CD3C-B6BFA5A1C168}"/>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grpSp>
        <p:nvGrpSpPr>
          <p:cNvPr id="9" name="组合 8">
            <a:extLst>
              <a:ext uri="{FF2B5EF4-FFF2-40B4-BE49-F238E27FC236}">
                <a16:creationId xmlns:a16="http://schemas.microsoft.com/office/drawing/2014/main" id="{F8BBDDF8-8219-CDF6-F368-5129B2EA6B6E}"/>
              </a:ext>
            </a:extLst>
          </p:cNvPr>
          <p:cNvGrpSpPr/>
          <p:nvPr userDrawn="1"/>
        </p:nvGrpSpPr>
        <p:grpSpPr>
          <a:xfrm>
            <a:off x="531711" y="187040"/>
            <a:ext cx="700611" cy="581310"/>
            <a:chOff x="527657" y="117426"/>
            <a:chExt cx="1016528" cy="825488"/>
          </a:xfrm>
        </p:grpSpPr>
        <p:pic>
          <p:nvPicPr>
            <p:cNvPr id="11" name="Picture 3">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12" name="Picture 4">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0" name="图片 9">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10058269" y="94585"/>
            <a:ext cx="1988226" cy="470079"/>
          </a:xfrm>
          <a:prstGeom prst="rect">
            <a:avLst/>
          </a:prstGeom>
        </p:spPr>
      </p:pic>
    </p:spTree>
    <p:extLst>
      <p:ext uri="{BB962C8B-B14F-4D97-AF65-F5344CB8AC3E}">
        <p14:creationId xmlns:p14="http://schemas.microsoft.com/office/powerpoint/2010/main" val="15607796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lumMod val="95000"/>
          </a:schemeClr>
        </a:solidFill>
        <a:effectLst/>
      </p:bgPr>
    </p:bg>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77D3EA5-F01E-27E8-6382-8E4698BF5383}"/>
              </a:ext>
            </a:extLst>
          </p:cNvPr>
          <p:cNvSpPr>
            <a:spLocks noGrp="1"/>
          </p:cNvSpPr>
          <p:nvPr>
            <p:ph type="dt" sz="half" idx="10"/>
          </p:nvPr>
        </p:nvSpPr>
        <p:spPr/>
        <p:txBody>
          <a:bodyPr/>
          <a:lstStyle/>
          <a:p>
            <a:fld id="{642EFC21-25FB-47AE-831B-8FA6E6FB2EC8}" type="datetime1">
              <a:rPr lang="zh-CN" altLang="en-US" smtClean="0"/>
              <a:t>2025/10/25</a:t>
            </a:fld>
            <a:endParaRPr lang="zh-CN" altLang="en-US"/>
          </a:p>
        </p:txBody>
      </p:sp>
      <p:sp>
        <p:nvSpPr>
          <p:cNvPr id="3" name="页脚占位符 2">
            <a:extLst>
              <a:ext uri="{FF2B5EF4-FFF2-40B4-BE49-F238E27FC236}">
                <a16:creationId xmlns:a16="http://schemas.microsoft.com/office/drawing/2014/main" id="{241F90EF-624C-D401-6E5E-B0149181CA41}"/>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1481C52-AE99-DAB9-C87E-25AC2D770D98}"/>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pic>
        <p:nvPicPr>
          <p:cNvPr id="8" name="图片 7">
            <a:extLst>
              <a:ext uri="{FF2B5EF4-FFF2-40B4-BE49-F238E27FC236}">
                <a16:creationId xmlns:a16="http://schemas.microsoft.com/office/drawing/2014/main" id="{273630AC-98EC-3F36-AD9C-4C33F9507C7E}"/>
              </a:ext>
            </a:extLst>
          </p:cNvPr>
          <p:cNvPicPr>
            <a:picLocks noChangeAspect="1"/>
          </p:cNvPicPr>
          <p:nvPr userDrawn="1"/>
        </p:nvPicPr>
        <p:blipFill>
          <a:blip r:embed="rId2"/>
          <a:stretch>
            <a:fillRect/>
          </a:stretch>
        </p:blipFill>
        <p:spPr>
          <a:xfrm>
            <a:off x="10046910" y="123768"/>
            <a:ext cx="1988226" cy="470079"/>
          </a:xfrm>
          <a:prstGeom prst="rect">
            <a:avLst/>
          </a:prstGeom>
        </p:spPr>
      </p:pic>
    </p:spTree>
    <p:extLst>
      <p:ext uri="{BB962C8B-B14F-4D97-AF65-F5344CB8AC3E}">
        <p14:creationId xmlns:p14="http://schemas.microsoft.com/office/powerpoint/2010/main" val="16678791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16426EC-8608-7076-4E2F-201ECC9F603F}"/>
              </a:ext>
            </a:extLst>
          </p:cNvPr>
          <p:cNvSpPr>
            <a:spLocks noGrp="1"/>
          </p:cNvSpPr>
          <p:nvPr>
            <p:ph idx="1"/>
          </p:nvPr>
        </p:nvSpPr>
        <p:spPr>
          <a:xfrm>
            <a:off x="542866" y="1202177"/>
            <a:ext cx="10515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55130B0-2B94-A4AE-6E98-7824EEE57078}"/>
              </a:ext>
            </a:extLst>
          </p:cNvPr>
          <p:cNvSpPr>
            <a:spLocks noGrp="1"/>
          </p:cNvSpPr>
          <p:nvPr>
            <p:ph type="dt" sz="half" idx="10"/>
          </p:nvPr>
        </p:nvSpPr>
        <p:spPr/>
        <p:txBody>
          <a:bodyPr/>
          <a:lstStyle/>
          <a:p>
            <a:fld id="{8B77EEB5-C125-40F2-974D-0573F06B47A1}" type="datetime1">
              <a:rPr lang="zh-CN" altLang="en-US" smtClean="0"/>
              <a:t>2025/10/25</a:t>
            </a:fld>
            <a:endParaRPr lang="zh-CN" altLang="en-US"/>
          </a:p>
        </p:txBody>
      </p:sp>
      <p:sp>
        <p:nvSpPr>
          <p:cNvPr id="5" name="页脚占位符 4">
            <a:extLst>
              <a:ext uri="{FF2B5EF4-FFF2-40B4-BE49-F238E27FC236}">
                <a16:creationId xmlns:a16="http://schemas.microsoft.com/office/drawing/2014/main" id="{48658B41-817B-123A-14E0-BC57DFD3257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4164C95-0EF9-F0F6-ED9A-520DF0252CAF}"/>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
        <p:nvSpPr>
          <p:cNvPr id="7" name="标题 1">
            <a:extLst>
              <a:ext uri="{FF2B5EF4-FFF2-40B4-BE49-F238E27FC236}">
                <a16:creationId xmlns:a16="http://schemas.microsoft.com/office/drawing/2014/main" id="{41A2CC41-53EF-D792-C3D8-24D005077F38}"/>
              </a:ext>
            </a:extLst>
          </p:cNvPr>
          <p:cNvSpPr>
            <a:spLocks noGrp="1"/>
          </p:cNvSpPr>
          <p:nvPr userDrawn="1"/>
        </p:nvSpPr>
        <p:spPr>
          <a:xfrm>
            <a:off x="1332687" y="43283"/>
            <a:ext cx="6629400" cy="71211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zh-CN" altLang="en-US" dirty="0"/>
              <a:t>单击此处编辑母版标题样式</a:t>
            </a:r>
          </a:p>
        </p:txBody>
      </p:sp>
      <p:grpSp>
        <p:nvGrpSpPr>
          <p:cNvPr id="9" name="组合 8">
            <a:extLst>
              <a:ext uri="{FF2B5EF4-FFF2-40B4-BE49-F238E27FC236}">
                <a16:creationId xmlns:a16="http://schemas.microsoft.com/office/drawing/2014/main" id="{F8BBDDF8-8219-CDF6-F368-5129B2EA6B6E}"/>
              </a:ext>
            </a:extLst>
          </p:cNvPr>
          <p:cNvGrpSpPr/>
          <p:nvPr userDrawn="1"/>
        </p:nvGrpSpPr>
        <p:grpSpPr>
          <a:xfrm>
            <a:off x="491955" y="174090"/>
            <a:ext cx="700611" cy="581310"/>
            <a:chOff x="527657" y="117426"/>
            <a:chExt cx="1016528" cy="825488"/>
          </a:xfrm>
        </p:grpSpPr>
        <p:pic>
          <p:nvPicPr>
            <p:cNvPr id="11" name="Picture 3">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12" name="Picture 4">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0" name="图片 9">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10018513" y="81635"/>
            <a:ext cx="1988226" cy="470079"/>
          </a:xfrm>
          <a:prstGeom prst="rect">
            <a:avLst/>
          </a:prstGeom>
        </p:spPr>
      </p:pic>
    </p:spTree>
    <p:extLst>
      <p:ext uri="{BB962C8B-B14F-4D97-AF65-F5344CB8AC3E}">
        <p14:creationId xmlns:p14="http://schemas.microsoft.com/office/powerpoint/2010/main" val="12746115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E84307-8A37-88A5-276E-382ECA8F1D57}"/>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31DCE2CA-F9CF-29DC-C270-D8E9191A08E2}"/>
              </a:ext>
            </a:extLst>
          </p:cNvPr>
          <p:cNvSpPr>
            <a:spLocks noGrp="1"/>
          </p:cNvSpPr>
          <p:nvPr>
            <p:ph type="dt" sz="half" idx="10"/>
          </p:nvPr>
        </p:nvSpPr>
        <p:spPr/>
        <p:txBody>
          <a:bodyPr/>
          <a:lstStyle/>
          <a:p>
            <a:fld id="{C326ABE0-4305-479A-AD0B-2F40D05AF5B9}" type="datetime1">
              <a:rPr lang="zh-CN" altLang="en-US" smtClean="0"/>
              <a:t>2025/10/25</a:t>
            </a:fld>
            <a:endParaRPr lang="zh-CN" altLang="en-US"/>
          </a:p>
        </p:txBody>
      </p:sp>
      <p:sp>
        <p:nvSpPr>
          <p:cNvPr id="4" name="页脚占位符 3">
            <a:extLst>
              <a:ext uri="{FF2B5EF4-FFF2-40B4-BE49-F238E27FC236}">
                <a16:creationId xmlns:a16="http://schemas.microsoft.com/office/drawing/2014/main" id="{74687EF2-F446-A5B5-9052-AA7F0AEF3E3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39F2C10-0228-7893-C916-BD1FC13AA786}"/>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15523749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F5CDC8-B89E-CC89-6D8D-B5FA69CE2C69}"/>
              </a:ext>
            </a:extLst>
          </p:cNvPr>
          <p:cNvSpPr>
            <a:spLocks noGrp="1"/>
          </p:cNvSpPr>
          <p:nvPr>
            <p:ph type="title"/>
          </p:nvPr>
        </p:nvSpPr>
        <p:spPr>
          <a:xfrm>
            <a:off x="705983" y="347448"/>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F01E6074-4C08-E5A5-1BC3-6414E2E573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8D58D588-0735-993F-FDD0-115837A687B5}"/>
              </a:ext>
            </a:extLst>
          </p:cNvPr>
          <p:cNvSpPr>
            <a:spLocks noGrp="1"/>
          </p:cNvSpPr>
          <p:nvPr>
            <p:ph type="body" sz="half" idx="2"/>
          </p:nvPr>
        </p:nvSpPr>
        <p:spPr>
          <a:xfrm>
            <a:off x="705983" y="2165311"/>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422D629-DE6B-9EAE-BC43-029A92A4E452}"/>
              </a:ext>
            </a:extLst>
          </p:cNvPr>
          <p:cNvSpPr>
            <a:spLocks noGrp="1"/>
          </p:cNvSpPr>
          <p:nvPr>
            <p:ph type="dt" sz="half" idx="10"/>
          </p:nvPr>
        </p:nvSpPr>
        <p:spPr/>
        <p:txBody>
          <a:bodyPr/>
          <a:lstStyle/>
          <a:p>
            <a:fld id="{332EBE0F-EFC7-48B1-BC6F-F70570749329}" type="datetime1">
              <a:rPr lang="zh-CN" altLang="en-US" smtClean="0"/>
              <a:t>2025/10/25</a:t>
            </a:fld>
            <a:endParaRPr lang="zh-CN" altLang="en-US"/>
          </a:p>
        </p:txBody>
      </p:sp>
      <p:sp>
        <p:nvSpPr>
          <p:cNvPr id="6" name="页脚占位符 5">
            <a:extLst>
              <a:ext uri="{FF2B5EF4-FFF2-40B4-BE49-F238E27FC236}">
                <a16:creationId xmlns:a16="http://schemas.microsoft.com/office/drawing/2014/main" id="{6231E168-CA51-40B5-0F51-F557A9BE0E0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B9A110E-96BC-7564-341B-681A25B83C0E}"/>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pic>
        <p:nvPicPr>
          <p:cNvPr id="11" name="图片 10">
            <a:extLst>
              <a:ext uri="{FF2B5EF4-FFF2-40B4-BE49-F238E27FC236}">
                <a16:creationId xmlns:a16="http://schemas.microsoft.com/office/drawing/2014/main" id="{273630AC-98EC-3F36-AD9C-4C33F9507C7E}"/>
              </a:ext>
            </a:extLst>
          </p:cNvPr>
          <p:cNvPicPr>
            <a:picLocks noChangeAspect="1"/>
          </p:cNvPicPr>
          <p:nvPr userDrawn="1"/>
        </p:nvPicPr>
        <p:blipFill>
          <a:blip r:embed="rId2"/>
          <a:stretch>
            <a:fillRect/>
          </a:stretch>
        </p:blipFill>
        <p:spPr>
          <a:xfrm>
            <a:off x="10041231" y="112409"/>
            <a:ext cx="1988226" cy="470079"/>
          </a:xfrm>
          <a:prstGeom prst="rect">
            <a:avLst/>
          </a:prstGeom>
        </p:spPr>
      </p:pic>
    </p:spTree>
    <p:extLst>
      <p:ext uri="{BB962C8B-B14F-4D97-AF65-F5344CB8AC3E}">
        <p14:creationId xmlns:p14="http://schemas.microsoft.com/office/powerpoint/2010/main" val="42030117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7177F47-4C85-D788-3D9F-55EA08C5B008}"/>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3C93787-4F60-8859-2F67-4D1216667504}"/>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B72D604-5A9A-6C30-39E7-4F12BBC6E0B2}"/>
              </a:ext>
            </a:extLst>
          </p:cNvPr>
          <p:cNvSpPr>
            <a:spLocks noGrp="1"/>
          </p:cNvSpPr>
          <p:nvPr>
            <p:ph type="dt" sz="half" idx="10"/>
          </p:nvPr>
        </p:nvSpPr>
        <p:spPr/>
        <p:txBody>
          <a:bodyPr/>
          <a:lstStyle/>
          <a:p>
            <a:fld id="{F442AECF-8B64-414A-818C-1551629B3436}" type="datetime1">
              <a:rPr lang="zh-CN" altLang="en-US" smtClean="0"/>
              <a:t>2025/10/25</a:t>
            </a:fld>
            <a:endParaRPr lang="zh-CN" altLang="en-US"/>
          </a:p>
        </p:txBody>
      </p:sp>
      <p:sp>
        <p:nvSpPr>
          <p:cNvPr id="6" name="页脚占位符 5">
            <a:extLst>
              <a:ext uri="{FF2B5EF4-FFF2-40B4-BE49-F238E27FC236}">
                <a16:creationId xmlns:a16="http://schemas.microsoft.com/office/drawing/2014/main" id="{71C49BAC-6CED-D1F9-DF9F-F24A800B21C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11781E8-C2CC-E8D8-DBC6-2169704AB4F0}"/>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
        <p:nvSpPr>
          <p:cNvPr id="8" name="标题 1">
            <a:extLst>
              <a:ext uri="{FF2B5EF4-FFF2-40B4-BE49-F238E27FC236}">
                <a16:creationId xmlns:a16="http://schemas.microsoft.com/office/drawing/2014/main" id="{41A2CC41-53EF-D792-C3D8-24D005077F38}"/>
              </a:ext>
            </a:extLst>
          </p:cNvPr>
          <p:cNvSpPr>
            <a:spLocks noGrp="1"/>
          </p:cNvSpPr>
          <p:nvPr userDrawn="1"/>
        </p:nvSpPr>
        <p:spPr>
          <a:xfrm>
            <a:off x="1349725" y="136525"/>
            <a:ext cx="6629400" cy="71211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zh-CN" altLang="en-US" dirty="0"/>
              <a:t>单击此处编辑母版标题样式</a:t>
            </a:r>
          </a:p>
        </p:txBody>
      </p:sp>
      <p:grpSp>
        <p:nvGrpSpPr>
          <p:cNvPr id="10" name="组合 9">
            <a:extLst>
              <a:ext uri="{FF2B5EF4-FFF2-40B4-BE49-F238E27FC236}">
                <a16:creationId xmlns:a16="http://schemas.microsoft.com/office/drawing/2014/main" id="{F8BBDDF8-8219-CDF6-F368-5129B2EA6B6E}"/>
              </a:ext>
            </a:extLst>
          </p:cNvPr>
          <p:cNvGrpSpPr/>
          <p:nvPr userDrawn="1"/>
        </p:nvGrpSpPr>
        <p:grpSpPr>
          <a:xfrm>
            <a:off x="508993" y="267332"/>
            <a:ext cx="700611" cy="581310"/>
            <a:chOff x="527657" y="117426"/>
            <a:chExt cx="1016528" cy="825488"/>
          </a:xfrm>
        </p:grpSpPr>
        <p:pic>
          <p:nvPicPr>
            <p:cNvPr id="12" name="Picture 3">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13" name="Picture 4">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1" name="图片 10">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10035551" y="174877"/>
            <a:ext cx="1988226" cy="470079"/>
          </a:xfrm>
          <a:prstGeom prst="rect">
            <a:avLst/>
          </a:prstGeom>
        </p:spPr>
      </p:pic>
    </p:spTree>
    <p:extLst>
      <p:ext uri="{BB962C8B-B14F-4D97-AF65-F5344CB8AC3E}">
        <p14:creationId xmlns:p14="http://schemas.microsoft.com/office/powerpoint/2010/main" val="823391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F791E652-24E5-5D4B-50DE-DB568C82C7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2F1FC26-7D40-3607-CBAD-6EF57B67E30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4C3179B-0F08-A1E3-33A4-C538C69CFE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EF63DB1D-3969-492C-022F-B513F87E739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0C9C453B-EC09-DE45-A706-9278FDDB085E}"/>
              </a:ext>
            </a:extLst>
          </p:cNvPr>
          <p:cNvSpPr>
            <a:spLocks noGrp="1"/>
          </p:cNvSpPr>
          <p:nvPr>
            <p:ph type="dt" sz="half" idx="10"/>
          </p:nvPr>
        </p:nvSpPr>
        <p:spPr/>
        <p:txBody>
          <a:bodyPr/>
          <a:lstStyle/>
          <a:p>
            <a:fld id="{BD8CCCBC-BE06-4E94-AF0E-3639288FC411}" type="datetime1">
              <a:rPr lang="zh-CN" altLang="en-US" smtClean="0"/>
              <a:t>2025/10/25</a:t>
            </a:fld>
            <a:endParaRPr lang="zh-CN" altLang="en-US"/>
          </a:p>
        </p:txBody>
      </p:sp>
      <p:sp>
        <p:nvSpPr>
          <p:cNvPr id="8" name="页脚占位符 7">
            <a:extLst>
              <a:ext uri="{FF2B5EF4-FFF2-40B4-BE49-F238E27FC236}">
                <a16:creationId xmlns:a16="http://schemas.microsoft.com/office/drawing/2014/main" id="{6908686C-7D94-AA63-89D7-45C32CBE4C4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A4B4EC2-B11A-C364-C14B-1E762B00D728}"/>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
        <p:nvSpPr>
          <p:cNvPr id="10" name="标题 1">
            <a:extLst>
              <a:ext uri="{FF2B5EF4-FFF2-40B4-BE49-F238E27FC236}">
                <a16:creationId xmlns:a16="http://schemas.microsoft.com/office/drawing/2014/main" id="{41A2CC41-53EF-D792-C3D8-24D005077F38}"/>
              </a:ext>
            </a:extLst>
          </p:cNvPr>
          <p:cNvSpPr>
            <a:spLocks noGrp="1"/>
          </p:cNvSpPr>
          <p:nvPr userDrawn="1"/>
        </p:nvSpPr>
        <p:spPr>
          <a:xfrm>
            <a:off x="1264533" y="250688"/>
            <a:ext cx="6629400" cy="71211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zh-CN" altLang="en-US" dirty="0"/>
              <a:t>单击此处编辑母版标题样式</a:t>
            </a:r>
          </a:p>
        </p:txBody>
      </p:sp>
      <p:sp>
        <p:nvSpPr>
          <p:cNvPr id="11" name="副标题 2">
            <a:extLst>
              <a:ext uri="{FF2B5EF4-FFF2-40B4-BE49-F238E27FC236}">
                <a16:creationId xmlns:a16="http://schemas.microsoft.com/office/drawing/2014/main" id="{DAD09386-D71F-8627-81AE-8E5A2E01CA18}"/>
              </a:ext>
            </a:extLst>
          </p:cNvPr>
          <p:cNvSpPr>
            <a:spLocks noGrp="1"/>
          </p:cNvSpPr>
          <p:nvPr userDrawn="1"/>
        </p:nvSpPr>
        <p:spPr>
          <a:xfrm>
            <a:off x="446519" y="1129492"/>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zh-CN" altLang="en-US"/>
              <a:t>单击此处编辑母版副标题样式</a:t>
            </a:r>
          </a:p>
        </p:txBody>
      </p:sp>
      <p:grpSp>
        <p:nvGrpSpPr>
          <p:cNvPr id="12" name="组合 11">
            <a:extLst>
              <a:ext uri="{FF2B5EF4-FFF2-40B4-BE49-F238E27FC236}">
                <a16:creationId xmlns:a16="http://schemas.microsoft.com/office/drawing/2014/main" id="{F8BBDDF8-8219-CDF6-F368-5129B2EA6B6E}"/>
              </a:ext>
            </a:extLst>
          </p:cNvPr>
          <p:cNvGrpSpPr/>
          <p:nvPr userDrawn="1"/>
        </p:nvGrpSpPr>
        <p:grpSpPr>
          <a:xfrm>
            <a:off x="487894" y="350630"/>
            <a:ext cx="700611" cy="581310"/>
            <a:chOff x="527657" y="117426"/>
            <a:chExt cx="1016528" cy="825488"/>
          </a:xfrm>
        </p:grpSpPr>
        <p:pic>
          <p:nvPicPr>
            <p:cNvPr id="14" name="Picture 3">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15" name="Picture 4">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3" name="图片 12">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9973077" y="350630"/>
            <a:ext cx="1988226" cy="470079"/>
          </a:xfrm>
          <a:prstGeom prst="rect">
            <a:avLst/>
          </a:prstGeom>
        </p:spPr>
      </p:pic>
    </p:spTree>
    <p:extLst>
      <p:ext uri="{BB962C8B-B14F-4D97-AF65-F5344CB8AC3E}">
        <p14:creationId xmlns:p14="http://schemas.microsoft.com/office/powerpoint/2010/main" val="8180776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81A1DB-9ED0-9B4E-C770-E5694309EC7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6A23B31-EAB2-1391-7820-A080360E16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B9B3C80-CF0B-F0C0-A442-A088B0EB64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29CF473-C6CC-BAD8-5383-26E8D2531067}"/>
              </a:ext>
            </a:extLst>
          </p:cNvPr>
          <p:cNvSpPr>
            <a:spLocks noGrp="1"/>
          </p:cNvSpPr>
          <p:nvPr>
            <p:ph type="dt" sz="half" idx="10"/>
          </p:nvPr>
        </p:nvSpPr>
        <p:spPr/>
        <p:txBody>
          <a:bodyPr/>
          <a:lstStyle/>
          <a:p>
            <a:fld id="{EE808AFA-B999-461E-AAC1-5D8862C2E82B}" type="datetime1">
              <a:rPr lang="zh-CN" altLang="en-US" smtClean="0"/>
              <a:t>2025/10/25</a:t>
            </a:fld>
            <a:endParaRPr lang="zh-CN" altLang="en-US"/>
          </a:p>
        </p:txBody>
      </p:sp>
      <p:sp>
        <p:nvSpPr>
          <p:cNvPr id="6" name="页脚占位符 5">
            <a:extLst>
              <a:ext uri="{FF2B5EF4-FFF2-40B4-BE49-F238E27FC236}">
                <a16:creationId xmlns:a16="http://schemas.microsoft.com/office/drawing/2014/main" id="{03F54AA7-A8F7-371E-233F-C3786BFF7AE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4ABCE91-07DB-6B5D-5B09-850806046E1E}"/>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26375629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886F22-E5CE-D1A8-570E-9AE797FDA12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41128B0-4299-ED4A-92C5-0E762E6AB3D9}"/>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F52EB65-E6EF-E56C-9D82-1C732D02ED25}"/>
              </a:ext>
            </a:extLst>
          </p:cNvPr>
          <p:cNvSpPr>
            <a:spLocks noGrp="1"/>
          </p:cNvSpPr>
          <p:nvPr>
            <p:ph type="dt" sz="half" idx="10"/>
          </p:nvPr>
        </p:nvSpPr>
        <p:spPr/>
        <p:txBody>
          <a:bodyPr/>
          <a:lstStyle/>
          <a:p>
            <a:fld id="{436B4D27-53D9-4702-8DA1-735ACFD5E2BB}" type="datetime1">
              <a:rPr lang="zh-CN" altLang="en-US" smtClean="0"/>
              <a:t>2025/10/25</a:t>
            </a:fld>
            <a:endParaRPr lang="zh-CN" altLang="en-US"/>
          </a:p>
        </p:txBody>
      </p:sp>
      <p:sp>
        <p:nvSpPr>
          <p:cNvPr id="5" name="页脚占位符 4">
            <a:extLst>
              <a:ext uri="{FF2B5EF4-FFF2-40B4-BE49-F238E27FC236}">
                <a16:creationId xmlns:a16="http://schemas.microsoft.com/office/drawing/2014/main" id="{590A3098-73E5-D15B-F904-31354377F5B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0C31172-595F-7FBE-C4C5-0D45BFF78ED2}"/>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36194842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7A9512A-F429-E9F6-1E9D-E8FDB3269895}"/>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5BF6BB3-16C3-74FB-3BD9-3D2AA5B3DAC9}"/>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959AC9E-B020-DA3A-3784-05E3CA262DEC}"/>
              </a:ext>
            </a:extLst>
          </p:cNvPr>
          <p:cNvSpPr>
            <a:spLocks noGrp="1"/>
          </p:cNvSpPr>
          <p:nvPr>
            <p:ph type="dt" sz="half" idx="10"/>
          </p:nvPr>
        </p:nvSpPr>
        <p:spPr/>
        <p:txBody>
          <a:bodyPr/>
          <a:lstStyle/>
          <a:p>
            <a:fld id="{17E86CAD-EF5E-42AD-B0D2-96E60C361E71}" type="datetime1">
              <a:rPr lang="zh-CN" altLang="en-US" smtClean="0"/>
              <a:t>2025/10/25</a:t>
            </a:fld>
            <a:endParaRPr lang="zh-CN" altLang="en-US"/>
          </a:p>
        </p:txBody>
      </p:sp>
      <p:sp>
        <p:nvSpPr>
          <p:cNvPr id="5" name="页脚占位符 4">
            <a:extLst>
              <a:ext uri="{FF2B5EF4-FFF2-40B4-BE49-F238E27FC236}">
                <a16:creationId xmlns:a16="http://schemas.microsoft.com/office/drawing/2014/main" id="{445E3113-5A22-4324-B7BE-2653A893CA2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EA4F435-9CA7-A80C-F717-58D1A5790289}"/>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19151928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799916-0D78-41F5-9FAD-6440EADB917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2C3A8E1-6B96-4D50-A49B-41F5B4A9ED39}"/>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C57E0E9-1082-4E11-95BD-7ACE965B06CD}"/>
              </a:ext>
            </a:extLst>
          </p:cNvPr>
          <p:cNvSpPr>
            <a:spLocks noGrp="1"/>
          </p:cNvSpPr>
          <p:nvPr>
            <p:ph type="dt" sz="half" idx="10"/>
          </p:nvPr>
        </p:nvSpPr>
        <p:spPr/>
        <p:txBody>
          <a:bodyPr/>
          <a:lstStyle/>
          <a:p>
            <a:fld id="{315A1510-D9BA-47FA-A197-C62EA7C32C46}" type="datetime1">
              <a:rPr lang="zh-CN" altLang="en-US" smtClean="0"/>
              <a:t>2025/10/25</a:t>
            </a:fld>
            <a:endParaRPr lang="zh-CN" altLang="en-US"/>
          </a:p>
        </p:txBody>
      </p:sp>
      <p:sp>
        <p:nvSpPr>
          <p:cNvPr id="5" name="页脚占位符 4">
            <a:extLst>
              <a:ext uri="{FF2B5EF4-FFF2-40B4-BE49-F238E27FC236}">
                <a16:creationId xmlns:a16="http://schemas.microsoft.com/office/drawing/2014/main" id="{D802191D-0E0D-4935-A4C2-A9A619BB8C5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C9D88BE-C8B5-4DBC-A6E6-1A45F5BF00FD}"/>
              </a:ext>
            </a:extLst>
          </p:cNvPr>
          <p:cNvSpPr>
            <a:spLocks noGrp="1"/>
          </p:cNvSpPr>
          <p:nvPr>
            <p:ph type="sldNum" sz="quarter" idx="12"/>
          </p:nvPr>
        </p:nvSpPr>
        <p:spPr/>
        <p:txBody>
          <a:bodyPr/>
          <a:lstStyle/>
          <a:p>
            <a:fld id="{6ED30D9F-295F-448B-9A50-0786B99C76AC}" type="slidenum">
              <a:rPr lang="zh-CN" altLang="en-US" smtClean="0"/>
              <a:t>‹#›</a:t>
            </a:fld>
            <a:endParaRPr lang="zh-CN" altLang="en-US"/>
          </a:p>
        </p:txBody>
      </p:sp>
    </p:spTree>
    <p:extLst>
      <p:ext uri="{BB962C8B-B14F-4D97-AF65-F5344CB8AC3E}">
        <p14:creationId xmlns:p14="http://schemas.microsoft.com/office/powerpoint/2010/main" val="9675535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67B2C2-F714-3C9D-01AF-2732A80608FA}"/>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5DDF41A0-52AE-2C26-F29D-0691093948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417B49E0-7C81-84A8-2D76-FCAD90E5D979}"/>
              </a:ext>
            </a:extLst>
          </p:cNvPr>
          <p:cNvSpPr>
            <a:spLocks noGrp="1"/>
          </p:cNvSpPr>
          <p:nvPr>
            <p:ph type="dt" sz="half" idx="10"/>
          </p:nvPr>
        </p:nvSpPr>
        <p:spPr/>
        <p:txBody>
          <a:bodyPr/>
          <a:lstStyle/>
          <a:p>
            <a:fld id="{48F09F26-BDFE-4A3E-A8ED-D9CBDCFC281B}" type="datetime1">
              <a:rPr lang="zh-CN" altLang="en-US" smtClean="0"/>
              <a:t>2025/10/25</a:t>
            </a:fld>
            <a:endParaRPr lang="zh-CN" altLang="en-US"/>
          </a:p>
        </p:txBody>
      </p:sp>
      <p:sp>
        <p:nvSpPr>
          <p:cNvPr id="5" name="页脚占位符 4">
            <a:extLst>
              <a:ext uri="{FF2B5EF4-FFF2-40B4-BE49-F238E27FC236}">
                <a16:creationId xmlns:a16="http://schemas.microsoft.com/office/drawing/2014/main" id="{3104DDCF-F912-DCD5-7123-6E0C82E9A9E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7B78C8E-D3A1-6AC9-B3F8-85BDB83BB8CD}"/>
              </a:ext>
            </a:extLst>
          </p:cNvPr>
          <p:cNvSpPr>
            <a:spLocks noGrp="1"/>
          </p:cNvSpPr>
          <p:nvPr>
            <p:ph type="sldNum" sz="quarter" idx="12"/>
          </p:nvPr>
        </p:nvSpPr>
        <p:spPr/>
        <p:txBody>
          <a:bodyPr/>
          <a:lstStyle/>
          <a:p>
            <a:fld id="{CC48877C-6764-4929-A52F-DE1B75E1394B}" type="slidenum">
              <a:rPr lang="zh-CN" altLang="en-US" smtClean="0"/>
              <a:t>‹#›</a:t>
            </a:fld>
            <a:endParaRPr lang="zh-CN" altLang="en-US"/>
          </a:p>
        </p:txBody>
      </p:sp>
    </p:spTree>
    <p:extLst>
      <p:ext uri="{BB962C8B-B14F-4D97-AF65-F5344CB8AC3E}">
        <p14:creationId xmlns:p14="http://schemas.microsoft.com/office/powerpoint/2010/main" val="40419342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6B384A-C20D-03C2-E785-1691099AE5F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E73813C-2AE0-CF68-D1F1-BC67D93412A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8B7EEE2-B18C-7E94-03CB-235CA0171B9D}"/>
              </a:ext>
            </a:extLst>
          </p:cNvPr>
          <p:cNvSpPr>
            <a:spLocks noGrp="1"/>
          </p:cNvSpPr>
          <p:nvPr>
            <p:ph type="dt" sz="half" idx="10"/>
          </p:nvPr>
        </p:nvSpPr>
        <p:spPr/>
        <p:txBody>
          <a:bodyPr/>
          <a:lstStyle/>
          <a:p>
            <a:fld id="{3A682722-9CE6-422F-9956-BE2DCAE495FF}" type="datetime1">
              <a:rPr lang="zh-CN" altLang="en-US" smtClean="0"/>
              <a:t>2025/10/25</a:t>
            </a:fld>
            <a:endParaRPr lang="zh-CN" altLang="en-US"/>
          </a:p>
        </p:txBody>
      </p:sp>
      <p:sp>
        <p:nvSpPr>
          <p:cNvPr id="5" name="页脚占位符 4">
            <a:extLst>
              <a:ext uri="{FF2B5EF4-FFF2-40B4-BE49-F238E27FC236}">
                <a16:creationId xmlns:a16="http://schemas.microsoft.com/office/drawing/2014/main" id="{023071A2-AFA8-A34E-8E25-ACD10137590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4FE07E9-0639-D3AA-C906-0B24964FC0FA}"/>
              </a:ext>
            </a:extLst>
          </p:cNvPr>
          <p:cNvSpPr>
            <a:spLocks noGrp="1"/>
          </p:cNvSpPr>
          <p:nvPr>
            <p:ph type="sldNum" sz="quarter" idx="12"/>
          </p:nvPr>
        </p:nvSpPr>
        <p:spPr/>
        <p:txBody>
          <a:bodyPr/>
          <a:lstStyle/>
          <a:p>
            <a:fld id="{CC48877C-6764-4929-A52F-DE1B75E1394B}" type="slidenum">
              <a:rPr lang="zh-CN" altLang="en-US" smtClean="0"/>
              <a:t>‹#›</a:t>
            </a:fld>
            <a:endParaRPr lang="zh-CN" altLang="en-US"/>
          </a:p>
        </p:txBody>
      </p:sp>
    </p:spTree>
    <p:extLst>
      <p:ext uri="{BB962C8B-B14F-4D97-AF65-F5344CB8AC3E}">
        <p14:creationId xmlns:p14="http://schemas.microsoft.com/office/powerpoint/2010/main" val="1938778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ABCA97-9850-AE33-21EA-45BA3F7CA480}"/>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9B088DF9-27DC-22B7-CFE9-AE48034A003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AD779278-34BB-602C-2B31-1D6AA6132732}"/>
              </a:ext>
            </a:extLst>
          </p:cNvPr>
          <p:cNvSpPr>
            <a:spLocks noGrp="1"/>
          </p:cNvSpPr>
          <p:nvPr>
            <p:ph type="dt" sz="half" idx="10"/>
          </p:nvPr>
        </p:nvSpPr>
        <p:spPr/>
        <p:txBody>
          <a:bodyPr/>
          <a:lstStyle/>
          <a:p>
            <a:fld id="{66297A27-B2EC-4230-BEE3-C55CFE9B5620}" type="datetime1">
              <a:rPr lang="zh-CN" altLang="en-US" smtClean="0"/>
              <a:t>2025/10/25</a:t>
            </a:fld>
            <a:endParaRPr lang="zh-CN" altLang="en-US"/>
          </a:p>
        </p:txBody>
      </p:sp>
      <p:sp>
        <p:nvSpPr>
          <p:cNvPr id="5" name="页脚占位符 4">
            <a:extLst>
              <a:ext uri="{FF2B5EF4-FFF2-40B4-BE49-F238E27FC236}">
                <a16:creationId xmlns:a16="http://schemas.microsoft.com/office/drawing/2014/main" id="{D7291B0D-B510-4E3C-0B5A-43D8B2CCD74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1D6F720-7D51-16B1-C16E-4A159A54B98D}"/>
              </a:ext>
            </a:extLst>
          </p:cNvPr>
          <p:cNvSpPr>
            <a:spLocks noGrp="1"/>
          </p:cNvSpPr>
          <p:nvPr>
            <p:ph type="sldNum" sz="quarter" idx="12"/>
          </p:nvPr>
        </p:nvSpPr>
        <p:spPr/>
        <p:txBody>
          <a:bodyPr/>
          <a:lstStyle/>
          <a:p>
            <a:fld id="{CC48877C-6764-4929-A52F-DE1B75E1394B}" type="slidenum">
              <a:rPr lang="zh-CN" altLang="en-US" smtClean="0"/>
              <a:t>‹#›</a:t>
            </a:fld>
            <a:endParaRPr lang="zh-CN" altLang="en-US"/>
          </a:p>
        </p:txBody>
      </p:sp>
    </p:spTree>
    <p:extLst>
      <p:ext uri="{BB962C8B-B14F-4D97-AF65-F5344CB8AC3E}">
        <p14:creationId xmlns:p14="http://schemas.microsoft.com/office/powerpoint/2010/main" val="1887389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005129-129A-939D-D69F-36620D1E537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21AD5F0-6259-11DB-B93F-BBC6F34C06E8}"/>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C18270DB-01E9-050A-21AE-21A20B5586A4}"/>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A5910584-FBB4-B60B-F19F-300BAA9802ED}"/>
              </a:ext>
            </a:extLst>
          </p:cNvPr>
          <p:cNvSpPr>
            <a:spLocks noGrp="1"/>
          </p:cNvSpPr>
          <p:nvPr>
            <p:ph type="dt" sz="half" idx="10"/>
          </p:nvPr>
        </p:nvSpPr>
        <p:spPr/>
        <p:txBody>
          <a:bodyPr/>
          <a:lstStyle/>
          <a:p>
            <a:fld id="{D3317C09-7887-4A5E-9C61-564797985050}" type="datetime1">
              <a:rPr lang="zh-CN" altLang="en-US" smtClean="0"/>
              <a:t>2025/10/25</a:t>
            </a:fld>
            <a:endParaRPr lang="zh-CN" altLang="en-US"/>
          </a:p>
        </p:txBody>
      </p:sp>
      <p:sp>
        <p:nvSpPr>
          <p:cNvPr id="6" name="页脚占位符 5">
            <a:extLst>
              <a:ext uri="{FF2B5EF4-FFF2-40B4-BE49-F238E27FC236}">
                <a16:creationId xmlns:a16="http://schemas.microsoft.com/office/drawing/2014/main" id="{58E9C894-956C-9E3F-9128-5FF98B4C73E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53057F8-DA3E-0734-FEE9-56F7EB7D7608}"/>
              </a:ext>
            </a:extLst>
          </p:cNvPr>
          <p:cNvSpPr>
            <a:spLocks noGrp="1"/>
          </p:cNvSpPr>
          <p:nvPr>
            <p:ph type="sldNum" sz="quarter" idx="12"/>
          </p:nvPr>
        </p:nvSpPr>
        <p:spPr/>
        <p:txBody>
          <a:bodyPr/>
          <a:lstStyle/>
          <a:p>
            <a:fld id="{CC48877C-6764-4929-A52F-DE1B75E1394B}" type="slidenum">
              <a:rPr lang="zh-CN" altLang="en-US" smtClean="0"/>
              <a:t>‹#›</a:t>
            </a:fld>
            <a:endParaRPr lang="zh-CN" altLang="en-US"/>
          </a:p>
        </p:txBody>
      </p:sp>
    </p:spTree>
    <p:extLst>
      <p:ext uri="{BB962C8B-B14F-4D97-AF65-F5344CB8AC3E}">
        <p14:creationId xmlns:p14="http://schemas.microsoft.com/office/powerpoint/2010/main" val="26916930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1A783C-F598-1E2A-C26D-14F3BD46DEF2}"/>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7532E24B-0D9F-3691-DFF7-8C09043DDD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77CC5DE8-70CA-A8AC-CBE3-B8C873E82126}"/>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1F1202EC-341E-11B2-D51A-5F1EDBD880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BAAA1F2-7996-FFD0-FE10-598163184BD5}"/>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CFCADB2E-B4CA-5192-58CC-3CB4119DC581}"/>
              </a:ext>
            </a:extLst>
          </p:cNvPr>
          <p:cNvSpPr>
            <a:spLocks noGrp="1"/>
          </p:cNvSpPr>
          <p:nvPr>
            <p:ph type="dt" sz="half" idx="10"/>
          </p:nvPr>
        </p:nvSpPr>
        <p:spPr/>
        <p:txBody>
          <a:bodyPr/>
          <a:lstStyle/>
          <a:p>
            <a:fld id="{E9396744-A6FC-4390-8D10-610597A59FC4}" type="datetime1">
              <a:rPr lang="zh-CN" altLang="en-US" smtClean="0"/>
              <a:t>2025/10/25</a:t>
            </a:fld>
            <a:endParaRPr lang="zh-CN" altLang="en-US"/>
          </a:p>
        </p:txBody>
      </p:sp>
      <p:sp>
        <p:nvSpPr>
          <p:cNvPr id="8" name="页脚占位符 7">
            <a:extLst>
              <a:ext uri="{FF2B5EF4-FFF2-40B4-BE49-F238E27FC236}">
                <a16:creationId xmlns:a16="http://schemas.microsoft.com/office/drawing/2014/main" id="{046BB5A0-BAA0-6412-4403-43132E976E9A}"/>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0ABFB50E-3B0D-1D3C-9AF0-A44B2A8DD86D}"/>
              </a:ext>
            </a:extLst>
          </p:cNvPr>
          <p:cNvSpPr>
            <a:spLocks noGrp="1"/>
          </p:cNvSpPr>
          <p:nvPr>
            <p:ph type="sldNum" sz="quarter" idx="12"/>
          </p:nvPr>
        </p:nvSpPr>
        <p:spPr/>
        <p:txBody>
          <a:bodyPr/>
          <a:lstStyle/>
          <a:p>
            <a:fld id="{CC48877C-6764-4929-A52F-DE1B75E1394B}" type="slidenum">
              <a:rPr lang="zh-CN" altLang="en-US" smtClean="0"/>
              <a:t>‹#›</a:t>
            </a:fld>
            <a:endParaRPr lang="zh-CN" altLang="en-US"/>
          </a:p>
        </p:txBody>
      </p:sp>
    </p:spTree>
    <p:extLst>
      <p:ext uri="{BB962C8B-B14F-4D97-AF65-F5344CB8AC3E}">
        <p14:creationId xmlns:p14="http://schemas.microsoft.com/office/powerpoint/2010/main" val="17511737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5FC00D-1FF5-E989-7BDC-86CD53D37F99}"/>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53BC873D-ADCD-2501-0DE1-BA0B3A2B18D3}"/>
              </a:ext>
            </a:extLst>
          </p:cNvPr>
          <p:cNvSpPr>
            <a:spLocks noGrp="1"/>
          </p:cNvSpPr>
          <p:nvPr>
            <p:ph type="dt" sz="half" idx="10"/>
          </p:nvPr>
        </p:nvSpPr>
        <p:spPr/>
        <p:txBody>
          <a:bodyPr/>
          <a:lstStyle/>
          <a:p>
            <a:fld id="{05AF6D90-7EF8-4923-A5B4-1EEA0C56AC54}" type="datetime1">
              <a:rPr lang="zh-CN" altLang="en-US" smtClean="0"/>
              <a:t>2025/10/25</a:t>
            </a:fld>
            <a:endParaRPr lang="zh-CN" altLang="en-US"/>
          </a:p>
        </p:txBody>
      </p:sp>
      <p:sp>
        <p:nvSpPr>
          <p:cNvPr id="4" name="页脚占位符 3">
            <a:extLst>
              <a:ext uri="{FF2B5EF4-FFF2-40B4-BE49-F238E27FC236}">
                <a16:creationId xmlns:a16="http://schemas.microsoft.com/office/drawing/2014/main" id="{081F8852-5026-BB4D-EA61-9577BF7E684C}"/>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DA7929C8-9F63-B91A-F151-AD718FD7B37D}"/>
              </a:ext>
            </a:extLst>
          </p:cNvPr>
          <p:cNvSpPr>
            <a:spLocks noGrp="1"/>
          </p:cNvSpPr>
          <p:nvPr>
            <p:ph type="sldNum" sz="quarter" idx="12"/>
          </p:nvPr>
        </p:nvSpPr>
        <p:spPr/>
        <p:txBody>
          <a:bodyPr/>
          <a:lstStyle/>
          <a:p>
            <a:fld id="{CC48877C-6764-4929-A52F-DE1B75E1394B}" type="slidenum">
              <a:rPr lang="zh-CN" altLang="en-US" smtClean="0"/>
              <a:t>‹#›</a:t>
            </a:fld>
            <a:endParaRPr lang="zh-CN" altLang="en-US"/>
          </a:p>
        </p:txBody>
      </p:sp>
    </p:spTree>
    <p:extLst>
      <p:ext uri="{BB962C8B-B14F-4D97-AF65-F5344CB8AC3E}">
        <p14:creationId xmlns:p14="http://schemas.microsoft.com/office/powerpoint/2010/main" val="26825576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8D22553-4317-3031-3495-E1E60AD3B593}"/>
              </a:ext>
            </a:extLst>
          </p:cNvPr>
          <p:cNvSpPr>
            <a:spLocks noGrp="1"/>
          </p:cNvSpPr>
          <p:nvPr>
            <p:ph type="dt" sz="half" idx="10"/>
          </p:nvPr>
        </p:nvSpPr>
        <p:spPr/>
        <p:txBody>
          <a:bodyPr/>
          <a:lstStyle/>
          <a:p>
            <a:fld id="{9B74BED1-0295-4B71-B36B-8D241C255607}" type="datetime1">
              <a:rPr lang="zh-CN" altLang="en-US" smtClean="0"/>
              <a:t>2025/10/25</a:t>
            </a:fld>
            <a:endParaRPr lang="zh-CN" altLang="en-US"/>
          </a:p>
        </p:txBody>
      </p:sp>
      <p:sp>
        <p:nvSpPr>
          <p:cNvPr id="3" name="页脚占位符 2">
            <a:extLst>
              <a:ext uri="{FF2B5EF4-FFF2-40B4-BE49-F238E27FC236}">
                <a16:creationId xmlns:a16="http://schemas.microsoft.com/office/drawing/2014/main" id="{C310D858-9AF1-0508-7F81-95EBA38DB53E}"/>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6EA95DB3-AEEC-9C04-ADE8-C0F13DD6EB76}"/>
              </a:ext>
            </a:extLst>
          </p:cNvPr>
          <p:cNvSpPr>
            <a:spLocks noGrp="1"/>
          </p:cNvSpPr>
          <p:nvPr>
            <p:ph type="sldNum" sz="quarter" idx="12"/>
          </p:nvPr>
        </p:nvSpPr>
        <p:spPr/>
        <p:txBody>
          <a:bodyPr/>
          <a:lstStyle/>
          <a:p>
            <a:fld id="{CC48877C-6764-4929-A52F-DE1B75E1394B}" type="slidenum">
              <a:rPr lang="zh-CN" altLang="en-US" smtClean="0"/>
              <a:t>‹#›</a:t>
            </a:fld>
            <a:endParaRPr lang="zh-CN" altLang="en-US"/>
          </a:p>
        </p:txBody>
      </p:sp>
    </p:spTree>
    <p:extLst>
      <p:ext uri="{BB962C8B-B14F-4D97-AF65-F5344CB8AC3E}">
        <p14:creationId xmlns:p14="http://schemas.microsoft.com/office/powerpoint/2010/main" val="18787294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9406EC-0B39-1C53-DB0C-CDA0BF7BF4A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0AAFB04-49D8-4105-BA53-EF89DA05F0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C1FC77F4-6044-F727-B141-C24A51FC99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7CD9022-9D1B-84A7-1AD1-2CEA3433F8A1}"/>
              </a:ext>
            </a:extLst>
          </p:cNvPr>
          <p:cNvSpPr>
            <a:spLocks noGrp="1"/>
          </p:cNvSpPr>
          <p:nvPr>
            <p:ph type="dt" sz="half" idx="10"/>
          </p:nvPr>
        </p:nvSpPr>
        <p:spPr/>
        <p:txBody>
          <a:bodyPr/>
          <a:lstStyle/>
          <a:p>
            <a:fld id="{F5C79665-F123-4DA5-8729-4F33643FDB62}" type="datetime1">
              <a:rPr lang="zh-CN" altLang="en-US" smtClean="0"/>
              <a:t>2025/10/25</a:t>
            </a:fld>
            <a:endParaRPr lang="zh-CN" altLang="en-US"/>
          </a:p>
        </p:txBody>
      </p:sp>
      <p:sp>
        <p:nvSpPr>
          <p:cNvPr id="6" name="页脚占位符 5">
            <a:extLst>
              <a:ext uri="{FF2B5EF4-FFF2-40B4-BE49-F238E27FC236}">
                <a16:creationId xmlns:a16="http://schemas.microsoft.com/office/drawing/2014/main" id="{212D8ABE-8BCF-BDAB-E58F-34CB73BB3B8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18BC251-56C5-25DE-61B8-DF0F365BDB58}"/>
              </a:ext>
            </a:extLst>
          </p:cNvPr>
          <p:cNvSpPr>
            <a:spLocks noGrp="1"/>
          </p:cNvSpPr>
          <p:nvPr>
            <p:ph type="sldNum" sz="quarter" idx="12"/>
          </p:nvPr>
        </p:nvSpPr>
        <p:spPr/>
        <p:txBody>
          <a:bodyPr/>
          <a:lstStyle/>
          <a:p>
            <a:fld id="{CC48877C-6764-4929-A52F-DE1B75E1394B}" type="slidenum">
              <a:rPr lang="zh-CN" altLang="en-US" smtClean="0"/>
              <a:t>‹#›</a:t>
            </a:fld>
            <a:endParaRPr lang="zh-CN" altLang="en-US"/>
          </a:p>
        </p:txBody>
      </p:sp>
    </p:spTree>
    <p:extLst>
      <p:ext uri="{BB962C8B-B14F-4D97-AF65-F5344CB8AC3E}">
        <p14:creationId xmlns:p14="http://schemas.microsoft.com/office/powerpoint/2010/main" val="268041983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D288EB-F5E7-982B-47D6-8B3DB82D225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374B7CC-7EC1-F15A-77A8-2025962ABF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2AD74409-D99B-8893-C698-07A79FBDC9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25EE86E-A5C5-422D-2F49-0DEE22B6D623}"/>
              </a:ext>
            </a:extLst>
          </p:cNvPr>
          <p:cNvSpPr>
            <a:spLocks noGrp="1"/>
          </p:cNvSpPr>
          <p:nvPr>
            <p:ph type="dt" sz="half" idx="10"/>
          </p:nvPr>
        </p:nvSpPr>
        <p:spPr/>
        <p:txBody>
          <a:bodyPr/>
          <a:lstStyle/>
          <a:p>
            <a:fld id="{B8347840-6F23-4F41-9F6C-6C1CD9393B19}" type="datetime1">
              <a:rPr lang="zh-CN" altLang="en-US" smtClean="0"/>
              <a:t>2025/10/25</a:t>
            </a:fld>
            <a:endParaRPr lang="zh-CN" altLang="en-US"/>
          </a:p>
        </p:txBody>
      </p:sp>
      <p:sp>
        <p:nvSpPr>
          <p:cNvPr id="6" name="页脚占位符 5">
            <a:extLst>
              <a:ext uri="{FF2B5EF4-FFF2-40B4-BE49-F238E27FC236}">
                <a16:creationId xmlns:a16="http://schemas.microsoft.com/office/drawing/2014/main" id="{5B3BDD49-8FA7-F78B-2E6D-FD4F8F91F3C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04BB3D7-A11B-0363-3105-DC8D5C8F5E0D}"/>
              </a:ext>
            </a:extLst>
          </p:cNvPr>
          <p:cNvSpPr>
            <a:spLocks noGrp="1"/>
          </p:cNvSpPr>
          <p:nvPr>
            <p:ph type="sldNum" sz="quarter" idx="12"/>
          </p:nvPr>
        </p:nvSpPr>
        <p:spPr/>
        <p:txBody>
          <a:bodyPr/>
          <a:lstStyle/>
          <a:p>
            <a:fld id="{CC48877C-6764-4929-A52F-DE1B75E1394B}" type="slidenum">
              <a:rPr lang="zh-CN" altLang="en-US" smtClean="0"/>
              <a:t>‹#›</a:t>
            </a:fld>
            <a:endParaRPr lang="zh-CN" altLang="en-US"/>
          </a:p>
        </p:txBody>
      </p:sp>
    </p:spTree>
    <p:extLst>
      <p:ext uri="{BB962C8B-B14F-4D97-AF65-F5344CB8AC3E}">
        <p14:creationId xmlns:p14="http://schemas.microsoft.com/office/powerpoint/2010/main" val="2291053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99BE63-CB65-1EEC-F0BD-1F8CE42DF38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E04117E-907E-52A6-27EE-78BCB37F7FFA}"/>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2FA5F8B-1B29-3A82-ED64-A36E874E1A21}"/>
              </a:ext>
            </a:extLst>
          </p:cNvPr>
          <p:cNvSpPr>
            <a:spLocks noGrp="1"/>
          </p:cNvSpPr>
          <p:nvPr>
            <p:ph type="dt" sz="half" idx="10"/>
          </p:nvPr>
        </p:nvSpPr>
        <p:spPr/>
        <p:txBody>
          <a:bodyPr/>
          <a:lstStyle/>
          <a:p>
            <a:fld id="{05D5A59C-DEEF-4BD0-8B8A-E9DCEC584B15}" type="datetime1">
              <a:rPr lang="zh-CN" altLang="en-US" smtClean="0"/>
              <a:t>2025/10/25</a:t>
            </a:fld>
            <a:endParaRPr lang="zh-CN" altLang="en-US"/>
          </a:p>
        </p:txBody>
      </p:sp>
      <p:sp>
        <p:nvSpPr>
          <p:cNvPr id="5" name="页脚占位符 4">
            <a:extLst>
              <a:ext uri="{FF2B5EF4-FFF2-40B4-BE49-F238E27FC236}">
                <a16:creationId xmlns:a16="http://schemas.microsoft.com/office/drawing/2014/main" id="{5DA77406-3934-2937-82C1-D06519E59F1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BAA97F8-4FEE-4D33-60AC-9106BDC85FB5}"/>
              </a:ext>
            </a:extLst>
          </p:cNvPr>
          <p:cNvSpPr>
            <a:spLocks noGrp="1"/>
          </p:cNvSpPr>
          <p:nvPr>
            <p:ph type="sldNum" sz="quarter" idx="12"/>
          </p:nvPr>
        </p:nvSpPr>
        <p:spPr/>
        <p:txBody>
          <a:bodyPr/>
          <a:lstStyle/>
          <a:p>
            <a:fld id="{CC48877C-6764-4929-A52F-DE1B75E1394B}" type="slidenum">
              <a:rPr lang="zh-CN" altLang="en-US" smtClean="0"/>
              <a:t>‹#›</a:t>
            </a:fld>
            <a:endParaRPr lang="zh-CN" altLang="en-US"/>
          </a:p>
        </p:txBody>
      </p:sp>
    </p:spTree>
    <p:extLst>
      <p:ext uri="{BB962C8B-B14F-4D97-AF65-F5344CB8AC3E}">
        <p14:creationId xmlns:p14="http://schemas.microsoft.com/office/powerpoint/2010/main" val="374008609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F1D7B2C-14FB-8C4C-2CB7-F7E5AED8EC26}"/>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C0A9658-CB5B-581A-3AE1-7E40A493D064}"/>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8319357-121B-24C8-155E-CAB82F9E5BAE}"/>
              </a:ext>
            </a:extLst>
          </p:cNvPr>
          <p:cNvSpPr>
            <a:spLocks noGrp="1"/>
          </p:cNvSpPr>
          <p:nvPr>
            <p:ph type="dt" sz="half" idx="10"/>
          </p:nvPr>
        </p:nvSpPr>
        <p:spPr/>
        <p:txBody>
          <a:bodyPr/>
          <a:lstStyle/>
          <a:p>
            <a:fld id="{076A101B-A57F-40E2-8EDB-33D79EE0C74E}" type="datetime1">
              <a:rPr lang="zh-CN" altLang="en-US" smtClean="0"/>
              <a:t>2025/10/25</a:t>
            </a:fld>
            <a:endParaRPr lang="zh-CN" altLang="en-US"/>
          </a:p>
        </p:txBody>
      </p:sp>
      <p:sp>
        <p:nvSpPr>
          <p:cNvPr id="5" name="页脚占位符 4">
            <a:extLst>
              <a:ext uri="{FF2B5EF4-FFF2-40B4-BE49-F238E27FC236}">
                <a16:creationId xmlns:a16="http://schemas.microsoft.com/office/drawing/2014/main" id="{6C5F153E-F6FC-DA21-30FB-055C79B79F1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40A9045-881B-8CE6-7695-3D24A6780C11}"/>
              </a:ext>
            </a:extLst>
          </p:cNvPr>
          <p:cNvSpPr>
            <a:spLocks noGrp="1"/>
          </p:cNvSpPr>
          <p:nvPr>
            <p:ph type="sldNum" sz="quarter" idx="12"/>
          </p:nvPr>
        </p:nvSpPr>
        <p:spPr/>
        <p:txBody>
          <a:bodyPr/>
          <a:lstStyle/>
          <a:p>
            <a:fld id="{CC48877C-6764-4929-A52F-DE1B75E1394B}" type="slidenum">
              <a:rPr lang="zh-CN" altLang="en-US" smtClean="0"/>
              <a:t>‹#›</a:t>
            </a:fld>
            <a:endParaRPr lang="zh-CN" altLang="en-US"/>
          </a:p>
        </p:txBody>
      </p:sp>
    </p:spTree>
    <p:extLst>
      <p:ext uri="{BB962C8B-B14F-4D97-AF65-F5344CB8AC3E}">
        <p14:creationId xmlns:p14="http://schemas.microsoft.com/office/powerpoint/2010/main" val="40142670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89AE7EF-F87D-9C21-C4BB-171C8D9B50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8AF3D3E9-FE54-B7B5-61E8-7471036E46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3A6B583-F9AA-8EDA-E541-C152443147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08C757F-76A3-458C-8FC2-A0F5CA429527}" type="datetime1">
              <a:rPr lang="zh-CN" altLang="en-US" smtClean="0"/>
              <a:t>2025/10/25</a:t>
            </a:fld>
            <a:endParaRPr lang="zh-CN" altLang="en-US"/>
          </a:p>
        </p:txBody>
      </p:sp>
      <p:sp>
        <p:nvSpPr>
          <p:cNvPr id="5" name="页脚占位符 4">
            <a:extLst>
              <a:ext uri="{FF2B5EF4-FFF2-40B4-BE49-F238E27FC236}">
                <a16:creationId xmlns:a16="http://schemas.microsoft.com/office/drawing/2014/main" id="{278A588B-8EE2-28BC-48EA-8B9B0CBDDE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B0B4F34A-A39E-23CC-FAEC-C3E874B5CD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2278446363"/>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5" r:id="rId3"/>
    <p:sldLayoutId id="2147483650" r:id="rId4"/>
    <p:sldLayoutId id="2147483654" r:id="rId5"/>
    <p:sldLayoutId id="2147483656" r:id="rId6"/>
    <p:sldLayoutId id="2147483652" r:id="rId7"/>
    <p:sldLayoutId id="2147483653"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A1E81A68-8B9A-119A-F0BF-DF85B68428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7BBC5DE7-3D66-0DD8-6A31-1111403FC3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641BB9F-6CE7-4FD5-7991-65AEC6AD5C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241A484-37B9-4225-B638-3402B95B4F48}" type="datetime1">
              <a:rPr lang="zh-CN" altLang="en-US" smtClean="0"/>
              <a:t>2025/10/25</a:t>
            </a:fld>
            <a:endParaRPr lang="zh-CN" altLang="en-US"/>
          </a:p>
        </p:txBody>
      </p:sp>
      <p:sp>
        <p:nvSpPr>
          <p:cNvPr id="5" name="页脚占位符 4">
            <a:extLst>
              <a:ext uri="{FF2B5EF4-FFF2-40B4-BE49-F238E27FC236}">
                <a16:creationId xmlns:a16="http://schemas.microsoft.com/office/drawing/2014/main" id="{22BC98BA-45C6-5777-FFD7-62EFBDF1F2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C2C1EBD6-E881-7AE1-100C-074B127BE9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C48877C-6764-4929-A52F-DE1B75E1394B}" type="slidenum">
              <a:rPr lang="zh-CN" altLang="en-US" smtClean="0"/>
              <a:t>‹#›</a:t>
            </a:fld>
            <a:endParaRPr lang="zh-CN" altLang="en-US"/>
          </a:p>
        </p:txBody>
      </p:sp>
    </p:spTree>
    <p:extLst>
      <p:ext uri="{BB962C8B-B14F-4D97-AF65-F5344CB8AC3E}">
        <p14:creationId xmlns:p14="http://schemas.microsoft.com/office/powerpoint/2010/main" val="2350094640"/>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file:///C:\Users\WuWMi\Desktop\&#26700;&#38754;&#20869;&#23481;\025648-02-05%5b&#21516;002368%5d%20&#25968;&#25454;&#32467;&#26500;&#65288;C&#35821;&#35328;&#29256;&#65289;TO%20WORD\1.2.tif" TargetMode="External"/><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file:///C:\Users\WuWMi\Desktop\&#26700;&#38754;&#20869;&#23481;\025648-02-05%5b&#21516;002368%5d%20&#25968;&#25454;&#32467;&#26500;&#65288;C&#35821;&#35328;&#29256;&#65289;TO%20WORD\1.6.tif" TargetMode="External"/><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file:///C:\Users\WuWMi\Desktop\&#26700;&#38754;&#20869;&#23481;\025648-02-05%5b&#21516;002368%5d%20&#25968;&#25454;&#32467;&#26500;&#65288;C&#35821;&#35328;&#29256;&#65289;TO%20WORD\1.7.tif" TargetMode="External"/><Relationship Id="rId2" Type="http://schemas.openxmlformats.org/officeDocument/2006/relationships/image" Target="../media/image11.png"/><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圆角 7">
            <a:extLst>
              <a:ext uri="{FF2B5EF4-FFF2-40B4-BE49-F238E27FC236}">
                <a16:creationId xmlns:a16="http://schemas.microsoft.com/office/drawing/2014/main" id="{CCDA872E-B97A-CC49-20D3-72677EFD5AF8}"/>
              </a:ext>
            </a:extLst>
          </p:cNvPr>
          <p:cNvSpPr/>
          <p:nvPr/>
        </p:nvSpPr>
        <p:spPr>
          <a:xfrm>
            <a:off x="6170677" y="1818398"/>
            <a:ext cx="5093804" cy="3056818"/>
          </a:xfrm>
          <a:prstGeom prst="roundRect">
            <a:avLst/>
          </a:prstGeom>
          <a:blipFill>
            <a:blip r:embed="rId2"/>
            <a:tile tx="0" ty="0" sx="100000" sy="100000" flip="none" algn="tl"/>
          </a:blipFill>
          <a:ln w="92075" cmpd="thickThi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spcBef>
                <a:spcPts val="0"/>
              </a:spcBef>
              <a:spcAft>
                <a:spcPts val="0"/>
              </a:spcAft>
              <a:buClrTx/>
              <a:buSzTx/>
              <a:buFontTx/>
              <a:buNone/>
              <a:tabLst/>
              <a:defRPr/>
            </a:pPr>
            <a:r>
              <a:rPr kumimoji="0" lang="zh-CN" altLang="en-US" sz="4000" b="0" i="0" u="none" strike="noStrike" kern="1200" cap="none" spc="0" normalizeH="0" baseline="0" noProof="0" dirty="0">
                <a:ln>
                  <a:noFill/>
                </a:ln>
                <a:solidFill>
                  <a:schemeClr val="accent4">
                    <a:lumMod val="75000"/>
                  </a:schemeClr>
                </a:solidFill>
                <a:effectLst/>
                <a:uLnTx/>
                <a:uFillTx/>
                <a:latin typeface="华文琥珀" panose="02010800040101010101" pitchFamily="2" charset="-122"/>
                <a:ea typeface="华文琥珀" panose="02010800040101010101" pitchFamily="2" charset="-122"/>
              </a:rPr>
              <a:t>第 </a:t>
            </a:r>
            <a:r>
              <a:rPr lang="en-US" altLang="zh-CN" sz="4000" dirty="0">
                <a:solidFill>
                  <a:schemeClr val="accent4">
                    <a:lumMod val="75000"/>
                  </a:schemeClr>
                </a:solidFill>
                <a:latin typeface="Wide Latin" panose="020A0A07050505020404" pitchFamily="18" charset="0"/>
                <a:ea typeface="华文彩云" panose="02010800040101010101" pitchFamily="2" charset="-122"/>
                <a:cs typeface="Times New Roman" panose="02020603050405020304" pitchFamily="18" charset="0"/>
              </a:rPr>
              <a:t>1</a:t>
            </a:r>
            <a:r>
              <a:rPr lang="en-US" altLang="zh-CN" sz="4000" dirty="0">
                <a:solidFill>
                  <a:schemeClr val="accent4">
                    <a:lumMod val="75000"/>
                  </a:schemeClr>
                </a:solidFill>
                <a:latin typeface="华文琥珀" panose="02010800040101010101" pitchFamily="2" charset="-122"/>
                <a:ea typeface="华文琥珀" panose="02010800040101010101" pitchFamily="2" charset="-122"/>
                <a:cs typeface="Times New Roman" panose="02020603050405020304" pitchFamily="18" charset="0"/>
              </a:rPr>
              <a:t> </a:t>
            </a:r>
            <a:r>
              <a:rPr kumimoji="0" lang="zh-CN" altLang="en-US" sz="4000" b="0" i="0" u="none" strike="noStrike" kern="1200" cap="none" spc="0" normalizeH="0" baseline="0" noProof="0" dirty="0">
                <a:ln>
                  <a:noFill/>
                </a:ln>
                <a:solidFill>
                  <a:schemeClr val="accent4">
                    <a:lumMod val="75000"/>
                  </a:schemeClr>
                </a:solidFill>
                <a:effectLst/>
                <a:uLnTx/>
                <a:uFillTx/>
                <a:latin typeface="华文琥珀" panose="02010800040101010101" pitchFamily="2" charset="-122"/>
                <a:ea typeface="华文琥珀" panose="02010800040101010101" pitchFamily="2" charset="-122"/>
              </a:rPr>
              <a:t>章</a:t>
            </a:r>
            <a:r>
              <a:rPr kumimoji="0" lang="zh-CN" altLang="en-US" sz="4800" b="0" i="0" u="none" strike="noStrike" kern="1200" cap="none" spc="0" normalizeH="0" baseline="0" noProof="0" dirty="0">
                <a:ln>
                  <a:noFill/>
                </a:ln>
                <a:solidFill>
                  <a:schemeClr val="accent4">
                    <a:lumMod val="75000"/>
                  </a:schemeClr>
                </a:solidFill>
                <a:effectLst/>
                <a:uLnTx/>
                <a:uFillTx/>
                <a:latin typeface="华文行楷" panose="02010800040101010101" pitchFamily="2" charset="-122"/>
                <a:ea typeface="华文行楷" panose="02010800040101010101" pitchFamily="2" charset="-122"/>
                <a:cs typeface="+mn-cs"/>
              </a:rPr>
              <a:t>    </a:t>
            </a:r>
            <a:endParaRPr kumimoji="0" lang="en-US" altLang="zh-CN" sz="4800" b="0" i="0" u="none" strike="noStrike" kern="1200" cap="none" spc="0" normalizeH="0" baseline="0" noProof="0" dirty="0">
              <a:ln>
                <a:noFill/>
              </a:ln>
              <a:solidFill>
                <a:schemeClr val="accent4">
                  <a:lumMod val="75000"/>
                </a:schemeClr>
              </a:solidFill>
              <a:effectLst/>
              <a:uLnTx/>
              <a:uFillTx/>
              <a:latin typeface="华文行楷" panose="02010800040101010101" pitchFamily="2" charset="-122"/>
              <a:ea typeface="华文行楷" panose="02010800040101010101" pitchFamily="2" charset="-122"/>
              <a:cs typeface="+mn-cs"/>
            </a:endParaRPr>
          </a:p>
          <a:p>
            <a:pPr marL="0" marR="0" lvl="0" indent="0" algn="ctr" defTabSz="457200" rtl="0" eaLnBrk="1" fontAlgn="auto" latinLnBrk="0" hangingPunct="1">
              <a:lnSpc>
                <a:spcPct val="150000"/>
              </a:lnSpc>
              <a:spcBef>
                <a:spcPts val="0"/>
              </a:spcBef>
              <a:spcAft>
                <a:spcPts val="0"/>
              </a:spcAft>
              <a:buClrTx/>
              <a:buSzTx/>
              <a:buFontTx/>
              <a:buNone/>
              <a:tabLst/>
              <a:defRPr/>
            </a:pPr>
            <a:r>
              <a:rPr kumimoji="0" lang="zh-CN" altLang="en-US" sz="6000" b="0"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华文行楷" panose="02010800040101010101" pitchFamily="2" charset="-122"/>
                <a:ea typeface="华文行楷" panose="02010800040101010101" pitchFamily="2" charset="-122"/>
                <a:cs typeface="+mn-cs"/>
              </a:rPr>
              <a:t>绪  论</a:t>
            </a:r>
            <a:endParaRPr kumimoji="0" lang="zh-CN" altLang="en-US" sz="60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Aptos" panose="02110004020202020204"/>
              <a:ea typeface="等线" panose="02010600030101010101" pitchFamily="2" charset="-122"/>
              <a:cs typeface="+mn-cs"/>
            </a:endParaRPr>
          </a:p>
        </p:txBody>
      </p:sp>
      <p:sp>
        <p:nvSpPr>
          <p:cNvPr id="2" name="灯片编号占位符 1">
            <a:extLst>
              <a:ext uri="{FF2B5EF4-FFF2-40B4-BE49-F238E27FC236}">
                <a16:creationId xmlns:a16="http://schemas.microsoft.com/office/drawing/2014/main" id="{4332B477-35D9-38F0-423F-7AE3EF6FD524}"/>
              </a:ext>
            </a:extLst>
          </p:cNvPr>
          <p:cNvSpPr>
            <a:spLocks noGrp="1"/>
          </p:cNvSpPr>
          <p:nvPr>
            <p:ph type="sldNum" sz="quarter" idx="12"/>
          </p:nvPr>
        </p:nvSpPr>
        <p:spPr/>
        <p:txBody>
          <a:bodyPr/>
          <a:lstStyle/>
          <a:p>
            <a:fld id="{D7C0FE0B-717B-41AE-9FA2-CA4BF851D1C3}" type="slidenum">
              <a:rPr lang="zh-CN" altLang="en-US" smtClean="0"/>
              <a:t>1</a:t>
            </a:fld>
            <a:endParaRPr lang="zh-CN" altLang="en-US"/>
          </a:p>
        </p:txBody>
      </p:sp>
      <p:pic>
        <p:nvPicPr>
          <p:cNvPr id="3" name="图片 2">
            <a:extLst>
              <a:ext uri="{FF2B5EF4-FFF2-40B4-BE49-F238E27FC236}">
                <a16:creationId xmlns:a16="http://schemas.microsoft.com/office/drawing/2014/main" id="{4A1DEF2C-E6BC-C1CB-CE26-8330A12A589C}"/>
              </a:ext>
            </a:extLst>
          </p:cNvPr>
          <p:cNvPicPr>
            <a:picLocks noChangeAspect="1"/>
          </p:cNvPicPr>
          <p:nvPr/>
        </p:nvPicPr>
        <p:blipFill>
          <a:blip r:embed="rId3"/>
          <a:stretch>
            <a:fillRect/>
          </a:stretch>
        </p:blipFill>
        <p:spPr>
          <a:xfrm>
            <a:off x="0" y="0"/>
            <a:ext cx="5553083" cy="6858000"/>
          </a:xfrm>
          <a:prstGeom prst="rect">
            <a:avLst/>
          </a:prstGeom>
        </p:spPr>
      </p:pic>
    </p:spTree>
    <p:extLst>
      <p:ext uri="{BB962C8B-B14F-4D97-AF65-F5344CB8AC3E}">
        <p14:creationId xmlns:p14="http://schemas.microsoft.com/office/powerpoint/2010/main" val="28850468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9" name="Text Box 3"/>
          <p:cNvSpPr txBox="1"/>
          <p:nvPr/>
        </p:nvSpPr>
        <p:spPr>
          <a:xfrm>
            <a:off x="3184525" y="722313"/>
            <a:ext cx="184150" cy="366712"/>
          </a:xfrm>
          <a:prstGeom prst="rect">
            <a:avLst/>
          </a:prstGeom>
          <a:noFill/>
          <a:ln w="9525">
            <a:noFill/>
          </a:ln>
        </p:spPr>
        <p:txBody>
          <a:bodyPr wrap="none">
            <a:spAutoFit/>
          </a:bodyPr>
          <a:lstStyle/>
          <a:p>
            <a:pPr defTabSz="914400" fontAlgn="base">
              <a:spcBef>
                <a:spcPct val="0"/>
              </a:spcBef>
              <a:spcAft>
                <a:spcPct val="0"/>
              </a:spcAft>
            </a:pPr>
            <a:endParaRPr lang="zh-CN" altLang="zh-CN" dirty="0">
              <a:solidFill>
                <a:srgbClr val="1D528D"/>
              </a:solidFill>
              <a:latin typeface="Arial" panose="020B0604020202020204" pitchFamily="34" charset="0"/>
              <a:ea typeface="宋体" panose="02010600030101010101" pitchFamily="2" charset="-122"/>
            </a:endParaRPr>
          </a:p>
        </p:txBody>
      </p:sp>
      <p:sp>
        <p:nvSpPr>
          <p:cNvPr id="70702" name="AutoShape 46"/>
          <p:cNvSpPr>
            <a:spLocks noChangeArrowheads="1"/>
          </p:cNvSpPr>
          <p:nvPr/>
        </p:nvSpPr>
        <p:spPr bwMode="ltGray">
          <a:xfrm rot="5400000">
            <a:off x="-946150" y="1389063"/>
            <a:ext cx="4824413" cy="4770438"/>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1">
            <a:gsLst>
              <a:gs pos="0">
                <a:schemeClr val="bg2">
                  <a:gamma/>
                  <a:tint val="45490"/>
                  <a:invGamma/>
                </a:schemeClr>
              </a:gs>
              <a:gs pos="50000">
                <a:schemeClr val="bg2"/>
              </a:gs>
              <a:gs pos="100000">
                <a:schemeClr val="bg2">
                  <a:gamma/>
                  <a:tint val="45490"/>
                  <a:invGamma/>
                </a:schemeClr>
              </a:gs>
            </a:gsLst>
            <a:lin ang="0" scaled="1"/>
          </a:gradFill>
          <a:ln w="9525" algn="ctr">
            <a:noFill/>
            <a:miter lim="800000"/>
          </a:ln>
          <a:effectLst/>
        </p:spPr>
        <p:txBody>
          <a:bodyPr wrap="none" anchor="ctr"/>
          <a:lstStyle/>
          <a:p>
            <a:pPr algn="r" defTabSz="914400" fontAlgn="base">
              <a:spcBef>
                <a:spcPct val="0"/>
              </a:spcBef>
              <a:spcAft>
                <a:spcPct val="0"/>
              </a:spcAft>
            </a:pPr>
            <a:endParaRPr dirty="0">
              <a:solidFill>
                <a:srgbClr val="1D528D"/>
              </a:solidFill>
              <a:latin typeface="Arial" panose="020B0604020202020204" pitchFamily="34" charset="0"/>
              <a:ea typeface="宋体" panose="02010600030101010101" pitchFamily="2" charset="-122"/>
            </a:endParaRPr>
          </a:p>
        </p:txBody>
      </p:sp>
      <p:sp>
        <p:nvSpPr>
          <p:cNvPr id="152581" name="AutoShape 47"/>
          <p:cNvSpPr/>
          <p:nvPr/>
        </p:nvSpPr>
        <p:spPr>
          <a:xfrm rot="5400000" flipH="1">
            <a:off x="-492125" y="1795463"/>
            <a:ext cx="4032250" cy="3929062"/>
          </a:xfrm>
          <a:custGeom>
            <a:avLst/>
            <a:gdLst>
              <a:gd name="txL" fmla="*/ 0 w 21600"/>
              <a:gd name="txT" fmla="*/ 0 h 21600"/>
              <a:gd name="txR" fmla="*/ 21600 w 21600"/>
              <a:gd name="txB" fmla="*/ 7713 h 21600"/>
            </a:gdLst>
            <a:ahLst/>
            <a:cxnLst>
              <a:cxn ang="0">
                <a:pos x="2016125" y="0"/>
              </a:cxn>
              <a:cxn ang="0">
                <a:pos x="1002836" y="1964532"/>
              </a:cxn>
              <a:cxn ang="0">
                <a:pos x="2016125" y="1954345"/>
              </a:cxn>
              <a:cxn ang="0">
                <a:pos x="3029414" y="1964532"/>
              </a:cxn>
            </a:cxnLst>
            <a:rect l="txL" t="txT" r="txR" b="txB"/>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gradFill rotWithShape="1">
            <a:gsLst>
              <a:gs pos="0">
                <a:srgbClr val="1B9AD9">
                  <a:alpha val="35999"/>
                </a:srgbClr>
              </a:gs>
              <a:gs pos="100000">
                <a:srgbClr val="B2DDF2"/>
              </a:gs>
            </a:gsLst>
            <a:lin ang="5400000" scaled="1"/>
            <a:tileRect/>
          </a:gradFill>
          <a:ln w="0">
            <a:noFill/>
          </a:ln>
        </p:spPr>
        <p:txBody>
          <a:bodyPr rot="10800000" vert="eaVert" wrap="none" anchor="ctr" anchorCtr="0"/>
          <a:lstStyle/>
          <a:p>
            <a:pPr algn="r" defTabSz="914400" fontAlgn="base">
              <a:spcBef>
                <a:spcPct val="0"/>
              </a:spcBef>
              <a:spcAft>
                <a:spcPct val="0"/>
              </a:spcAft>
            </a:pPr>
            <a:endParaRPr dirty="0">
              <a:solidFill>
                <a:srgbClr val="1D528D"/>
              </a:solidFill>
              <a:latin typeface="Arial" panose="020B0604020202020204" pitchFamily="34" charset="0"/>
              <a:ea typeface="宋体" panose="02010600030101010101" pitchFamily="2" charset="-122"/>
            </a:endParaRPr>
          </a:p>
        </p:txBody>
      </p:sp>
      <p:sp>
        <p:nvSpPr>
          <p:cNvPr id="152582" name="AutoShape 48"/>
          <p:cNvSpPr/>
          <p:nvPr/>
        </p:nvSpPr>
        <p:spPr>
          <a:xfrm>
            <a:off x="3346450" y="5099050"/>
            <a:ext cx="4419600" cy="508000"/>
          </a:xfrm>
          <a:prstGeom prst="roundRect">
            <a:avLst>
              <a:gd name="adj" fmla="val 50000"/>
            </a:avLst>
          </a:prstGeom>
          <a:gradFill rotWithShape="1">
            <a:gsLst>
              <a:gs pos="0">
                <a:srgbClr val="FF6600"/>
              </a:gs>
              <a:gs pos="100000">
                <a:srgbClr val="FF6600">
                  <a:gamma/>
                  <a:tint val="23922"/>
                  <a:invGamma/>
                </a:srgbClr>
              </a:gs>
            </a:gsLst>
            <a:lin ang="0" scaled="1"/>
            <a:tileRect/>
          </a:gradFill>
          <a:ln w="28575" cap="flat" cmpd="sng">
            <a:solidFill>
              <a:schemeClr val="bg2"/>
            </a:solidFill>
            <a:prstDash val="solid"/>
            <a:headEnd type="none" w="med" len="med"/>
            <a:tailEnd type="none" w="med" len="med"/>
          </a:ln>
        </p:spPr>
        <p:txBody>
          <a:bodyPr wrap="none" anchor="ctr" anchorCtr="0"/>
          <a:lstStyle/>
          <a:p>
            <a:pPr defTabSz="914400" eaLnBrk="0" fontAlgn="base" hangingPunct="0">
              <a:spcBef>
                <a:spcPct val="0"/>
              </a:spcBef>
              <a:spcAft>
                <a:spcPct val="0"/>
              </a:spcAft>
            </a:pPr>
            <a:r>
              <a:rPr lang="en-US" altLang="zh-CN" sz="2400" b="1" dirty="0">
                <a:solidFill>
                  <a:srgbClr val="000099"/>
                </a:solidFill>
                <a:effectLst>
                  <a:outerShdw blurRad="38100" dist="38100" dir="2700000">
                    <a:srgbClr val="C0C0C0"/>
                  </a:outerShdw>
                </a:effectLst>
                <a:latin typeface="Arial" panose="020B0604020202020204" pitchFamily="34" charset="0"/>
                <a:ea typeface="黑体" panose="02010609060101010101" pitchFamily="49" charset="-122"/>
              </a:rPr>
              <a:t>  </a:t>
            </a:r>
            <a:r>
              <a:rPr lang="zh-CN" altLang="en-US" sz="2400" b="1" dirty="0">
                <a:solidFill>
                  <a:srgbClr val="000099"/>
                </a:solidFill>
                <a:effectLst>
                  <a:outerShdw blurRad="38100" dist="38100" dir="2700000">
                    <a:srgbClr val="C0C0C0"/>
                  </a:outerShdw>
                </a:effectLst>
                <a:latin typeface="Arial" panose="020B0604020202020204" pitchFamily="34" charset="0"/>
                <a:ea typeface="黑体" panose="02010609060101010101" pitchFamily="49" charset="-122"/>
              </a:rPr>
              <a:t>查找序列元素</a:t>
            </a:r>
            <a:endParaRPr lang="zh-CN" altLang="en-US" sz="2400" b="1">
              <a:solidFill>
                <a:srgbClr val="000099"/>
              </a:solidFill>
              <a:effectLst>
                <a:outerShdw blurRad="38100" dist="38100" dir="2700000">
                  <a:srgbClr val="C0C0C0"/>
                </a:outerShdw>
              </a:effectLst>
              <a:latin typeface="Arial" panose="020B0604020202020204" pitchFamily="34" charset="0"/>
              <a:ea typeface="黑体" panose="02010609060101010101" pitchFamily="49" charset="-122"/>
            </a:endParaRPr>
          </a:p>
        </p:txBody>
      </p:sp>
      <p:sp>
        <p:nvSpPr>
          <p:cNvPr id="152583" name="AutoShape 49"/>
          <p:cNvSpPr/>
          <p:nvPr/>
        </p:nvSpPr>
        <p:spPr>
          <a:xfrm>
            <a:off x="3841750" y="4271963"/>
            <a:ext cx="4419600" cy="508000"/>
          </a:xfrm>
          <a:prstGeom prst="roundRect">
            <a:avLst>
              <a:gd name="adj" fmla="val 50000"/>
            </a:avLst>
          </a:prstGeom>
          <a:gradFill rotWithShape="1">
            <a:gsLst>
              <a:gs pos="0">
                <a:schemeClr val="hlink"/>
              </a:gs>
              <a:gs pos="100000">
                <a:schemeClr val="hlink">
                  <a:gamma/>
                  <a:tint val="33725"/>
                  <a:invGamma/>
                </a:schemeClr>
              </a:gs>
            </a:gsLst>
            <a:lin ang="0" scaled="1"/>
            <a:tileRect/>
          </a:gradFill>
          <a:ln w="28575" cap="flat" cmpd="sng">
            <a:solidFill>
              <a:schemeClr val="bg2"/>
            </a:solidFill>
            <a:prstDash val="solid"/>
            <a:headEnd type="none" w="med" len="med"/>
            <a:tailEnd type="none" w="med" len="med"/>
          </a:ln>
        </p:spPr>
        <p:txBody>
          <a:bodyPr wrap="none" anchor="ctr" anchorCtr="0"/>
          <a:lstStyle/>
          <a:p>
            <a:pPr defTabSz="914400" eaLnBrk="0" fontAlgn="base" hangingPunct="0">
              <a:spcBef>
                <a:spcPct val="0"/>
              </a:spcBef>
              <a:spcAft>
                <a:spcPct val="0"/>
              </a:spcAft>
            </a:pPr>
            <a:r>
              <a:rPr lang="en-US" altLang="zh-CN" sz="2400" b="1" dirty="0">
                <a:solidFill>
                  <a:srgbClr val="000099"/>
                </a:solidFill>
                <a:effectLst>
                  <a:outerShdw blurRad="38100" dist="38100" dir="2700000">
                    <a:srgbClr val="C0C0C0"/>
                  </a:outerShdw>
                </a:effectLst>
                <a:latin typeface="Arial" panose="020B0604020202020204" pitchFamily="34" charset="0"/>
                <a:ea typeface="黑体" panose="02010609060101010101" pitchFamily="49" charset="-122"/>
              </a:rPr>
              <a:t>  </a:t>
            </a:r>
            <a:r>
              <a:rPr lang="zh-CN" altLang="en-US" sz="2400" b="1" dirty="0">
                <a:solidFill>
                  <a:srgbClr val="000099"/>
                </a:solidFill>
                <a:effectLst>
                  <a:outerShdw blurRad="38100" dist="38100" dir="2700000">
                    <a:srgbClr val="C0C0C0"/>
                  </a:outerShdw>
                </a:effectLst>
                <a:latin typeface="Arial" panose="020B0604020202020204" pitchFamily="34" charset="0"/>
                <a:ea typeface="黑体" panose="02010609060101010101" pitchFamily="49" charset="-122"/>
              </a:rPr>
              <a:t>序列的顺序存储</a:t>
            </a:r>
            <a:endParaRPr lang="zh-CN" altLang="en-US" sz="2400" b="1">
              <a:solidFill>
                <a:srgbClr val="000099"/>
              </a:solidFill>
              <a:effectLst>
                <a:outerShdw blurRad="38100" dist="38100" dir="2700000">
                  <a:srgbClr val="C0C0C0"/>
                </a:outerShdw>
              </a:effectLst>
              <a:latin typeface="Arial" panose="020B0604020202020204" pitchFamily="34" charset="0"/>
              <a:ea typeface="黑体" panose="02010609060101010101" pitchFamily="49" charset="-122"/>
            </a:endParaRPr>
          </a:p>
        </p:txBody>
      </p:sp>
      <p:sp>
        <p:nvSpPr>
          <p:cNvPr id="152584" name="AutoShape 50"/>
          <p:cNvSpPr/>
          <p:nvPr/>
        </p:nvSpPr>
        <p:spPr>
          <a:xfrm>
            <a:off x="3962400" y="3459163"/>
            <a:ext cx="4419600" cy="508000"/>
          </a:xfrm>
          <a:prstGeom prst="roundRect">
            <a:avLst>
              <a:gd name="adj" fmla="val 50000"/>
            </a:avLst>
          </a:prstGeom>
          <a:gradFill rotWithShape="1">
            <a:gsLst>
              <a:gs pos="0">
                <a:schemeClr val="accent1"/>
              </a:gs>
              <a:gs pos="100000">
                <a:schemeClr val="accent1">
                  <a:gamma/>
                  <a:tint val="23922"/>
                  <a:invGamma/>
                </a:schemeClr>
              </a:gs>
            </a:gsLst>
            <a:lin ang="0" scaled="1"/>
            <a:tileRect/>
          </a:gradFill>
          <a:ln w="28575" cap="flat" cmpd="sng">
            <a:solidFill>
              <a:schemeClr val="bg2"/>
            </a:solidFill>
            <a:prstDash val="solid"/>
            <a:headEnd type="none" w="med" len="med"/>
            <a:tailEnd type="none" w="med" len="med"/>
          </a:ln>
        </p:spPr>
        <p:txBody>
          <a:bodyPr wrap="none" anchor="ctr" anchorCtr="0"/>
          <a:lstStyle/>
          <a:p>
            <a:pPr defTabSz="914400" eaLnBrk="0" fontAlgn="base" hangingPunct="0">
              <a:spcBef>
                <a:spcPct val="0"/>
              </a:spcBef>
              <a:spcAft>
                <a:spcPct val="0"/>
              </a:spcAft>
            </a:pPr>
            <a:r>
              <a:rPr lang="en-US" altLang="zh-CN" sz="2400" b="1" dirty="0">
                <a:solidFill>
                  <a:srgbClr val="000099"/>
                </a:solidFill>
                <a:effectLst>
                  <a:outerShdw blurRad="38100" dist="38100" dir="2700000">
                    <a:srgbClr val="C0C0C0"/>
                  </a:outerShdw>
                </a:effectLst>
                <a:latin typeface="Arial" panose="020B0604020202020204" pitchFamily="34" charset="0"/>
                <a:ea typeface="黑体" panose="02010609060101010101" pitchFamily="49" charset="-122"/>
              </a:rPr>
              <a:t>  </a:t>
            </a:r>
            <a:r>
              <a:rPr lang="zh-CN" altLang="en-US" sz="2400" b="1" dirty="0">
                <a:solidFill>
                  <a:srgbClr val="000099"/>
                </a:solidFill>
                <a:effectLst>
                  <a:outerShdw blurRad="38100" dist="38100" dir="2700000">
                    <a:srgbClr val="C0C0C0"/>
                  </a:outerShdw>
                </a:effectLst>
                <a:latin typeface="Arial" panose="020B0604020202020204" pitchFamily="34" charset="0"/>
                <a:ea typeface="黑体" panose="02010609060101010101" pitchFamily="49" charset="-122"/>
              </a:rPr>
              <a:t>操作一维数组的元素</a:t>
            </a:r>
            <a:endParaRPr lang="zh-CN" altLang="en-US" sz="2400" b="1">
              <a:solidFill>
                <a:srgbClr val="000099"/>
              </a:solidFill>
              <a:effectLst>
                <a:outerShdw blurRad="38100" dist="38100" dir="2700000">
                  <a:srgbClr val="C0C0C0"/>
                </a:outerShdw>
              </a:effectLst>
              <a:latin typeface="Arial" panose="020B0604020202020204" pitchFamily="34" charset="0"/>
              <a:ea typeface="黑体" panose="02010609060101010101" pitchFamily="49" charset="-122"/>
            </a:endParaRPr>
          </a:p>
        </p:txBody>
      </p:sp>
      <p:sp>
        <p:nvSpPr>
          <p:cNvPr id="152585" name="AutoShape 51"/>
          <p:cNvSpPr/>
          <p:nvPr/>
        </p:nvSpPr>
        <p:spPr>
          <a:xfrm>
            <a:off x="3810000" y="2590800"/>
            <a:ext cx="4419600" cy="508000"/>
          </a:xfrm>
          <a:prstGeom prst="roundRect">
            <a:avLst>
              <a:gd name="adj" fmla="val 50000"/>
            </a:avLst>
          </a:prstGeom>
          <a:gradFill rotWithShape="1">
            <a:gsLst>
              <a:gs pos="0">
                <a:srgbClr val="33CC33"/>
              </a:gs>
              <a:gs pos="100000">
                <a:srgbClr val="33CC33">
                  <a:gamma/>
                  <a:tint val="20000"/>
                  <a:invGamma/>
                </a:srgbClr>
              </a:gs>
            </a:gsLst>
            <a:lin ang="0" scaled="1"/>
            <a:tileRect/>
          </a:gradFill>
          <a:ln w="28575" cap="flat" cmpd="sng">
            <a:solidFill>
              <a:schemeClr val="bg2"/>
            </a:solidFill>
            <a:prstDash val="solid"/>
            <a:headEnd type="none" w="med" len="med"/>
            <a:tailEnd type="none" w="med" len="med"/>
          </a:ln>
        </p:spPr>
        <p:txBody>
          <a:bodyPr wrap="none" anchor="ctr" anchorCtr="0"/>
          <a:lstStyle/>
          <a:p>
            <a:pPr defTabSz="914400" eaLnBrk="0" fontAlgn="base" hangingPunct="0">
              <a:spcBef>
                <a:spcPct val="0"/>
              </a:spcBef>
              <a:spcAft>
                <a:spcPct val="0"/>
              </a:spcAft>
            </a:pPr>
            <a:r>
              <a:rPr lang="en-US" altLang="zh-CN" sz="2400" b="1" dirty="0">
                <a:solidFill>
                  <a:srgbClr val="000099"/>
                </a:solidFill>
                <a:effectLst>
                  <a:outerShdw blurRad="38100" dist="38100" dir="2700000">
                    <a:srgbClr val="C0C0C0"/>
                  </a:outerShdw>
                </a:effectLst>
                <a:latin typeface="Arial" panose="020B0604020202020204" pitchFamily="34" charset="0"/>
                <a:ea typeface="黑体" panose="02010609060101010101" pitchFamily="49" charset="-122"/>
              </a:rPr>
              <a:t>  </a:t>
            </a:r>
            <a:r>
              <a:rPr lang="zh-CN" altLang="en-US" sz="2400" b="1" dirty="0">
                <a:solidFill>
                  <a:srgbClr val="000099"/>
                </a:solidFill>
                <a:effectLst>
                  <a:outerShdw blurRad="38100" dist="38100" dir="2700000">
                    <a:srgbClr val="C0C0C0"/>
                  </a:outerShdw>
                </a:effectLst>
                <a:latin typeface="Arial" panose="020B0604020202020204" pitchFamily="34" charset="0"/>
                <a:ea typeface="黑体" panose="02010609060101010101" pitchFamily="49" charset="-122"/>
              </a:rPr>
              <a:t>遍历一维数组</a:t>
            </a:r>
            <a:endParaRPr lang="zh-CN" altLang="en-US" sz="2400" b="1">
              <a:solidFill>
                <a:srgbClr val="000099"/>
              </a:solidFill>
              <a:effectLst>
                <a:outerShdw blurRad="38100" dist="38100" dir="2700000">
                  <a:srgbClr val="C0C0C0"/>
                </a:outerShdw>
              </a:effectLst>
              <a:latin typeface="Arial" panose="020B0604020202020204" pitchFamily="34" charset="0"/>
              <a:ea typeface="黑体" panose="02010609060101010101" pitchFamily="49" charset="-122"/>
            </a:endParaRPr>
          </a:p>
        </p:txBody>
      </p:sp>
      <p:sp>
        <p:nvSpPr>
          <p:cNvPr id="152586" name="AutoShape 52"/>
          <p:cNvSpPr/>
          <p:nvPr/>
        </p:nvSpPr>
        <p:spPr>
          <a:xfrm>
            <a:off x="3289300" y="1820863"/>
            <a:ext cx="4419600" cy="508000"/>
          </a:xfrm>
          <a:prstGeom prst="roundRect">
            <a:avLst>
              <a:gd name="adj" fmla="val 50000"/>
            </a:avLst>
          </a:prstGeom>
          <a:gradFill rotWithShape="1">
            <a:gsLst>
              <a:gs pos="0">
                <a:srgbClr val="FF9933"/>
              </a:gs>
              <a:gs pos="100000">
                <a:srgbClr val="FF9933">
                  <a:gamma/>
                  <a:tint val="18824"/>
                  <a:invGamma/>
                </a:srgbClr>
              </a:gs>
            </a:gsLst>
            <a:lin ang="0" scaled="1"/>
            <a:tileRect/>
          </a:gradFill>
          <a:ln w="28575" cap="flat" cmpd="sng">
            <a:solidFill>
              <a:schemeClr val="bg2"/>
            </a:solidFill>
            <a:prstDash val="solid"/>
            <a:headEnd type="none" w="med" len="med"/>
            <a:tailEnd type="none" w="med" len="med"/>
          </a:ln>
        </p:spPr>
        <p:txBody>
          <a:bodyPr wrap="none" anchor="ctr" anchorCtr="0"/>
          <a:lstStyle/>
          <a:p>
            <a:pPr defTabSz="914400" eaLnBrk="0" fontAlgn="base" hangingPunct="0">
              <a:spcBef>
                <a:spcPct val="0"/>
              </a:spcBef>
              <a:spcAft>
                <a:spcPct val="0"/>
              </a:spcAft>
            </a:pPr>
            <a:r>
              <a:rPr lang="en-US" altLang="zh-CN" sz="2400" b="1" dirty="0">
                <a:solidFill>
                  <a:srgbClr val="000099"/>
                </a:solidFill>
                <a:effectLst>
                  <a:outerShdw blurRad="38100" dist="38100" dir="2700000">
                    <a:srgbClr val="C0C0C0"/>
                  </a:outerShdw>
                </a:effectLst>
                <a:latin typeface="Arial" panose="020B0604020202020204" pitchFamily="34" charset="0"/>
                <a:ea typeface="黑体" panose="02010609060101010101" pitchFamily="49" charset="-122"/>
              </a:rPr>
              <a:t>  </a:t>
            </a:r>
            <a:r>
              <a:rPr lang="zh-CN" altLang="en-US" sz="2400" b="1" dirty="0">
                <a:solidFill>
                  <a:srgbClr val="000099"/>
                </a:solidFill>
                <a:effectLst>
                  <a:outerShdw blurRad="38100" dist="38100" dir="2700000">
                    <a:srgbClr val="C0C0C0"/>
                  </a:outerShdw>
                </a:effectLst>
                <a:latin typeface="Arial" panose="020B0604020202020204" pitchFamily="34" charset="0"/>
                <a:ea typeface="黑体" panose="02010609060101010101" pitchFamily="49" charset="-122"/>
              </a:rPr>
              <a:t>将一个数列存入一维数组</a:t>
            </a:r>
            <a:endParaRPr lang="zh-CN" altLang="en-US" sz="2400" b="1">
              <a:solidFill>
                <a:srgbClr val="000099"/>
              </a:solidFill>
              <a:effectLst>
                <a:outerShdw blurRad="38100" dist="38100" dir="2700000">
                  <a:srgbClr val="C0C0C0"/>
                </a:outerShdw>
              </a:effectLst>
              <a:latin typeface="Arial" panose="020B0604020202020204" pitchFamily="34" charset="0"/>
              <a:ea typeface="黑体" panose="02010609060101010101" pitchFamily="49" charset="-122"/>
            </a:endParaRPr>
          </a:p>
        </p:txBody>
      </p:sp>
      <p:grpSp>
        <p:nvGrpSpPr>
          <p:cNvPr id="152587" name="Group 53"/>
          <p:cNvGrpSpPr/>
          <p:nvPr/>
        </p:nvGrpSpPr>
        <p:grpSpPr>
          <a:xfrm>
            <a:off x="2971800" y="1840641"/>
            <a:ext cx="381000" cy="519245"/>
            <a:chOff x="2078" y="1387"/>
            <a:chExt cx="1615" cy="2201"/>
          </a:xfrm>
        </p:grpSpPr>
        <p:sp>
          <p:nvSpPr>
            <p:cNvPr id="152588" name="Oval 54"/>
            <p:cNvSpPr/>
            <p:nvPr/>
          </p:nvSpPr>
          <p:spPr>
            <a:xfrm>
              <a:off x="2078" y="1680"/>
              <a:ext cx="1615" cy="1615"/>
            </a:xfrm>
            <a:prstGeom prst="ellipse">
              <a:avLst/>
            </a:prstGeom>
            <a:gradFill rotWithShape="1">
              <a:gsLst>
                <a:gs pos="0">
                  <a:srgbClr val="767676"/>
                </a:gs>
                <a:gs pos="50000">
                  <a:srgbClr val="FFFFFF"/>
                </a:gs>
                <a:gs pos="100000">
                  <a:srgbClr val="767676"/>
                </a:gs>
              </a:gsLst>
              <a:lin ang="5400000" scaled="1"/>
              <a:tileRect/>
            </a:gradFill>
            <a:ln w="57150">
              <a:noFill/>
            </a:ln>
          </p:spPr>
          <p:txBody>
            <a:bodyPr wrap="none" anchor="ctr" anchorCtr="0"/>
            <a:lstStyle/>
            <a:p>
              <a:pPr algn="r" defTabSz="914400" fontAlgn="base">
                <a:spcBef>
                  <a:spcPct val="0"/>
                </a:spcBef>
                <a:spcAft>
                  <a:spcPct val="0"/>
                </a:spcAft>
              </a:pPr>
              <a:endParaRPr dirty="0">
                <a:solidFill>
                  <a:srgbClr val="1D528D"/>
                </a:solidFill>
                <a:latin typeface="Arial" panose="020B0604020202020204" pitchFamily="34" charset="0"/>
                <a:ea typeface="宋体" panose="02010600030101010101" pitchFamily="2" charset="-122"/>
              </a:endParaRPr>
            </a:p>
          </p:txBody>
        </p:sp>
        <p:sp>
          <p:nvSpPr>
            <p:cNvPr id="152589" name="Oval 55"/>
            <p:cNvSpPr/>
            <p:nvPr/>
          </p:nvSpPr>
          <p:spPr>
            <a:xfrm>
              <a:off x="2170" y="1771"/>
              <a:ext cx="1430" cy="1430"/>
            </a:xfrm>
            <a:prstGeom prst="ellipse">
              <a:avLst/>
            </a:prstGeom>
            <a:gradFill rotWithShape="1">
              <a:gsLst>
                <a:gs pos="0">
                  <a:srgbClr val="A2A2A2"/>
                </a:gs>
                <a:gs pos="50000">
                  <a:srgbClr val="FFFFFF"/>
                </a:gs>
                <a:gs pos="100000">
                  <a:srgbClr val="A2A2A2"/>
                </a:gs>
              </a:gsLst>
              <a:lin ang="0" scaled="1"/>
              <a:tileRect/>
            </a:gradFill>
            <a:ln w="9525">
              <a:noFill/>
            </a:ln>
          </p:spPr>
          <p:txBody>
            <a:bodyPr wrap="none" anchor="ctr" anchorCtr="0"/>
            <a:lstStyle/>
            <a:p>
              <a:pPr algn="r" defTabSz="914400" fontAlgn="base">
                <a:spcBef>
                  <a:spcPct val="0"/>
                </a:spcBef>
                <a:spcAft>
                  <a:spcPct val="0"/>
                </a:spcAft>
              </a:pPr>
              <a:endParaRPr dirty="0">
                <a:solidFill>
                  <a:srgbClr val="1D528D"/>
                </a:solidFill>
                <a:latin typeface="Arial" panose="020B0604020202020204" pitchFamily="34" charset="0"/>
                <a:ea typeface="宋体" panose="02010600030101010101" pitchFamily="2" charset="-122"/>
              </a:endParaRPr>
            </a:p>
          </p:txBody>
        </p:sp>
        <p:sp>
          <p:nvSpPr>
            <p:cNvPr id="70712" name="Oval 56"/>
            <p:cNvSpPr>
              <a:spLocks noChangeArrowheads="1"/>
            </p:cNvSpPr>
            <p:nvPr/>
          </p:nvSpPr>
          <p:spPr bwMode="gray">
            <a:xfrm>
              <a:off x="2415"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ln>
            <a:effectLst/>
          </p:spPr>
          <p:txBody>
            <a:bodyPr wrap="none" anchor="ctr">
              <a:spAutoFit/>
            </a:bodyPr>
            <a:lstStyle/>
            <a:p>
              <a:pPr algn="r" defTabSz="914400" fontAlgn="base">
                <a:spcBef>
                  <a:spcPct val="0"/>
                </a:spcBef>
                <a:spcAft>
                  <a:spcPct val="0"/>
                </a:spcAft>
              </a:pPr>
              <a:endParaRPr dirty="0">
                <a:solidFill>
                  <a:srgbClr val="1D528D"/>
                </a:solidFill>
                <a:latin typeface="Arial" panose="020B0604020202020204" pitchFamily="34" charset="0"/>
                <a:ea typeface="宋体" panose="02010600030101010101" pitchFamily="2" charset="-122"/>
              </a:endParaRPr>
            </a:p>
          </p:txBody>
        </p:sp>
        <p:sp>
          <p:nvSpPr>
            <p:cNvPr id="152591" name="Oval 57"/>
            <p:cNvSpPr/>
            <p:nvPr/>
          </p:nvSpPr>
          <p:spPr>
            <a:xfrm>
              <a:off x="2415" y="1387"/>
              <a:ext cx="1101" cy="2201"/>
            </a:xfrm>
            <a:prstGeom prst="ellipse">
              <a:avLst/>
            </a:prstGeom>
            <a:gradFill rotWithShape="1">
              <a:gsLst>
                <a:gs pos="0">
                  <a:srgbClr val="000000"/>
                </a:gs>
                <a:gs pos="100000">
                  <a:srgbClr val="FFCC00"/>
                </a:gs>
              </a:gsLst>
              <a:lin ang="2700000" scaled="1"/>
              <a:tileRect/>
            </a:gradFill>
            <a:ln w="38100">
              <a:noFill/>
            </a:ln>
          </p:spPr>
          <p:txBody>
            <a:bodyPr wrap="none" anchor="ctr" anchorCtr="0">
              <a:spAutoFit/>
            </a:bodyPr>
            <a:lstStyle/>
            <a:p>
              <a:pPr algn="r" defTabSz="914400" fontAlgn="base">
                <a:spcBef>
                  <a:spcPct val="0"/>
                </a:spcBef>
                <a:spcAft>
                  <a:spcPct val="0"/>
                </a:spcAft>
              </a:pPr>
              <a:endParaRPr dirty="0">
                <a:solidFill>
                  <a:srgbClr val="1D528D"/>
                </a:solidFill>
                <a:latin typeface="Arial" panose="020B0604020202020204" pitchFamily="34" charset="0"/>
                <a:ea typeface="宋体" panose="02010600030101010101" pitchFamily="2" charset="-122"/>
              </a:endParaRPr>
            </a:p>
          </p:txBody>
        </p:sp>
        <p:sp>
          <p:nvSpPr>
            <p:cNvPr id="70714" name="Oval 58"/>
            <p:cNvSpPr>
              <a:spLocks noChangeArrowheads="1"/>
            </p:cNvSpPr>
            <p:nvPr/>
          </p:nvSpPr>
          <p:spPr bwMode="gray">
            <a:xfrm>
              <a:off x="2337" y="1387"/>
              <a:ext cx="1096"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ln>
            <a:effectLst/>
          </p:spPr>
          <p:txBody>
            <a:bodyPr anchor="ctr">
              <a:spAutoFit/>
            </a:bodyPr>
            <a:lstStyle/>
            <a:p>
              <a:pPr algn="r" defTabSz="914400" fontAlgn="base">
                <a:spcBef>
                  <a:spcPct val="0"/>
                </a:spcBef>
                <a:spcAft>
                  <a:spcPct val="0"/>
                </a:spcAft>
              </a:pPr>
              <a:endParaRPr dirty="0">
                <a:solidFill>
                  <a:srgbClr val="1D528D"/>
                </a:solidFill>
                <a:latin typeface="Arial" panose="020B0604020202020204" pitchFamily="34" charset="0"/>
                <a:ea typeface="宋体" panose="02010600030101010101" pitchFamily="2" charset="-122"/>
              </a:endParaRPr>
            </a:p>
          </p:txBody>
        </p:sp>
        <p:sp>
          <p:nvSpPr>
            <p:cNvPr id="152593" name="Oval 59"/>
            <p:cNvSpPr/>
            <p:nvPr/>
          </p:nvSpPr>
          <p:spPr>
            <a:xfrm>
              <a:off x="2337" y="1387"/>
              <a:ext cx="1096" cy="2201"/>
            </a:xfrm>
            <a:prstGeom prst="ellipse">
              <a:avLst/>
            </a:prstGeom>
            <a:gradFill rotWithShape="1">
              <a:gsLst>
                <a:gs pos="0">
                  <a:srgbClr val="FFCC00"/>
                </a:gs>
                <a:gs pos="100000">
                  <a:srgbClr val="7C6300"/>
                </a:gs>
              </a:gsLst>
              <a:lin ang="2700000" scaled="1"/>
              <a:tileRect/>
            </a:gradFill>
            <a:ln w="38100">
              <a:noFill/>
            </a:ln>
          </p:spPr>
          <p:txBody>
            <a:bodyPr anchor="ctr" anchorCtr="0">
              <a:spAutoFit/>
            </a:bodyPr>
            <a:lstStyle/>
            <a:p>
              <a:pPr algn="r" defTabSz="914400" fontAlgn="base">
                <a:spcBef>
                  <a:spcPct val="0"/>
                </a:spcBef>
                <a:spcAft>
                  <a:spcPct val="0"/>
                </a:spcAft>
              </a:pPr>
              <a:endParaRPr dirty="0">
                <a:solidFill>
                  <a:srgbClr val="1D528D"/>
                </a:solidFill>
                <a:latin typeface="Arial" panose="020B0604020202020204" pitchFamily="34" charset="0"/>
                <a:ea typeface="宋体" panose="02010600030101010101" pitchFamily="2" charset="-122"/>
              </a:endParaRPr>
            </a:p>
          </p:txBody>
        </p:sp>
      </p:grpSp>
      <p:grpSp>
        <p:nvGrpSpPr>
          <p:cNvPr id="152594" name="Group 60"/>
          <p:cNvGrpSpPr/>
          <p:nvPr/>
        </p:nvGrpSpPr>
        <p:grpSpPr>
          <a:xfrm>
            <a:off x="3505200" y="2628041"/>
            <a:ext cx="381000" cy="519245"/>
            <a:chOff x="2078" y="1387"/>
            <a:chExt cx="1615" cy="2201"/>
          </a:xfrm>
        </p:grpSpPr>
        <p:sp>
          <p:nvSpPr>
            <p:cNvPr id="152595" name="Oval 61"/>
            <p:cNvSpPr/>
            <p:nvPr/>
          </p:nvSpPr>
          <p:spPr>
            <a:xfrm>
              <a:off x="2078" y="1680"/>
              <a:ext cx="1615" cy="1615"/>
            </a:xfrm>
            <a:prstGeom prst="ellipse">
              <a:avLst/>
            </a:prstGeom>
            <a:gradFill rotWithShape="1">
              <a:gsLst>
                <a:gs pos="0">
                  <a:srgbClr val="767676"/>
                </a:gs>
                <a:gs pos="50000">
                  <a:srgbClr val="FFFFFF"/>
                </a:gs>
                <a:gs pos="100000">
                  <a:srgbClr val="767676"/>
                </a:gs>
              </a:gsLst>
              <a:lin ang="5400000" scaled="1"/>
              <a:tileRect/>
            </a:gradFill>
            <a:ln w="57150">
              <a:noFill/>
            </a:ln>
          </p:spPr>
          <p:txBody>
            <a:bodyPr wrap="none" anchor="ctr" anchorCtr="0"/>
            <a:lstStyle/>
            <a:p>
              <a:pPr algn="r" defTabSz="914400" fontAlgn="base">
                <a:spcBef>
                  <a:spcPct val="0"/>
                </a:spcBef>
                <a:spcAft>
                  <a:spcPct val="0"/>
                </a:spcAft>
              </a:pPr>
              <a:endParaRPr dirty="0">
                <a:solidFill>
                  <a:srgbClr val="1D528D"/>
                </a:solidFill>
                <a:latin typeface="Arial" panose="020B0604020202020204" pitchFamily="34" charset="0"/>
                <a:ea typeface="宋体" panose="02010600030101010101" pitchFamily="2" charset="-122"/>
              </a:endParaRPr>
            </a:p>
          </p:txBody>
        </p:sp>
        <p:sp>
          <p:nvSpPr>
            <p:cNvPr id="152596" name="Oval 62"/>
            <p:cNvSpPr/>
            <p:nvPr/>
          </p:nvSpPr>
          <p:spPr>
            <a:xfrm>
              <a:off x="2170" y="1771"/>
              <a:ext cx="1430" cy="1430"/>
            </a:xfrm>
            <a:prstGeom prst="ellipse">
              <a:avLst/>
            </a:prstGeom>
            <a:gradFill rotWithShape="1">
              <a:gsLst>
                <a:gs pos="0">
                  <a:srgbClr val="A2A2A2"/>
                </a:gs>
                <a:gs pos="50000">
                  <a:srgbClr val="FFFFFF"/>
                </a:gs>
                <a:gs pos="100000">
                  <a:srgbClr val="A2A2A2"/>
                </a:gs>
              </a:gsLst>
              <a:lin ang="0" scaled="1"/>
              <a:tileRect/>
            </a:gradFill>
            <a:ln w="9525">
              <a:noFill/>
            </a:ln>
          </p:spPr>
          <p:txBody>
            <a:bodyPr wrap="none" anchor="ctr" anchorCtr="0"/>
            <a:lstStyle/>
            <a:p>
              <a:pPr algn="r" defTabSz="914400" fontAlgn="base">
                <a:spcBef>
                  <a:spcPct val="0"/>
                </a:spcBef>
                <a:spcAft>
                  <a:spcPct val="0"/>
                </a:spcAft>
              </a:pPr>
              <a:endParaRPr dirty="0">
                <a:solidFill>
                  <a:srgbClr val="1D528D"/>
                </a:solidFill>
                <a:latin typeface="Arial" panose="020B0604020202020204" pitchFamily="34" charset="0"/>
                <a:ea typeface="宋体" panose="02010600030101010101" pitchFamily="2" charset="-122"/>
              </a:endParaRPr>
            </a:p>
          </p:txBody>
        </p:sp>
        <p:sp>
          <p:nvSpPr>
            <p:cNvPr id="70719" name="Oval 63"/>
            <p:cNvSpPr>
              <a:spLocks noChangeArrowheads="1"/>
            </p:cNvSpPr>
            <p:nvPr/>
          </p:nvSpPr>
          <p:spPr bwMode="gray">
            <a:xfrm>
              <a:off x="2415"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ln>
            <a:effectLst/>
          </p:spPr>
          <p:txBody>
            <a:bodyPr wrap="none" anchor="ctr">
              <a:spAutoFit/>
            </a:bodyPr>
            <a:lstStyle/>
            <a:p>
              <a:pPr algn="r" defTabSz="914400" fontAlgn="base">
                <a:spcBef>
                  <a:spcPct val="0"/>
                </a:spcBef>
                <a:spcAft>
                  <a:spcPct val="0"/>
                </a:spcAft>
              </a:pPr>
              <a:endParaRPr dirty="0">
                <a:solidFill>
                  <a:srgbClr val="1D528D"/>
                </a:solidFill>
                <a:latin typeface="Arial" panose="020B0604020202020204" pitchFamily="34" charset="0"/>
                <a:ea typeface="宋体" panose="02010600030101010101" pitchFamily="2" charset="-122"/>
              </a:endParaRPr>
            </a:p>
          </p:txBody>
        </p:sp>
        <p:sp>
          <p:nvSpPr>
            <p:cNvPr id="152598" name="Oval 64"/>
            <p:cNvSpPr/>
            <p:nvPr/>
          </p:nvSpPr>
          <p:spPr>
            <a:xfrm>
              <a:off x="2415" y="1387"/>
              <a:ext cx="1101" cy="2201"/>
            </a:xfrm>
            <a:prstGeom prst="ellipse">
              <a:avLst/>
            </a:prstGeom>
            <a:gradFill rotWithShape="1">
              <a:gsLst>
                <a:gs pos="0">
                  <a:srgbClr val="000000"/>
                </a:gs>
                <a:gs pos="100000">
                  <a:srgbClr val="48BE67"/>
                </a:gs>
              </a:gsLst>
              <a:lin ang="2700000" scaled="1"/>
              <a:tileRect/>
            </a:gradFill>
            <a:ln w="38100">
              <a:noFill/>
            </a:ln>
          </p:spPr>
          <p:txBody>
            <a:bodyPr wrap="none" anchor="ctr" anchorCtr="0">
              <a:spAutoFit/>
            </a:bodyPr>
            <a:lstStyle/>
            <a:p>
              <a:pPr algn="r" defTabSz="914400" fontAlgn="base">
                <a:spcBef>
                  <a:spcPct val="0"/>
                </a:spcBef>
                <a:spcAft>
                  <a:spcPct val="0"/>
                </a:spcAft>
              </a:pPr>
              <a:endParaRPr dirty="0">
                <a:solidFill>
                  <a:srgbClr val="1D528D"/>
                </a:solidFill>
                <a:latin typeface="Arial" panose="020B0604020202020204" pitchFamily="34" charset="0"/>
                <a:ea typeface="宋体" panose="02010600030101010101" pitchFamily="2" charset="-122"/>
              </a:endParaRPr>
            </a:p>
          </p:txBody>
        </p:sp>
        <p:sp>
          <p:nvSpPr>
            <p:cNvPr id="70721" name="Oval 65"/>
            <p:cNvSpPr>
              <a:spLocks noChangeArrowheads="1"/>
            </p:cNvSpPr>
            <p:nvPr/>
          </p:nvSpPr>
          <p:spPr bwMode="gray">
            <a:xfrm>
              <a:off x="2337" y="1387"/>
              <a:ext cx="1096"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ln>
            <a:effectLst/>
          </p:spPr>
          <p:txBody>
            <a:bodyPr anchor="ctr">
              <a:spAutoFit/>
            </a:bodyPr>
            <a:lstStyle/>
            <a:p>
              <a:pPr algn="r" defTabSz="914400" fontAlgn="base">
                <a:spcBef>
                  <a:spcPct val="0"/>
                </a:spcBef>
                <a:spcAft>
                  <a:spcPct val="0"/>
                </a:spcAft>
              </a:pPr>
              <a:endParaRPr dirty="0">
                <a:solidFill>
                  <a:srgbClr val="1D528D"/>
                </a:solidFill>
                <a:latin typeface="Arial" panose="020B0604020202020204" pitchFamily="34" charset="0"/>
                <a:ea typeface="宋体" panose="02010600030101010101" pitchFamily="2" charset="-122"/>
              </a:endParaRPr>
            </a:p>
          </p:txBody>
        </p:sp>
        <p:sp>
          <p:nvSpPr>
            <p:cNvPr id="152600" name="Oval 66"/>
            <p:cNvSpPr/>
            <p:nvPr/>
          </p:nvSpPr>
          <p:spPr>
            <a:xfrm>
              <a:off x="2337" y="1387"/>
              <a:ext cx="1096" cy="2201"/>
            </a:xfrm>
            <a:prstGeom prst="ellipse">
              <a:avLst/>
            </a:prstGeom>
            <a:gradFill rotWithShape="1">
              <a:gsLst>
                <a:gs pos="0">
                  <a:srgbClr val="48BE67"/>
                </a:gs>
                <a:gs pos="100000">
                  <a:srgbClr val="235C32"/>
                </a:gs>
              </a:gsLst>
              <a:lin ang="2700000" scaled="1"/>
              <a:tileRect/>
            </a:gradFill>
            <a:ln w="38100">
              <a:noFill/>
            </a:ln>
          </p:spPr>
          <p:txBody>
            <a:bodyPr anchor="ctr" anchorCtr="0">
              <a:spAutoFit/>
            </a:bodyPr>
            <a:lstStyle/>
            <a:p>
              <a:pPr algn="r" defTabSz="914400" fontAlgn="base">
                <a:spcBef>
                  <a:spcPct val="0"/>
                </a:spcBef>
                <a:spcAft>
                  <a:spcPct val="0"/>
                </a:spcAft>
              </a:pPr>
              <a:endParaRPr dirty="0">
                <a:solidFill>
                  <a:srgbClr val="1D528D"/>
                </a:solidFill>
                <a:latin typeface="Arial" panose="020B0604020202020204" pitchFamily="34" charset="0"/>
                <a:ea typeface="宋体" panose="02010600030101010101" pitchFamily="2" charset="-122"/>
              </a:endParaRPr>
            </a:p>
          </p:txBody>
        </p:sp>
      </p:grpSp>
      <p:grpSp>
        <p:nvGrpSpPr>
          <p:cNvPr id="152601" name="Group 67"/>
          <p:cNvGrpSpPr/>
          <p:nvPr/>
        </p:nvGrpSpPr>
        <p:grpSpPr>
          <a:xfrm>
            <a:off x="3657600" y="3466241"/>
            <a:ext cx="381000" cy="519245"/>
            <a:chOff x="2078" y="1387"/>
            <a:chExt cx="1615" cy="2201"/>
          </a:xfrm>
        </p:grpSpPr>
        <p:sp>
          <p:nvSpPr>
            <p:cNvPr id="152602" name="Oval 68"/>
            <p:cNvSpPr/>
            <p:nvPr/>
          </p:nvSpPr>
          <p:spPr>
            <a:xfrm>
              <a:off x="2078" y="1680"/>
              <a:ext cx="1615" cy="1615"/>
            </a:xfrm>
            <a:prstGeom prst="ellipse">
              <a:avLst/>
            </a:prstGeom>
            <a:gradFill rotWithShape="1">
              <a:gsLst>
                <a:gs pos="0">
                  <a:srgbClr val="767676"/>
                </a:gs>
                <a:gs pos="50000">
                  <a:srgbClr val="FFFFFF"/>
                </a:gs>
                <a:gs pos="100000">
                  <a:srgbClr val="767676"/>
                </a:gs>
              </a:gsLst>
              <a:lin ang="5400000" scaled="1"/>
              <a:tileRect/>
            </a:gradFill>
            <a:ln w="57150">
              <a:noFill/>
            </a:ln>
          </p:spPr>
          <p:txBody>
            <a:bodyPr wrap="none" anchor="ctr" anchorCtr="0"/>
            <a:lstStyle/>
            <a:p>
              <a:pPr algn="r" defTabSz="914400" fontAlgn="base">
                <a:spcBef>
                  <a:spcPct val="0"/>
                </a:spcBef>
                <a:spcAft>
                  <a:spcPct val="0"/>
                </a:spcAft>
              </a:pPr>
              <a:endParaRPr dirty="0">
                <a:solidFill>
                  <a:srgbClr val="1D528D"/>
                </a:solidFill>
                <a:latin typeface="Arial" panose="020B0604020202020204" pitchFamily="34" charset="0"/>
                <a:ea typeface="宋体" panose="02010600030101010101" pitchFamily="2" charset="-122"/>
              </a:endParaRPr>
            </a:p>
          </p:txBody>
        </p:sp>
        <p:sp>
          <p:nvSpPr>
            <p:cNvPr id="152603" name="Oval 69"/>
            <p:cNvSpPr/>
            <p:nvPr/>
          </p:nvSpPr>
          <p:spPr>
            <a:xfrm>
              <a:off x="2170" y="1771"/>
              <a:ext cx="1430" cy="1430"/>
            </a:xfrm>
            <a:prstGeom prst="ellipse">
              <a:avLst/>
            </a:prstGeom>
            <a:gradFill rotWithShape="1">
              <a:gsLst>
                <a:gs pos="0">
                  <a:srgbClr val="A2A2A2"/>
                </a:gs>
                <a:gs pos="50000">
                  <a:srgbClr val="FFFFFF"/>
                </a:gs>
                <a:gs pos="100000">
                  <a:srgbClr val="A2A2A2"/>
                </a:gs>
              </a:gsLst>
              <a:lin ang="0" scaled="1"/>
              <a:tileRect/>
            </a:gradFill>
            <a:ln w="9525">
              <a:noFill/>
            </a:ln>
          </p:spPr>
          <p:txBody>
            <a:bodyPr wrap="none" anchor="ctr" anchorCtr="0"/>
            <a:lstStyle/>
            <a:p>
              <a:pPr algn="r" defTabSz="914400" fontAlgn="base">
                <a:spcBef>
                  <a:spcPct val="0"/>
                </a:spcBef>
                <a:spcAft>
                  <a:spcPct val="0"/>
                </a:spcAft>
              </a:pPr>
              <a:endParaRPr dirty="0">
                <a:solidFill>
                  <a:srgbClr val="1D528D"/>
                </a:solidFill>
                <a:latin typeface="Arial" panose="020B0604020202020204" pitchFamily="34" charset="0"/>
                <a:ea typeface="宋体" panose="02010600030101010101" pitchFamily="2" charset="-122"/>
              </a:endParaRPr>
            </a:p>
          </p:txBody>
        </p:sp>
        <p:sp>
          <p:nvSpPr>
            <p:cNvPr id="70726" name="Oval 70"/>
            <p:cNvSpPr>
              <a:spLocks noChangeArrowheads="1"/>
            </p:cNvSpPr>
            <p:nvPr/>
          </p:nvSpPr>
          <p:spPr bwMode="gray">
            <a:xfrm>
              <a:off x="2415"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ln>
            <a:effectLst/>
          </p:spPr>
          <p:txBody>
            <a:bodyPr wrap="none" anchor="ctr">
              <a:spAutoFit/>
            </a:bodyPr>
            <a:lstStyle/>
            <a:p>
              <a:pPr algn="r" defTabSz="914400" fontAlgn="base">
                <a:spcBef>
                  <a:spcPct val="0"/>
                </a:spcBef>
                <a:spcAft>
                  <a:spcPct val="0"/>
                </a:spcAft>
              </a:pPr>
              <a:endParaRPr dirty="0">
                <a:solidFill>
                  <a:srgbClr val="1D528D"/>
                </a:solidFill>
                <a:latin typeface="Arial" panose="020B0604020202020204" pitchFamily="34" charset="0"/>
                <a:ea typeface="宋体" panose="02010600030101010101" pitchFamily="2" charset="-122"/>
              </a:endParaRPr>
            </a:p>
          </p:txBody>
        </p:sp>
        <p:sp>
          <p:nvSpPr>
            <p:cNvPr id="152605" name="Oval 71"/>
            <p:cNvSpPr/>
            <p:nvPr/>
          </p:nvSpPr>
          <p:spPr>
            <a:xfrm>
              <a:off x="2415" y="1387"/>
              <a:ext cx="1101" cy="2201"/>
            </a:xfrm>
            <a:prstGeom prst="ellipse">
              <a:avLst/>
            </a:prstGeom>
            <a:gradFill rotWithShape="1">
              <a:gsLst>
                <a:gs pos="0">
                  <a:srgbClr val="21B3E1"/>
                </a:gs>
                <a:gs pos="100000">
                  <a:srgbClr val="0F5368"/>
                </a:gs>
              </a:gsLst>
              <a:lin ang="5400000" scaled="1"/>
              <a:tileRect/>
            </a:gradFill>
            <a:ln w="38100">
              <a:noFill/>
            </a:ln>
          </p:spPr>
          <p:txBody>
            <a:bodyPr wrap="none" anchor="ctr" anchorCtr="0">
              <a:spAutoFit/>
            </a:bodyPr>
            <a:lstStyle/>
            <a:p>
              <a:pPr algn="r" defTabSz="914400" fontAlgn="base">
                <a:spcBef>
                  <a:spcPct val="0"/>
                </a:spcBef>
                <a:spcAft>
                  <a:spcPct val="0"/>
                </a:spcAft>
              </a:pPr>
              <a:endParaRPr dirty="0">
                <a:solidFill>
                  <a:srgbClr val="1D528D"/>
                </a:solidFill>
                <a:latin typeface="Arial" panose="020B0604020202020204" pitchFamily="34" charset="0"/>
                <a:ea typeface="宋体" panose="02010600030101010101" pitchFamily="2" charset="-122"/>
              </a:endParaRPr>
            </a:p>
          </p:txBody>
        </p:sp>
        <p:sp>
          <p:nvSpPr>
            <p:cNvPr id="70728" name="Oval 72"/>
            <p:cNvSpPr>
              <a:spLocks noChangeArrowheads="1"/>
            </p:cNvSpPr>
            <p:nvPr/>
          </p:nvSpPr>
          <p:spPr bwMode="gray">
            <a:xfrm>
              <a:off x="2337" y="1387"/>
              <a:ext cx="1096"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ln>
            <a:effectLst/>
          </p:spPr>
          <p:txBody>
            <a:bodyPr anchor="ctr">
              <a:spAutoFit/>
            </a:bodyPr>
            <a:lstStyle/>
            <a:p>
              <a:pPr algn="r" defTabSz="914400" fontAlgn="base">
                <a:spcBef>
                  <a:spcPct val="0"/>
                </a:spcBef>
                <a:spcAft>
                  <a:spcPct val="0"/>
                </a:spcAft>
              </a:pPr>
              <a:endParaRPr dirty="0">
                <a:solidFill>
                  <a:srgbClr val="1D528D"/>
                </a:solidFill>
                <a:latin typeface="Arial" panose="020B0604020202020204" pitchFamily="34" charset="0"/>
                <a:ea typeface="宋体" panose="02010600030101010101" pitchFamily="2" charset="-122"/>
              </a:endParaRPr>
            </a:p>
          </p:txBody>
        </p:sp>
        <p:sp>
          <p:nvSpPr>
            <p:cNvPr id="152607" name="Oval 73"/>
            <p:cNvSpPr/>
            <p:nvPr/>
          </p:nvSpPr>
          <p:spPr>
            <a:xfrm>
              <a:off x="2337" y="1387"/>
              <a:ext cx="1096" cy="2201"/>
            </a:xfrm>
            <a:prstGeom prst="ellipse">
              <a:avLst/>
            </a:prstGeom>
            <a:gradFill rotWithShape="1">
              <a:gsLst>
                <a:gs pos="0">
                  <a:srgbClr val="21B3E1"/>
                </a:gs>
                <a:gs pos="100000">
                  <a:srgbClr val="10576D"/>
                </a:gs>
              </a:gsLst>
              <a:lin ang="2700000" scaled="1"/>
              <a:tileRect/>
            </a:gradFill>
            <a:ln w="38100">
              <a:noFill/>
            </a:ln>
          </p:spPr>
          <p:txBody>
            <a:bodyPr anchor="ctr" anchorCtr="0">
              <a:spAutoFit/>
            </a:bodyPr>
            <a:lstStyle/>
            <a:p>
              <a:pPr algn="r" defTabSz="914400" fontAlgn="base">
                <a:spcBef>
                  <a:spcPct val="0"/>
                </a:spcBef>
                <a:spcAft>
                  <a:spcPct val="0"/>
                </a:spcAft>
              </a:pPr>
              <a:endParaRPr dirty="0">
                <a:solidFill>
                  <a:srgbClr val="1D528D"/>
                </a:solidFill>
                <a:latin typeface="Arial" panose="020B0604020202020204" pitchFamily="34" charset="0"/>
                <a:ea typeface="宋体" panose="02010600030101010101" pitchFamily="2" charset="-122"/>
              </a:endParaRPr>
            </a:p>
          </p:txBody>
        </p:sp>
      </p:grpSp>
      <p:grpSp>
        <p:nvGrpSpPr>
          <p:cNvPr id="152608" name="Group 74"/>
          <p:cNvGrpSpPr/>
          <p:nvPr/>
        </p:nvGrpSpPr>
        <p:grpSpPr>
          <a:xfrm>
            <a:off x="3505200" y="4304441"/>
            <a:ext cx="381000" cy="519245"/>
            <a:chOff x="2078" y="1387"/>
            <a:chExt cx="1615" cy="2201"/>
          </a:xfrm>
        </p:grpSpPr>
        <p:sp>
          <p:nvSpPr>
            <p:cNvPr id="152609" name="Oval 75"/>
            <p:cNvSpPr/>
            <p:nvPr/>
          </p:nvSpPr>
          <p:spPr>
            <a:xfrm>
              <a:off x="2078" y="1680"/>
              <a:ext cx="1615" cy="1615"/>
            </a:xfrm>
            <a:prstGeom prst="ellipse">
              <a:avLst/>
            </a:prstGeom>
            <a:gradFill rotWithShape="1">
              <a:gsLst>
                <a:gs pos="0">
                  <a:srgbClr val="767676"/>
                </a:gs>
                <a:gs pos="50000">
                  <a:srgbClr val="FFFFFF"/>
                </a:gs>
                <a:gs pos="100000">
                  <a:srgbClr val="767676"/>
                </a:gs>
              </a:gsLst>
              <a:lin ang="5400000" scaled="1"/>
              <a:tileRect/>
            </a:gradFill>
            <a:ln w="57150">
              <a:noFill/>
            </a:ln>
          </p:spPr>
          <p:txBody>
            <a:bodyPr wrap="none" anchor="ctr" anchorCtr="0"/>
            <a:lstStyle/>
            <a:p>
              <a:pPr algn="r" defTabSz="914400" fontAlgn="base">
                <a:spcBef>
                  <a:spcPct val="0"/>
                </a:spcBef>
                <a:spcAft>
                  <a:spcPct val="0"/>
                </a:spcAft>
              </a:pPr>
              <a:endParaRPr dirty="0">
                <a:solidFill>
                  <a:srgbClr val="1D528D"/>
                </a:solidFill>
                <a:latin typeface="Arial" panose="020B0604020202020204" pitchFamily="34" charset="0"/>
                <a:ea typeface="宋体" panose="02010600030101010101" pitchFamily="2" charset="-122"/>
              </a:endParaRPr>
            </a:p>
          </p:txBody>
        </p:sp>
        <p:sp>
          <p:nvSpPr>
            <p:cNvPr id="152610" name="Oval 76"/>
            <p:cNvSpPr/>
            <p:nvPr/>
          </p:nvSpPr>
          <p:spPr>
            <a:xfrm>
              <a:off x="2170" y="1771"/>
              <a:ext cx="1430" cy="1430"/>
            </a:xfrm>
            <a:prstGeom prst="ellipse">
              <a:avLst/>
            </a:prstGeom>
            <a:gradFill rotWithShape="1">
              <a:gsLst>
                <a:gs pos="0">
                  <a:srgbClr val="A2A2A2"/>
                </a:gs>
                <a:gs pos="50000">
                  <a:srgbClr val="FFFFFF"/>
                </a:gs>
                <a:gs pos="100000">
                  <a:srgbClr val="A2A2A2"/>
                </a:gs>
              </a:gsLst>
              <a:lin ang="0" scaled="1"/>
              <a:tileRect/>
            </a:gradFill>
            <a:ln w="9525">
              <a:noFill/>
            </a:ln>
          </p:spPr>
          <p:txBody>
            <a:bodyPr wrap="none" anchor="ctr" anchorCtr="0"/>
            <a:lstStyle/>
            <a:p>
              <a:pPr algn="r" defTabSz="914400" fontAlgn="base">
                <a:spcBef>
                  <a:spcPct val="0"/>
                </a:spcBef>
                <a:spcAft>
                  <a:spcPct val="0"/>
                </a:spcAft>
              </a:pPr>
              <a:endParaRPr dirty="0">
                <a:solidFill>
                  <a:srgbClr val="1D528D"/>
                </a:solidFill>
                <a:latin typeface="Arial" panose="020B0604020202020204" pitchFamily="34" charset="0"/>
                <a:ea typeface="宋体" panose="02010600030101010101" pitchFamily="2" charset="-122"/>
              </a:endParaRPr>
            </a:p>
          </p:txBody>
        </p:sp>
        <p:sp>
          <p:nvSpPr>
            <p:cNvPr id="70733" name="Oval 77"/>
            <p:cNvSpPr>
              <a:spLocks noChangeArrowheads="1"/>
            </p:cNvSpPr>
            <p:nvPr/>
          </p:nvSpPr>
          <p:spPr bwMode="gray">
            <a:xfrm>
              <a:off x="2415"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ln>
            <a:effectLst/>
          </p:spPr>
          <p:txBody>
            <a:bodyPr wrap="none" anchor="ctr">
              <a:spAutoFit/>
            </a:bodyPr>
            <a:lstStyle/>
            <a:p>
              <a:pPr algn="r" defTabSz="914400" fontAlgn="base">
                <a:spcBef>
                  <a:spcPct val="0"/>
                </a:spcBef>
                <a:spcAft>
                  <a:spcPct val="0"/>
                </a:spcAft>
              </a:pPr>
              <a:endParaRPr dirty="0">
                <a:solidFill>
                  <a:srgbClr val="1D528D"/>
                </a:solidFill>
                <a:latin typeface="Arial" panose="020B0604020202020204" pitchFamily="34" charset="0"/>
                <a:ea typeface="宋体" panose="02010600030101010101" pitchFamily="2" charset="-122"/>
              </a:endParaRPr>
            </a:p>
          </p:txBody>
        </p:sp>
        <p:sp>
          <p:nvSpPr>
            <p:cNvPr id="152612" name="Oval 78"/>
            <p:cNvSpPr/>
            <p:nvPr/>
          </p:nvSpPr>
          <p:spPr>
            <a:xfrm>
              <a:off x="2415" y="1387"/>
              <a:ext cx="1101" cy="2201"/>
            </a:xfrm>
            <a:prstGeom prst="ellipse">
              <a:avLst/>
            </a:prstGeom>
            <a:gradFill rotWithShape="1">
              <a:gsLst>
                <a:gs pos="0">
                  <a:srgbClr val="000000"/>
                </a:gs>
                <a:gs pos="100000">
                  <a:srgbClr val="8D67E1"/>
                </a:gs>
              </a:gsLst>
              <a:lin ang="2700000" scaled="1"/>
              <a:tileRect/>
            </a:gradFill>
            <a:ln w="38100">
              <a:noFill/>
            </a:ln>
          </p:spPr>
          <p:txBody>
            <a:bodyPr wrap="none" anchor="ctr" anchorCtr="0">
              <a:spAutoFit/>
            </a:bodyPr>
            <a:lstStyle/>
            <a:p>
              <a:pPr algn="r" defTabSz="914400" fontAlgn="base">
                <a:spcBef>
                  <a:spcPct val="0"/>
                </a:spcBef>
                <a:spcAft>
                  <a:spcPct val="0"/>
                </a:spcAft>
              </a:pPr>
              <a:endParaRPr dirty="0">
                <a:solidFill>
                  <a:srgbClr val="1D528D"/>
                </a:solidFill>
                <a:latin typeface="Arial" panose="020B0604020202020204" pitchFamily="34" charset="0"/>
                <a:ea typeface="宋体" panose="02010600030101010101" pitchFamily="2" charset="-122"/>
              </a:endParaRPr>
            </a:p>
          </p:txBody>
        </p:sp>
        <p:sp>
          <p:nvSpPr>
            <p:cNvPr id="70735" name="Oval 79"/>
            <p:cNvSpPr>
              <a:spLocks noChangeArrowheads="1"/>
            </p:cNvSpPr>
            <p:nvPr/>
          </p:nvSpPr>
          <p:spPr bwMode="gray">
            <a:xfrm>
              <a:off x="2337" y="1387"/>
              <a:ext cx="1096"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ln>
            <a:effectLst/>
          </p:spPr>
          <p:txBody>
            <a:bodyPr anchor="ctr">
              <a:spAutoFit/>
            </a:bodyPr>
            <a:lstStyle/>
            <a:p>
              <a:pPr algn="r" defTabSz="914400" fontAlgn="base">
                <a:spcBef>
                  <a:spcPct val="0"/>
                </a:spcBef>
                <a:spcAft>
                  <a:spcPct val="0"/>
                </a:spcAft>
              </a:pPr>
              <a:endParaRPr dirty="0">
                <a:solidFill>
                  <a:srgbClr val="1D528D"/>
                </a:solidFill>
                <a:latin typeface="Arial" panose="020B0604020202020204" pitchFamily="34" charset="0"/>
                <a:ea typeface="宋体" panose="02010600030101010101" pitchFamily="2" charset="-122"/>
              </a:endParaRPr>
            </a:p>
          </p:txBody>
        </p:sp>
        <p:sp>
          <p:nvSpPr>
            <p:cNvPr id="152614" name="Oval 80"/>
            <p:cNvSpPr/>
            <p:nvPr/>
          </p:nvSpPr>
          <p:spPr>
            <a:xfrm>
              <a:off x="2337" y="1387"/>
              <a:ext cx="1096" cy="2201"/>
            </a:xfrm>
            <a:prstGeom prst="ellipse">
              <a:avLst/>
            </a:prstGeom>
            <a:gradFill rotWithShape="1">
              <a:gsLst>
                <a:gs pos="0">
                  <a:srgbClr val="8D67E1"/>
                </a:gs>
                <a:gs pos="100000">
                  <a:srgbClr val="45326D"/>
                </a:gs>
              </a:gsLst>
              <a:lin ang="2700000" scaled="1"/>
              <a:tileRect/>
            </a:gradFill>
            <a:ln w="38100">
              <a:noFill/>
            </a:ln>
          </p:spPr>
          <p:txBody>
            <a:bodyPr anchor="ctr" anchorCtr="0">
              <a:spAutoFit/>
            </a:bodyPr>
            <a:lstStyle/>
            <a:p>
              <a:pPr algn="r" defTabSz="914400" fontAlgn="base">
                <a:spcBef>
                  <a:spcPct val="0"/>
                </a:spcBef>
                <a:spcAft>
                  <a:spcPct val="0"/>
                </a:spcAft>
              </a:pPr>
              <a:endParaRPr dirty="0">
                <a:solidFill>
                  <a:srgbClr val="1D528D"/>
                </a:solidFill>
                <a:latin typeface="Arial" panose="020B0604020202020204" pitchFamily="34" charset="0"/>
                <a:ea typeface="宋体" panose="02010600030101010101" pitchFamily="2" charset="-122"/>
              </a:endParaRPr>
            </a:p>
          </p:txBody>
        </p:sp>
      </p:grpSp>
      <p:grpSp>
        <p:nvGrpSpPr>
          <p:cNvPr id="152615" name="Group 81"/>
          <p:cNvGrpSpPr/>
          <p:nvPr/>
        </p:nvGrpSpPr>
        <p:grpSpPr>
          <a:xfrm>
            <a:off x="3048000" y="5079141"/>
            <a:ext cx="355600" cy="519245"/>
            <a:chOff x="2078" y="1387"/>
            <a:chExt cx="1615" cy="2201"/>
          </a:xfrm>
        </p:grpSpPr>
        <p:sp>
          <p:nvSpPr>
            <p:cNvPr id="152616" name="Oval 82"/>
            <p:cNvSpPr/>
            <p:nvPr/>
          </p:nvSpPr>
          <p:spPr>
            <a:xfrm>
              <a:off x="2078" y="1680"/>
              <a:ext cx="1615" cy="1615"/>
            </a:xfrm>
            <a:prstGeom prst="ellipse">
              <a:avLst/>
            </a:prstGeom>
            <a:gradFill rotWithShape="1">
              <a:gsLst>
                <a:gs pos="0">
                  <a:srgbClr val="767676"/>
                </a:gs>
                <a:gs pos="50000">
                  <a:srgbClr val="FFFFFF"/>
                </a:gs>
                <a:gs pos="100000">
                  <a:srgbClr val="767676"/>
                </a:gs>
              </a:gsLst>
              <a:lin ang="5400000" scaled="1"/>
              <a:tileRect/>
            </a:gradFill>
            <a:ln w="57150">
              <a:noFill/>
            </a:ln>
          </p:spPr>
          <p:txBody>
            <a:bodyPr wrap="none" anchor="ctr" anchorCtr="0"/>
            <a:lstStyle/>
            <a:p>
              <a:pPr algn="r" defTabSz="914400" fontAlgn="base">
                <a:spcBef>
                  <a:spcPct val="0"/>
                </a:spcBef>
                <a:spcAft>
                  <a:spcPct val="0"/>
                </a:spcAft>
              </a:pPr>
              <a:endParaRPr dirty="0">
                <a:solidFill>
                  <a:srgbClr val="1D528D"/>
                </a:solidFill>
                <a:latin typeface="Arial" panose="020B0604020202020204" pitchFamily="34" charset="0"/>
                <a:ea typeface="宋体" panose="02010600030101010101" pitchFamily="2" charset="-122"/>
              </a:endParaRPr>
            </a:p>
          </p:txBody>
        </p:sp>
        <p:sp>
          <p:nvSpPr>
            <p:cNvPr id="152617" name="Oval 83"/>
            <p:cNvSpPr/>
            <p:nvPr/>
          </p:nvSpPr>
          <p:spPr>
            <a:xfrm>
              <a:off x="2170" y="1771"/>
              <a:ext cx="1430" cy="1430"/>
            </a:xfrm>
            <a:prstGeom prst="ellipse">
              <a:avLst/>
            </a:prstGeom>
            <a:gradFill rotWithShape="1">
              <a:gsLst>
                <a:gs pos="0">
                  <a:srgbClr val="A2A2A2"/>
                </a:gs>
                <a:gs pos="50000">
                  <a:srgbClr val="FFFFFF"/>
                </a:gs>
                <a:gs pos="100000">
                  <a:srgbClr val="A2A2A2"/>
                </a:gs>
              </a:gsLst>
              <a:lin ang="0" scaled="1"/>
              <a:tileRect/>
            </a:gradFill>
            <a:ln w="9525">
              <a:noFill/>
            </a:ln>
          </p:spPr>
          <p:txBody>
            <a:bodyPr wrap="none" anchor="ctr" anchorCtr="0"/>
            <a:lstStyle/>
            <a:p>
              <a:pPr algn="r" defTabSz="914400" fontAlgn="base">
                <a:spcBef>
                  <a:spcPct val="0"/>
                </a:spcBef>
                <a:spcAft>
                  <a:spcPct val="0"/>
                </a:spcAft>
              </a:pPr>
              <a:endParaRPr dirty="0">
                <a:solidFill>
                  <a:srgbClr val="1D528D"/>
                </a:solidFill>
                <a:latin typeface="Arial" panose="020B0604020202020204" pitchFamily="34" charset="0"/>
                <a:ea typeface="宋体" panose="02010600030101010101" pitchFamily="2" charset="-122"/>
              </a:endParaRPr>
            </a:p>
          </p:txBody>
        </p:sp>
        <p:sp>
          <p:nvSpPr>
            <p:cNvPr id="70740" name="Oval 84"/>
            <p:cNvSpPr>
              <a:spLocks noChangeArrowheads="1"/>
            </p:cNvSpPr>
            <p:nvPr/>
          </p:nvSpPr>
          <p:spPr bwMode="gray">
            <a:xfrm>
              <a:off x="2336" y="1387"/>
              <a:ext cx="1180"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ln>
            <a:effectLst/>
          </p:spPr>
          <p:txBody>
            <a:bodyPr wrap="none" anchor="ctr">
              <a:spAutoFit/>
            </a:bodyPr>
            <a:lstStyle/>
            <a:p>
              <a:pPr algn="r" defTabSz="914400" fontAlgn="base">
                <a:spcBef>
                  <a:spcPct val="0"/>
                </a:spcBef>
                <a:spcAft>
                  <a:spcPct val="0"/>
                </a:spcAft>
              </a:pPr>
              <a:endParaRPr dirty="0">
                <a:solidFill>
                  <a:srgbClr val="1D528D"/>
                </a:solidFill>
                <a:latin typeface="Arial" panose="020B0604020202020204" pitchFamily="34" charset="0"/>
                <a:ea typeface="宋体" panose="02010600030101010101" pitchFamily="2" charset="-122"/>
              </a:endParaRPr>
            </a:p>
          </p:txBody>
        </p:sp>
        <p:sp>
          <p:nvSpPr>
            <p:cNvPr id="152619" name="Oval 85"/>
            <p:cNvSpPr/>
            <p:nvPr/>
          </p:nvSpPr>
          <p:spPr>
            <a:xfrm>
              <a:off x="2336" y="1387"/>
              <a:ext cx="1180" cy="2201"/>
            </a:xfrm>
            <a:prstGeom prst="ellipse">
              <a:avLst/>
            </a:prstGeom>
            <a:gradFill rotWithShape="1">
              <a:gsLst>
                <a:gs pos="0">
                  <a:srgbClr val="000000"/>
                </a:gs>
                <a:gs pos="100000">
                  <a:srgbClr val="E35E23"/>
                </a:gs>
              </a:gsLst>
              <a:lin ang="2700000" scaled="1"/>
              <a:tileRect/>
            </a:gradFill>
            <a:ln w="38100">
              <a:noFill/>
            </a:ln>
          </p:spPr>
          <p:txBody>
            <a:bodyPr wrap="none" anchor="ctr" anchorCtr="0">
              <a:spAutoFit/>
            </a:bodyPr>
            <a:lstStyle/>
            <a:p>
              <a:pPr algn="r" defTabSz="914400" fontAlgn="base">
                <a:spcBef>
                  <a:spcPct val="0"/>
                </a:spcBef>
                <a:spcAft>
                  <a:spcPct val="0"/>
                </a:spcAft>
              </a:pPr>
              <a:endParaRPr dirty="0">
                <a:solidFill>
                  <a:srgbClr val="1D528D"/>
                </a:solidFill>
                <a:latin typeface="Arial" panose="020B0604020202020204" pitchFamily="34" charset="0"/>
                <a:ea typeface="宋体" panose="02010600030101010101" pitchFamily="2" charset="-122"/>
              </a:endParaRPr>
            </a:p>
          </p:txBody>
        </p:sp>
        <p:sp>
          <p:nvSpPr>
            <p:cNvPr id="70742" name="Oval 86"/>
            <p:cNvSpPr>
              <a:spLocks noChangeArrowheads="1"/>
            </p:cNvSpPr>
            <p:nvPr/>
          </p:nvSpPr>
          <p:spPr bwMode="gray">
            <a:xfrm>
              <a:off x="2337" y="1387"/>
              <a:ext cx="1096"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ln>
            <a:effectLst/>
          </p:spPr>
          <p:txBody>
            <a:bodyPr anchor="ctr">
              <a:spAutoFit/>
            </a:bodyPr>
            <a:lstStyle/>
            <a:p>
              <a:pPr algn="r" defTabSz="914400" fontAlgn="base">
                <a:spcBef>
                  <a:spcPct val="0"/>
                </a:spcBef>
                <a:spcAft>
                  <a:spcPct val="0"/>
                </a:spcAft>
              </a:pPr>
              <a:endParaRPr dirty="0">
                <a:solidFill>
                  <a:srgbClr val="1D528D"/>
                </a:solidFill>
                <a:latin typeface="Arial" panose="020B0604020202020204" pitchFamily="34" charset="0"/>
                <a:ea typeface="宋体" panose="02010600030101010101" pitchFamily="2" charset="-122"/>
              </a:endParaRPr>
            </a:p>
          </p:txBody>
        </p:sp>
        <p:sp>
          <p:nvSpPr>
            <p:cNvPr id="152621" name="Oval 87"/>
            <p:cNvSpPr/>
            <p:nvPr/>
          </p:nvSpPr>
          <p:spPr>
            <a:xfrm>
              <a:off x="2337" y="1387"/>
              <a:ext cx="1096" cy="2201"/>
            </a:xfrm>
            <a:prstGeom prst="ellipse">
              <a:avLst/>
            </a:prstGeom>
            <a:gradFill rotWithShape="1">
              <a:gsLst>
                <a:gs pos="0">
                  <a:srgbClr val="E35E23"/>
                </a:gs>
                <a:gs pos="100000">
                  <a:srgbClr val="6E2E11"/>
                </a:gs>
              </a:gsLst>
              <a:lin ang="2700000" scaled="1"/>
              <a:tileRect/>
            </a:gradFill>
            <a:ln w="38100">
              <a:noFill/>
            </a:ln>
          </p:spPr>
          <p:txBody>
            <a:bodyPr anchor="ctr" anchorCtr="0">
              <a:spAutoFit/>
            </a:bodyPr>
            <a:lstStyle/>
            <a:p>
              <a:pPr algn="r" defTabSz="914400" fontAlgn="base">
                <a:spcBef>
                  <a:spcPct val="0"/>
                </a:spcBef>
                <a:spcAft>
                  <a:spcPct val="0"/>
                </a:spcAft>
              </a:pPr>
              <a:endParaRPr dirty="0">
                <a:solidFill>
                  <a:srgbClr val="1D528D"/>
                </a:solidFill>
                <a:latin typeface="Arial" panose="020B0604020202020204" pitchFamily="34" charset="0"/>
                <a:ea typeface="宋体" panose="02010600030101010101" pitchFamily="2" charset="-122"/>
              </a:endParaRPr>
            </a:p>
          </p:txBody>
        </p:sp>
      </p:grpSp>
      <p:sp>
        <p:nvSpPr>
          <p:cNvPr id="152622" name="矩形 152621"/>
          <p:cNvSpPr/>
          <p:nvPr/>
        </p:nvSpPr>
        <p:spPr>
          <a:xfrm>
            <a:off x="1360966" y="219936"/>
            <a:ext cx="7996048" cy="563562"/>
          </a:xfrm>
          <a:prstGeom prst="rect">
            <a:avLst/>
          </a:prstGeom>
          <a:noFill/>
          <a:ln w="9525">
            <a:noFill/>
          </a:ln>
        </p:spPr>
        <p:txBody>
          <a:bodyPr anchor="ctr" anchorCtr="0"/>
          <a:lstStyle>
            <a:lvl1pPr marL="0" lvl="0" indent="0" algn="r" defTabSz="914400" rtl="0" eaLnBrk="0" fontAlgn="base" latinLnBrk="0" hangingPunct="0">
              <a:lnSpc>
                <a:spcPct val="100000"/>
              </a:lnSpc>
              <a:spcBef>
                <a:spcPct val="0"/>
              </a:spcBef>
              <a:spcAft>
                <a:spcPct val="0"/>
              </a:spcAft>
              <a:buNone/>
              <a:defRPr sz="3200" b="1" u="none" kern="1200" baseline="0">
                <a:solidFill>
                  <a:srgbClr val="004182"/>
                </a:solidFill>
                <a:effectLst>
                  <a:outerShdw blurRad="38100" dist="38100" dir="2700000">
                    <a:srgbClr val="C0C0C0"/>
                  </a:outerShdw>
                </a:effectLst>
                <a:latin typeface="Verdana" panose="020B0604030504040204" pitchFamily="34" charset="0"/>
              </a:defRPr>
            </a:lvl1pPr>
          </a:lstStyle>
          <a:p>
            <a:pPr algn="l"/>
            <a:r>
              <a:rPr lang="en-US" altLang="zh-CN" sz="2800" dirty="0">
                <a:solidFill>
                  <a:srgbClr val="000099"/>
                </a:solidFill>
                <a:ea typeface="宋体" panose="02010600030101010101" pitchFamily="2" charset="-122"/>
              </a:rPr>
              <a:t>1.0  </a:t>
            </a:r>
            <a:r>
              <a:rPr lang="zh-CN" altLang="en-US" sz="2800" dirty="0">
                <a:solidFill>
                  <a:srgbClr val="000099"/>
                </a:solidFill>
                <a:ea typeface="宋体" panose="02010600030101010101" pitchFamily="2" charset="-122"/>
              </a:rPr>
              <a:t>一维数组与序列</a:t>
            </a:r>
            <a:r>
              <a:rPr lang="zh-CN" altLang="en-US" sz="2400" dirty="0">
                <a:solidFill>
                  <a:srgbClr val="000099"/>
                </a:solidFill>
                <a:ea typeface="宋体" panose="02010600030101010101" pitchFamily="2" charset="-122"/>
              </a:rPr>
              <a:t>（补充内容：基础复习与增强）</a:t>
            </a:r>
          </a:p>
        </p:txBody>
      </p:sp>
      <p:sp>
        <p:nvSpPr>
          <p:cNvPr id="2" name="灯片编号占位符 1">
            <a:extLst>
              <a:ext uri="{FF2B5EF4-FFF2-40B4-BE49-F238E27FC236}">
                <a16:creationId xmlns:a16="http://schemas.microsoft.com/office/drawing/2014/main" id="{E605E395-D7D2-5A90-BDB0-8A7EB4728A06}"/>
              </a:ext>
            </a:extLst>
          </p:cNvPr>
          <p:cNvSpPr>
            <a:spLocks noGrp="1"/>
          </p:cNvSpPr>
          <p:nvPr>
            <p:ph type="sldNum" sz="quarter" idx="12"/>
          </p:nvPr>
        </p:nvSpPr>
        <p:spPr/>
        <p:txBody>
          <a:bodyPr/>
          <a:lstStyle/>
          <a:p>
            <a:fld id="{D7C0FE0B-717B-41AE-9FA2-CA4BF851D1C3}" type="slidenum">
              <a:rPr lang="zh-CN" altLang="en-US" smtClean="0"/>
              <a:t>2</a:t>
            </a:fld>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54625">
            <a:extLst>
              <a:ext uri="{FF2B5EF4-FFF2-40B4-BE49-F238E27FC236}">
                <a16:creationId xmlns:a16="http://schemas.microsoft.com/office/drawing/2014/main" id="{BCF647A6-6772-ED78-1E77-39DB8D861260}"/>
              </a:ext>
            </a:extLst>
          </p:cNvPr>
          <p:cNvSpPr>
            <a:spLocks noGrp="1"/>
          </p:cNvSpPr>
          <p:nvPr/>
        </p:nvSpPr>
        <p:spPr>
          <a:xfrm>
            <a:off x="1427389" y="107007"/>
            <a:ext cx="2797630" cy="817564"/>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dirty="0">
                <a:solidFill>
                  <a:srgbClr val="000099"/>
                </a:solidFill>
                <a:effectLst>
                  <a:outerShdw blurRad="38100" dist="38100" dir="2700000" algn="tl">
                    <a:srgbClr val="000000">
                      <a:alpha val="43137"/>
                    </a:srgbClr>
                  </a:outerShdw>
                </a:effectLst>
              </a:rPr>
              <a:t>数组和序列</a:t>
            </a:r>
          </a:p>
        </p:txBody>
      </p:sp>
      <p:sp>
        <p:nvSpPr>
          <p:cNvPr id="5" name="文本框 154626">
            <a:extLst>
              <a:ext uri="{FF2B5EF4-FFF2-40B4-BE49-F238E27FC236}">
                <a16:creationId xmlns:a16="http://schemas.microsoft.com/office/drawing/2014/main" id="{30D76DE3-3AF5-7FF5-171F-FFFF11A55ED2}"/>
              </a:ext>
            </a:extLst>
          </p:cNvPr>
          <p:cNvSpPr txBox="1"/>
          <p:nvPr/>
        </p:nvSpPr>
        <p:spPr>
          <a:xfrm>
            <a:off x="1427389" y="1438706"/>
            <a:ext cx="8877754" cy="3856505"/>
          </a:xfrm>
          <a:prstGeom prst="rect">
            <a:avLst/>
          </a:prstGeom>
          <a:noFill/>
          <a:ln w="9525">
            <a:noFill/>
          </a:ln>
          <a:effectLst>
            <a:prstShdw prst="shdw12" dir="16200000">
              <a:schemeClr val="bg2">
                <a:alpha val="50000"/>
              </a:schemeClr>
            </a:prstShdw>
          </a:effectLst>
        </p:spPr>
        <p:txBody>
          <a:bodyPr wrap="square">
            <a:spAutoFit/>
          </a:bodyPr>
          <a:lstStyle>
            <a:defPPr>
              <a:defRPr lang="zh-CN"/>
            </a:defPPr>
            <a:lvl1pPr marL="0" lvl="0"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9pPr>
          </a:lstStyle>
          <a:p>
            <a:pPr algn="just">
              <a:lnSpc>
                <a:spcPct val="120000"/>
              </a:lnSpc>
              <a:spcBef>
                <a:spcPct val="20000"/>
              </a:spcBef>
            </a:pPr>
            <a:r>
              <a:rPr lang="en-US" altLang="zh-CN" sz="2800" b="1" dirty="0">
                <a:solidFill>
                  <a:srgbClr val="003D7A"/>
                </a:solidFill>
                <a:effectLst>
                  <a:outerShdw blurRad="38100" dist="38100" dir="2700000">
                    <a:srgbClr val="C0C0C0"/>
                  </a:outerShdw>
                </a:effectLst>
                <a:latin typeface="Courier New" panose="02070309020205020404" pitchFamily="49" charset="0"/>
                <a:cs typeface="Courier New" panose="02070309020205020404" pitchFamily="49" charset="0"/>
              </a:rPr>
              <a:t>    </a:t>
            </a:r>
            <a:r>
              <a:rPr lang="zh-CN" altLang="en-US" sz="2800" b="1" dirty="0">
                <a:solidFill>
                  <a:srgbClr val="003D7A"/>
                </a:solidFill>
                <a:effectLst>
                  <a:outerShdw blurRad="38100" dist="38100" dir="2700000">
                    <a:srgbClr val="C0C0C0"/>
                  </a:outerShdw>
                </a:effectLst>
                <a:latin typeface="Courier New" panose="02070309020205020404" pitchFamily="49" charset="0"/>
                <a:cs typeface="Courier New" panose="02070309020205020404" pitchFamily="49" charset="0"/>
              </a:rPr>
              <a:t>数组是</a:t>
            </a:r>
            <a:r>
              <a:rPr lang="en-US" altLang="zh-CN" sz="2800" b="1" dirty="0">
                <a:solidFill>
                  <a:srgbClr val="003D7A"/>
                </a:solidFill>
                <a:effectLst>
                  <a:outerShdw blurRad="38100" dist="38100" dir="2700000">
                    <a:srgbClr val="C0C0C0"/>
                  </a:outerShdw>
                </a:effectLst>
                <a:latin typeface="Courier New" panose="02070309020205020404" pitchFamily="49" charset="0"/>
                <a:cs typeface="Courier New" panose="02070309020205020404" pitchFamily="49" charset="0"/>
              </a:rPr>
              <a:t>C</a:t>
            </a:r>
            <a:r>
              <a:rPr lang="zh-CN" altLang="en-US" sz="2800" b="1" dirty="0">
                <a:solidFill>
                  <a:srgbClr val="003D7A"/>
                </a:solidFill>
                <a:effectLst>
                  <a:outerShdw blurRad="38100" dist="38100" dir="2700000">
                    <a:srgbClr val="C0C0C0"/>
                  </a:outerShdw>
                </a:effectLst>
                <a:latin typeface="Courier New" panose="02070309020205020404" pitchFamily="49" charset="0"/>
                <a:cs typeface="Courier New" panose="02070309020205020404" pitchFamily="49" charset="0"/>
              </a:rPr>
              <a:t>语言提供的最常用的结构类型之一。假如需要处理</a:t>
            </a:r>
            <a:r>
              <a:rPr lang="en-US" altLang="zh-CN" sz="2800" b="1" dirty="0">
                <a:solidFill>
                  <a:srgbClr val="003D7A"/>
                </a:solidFill>
                <a:effectLst>
                  <a:outerShdw blurRad="38100" dist="38100" dir="2700000">
                    <a:srgbClr val="C0C0C0"/>
                  </a:outerShdw>
                </a:effectLst>
                <a:latin typeface="Courier New" panose="02070309020205020404" pitchFamily="49" charset="0"/>
                <a:cs typeface="Courier New" panose="02070309020205020404" pitchFamily="49" charset="0"/>
              </a:rPr>
              <a:t>N</a:t>
            </a:r>
            <a:r>
              <a:rPr lang="zh-CN" altLang="en-US" sz="2800" b="1" dirty="0">
                <a:solidFill>
                  <a:srgbClr val="003D7A"/>
                </a:solidFill>
                <a:effectLst>
                  <a:outerShdw blurRad="38100" dist="38100" dir="2700000">
                    <a:srgbClr val="C0C0C0"/>
                  </a:outerShdw>
                </a:effectLst>
                <a:latin typeface="Courier New" panose="02070309020205020404" pitchFamily="49" charset="0"/>
                <a:cs typeface="Courier New" panose="02070309020205020404" pitchFamily="49" charset="0"/>
              </a:rPr>
              <a:t>个数值，可以如下声明一个一维数组</a:t>
            </a:r>
            <a:r>
              <a:rPr lang="en-US" altLang="zh-CN" sz="2800" b="1" dirty="0">
                <a:solidFill>
                  <a:srgbClr val="003D7A"/>
                </a:solidFill>
                <a:effectLst>
                  <a:outerShdw blurRad="38100" dist="38100" dir="2700000">
                    <a:srgbClr val="C0C0C0"/>
                  </a:outerShdw>
                </a:effectLst>
                <a:latin typeface="Courier New" panose="02070309020205020404" pitchFamily="49" charset="0"/>
                <a:cs typeface="Courier New" panose="02070309020205020404" pitchFamily="49" charset="0"/>
              </a:rPr>
              <a:t>v</a:t>
            </a:r>
            <a:r>
              <a:rPr lang="zh-CN" altLang="en-US" sz="2800" b="1" dirty="0">
                <a:solidFill>
                  <a:srgbClr val="003D7A"/>
                </a:solidFill>
                <a:effectLst>
                  <a:outerShdw blurRad="38100" dist="38100" dir="2700000">
                    <a:srgbClr val="C0C0C0"/>
                  </a:outerShdw>
                </a:effectLst>
                <a:latin typeface="Courier New" panose="02070309020205020404" pitchFamily="49" charset="0"/>
                <a:cs typeface="Courier New" panose="02070309020205020404" pitchFamily="49" charset="0"/>
              </a:rPr>
              <a:t>：</a:t>
            </a:r>
          </a:p>
          <a:p>
            <a:pPr algn="just">
              <a:lnSpc>
                <a:spcPct val="120000"/>
              </a:lnSpc>
              <a:spcBef>
                <a:spcPct val="20000"/>
              </a:spcBef>
            </a:pPr>
            <a:r>
              <a:rPr lang="zh-CN" altLang="en-US" sz="2800" b="1" dirty="0">
                <a:solidFill>
                  <a:srgbClr val="003D7A"/>
                </a:solidFill>
                <a:effectLst>
                  <a:outerShdw blurRad="38100" dist="38100" dir="2700000">
                    <a:srgbClr val="C0C0C0"/>
                  </a:outerShdw>
                </a:effectLst>
                <a:latin typeface="Courier New" panose="02070309020205020404" pitchFamily="49" charset="0"/>
                <a:cs typeface="Courier New" panose="02070309020205020404" pitchFamily="49" charset="0"/>
              </a:rPr>
              <a:t>       </a:t>
            </a:r>
            <a:r>
              <a:rPr lang="en-US" altLang="zh-CN" sz="2800" b="1" dirty="0" err="1">
                <a:solidFill>
                  <a:schemeClr val="tx2"/>
                </a:solidFill>
                <a:effectLst>
                  <a:outerShdw blurRad="38100" dist="38100" dir="2700000">
                    <a:srgbClr val="C0C0C0"/>
                  </a:outerShdw>
                </a:effectLst>
                <a:latin typeface="Courier New" panose="02070309020205020404" pitchFamily="49" charset="0"/>
                <a:cs typeface="Courier New" panose="02070309020205020404" pitchFamily="49" charset="0"/>
              </a:rPr>
              <a:t>ElemType</a:t>
            </a:r>
            <a:r>
              <a:rPr lang="en-US" altLang="zh-CN" sz="2800" b="1" dirty="0">
                <a:solidFill>
                  <a:schemeClr val="tx2"/>
                </a:solidFill>
                <a:effectLst>
                  <a:outerShdw blurRad="38100" dist="38100" dir="2700000">
                    <a:srgbClr val="C0C0C0"/>
                  </a:outerShdw>
                </a:effectLst>
                <a:latin typeface="Courier New" panose="02070309020205020404" pitchFamily="49" charset="0"/>
                <a:cs typeface="Courier New" panose="02070309020205020404" pitchFamily="49" charset="0"/>
              </a:rPr>
              <a:t> v[N];</a:t>
            </a:r>
          </a:p>
          <a:p>
            <a:pPr algn="just">
              <a:lnSpc>
                <a:spcPct val="120000"/>
              </a:lnSpc>
              <a:spcBef>
                <a:spcPct val="20000"/>
              </a:spcBef>
            </a:pPr>
            <a:r>
              <a:rPr lang="zh-CN" altLang="en-US" sz="2800" b="1" dirty="0">
                <a:solidFill>
                  <a:srgbClr val="003D7A"/>
                </a:solidFill>
                <a:effectLst>
                  <a:outerShdw blurRad="38100" dist="38100" dir="2700000">
                    <a:srgbClr val="C0C0C0"/>
                  </a:outerShdw>
                </a:effectLst>
                <a:latin typeface="Courier New" panose="02070309020205020404" pitchFamily="49" charset="0"/>
                <a:cs typeface="Courier New" panose="02070309020205020404" pitchFamily="49" charset="0"/>
              </a:rPr>
              <a:t>其中，</a:t>
            </a:r>
            <a:r>
              <a:rPr lang="en-US" altLang="zh-CN" sz="2800" b="1" dirty="0" err="1">
                <a:solidFill>
                  <a:srgbClr val="003D7A"/>
                </a:solidFill>
                <a:effectLst>
                  <a:outerShdw blurRad="38100" dist="38100" dir="2700000">
                    <a:srgbClr val="C0C0C0"/>
                  </a:outerShdw>
                </a:effectLst>
                <a:latin typeface="Courier New" panose="02070309020205020404" pitchFamily="49" charset="0"/>
                <a:cs typeface="Courier New" panose="02070309020205020404" pitchFamily="49" charset="0"/>
              </a:rPr>
              <a:t>ElemType</a:t>
            </a:r>
            <a:r>
              <a:rPr lang="zh-CN" altLang="da-DK" sz="2800" b="1" dirty="0">
                <a:solidFill>
                  <a:srgbClr val="003D7A"/>
                </a:solidFill>
                <a:effectLst>
                  <a:outerShdw blurRad="38100" dist="38100" dir="2700000">
                    <a:srgbClr val="C0C0C0"/>
                  </a:outerShdw>
                </a:effectLst>
                <a:latin typeface="Courier New" panose="02070309020205020404" pitchFamily="49" charset="0"/>
                <a:cs typeface="Courier New" panose="02070309020205020404" pitchFamily="49" charset="0"/>
              </a:rPr>
              <a:t>是数值的类型，</a:t>
            </a:r>
            <a:r>
              <a:rPr lang="en-US" altLang="zh-CN" sz="2800" b="1" dirty="0">
                <a:solidFill>
                  <a:srgbClr val="003D7A"/>
                </a:solidFill>
                <a:effectLst>
                  <a:outerShdw blurRad="38100" dist="38100" dir="2700000">
                    <a:srgbClr val="C0C0C0"/>
                  </a:outerShdw>
                </a:effectLst>
                <a:latin typeface="Courier New" panose="02070309020205020404" pitchFamily="49" charset="0"/>
                <a:cs typeface="Courier New" panose="02070309020205020404" pitchFamily="49" charset="0"/>
              </a:rPr>
              <a:t>N</a:t>
            </a:r>
            <a:r>
              <a:rPr lang="zh-CN" altLang="da-DK" sz="2800" b="1" dirty="0">
                <a:solidFill>
                  <a:srgbClr val="003D7A"/>
                </a:solidFill>
                <a:effectLst>
                  <a:outerShdw blurRad="38100" dist="38100" dir="2700000">
                    <a:srgbClr val="C0C0C0"/>
                  </a:outerShdw>
                </a:effectLst>
                <a:latin typeface="Courier New" panose="02070309020205020404" pitchFamily="49" charset="0"/>
                <a:cs typeface="Courier New" panose="02070309020205020404" pitchFamily="49" charset="0"/>
              </a:rPr>
              <a:t>是数值个数的常量。既可将每个数值分别保存在不同的变量（数组</a:t>
            </a:r>
            <a:r>
              <a:rPr lang="da-DK" altLang="zh-CN" sz="2800" b="1" dirty="0">
                <a:solidFill>
                  <a:srgbClr val="003D7A"/>
                </a:solidFill>
                <a:effectLst>
                  <a:outerShdw blurRad="38100" dist="38100" dir="2700000">
                    <a:srgbClr val="C0C0C0"/>
                  </a:outerShdw>
                </a:effectLst>
                <a:latin typeface="Courier New" panose="02070309020205020404" pitchFamily="49" charset="0"/>
                <a:cs typeface="Courier New" panose="02070309020205020404" pitchFamily="49" charset="0"/>
              </a:rPr>
              <a:t>v</a:t>
            </a:r>
            <a:r>
              <a:rPr lang="zh-CN" altLang="da-DK" sz="2800" b="1" dirty="0">
                <a:solidFill>
                  <a:srgbClr val="003D7A"/>
                </a:solidFill>
                <a:effectLst>
                  <a:outerShdw blurRad="38100" dist="38100" dir="2700000">
                    <a:srgbClr val="C0C0C0"/>
                  </a:outerShdw>
                </a:effectLst>
                <a:latin typeface="Courier New" panose="02070309020205020404" pitchFamily="49" charset="0"/>
                <a:cs typeface="Courier New" panose="02070309020205020404" pitchFamily="49" charset="0"/>
              </a:rPr>
              <a:t>的元素，也称为下标变量）中，也便于对这</a:t>
            </a:r>
            <a:r>
              <a:rPr lang="da-DK" altLang="zh-CN" sz="2800" b="1" dirty="0">
                <a:solidFill>
                  <a:srgbClr val="003D7A"/>
                </a:solidFill>
                <a:effectLst>
                  <a:outerShdw blurRad="38100" dist="38100" dir="2700000">
                    <a:srgbClr val="C0C0C0"/>
                  </a:outerShdw>
                </a:effectLst>
                <a:latin typeface="Courier New" panose="02070309020205020404" pitchFamily="49" charset="0"/>
                <a:cs typeface="Courier New" panose="02070309020205020404" pitchFamily="49" charset="0"/>
              </a:rPr>
              <a:t>N</a:t>
            </a:r>
            <a:r>
              <a:rPr lang="zh-CN" altLang="da-DK" sz="2800" b="1" dirty="0">
                <a:solidFill>
                  <a:srgbClr val="003D7A"/>
                </a:solidFill>
                <a:effectLst>
                  <a:outerShdw blurRad="38100" dist="38100" dir="2700000">
                    <a:srgbClr val="C0C0C0"/>
                  </a:outerShdw>
                </a:effectLst>
                <a:latin typeface="Courier New" panose="02070309020205020404" pitchFamily="49" charset="0"/>
                <a:cs typeface="Courier New" panose="02070309020205020404" pitchFamily="49" charset="0"/>
              </a:rPr>
              <a:t>个数值进行批量处理，包括求最大值、最小值和平均值，等等。</a:t>
            </a:r>
            <a:endParaRPr lang="zh-CN" altLang="en-US" sz="2800" b="1" dirty="0">
              <a:solidFill>
                <a:srgbClr val="003D7A"/>
              </a:solidFill>
              <a:effectLst>
                <a:outerShdw blurRad="38100" dist="38100" dir="2700000">
                  <a:srgbClr val="C0C0C0"/>
                </a:outerShdw>
              </a:effectLst>
              <a:latin typeface="Courier New" panose="02070309020205020404" pitchFamily="49" charset="0"/>
              <a:cs typeface="Courier New" panose="02070309020205020404" pitchFamily="49" charset="0"/>
            </a:endParaRPr>
          </a:p>
        </p:txBody>
      </p:sp>
      <p:sp>
        <p:nvSpPr>
          <p:cNvPr id="2" name="灯片编号占位符 1">
            <a:extLst>
              <a:ext uri="{FF2B5EF4-FFF2-40B4-BE49-F238E27FC236}">
                <a16:creationId xmlns:a16="http://schemas.microsoft.com/office/drawing/2014/main" id="{79C60F98-F784-7517-8376-205A72256C2F}"/>
              </a:ext>
            </a:extLst>
          </p:cNvPr>
          <p:cNvSpPr>
            <a:spLocks noGrp="1"/>
          </p:cNvSpPr>
          <p:nvPr>
            <p:ph type="sldNum" sz="quarter" idx="12"/>
          </p:nvPr>
        </p:nvSpPr>
        <p:spPr/>
        <p:txBody>
          <a:bodyPr/>
          <a:lstStyle/>
          <a:p>
            <a:fld id="{D7C0FE0B-717B-41AE-9FA2-CA4BF851D1C3}" type="slidenum">
              <a:rPr lang="zh-CN" altLang="en-US" smtClean="0"/>
              <a:t>3</a:t>
            </a:fld>
            <a:endParaRPr lang="zh-CN" altLang="en-US"/>
          </a:p>
        </p:txBody>
      </p:sp>
    </p:spTree>
    <p:extLst>
      <p:ext uri="{BB962C8B-B14F-4D97-AF65-F5344CB8AC3E}">
        <p14:creationId xmlns:p14="http://schemas.microsoft.com/office/powerpoint/2010/main" val="33786342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55649">
            <a:extLst>
              <a:ext uri="{FF2B5EF4-FFF2-40B4-BE49-F238E27FC236}">
                <a16:creationId xmlns:a16="http://schemas.microsoft.com/office/drawing/2014/main" id="{522FEA2A-5C43-24BA-CA12-4232B46C9296}"/>
              </a:ext>
            </a:extLst>
          </p:cNvPr>
          <p:cNvSpPr>
            <a:spLocks noGrp="1"/>
          </p:cNvSpPr>
          <p:nvPr/>
        </p:nvSpPr>
        <p:spPr>
          <a:xfrm>
            <a:off x="1392621" y="186401"/>
            <a:ext cx="6253655" cy="621967"/>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200" dirty="0">
                <a:solidFill>
                  <a:srgbClr val="000099"/>
                </a:solidFill>
                <a:effectLst>
                  <a:outerShdw blurRad="38100" dist="38100" dir="2700000" algn="tl">
                    <a:srgbClr val="000000">
                      <a:alpha val="43137"/>
                    </a:srgbClr>
                  </a:outerShdw>
                </a:effectLst>
              </a:rPr>
              <a:t>1.0.1  </a:t>
            </a:r>
            <a:r>
              <a:rPr lang="zh-CN" altLang="en-US" sz="3200" dirty="0">
                <a:solidFill>
                  <a:srgbClr val="000099"/>
                </a:solidFill>
                <a:effectLst>
                  <a:outerShdw blurRad="38100" dist="38100" dir="2700000" algn="tl">
                    <a:srgbClr val="000000">
                      <a:alpha val="43137"/>
                    </a:srgbClr>
                  </a:outerShdw>
                </a:effectLst>
              </a:rPr>
              <a:t>将一个数列存入一维数组</a:t>
            </a:r>
          </a:p>
        </p:txBody>
      </p:sp>
      <p:sp>
        <p:nvSpPr>
          <p:cNvPr id="5" name="文本框 155650">
            <a:extLst>
              <a:ext uri="{FF2B5EF4-FFF2-40B4-BE49-F238E27FC236}">
                <a16:creationId xmlns:a16="http://schemas.microsoft.com/office/drawing/2014/main" id="{4A88E9A1-DE3F-80E6-AE34-E9299CED0C96}"/>
              </a:ext>
            </a:extLst>
          </p:cNvPr>
          <p:cNvSpPr txBox="1"/>
          <p:nvPr/>
        </p:nvSpPr>
        <p:spPr>
          <a:xfrm>
            <a:off x="1166648" y="1126967"/>
            <a:ext cx="9674773" cy="5291455"/>
          </a:xfrm>
          <a:prstGeom prst="rect">
            <a:avLst/>
          </a:prstGeom>
          <a:noFill/>
          <a:ln w="9525">
            <a:noFill/>
          </a:ln>
          <a:effectLst>
            <a:prstShdw prst="shdw12" dir="16200000">
              <a:srgbClr val="E7E6E6">
                <a:alpha val="50000"/>
              </a:srgbClr>
            </a:prstShdw>
          </a:effectLst>
        </p:spPr>
        <p:txBody>
          <a:bodyPr wrap="square">
            <a:spAutoFit/>
          </a:bodyPr>
          <a:lstStyle>
            <a:defPPr>
              <a:defRPr lang="zh-CN"/>
            </a:defPPr>
            <a:lvl1pPr marL="0" lvl="0"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003D7A"/>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zh-CN" altLang="en-US" sz="2400" b="1" i="0" u="none" strike="noStrike" kern="1200" cap="none" spc="0" normalizeH="0" baseline="0" noProof="0" dirty="0">
                <a:ln>
                  <a:noFill/>
                </a:ln>
                <a:solidFill>
                  <a:srgbClr val="000099"/>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将一个数列（或序列）存入一维数组有多种方式。</a:t>
            </a:r>
          </a:p>
          <a:p>
            <a:pPr marL="0" marR="0" lvl="0" indent="0" algn="just" defTabSz="914400" rtl="0" eaLnBrk="1" fontAlgn="base" latinLnBrk="0" hangingPunct="1">
              <a:lnSpc>
                <a:spcPct val="150000"/>
              </a:lnSpc>
              <a:spcBef>
                <a:spcPct val="0"/>
              </a:spcBef>
              <a:spcAft>
                <a:spcPct val="20000"/>
              </a:spcAft>
              <a:buClrTx/>
              <a:buSzTx/>
              <a:buFontTx/>
              <a:buNone/>
              <a:tabLst/>
              <a:defRPr/>
            </a:pPr>
            <a:r>
              <a:rPr kumimoji="0" lang="en-US" altLang="zh-CN" sz="2800" b="1" i="0" u="none" strike="noStrike" kern="1200" cap="none" spc="0" normalizeH="0" baseline="0" noProof="0" dirty="0">
                <a:ln>
                  <a:noFill/>
                </a:ln>
                <a:solidFill>
                  <a:srgbClr val="A50021"/>
                </a:solidFill>
                <a:effectLst>
                  <a:outerShdw blurRad="38100" dist="38100" dir="2700000">
                    <a:srgbClr val="C0C0C0"/>
                  </a:outerShdw>
                </a:effectLst>
                <a:uLnTx/>
                <a:uFillTx/>
                <a:latin typeface="Calibri Light" panose="020F0302020204030204"/>
                <a:ea typeface="黑体" panose="02010609060101010101" pitchFamily="49" charset="-122"/>
                <a:cs typeface="Calibri Light" panose="020F0302020204030204"/>
              </a:rPr>
              <a:t>1.0.1.1</a:t>
            </a:r>
            <a:r>
              <a:rPr kumimoji="0" lang="en-US" altLang="zh-CN" sz="2800" b="1" i="0" u="none" strike="noStrike" kern="1200" cap="none" spc="0" normalizeH="0" baseline="0" noProof="0" dirty="0">
                <a:ln>
                  <a:noFill/>
                </a:ln>
                <a:solidFill>
                  <a:srgbClr val="A50021"/>
                </a:solidFill>
                <a:effectLst>
                  <a:outerShdw blurRad="38100" dist="38100" dir="2700000">
                    <a:srgbClr val="C0C0C0"/>
                  </a:outerShdw>
                </a:effectLst>
                <a:uLnTx/>
                <a:uFillTx/>
                <a:latin typeface="Courier New" panose="02070309020205020404" pitchFamily="49" charset="0"/>
                <a:ea typeface="黑体" panose="02010609060101010101" pitchFamily="49" charset="-122"/>
                <a:cs typeface="Courier New" panose="02070309020205020404" pitchFamily="49" charset="0"/>
              </a:rPr>
              <a:t>  </a:t>
            </a:r>
            <a:r>
              <a:rPr kumimoji="0" lang="zh-CN" altLang="en-US" sz="2800" b="1" i="0" u="none" strike="noStrike" kern="1200" cap="none" spc="0" normalizeH="0" baseline="0" noProof="0" dirty="0">
                <a:ln>
                  <a:noFill/>
                </a:ln>
                <a:solidFill>
                  <a:srgbClr val="A50021"/>
                </a:solidFill>
                <a:effectLst>
                  <a:outerShdw blurRad="38100" dist="38100" dir="2700000">
                    <a:srgbClr val="C0C0C0"/>
                  </a:outerShdw>
                </a:effectLst>
                <a:uLnTx/>
                <a:uFillTx/>
                <a:latin typeface="Courier New" panose="02070309020205020404" pitchFamily="49" charset="0"/>
                <a:ea typeface="黑体" panose="02010609060101010101" pitchFamily="49" charset="-122"/>
                <a:cs typeface="Courier New" panose="02070309020205020404" pitchFamily="49" charset="0"/>
              </a:rPr>
              <a:t>在声明数组时初始化</a:t>
            </a:r>
          </a:p>
          <a:p>
            <a:pPr marL="0" marR="0" lvl="0" indent="0" algn="just" defTabSz="914400" rtl="0" eaLnBrk="1" fontAlgn="base" latinLnBrk="0" hangingPunct="1">
              <a:lnSpc>
                <a:spcPct val="11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3D7A"/>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800" b="1" i="0" u="none" strike="noStrike" kern="1200" cap="none" spc="0" normalizeH="0" baseline="0" noProof="0" dirty="0">
                <a:ln>
                  <a:noFill/>
                </a:ln>
                <a:solidFill>
                  <a:srgbClr val="003D7A"/>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1. </a:t>
            </a:r>
            <a:r>
              <a:rPr kumimoji="0" lang="en-US" altLang="zh-CN" sz="2400" b="1" i="0" u="none" strike="noStrike" kern="1200" cap="none" spc="0" normalizeH="0" baseline="0" noProof="0" dirty="0">
                <a:ln>
                  <a:noFill/>
                </a:ln>
                <a:solidFill>
                  <a:srgbClr val="000000"/>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int v[10]={1,2,3,4,5,6,7,8,9,10};</a:t>
            </a:r>
          </a:p>
          <a:p>
            <a:pPr marL="0" marR="0" lvl="0" indent="0" algn="just" defTabSz="914400" rtl="0" eaLnBrk="1" fontAlgn="base" latinLnBrk="0" hangingPunct="1">
              <a:lnSpc>
                <a:spcPct val="110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rgbClr val="003D7A"/>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   2. </a:t>
            </a:r>
            <a:r>
              <a:rPr kumimoji="0" lang="en-US" altLang="zh-CN" sz="2400" b="1" i="0" u="none" strike="noStrike" kern="1200" cap="none" spc="0" normalizeH="0" baseline="0" noProof="0" dirty="0">
                <a:ln>
                  <a:noFill/>
                </a:ln>
                <a:solidFill>
                  <a:srgbClr val="000000"/>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int v[]={1,2,3,4,5,6,7,8,9,10};</a:t>
            </a:r>
          </a:p>
          <a:p>
            <a:pPr marL="0" marR="0" lvl="0" indent="0" algn="just" defTabSz="914400" rtl="0" eaLnBrk="1" fontAlgn="base" latinLnBrk="0" hangingPunct="1">
              <a:lnSpc>
                <a:spcPct val="110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rgbClr val="003D7A"/>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   3. </a:t>
            </a:r>
            <a:r>
              <a:rPr kumimoji="0" lang="en-US" altLang="zh-CN" sz="2400" b="1" i="0" u="none" strike="noStrike" kern="1200" cap="none" spc="0" normalizeH="0" baseline="0" noProof="0" dirty="0">
                <a:ln>
                  <a:noFill/>
                </a:ln>
                <a:solidFill>
                  <a:srgbClr val="000000"/>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int v[10]={1,2,3};</a:t>
            </a:r>
          </a:p>
          <a:p>
            <a:pPr marL="0" marR="0" lvl="0" indent="0" algn="just" defTabSz="914400" rtl="0" eaLnBrk="1" fontAlgn="base" latinLnBrk="0" hangingPunct="1">
              <a:lnSpc>
                <a:spcPct val="110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rgbClr val="003D7A"/>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   4. </a:t>
            </a:r>
            <a:r>
              <a:rPr kumimoji="0" lang="en-US" altLang="zh-CN" sz="2400" b="1" i="0" u="none" strike="noStrike" kern="1200" cap="none" spc="0" normalizeH="0" baseline="0" noProof="0" dirty="0">
                <a:ln>
                  <a:noFill/>
                </a:ln>
                <a:solidFill>
                  <a:srgbClr val="000000"/>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int v[10];</a:t>
            </a:r>
          </a:p>
          <a:p>
            <a:pPr marL="0" marR="0" lvl="0" indent="0" algn="just" defTabSz="914400" rtl="0" eaLnBrk="1" fontAlgn="base" latinLnBrk="0" hangingPunct="1">
              <a:lnSpc>
                <a:spcPct val="130000"/>
              </a:lnSpc>
              <a:spcBef>
                <a:spcPct val="20000"/>
              </a:spcBef>
              <a:spcAft>
                <a:spcPct val="0"/>
              </a:spcAft>
              <a:buClrTx/>
              <a:buSzTx/>
              <a:buFontTx/>
              <a:buNone/>
              <a:tabLst/>
              <a:defRPr/>
            </a:pPr>
            <a:r>
              <a:rPr kumimoji="0" lang="zh-CN" altLang="en-US" sz="2400" b="1" i="0" u="none" strike="noStrike" kern="1200" cap="none" spc="0" normalizeH="0" baseline="0" noProof="0" dirty="0">
                <a:ln>
                  <a:noFill/>
                </a:ln>
                <a:solidFill>
                  <a:srgbClr val="000099"/>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在</a:t>
            </a:r>
            <a:r>
              <a:rPr kumimoji="0" lang="en-US" altLang="zh-CN" sz="2400" b="1" i="0" u="none" strike="noStrike" kern="1200" cap="none" spc="0" normalizeH="0" baseline="0" noProof="0" dirty="0">
                <a:ln>
                  <a:noFill/>
                </a:ln>
                <a:solidFill>
                  <a:srgbClr val="000099"/>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v</a:t>
            </a:r>
            <a:r>
              <a:rPr kumimoji="0" lang="zh-CN" altLang="en-US" sz="2400" b="1" i="0" u="none" strike="noStrike" kern="1200" cap="none" spc="0" normalizeH="0" baseline="0" noProof="0" dirty="0">
                <a:ln>
                  <a:noFill/>
                </a:ln>
                <a:solidFill>
                  <a:srgbClr val="000099"/>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的上述</a:t>
            </a:r>
            <a:r>
              <a:rPr kumimoji="0" lang="en-US" altLang="zh-CN" sz="2400" b="1" i="0" u="none" strike="noStrike" kern="1200" cap="none" spc="0" normalizeH="0" baseline="0" noProof="0" dirty="0">
                <a:ln>
                  <a:noFill/>
                </a:ln>
                <a:solidFill>
                  <a:srgbClr val="000099"/>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4</a:t>
            </a:r>
            <a:r>
              <a:rPr kumimoji="0" lang="zh-CN" altLang="en-US" sz="2400" b="1" i="0" u="none" strike="noStrike" kern="1200" cap="none" spc="0" normalizeH="0" baseline="0" noProof="0" dirty="0">
                <a:ln>
                  <a:noFill/>
                </a:ln>
                <a:solidFill>
                  <a:srgbClr val="000099"/>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个不同声明中，</a:t>
            </a:r>
            <a:r>
              <a:rPr kumimoji="0" lang="en-US" altLang="zh-CN" sz="2400" b="1" i="0" u="none" strike="noStrike" kern="1200" cap="none" spc="0" normalizeH="0" baseline="0" noProof="0" dirty="0">
                <a:ln>
                  <a:noFill/>
                </a:ln>
                <a:solidFill>
                  <a:srgbClr val="000099"/>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v</a:t>
            </a:r>
            <a:r>
              <a:rPr kumimoji="0" lang="zh-CN" altLang="en-US" sz="2400" b="1" i="0" u="none" strike="noStrike" kern="1200" cap="none" spc="0" normalizeH="0" baseline="0" noProof="0" dirty="0">
                <a:ln>
                  <a:noFill/>
                </a:ln>
                <a:solidFill>
                  <a:srgbClr val="000099"/>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的长度均指定为</a:t>
            </a:r>
            <a:r>
              <a:rPr kumimoji="0" lang="en-US" altLang="zh-CN" sz="2400" b="1" i="0" u="none" strike="noStrike" kern="1200" cap="none" spc="0" normalizeH="0" baseline="0" noProof="0" dirty="0">
                <a:ln>
                  <a:noFill/>
                </a:ln>
                <a:solidFill>
                  <a:srgbClr val="000099"/>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10</a:t>
            </a:r>
            <a:r>
              <a:rPr kumimoji="0" lang="zh-CN" altLang="en-US" sz="2400" b="1" i="0" u="none" strike="noStrike" kern="1200" cap="none" spc="0" normalizeH="0" baseline="0" noProof="0" dirty="0">
                <a:ln>
                  <a:noFill/>
                </a:ln>
                <a:solidFill>
                  <a:srgbClr val="000099"/>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a:t>
            </a:r>
          </a:p>
          <a:p>
            <a:pPr marL="0" marR="0" lvl="0" indent="0" algn="just" defTabSz="914400" rtl="0" eaLnBrk="1" fontAlgn="base" latinLnBrk="0" hangingPunct="1">
              <a:lnSpc>
                <a:spcPct val="110000"/>
              </a:lnSpc>
              <a:spcBef>
                <a:spcPct val="0"/>
              </a:spcBef>
              <a:spcAft>
                <a:spcPct val="0"/>
              </a:spcAft>
              <a:buClr>
                <a:srgbClr val="A50021"/>
              </a:buClr>
              <a:buSzPct val="120000"/>
              <a:buFont typeface="Wingdings" panose="05000000000000000000" pitchFamily="2" charset="2"/>
              <a:buChar char="¶"/>
              <a:tabLst/>
              <a:defRPr/>
            </a:pPr>
            <a:r>
              <a:rPr kumimoji="0" lang="zh-CN" altLang="en-US" sz="2400" b="1" i="0" u="none" strike="noStrike" kern="1200" cap="none" spc="0" normalizeH="0" baseline="0" noProof="0" dirty="0">
                <a:ln>
                  <a:noFill/>
                </a:ln>
                <a:solidFill>
                  <a:srgbClr val="000099"/>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 第</a:t>
            </a:r>
            <a:r>
              <a:rPr kumimoji="0" lang="en-US" altLang="zh-CN" sz="2400" b="1" i="0" u="none" strike="noStrike" kern="1200" cap="none" spc="0" normalizeH="0" baseline="0" noProof="0" dirty="0">
                <a:ln>
                  <a:noFill/>
                </a:ln>
                <a:solidFill>
                  <a:srgbClr val="000099"/>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1</a:t>
            </a:r>
            <a:r>
              <a:rPr kumimoji="0" lang="zh-CN" altLang="en-US" sz="2400" b="1" i="0" u="none" strike="noStrike" kern="1200" cap="none" spc="0" normalizeH="0" baseline="0" noProof="0" dirty="0">
                <a:ln>
                  <a:noFill/>
                </a:ln>
                <a:solidFill>
                  <a:srgbClr val="000099"/>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2400" b="1" i="0" u="none" strike="noStrike" kern="1200" cap="none" spc="0" normalizeH="0" baseline="0" noProof="0" dirty="0">
                <a:ln>
                  <a:noFill/>
                </a:ln>
                <a:solidFill>
                  <a:srgbClr val="000099"/>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2</a:t>
            </a:r>
            <a:r>
              <a:rPr kumimoji="0" lang="zh-CN" altLang="en-US" sz="2400" b="1" i="0" u="none" strike="noStrike" kern="1200" cap="none" spc="0" normalizeH="0" baseline="0" noProof="0" dirty="0">
                <a:ln>
                  <a:noFill/>
                </a:ln>
                <a:solidFill>
                  <a:srgbClr val="000099"/>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个声明均对</a:t>
            </a:r>
            <a:r>
              <a:rPr kumimoji="0" lang="en-US" altLang="zh-CN" sz="2400" b="1" i="0" u="none" strike="noStrike" kern="1200" cap="none" spc="0" normalizeH="0" baseline="0" noProof="0" dirty="0">
                <a:ln>
                  <a:noFill/>
                </a:ln>
                <a:solidFill>
                  <a:srgbClr val="000099"/>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v</a:t>
            </a:r>
            <a:r>
              <a:rPr kumimoji="0" lang="zh-CN" altLang="en-US" sz="2400" b="1" i="0" u="none" strike="noStrike" kern="1200" cap="none" spc="0" normalizeH="0" baseline="0" noProof="0" dirty="0">
                <a:ln>
                  <a:noFill/>
                </a:ln>
                <a:solidFill>
                  <a:srgbClr val="000099"/>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的</a:t>
            </a:r>
            <a:r>
              <a:rPr kumimoji="0" lang="en-US" altLang="zh-CN" sz="2400" b="1" i="0" u="none" strike="noStrike" kern="1200" cap="none" spc="0" normalizeH="0" baseline="0" noProof="0" dirty="0">
                <a:ln>
                  <a:noFill/>
                </a:ln>
                <a:solidFill>
                  <a:srgbClr val="000099"/>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10</a:t>
            </a:r>
            <a:r>
              <a:rPr kumimoji="0" lang="zh-CN" altLang="en-US" sz="2400" b="1" i="0" u="none" strike="noStrike" kern="1200" cap="none" spc="0" normalizeH="0" baseline="0" noProof="0" dirty="0">
                <a:ln>
                  <a:noFill/>
                </a:ln>
                <a:solidFill>
                  <a:srgbClr val="000099"/>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个元素依次初始化为整数</a:t>
            </a:r>
            <a:r>
              <a:rPr kumimoji="0" lang="en-US" altLang="zh-CN" sz="2400" b="1" i="0" u="none" strike="noStrike" kern="1200" cap="none" spc="0" normalizeH="0" baseline="0" noProof="0" dirty="0">
                <a:ln>
                  <a:noFill/>
                </a:ln>
                <a:solidFill>
                  <a:srgbClr val="000099"/>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1</a:t>
            </a:r>
            <a:r>
              <a:rPr kumimoji="0" lang="zh-CN" altLang="en-US" sz="2400" b="1" i="0" u="none" strike="noStrike" kern="1200" cap="none" spc="0" normalizeH="0" baseline="0" noProof="0" dirty="0">
                <a:ln>
                  <a:noFill/>
                </a:ln>
                <a:solidFill>
                  <a:srgbClr val="000099"/>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到</a:t>
            </a:r>
            <a:r>
              <a:rPr kumimoji="0" lang="en-US" altLang="zh-CN" sz="2400" b="1" i="0" u="none" strike="noStrike" kern="1200" cap="none" spc="0" normalizeH="0" baseline="0" noProof="0" dirty="0">
                <a:ln>
                  <a:noFill/>
                </a:ln>
                <a:solidFill>
                  <a:srgbClr val="000099"/>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10</a:t>
            </a:r>
            <a:r>
              <a:rPr kumimoji="0" lang="zh-CN" altLang="en-US" sz="2400" b="1" i="0" u="none" strike="noStrike" kern="1200" cap="none" spc="0" normalizeH="0" baseline="0" noProof="0" dirty="0">
                <a:ln>
                  <a:noFill/>
                </a:ln>
                <a:solidFill>
                  <a:srgbClr val="000099"/>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a:t>
            </a:r>
          </a:p>
          <a:p>
            <a:pPr marL="0" marR="0" lvl="0" indent="0" algn="just" defTabSz="914400" rtl="0" eaLnBrk="1" fontAlgn="base" latinLnBrk="0" hangingPunct="1">
              <a:lnSpc>
                <a:spcPct val="110000"/>
              </a:lnSpc>
              <a:spcBef>
                <a:spcPct val="0"/>
              </a:spcBef>
              <a:spcAft>
                <a:spcPct val="0"/>
              </a:spcAft>
              <a:buClr>
                <a:srgbClr val="A50021"/>
              </a:buClr>
              <a:buSzPct val="120000"/>
              <a:buFont typeface="Wingdings" panose="05000000000000000000" pitchFamily="2" charset="2"/>
              <a:buChar char="¶"/>
              <a:tabLst/>
              <a:defRPr/>
            </a:pPr>
            <a:r>
              <a:rPr kumimoji="0" lang="zh-CN" altLang="en-US" sz="2400" b="1" i="0" u="none" strike="noStrike" kern="1200" cap="none" spc="0" normalizeH="0" baseline="0" noProof="0" dirty="0">
                <a:ln>
                  <a:noFill/>
                </a:ln>
                <a:solidFill>
                  <a:srgbClr val="000099"/>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 第</a:t>
            </a:r>
            <a:r>
              <a:rPr kumimoji="0" lang="en-US" altLang="zh-CN" sz="2400" b="1" i="0" u="none" strike="noStrike" kern="1200" cap="none" spc="0" normalizeH="0" baseline="0" noProof="0" dirty="0">
                <a:ln>
                  <a:noFill/>
                </a:ln>
                <a:solidFill>
                  <a:srgbClr val="000099"/>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3</a:t>
            </a:r>
            <a:r>
              <a:rPr kumimoji="0" lang="zh-CN" altLang="en-US" sz="2400" b="1" i="0" u="none" strike="noStrike" kern="1200" cap="none" spc="0" normalizeH="0" baseline="0" noProof="0" dirty="0">
                <a:ln>
                  <a:noFill/>
                </a:ln>
                <a:solidFill>
                  <a:srgbClr val="000099"/>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个只将</a:t>
            </a:r>
            <a:r>
              <a:rPr kumimoji="0" lang="en-US" altLang="zh-CN" sz="2400" b="1" i="0" u="none" strike="noStrike" kern="1200" cap="none" spc="0" normalizeH="0" baseline="0" noProof="0" dirty="0">
                <a:ln>
                  <a:noFill/>
                </a:ln>
                <a:solidFill>
                  <a:srgbClr val="000099"/>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v</a:t>
            </a:r>
            <a:r>
              <a:rPr kumimoji="0" lang="zh-CN" altLang="en-US" sz="2400" b="1" i="0" u="none" strike="noStrike" kern="1200" cap="none" spc="0" normalizeH="0" baseline="0" noProof="0" dirty="0">
                <a:ln>
                  <a:noFill/>
                </a:ln>
                <a:solidFill>
                  <a:srgbClr val="000099"/>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前</a:t>
            </a:r>
            <a:r>
              <a:rPr kumimoji="0" lang="en-US" altLang="zh-CN" sz="2400" b="1" i="0" u="none" strike="noStrike" kern="1200" cap="none" spc="0" normalizeH="0" baseline="0" noProof="0" dirty="0">
                <a:ln>
                  <a:noFill/>
                </a:ln>
                <a:solidFill>
                  <a:srgbClr val="000099"/>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3</a:t>
            </a:r>
            <a:r>
              <a:rPr kumimoji="0" lang="zh-CN" altLang="en-US" sz="2400" b="1" i="0" u="none" strike="noStrike" kern="1200" cap="none" spc="0" normalizeH="0" baseline="0" noProof="0" dirty="0">
                <a:ln>
                  <a:noFill/>
                </a:ln>
                <a:solidFill>
                  <a:srgbClr val="000099"/>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个元素依次赋初值</a:t>
            </a:r>
            <a:r>
              <a:rPr kumimoji="0" lang="en-US" altLang="zh-CN" sz="2400" b="1" i="0" u="none" strike="noStrike" kern="1200" cap="none" spc="0" normalizeH="0" baseline="0" noProof="0" dirty="0">
                <a:ln>
                  <a:noFill/>
                </a:ln>
                <a:solidFill>
                  <a:srgbClr val="000099"/>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1</a:t>
            </a:r>
            <a:r>
              <a:rPr kumimoji="0" lang="zh-CN" altLang="en-US" sz="2400" b="1" i="0" u="none" strike="noStrike" kern="1200" cap="none" spc="0" normalizeH="0" baseline="0" noProof="0" dirty="0">
                <a:ln>
                  <a:noFill/>
                </a:ln>
                <a:solidFill>
                  <a:srgbClr val="000099"/>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2400" b="1" i="0" u="none" strike="noStrike" kern="1200" cap="none" spc="0" normalizeH="0" baseline="0" noProof="0" dirty="0">
                <a:ln>
                  <a:noFill/>
                </a:ln>
                <a:solidFill>
                  <a:srgbClr val="000099"/>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2</a:t>
            </a:r>
            <a:r>
              <a:rPr kumimoji="0" lang="zh-CN" altLang="en-US" sz="2400" b="1" i="0" u="none" strike="noStrike" kern="1200" cap="none" spc="0" normalizeH="0" baseline="0" noProof="0" dirty="0">
                <a:ln>
                  <a:noFill/>
                </a:ln>
                <a:solidFill>
                  <a:srgbClr val="000099"/>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和</a:t>
            </a:r>
            <a:r>
              <a:rPr kumimoji="0" lang="en-US" altLang="zh-CN" sz="2400" b="1" i="0" u="none" strike="noStrike" kern="1200" cap="none" spc="0" normalizeH="0" baseline="0" noProof="0" dirty="0">
                <a:ln>
                  <a:noFill/>
                </a:ln>
                <a:solidFill>
                  <a:srgbClr val="000099"/>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3</a:t>
            </a:r>
            <a:r>
              <a:rPr kumimoji="0" lang="zh-CN" altLang="en-US" sz="2400" b="1" i="0" u="none" strike="noStrike" kern="1200" cap="none" spc="0" normalizeH="0" baseline="0" noProof="0" dirty="0">
                <a:ln>
                  <a:noFill/>
                </a:ln>
                <a:solidFill>
                  <a:srgbClr val="000099"/>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，其余元素为</a:t>
            </a:r>
            <a:r>
              <a:rPr kumimoji="0" lang="en-US" altLang="zh-CN" sz="2400" b="1" i="0" u="none" strike="noStrike" kern="1200" cap="none" spc="0" normalizeH="0" baseline="0" noProof="0" dirty="0">
                <a:ln>
                  <a:noFill/>
                </a:ln>
                <a:solidFill>
                  <a:srgbClr val="000099"/>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0</a:t>
            </a:r>
            <a:r>
              <a:rPr kumimoji="0" lang="zh-CN" altLang="en-US" sz="2400" b="1" i="0" u="none" strike="noStrike" kern="1200" cap="none" spc="0" normalizeH="0" baseline="0" noProof="0" dirty="0">
                <a:ln>
                  <a:noFill/>
                </a:ln>
                <a:solidFill>
                  <a:srgbClr val="000099"/>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a:t>
            </a:r>
          </a:p>
          <a:p>
            <a:pPr marL="0" marR="0" lvl="0" indent="0" algn="just" defTabSz="914400" rtl="0" eaLnBrk="1" fontAlgn="base" latinLnBrk="0" hangingPunct="1">
              <a:lnSpc>
                <a:spcPct val="110000"/>
              </a:lnSpc>
              <a:spcBef>
                <a:spcPct val="0"/>
              </a:spcBef>
              <a:spcAft>
                <a:spcPct val="0"/>
              </a:spcAft>
              <a:buClr>
                <a:srgbClr val="A50021"/>
              </a:buClr>
              <a:buSzPct val="120000"/>
              <a:buFont typeface="Wingdings" panose="05000000000000000000" pitchFamily="2" charset="2"/>
              <a:buChar char="¶"/>
              <a:tabLst/>
              <a:defRPr/>
            </a:pPr>
            <a:r>
              <a:rPr kumimoji="0" lang="zh-CN" altLang="en-US" sz="2400" b="1" i="0" u="none" strike="noStrike" kern="1200" cap="none" spc="0" normalizeH="0" baseline="0" noProof="0" dirty="0">
                <a:ln>
                  <a:noFill/>
                </a:ln>
                <a:solidFill>
                  <a:srgbClr val="000099"/>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 第</a:t>
            </a:r>
            <a:r>
              <a:rPr kumimoji="0" lang="en-US" altLang="zh-CN" sz="2400" b="1" i="0" u="none" strike="noStrike" kern="1200" cap="none" spc="0" normalizeH="0" baseline="0" noProof="0" dirty="0">
                <a:ln>
                  <a:noFill/>
                </a:ln>
                <a:solidFill>
                  <a:srgbClr val="000099"/>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4</a:t>
            </a:r>
            <a:r>
              <a:rPr kumimoji="0" lang="zh-CN" altLang="en-US" sz="2400" b="1" i="0" u="none" strike="noStrike" kern="1200" cap="none" spc="0" normalizeH="0" baseline="0" noProof="0" dirty="0">
                <a:ln>
                  <a:noFill/>
                </a:ln>
                <a:solidFill>
                  <a:srgbClr val="000099"/>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个未对</a:t>
            </a:r>
            <a:r>
              <a:rPr kumimoji="0" lang="en-US" altLang="zh-CN" sz="2400" b="1" i="0" u="none" strike="noStrike" kern="1200" cap="none" spc="0" normalizeH="0" baseline="0" noProof="0" dirty="0">
                <a:ln>
                  <a:noFill/>
                </a:ln>
                <a:solidFill>
                  <a:srgbClr val="000099"/>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v</a:t>
            </a:r>
            <a:r>
              <a:rPr kumimoji="0" lang="zh-CN" altLang="en-US" sz="2400" b="1" i="0" u="none" strike="noStrike" kern="1200" cap="none" spc="0" normalizeH="0" baseline="0" noProof="0" dirty="0">
                <a:ln>
                  <a:noFill/>
                </a:ln>
                <a:solidFill>
                  <a:srgbClr val="000099"/>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的元素赋初值。多数</a:t>
            </a:r>
            <a:r>
              <a:rPr kumimoji="0" lang="en-US" altLang="zh-CN" sz="2400" b="1" i="0" u="none" strike="noStrike" kern="1200" cap="none" spc="0" normalizeH="0" baseline="0" noProof="0" dirty="0">
                <a:ln>
                  <a:noFill/>
                </a:ln>
                <a:solidFill>
                  <a:srgbClr val="000099"/>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C</a:t>
            </a:r>
            <a:r>
              <a:rPr kumimoji="0" lang="zh-CN" altLang="en-US" sz="2400" b="1" i="0" u="none" strike="noStrike" kern="1200" cap="none" spc="0" normalizeH="0" baseline="0" noProof="0" dirty="0">
                <a:ln>
                  <a:noFill/>
                </a:ln>
                <a:solidFill>
                  <a:srgbClr val="000099"/>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编译器产生的代码都令变量取缺省值，如整型变量初值为</a:t>
            </a:r>
            <a:r>
              <a:rPr kumimoji="0" lang="en-US" altLang="zh-CN" sz="2400" b="1" i="0" u="none" strike="noStrike" kern="1200" cap="none" spc="0" normalizeH="0" baseline="0" noProof="0" dirty="0">
                <a:ln>
                  <a:noFill/>
                </a:ln>
                <a:solidFill>
                  <a:srgbClr val="000099"/>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0</a:t>
            </a:r>
            <a:r>
              <a:rPr kumimoji="0" lang="zh-CN" altLang="en-US" sz="2400" b="1" i="0" u="none" strike="noStrike" kern="1200" cap="none" spc="0" normalizeH="0" baseline="0" noProof="0" dirty="0">
                <a:ln>
                  <a:noFill/>
                </a:ln>
                <a:solidFill>
                  <a:srgbClr val="000099"/>
                </a:solidFill>
                <a:effectLst>
                  <a:outerShdw blurRad="38100" dist="38100" dir="2700000">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a:t>
            </a:r>
          </a:p>
        </p:txBody>
      </p:sp>
      <p:sp>
        <p:nvSpPr>
          <p:cNvPr id="2" name="灯片编号占位符 1">
            <a:extLst>
              <a:ext uri="{FF2B5EF4-FFF2-40B4-BE49-F238E27FC236}">
                <a16:creationId xmlns:a16="http://schemas.microsoft.com/office/drawing/2014/main" id="{0B9A8592-FB69-99D0-10A5-05B351846B1D}"/>
              </a:ext>
            </a:extLst>
          </p:cNvPr>
          <p:cNvSpPr>
            <a:spLocks noGrp="1"/>
          </p:cNvSpPr>
          <p:nvPr>
            <p:ph type="sldNum" sz="quarter" idx="12"/>
          </p:nvPr>
        </p:nvSpPr>
        <p:spPr/>
        <p:txBody>
          <a:bodyPr/>
          <a:lstStyle/>
          <a:p>
            <a:fld id="{D7C0FE0B-717B-41AE-9FA2-CA4BF851D1C3}" type="slidenum">
              <a:rPr lang="zh-CN" altLang="en-US" smtClean="0"/>
              <a:t>4</a:t>
            </a:fld>
            <a:endParaRPr lang="zh-CN" altLang="en-US"/>
          </a:p>
        </p:txBody>
      </p:sp>
    </p:spTree>
    <p:extLst>
      <p:ext uri="{BB962C8B-B14F-4D97-AF65-F5344CB8AC3E}">
        <p14:creationId xmlns:p14="http://schemas.microsoft.com/office/powerpoint/2010/main" val="30132422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676984A8-AE19-FA73-C0E8-F310AC5A49BD}"/>
              </a:ext>
            </a:extLst>
          </p:cNvPr>
          <p:cNvSpPr/>
          <p:nvPr/>
        </p:nvSpPr>
        <p:spPr>
          <a:xfrm>
            <a:off x="2004904" y="4290665"/>
            <a:ext cx="7594600" cy="1587831"/>
          </a:xfrm>
          <a:prstGeom prst="rect">
            <a:avLst/>
          </a:prstGeom>
          <a:solidFill>
            <a:schemeClr val="accent6">
              <a:lumMod val="20000"/>
              <a:lumOff val="80000"/>
            </a:schemeClr>
          </a:solidFill>
          <a:ln w="9525" cap="flat" cmpd="sng">
            <a:solidFill>
              <a:schemeClr val="tx1"/>
            </a:solidFill>
            <a:prstDash val="solid"/>
            <a:miter/>
            <a:headEnd type="none" w="med" len="med"/>
            <a:tailEnd type="none" w="med" len="med"/>
          </a:ln>
          <a:effectLst>
            <a:prstShdw prst="shdw12" dir="16200000">
              <a:schemeClr val="bg2">
                <a:alpha val="50000"/>
              </a:schemeClr>
            </a:prstShdw>
          </a:effectLst>
        </p:spPr>
        <p:txBody>
          <a:bodyPr/>
          <a:lstStyle/>
          <a:p>
            <a:endParaRPr lang="zh-CN" altLang="en-US"/>
          </a:p>
        </p:txBody>
      </p:sp>
      <p:sp>
        <p:nvSpPr>
          <p:cNvPr id="5" name="矩形 4">
            <a:extLst>
              <a:ext uri="{FF2B5EF4-FFF2-40B4-BE49-F238E27FC236}">
                <a16:creationId xmlns:a16="http://schemas.microsoft.com/office/drawing/2014/main" id="{DC887B49-6EF7-432B-ADBF-96B797A8EF66}"/>
              </a:ext>
            </a:extLst>
          </p:cNvPr>
          <p:cNvSpPr/>
          <p:nvPr/>
        </p:nvSpPr>
        <p:spPr>
          <a:xfrm>
            <a:off x="2004904" y="2509525"/>
            <a:ext cx="7594600" cy="1221648"/>
          </a:xfrm>
          <a:prstGeom prst="rect">
            <a:avLst/>
          </a:prstGeom>
          <a:solidFill>
            <a:schemeClr val="accent6">
              <a:lumMod val="20000"/>
              <a:lumOff val="80000"/>
            </a:schemeClr>
          </a:solidFill>
          <a:ln w="9525" cap="flat" cmpd="sng">
            <a:solidFill>
              <a:schemeClr val="tx1"/>
            </a:solidFill>
            <a:prstDash val="solid"/>
            <a:miter/>
            <a:headEnd type="none" w="med" len="med"/>
            <a:tailEnd type="none" w="med" len="med"/>
          </a:ln>
          <a:effectLst>
            <a:prstShdw prst="shdw12" dir="16200000">
              <a:schemeClr val="bg2">
                <a:alpha val="50000"/>
              </a:schemeClr>
            </a:prstShdw>
          </a:effectLst>
        </p:spPr>
        <p:txBody>
          <a:bodyPr/>
          <a:lstStyle/>
          <a:p>
            <a:endParaRPr lang="zh-CN" altLang="en-US"/>
          </a:p>
        </p:txBody>
      </p:sp>
      <p:sp>
        <p:nvSpPr>
          <p:cNvPr id="6" name="标题 156676">
            <a:extLst>
              <a:ext uri="{FF2B5EF4-FFF2-40B4-BE49-F238E27FC236}">
                <a16:creationId xmlns:a16="http://schemas.microsoft.com/office/drawing/2014/main" id="{10A4D33D-D766-4993-874A-CD626FC3C235}"/>
              </a:ext>
            </a:extLst>
          </p:cNvPr>
          <p:cNvSpPr txBox="1">
            <a:spLocks/>
          </p:cNvSpPr>
          <p:nvPr/>
        </p:nvSpPr>
        <p:spPr>
          <a:xfrm>
            <a:off x="1358462" y="150177"/>
            <a:ext cx="6639910" cy="682625"/>
          </a:xfrm>
          <a:prstGeom prst="rect">
            <a:avLst/>
          </a:prstGeom>
        </p:spPr>
        <p:txBody>
          <a:bodyPr vert="horz" lIns="91440" tIns="45720" rIns="91440" bIns="45720" rtlCol="0" anchor="ctr" anchorCtr="0">
            <a:normAutofit/>
          </a:bodyPr>
          <a:lstStyle>
            <a:defPPr>
              <a:defRPr lang="zh-CN"/>
            </a:defPPr>
            <a:lvl1pPr>
              <a:lnSpc>
                <a:spcPct val="90000"/>
              </a:lnSpc>
              <a:spcBef>
                <a:spcPct val="0"/>
              </a:spcBef>
              <a:buNone/>
              <a:defRPr sz="3200">
                <a:solidFill>
                  <a:srgbClr val="000099"/>
                </a:solidFill>
                <a:effectLst>
                  <a:outerShdw blurRad="38100" dist="38100" dir="2700000" algn="tl">
                    <a:srgbClr val="000000">
                      <a:alpha val="43137"/>
                    </a:srgbClr>
                  </a:outerShdw>
                </a:effectLst>
                <a:latin typeface="+mj-lt"/>
                <a:ea typeface="+mj-ea"/>
                <a:cs typeface="+mj-cs"/>
              </a:defRPr>
            </a:lvl1pPr>
          </a:lstStyle>
          <a:p>
            <a:r>
              <a:rPr lang="en-US" altLang="zh-CN" dirty="0"/>
              <a:t>1.0.1  </a:t>
            </a:r>
            <a:r>
              <a:rPr lang="zh-CN" altLang="en-US" dirty="0"/>
              <a:t>将一个数列存入一维数组</a:t>
            </a:r>
          </a:p>
        </p:txBody>
      </p:sp>
      <p:sp>
        <p:nvSpPr>
          <p:cNvPr id="7" name="文本占位符 156675">
            <a:extLst>
              <a:ext uri="{FF2B5EF4-FFF2-40B4-BE49-F238E27FC236}">
                <a16:creationId xmlns:a16="http://schemas.microsoft.com/office/drawing/2014/main" id="{4F2EEEC9-E042-E155-729E-16DDED9BAADB}"/>
              </a:ext>
            </a:extLst>
          </p:cNvPr>
          <p:cNvSpPr txBox="1">
            <a:spLocks/>
          </p:cNvSpPr>
          <p:nvPr/>
        </p:nvSpPr>
        <p:spPr>
          <a:xfrm>
            <a:off x="1358462" y="1037239"/>
            <a:ext cx="8893175" cy="4869025"/>
          </a:xfrm>
          <a:prstGeom prst="rect">
            <a:avLst/>
          </a:prstGeom>
          <a:effectLst>
            <a:prstShdw prst="shdw12" dir="16200000">
              <a:schemeClr val="bg2">
                <a:alpha val="50000"/>
              </a:schemeClr>
            </a:prstShdw>
          </a:effectLst>
        </p:spPr>
        <p:txBody>
          <a:bodyPr vert="horz" wrap="square" lIns="91440" tIns="45720" rIns="91440" bIns="45720" rtlCol="0" anchor="t" anchorCtr="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fontAlgn="base">
              <a:lnSpc>
                <a:spcPct val="100000"/>
              </a:lnSpc>
              <a:spcBef>
                <a:spcPct val="0"/>
              </a:spcBef>
              <a:spcAft>
                <a:spcPct val="20000"/>
              </a:spcAft>
            </a:pPr>
            <a:r>
              <a:rPr lang="en-US" altLang="zh-CN" sz="2800" b="1" dirty="0">
                <a:solidFill>
                  <a:srgbClr val="A50021"/>
                </a:solidFill>
                <a:effectLst>
                  <a:outerShdw blurRad="38100" dist="38100" dir="2700000">
                    <a:srgbClr val="C0C0C0"/>
                  </a:outerShdw>
                </a:effectLst>
                <a:latin typeface="Calibri Light" panose="020F0302020204030204"/>
                <a:ea typeface="黑体" panose="02010609060101010101" pitchFamily="49" charset="-122"/>
                <a:cs typeface="Calibri Light" panose="020F0302020204030204"/>
              </a:rPr>
              <a:t>1.0.1.2  </a:t>
            </a:r>
            <a:r>
              <a:rPr lang="zh-CN" altLang="en-US" sz="2800" b="1" dirty="0">
                <a:solidFill>
                  <a:srgbClr val="A50021"/>
                </a:solidFill>
                <a:effectLst>
                  <a:outerShdw blurRad="38100" dist="38100" dir="2700000">
                    <a:srgbClr val="C0C0C0"/>
                  </a:outerShdw>
                </a:effectLst>
                <a:latin typeface="Calibri Light" panose="020F0302020204030204"/>
                <a:ea typeface="黑体" panose="02010609060101010101" pitchFamily="49" charset="-122"/>
                <a:cs typeface="Calibri Light" panose="020F0302020204030204"/>
              </a:rPr>
              <a:t>使用循环对数组元素依次赋值</a:t>
            </a:r>
          </a:p>
          <a:p>
            <a:pPr algn="just">
              <a:lnSpc>
                <a:spcPct val="120000"/>
              </a:lnSpc>
              <a:spcBef>
                <a:spcPct val="0"/>
              </a:spcBef>
              <a:spcAft>
                <a:spcPct val="30000"/>
              </a:spcAft>
            </a:pPr>
            <a:r>
              <a:rPr lang="zh-CN" altLang="en-US" dirty="0">
                <a:solidFill>
                  <a:srgbClr val="003D7A"/>
                </a:solidFill>
                <a:latin typeface="Arial" panose="020B0604020202020204" pitchFamily="34" charset="0"/>
              </a:rPr>
              <a:t>      </a:t>
            </a:r>
            <a:r>
              <a:rPr lang="zh-CN" altLang="en-US" b="1" dirty="0">
                <a:solidFill>
                  <a:srgbClr val="000099"/>
                </a:solidFill>
                <a:latin typeface="Arial" panose="020B0604020202020204" pitchFamily="34" charset="0"/>
              </a:rPr>
              <a:t>当声明的数组很大或者数组元素与其下标存在对应关系时，</a:t>
            </a:r>
            <a:r>
              <a:rPr lang="zh-CN" altLang="en-US" b="1" dirty="0">
                <a:solidFill>
                  <a:srgbClr val="000099"/>
                </a:solidFill>
                <a:latin typeface="Courier New" panose="02070309020205020404" pitchFamily="49" charset="0"/>
                <a:cs typeface="Courier New" panose="02070309020205020404" pitchFamily="49" charset="0"/>
              </a:rPr>
              <a:t>可以使用循环赋值。</a:t>
            </a:r>
          </a:p>
          <a:p>
            <a:pPr algn="just">
              <a:lnSpc>
                <a:spcPct val="100000"/>
              </a:lnSpc>
              <a:spcBef>
                <a:spcPct val="0"/>
              </a:spcBef>
            </a:pPr>
            <a:r>
              <a:rPr lang="zh-CN" altLang="en-US" dirty="0">
                <a:solidFill>
                  <a:srgbClr val="003D7A"/>
                </a:solidFill>
                <a:latin typeface="Courier New" panose="02070309020205020404" pitchFamily="49" charset="0"/>
                <a:cs typeface="Courier New" panose="02070309020205020404" pitchFamily="49" charset="0"/>
              </a:rPr>
              <a:t>    </a:t>
            </a:r>
            <a:r>
              <a:rPr lang="en-US" altLang="zh-CN" b="1" dirty="0">
                <a:solidFill>
                  <a:srgbClr val="000000"/>
                </a:solidFill>
                <a:latin typeface="Courier New" panose="02070309020205020404" pitchFamily="49" charset="0"/>
                <a:cs typeface="Courier New" panose="02070309020205020404" pitchFamily="49" charset="0"/>
              </a:rPr>
              <a:t>int</a:t>
            </a:r>
            <a:r>
              <a:rPr lang="en-US" altLang="zh-CN" dirty="0">
                <a:solidFill>
                  <a:srgbClr val="000000"/>
                </a:solidFill>
                <a:latin typeface="Courier New" panose="02070309020205020404" pitchFamily="49" charset="0"/>
                <a:cs typeface="Courier New" panose="02070309020205020404" pitchFamily="49" charset="0"/>
              </a:rPr>
              <a:t> v[60];</a:t>
            </a:r>
          </a:p>
          <a:p>
            <a:pPr algn="just">
              <a:lnSpc>
                <a:spcPct val="100000"/>
              </a:lnSpc>
              <a:spcBef>
                <a:spcPct val="0"/>
              </a:spcBef>
            </a:pPr>
            <a:r>
              <a:rPr lang="en-US" altLang="zh-CN" b="1" dirty="0">
                <a:solidFill>
                  <a:srgbClr val="000000"/>
                </a:solidFill>
                <a:latin typeface="Courier New" panose="02070309020205020404" pitchFamily="49" charset="0"/>
                <a:cs typeface="Courier New" panose="02070309020205020404" pitchFamily="49" charset="0"/>
              </a:rPr>
              <a:t>    for</a:t>
            </a:r>
            <a:r>
              <a:rPr lang="en-US" altLang="zh-CN" dirty="0">
                <a:solidFill>
                  <a:srgbClr val="000000"/>
                </a:solidFill>
                <a:latin typeface="Courier New" panose="02070309020205020404" pitchFamily="49" charset="0"/>
                <a:cs typeface="Courier New" panose="02070309020205020404" pitchFamily="49" charset="0"/>
              </a:rPr>
              <a:t>(</a:t>
            </a:r>
            <a:r>
              <a:rPr lang="en-US" altLang="zh-CN" b="1" dirty="0">
                <a:solidFill>
                  <a:srgbClr val="000000"/>
                </a:solidFill>
                <a:latin typeface="Courier New" panose="02070309020205020404" pitchFamily="49" charset="0"/>
                <a:cs typeface="Courier New" panose="02070309020205020404" pitchFamily="49" charset="0"/>
              </a:rPr>
              <a:t>int</a:t>
            </a:r>
            <a:r>
              <a:rPr lang="en-US" altLang="zh-CN" dirty="0">
                <a:solidFill>
                  <a:srgbClr val="000000"/>
                </a:solidFill>
                <a:latin typeface="Courier New" panose="02070309020205020404" pitchFamily="49" charset="0"/>
                <a:cs typeface="Courier New" panose="02070309020205020404" pitchFamily="49" charset="0"/>
              </a:rPr>
              <a:t> </a:t>
            </a:r>
            <a:r>
              <a:rPr lang="en-US" altLang="zh-CN" dirty="0" err="1">
                <a:solidFill>
                  <a:srgbClr val="000000"/>
                </a:solidFill>
                <a:latin typeface="Courier New" panose="02070309020205020404" pitchFamily="49" charset="0"/>
                <a:cs typeface="Courier New" panose="02070309020205020404" pitchFamily="49" charset="0"/>
              </a:rPr>
              <a:t>i</a:t>
            </a:r>
            <a:r>
              <a:rPr lang="en-US" altLang="zh-CN" dirty="0">
                <a:solidFill>
                  <a:srgbClr val="000000"/>
                </a:solidFill>
                <a:latin typeface="Courier New" panose="02070309020205020404" pitchFamily="49" charset="0"/>
                <a:cs typeface="Courier New" panose="02070309020205020404" pitchFamily="49" charset="0"/>
              </a:rPr>
              <a:t>=0; </a:t>
            </a:r>
            <a:r>
              <a:rPr lang="en-US" altLang="zh-CN" dirty="0" err="1">
                <a:solidFill>
                  <a:srgbClr val="000000"/>
                </a:solidFill>
                <a:latin typeface="Courier New" panose="02070309020205020404" pitchFamily="49" charset="0"/>
                <a:cs typeface="Courier New" panose="02070309020205020404" pitchFamily="49" charset="0"/>
              </a:rPr>
              <a:t>i</a:t>
            </a:r>
            <a:r>
              <a:rPr lang="en-US" altLang="zh-CN" dirty="0">
                <a:solidFill>
                  <a:srgbClr val="000000"/>
                </a:solidFill>
                <a:latin typeface="Courier New" panose="02070309020205020404" pitchFamily="49" charset="0"/>
                <a:cs typeface="Courier New" panose="02070309020205020404" pitchFamily="49" charset="0"/>
              </a:rPr>
              <a:t>&lt;60; </a:t>
            </a:r>
            <a:r>
              <a:rPr lang="en-US" altLang="zh-CN" dirty="0" err="1">
                <a:solidFill>
                  <a:srgbClr val="000000"/>
                </a:solidFill>
                <a:latin typeface="Courier New" panose="02070309020205020404" pitchFamily="49" charset="0"/>
                <a:cs typeface="Courier New" panose="02070309020205020404" pitchFamily="49" charset="0"/>
              </a:rPr>
              <a:t>i</a:t>
            </a:r>
            <a:r>
              <a:rPr lang="en-US" altLang="zh-CN" dirty="0">
                <a:solidFill>
                  <a:srgbClr val="000000"/>
                </a:solidFill>
                <a:latin typeface="Courier New" panose="02070309020205020404" pitchFamily="49" charset="0"/>
                <a:cs typeface="Courier New" panose="02070309020205020404" pitchFamily="49" charset="0"/>
              </a:rPr>
              <a:t>++)</a:t>
            </a:r>
          </a:p>
          <a:p>
            <a:pPr algn="just">
              <a:lnSpc>
                <a:spcPct val="100000"/>
              </a:lnSpc>
              <a:spcBef>
                <a:spcPct val="0"/>
              </a:spcBef>
            </a:pPr>
            <a:r>
              <a:rPr lang="en-US" altLang="zh-CN" dirty="0">
                <a:solidFill>
                  <a:srgbClr val="000000"/>
                </a:solidFill>
                <a:latin typeface="Courier New" panose="02070309020205020404" pitchFamily="49" charset="0"/>
                <a:cs typeface="Courier New" panose="02070309020205020404" pitchFamily="49" charset="0"/>
              </a:rPr>
              <a:t>      v[</a:t>
            </a:r>
            <a:r>
              <a:rPr lang="en-US" altLang="zh-CN" dirty="0" err="1">
                <a:solidFill>
                  <a:srgbClr val="000000"/>
                </a:solidFill>
                <a:latin typeface="Courier New" panose="02070309020205020404" pitchFamily="49" charset="0"/>
                <a:cs typeface="Courier New" panose="02070309020205020404" pitchFamily="49" charset="0"/>
              </a:rPr>
              <a:t>i</a:t>
            </a:r>
            <a:r>
              <a:rPr lang="en-US" altLang="zh-CN" dirty="0">
                <a:solidFill>
                  <a:srgbClr val="000000"/>
                </a:solidFill>
                <a:latin typeface="Courier New" panose="02070309020205020404" pitchFamily="49" charset="0"/>
                <a:cs typeface="Courier New" panose="02070309020205020404" pitchFamily="49" charset="0"/>
              </a:rPr>
              <a:t>]=</a:t>
            </a:r>
            <a:r>
              <a:rPr lang="en-US" altLang="zh-CN" dirty="0" err="1">
                <a:solidFill>
                  <a:srgbClr val="000000"/>
                </a:solidFill>
                <a:latin typeface="Courier New" panose="02070309020205020404" pitchFamily="49" charset="0"/>
                <a:cs typeface="Courier New" panose="02070309020205020404" pitchFamily="49" charset="0"/>
              </a:rPr>
              <a:t>i</a:t>
            </a:r>
            <a:r>
              <a:rPr lang="en-US" altLang="zh-CN" dirty="0">
                <a:solidFill>
                  <a:srgbClr val="000000"/>
                </a:solidFill>
                <a:latin typeface="Courier New" panose="02070309020205020404" pitchFamily="49" charset="0"/>
                <a:cs typeface="Courier New" panose="02070309020205020404" pitchFamily="49" charset="0"/>
              </a:rPr>
              <a:t>;</a:t>
            </a:r>
          </a:p>
          <a:p>
            <a:pPr algn="just">
              <a:lnSpc>
                <a:spcPct val="100000"/>
              </a:lnSpc>
              <a:spcBef>
                <a:spcPts val="1200"/>
              </a:spcBef>
              <a:spcAft>
                <a:spcPts val="1200"/>
              </a:spcAft>
            </a:pPr>
            <a:r>
              <a:rPr lang="zh-CN" altLang="en-US" b="1" dirty="0">
                <a:solidFill>
                  <a:srgbClr val="000099"/>
                </a:solidFill>
                <a:latin typeface="Courier New" panose="02070309020205020404" pitchFamily="49" charset="0"/>
                <a:cs typeface="Courier New" panose="02070309020205020404" pitchFamily="49" charset="0"/>
              </a:rPr>
              <a:t>也可以将一个数组的值赋给另一个数组。</a:t>
            </a:r>
            <a:endParaRPr lang="zh-CN" altLang="da-DK" b="1" dirty="0">
              <a:solidFill>
                <a:srgbClr val="000099"/>
              </a:solidFill>
              <a:latin typeface="Courier New" panose="02070309020205020404" pitchFamily="49" charset="0"/>
              <a:cs typeface="Courier New" panose="02070309020205020404" pitchFamily="49" charset="0"/>
            </a:endParaRPr>
          </a:p>
          <a:p>
            <a:pPr algn="just">
              <a:lnSpc>
                <a:spcPct val="100000"/>
              </a:lnSpc>
              <a:spcBef>
                <a:spcPct val="0"/>
              </a:spcBef>
            </a:pPr>
            <a:r>
              <a:rPr lang="da-DK" altLang="zh-CN" dirty="0">
                <a:solidFill>
                  <a:srgbClr val="003D7A"/>
                </a:solidFill>
                <a:latin typeface="Courier New" panose="02070309020205020404" pitchFamily="49" charset="0"/>
                <a:cs typeface="Courier New" panose="02070309020205020404" pitchFamily="49" charset="0"/>
              </a:rPr>
              <a:t>    </a:t>
            </a:r>
            <a:r>
              <a:rPr lang="da-DK" altLang="zh-CN" b="1" dirty="0">
                <a:solidFill>
                  <a:srgbClr val="000000"/>
                </a:solidFill>
                <a:latin typeface="Courier New" panose="02070309020205020404" pitchFamily="49" charset="0"/>
                <a:cs typeface="Courier New" panose="02070309020205020404" pitchFamily="49" charset="0"/>
              </a:rPr>
              <a:t>char</a:t>
            </a:r>
            <a:r>
              <a:rPr lang="en-US" altLang="zh-CN" dirty="0">
                <a:solidFill>
                  <a:srgbClr val="000000"/>
                </a:solidFill>
                <a:latin typeface="Courier New" panose="02070309020205020404" pitchFamily="49" charset="0"/>
                <a:cs typeface="Courier New" panose="02070309020205020404" pitchFamily="49" charset="0"/>
              </a:rPr>
              <a:t> a[7],</a:t>
            </a:r>
          </a:p>
          <a:p>
            <a:pPr algn="just">
              <a:lnSpc>
                <a:spcPct val="100000"/>
              </a:lnSpc>
              <a:spcBef>
                <a:spcPct val="0"/>
              </a:spcBef>
            </a:pPr>
            <a:r>
              <a:rPr lang="en-US" altLang="zh-CN" dirty="0">
                <a:solidFill>
                  <a:srgbClr val="000000"/>
                </a:solidFill>
                <a:latin typeface="Courier New" panose="02070309020205020404" pitchFamily="49" charset="0"/>
                <a:cs typeface="Courier New" panose="02070309020205020404" pitchFamily="49" charset="0"/>
              </a:rPr>
              <a:t>         b[7]=</a:t>
            </a:r>
            <a:r>
              <a:rPr lang="en-US" altLang="zh-CN" b="1" dirty="0">
                <a:solidFill>
                  <a:srgbClr val="000000"/>
                </a:solidFill>
                <a:latin typeface="Courier New" panose="02070309020205020404" pitchFamily="49" charset="0"/>
                <a:cs typeface="Courier New" panose="02070309020205020404" pitchFamily="49" charset="0"/>
              </a:rPr>
              <a:t>{</a:t>
            </a:r>
            <a:r>
              <a:rPr lang="en-US" altLang="zh-CN" dirty="0">
                <a:solidFill>
                  <a:srgbClr val="000000"/>
                </a:solidFill>
                <a:latin typeface="Courier New" panose="02070309020205020404" pitchFamily="49" charset="0"/>
                <a:cs typeface="Courier New" panose="02070309020205020404" pitchFamily="49" charset="0"/>
              </a:rPr>
              <a:t>'</a:t>
            </a:r>
            <a:r>
              <a:rPr lang="en-US" altLang="zh-CN" dirty="0" err="1">
                <a:solidFill>
                  <a:srgbClr val="000000"/>
                </a:solidFill>
                <a:latin typeface="Courier New" panose="02070309020205020404" pitchFamily="49" charset="0"/>
                <a:cs typeface="Courier New" panose="02070309020205020404" pitchFamily="49" charset="0"/>
              </a:rPr>
              <a:t>p','r','o','g','r','a','m</a:t>
            </a:r>
            <a:r>
              <a:rPr lang="en-US" altLang="zh-CN" dirty="0">
                <a:solidFill>
                  <a:srgbClr val="000000"/>
                </a:solidFill>
                <a:latin typeface="Courier New" panose="02070309020205020404" pitchFamily="49" charset="0"/>
                <a:cs typeface="Courier New" panose="02070309020205020404" pitchFamily="49" charset="0"/>
              </a:rPr>
              <a:t>'</a:t>
            </a:r>
            <a:r>
              <a:rPr lang="en-US" altLang="zh-CN" b="1" dirty="0">
                <a:solidFill>
                  <a:srgbClr val="000000"/>
                </a:solidFill>
                <a:latin typeface="Courier New" panose="02070309020205020404" pitchFamily="49" charset="0"/>
                <a:cs typeface="Courier New" panose="02070309020205020404" pitchFamily="49" charset="0"/>
              </a:rPr>
              <a:t>}</a:t>
            </a:r>
            <a:r>
              <a:rPr lang="en-US" altLang="zh-CN" dirty="0">
                <a:solidFill>
                  <a:srgbClr val="000000"/>
                </a:solidFill>
                <a:latin typeface="Courier New" panose="02070309020205020404" pitchFamily="49" charset="0"/>
                <a:cs typeface="Courier New" panose="02070309020205020404" pitchFamily="49" charset="0"/>
              </a:rPr>
              <a:t>;</a:t>
            </a:r>
            <a:endParaRPr lang="zh-CN" altLang="da-DK" dirty="0">
              <a:solidFill>
                <a:srgbClr val="000000"/>
              </a:solidFill>
              <a:latin typeface="Courier New" panose="02070309020205020404" pitchFamily="49" charset="0"/>
              <a:cs typeface="Courier New" panose="02070309020205020404" pitchFamily="49" charset="0"/>
            </a:endParaRPr>
          </a:p>
          <a:p>
            <a:pPr algn="just">
              <a:lnSpc>
                <a:spcPct val="100000"/>
              </a:lnSpc>
              <a:spcBef>
                <a:spcPct val="0"/>
              </a:spcBef>
            </a:pPr>
            <a:r>
              <a:rPr lang="da-DK" altLang="zh-CN" dirty="0">
                <a:solidFill>
                  <a:srgbClr val="000000"/>
                </a:solidFill>
                <a:latin typeface="Courier New" panose="02070309020205020404" pitchFamily="49" charset="0"/>
                <a:cs typeface="Courier New" panose="02070309020205020404" pitchFamily="49" charset="0"/>
              </a:rPr>
              <a:t>   </a:t>
            </a:r>
            <a:r>
              <a:rPr lang="da-DK" altLang="zh-CN" b="1" dirty="0">
                <a:latin typeface="Courier New" panose="02070309020205020404" pitchFamily="49" charset="0"/>
                <a:cs typeface="Courier New" panose="02070309020205020404" pitchFamily="49" charset="0"/>
              </a:rPr>
              <a:t> for</a:t>
            </a:r>
            <a:r>
              <a:rPr lang="da-DK" altLang="zh-CN" dirty="0">
                <a:solidFill>
                  <a:srgbClr val="000000"/>
                </a:solidFill>
                <a:latin typeface="Courier New" panose="02070309020205020404" pitchFamily="49" charset="0"/>
                <a:cs typeface="Courier New" panose="02070309020205020404" pitchFamily="49" charset="0"/>
              </a:rPr>
              <a:t>(</a:t>
            </a:r>
            <a:r>
              <a:rPr lang="da-DK" altLang="zh-CN" b="1" dirty="0">
                <a:latin typeface="Courier New" panose="02070309020205020404" pitchFamily="49" charset="0"/>
                <a:cs typeface="Courier New" panose="02070309020205020404" pitchFamily="49" charset="0"/>
              </a:rPr>
              <a:t>int</a:t>
            </a:r>
            <a:r>
              <a:rPr lang="da-DK" altLang="zh-CN" dirty="0">
                <a:solidFill>
                  <a:srgbClr val="000000"/>
                </a:solidFill>
                <a:latin typeface="Courier New" panose="02070309020205020404" pitchFamily="49" charset="0"/>
                <a:cs typeface="Courier New" panose="02070309020205020404" pitchFamily="49" charset="0"/>
              </a:rPr>
              <a:t> i=0; i&lt;7; i++)</a:t>
            </a:r>
          </a:p>
          <a:p>
            <a:pPr algn="just">
              <a:lnSpc>
                <a:spcPct val="100000"/>
              </a:lnSpc>
              <a:spcBef>
                <a:spcPct val="0"/>
              </a:spcBef>
            </a:pPr>
            <a:r>
              <a:rPr lang="da-DK" altLang="zh-CN" dirty="0">
                <a:solidFill>
                  <a:srgbClr val="000000"/>
                </a:solidFill>
                <a:latin typeface="Courier New" panose="02070309020205020404" pitchFamily="49" charset="0"/>
                <a:cs typeface="Courier New" panose="02070309020205020404" pitchFamily="49" charset="0"/>
              </a:rPr>
              <a:t>      a[i]=b[i];</a:t>
            </a:r>
            <a:endParaRPr lang="en-US" altLang="zh-CN" dirty="0">
              <a:solidFill>
                <a:srgbClr val="000000"/>
              </a:solidFill>
              <a:latin typeface="Courier New" panose="02070309020205020404" pitchFamily="49" charset="0"/>
              <a:cs typeface="Courier New" panose="02070309020205020404" pitchFamily="49" charset="0"/>
            </a:endParaRPr>
          </a:p>
        </p:txBody>
      </p:sp>
      <p:sp>
        <p:nvSpPr>
          <p:cNvPr id="2" name="灯片编号占位符 1">
            <a:extLst>
              <a:ext uri="{FF2B5EF4-FFF2-40B4-BE49-F238E27FC236}">
                <a16:creationId xmlns:a16="http://schemas.microsoft.com/office/drawing/2014/main" id="{C4615ECE-3D71-417B-23A8-A2DF3F239511}"/>
              </a:ext>
            </a:extLst>
          </p:cNvPr>
          <p:cNvSpPr>
            <a:spLocks noGrp="1"/>
          </p:cNvSpPr>
          <p:nvPr>
            <p:ph type="sldNum" sz="quarter" idx="12"/>
          </p:nvPr>
        </p:nvSpPr>
        <p:spPr/>
        <p:txBody>
          <a:bodyPr/>
          <a:lstStyle/>
          <a:p>
            <a:fld id="{D7C0FE0B-717B-41AE-9FA2-CA4BF851D1C3}" type="slidenum">
              <a:rPr lang="zh-CN" altLang="en-US" smtClean="0"/>
              <a:t>5</a:t>
            </a:fld>
            <a:endParaRPr lang="zh-CN" altLang="en-US"/>
          </a:p>
        </p:txBody>
      </p:sp>
    </p:spTree>
    <p:extLst>
      <p:ext uri="{BB962C8B-B14F-4D97-AF65-F5344CB8AC3E}">
        <p14:creationId xmlns:p14="http://schemas.microsoft.com/office/powerpoint/2010/main" val="3375582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C504E296-CE8D-251F-681D-93028E977BA9}"/>
              </a:ext>
            </a:extLst>
          </p:cNvPr>
          <p:cNvSpPr/>
          <p:nvPr/>
        </p:nvSpPr>
        <p:spPr>
          <a:xfrm>
            <a:off x="2468563" y="3130550"/>
            <a:ext cx="6609397" cy="2668588"/>
          </a:xfrm>
          <a:prstGeom prst="rect">
            <a:avLst/>
          </a:prstGeom>
          <a:solidFill>
            <a:schemeClr val="accent6">
              <a:lumMod val="20000"/>
              <a:lumOff val="80000"/>
            </a:schemeClr>
          </a:solidFill>
          <a:ln w="9525" cap="flat" cmpd="sng">
            <a:solidFill>
              <a:schemeClr val="tx1"/>
            </a:solidFill>
            <a:prstDash val="solid"/>
            <a:miter/>
            <a:headEnd type="none" w="med" len="med"/>
            <a:tailEnd type="none" w="med" len="med"/>
          </a:ln>
          <a:effectLst>
            <a:prstShdw prst="shdw12" dir="16200000">
              <a:schemeClr val="bg2">
                <a:alpha val="50000"/>
              </a:schemeClr>
            </a:prstShdw>
          </a:effectLst>
        </p:spPr>
        <p:txBody>
          <a:bodyPr/>
          <a:lstStyle/>
          <a:p>
            <a:endParaRPr lang="zh-CN" altLang="en-US"/>
          </a:p>
        </p:txBody>
      </p:sp>
      <p:sp>
        <p:nvSpPr>
          <p:cNvPr id="5" name="文本占位符 157698">
            <a:extLst>
              <a:ext uri="{FF2B5EF4-FFF2-40B4-BE49-F238E27FC236}">
                <a16:creationId xmlns:a16="http://schemas.microsoft.com/office/drawing/2014/main" id="{FC6E2F1A-019E-98B1-659D-4EEC42C83ACA}"/>
              </a:ext>
            </a:extLst>
          </p:cNvPr>
          <p:cNvSpPr txBox="1">
            <a:spLocks/>
          </p:cNvSpPr>
          <p:nvPr/>
        </p:nvSpPr>
        <p:spPr>
          <a:xfrm>
            <a:off x="1427480" y="1076326"/>
            <a:ext cx="9453880" cy="4776692"/>
          </a:xfrm>
          <a:prstGeom prst="rect">
            <a:avLst/>
          </a:prstGeom>
          <a:effectLst>
            <a:prstShdw prst="shdw12" dir="16200000">
              <a:schemeClr val="bg2">
                <a:alpha val="50000"/>
              </a:schemeClr>
            </a:prstShdw>
          </a:effectLst>
        </p:spPr>
        <p:txBody>
          <a:bodyPr vert="horz" wrap="square" lIns="91440" tIns="45720" rIns="91440" bIns="45720" rtlCol="0" anchor="t" anchorCtr="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fontAlgn="base">
              <a:lnSpc>
                <a:spcPct val="120000"/>
              </a:lnSpc>
              <a:spcBef>
                <a:spcPct val="0"/>
              </a:spcBef>
              <a:spcAft>
                <a:spcPct val="20000"/>
              </a:spcAft>
            </a:pPr>
            <a:r>
              <a:rPr lang="en-US" altLang="zh-CN" sz="2800" b="1" dirty="0">
                <a:solidFill>
                  <a:srgbClr val="A50021"/>
                </a:solidFill>
                <a:effectLst>
                  <a:outerShdw blurRad="38100" dist="38100" dir="2700000">
                    <a:srgbClr val="C0C0C0"/>
                  </a:outerShdw>
                </a:effectLst>
                <a:latin typeface="Calibri Light" panose="020F0302020204030204"/>
                <a:ea typeface="黑体" panose="02010609060101010101" pitchFamily="49" charset="-122"/>
                <a:cs typeface="Calibri Light" panose="020F0302020204030204"/>
              </a:rPr>
              <a:t>1.0.1.3  </a:t>
            </a:r>
            <a:r>
              <a:rPr lang="zh-CN" altLang="en-US" sz="2800" b="1" dirty="0">
                <a:solidFill>
                  <a:srgbClr val="A50021"/>
                </a:solidFill>
                <a:effectLst>
                  <a:outerShdw blurRad="38100" dist="38100" dir="2700000">
                    <a:srgbClr val="C0C0C0"/>
                  </a:outerShdw>
                </a:effectLst>
                <a:latin typeface="Calibri Light" panose="020F0302020204030204"/>
                <a:ea typeface="黑体" panose="02010609060101010101" pitchFamily="49" charset="-122"/>
                <a:cs typeface="Calibri Light" panose="020F0302020204030204"/>
              </a:rPr>
              <a:t>数组作为参数</a:t>
            </a:r>
          </a:p>
          <a:p>
            <a:pPr algn="just">
              <a:lnSpc>
                <a:spcPct val="120000"/>
              </a:lnSpc>
              <a:spcBef>
                <a:spcPct val="0"/>
              </a:spcBef>
              <a:spcAft>
                <a:spcPct val="30000"/>
              </a:spcAft>
            </a:pPr>
            <a:r>
              <a:rPr lang="zh-CN" altLang="en-US" dirty="0">
                <a:solidFill>
                  <a:srgbClr val="003D7A"/>
                </a:solidFill>
                <a:latin typeface="Arial" panose="020B0604020202020204" pitchFamily="34" charset="0"/>
              </a:rPr>
              <a:t>        </a:t>
            </a:r>
            <a:r>
              <a:rPr lang="en-US" altLang="zh-CN" b="1" dirty="0">
                <a:solidFill>
                  <a:srgbClr val="003D7A"/>
                </a:solidFill>
                <a:latin typeface="Arial" panose="020B0604020202020204" pitchFamily="34" charset="0"/>
              </a:rPr>
              <a:t>C</a:t>
            </a:r>
            <a:r>
              <a:rPr lang="zh-CN" altLang="en-US" b="1" dirty="0">
                <a:solidFill>
                  <a:srgbClr val="003D7A"/>
                </a:solidFill>
                <a:latin typeface="Arial" panose="020B0604020202020204" pitchFamily="34" charset="0"/>
              </a:rPr>
              <a:t>语言的函数可用整个数组作为参数。通常（尤其是分配空间和使用空间不相同时）不写数组参数的长度，只写一对空的方括号“</a:t>
            </a:r>
            <a:r>
              <a:rPr lang="en-US" altLang="zh-CN" b="1" dirty="0">
                <a:solidFill>
                  <a:srgbClr val="003D7A"/>
                </a:solidFill>
                <a:latin typeface="Courier New" panose="02070309020205020404" pitchFamily="49" charset="0"/>
                <a:cs typeface="Courier New" panose="02070309020205020404" pitchFamily="49" charset="0"/>
              </a:rPr>
              <a:t>[]</a:t>
            </a:r>
            <a:r>
              <a:rPr lang="en-US" altLang="zh-CN" b="1" dirty="0">
                <a:solidFill>
                  <a:srgbClr val="003D7A"/>
                </a:solidFill>
                <a:latin typeface="Arial" panose="020B0604020202020204" pitchFamily="34" charset="0"/>
              </a:rPr>
              <a:t>”</a:t>
            </a:r>
            <a:r>
              <a:rPr lang="zh-CN" altLang="en-US" b="1" dirty="0">
                <a:solidFill>
                  <a:srgbClr val="003D7A"/>
                </a:solidFill>
                <a:latin typeface="Arial" panose="020B0604020202020204" pitchFamily="34" charset="0"/>
              </a:rPr>
              <a:t>。例如， </a:t>
            </a:r>
          </a:p>
          <a:p>
            <a:pPr algn="just">
              <a:lnSpc>
                <a:spcPct val="120000"/>
              </a:lnSpc>
              <a:spcBef>
                <a:spcPct val="0"/>
              </a:spcBef>
            </a:pPr>
            <a:r>
              <a:rPr lang="zh-CN" altLang="en-US" dirty="0">
                <a:solidFill>
                  <a:srgbClr val="000000"/>
                </a:solidFill>
                <a:latin typeface="Lucida Sans Typewriter" pitchFamily="49" charset="0"/>
                <a:cs typeface="Courier New" panose="02070309020205020404" pitchFamily="49" charset="0"/>
              </a:rPr>
              <a:t>      </a:t>
            </a:r>
            <a:r>
              <a:rPr lang="en-US" altLang="zh-CN" b="1" dirty="0">
                <a:solidFill>
                  <a:srgbClr val="000000"/>
                </a:solidFill>
                <a:latin typeface="Courier New" panose="02070309020205020404" pitchFamily="49" charset="0"/>
                <a:cs typeface="Courier New" panose="02070309020205020404" pitchFamily="49" charset="0"/>
              </a:rPr>
              <a:t>float</a:t>
            </a:r>
            <a:r>
              <a:rPr lang="en-US" altLang="zh-CN" dirty="0">
                <a:solidFill>
                  <a:srgbClr val="000000"/>
                </a:solidFill>
                <a:latin typeface="Courier New" panose="02070309020205020404" pitchFamily="49" charset="0"/>
                <a:cs typeface="Courier New" panose="02070309020205020404" pitchFamily="49" charset="0"/>
              </a:rPr>
              <a:t> average(</a:t>
            </a:r>
            <a:r>
              <a:rPr lang="en-US" altLang="zh-CN" b="1" dirty="0">
                <a:solidFill>
                  <a:srgbClr val="000000"/>
                </a:solidFill>
                <a:latin typeface="Courier New" panose="02070309020205020404" pitchFamily="49" charset="0"/>
                <a:cs typeface="Courier New" panose="02070309020205020404" pitchFamily="49" charset="0"/>
              </a:rPr>
              <a:t>float</a:t>
            </a:r>
            <a:r>
              <a:rPr lang="en-US" altLang="zh-CN" dirty="0">
                <a:solidFill>
                  <a:srgbClr val="000000"/>
                </a:solidFill>
                <a:latin typeface="Courier New" panose="02070309020205020404" pitchFamily="49" charset="0"/>
                <a:cs typeface="Courier New" panose="02070309020205020404" pitchFamily="49" charset="0"/>
              </a:rPr>
              <a:t> a[], </a:t>
            </a:r>
            <a:r>
              <a:rPr lang="en-US" altLang="zh-CN" b="1" dirty="0">
                <a:solidFill>
                  <a:srgbClr val="000000"/>
                </a:solidFill>
                <a:latin typeface="Courier New" panose="02070309020205020404" pitchFamily="49" charset="0"/>
                <a:cs typeface="Courier New" panose="02070309020205020404" pitchFamily="49" charset="0"/>
              </a:rPr>
              <a:t>int</a:t>
            </a:r>
            <a:r>
              <a:rPr lang="en-US" altLang="zh-CN" dirty="0">
                <a:solidFill>
                  <a:srgbClr val="000000"/>
                </a:solidFill>
                <a:latin typeface="Courier New" panose="02070309020205020404" pitchFamily="49" charset="0"/>
                <a:cs typeface="Courier New" panose="02070309020205020404" pitchFamily="49" charset="0"/>
              </a:rPr>
              <a:t> n) </a:t>
            </a:r>
            <a:r>
              <a:rPr lang="en-US" altLang="zh-CN" b="1" dirty="0">
                <a:solidFill>
                  <a:srgbClr val="000000"/>
                </a:solidFill>
                <a:latin typeface="Courier New" panose="02070309020205020404" pitchFamily="49" charset="0"/>
                <a:cs typeface="Courier New" panose="02070309020205020404" pitchFamily="49" charset="0"/>
              </a:rPr>
              <a:t>{</a:t>
            </a:r>
          </a:p>
          <a:p>
            <a:pPr algn="just">
              <a:lnSpc>
                <a:spcPct val="120000"/>
              </a:lnSpc>
              <a:spcBef>
                <a:spcPct val="0"/>
              </a:spcBef>
            </a:pPr>
            <a:r>
              <a:rPr lang="da-DK" altLang="zh-CN" b="1" dirty="0">
                <a:solidFill>
                  <a:srgbClr val="000000"/>
                </a:solidFill>
                <a:latin typeface="Courier New" panose="02070309020205020404" pitchFamily="49" charset="0"/>
                <a:cs typeface="Courier New" panose="02070309020205020404" pitchFamily="49" charset="0"/>
              </a:rPr>
              <a:t>         float</a:t>
            </a:r>
            <a:r>
              <a:rPr lang="da-DK" altLang="zh-CN" dirty="0">
                <a:solidFill>
                  <a:srgbClr val="000000"/>
                </a:solidFill>
                <a:latin typeface="Courier New" panose="02070309020205020404" pitchFamily="49" charset="0"/>
                <a:cs typeface="Courier New" panose="02070309020205020404" pitchFamily="49" charset="0"/>
              </a:rPr>
              <a:t> sum = 0;</a:t>
            </a:r>
          </a:p>
          <a:p>
            <a:pPr algn="just">
              <a:lnSpc>
                <a:spcPct val="120000"/>
              </a:lnSpc>
              <a:spcBef>
                <a:spcPct val="0"/>
              </a:spcBef>
            </a:pPr>
            <a:r>
              <a:rPr lang="da-DK" altLang="zh-CN" dirty="0">
                <a:solidFill>
                  <a:srgbClr val="000000"/>
                </a:solidFill>
                <a:latin typeface="Courier New" panose="02070309020205020404" pitchFamily="49" charset="0"/>
                <a:cs typeface="Courier New" panose="02070309020205020404" pitchFamily="49" charset="0"/>
              </a:rPr>
              <a:t>         </a:t>
            </a:r>
            <a:r>
              <a:rPr lang="da-DK" altLang="zh-CN" b="1" dirty="0">
                <a:solidFill>
                  <a:srgbClr val="000000"/>
                </a:solidFill>
                <a:latin typeface="Courier New" panose="02070309020205020404" pitchFamily="49" charset="0"/>
                <a:cs typeface="Courier New" panose="02070309020205020404" pitchFamily="49" charset="0"/>
              </a:rPr>
              <a:t>for</a:t>
            </a:r>
            <a:r>
              <a:rPr lang="da-DK" altLang="zh-CN" dirty="0">
                <a:solidFill>
                  <a:srgbClr val="000000"/>
                </a:solidFill>
                <a:latin typeface="Courier New" panose="02070309020205020404" pitchFamily="49" charset="0"/>
                <a:cs typeface="Courier New" panose="02070309020205020404" pitchFamily="49" charset="0"/>
              </a:rPr>
              <a:t>(</a:t>
            </a:r>
            <a:r>
              <a:rPr lang="en-US" altLang="zh-CN" b="1" dirty="0">
                <a:solidFill>
                  <a:srgbClr val="000000"/>
                </a:solidFill>
                <a:latin typeface="Courier New" panose="02070309020205020404" pitchFamily="49" charset="0"/>
                <a:cs typeface="Courier New" panose="02070309020205020404" pitchFamily="49" charset="0"/>
              </a:rPr>
              <a:t>int</a:t>
            </a:r>
            <a:r>
              <a:rPr lang="en-US" altLang="zh-CN" dirty="0">
                <a:solidFill>
                  <a:srgbClr val="000000"/>
                </a:solidFill>
                <a:latin typeface="Courier New" panose="02070309020205020404" pitchFamily="49" charset="0"/>
                <a:cs typeface="Courier New" panose="02070309020205020404" pitchFamily="49" charset="0"/>
              </a:rPr>
              <a:t> </a:t>
            </a:r>
            <a:r>
              <a:rPr lang="da-DK" altLang="zh-CN" dirty="0">
                <a:solidFill>
                  <a:srgbClr val="000000"/>
                </a:solidFill>
                <a:latin typeface="Courier New" panose="02070309020205020404" pitchFamily="49" charset="0"/>
                <a:cs typeface="Courier New" panose="02070309020205020404" pitchFamily="49" charset="0"/>
              </a:rPr>
              <a:t>i=0; i&lt;n; i++)</a:t>
            </a:r>
          </a:p>
          <a:p>
            <a:pPr algn="just">
              <a:lnSpc>
                <a:spcPct val="120000"/>
              </a:lnSpc>
              <a:spcBef>
                <a:spcPct val="0"/>
              </a:spcBef>
            </a:pPr>
            <a:r>
              <a:rPr lang="da-DK" altLang="zh-CN" dirty="0">
                <a:solidFill>
                  <a:srgbClr val="000000"/>
                </a:solidFill>
                <a:latin typeface="Courier New" panose="02070309020205020404" pitchFamily="49" charset="0"/>
                <a:cs typeface="Courier New" panose="02070309020205020404" pitchFamily="49" charset="0"/>
              </a:rPr>
              <a:t>            sum += a[i];</a:t>
            </a:r>
          </a:p>
          <a:p>
            <a:pPr algn="just">
              <a:lnSpc>
                <a:spcPct val="120000"/>
              </a:lnSpc>
              <a:spcBef>
                <a:spcPct val="0"/>
              </a:spcBef>
            </a:pPr>
            <a:r>
              <a:rPr lang="da-DK" altLang="zh-CN" dirty="0">
                <a:solidFill>
                  <a:srgbClr val="000000"/>
                </a:solidFill>
                <a:latin typeface="Courier New" panose="02070309020205020404" pitchFamily="49" charset="0"/>
                <a:cs typeface="Courier New" panose="02070309020205020404" pitchFamily="49" charset="0"/>
              </a:rPr>
              <a:t>         </a:t>
            </a:r>
            <a:r>
              <a:rPr lang="da-DK" altLang="zh-CN" b="1" dirty="0">
                <a:solidFill>
                  <a:srgbClr val="000000"/>
                </a:solidFill>
                <a:latin typeface="Courier New" panose="02070309020205020404" pitchFamily="49" charset="0"/>
                <a:cs typeface="Courier New" panose="02070309020205020404" pitchFamily="49" charset="0"/>
              </a:rPr>
              <a:t>return</a:t>
            </a:r>
            <a:r>
              <a:rPr lang="da-DK" altLang="zh-CN" dirty="0">
                <a:solidFill>
                  <a:srgbClr val="000000"/>
                </a:solidFill>
                <a:latin typeface="Courier New" panose="02070309020205020404" pitchFamily="49" charset="0"/>
                <a:cs typeface="Courier New" panose="02070309020205020404" pitchFamily="49" charset="0"/>
              </a:rPr>
              <a:t> sum/n;</a:t>
            </a:r>
            <a:endParaRPr lang="en-US" altLang="zh-CN" dirty="0">
              <a:solidFill>
                <a:srgbClr val="000000"/>
              </a:solidFill>
              <a:latin typeface="Courier New" panose="02070309020205020404" pitchFamily="49" charset="0"/>
              <a:cs typeface="Courier New" panose="02070309020205020404" pitchFamily="49" charset="0"/>
            </a:endParaRPr>
          </a:p>
          <a:p>
            <a:pPr algn="just">
              <a:lnSpc>
                <a:spcPct val="120000"/>
              </a:lnSpc>
              <a:spcBef>
                <a:spcPct val="0"/>
              </a:spcBef>
            </a:pPr>
            <a:r>
              <a:rPr lang="en-US" altLang="zh-CN" dirty="0">
                <a:solidFill>
                  <a:srgbClr val="000000"/>
                </a:solidFill>
                <a:latin typeface="Courier New" panose="02070309020205020404" pitchFamily="49" charset="0"/>
                <a:cs typeface="Courier New" panose="02070309020205020404" pitchFamily="49" charset="0"/>
              </a:rPr>
              <a:t>      </a:t>
            </a:r>
            <a:r>
              <a:rPr lang="en-US" altLang="zh-CN" b="1" dirty="0">
                <a:solidFill>
                  <a:srgbClr val="000000"/>
                </a:solidFill>
                <a:latin typeface="Courier New" panose="02070309020205020404" pitchFamily="49" charset="0"/>
                <a:cs typeface="Courier New" panose="02070309020205020404" pitchFamily="49" charset="0"/>
              </a:rPr>
              <a:t>}</a:t>
            </a:r>
          </a:p>
        </p:txBody>
      </p:sp>
      <p:sp>
        <p:nvSpPr>
          <p:cNvPr id="6" name="标题 156676">
            <a:extLst>
              <a:ext uri="{FF2B5EF4-FFF2-40B4-BE49-F238E27FC236}">
                <a16:creationId xmlns:a16="http://schemas.microsoft.com/office/drawing/2014/main" id="{F8E75A0E-1919-83AF-8DB5-8EB25D2A315B}"/>
              </a:ext>
            </a:extLst>
          </p:cNvPr>
          <p:cNvSpPr txBox="1">
            <a:spLocks/>
          </p:cNvSpPr>
          <p:nvPr/>
        </p:nvSpPr>
        <p:spPr>
          <a:xfrm>
            <a:off x="1358462" y="150177"/>
            <a:ext cx="6639910" cy="682625"/>
          </a:xfrm>
          <a:prstGeom prst="rect">
            <a:avLst/>
          </a:prstGeom>
        </p:spPr>
        <p:txBody>
          <a:bodyPr vert="horz" lIns="91440" tIns="45720" rIns="91440" bIns="45720" rtlCol="0" anchor="ctr" anchorCtr="0">
            <a:normAutofit/>
          </a:bodyPr>
          <a:lstStyle>
            <a:defPPr>
              <a:defRPr lang="zh-CN"/>
            </a:defPPr>
            <a:lvl1pPr>
              <a:lnSpc>
                <a:spcPct val="90000"/>
              </a:lnSpc>
              <a:spcBef>
                <a:spcPct val="0"/>
              </a:spcBef>
              <a:buNone/>
              <a:defRPr sz="3200">
                <a:solidFill>
                  <a:srgbClr val="000099"/>
                </a:solidFill>
                <a:effectLst>
                  <a:outerShdw blurRad="38100" dist="38100" dir="2700000" algn="tl">
                    <a:srgbClr val="000000">
                      <a:alpha val="43137"/>
                    </a:srgbClr>
                  </a:outerShdw>
                </a:effectLst>
                <a:latin typeface="+mj-lt"/>
                <a:ea typeface="+mj-ea"/>
                <a:cs typeface="+mj-cs"/>
              </a:defRPr>
            </a:lvl1pPr>
          </a:lstStyle>
          <a:p>
            <a:r>
              <a:rPr lang="en-US" altLang="zh-CN" dirty="0"/>
              <a:t>1.0.1  </a:t>
            </a:r>
            <a:r>
              <a:rPr lang="zh-CN" altLang="en-US" dirty="0"/>
              <a:t>将一个数列存入一维数组</a:t>
            </a:r>
          </a:p>
        </p:txBody>
      </p:sp>
      <p:sp>
        <p:nvSpPr>
          <p:cNvPr id="2" name="灯片编号占位符 1">
            <a:extLst>
              <a:ext uri="{FF2B5EF4-FFF2-40B4-BE49-F238E27FC236}">
                <a16:creationId xmlns:a16="http://schemas.microsoft.com/office/drawing/2014/main" id="{5F003818-9B94-A9C6-D75B-2EE7BA9A678E}"/>
              </a:ext>
            </a:extLst>
          </p:cNvPr>
          <p:cNvSpPr>
            <a:spLocks noGrp="1"/>
          </p:cNvSpPr>
          <p:nvPr>
            <p:ph type="sldNum" sz="quarter" idx="12"/>
          </p:nvPr>
        </p:nvSpPr>
        <p:spPr/>
        <p:txBody>
          <a:bodyPr/>
          <a:lstStyle/>
          <a:p>
            <a:fld id="{D7C0FE0B-717B-41AE-9FA2-CA4BF851D1C3}" type="slidenum">
              <a:rPr lang="zh-CN" altLang="en-US" smtClean="0"/>
              <a:t>6</a:t>
            </a:fld>
            <a:endParaRPr lang="zh-CN" altLang="en-US"/>
          </a:p>
        </p:txBody>
      </p:sp>
    </p:spTree>
    <p:extLst>
      <p:ext uri="{BB962C8B-B14F-4D97-AF65-F5344CB8AC3E}">
        <p14:creationId xmlns:p14="http://schemas.microsoft.com/office/powerpoint/2010/main" val="26122294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23D011F-7653-C232-1B06-797C29BB2C20}"/>
              </a:ext>
            </a:extLst>
          </p:cNvPr>
          <p:cNvSpPr/>
          <p:nvPr/>
        </p:nvSpPr>
        <p:spPr>
          <a:xfrm>
            <a:off x="2461268" y="5044400"/>
            <a:ext cx="5057775" cy="1195387"/>
          </a:xfrm>
          <a:prstGeom prst="rect">
            <a:avLst/>
          </a:prstGeom>
          <a:solidFill>
            <a:schemeClr val="accent6">
              <a:lumMod val="20000"/>
              <a:lumOff val="80000"/>
            </a:schemeClr>
          </a:solidFill>
          <a:ln w="9525" cap="flat" cmpd="sng">
            <a:solidFill>
              <a:schemeClr val="tx1"/>
            </a:solidFill>
            <a:prstDash val="solid"/>
            <a:miter/>
            <a:headEnd type="none" w="med" len="med"/>
            <a:tailEnd type="none" w="med" len="med"/>
          </a:ln>
          <a:effectLst>
            <a:prstShdw prst="shdw12" dir="16200000">
              <a:schemeClr val="bg2">
                <a:alpha val="50000"/>
              </a:schemeClr>
            </a:prstShdw>
          </a:effectLst>
        </p:spPr>
        <p:txBody>
          <a:bodyPr/>
          <a:lstStyle>
            <a:defPPr>
              <a:defRPr lang="zh-CN"/>
            </a:defPPr>
            <a:lvl1pPr marL="0" lvl="0"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5" name="矩形 4">
            <a:extLst>
              <a:ext uri="{FF2B5EF4-FFF2-40B4-BE49-F238E27FC236}">
                <a16:creationId xmlns:a16="http://schemas.microsoft.com/office/drawing/2014/main" id="{F3E38625-F160-1A4B-6888-85E151704AC4}"/>
              </a:ext>
            </a:extLst>
          </p:cNvPr>
          <p:cNvSpPr/>
          <p:nvPr/>
        </p:nvSpPr>
        <p:spPr>
          <a:xfrm>
            <a:off x="2466030" y="3690631"/>
            <a:ext cx="5057775" cy="900112"/>
          </a:xfrm>
          <a:prstGeom prst="rect">
            <a:avLst/>
          </a:prstGeom>
          <a:solidFill>
            <a:schemeClr val="accent6">
              <a:lumMod val="20000"/>
              <a:lumOff val="80000"/>
            </a:schemeClr>
          </a:solidFill>
          <a:ln w="9525" cap="flat" cmpd="sng">
            <a:solidFill>
              <a:schemeClr val="tx1"/>
            </a:solidFill>
            <a:prstDash val="solid"/>
            <a:miter/>
            <a:headEnd type="none" w="med" len="med"/>
            <a:tailEnd type="none" w="med" len="med"/>
          </a:ln>
          <a:effectLst>
            <a:prstShdw prst="shdw12" dir="16200000">
              <a:schemeClr val="bg2">
                <a:alpha val="50000"/>
              </a:schemeClr>
            </a:prstShdw>
          </a:effectLst>
        </p:spPr>
        <p:txBody>
          <a:bodyPr/>
          <a:lstStyle>
            <a:defPPr>
              <a:defRPr lang="zh-CN"/>
            </a:defPPr>
            <a:lvl1pPr marL="0" lvl="0"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6" name="矩形 5">
            <a:extLst>
              <a:ext uri="{FF2B5EF4-FFF2-40B4-BE49-F238E27FC236}">
                <a16:creationId xmlns:a16="http://schemas.microsoft.com/office/drawing/2014/main" id="{6F634CF3-337A-54D3-5D76-B4EA8EEE2149}"/>
              </a:ext>
            </a:extLst>
          </p:cNvPr>
          <p:cNvSpPr/>
          <p:nvPr/>
        </p:nvSpPr>
        <p:spPr>
          <a:xfrm>
            <a:off x="2458093" y="2346965"/>
            <a:ext cx="5057775" cy="900113"/>
          </a:xfrm>
          <a:prstGeom prst="rect">
            <a:avLst/>
          </a:prstGeom>
          <a:solidFill>
            <a:schemeClr val="accent6">
              <a:lumMod val="20000"/>
              <a:lumOff val="80000"/>
            </a:schemeClr>
          </a:solidFill>
          <a:ln w="9525" cap="flat" cmpd="sng">
            <a:solidFill>
              <a:schemeClr val="tx1"/>
            </a:solidFill>
            <a:prstDash val="solid"/>
            <a:miter/>
            <a:headEnd type="none" w="med" len="med"/>
            <a:tailEnd type="none" w="med" len="med"/>
          </a:ln>
          <a:effectLst>
            <a:prstShdw prst="shdw12" dir="16200000">
              <a:schemeClr val="bg2">
                <a:alpha val="50000"/>
              </a:schemeClr>
            </a:prstShdw>
          </a:effectLst>
        </p:spPr>
        <p:txBody>
          <a:bodyPr/>
          <a:lstStyle>
            <a:defPPr>
              <a:defRPr lang="zh-CN"/>
            </a:defPPr>
            <a:lvl1pPr marL="0" lvl="0"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7" name="标题 158724">
            <a:extLst>
              <a:ext uri="{FF2B5EF4-FFF2-40B4-BE49-F238E27FC236}">
                <a16:creationId xmlns:a16="http://schemas.microsoft.com/office/drawing/2014/main" id="{E4F62994-FB6A-9ABB-8427-450C5CBB8D05}"/>
              </a:ext>
            </a:extLst>
          </p:cNvPr>
          <p:cNvSpPr>
            <a:spLocks noGrp="1"/>
          </p:cNvSpPr>
          <p:nvPr/>
        </p:nvSpPr>
        <p:spPr>
          <a:xfrm>
            <a:off x="1279187" y="128589"/>
            <a:ext cx="3988341" cy="679450"/>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200" dirty="0">
                <a:solidFill>
                  <a:srgbClr val="000099"/>
                </a:solidFill>
                <a:effectLst>
                  <a:outerShdw blurRad="38100" dist="38100" dir="2700000" algn="tl">
                    <a:srgbClr val="000000">
                      <a:alpha val="43137"/>
                    </a:srgbClr>
                  </a:outerShdw>
                </a:effectLst>
              </a:rPr>
              <a:t>1.0.2  </a:t>
            </a:r>
            <a:r>
              <a:rPr lang="zh-CN" altLang="en-US" sz="3200" dirty="0">
                <a:solidFill>
                  <a:srgbClr val="000099"/>
                </a:solidFill>
                <a:effectLst>
                  <a:outerShdw blurRad="38100" dist="38100" dir="2700000" algn="tl">
                    <a:srgbClr val="000000">
                      <a:alpha val="43137"/>
                    </a:srgbClr>
                  </a:outerShdw>
                </a:effectLst>
              </a:rPr>
              <a:t>遍历一维数组</a:t>
            </a:r>
          </a:p>
        </p:txBody>
      </p:sp>
      <p:sp>
        <p:nvSpPr>
          <p:cNvPr id="8" name="文本占位符 158725">
            <a:extLst>
              <a:ext uri="{FF2B5EF4-FFF2-40B4-BE49-F238E27FC236}">
                <a16:creationId xmlns:a16="http://schemas.microsoft.com/office/drawing/2014/main" id="{874FF270-7487-891E-71DC-07CE88747BC6}"/>
              </a:ext>
            </a:extLst>
          </p:cNvPr>
          <p:cNvSpPr>
            <a:spLocks noGrp="1"/>
          </p:cNvSpPr>
          <p:nvPr/>
        </p:nvSpPr>
        <p:spPr>
          <a:xfrm>
            <a:off x="1497654" y="959762"/>
            <a:ext cx="8604250" cy="5346079"/>
          </a:xfrm>
          <a:prstGeom prst="rect">
            <a:avLst/>
          </a:prstGeom>
          <a:effectLst>
            <a:prstShdw prst="shdw12" dir="16200000">
              <a:schemeClr val="bg2">
                <a:alpha val="50000"/>
              </a:schemeClr>
            </a:prstShdw>
          </a:effectLst>
        </p:spPr>
        <p:txBody>
          <a:bodyPr vert="horz" wrap="square" lIns="91440" tIns="45720" rIns="91440" bIns="45720" rtlCol="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0000"/>
              </a:lnSpc>
              <a:spcBef>
                <a:spcPct val="0"/>
              </a:spcBef>
              <a:buClrTx/>
              <a:buNone/>
            </a:pPr>
            <a:r>
              <a:rPr lang="zh-CN" altLang="da-DK" dirty="0">
                <a:solidFill>
                  <a:srgbClr val="003D7A"/>
                </a:solidFill>
                <a:latin typeface="Arial" panose="020B0604020202020204" pitchFamily="34" charset="0"/>
              </a:rPr>
              <a:t>       </a:t>
            </a:r>
            <a:r>
              <a:rPr lang="zh-CN" altLang="da-DK" sz="2400" b="1" dirty="0">
                <a:solidFill>
                  <a:srgbClr val="000099"/>
                </a:solidFill>
                <a:latin typeface="Arial" panose="020B0604020202020204" pitchFamily="34" charset="0"/>
              </a:rPr>
              <a:t>所谓遍历一维数组就是对数组的每个元素访问</a:t>
            </a:r>
            <a:r>
              <a:rPr lang="da-DK" altLang="zh-CN" sz="2400" b="1" dirty="0">
                <a:solidFill>
                  <a:srgbClr val="000099"/>
                </a:solidFill>
                <a:latin typeface="Arial" panose="020B0604020202020204" pitchFamily="34" charset="0"/>
              </a:rPr>
              <a:t>1</a:t>
            </a:r>
            <a:r>
              <a:rPr lang="zh-CN" altLang="da-DK" sz="2400" b="1" dirty="0">
                <a:solidFill>
                  <a:srgbClr val="000099"/>
                </a:solidFill>
                <a:latin typeface="Arial" panose="020B0604020202020204" pitchFamily="34" charset="0"/>
              </a:rPr>
              <a:t>次且仅</a:t>
            </a:r>
            <a:r>
              <a:rPr lang="da-DK" altLang="zh-CN" sz="2400" b="1" dirty="0">
                <a:solidFill>
                  <a:srgbClr val="000099"/>
                </a:solidFill>
                <a:latin typeface="Arial" panose="020B0604020202020204" pitchFamily="34" charset="0"/>
              </a:rPr>
              <a:t>1</a:t>
            </a:r>
            <a:r>
              <a:rPr lang="zh-CN" altLang="da-DK" sz="2400" b="1" dirty="0">
                <a:solidFill>
                  <a:srgbClr val="000099"/>
                </a:solidFill>
                <a:latin typeface="Arial" panose="020B0604020202020204" pitchFamily="34" charset="0"/>
              </a:rPr>
              <a:t>次。最自然简捷的方法是使用循环，利用下标或数组元素类型的指针，依次访问数组</a:t>
            </a:r>
            <a:r>
              <a:rPr lang="da-DK" altLang="zh-CN" sz="2400" b="1" dirty="0">
                <a:solidFill>
                  <a:srgbClr val="000099"/>
                </a:solidFill>
                <a:latin typeface="Arial" panose="020B0604020202020204" pitchFamily="34" charset="0"/>
              </a:rPr>
              <a:t>a</a:t>
            </a:r>
            <a:r>
              <a:rPr lang="zh-CN" altLang="da-DK" sz="2400" b="1" dirty="0">
                <a:solidFill>
                  <a:srgbClr val="000099"/>
                </a:solidFill>
                <a:latin typeface="Arial" panose="020B0604020202020204" pitchFamily="34" charset="0"/>
              </a:rPr>
              <a:t>的元素。</a:t>
            </a:r>
          </a:p>
          <a:p>
            <a:pPr marL="0" indent="0" algn="just">
              <a:spcBef>
                <a:spcPct val="30000"/>
              </a:spcBef>
              <a:buClrTx/>
              <a:buNone/>
            </a:pPr>
            <a:r>
              <a:rPr lang="da-DK" altLang="zh-CN" dirty="0">
                <a:solidFill>
                  <a:srgbClr val="003D7A"/>
                </a:solidFill>
                <a:latin typeface="Courier New" panose="02070309020205020404" pitchFamily="49" charset="0"/>
                <a:cs typeface="Courier New" panose="02070309020205020404" pitchFamily="49" charset="0"/>
              </a:rPr>
              <a:t>     </a:t>
            </a:r>
            <a:r>
              <a:rPr lang="da-DK" altLang="zh-CN" sz="2400" b="1" dirty="0">
                <a:solidFill>
                  <a:srgbClr val="000000"/>
                </a:solidFill>
                <a:latin typeface="Courier New" panose="02070309020205020404" pitchFamily="49" charset="0"/>
                <a:cs typeface="Courier New" panose="02070309020205020404" pitchFamily="49" charset="0"/>
              </a:rPr>
              <a:t>for</a:t>
            </a:r>
            <a:r>
              <a:rPr lang="da-DK" altLang="zh-CN" sz="2400" dirty="0">
                <a:solidFill>
                  <a:srgbClr val="000000"/>
                </a:solidFill>
                <a:latin typeface="Courier New" panose="02070309020205020404" pitchFamily="49" charset="0"/>
                <a:cs typeface="Courier New" panose="02070309020205020404" pitchFamily="49" charset="0"/>
              </a:rPr>
              <a:t>(</a:t>
            </a:r>
            <a:r>
              <a:rPr lang="da-DK" altLang="zh-CN" sz="2400" b="1" dirty="0">
                <a:solidFill>
                  <a:srgbClr val="000000"/>
                </a:solidFill>
                <a:latin typeface="Courier New" panose="02070309020205020404" pitchFamily="49" charset="0"/>
                <a:cs typeface="Courier New" panose="02070309020205020404" pitchFamily="49" charset="0"/>
              </a:rPr>
              <a:t>int</a:t>
            </a:r>
            <a:r>
              <a:rPr lang="da-DK" altLang="zh-CN" sz="2400" dirty="0">
                <a:solidFill>
                  <a:srgbClr val="000000"/>
                </a:solidFill>
                <a:latin typeface="Courier New" panose="02070309020205020404" pitchFamily="49" charset="0"/>
                <a:cs typeface="Courier New" panose="02070309020205020404" pitchFamily="49" charset="0"/>
              </a:rPr>
              <a:t> i=0; i&lt;7; i++)</a:t>
            </a:r>
            <a:endParaRPr lang="en-US" altLang="zh-CN" sz="2400" dirty="0">
              <a:solidFill>
                <a:srgbClr val="000000"/>
              </a:solidFill>
              <a:latin typeface="Courier New" panose="02070309020205020404" pitchFamily="49" charset="0"/>
              <a:cs typeface="Courier New" panose="02070309020205020404" pitchFamily="49" charset="0"/>
            </a:endParaRPr>
          </a:p>
          <a:p>
            <a:pPr marL="0" indent="0" algn="just">
              <a:spcBef>
                <a:spcPct val="0"/>
              </a:spcBef>
              <a:buClrTx/>
              <a:buNone/>
            </a:pPr>
            <a:r>
              <a:rPr lang="en-US" altLang="zh-CN" sz="2400" dirty="0">
                <a:solidFill>
                  <a:srgbClr val="000000"/>
                </a:solidFill>
                <a:latin typeface="Courier New" panose="02070309020205020404" pitchFamily="49" charset="0"/>
                <a:cs typeface="Courier New" panose="02070309020205020404" pitchFamily="49" charset="0"/>
              </a:rPr>
              <a:t>         </a:t>
            </a:r>
            <a:r>
              <a:rPr lang="en-US" altLang="zh-CN" sz="2400" dirty="0" err="1">
                <a:solidFill>
                  <a:srgbClr val="000000"/>
                </a:solidFill>
                <a:latin typeface="Courier New" panose="02070309020205020404" pitchFamily="49" charset="0"/>
                <a:cs typeface="Courier New" panose="02070309020205020404" pitchFamily="49" charset="0"/>
              </a:rPr>
              <a:t>printf</a:t>
            </a:r>
            <a:r>
              <a:rPr lang="en-US" altLang="zh-CN" sz="2400" dirty="0">
                <a:solidFill>
                  <a:srgbClr val="000000"/>
                </a:solidFill>
                <a:latin typeface="Courier New" panose="02070309020205020404" pitchFamily="49" charset="0"/>
                <a:cs typeface="Courier New" panose="02070309020205020404" pitchFamily="49" charset="0"/>
              </a:rPr>
              <a:t>("%</a:t>
            </a:r>
            <a:r>
              <a:rPr lang="en-US" altLang="zh-CN" sz="2400" dirty="0" err="1">
                <a:solidFill>
                  <a:srgbClr val="000000"/>
                </a:solidFill>
                <a:latin typeface="Courier New" panose="02070309020205020404" pitchFamily="49" charset="0"/>
                <a:cs typeface="Courier New" panose="02070309020205020404" pitchFamily="49" charset="0"/>
              </a:rPr>
              <a:t>c",a</a:t>
            </a:r>
            <a:r>
              <a:rPr lang="en-US" altLang="zh-CN" sz="2400" dirty="0">
                <a:solidFill>
                  <a:srgbClr val="000000"/>
                </a:solidFill>
                <a:latin typeface="Courier New" panose="02070309020205020404" pitchFamily="49" charset="0"/>
                <a:cs typeface="Courier New" panose="02070309020205020404" pitchFamily="49" charset="0"/>
              </a:rPr>
              <a:t>[</a:t>
            </a:r>
            <a:r>
              <a:rPr lang="en-US" altLang="zh-CN" sz="2400" dirty="0" err="1">
                <a:solidFill>
                  <a:srgbClr val="000000"/>
                </a:solidFill>
                <a:latin typeface="Courier New" panose="02070309020205020404" pitchFamily="49" charset="0"/>
                <a:cs typeface="Courier New" panose="02070309020205020404" pitchFamily="49" charset="0"/>
              </a:rPr>
              <a:t>i</a:t>
            </a:r>
            <a:r>
              <a:rPr lang="en-US" altLang="zh-CN" sz="2400" dirty="0">
                <a:solidFill>
                  <a:srgbClr val="000000"/>
                </a:solidFill>
                <a:latin typeface="Courier New" panose="02070309020205020404" pitchFamily="49" charset="0"/>
                <a:cs typeface="Courier New" panose="02070309020205020404" pitchFamily="49" charset="0"/>
              </a:rPr>
              <a:t>]);</a:t>
            </a:r>
            <a:endParaRPr lang="da-DK" altLang="zh-CN" sz="2400" dirty="0">
              <a:solidFill>
                <a:srgbClr val="000000"/>
              </a:solidFill>
              <a:latin typeface="Courier New" panose="02070309020205020404" pitchFamily="49" charset="0"/>
              <a:cs typeface="Courier New" panose="02070309020205020404" pitchFamily="49" charset="0"/>
            </a:endParaRPr>
          </a:p>
          <a:p>
            <a:pPr marL="0" indent="0" algn="just">
              <a:spcBef>
                <a:spcPts val="1200"/>
              </a:spcBef>
              <a:spcAft>
                <a:spcPts val="1200"/>
              </a:spcAft>
              <a:buClrTx/>
              <a:buNone/>
            </a:pPr>
            <a:r>
              <a:rPr lang="zh-CN" altLang="da-DK" sz="2400" b="1" dirty="0">
                <a:solidFill>
                  <a:srgbClr val="000099"/>
                </a:solidFill>
                <a:latin typeface="Courier New" panose="02070309020205020404" pitchFamily="49" charset="0"/>
                <a:cs typeface="Courier New" panose="02070309020205020404" pitchFamily="49" charset="0"/>
              </a:rPr>
              <a:t>或者</a:t>
            </a:r>
          </a:p>
          <a:p>
            <a:pPr marL="0" indent="0" algn="just">
              <a:spcBef>
                <a:spcPct val="0"/>
              </a:spcBef>
              <a:buClrTx/>
              <a:buNone/>
            </a:pPr>
            <a:r>
              <a:rPr lang="zh-CN" altLang="da-DK" dirty="0">
                <a:solidFill>
                  <a:srgbClr val="003D7A"/>
                </a:solidFill>
                <a:latin typeface="Courier New" panose="02070309020205020404" pitchFamily="49" charset="0"/>
                <a:cs typeface="Courier New" panose="02070309020205020404" pitchFamily="49" charset="0"/>
              </a:rPr>
              <a:t>     </a:t>
            </a:r>
            <a:r>
              <a:rPr lang="da-DK" altLang="zh-CN" sz="2400" b="1" dirty="0">
                <a:solidFill>
                  <a:srgbClr val="000000"/>
                </a:solidFill>
                <a:latin typeface="Courier New" panose="02070309020205020404" pitchFamily="49" charset="0"/>
                <a:cs typeface="Courier New" panose="02070309020205020404" pitchFamily="49" charset="0"/>
              </a:rPr>
              <a:t>for</a:t>
            </a:r>
            <a:r>
              <a:rPr lang="en-US" altLang="zh-CN" sz="2400" dirty="0">
                <a:solidFill>
                  <a:srgbClr val="000000"/>
                </a:solidFill>
                <a:latin typeface="Courier New" panose="02070309020205020404" pitchFamily="49" charset="0"/>
                <a:cs typeface="Courier New" panose="02070309020205020404" pitchFamily="49" charset="0"/>
              </a:rPr>
              <a:t>(</a:t>
            </a:r>
            <a:r>
              <a:rPr lang="da-DK" altLang="zh-CN" sz="2400" b="1" dirty="0">
                <a:solidFill>
                  <a:srgbClr val="000000"/>
                </a:solidFill>
                <a:latin typeface="Courier New" panose="02070309020205020404" pitchFamily="49" charset="0"/>
                <a:cs typeface="Courier New" panose="02070309020205020404" pitchFamily="49" charset="0"/>
              </a:rPr>
              <a:t>int </a:t>
            </a:r>
            <a:r>
              <a:rPr lang="en-US" altLang="zh-CN" sz="2400" dirty="0" err="1">
                <a:solidFill>
                  <a:srgbClr val="000000"/>
                </a:solidFill>
                <a:latin typeface="Courier New" panose="02070309020205020404" pitchFamily="49" charset="0"/>
                <a:cs typeface="Courier New" panose="02070309020205020404" pitchFamily="49" charset="0"/>
              </a:rPr>
              <a:t>i</a:t>
            </a:r>
            <a:r>
              <a:rPr lang="en-US" altLang="zh-CN" sz="2400" dirty="0">
                <a:solidFill>
                  <a:srgbClr val="000000"/>
                </a:solidFill>
                <a:latin typeface="Courier New" panose="02070309020205020404" pitchFamily="49" charset="0"/>
                <a:cs typeface="Courier New" panose="02070309020205020404" pitchFamily="49" charset="0"/>
              </a:rPr>
              <a:t>=0; </a:t>
            </a:r>
            <a:r>
              <a:rPr lang="en-US" altLang="zh-CN" sz="2400" dirty="0" err="1">
                <a:solidFill>
                  <a:srgbClr val="000000"/>
                </a:solidFill>
                <a:latin typeface="Courier New" panose="02070309020205020404" pitchFamily="49" charset="0"/>
                <a:cs typeface="Courier New" panose="02070309020205020404" pitchFamily="49" charset="0"/>
              </a:rPr>
              <a:t>i</a:t>
            </a:r>
            <a:r>
              <a:rPr lang="en-US" altLang="zh-CN" sz="2400" dirty="0">
                <a:solidFill>
                  <a:srgbClr val="000000"/>
                </a:solidFill>
                <a:latin typeface="Courier New" panose="02070309020205020404" pitchFamily="49" charset="0"/>
                <a:cs typeface="Courier New" panose="02070309020205020404" pitchFamily="49" charset="0"/>
              </a:rPr>
              <a:t>&lt;7; </a:t>
            </a:r>
            <a:r>
              <a:rPr lang="en-US" altLang="zh-CN" sz="2400" dirty="0" err="1">
                <a:solidFill>
                  <a:srgbClr val="000000"/>
                </a:solidFill>
                <a:latin typeface="Courier New" panose="02070309020205020404" pitchFamily="49" charset="0"/>
                <a:cs typeface="Courier New" panose="02070309020205020404" pitchFamily="49" charset="0"/>
              </a:rPr>
              <a:t>i</a:t>
            </a:r>
            <a:r>
              <a:rPr lang="en-US" altLang="zh-CN" sz="2400" dirty="0">
                <a:solidFill>
                  <a:srgbClr val="000000"/>
                </a:solidFill>
                <a:latin typeface="Courier New" panose="02070309020205020404" pitchFamily="49" charset="0"/>
                <a:cs typeface="Courier New" panose="02070309020205020404" pitchFamily="49" charset="0"/>
              </a:rPr>
              <a:t>++)</a:t>
            </a:r>
          </a:p>
          <a:p>
            <a:pPr marL="0" indent="0" algn="just">
              <a:spcBef>
                <a:spcPct val="0"/>
              </a:spcBef>
              <a:buClrTx/>
              <a:buNone/>
            </a:pPr>
            <a:r>
              <a:rPr lang="en-US" altLang="zh-CN" sz="2400" dirty="0">
                <a:solidFill>
                  <a:srgbClr val="000000"/>
                </a:solidFill>
                <a:latin typeface="Courier New" panose="02070309020205020404" pitchFamily="49" charset="0"/>
                <a:cs typeface="Courier New" panose="02070309020205020404" pitchFamily="49" charset="0"/>
              </a:rPr>
              <a:t>         </a:t>
            </a:r>
            <a:r>
              <a:rPr lang="en-US" altLang="zh-CN" sz="2400" dirty="0" err="1">
                <a:solidFill>
                  <a:srgbClr val="000000"/>
                </a:solidFill>
                <a:latin typeface="Courier New" panose="02070309020205020404" pitchFamily="49" charset="0"/>
                <a:cs typeface="Courier New" panose="02070309020205020404" pitchFamily="49" charset="0"/>
              </a:rPr>
              <a:t>printf</a:t>
            </a:r>
            <a:r>
              <a:rPr lang="en-US" altLang="zh-CN" sz="2400" dirty="0">
                <a:solidFill>
                  <a:srgbClr val="000000"/>
                </a:solidFill>
                <a:latin typeface="Courier New" panose="02070309020205020404" pitchFamily="49" charset="0"/>
                <a:cs typeface="Courier New" panose="02070309020205020404" pitchFamily="49" charset="0"/>
              </a:rPr>
              <a:t>("%c",*(</a:t>
            </a:r>
            <a:r>
              <a:rPr lang="en-US" altLang="zh-CN" sz="2400" dirty="0" err="1">
                <a:solidFill>
                  <a:srgbClr val="000000"/>
                </a:solidFill>
                <a:latin typeface="Courier New" panose="02070309020205020404" pitchFamily="49" charset="0"/>
                <a:cs typeface="Courier New" panose="02070309020205020404" pitchFamily="49" charset="0"/>
              </a:rPr>
              <a:t>a+i</a:t>
            </a:r>
            <a:r>
              <a:rPr lang="en-US" altLang="zh-CN" sz="2400" dirty="0">
                <a:solidFill>
                  <a:srgbClr val="000000"/>
                </a:solidFill>
                <a:latin typeface="Courier New" panose="02070309020205020404" pitchFamily="49" charset="0"/>
                <a:cs typeface="Courier New" panose="02070309020205020404" pitchFamily="49" charset="0"/>
              </a:rPr>
              <a:t>));</a:t>
            </a:r>
          </a:p>
          <a:p>
            <a:pPr marL="0" indent="0" algn="just">
              <a:spcBef>
                <a:spcPts val="1200"/>
              </a:spcBef>
              <a:spcAft>
                <a:spcPts val="1200"/>
              </a:spcAft>
              <a:buNone/>
            </a:pPr>
            <a:r>
              <a:rPr lang="zh-CN" altLang="en-US" sz="2400" b="1" dirty="0">
                <a:solidFill>
                  <a:srgbClr val="000099"/>
                </a:solidFill>
                <a:latin typeface="Courier New" panose="02070309020205020404" pitchFamily="49" charset="0"/>
                <a:cs typeface="Courier New" panose="02070309020205020404" pitchFamily="49" charset="0"/>
              </a:rPr>
              <a:t>或者</a:t>
            </a:r>
          </a:p>
          <a:p>
            <a:pPr marL="0" indent="0" algn="just">
              <a:spcBef>
                <a:spcPct val="0"/>
              </a:spcBef>
              <a:buClrTx/>
              <a:buNone/>
            </a:pPr>
            <a:r>
              <a:rPr lang="zh-CN" altLang="en-US" dirty="0">
                <a:solidFill>
                  <a:srgbClr val="003D7A"/>
                </a:solidFill>
                <a:latin typeface="Courier New" panose="02070309020205020404" pitchFamily="49" charset="0"/>
                <a:cs typeface="Courier New" panose="02070309020205020404" pitchFamily="49" charset="0"/>
              </a:rPr>
              <a:t>     </a:t>
            </a:r>
            <a:r>
              <a:rPr lang="da-DK" altLang="zh-CN" sz="2400" b="1" dirty="0">
                <a:solidFill>
                  <a:srgbClr val="000000"/>
                </a:solidFill>
                <a:latin typeface="Courier New" panose="02070309020205020404" pitchFamily="49" charset="0"/>
                <a:cs typeface="Courier New" panose="02070309020205020404" pitchFamily="49" charset="0"/>
              </a:rPr>
              <a:t>char</a:t>
            </a:r>
            <a:r>
              <a:rPr lang="en-US" altLang="zh-CN" sz="2400" dirty="0">
                <a:solidFill>
                  <a:srgbClr val="000000"/>
                </a:solidFill>
                <a:latin typeface="Courier New" panose="02070309020205020404" pitchFamily="49" charset="0"/>
                <a:cs typeface="Courier New" panose="02070309020205020404" pitchFamily="49" charset="0"/>
              </a:rPr>
              <a:t> *p,*q;</a:t>
            </a:r>
            <a:endParaRPr lang="da-DK" altLang="zh-CN" sz="2400" dirty="0">
              <a:solidFill>
                <a:srgbClr val="000000"/>
              </a:solidFill>
              <a:latin typeface="Courier New" panose="02070309020205020404" pitchFamily="49" charset="0"/>
              <a:cs typeface="Courier New" panose="02070309020205020404" pitchFamily="49" charset="0"/>
            </a:endParaRPr>
          </a:p>
          <a:p>
            <a:pPr marL="0" indent="0" algn="just">
              <a:spcBef>
                <a:spcPct val="0"/>
              </a:spcBef>
              <a:buClrTx/>
              <a:buNone/>
            </a:pPr>
            <a:r>
              <a:rPr lang="da-DK" altLang="zh-CN" sz="2400" dirty="0">
                <a:solidFill>
                  <a:srgbClr val="000000"/>
                </a:solidFill>
                <a:latin typeface="Courier New" panose="02070309020205020404" pitchFamily="49" charset="0"/>
                <a:cs typeface="Courier New" panose="02070309020205020404" pitchFamily="49" charset="0"/>
              </a:rPr>
              <a:t>      </a:t>
            </a:r>
            <a:r>
              <a:rPr lang="da-DK" altLang="zh-CN" sz="2400" b="1" dirty="0">
                <a:solidFill>
                  <a:srgbClr val="000000"/>
                </a:solidFill>
                <a:latin typeface="Courier New" panose="02070309020205020404" pitchFamily="49" charset="0"/>
                <a:cs typeface="Courier New" panose="02070309020205020404" pitchFamily="49" charset="0"/>
              </a:rPr>
              <a:t>for</a:t>
            </a:r>
            <a:r>
              <a:rPr lang="en-US" altLang="zh-CN" sz="2400" dirty="0">
                <a:solidFill>
                  <a:srgbClr val="000000"/>
                </a:solidFill>
                <a:latin typeface="Courier New" panose="02070309020205020404" pitchFamily="49" charset="0"/>
                <a:cs typeface="Courier New" panose="02070309020205020404" pitchFamily="49" charset="0"/>
              </a:rPr>
              <a:t>(q=</a:t>
            </a:r>
            <a:r>
              <a:rPr lang="en-US" altLang="zh-CN" sz="2400" dirty="0" err="1">
                <a:solidFill>
                  <a:srgbClr val="000000"/>
                </a:solidFill>
                <a:latin typeface="Courier New" panose="02070309020205020404" pitchFamily="49" charset="0"/>
                <a:cs typeface="Courier New" panose="02070309020205020404" pitchFamily="49" charset="0"/>
              </a:rPr>
              <a:t>a+7,p</a:t>
            </a:r>
            <a:r>
              <a:rPr lang="en-US" altLang="zh-CN" sz="2400" dirty="0">
                <a:solidFill>
                  <a:srgbClr val="000000"/>
                </a:solidFill>
                <a:latin typeface="Courier New" panose="02070309020205020404" pitchFamily="49" charset="0"/>
                <a:cs typeface="Courier New" panose="02070309020205020404" pitchFamily="49" charset="0"/>
              </a:rPr>
              <a:t>=a; p&lt;q; p++)</a:t>
            </a:r>
          </a:p>
          <a:p>
            <a:pPr marL="0" indent="0" algn="just">
              <a:spcBef>
                <a:spcPct val="0"/>
              </a:spcBef>
              <a:buClrTx/>
              <a:buNone/>
            </a:pPr>
            <a:r>
              <a:rPr lang="en-US" altLang="zh-CN" sz="2400" dirty="0">
                <a:solidFill>
                  <a:srgbClr val="000000"/>
                </a:solidFill>
                <a:latin typeface="Courier New" panose="02070309020205020404" pitchFamily="49" charset="0"/>
                <a:cs typeface="Courier New" panose="02070309020205020404" pitchFamily="49" charset="0"/>
              </a:rPr>
              <a:t>         </a:t>
            </a:r>
            <a:r>
              <a:rPr lang="da-DK" altLang="zh-CN" sz="2400" dirty="0">
                <a:solidFill>
                  <a:srgbClr val="000000"/>
                </a:solidFill>
                <a:latin typeface="Courier New" panose="02070309020205020404" pitchFamily="49" charset="0"/>
                <a:cs typeface="Courier New" panose="02070309020205020404" pitchFamily="49" charset="0"/>
              </a:rPr>
              <a:t>printf("%c",*p);</a:t>
            </a:r>
            <a:endParaRPr lang="en-US" altLang="zh-CN" sz="2400" dirty="0">
              <a:solidFill>
                <a:srgbClr val="000000"/>
              </a:solidFill>
              <a:latin typeface="Courier New" panose="02070309020205020404" pitchFamily="49" charset="0"/>
              <a:cs typeface="Courier New" panose="02070309020205020404" pitchFamily="49" charset="0"/>
            </a:endParaRPr>
          </a:p>
        </p:txBody>
      </p:sp>
      <p:sp>
        <p:nvSpPr>
          <p:cNvPr id="2" name="灯片编号占位符 1">
            <a:extLst>
              <a:ext uri="{FF2B5EF4-FFF2-40B4-BE49-F238E27FC236}">
                <a16:creationId xmlns:a16="http://schemas.microsoft.com/office/drawing/2014/main" id="{9E96F71E-423B-C41A-53C7-8D4D9B7A8567}"/>
              </a:ext>
            </a:extLst>
          </p:cNvPr>
          <p:cNvSpPr>
            <a:spLocks noGrp="1"/>
          </p:cNvSpPr>
          <p:nvPr>
            <p:ph type="sldNum" sz="quarter" idx="12"/>
          </p:nvPr>
        </p:nvSpPr>
        <p:spPr/>
        <p:txBody>
          <a:bodyPr/>
          <a:lstStyle/>
          <a:p>
            <a:fld id="{D7C0FE0B-717B-41AE-9FA2-CA4BF851D1C3}" type="slidenum">
              <a:rPr lang="zh-CN" altLang="en-US" smtClean="0"/>
              <a:t>7</a:t>
            </a:fld>
            <a:endParaRPr lang="zh-CN" altLang="en-US"/>
          </a:p>
        </p:txBody>
      </p:sp>
    </p:spTree>
    <p:extLst>
      <p:ext uri="{BB962C8B-B14F-4D97-AF65-F5344CB8AC3E}">
        <p14:creationId xmlns:p14="http://schemas.microsoft.com/office/powerpoint/2010/main" val="22739991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59745">
            <a:extLst>
              <a:ext uri="{FF2B5EF4-FFF2-40B4-BE49-F238E27FC236}">
                <a16:creationId xmlns:a16="http://schemas.microsoft.com/office/drawing/2014/main" id="{58A8CFBC-E93C-FB6B-78C1-E134D01EDB38}"/>
              </a:ext>
            </a:extLst>
          </p:cNvPr>
          <p:cNvSpPr txBox="1">
            <a:spLocks/>
          </p:cNvSpPr>
          <p:nvPr/>
        </p:nvSpPr>
        <p:spPr>
          <a:xfrm>
            <a:off x="1314855" y="209483"/>
            <a:ext cx="6165715" cy="554139"/>
          </a:xfrm>
          <a:prstGeom prst="rect">
            <a:avLst/>
          </a:prstGeom>
        </p:spPr>
        <p:txBody>
          <a:bodyPr vert="horz" lIns="91440" tIns="45720" rIns="91440" bIns="45720" rtlCol="0" anchor="ctr" anchorCtr="0">
            <a:normAutofit/>
          </a:bodyPr>
          <a:lstStyle>
            <a:defPPr>
              <a:defRPr lang="zh-CN"/>
            </a:defPPr>
            <a:lvl1pPr>
              <a:lnSpc>
                <a:spcPct val="90000"/>
              </a:lnSpc>
              <a:spcBef>
                <a:spcPct val="0"/>
              </a:spcBef>
              <a:buNone/>
              <a:defRPr sz="3200">
                <a:solidFill>
                  <a:srgbClr val="000099"/>
                </a:solidFill>
                <a:effectLst>
                  <a:outerShdw blurRad="38100" dist="38100" dir="2700000" algn="tl">
                    <a:srgbClr val="000000">
                      <a:alpha val="43137"/>
                    </a:srgbClr>
                  </a:outerShdw>
                </a:effectLst>
                <a:latin typeface="+mj-lt"/>
                <a:ea typeface="+mj-ea"/>
                <a:cs typeface="+mj-cs"/>
              </a:defRPr>
            </a:lvl1pPr>
          </a:lstStyle>
          <a:p>
            <a:r>
              <a:rPr lang="en-US" altLang="zh-CN" dirty="0"/>
              <a:t>1.0.3  </a:t>
            </a:r>
            <a:r>
              <a:rPr lang="zh-CN" altLang="en-US" dirty="0"/>
              <a:t>操作一维数组的元素</a:t>
            </a:r>
          </a:p>
        </p:txBody>
      </p:sp>
      <p:sp>
        <p:nvSpPr>
          <p:cNvPr id="5" name="文本占位符 159746">
            <a:extLst>
              <a:ext uri="{FF2B5EF4-FFF2-40B4-BE49-F238E27FC236}">
                <a16:creationId xmlns:a16="http://schemas.microsoft.com/office/drawing/2014/main" id="{C91F69C1-1600-5456-2224-73050B83BABB}"/>
              </a:ext>
            </a:extLst>
          </p:cNvPr>
          <p:cNvSpPr txBox="1">
            <a:spLocks/>
          </p:cNvSpPr>
          <p:nvPr/>
        </p:nvSpPr>
        <p:spPr>
          <a:xfrm>
            <a:off x="1145565" y="966944"/>
            <a:ext cx="4895312" cy="4883388"/>
          </a:xfrm>
          <a:prstGeom prst="rect">
            <a:avLst/>
          </a:prstGeom>
          <a:effectLst>
            <a:prstShdw prst="shdw12" dir="16200000">
              <a:schemeClr val="bg2">
                <a:alpha val="50000"/>
              </a:schemeClr>
            </a:prstShdw>
          </a:effectLst>
        </p:spPr>
        <p:txBody>
          <a:bodyPr vert="horz" wrap="square" lIns="91440" tIns="45720" rIns="91440" bIns="45720" rtlCol="0" anchor="t" anchorCtr="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spcBef>
                <a:spcPct val="0"/>
              </a:spcBef>
            </a:pPr>
            <a:r>
              <a:rPr lang="zh-CN" altLang="da-DK" b="1" dirty="0">
                <a:solidFill>
                  <a:srgbClr val="000099"/>
                </a:solidFill>
                <a:latin typeface="Arial" panose="020B0604020202020204" pitchFamily="34" charset="0"/>
              </a:rPr>
              <a:t>设有声明，并对一维数组</a:t>
            </a:r>
            <a:r>
              <a:rPr lang="da-DK" altLang="zh-CN" b="1" dirty="0">
                <a:solidFill>
                  <a:srgbClr val="000099"/>
                </a:solidFill>
                <a:latin typeface="Arial" panose="020B0604020202020204" pitchFamily="34" charset="0"/>
              </a:rPr>
              <a:t>d</a:t>
            </a:r>
            <a:r>
              <a:rPr lang="zh-CN" altLang="da-DK" b="1" dirty="0">
                <a:solidFill>
                  <a:srgbClr val="000099"/>
                </a:solidFill>
                <a:latin typeface="Arial" panose="020B0604020202020204" pitchFamily="34" charset="0"/>
              </a:rPr>
              <a:t>的</a:t>
            </a:r>
          </a:p>
          <a:p>
            <a:pPr algn="just">
              <a:spcBef>
                <a:spcPct val="0"/>
              </a:spcBef>
            </a:pPr>
            <a:r>
              <a:rPr lang="zh-CN" altLang="da-DK" b="1" dirty="0">
                <a:solidFill>
                  <a:srgbClr val="000099"/>
                </a:solidFill>
                <a:latin typeface="Arial" panose="020B0604020202020204" pitchFamily="34" charset="0"/>
              </a:rPr>
              <a:t>所有元素赋以随机数</a:t>
            </a:r>
          </a:p>
          <a:p>
            <a:pPr algn="just">
              <a:spcBef>
                <a:spcPct val="0"/>
              </a:spcBef>
            </a:pPr>
            <a:r>
              <a:rPr lang="da-DK" altLang="zh-CN" dirty="0">
                <a:solidFill>
                  <a:srgbClr val="000000"/>
                </a:solidFill>
                <a:latin typeface="Lucida Sans Typewriter" pitchFamily="49" charset="0"/>
              </a:rPr>
              <a:t> </a:t>
            </a:r>
            <a:r>
              <a:rPr lang="da-DK" altLang="zh-CN" b="1" dirty="0">
                <a:solidFill>
                  <a:srgbClr val="000000"/>
                </a:solidFill>
                <a:latin typeface="Courier New" panose="02070309020205020404" pitchFamily="49" charset="0"/>
                <a:cs typeface="Courier New" panose="02070309020205020404" pitchFamily="49" charset="0"/>
              </a:rPr>
              <a:t>int</a:t>
            </a:r>
            <a:r>
              <a:rPr lang="da-DK" altLang="zh-CN" dirty="0">
                <a:solidFill>
                  <a:srgbClr val="000000"/>
                </a:solidFill>
                <a:latin typeface="Courier New" panose="02070309020205020404" pitchFamily="49" charset="0"/>
                <a:cs typeface="Courier New" panose="02070309020205020404" pitchFamily="49" charset="0"/>
              </a:rPr>
              <a:t> d[10];</a:t>
            </a:r>
          </a:p>
          <a:p>
            <a:pPr algn="just">
              <a:spcBef>
                <a:spcPct val="0"/>
              </a:spcBef>
            </a:pPr>
            <a:r>
              <a:rPr lang="da-DK" altLang="zh-CN" dirty="0">
                <a:solidFill>
                  <a:srgbClr val="000000"/>
                </a:solidFill>
                <a:latin typeface="Courier New" panose="02070309020205020404" pitchFamily="49" charset="0"/>
                <a:cs typeface="Courier New" panose="02070309020205020404" pitchFamily="49" charset="0"/>
              </a:rPr>
              <a:t> </a:t>
            </a:r>
            <a:r>
              <a:rPr lang="da-DK" altLang="zh-CN" b="1" dirty="0">
                <a:solidFill>
                  <a:srgbClr val="000000"/>
                </a:solidFill>
                <a:latin typeface="Courier New" panose="02070309020205020404" pitchFamily="49" charset="0"/>
                <a:cs typeface="Courier New" panose="02070309020205020404" pitchFamily="49" charset="0"/>
              </a:rPr>
              <a:t>for</a:t>
            </a:r>
            <a:r>
              <a:rPr lang="da-DK" altLang="zh-CN" dirty="0">
                <a:solidFill>
                  <a:srgbClr val="000000"/>
                </a:solidFill>
                <a:latin typeface="Courier New" panose="02070309020205020404" pitchFamily="49" charset="0"/>
                <a:cs typeface="Courier New" panose="02070309020205020404" pitchFamily="49" charset="0"/>
              </a:rPr>
              <a:t>(</a:t>
            </a:r>
            <a:r>
              <a:rPr lang="da-DK" altLang="zh-CN" b="1" dirty="0">
                <a:solidFill>
                  <a:srgbClr val="000000"/>
                </a:solidFill>
                <a:latin typeface="Courier New" panose="02070309020205020404" pitchFamily="49" charset="0"/>
                <a:cs typeface="Courier New" panose="02070309020205020404" pitchFamily="49" charset="0"/>
              </a:rPr>
              <a:t>int</a:t>
            </a:r>
            <a:r>
              <a:rPr lang="da-DK" altLang="zh-CN" dirty="0">
                <a:solidFill>
                  <a:srgbClr val="000000"/>
                </a:solidFill>
                <a:latin typeface="Courier New" panose="02070309020205020404" pitchFamily="49" charset="0"/>
                <a:cs typeface="Courier New" panose="02070309020205020404" pitchFamily="49" charset="0"/>
              </a:rPr>
              <a:t> i=0; i&lt;10; i++)</a:t>
            </a:r>
          </a:p>
          <a:p>
            <a:pPr algn="just">
              <a:spcBef>
                <a:spcPct val="0"/>
              </a:spcBef>
              <a:spcAft>
                <a:spcPct val="30000"/>
              </a:spcAft>
            </a:pPr>
            <a:r>
              <a:rPr lang="da-DK" altLang="zh-CN" dirty="0">
                <a:solidFill>
                  <a:srgbClr val="000000"/>
                </a:solidFill>
                <a:latin typeface="Courier New" panose="02070309020205020404" pitchFamily="49" charset="0"/>
                <a:cs typeface="Courier New" panose="02070309020205020404" pitchFamily="49" charset="0"/>
              </a:rPr>
              <a:t>   d[i]=random(100);</a:t>
            </a:r>
          </a:p>
          <a:p>
            <a:pPr algn="just">
              <a:lnSpc>
                <a:spcPct val="120000"/>
              </a:lnSpc>
              <a:spcBef>
                <a:spcPct val="0"/>
              </a:spcBef>
            </a:pPr>
            <a:r>
              <a:rPr lang="da-DK" altLang="zh-CN" b="1" dirty="0">
                <a:solidFill>
                  <a:srgbClr val="000099"/>
                </a:solidFill>
                <a:latin typeface="Arial" panose="020B0604020202020204" pitchFamily="34" charset="0"/>
              </a:rPr>
              <a:t>1. </a:t>
            </a:r>
            <a:r>
              <a:rPr lang="zh-CN" altLang="da-DK" b="1" dirty="0">
                <a:solidFill>
                  <a:srgbClr val="000099"/>
                </a:solidFill>
                <a:latin typeface="Arial" panose="020B0604020202020204" pitchFamily="34" charset="0"/>
              </a:rPr>
              <a:t>对</a:t>
            </a:r>
            <a:r>
              <a:rPr lang="da-DK" altLang="zh-CN" b="1" dirty="0">
                <a:solidFill>
                  <a:srgbClr val="000099"/>
                </a:solidFill>
                <a:latin typeface="Arial" panose="020B0604020202020204" pitchFamily="34" charset="0"/>
              </a:rPr>
              <a:t>d</a:t>
            </a:r>
            <a:r>
              <a:rPr lang="zh-CN" altLang="da-DK" b="1" dirty="0">
                <a:solidFill>
                  <a:srgbClr val="000099"/>
                </a:solidFill>
                <a:latin typeface="Arial" panose="020B0604020202020204" pitchFamily="34" charset="0"/>
              </a:rPr>
              <a:t>的元素求和（连加）</a:t>
            </a:r>
          </a:p>
          <a:p>
            <a:pPr algn="just">
              <a:spcBef>
                <a:spcPct val="0"/>
              </a:spcBef>
            </a:pPr>
            <a:r>
              <a:rPr lang="da-DK" altLang="zh-CN" dirty="0">
                <a:solidFill>
                  <a:srgbClr val="000000"/>
                </a:solidFill>
                <a:latin typeface="Lucida Sans Typewriter" pitchFamily="49" charset="0"/>
              </a:rPr>
              <a:t> </a:t>
            </a:r>
            <a:r>
              <a:rPr lang="da-DK" altLang="zh-CN" b="1" dirty="0">
                <a:solidFill>
                  <a:srgbClr val="000000"/>
                </a:solidFill>
                <a:latin typeface="Courier New" panose="02070309020205020404" pitchFamily="49" charset="0"/>
                <a:cs typeface="Courier New" panose="02070309020205020404" pitchFamily="49" charset="0"/>
              </a:rPr>
              <a:t>int</a:t>
            </a:r>
            <a:r>
              <a:rPr lang="da-DK" altLang="zh-CN" dirty="0">
                <a:solidFill>
                  <a:srgbClr val="000000"/>
                </a:solidFill>
                <a:latin typeface="Courier New" panose="02070309020205020404" pitchFamily="49" charset="0"/>
                <a:cs typeface="Courier New" panose="02070309020205020404" pitchFamily="49" charset="0"/>
              </a:rPr>
              <a:t> sum=0;</a:t>
            </a:r>
          </a:p>
          <a:p>
            <a:pPr algn="just">
              <a:spcBef>
                <a:spcPct val="0"/>
              </a:spcBef>
            </a:pPr>
            <a:r>
              <a:rPr lang="da-DK" altLang="zh-CN" dirty="0">
                <a:solidFill>
                  <a:srgbClr val="000000"/>
                </a:solidFill>
                <a:latin typeface="Courier New" panose="02070309020205020404" pitchFamily="49" charset="0"/>
                <a:cs typeface="Courier New" panose="02070309020205020404" pitchFamily="49" charset="0"/>
              </a:rPr>
              <a:t> </a:t>
            </a:r>
            <a:r>
              <a:rPr lang="da-DK" altLang="zh-CN" b="1" dirty="0">
                <a:solidFill>
                  <a:srgbClr val="000000"/>
                </a:solidFill>
                <a:latin typeface="Courier New" panose="02070309020205020404" pitchFamily="49" charset="0"/>
                <a:cs typeface="Courier New" panose="02070309020205020404" pitchFamily="49" charset="0"/>
              </a:rPr>
              <a:t>for</a:t>
            </a:r>
            <a:r>
              <a:rPr lang="da-DK" altLang="zh-CN" dirty="0">
                <a:solidFill>
                  <a:srgbClr val="000000"/>
                </a:solidFill>
                <a:latin typeface="Courier New" panose="02070309020205020404" pitchFamily="49" charset="0"/>
                <a:cs typeface="Courier New" panose="02070309020205020404" pitchFamily="49" charset="0"/>
              </a:rPr>
              <a:t>(</a:t>
            </a:r>
            <a:r>
              <a:rPr lang="da-DK" altLang="zh-CN" b="1" dirty="0">
                <a:solidFill>
                  <a:srgbClr val="000000"/>
                </a:solidFill>
                <a:latin typeface="Courier New" panose="02070309020205020404" pitchFamily="49" charset="0"/>
                <a:cs typeface="Courier New" panose="02070309020205020404" pitchFamily="49" charset="0"/>
              </a:rPr>
              <a:t>int</a:t>
            </a:r>
            <a:r>
              <a:rPr lang="da-DK" altLang="zh-CN" dirty="0">
                <a:solidFill>
                  <a:srgbClr val="000000"/>
                </a:solidFill>
                <a:latin typeface="Courier New" panose="02070309020205020404" pitchFamily="49" charset="0"/>
                <a:cs typeface="Courier New" panose="02070309020205020404" pitchFamily="49" charset="0"/>
              </a:rPr>
              <a:t> i=0; i&lt;10; i++)</a:t>
            </a:r>
          </a:p>
          <a:p>
            <a:pPr algn="just">
              <a:spcBef>
                <a:spcPct val="0"/>
              </a:spcBef>
            </a:pPr>
            <a:r>
              <a:rPr lang="da-DK" altLang="zh-CN" dirty="0">
                <a:solidFill>
                  <a:srgbClr val="000000"/>
                </a:solidFill>
                <a:latin typeface="Courier New" panose="02070309020205020404" pitchFamily="49" charset="0"/>
                <a:cs typeface="Courier New" panose="02070309020205020404" pitchFamily="49" charset="0"/>
              </a:rPr>
              <a:t>   sum+=d[i];</a:t>
            </a:r>
          </a:p>
          <a:p>
            <a:pPr algn="just">
              <a:lnSpc>
                <a:spcPct val="120000"/>
              </a:lnSpc>
              <a:spcBef>
                <a:spcPct val="0"/>
              </a:spcBef>
            </a:pPr>
            <a:r>
              <a:rPr lang="da-DK" altLang="zh-CN" b="1" dirty="0">
                <a:solidFill>
                  <a:srgbClr val="000099"/>
                </a:solidFill>
                <a:latin typeface="Arial" panose="020B0604020202020204" pitchFamily="34" charset="0"/>
              </a:rPr>
              <a:t>2. </a:t>
            </a:r>
            <a:r>
              <a:rPr lang="zh-CN" altLang="da-DK" b="1" dirty="0">
                <a:solidFill>
                  <a:srgbClr val="000099"/>
                </a:solidFill>
                <a:latin typeface="Arial" panose="020B0604020202020204" pitchFamily="34" charset="0"/>
              </a:rPr>
              <a:t>对</a:t>
            </a:r>
            <a:r>
              <a:rPr lang="da-DK" altLang="zh-CN" b="1" dirty="0">
                <a:solidFill>
                  <a:srgbClr val="000099"/>
                </a:solidFill>
                <a:latin typeface="Arial" panose="020B0604020202020204" pitchFamily="34" charset="0"/>
              </a:rPr>
              <a:t>d</a:t>
            </a:r>
            <a:r>
              <a:rPr lang="zh-CN" altLang="da-DK" b="1" dirty="0">
                <a:solidFill>
                  <a:srgbClr val="000099"/>
                </a:solidFill>
                <a:latin typeface="Arial" panose="020B0604020202020204" pitchFamily="34" charset="0"/>
              </a:rPr>
              <a:t>的元素求积（连乘）</a:t>
            </a:r>
          </a:p>
          <a:p>
            <a:pPr algn="just"/>
            <a:r>
              <a:rPr lang="da-DK" altLang="zh-CN" dirty="0">
                <a:solidFill>
                  <a:srgbClr val="000000"/>
                </a:solidFill>
                <a:latin typeface="Lucida Sans Typewriter" pitchFamily="49" charset="0"/>
              </a:rPr>
              <a:t> </a:t>
            </a:r>
            <a:r>
              <a:rPr lang="da-DK" altLang="zh-CN" b="1" dirty="0">
                <a:solidFill>
                  <a:srgbClr val="000000"/>
                </a:solidFill>
                <a:latin typeface="Courier New" panose="02070309020205020404" pitchFamily="49" charset="0"/>
                <a:cs typeface="Courier New" panose="02070309020205020404" pitchFamily="49" charset="0"/>
              </a:rPr>
              <a:t>int</a:t>
            </a:r>
            <a:r>
              <a:rPr lang="da-DK" altLang="zh-CN" dirty="0">
                <a:solidFill>
                  <a:srgbClr val="000000"/>
                </a:solidFill>
                <a:latin typeface="Courier New" panose="02070309020205020404" pitchFamily="49" charset="0"/>
                <a:cs typeface="Courier New" panose="02070309020205020404" pitchFamily="49" charset="0"/>
              </a:rPr>
              <a:t> product=1;</a:t>
            </a:r>
          </a:p>
          <a:p>
            <a:pPr algn="just">
              <a:spcBef>
                <a:spcPts val="0"/>
              </a:spcBef>
            </a:pPr>
            <a:r>
              <a:rPr lang="da-DK" altLang="zh-CN" dirty="0">
                <a:solidFill>
                  <a:srgbClr val="000000"/>
                </a:solidFill>
                <a:latin typeface="Courier New" panose="02070309020205020404" pitchFamily="49" charset="0"/>
                <a:cs typeface="Courier New" panose="02070309020205020404" pitchFamily="49" charset="0"/>
              </a:rPr>
              <a:t> </a:t>
            </a:r>
            <a:r>
              <a:rPr lang="da-DK" altLang="zh-CN" b="1" dirty="0">
                <a:solidFill>
                  <a:srgbClr val="000000"/>
                </a:solidFill>
                <a:latin typeface="Courier New" panose="02070309020205020404" pitchFamily="49" charset="0"/>
                <a:cs typeface="Courier New" panose="02070309020205020404" pitchFamily="49" charset="0"/>
              </a:rPr>
              <a:t>for</a:t>
            </a:r>
            <a:r>
              <a:rPr lang="da-DK" altLang="zh-CN" dirty="0">
                <a:solidFill>
                  <a:srgbClr val="000000"/>
                </a:solidFill>
                <a:latin typeface="Courier New" panose="02070309020205020404" pitchFamily="49" charset="0"/>
                <a:cs typeface="Courier New" panose="02070309020205020404" pitchFamily="49" charset="0"/>
              </a:rPr>
              <a:t>(</a:t>
            </a:r>
            <a:r>
              <a:rPr lang="da-DK" altLang="zh-CN" b="1" dirty="0">
                <a:solidFill>
                  <a:srgbClr val="000000"/>
                </a:solidFill>
                <a:latin typeface="Courier New" panose="02070309020205020404" pitchFamily="49" charset="0"/>
                <a:cs typeface="Courier New" panose="02070309020205020404" pitchFamily="49" charset="0"/>
              </a:rPr>
              <a:t>int</a:t>
            </a:r>
            <a:r>
              <a:rPr lang="da-DK" altLang="zh-CN" dirty="0">
                <a:solidFill>
                  <a:srgbClr val="000000"/>
                </a:solidFill>
                <a:latin typeface="Courier New" panose="02070309020205020404" pitchFamily="49" charset="0"/>
                <a:cs typeface="Courier New" panose="02070309020205020404" pitchFamily="49" charset="0"/>
              </a:rPr>
              <a:t> i=0; i&lt;10; i++)</a:t>
            </a:r>
          </a:p>
          <a:p>
            <a:pPr algn="just">
              <a:spcBef>
                <a:spcPts val="0"/>
              </a:spcBef>
            </a:pPr>
            <a:r>
              <a:rPr lang="da-DK" altLang="zh-CN" dirty="0">
                <a:solidFill>
                  <a:srgbClr val="000000"/>
                </a:solidFill>
                <a:latin typeface="Courier New" panose="02070309020205020404" pitchFamily="49" charset="0"/>
                <a:cs typeface="Courier New" panose="02070309020205020404" pitchFamily="49" charset="0"/>
              </a:rPr>
              <a:t>   product*=d[i];</a:t>
            </a:r>
          </a:p>
        </p:txBody>
      </p:sp>
      <p:sp>
        <p:nvSpPr>
          <p:cNvPr id="6" name="矩形 5">
            <a:extLst>
              <a:ext uri="{FF2B5EF4-FFF2-40B4-BE49-F238E27FC236}">
                <a16:creationId xmlns:a16="http://schemas.microsoft.com/office/drawing/2014/main" id="{6174EF9D-485C-A42A-5A15-AA5E8EA28935}"/>
              </a:ext>
            </a:extLst>
          </p:cNvPr>
          <p:cNvSpPr/>
          <p:nvPr/>
        </p:nvSpPr>
        <p:spPr>
          <a:xfrm>
            <a:off x="6553776" y="866377"/>
            <a:ext cx="4754628" cy="5848350"/>
          </a:xfrm>
          <a:prstGeom prst="rect">
            <a:avLst/>
          </a:prstGeom>
          <a:noFill/>
          <a:ln w="9525">
            <a:noFill/>
          </a:ln>
          <a:effectLst>
            <a:prstShdw prst="shdw12" dir="16200000">
              <a:schemeClr val="bg2">
                <a:alpha val="50000"/>
              </a:schemeClr>
            </a:prstShdw>
          </a:effectLst>
        </p:spPr>
        <p:txBody>
          <a:bodyPr wrap="square">
            <a:spAutoFit/>
          </a:bodyPr>
          <a:lstStyle>
            <a:lvl1pPr marL="342900" lvl="0" indent="-342900" algn="l" defTabSz="914400" rtl="0" eaLnBrk="0" fontAlgn="base" latinLnBrk="0" hangingPunct="0">
              <a:lnSpc>
                <a:spcPct val="100000"/>
              </a:lnSpc>
              <a:spcBef>
                <a:spcPct val="20000"/>
              </a:spcBef>
              <a:spcAft>
                <a:spcPct val="0"/>
              </a:spcAft>
              <a:buClr>
                <a:schemeClr val="hlink"/>
              </a:buClr>
              <a:buFont typeface="Wingdings" panose="05000000000000000000" pitchFamily="2" charset="2"/>
              <a:buChar char="v"/>
              <a:defRPr sz="2800" b="1" u="none" kern="1200" baseline="0">
                <a:solidFill>
                  <a:srgbClr val="004182"/>
                </a:solidFill>
                <a:effectLst>
                  <a:outerShdw blurRad="38100" dist="38100" dir="2700000">
                    <a:srgbClr val="C0C0C0"/>
                  </a:outerShdw>
                </a:effectLst>
                <a:latin typeface="Verdana" panose="020B0604030504040204" pitchFamily="34" charset="0"/>
              </a:defRPr>
            </a:lvl1pPr>
            <a:lvl2pPr marL="742950" lvl="1" indent="-285750" algn="l" defTabSz="914400" rtl="0" eaLnBrk="0" fontAlgn="base" latinLnBrk="0" hangingPunct="0">
              <a:lnSpc>
                <a:spcPct val="100000"/>
              </a:lnSpc>
              <a:spcBef>
                <a:spcPct val="20000"/>
              </a:spcBef>
              <a:spcAft>
                <a:spcPct val="0"/>
              </a:spcAft>
              <a:buClr>
                <a:schemeClr val="accent1"/>
              </a:buClr>
              <a:buFont typeface="Wingdings" panose="05000000000000000000" pitchFamily="2" charset="2"/>
              <a:buChar char="§"/>
              <a:defRPr sz="2800" b="1" i="0" u="none" kern="1200" baseline="0">
                <a:solidFill>
                  <a:srgbClr val="004182"/>
                </a:solidFill>
                <a:effectLst>
                  <a:outerShdw blurRad="38100" dist="38100" dir="2700000">
                    <a:srgbClr val="C0C0C0"/>
                  </a:outerShdw>
                </a:effectLst>
                <a:latin typeface="Arial" panose="020B0604020202020204" pitchFamily="34" charset="0"/>
              </a:defRPr>
            </a:lvl2pPr>
            <a:lvl3pPr marL="1143000" lvl="2" indent="-228600" algn="l" defTabSz="914400" rtl="0" eaLnBrk="0" fontAlgn="base" latinLnBrk="0" hangingPunct="0">
              <a:lnSpc>
                <a:spcPct val="100000"/>
              </a:lnSpc>
              <a:spcBef>
                <a:spcPct val="20000"/>
              </a:spcBef>
              <a:spcAft>
                <a:spcPct val="0"/>
              </a:spcAft>
              <a:buClr>
                <a:schemeClr val="tx1"/>
              </a:buClr>
              <a:buFontTx/>
              <a:buChar char="•"/>
              <a:defRPr sz="2400" b="1" i="0" u="none" kern="1200" baseline="0">
                <a:solidFill>
                  <a:srgbClr val="004182"/>
                </a:solidFill>
                <a:effectLst>
                  <a:outerShdw blurRad="38100" dist="38100" dir="2700000">
                    <a:srgbClr val="C0C0C0"/>
                  </a:outerShdw>
                </a:effectLst>
                <a:latin typeface="Arial" panose="020B0604020202020204" pitchFamily="34" charset="0"/>
              </a:defRPr>
            </a:lvl3pPr>
            <a:lvl4pPr marL="1600200" lvl="3" indent="-228600" algn="l" defTabSz="914400" rtl="0" eaLnBrk="0" fontAlgn="base" latinLnBrk="0" hangingPunct="0">
              <a:lnSpc>
                <a:spcPct val="100000"/>
              </a:lnSpc>
              <a:spcBef>
                <a:spcPct val="20000"/>
              </a:spcBef>
              <a:spcAft>
                <a:spcPct val="0"/>
              </a:spcAft>
              <a:buFontTx/>
              <a:buChar char="–"/>
              <a:defRPr sz="2000" b="1" i="0" u="none" kern="1200" baseline="0">
                <a:solidFill>
                  <a:srgbClr val="004182"/>
                </a:solidFill>
                <a:effectLst>
                  <a:outerShdw blurRad="38100" dist="38100" dir="2700000">
                    <a:srgbClr val="C0C0C0"/>
                  </a:outerShdw>
                </a:effectLst>
                <a:latin typeface="Arial" panose="020B0604020202020204" pitchFamily="34" charset="0"/>
              </a:defRPr>
            </a:lvl4pPr>
            <a:lvl5pPr marL="2057400" lvl="4" indent="-228600" algn="l" defTabSz="914400" rtl="0" eaLnBrk="0" fontAlgn="base" latinLnBrk="0" hangingPunct="0">
              <a:lnSpc>
                <a:spcPct val="100000"/>
              </a:lnSpc>
              <a:spcBef>
                <a:spcPct val="20000"/>
              </a:spcBef>
              <a:spcAft>
                <a:spcPct val="0"/>
              </a:spcAft>
              <a:buFontTx/>
              <a:buChar char="»"/>
              <a:defRPr sz="2000" b="1" i="0" u="none" kern="1200" baseline="0">
                <a:solidFill>
                  <a:srgbClr val="004182"/>
                </a:solidFill>
                <a:effectLst>
                  <a:outerShdw blurRad="38100" dist="38100" dir="2700000">
                    <a:srgbClr val="C0C0C0"/>
                  </a:outerShdw>
                </a:effectLst>
                <a:latin typeface="Arial" panose="020B0604020202020204" pitchFamily="34" charset="0"/>
              </a:defRPr>
            </a:lvl5pPr>
          </a:lstStyle>
          <a:p>
            <a:pPr marL="0" indent="0" algn="just" eaLnBrk="1" hangingPunct="1">
              <a:spcBef>
                <a:spcPct val="0"/>
              </a:spcBef>
              <a:buClrTx/>
              <a:buNone/>
            </a:pPr>
            <a:r>
              <a:rPr lang="da-DK" altLang="zh-CN" sz="2400" dirty="0">
                <a:solidFill>
                  <a:srgbClr val="000099"/>
                </a:solidFill>
                <a:latin typeface="Arial" panose="020B0604020202020204" pitchFamily="34" charset="0"/>
              </a:rPr>
              <a:t>3. </a:t>
            </a:r>
            <a:r>
              <a:rPr lang="zh-CN" altLang="da-DK" sz="2400" dirty="0">
                <a:solidFill>
                  <a:srgbClr val="000099"/>
                </a:solidFill>
                <a:latin typeface="Arial" panose="020B0604020202020204" pitchFamily="34" charset="0"/>
              </a:rPr>
              <a:t>对</a:t>
            </a:r>
            <a:r>
              <a:rPr lang="da-DK" altLang="zh-CN" sz="2400" dirty="0">
                <a:solidFill>
                  <a:srgbClr val="000099"/>
                </a:solidFill>
                <a:latin typeface="Arial" panose="020B0604020202020204" pitchFamily="34" charset="0"/>
              </a:rPr>
              <a:t>d</a:t>
            </a:r>
            <a:r>
              <a:rPr lang="zh-CN" altLang="da-DK" sz="2400" dirty="0">
                <a:solidFill>
                  <a:srgbClr val="000099"/>
                </a:solidFill>
                <a:latin typeface="Arial" panose="020B0604020202020204" pitchFamily="34" charset="0"/>
              </a:rPr>
              <a:t>中下标为偶数的元素求和</a:t>
            </a:r>
          </a:p>
          <a:p>
            <a:pPr marL="0" algn="just">
              <a:lnSpc>
                <a:spcPct val="90000"/>
              </a:lnSpc>
              <a:buClrTx/>
              <a:buNone/>
            </a:pPr>
            <a:r>
              <a:rPr lang="da-DK" altLang="zh-CN" sz="2400" dirty="0">
                <a:solidFill>
                  <a:srgbClr val="000000"/>
                </a:solidFill>
                <a:latin typeface="Lucida Sans Typewriter" pitchFamily="49" charset="0"/>
              </a:rPr>
              <a:t> </a:t>
            </a:r>
            <a:r>
              <a:rPr lang="da-DK" altLang="zh-CN" sz="2400" dirty="0">
                <a:solidFill>
                  <a:srgbClr val="000000"/>
                </a:solidFill>
                <a:latin typeface="Courier New" panose="02070309020205020404" pitchFamily="49" charset="0"/>
                <a:ea typeface="+mn-ea"/>
                <a:cs typeface="Courier New" panose="02070309020205020404" pitchFamily="49" charset="0"/>
              </a:rPr>
              <a:t>int </a:t>
            </a:r>
            <a:r>
              <a:rPr lang="da-DK" altLang="zh-CN" sz="2400" b="0" dirty="0">
                <a:solidFill>
                  <a:srgbClr val="000000"/>
                </a:solidFill>
                <a:latin typeface="Courier New" panose="02070309020205020404" pitchFamily="49" charset="0"/>
                <a:ea typeface="+mn-ea"/>
                <a:cs typeface="Courier New" panose="02070309020205020404" pitchFamily="49" charset="0"/>
              </a:rPr>
              <a:t>sum2=0;</a:t>
            </a:r>
          </a:p>
          <a:p>
            <a:pPr marL="0" algn="just">
              <a:lnSpc>
                <a:spcPct val="90000"/>
              </a:lnSpc>
              <a:buClrTx/>
              <a:buNone/>
            </a:pPr>
            <a:r>
              <a:rPr lang="da-DK" altLang="zh-CN" sz="2400" dirty="0">
                <a:solidFill>
                  <a:srgbClr val="000000"/>
                </a:solidFill>
                <a:latin typeface="Courier New" panose="02070309020205020404" pitchFamily="49" charset="0"/>
                <a:ea typeface="+mn-ea"/>
                <a:cs typeface="Courier New" panose="02070309020205020404" pitchFamily="49" charset="0"/>
              </a:rPr>
              <a:t> for</a:t>
            </a:r>
            <a:r>
              <a:rPr lang="da-DK" altLang="zh-CN" sz="2400" b="0" dirty="0">
                <a:solidFill>
                  <a:srgbClr val="000000"/>
                </a:solidFill>
                <a:latin typeface="Courier New" panose="02070309020205020404" pitchFamily="49" charset="0"/>
                <a:cs typeface="Courier New" panose="02070309020205020404" pitchFamily="49" charset="0"/>
              </a:rPr>
              <a:t>(</a:t>
            </a:r>
            <a:r>
              <a:rPr lang="da-DK" altLang="zh-CN" sz="2400" dirty="0">
                <a:solidFill>
                  <a:srgbClr val="000000"/>
                </a:solidFill>
                <a:latin typeface="Courier New" panose="02070309020205020404" pitchFamily="49" charset="0"/>
                <a:ea typeface="+mn-ea"/>
                <a:cs typeface="Courier New" panose="02070309020205020404" pitchFamily="49" charset="0"/>
              </a:rPr>
              <a:t>int </a:t>
            </a:r>
            <a:r>
              <a:rPr lang="da-DK" altLang="zh-CN" sz="2400" b="0" dirty="0">
                <a:solidFill>
                  <a:srgbClr val="000000"/>
                </a:solidFill>
                <a:latin typeface="Courier New" panose="02070309020205020404" pitchFamily="49" charset="0"/>
                <a:cs typeface="Courier New" panose="02070309020205020404" pitchFamily="49" charset="0"/>
              </a:rPr>
              <a:t>i=0; i&lt;10; i+=2)</a:t>
            </a:r>
          </a:p>
          <a:p>
            <a:pPr marL="0" algn="just">
              <a:lnSpc>
                <a:spcPct val="90000"/>
              </a:lnSpc>
              <a:buClrTx/>
              <a:buNone/>
            </a:pPr>
            <a:r>
              <a:rPr lang="da-DK" altLang="zh-CN" sz="2400" dirty="0">
                <a:solidFill>
                  <a:srgbClr val="000000"/>
                </a:solidFill>
                <a:latin typeface="Courier New" panose="02070309020205020404" pitchFamily="49" charset="0"/>
                <a:ea typeface="+mn-ea"/>
                <a:cs typeface="Courier New" panose="02070309020205020404" pitchFamily="49" charset="0"/>
              </a:rPr>
              <a:t>   </a:t>
            </a:r>
            <a:r>
              <a:rPr lang="da-DK" altLang="zh-CN" sz="2400" b="0" dirty="0">
                <a:solidFill>
                  <a:srgbClr val="000000"/>
                </a:solidFill>
                <a:latin typeface="Courier New" panose="02070309020205020404" pitchFamily="49" charset="0"/>
                <a:cs typeface="Courier New" panose="02070309020205020404" pitchFamily="49" charset="0"/>
              </a:rPr>
              <a:t>sum2+=d[i];</a:t>
            </a:r>
          </a:p>
          <a:p>
            <a:pPr marL="0" indent="0" algn="just" eaLnBrk="1" hangingPunct="1">
              <a:lnSpc>
                <a:spcPct val="120000"/>
              </a:lnSpc>
              <a:spcBef>
                <a:spcPct val="0"/>
              </a:spcBef>
              <a:buClrTx/>
              <a:buNone/>
            </a:pPr>
            <a:r>
              <a:rPr lang="da-DK" altLang="zh-CN" sz="2400" dirty="0">
                <a:solidFill>
                  <a:srgbClr val="000099"/>
                </a:solidFill>
                <a:latin typeface="Arial" panose="020B0604020202020204" pitchFamily="34" charset="0"/>
              </a:rPr>
              <a:t>4. </a:t>
            </a:r>
            <a:r>
              <a:rPr lang="zh-CN" altLang="da-DK" sz="2400" dirty="0">
                <a:solidFill>
                  <a:srgbClr val="000099"/>
                </a:solidFill>
                <a:latin typeface="Arial" panose="020B0604020202020204" pitchFamily="34" charset="0"/>
              </a:rPr>
              <a:t>对</a:t>
            </a:r>
            <a:r>
              <a:rPr lang="da-DK" altLang="zh-CN" sz="2400" dirty="0">
                <a:solidFill>
                  <a:srgbClr val="000099"/>
                </a:solidFill>
                <a:latin typeface="Arial" panose="020B0604020202020204" pitchFamily="34" charset="0"/>
              </a:rPr>
              <a:t>d</a:t>
            </a:r>
            <a:r>
              <a:rPr lang="zh-CN" altLang="da-DK" sz="2400" dirty="0">
                <a:solidFill>
                  <a:srgbClr val="000099"/>
                </a:solidFill>
                <a:latin typeface="Arial" panose="020B0604020202020204" pitchFamily="34" charset="0"/>
              </a:rPr>
              <a:t>中下标为奇数的元素求和</a:t>
            </a:r>
          </a:p>
          <a:p>
            <a:pPr marL="0" algn="just">
              <a:lnSpc>
                <a:spcPct val="90000"/>
              </a:lnSpc>
              <a:buClrTx/>
              <a:buNone/>
            </a:pPr>
            <a:r>
              <a:rPr lang="da-DK" altLang="zh-CN" sz="2400" dirty="0">
                <a:solidFill>
                  <a:srgbClr val="000000"/>
                </a:solidFill>
                <a:latin typeface="Lucida Sans Typewriter" pitchFamily="49" charset="0"/>
              </a:rPr>
              <a:t> </a:t>
            </a:r>
            <a:r>
              <a:rPr lang="da-DK" altLang="zh-CN" sz="2400" dirty="0">
                <a:solidFill>
                  <a:srgbClr val="000000"/>
                </a:solidFill>
                <a:latin typeface="Courier New" panose="02070309020205020404" pitchFamily="49" charset="0"/>
                <a:ea typeface="+mn-ea"/>
                <a:cs typeface="Courier New" panose="02070309020205020404" pitchFamily="49" charset="0"/>
              </a:rPr>
              <a:t>int </a:t>
            </a:r>
            <a:r>
              <a:rPr lang="da-DK" altLang="zh-CN" sz="2400" b="0" dirty="0">
                <a:solidFill>
                  <a:srgbClr val="000000"/>
                </a:solidFill>
                <a:latin typeface="Courier New" panose="02070309020205020404" pitchFamily="49" charset="0"/>
                <a:cs typeface="Courier New" panose="02070309020205020404" pitchFamily="49" charset="0"/>
              </a:rPr>
              <a:t>sum1=0;</a:t>
            </a:r>
          </a:p>
          <a:p>
            <a:pPr marL="0" algn="just">
              <a:lnSpc>
                <a:spcPct val="90000"/>
              </a:lnSpc>
              <a:buClrTx/>
              <a:buNone/>
            </a:pPr>
            <a:r>
              <a:rPr lang="da-DK" altLang="zh-CN" sz="2400" dirty="0">
                <a:solidFill>
                  <a:srgbClr val="000000"/>
                </a:solidFill>
                <a:latin typeface="Courier New" panose="02070309020205020404" pitchFamily="49" charset="0"/>
                <a:ea typeface="+mn-ea"/>
                <a:cs typeface="Courier New" panose="02070309020205020404" pitchFamily="49" charset="0"/>
              </a:rPr>
              <a:t> for</a:t>
            </a:r>
            <a:r>
              <a:rPr lang="da-DK" altLang="zh-CN" sz="2400" b="0" dirty="0">
                <a:solidFill>
                  <a:srgbClr val="000000"/>
                </a:solidFill>
                <a:latin typeface="Courier New" panose="02070309020205020404" pitchFamily="49" charset="0"/>
                <a:cs typeface="Courier New" panose="02070309020205020404" pitchFamily="49" charset="0"/>
              </a:rPr>
              <a:t>(</a:t>
            </a:r>
            <a:r>
              <a:rPr lang="da-DK" altLang="zh-CN" sz="2400" dirty="0">
                <a:solidFill>
                  <a:srgbClr val="000000"/>
                </a:solidFill>
                <a:latin typeface="Courier New" panose="02070309020205020404" pitchFamily="49" charset="0"/>
                <a:ea typeface="+mn-ea"/>
                <a:cs typeface="Courier New" panose="02070309020205020404" pitchFamily="49" charset="0"/>
              </a:rPr>
              <a:t>int </a:t>
            </a:r>
            <a:r>
              <a:rPr lang="da-DK" altLang="zh-CN" sz="2400" b="0" dirty="0">
                <a:solidFill>
                  <a:srgbClr val="000000"/>
                </a:solidFill>
                <a:latin typeface="Courier New" panose="02070309020205020404" pitchFamily="49" charset="0"/>
                <a:cs typeface="Courier New" panose="02070309020205020404" pitchFamily="49" charset="0"/>
              </a:rPr>
              <a:t>i=1; i&lt;10; i+=2)</a:t>
            </a:r>
          </a:p>
          <a:p>
            <a:pPr marL="0" algn="just">
              <a:lnSpc>
                <a:spcPct val="90000"/>
              </a:lnSpc>
              <a:buClrTx/>
              <a:buNone/>
            </a:pPr>
            <a:r>
              <a:rPr lang="da-DK" altLang="zh-CN" sz="2400" dirty="0">
                <a:solidFill>
                  <a:srgbClr val="000000"/>
                </a:solidFill>
                <a:latin typeface="Courier New" panose="02070309020205020404" pitchFamily="49" charset="0"/>
                <a:ea typeface="+mn-ea"/>
                <a:cs typeface="Courier New" panose="02070309020205020404" pitchFamily="49" charset="0"/>
              </a:rPr>
              <a:t>   </a:t>
            </a:r>
            <a:r>
              <a:rPr lang="da-DK" altLang="zh-CN" sz="2400" b="0" dirty="0">
                <a:solidFill>
                  <a:srgbClr val="000000"/>
                </a:solidFill>
                <a:latin typeface="Courier New" panose="02070309020205020404" pitchFamily="49" charset="0"/>
                <a:cs typeface="Courier New" panose="02070309020205020404" pitchFamily="49" charset="0"/>
              </a:rPr>
              <a:t>sum1+=d[i];</a:t>
            </a:r>
          </a:p>
          <a:p>
            <a:pPr marL="0" indent="0" algn="just" eaLnBrk="1" hangingPunct="1">
              <a:lnSpc>
                <a:spcPct val="120000"/>
              </a:lnSpc>
              <a:spcBef>
                <a:spcPct val="0"/>
              </a:spcBef>
              <a:buClrTx/>
              <a:buNone/>
            </a:pPr>
            <a:r>
              <a:rPr lang="da-DK" altLang="zh-CN" sz="2400" dirty="0">
                <a:solidFill>
                  <a:srgbClr val="000099"/>
                </a:solidFill>
                <a:latin typeface="Arial" panose="020B0604020202020204" pitchFamily="34" charset="0"/>
              </a:rPr>
              <a:t>5. </a:t>
            </a:r>
            <a:r>
              <a:rPr lang="zh-CN" altLang="da-DK" sz="2400" dirty="0">
                <a:solidFill>
                  <a:srgbClr val="000099"/>
                </a:solidFill>
                <a:latin typeface="Arial" panose="020B0604020202020204" pitchFamily="34" charset="0"/>
              </a:rPr>
              <a:t>对</a:t>
            </a:r>
            <a:r>
              <a:rPr lang="da-DK" altLang="zh-CN" sz="2400" dirty="0">
                <a:solidFill>
                  <a:srgbClr val="000099"/>
                </a:solidFill>
                <a:latin typeface="Arial" panose="020B0604020202020204" pitchFamily="34" charset="0"/>
              </a:rPr>
              <a:t>d</a:t>
            </a:r>
            <a:r>
              <a:rPr lang="zh-CN" altLang="da-DK" sz="2400" dirty="0">
                <a:solidFill>
                  <a:srgbClr val="000099"/>
                </a:solidFill>
                <a:latin typeface="Arial" panose="020B0604020202020204" pitchFamily="34" charset="0"/>
              </a:rPr>
              <a:t>中每个元素求加上</a:t>
            </a:r>
            <a:r>
              <a:rPr lang="da-DK" altLang="zh-CN" sz="2400" dirty="0">
                <a:solidFill>
                  <a:srgbClr val="000099"/>
                </a:solidFill>
                <a:latin typeface="Arial" panose="020B0604020202020204" pitchFamily="34" charset="0"/>
              </a:rPr>
              <a:t>x</a:t>
            </a:r>
          </a:p>
          <a:p>
            <a:pPr marL="0" algn="just">
              <a:lnSpc>
                <a:spcPct val="90000"/>
              </a:lnSpc>
              <a:buClrTx/>
              <a:buNone/>
            </a:pPr>
            <a:r>
              <a:rPr lang="da-DK" altLang="zh-CN" sz="2400" dirty="0">
                <a:solidFill>
                  <a:srgbClr val="000000"/>
                </a:solidFill>
                <a:latin typeface="Lucida Sans Typewriter" pitchFamily="49" charset="0"/>
              </a:rPr>
              <a:t>  </a:t>
            </a:r>
            <a:r>
              <a:rPr lang="da-DK" altLang="zh-CN" sz="2400" dirty="0">
                <a:solidFill>
                  <a:srgbClr val="000000"/>
                </a:solidFill>
                <a:latin typeface="Courier New" panose="02070309020205020404" pitchFamily="49" charset="0"/>
                <a:ea typeface="+mn-ea"/>
                <a:cs typeface="Courier New" panose="02070309020205020404" pitchFamily="49" charset="0"/>
              </a:rPr>
              <a:t>for</a:t>
            </a:r>
            <a:r>
              <a:rPr lang="da-DK" altLang="zh-CN" sz="2400" b="0" dirty="0">
                <a:solidFill>
                  <a:srgbClr val="000000"/>
                </a:solidFill>
                <a:latin typeface="Courier New" panose="02070309020205020404" pitchFamily="49" charset="0"/>
                <a:cs typeface="Courier New" panose="02070309020205020404" pitchFamily="49" charset="0"/>
              </a:rPr>
              <a:t>(</a:t>
            </a:r>
            <a:r>
              <a:rPr lang="da-DK" altLang="zh-CN" sz="2400" dirty="0">
                <a:solidFill>
                  <a:srgbClr val="000000"/>
                </a:solidFill>
                <a:latin typeface="Courier New" panose="02070309020205020404" pitchFamily="49" charset="0"/>
                <a:ea typeface="+mn-ea"/>
                <a:cs typeface="Courier New" panose="02070309020205020404" pitchFamily="49" charset="0"/>
              </a:rPr>
              <a:t>int </a:t>
            </a:r>
            <a:r>
              <a:rPr lang="da-DK" altLang="zh-CN" sz="2400" b="0" dirty="0">
                <a:solidFill>
                  <a:srgbClr val="000000"/>
                </a:solidFill>
                <a:latin typeface="Courier New" panose="02070309020205020404" pitchFamily="49" charset="0"/>
                <a:cs typeface="Courier New" panose="02070309020205020404" pitchFamily="49" charset="0"/>
              </a:rPr>
              <a:t>i=0; i&lt;10; i++)</a:t>
            </a:r>
          </a:p>
          <a:p>
            <a:pPr marL="0" algn="just">
              <a:lnSpc>
                <a:spcPct val="90000"/>
              </a:lnSpc>
              <a:buClrTx/>
              <a:buNone/>
            </a:pPr>
            <a:r>
              <a:rPr lang="da-DK" altLang="zh-CN" sz="2400" dirty="0">
                <a:solidFill>
                  <a:srgbClr val="000000"/>
                </a:solidFill>
                <a:latin typeface="Courier New" panose="02070309020205020404" pitchFamily="49" charset="0"/>
                <a:ea typeface="+mn-ea"/>
                <a:cs typeface="Courier New" panose="02070309020205020404" pitchFamily="49" charset="0"/>
              </a:rPr>
              <a:t>   </a:t>
            </a:r>
            <a:r>
              <a:rPr lang="da-DK" altLang="zh-CN" sz="2400" b="0" dirty="0">
                <a:solidFill>
                  <a:srgbClr val="000000"/>
                </a:solidFill>
                <a:latin typeface="Courier New" panose="02070309020205020404" pitchFamily="49" charset="0"/>
                <a:cs typeface="Courier New" panose="02070309020205020404" pitchFamily="49" charset="0"/>
              </a:rPr>
              <a:t>d[i]+=x;</a:t>
            </a:r>
          </a:p>
          <a:p>
            <a:pPr marL="0" indent="0" algn="just" eaLnBrk="1" hangingPunct="1">
              <a:lnSpc>
                <a:spcPct val="120000"/>
              </a:lnSpc>
              <a:spcBef>
                <a:spcPct val="0"/>
              </a:spcBef>
              <a:buClrTx/>
              <a:buNone/>
            </a:pPr>
            <a:r>
              <a:rPr lang="da-DK" altLang="zh-CN" sz="2400" dirty="0">
                <a:solidFill>
                  <a:srgbClr val="000099"/>
                </a:solidFill>
                <a:latin typeface="Arial" panose="020B0604020202020204" pitchFamily="34" charset="0"/>
              </a:rPr>
              <a:t>6. </a:t>
            </a:r>
            <a:r>
              <a:rPr lang="zh-CN" altLang="da-DK" sz="2400" dirty="0">
                <a:solidFill>
                  <a:srgbClr val="000099"/>
                </a:solidFill>
                <a:latin typeface="Arial" panose="020B0604020202020204" pitchFamily="34" charset="0"/>
              </a:rPr>
              <a:t>对</a:t>
            </a:r>
            <a:r>
              <a:rPr lang="da-DK" altLang="zh-CN" sz="2400" dirty="0">
                <a:solidFill>
                  <a:srgbClr val="000099"/>
                </a:solidFill>
                <a:latin typeface="Arial" panose="020B0604020202020204" pitchFamily="34" charset="0"/>
              </a:rPr>
              <a:t>d</a:t>
            </a:r>
            <a:r>
              <a:rPr lang="zh-CN" altLang="da-DK" sz="2400" dirty="0">
                <a:solidFill>
                  <a:srgbClr val="000099"/>
                </a:solidFill>
                <a:latin typeface="Arial" panose="020B0604020202020204" pitchFamily="34" charset="0"/>
              </a:rPr>
              <a:t>中每个元素求减去</a:t>
            </a:r>
            <a:r>
              <a:rPr lang="da-DK" altLang="zh-CN" sz="2400" dirty="0">
                <a:solidFill>
                  <a:srgbClr val="000099"/>
                </a:solidFill>
                <a:latin typeface="Arial" panose="020B0604020202020204" pitchFamily="34" charset="0"/>
              </a:rPr>
              <a:t>x</a:t>
            </a:r>
          </a:p>
          <a:p>
            <a:pPr marL="0" algn="just">
              <a:lnSpc>
                <a:spcPct val="90000"/>
              </a:lnSpc>
              <a:buClrTx/>
              <a:buNone/>
            </a:pPr>
            <a:r>
              <a:rPr lang="da-DK" altLang="zh-CN" sz="2400" dirty="0">
                <a:solidFill>
                  <a:srgbClr val="000000"/>
                </a:solidFill>
                <a:latin typeface="Lucida Sans Typewriter" pitchFamily="49" charset="0"/>
              </a:rPr>
              <a:t> </a:t>
            </a:r>
            <a:r>
              <a:rPr lang="en-US" altLang="da-DK" sz="2400" dirty="0">
                <a:solidFill>
                  <a:srgbClr val="000000"/>
                </a:solidFill>
                <a:latin typeface="Lucida Sans Typewriter" pitchFamily="49" charset="0"/>
              </a:rPr>
              <a:t> </a:t>
            </a:r>
            <a:r>
              <a:rPr lang="da-DK" altLang="zh-CN" sz="2400" dirty="0">
                <a:solidFill>
                  <a:srgbClr val="000000"/>
                </a:solidFill>
                <a:latin typeface="Courier New" panose="02070309020205020404" pitchFamily="49" charset="0"/>
                <a:ea typeface="+mn-ea"/>
                <a:cs typeface="Courier New" panose="02070309020205020404" pitchFamily="49" charset="0"/>
              </a:rPr>
              <a:t>for</a:t>
            </a:r>
            <a:r>
              <a:rPr lang="da-DK" altLang="zh-CN" sz="2400" b="0" dirty="0">
                <a:solidFill>
                  <a:srgbClr val="000000"/>
                </a:solidFill>
                <a:latin typeface="Courier New" panose="02070309020205020404" pitchFamily="49" charset="0"/>
                <a:cs typeface="Courier New" panose="02070309020205020404" pitchFamily="49" charset="0"/>
              </a:rPr>
              <a:t>(</a:t>
            </a:r>
            <a:r>
              <a:rPr lang="da-DK" altLang="zh-CN" sz="2400" dirty="0">
                <a:solidFill>
                  <a:srgbClr val="000000"/>
                </a:solidFill>
                <a:latin typeface="Courier New" panose="02070309020205020404" pitchFamily="49" charset="0"/>
                <a:ea typeface="+mn-ea"/>
                <a:cs typeface="Courier New" panose="02070309020205020404" pitchFamily="49" charset="0"/>
              </a:rPr>
              <a:t>int </a:t>
            </a:r>
            <a:r>
              <a:rPr lang="da-DK" altLang="zh-CN" sz="2400" b="0" dirty="0">
                <a:solidFill>
                  <a:srgbClr val="000000"/>
                </a:solidFill>
                <a:latin typeface="Courier New" panose="02070309020205020404" pitchFamily="49" charset="0"/>
                <a:cs typeface="Courier New" panose="02070309020205020404" pitchFamily="49" charset="0"/>
              </a:rPr>
              <a:t>i=0; i&lt;10; i++)</a:t>
            </a:r>
          </a:p>
          <a:p>
            <a:pPr marL="0" algn="just">
              <a:lnSpc>
                <a:spcPct val="90000"/>
              </a:lnSpc>
              <a:buClrTx/>
              <a:buNone/>
            </a:pPr>
            <a:r>
              <a:rPr lang="da-DK" altLang="zh-CN" sz="2400" dirty="0">
                <a:solidFill>
                  <a:srgbClr val="000000"/>
                </a:solidFill>
                <a:latin typeface="Courier New" panose="02070309020205020404" pitchFamily="49" charset="0"/>
                <a:ea typeface="+mn-ea"/>
                <a:cs typeface="Courier New" panose="02070309020205020404" pitchFamily="49" charset="0"/>
              </a:rPr>
              <a:t>   </a:t>
            </a:r>
            <a:r>
              <a:rPr lang="da-DK" altLang="zh-CN" sz="2400" b="0" dirty="0">
                <a:solidFill>
                  <a:srgbClr val="000000"/>
                </a:solidFill>
                <a:latin typeface="Courier New" panose="02070309020205020404" pitchFamily="49" charset="0"/>
                <a:cs typeface="Courier New" panose="02070309020205020404" pitchFamily="49" charset="0"/>
              </a:rPr>
              <a:t>d[i]-=x;</a:t>
            </a:r>
          </a:p>
        </p:txBody>
      </p:sp>
      <p:sp>
        <p:nvSpPr>
          <p:cNvPr id="2" name="灯片编号占位符 1">
            <a:extLst>
              <a:ext uri="{FF2B5EF4-FFF2-40B4-BE49-F238E27FC236}">
                <a16:creationId xmlns:a16="http://schemas.microsoft.com/office/drawing/2014/main" id="{742480D3-0D23-2CF4-179E-E081E86CC077}"/>
              </a:ext>
            </a:extLst>
          </p:cNvPr>
          <p:cNvSpPr>
            <a:spLocks noGrp="1"/>
          </p:cNvSpPr>
          <p:nvPr>
            <p:ph type="sldNum" sz="quarter" idx="12"/>
          </p:nvPr>
        </p:nvSpPr>
        <p:spPr/>
        <p:txBody>
          <a:bodyPr/>
          <a:lstStyle/>
          <a:p>
            <a:fld id="{D7C0FE0B-717B-41AE-9FA2-CA4BF851D1C3}" type="slidenum">
              <a:rPr lang="zh-CN" altLang="en-US" smtClean="0"/>
              <a:t>8</a:t>
            </a:fld>
            <a:endParaRPr lang="zh-CN" altLang="en-US"/>
          </a:p>
        </p:txBody>
      </p:sp>
    </p:spTree>
    <p:extLst>
      <p:ext uri="{BB962C8B-B14F-4D97-AF65-F5344CB8AC3E}">
        <p14:creationId xmlns:p14="http://schemas.microsoft.com/office/powerpoint/2010/main" val="36643151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60770">
            <a:extLst>
              <a:ext uri="{FF2B5EF4-FFF2-40B4-BE49-F238E27FC236}">
                <a16:creationId xmlns:a16="http://schemas.microsoft.com/office/drawing/2014/main" id="{E35D549B-5F70-81E3-7590-15AEDAD4F37A}"/>
              </a:ext>
            </a:extLst>
          </p:cNvPr>
          <p:cNvSpPr txBox="1">
            <a:spLocks/>
          </p:cNvSpPr>
          <p:nvPr/>
        </p:nvSpPr>
        <p:spPr>
          <a:xfrm>
            <a:off x="1246761" y="136526"/>
            <a:ext cx="6754238" cy="753556"/>
          </a:xfrm>
          <a:prstGeom prst="rect">
            <a:avLst/>
          </a:prstGeom>
        </p:spPr>
        <p:txBody>
          <a:bodyPr vert="horz" lIns="91440" tIns="45720" rIns="91440" bIns="45720" rtlCol="0" anchor="ctr" anchorCtr="0">
            <a:normAutofit/>
          </a:bodyPr>
          <a:lstStyle>
            <a:defPPr>
              <a:defRPr lang="zh-CN"/>
            </a:defPPr>
            <a:lvl1pPr>
              <a:lnSpc>
                <a:spcPct val="90000"/>
              </a:lnSpc>
              <a:spcBef>
                <a:spcPct val="0"/>
              </a:spcBef>
              <a:buNone/>
              <a:defRPr sz="3200">
                <a:solidFill>
                  <a:srgbClr val="000099"/>
                </a:solidFill>
                <a:effectLst>
                  <a:outerShdw blurRad="38100" dist="38100" dir="2700000" algn="tl">
                    <a:srgbClr val="000000">
                      <a:alpha val="43137"/>
                    </a:srgbClr>
                  </a:outerShdw>
                </a:effectLst>
                <a:latin typeface="+mj-lt"/>
                <a:ea typeface="+mj-ea"/>
                <a:cs typeface="+mj-cs"/>
              </a:defRPr>
            </a:lvl1pPr>
          </a:lstStyle>
          <a:p>
            <a:r>
              <a:rPr lang="en-US" altLang="zh-CN" dirty="0"/>
              <a:t>1.0.3  </a:t>
            </a:r>
            <a:r>
              <a:rPr lang="zh-CN" altLang="en-US" dirty="0"/>
              <a:t>操作一维数组元素</a:t>
            </a:r>
          </a:p>
        </p:txBody>
      </p:sp>
      <p:sp>
        <p:nvSpPr>
          <p:cNvPr id="3" name="文本占位符 160769">
            <a:extLst>
              <a:ext uri="{FF2B5EF4-FFF2-40B4-BE49-F238E27FC236}">
                <a16:creationId xmlns:a16="http://schemas.microsoft.com/office/drawing/2014/main" id="{C6A01B48-98A2-5C51-5288-B2A30FF0C6C1}"/>
              </a:ext>
            </a:extLst>
          </p:cNvPr>
          <p:cNvSpPr txBox="1">
            <a:spLocks/>
          </p:cNvSpPr>
          <p:nvPr/>
        </p:nvSpPr>
        <p:spPr>
          <a:xfrm>
            <a:off x="1981200" y="1011678"/>
            <a:ext cx="5625830" cy="5404556"/>
          </a:xfrm>
          <a:prstGeom prst="rect">
            <a:avLst/>
          </a:prstGeom>
          <a:effectLst>
            <a:prstShdw prst="shdw12" dir="16200000">
              <a:schemeClr val="bg2">
                <a:alpha val="50000"/>
              </a:schemeClr>
            </a:prstShdw>
          </a:effectLst>
        </p:spPr>
        <p:txBody>
          <a:bodyPr vert="horz" wrap="square" lIns="91440" tIns="45720" rIns="91440" bIns="4572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600"/>
              </a:spcBef>
              <a:buFont typeface="Arial" panose="020B0604020202020204" pitchFamily="34" charset="0"/>
              <a:buNone/>
            </a:pPr>
            <a:r>
              <a:rPr lang="da-DK" altLang="zh-CN" sz="2400" b="1" dirty="0">
                <a:solidFill>
                  <a:srgbClr val="000099"/>
                </a:solidFill>
                <a:latin typeface="Arial" panose="020B0604020202020204" pitchFamily="34" charset="0"/>
              </a:rPr>
              <a:t>7. </a:t>
            </a:r>
            <a:r>
              <a:rPr lang="zh-CN" altLang="da-DK" sz="2400" b="1" dirty="0">
                <a:solidFill>
                  <a:srgbClr val="000099"/>
                </a:solidFill>
                <a:latin typeface="Arial" panose="020B0604020202020204" pitchFamily="34" charset="0"/>
              </a:rPr>
              <a:t>对</a:t>
            </a:r>
            <a:r>
              <a:rPr lang="da-DK" altLang="zh-CN" sz="2400" b="1" dirty="0">
                <a:solidFill>
                  <a:srgbClr val="000099"/>
                </a:solidFill>
                <a:latin typeface="Arial" panose="020B0604020202020204" pitchFamily="34" charset="0"/>
              </a:rPr>
              <a:t>d</a:t>
            </a:r>
            <a:r>
              <a:rPr lang="zh-CN" altLang="da-DK" sz="2400" b="1" dirty="0">
                <a:solidFill>
                  <a:srgbClr val="000099"/>
                </a:solidFill>
                <a:latin typeface="Arial" panose="020B0604020202020204" pitchFamily="34" charset="0"/>
              </a:rPr>
              <a:t>中每个元素求乘上</a:t>
            </a:r>
            <a:r>
              <a:rPr lang="da-DK" altLang="zh-CN" sz="2400" b="1" dirty="0">
                <a:solidFill>
                  <a:srgbClr val="000099"/>
                </a:solidFill>
                <a:latin typeface="Arial" panose="020B0604020202020204" pitchFamily="34" charset="0"/>
              </a:rPr>
              <a:t>x</a:t>
            </a:r>
          </a:p>
          <a:p>
            <a:pPr marL="0" indent="0" algn="just">
              <a:spcBef>
                <a:spcPts val="600"/>
              </a:spcBef>
              <a:buFont typeface="Arial" panose="020B0604020202020204" pitchFamily="34" charset="0"/>
              <a:buNone/>
            </a:pPr>
            <a:r>
              <a:rPr lang="da-DK" altLang="zh-CN" sz="2400" dirty="0">
                <a:solidFill>
                  <a:srgbClr val="000000"/>
                </a:solidFill>
                <a:latin typeface="Arial" panose="020B0604020202020204" pitchFamily="34" charset="0"/>
              </a:rPr>
              <a:t>   </a:t>
            </a:r>
            <a:r>
              <a:rPr lang="da-DK" altLang="zh-CN" sz="2400" dirty="0">
                <a:solidFill>
                  <a:srgbClr val="000000"/>
                </a:solidFill>
                <a:latin typeface="Courier New" panose="02070309020205020404" pitchFamily="49" charset="0"/>
                <a:cs typeface="Courier New" panose="02070309020205020404" pitchFamily="49" charset="0"/>
              </a:rPr>
              <a:t> </a:t>
            </a:r>
            <a:r>
              <a:rPr lang="da-DK" altLang="zh-CN" sz="2400" b="1" dirty="0">
                <a:solidFill>
                  <a:srgbClr val="000000"/>
                </a:solidFill>
                <a:latin typeface="Courier New" panose="02070309020205020404" pitchFamily="49" charset="0"/>
                <a:cs typeface="Courier New" panose="02070309020205020404" pitchFamily="49" charset="0"/>
              </a:rPr>
              <a:t>for</a:t>
            </a:r>
            <a:r>
              <a:rPr lang="da-DK" altLang="zh-CN" sz="2400" dirty="0">
                <a:solidFill>
                  <a:srgbClr val="000000"/>
                </a:solidFill>
                <a:latin typeface="Courier New" panose="02070309020205020404" pitchFamily="49" charset="0"/>
                <a:cs typeface="Courier New" panose="02070309020205020404" pitchFamily="49" charset="0"/>
              </a:rPr>
              <a:t>(</a:t>
            </a:r>
            <a:r>
              <a:rPr lang="da-DK" altLang="zh-CN" sz="2400" b="1" dirty="0">
                <a:solidFill>
                  <a:srgbClr val="000000"/>
                </a:solidFill>
                <a:latin typeface="Courier New" panose="02070309020205020404" pitchFamily="49" charset="0"/>
                <a:cs typeface="Courier New" panose="02070309020205020404" pitchFamily="49" charset="0"/>
              </a:rPr>
              <a:t>int</a:t>
            </a:r>
            <a:r>
              <a:rPr lang="da-DK" altLang="zh-CN" sz="2400" dirty="0">
                <a:solidFill>
                  <a:srgbClr val="000000"/>
                </a:solidFill>
                <a:latin typeface="Courier New" panose="02070309020205020404" pitchFamily="49" charset="0"/>
                <a:cs typeface="Courier New" panose="02070309020205020404" pitchFamily="49" charset="0"/>
              </a:rPr>
              <a:t> i=0; i&lt;10; i++)</a:t>
            </a:r>
          </a:p>
          <a:p>
            <a:pPr marL="0" indent="0" algn="just">
              <a:spcBef>
                <a:spcPct val="0"/>
              </a:spcBef>
              <a:spcAft>
                <a:spcPts val="600"/>
              </a:spcAft>
              <a:buFont typeface="Arial" panose="020B0604020202020204" pitchFamily="34" charset="0"/>
              <a:buNone/>
            </a:pPr>
            <a:r>
              <a:rPr lang="da-DK" altLang="zh-CN" sz="2400" dirty="0">
                <a:solidFill>
                  <a:srgbClr val="000000"/>
                </a:solidFill>
                <a:latin typeface="Courier New" panose="02070309020205020404" pitchFamily="49" charset="0"/>
                <a:cs typeface="Courier New" panose="02070309020205020404" pitchFamily="49" charset="0"/>
              </a:rPr>
              <a:t>    </a:t>
            </a:r>
            <a:r>
              <a:rPr lang="en-US" altLang="da-DK" sz="2400" dirty="0">
                <a:solidFill>
                  <a:srgbClr val="000000"/>
                </a:solidFill>
                <a:latin typeface="Courier New" panose="02070309020205020404" pitchFamily="49" charset="0"/>
                <a:cs typeface="Courier New" panose="02070309020205020404" pitchFamily="49" charset="0"/>
              </a:rPr>
              <a:t> </a:t>
            </a:r>
            <a:r>
              <a:rPr lang="da-DK" altLang="zh-CN" sz="2400" dirty="0">
                <a:solidFill>
                  <a:srgbClr val="000000"/>
                </a:solidFill>
                <a:latin typeface="Courier New" panose="02070309020205020404" pitchFamily="49" charset="0"/>
                <a:cs typeface="Courier New" panose="02070309020205020404" pitchFamily="49" charset="0"/>
              </a:rPr>
              <a:t>d[i]*=x;</a:t>
            </a:r>
          </a:p>
          <a:p>
            <a:pPr marL="0" indent="0" algn="just">
              <a:lnSpc>
                <a:spcPct val="100000"/>
              </a:lnSpc>
              <a:spcBef>
                <a:spcPct val="0"/>
              </a:spcBef>
              <a:buNone/>
            </a:pPr>
            <a:r>
              <a:rPr lang="da-DK" altLang="zh-CN" sz="2400" b="1" dirty="0">
                <a:solidFill>
                  <a:srgbClr val="000099"/>
                </a:solidFill>
                <a:latin typeface="Arial" panose="020B0604020202020204" pitchFamily="34" charset="0"/>
              </a:rPr>
              <a:t>8. </a:t>
            </a:r>
            <a:r>
              <a:rPr lang="zh-CN" altLang="da-DK" sz="2400" b="1" dirty="0">
                <a:solidFill>
                  <a:srgbClr val="000099"/>
                </a:solidFill>
                <a:latin typeface="Arial" panose="020B0604020202020204" pitchFamily="34" charset="0"/>
              </a:rPr>
              <a:t>对</a:t>
            </a:r>
            <a:r>
              <a:rPr lang="da-DK" altLang="zh-CN" sz="2400" b="1" dirty="0">
                <a:solidFill>
                  <a:srgbClr val="000099"/>
                </a:solidFill>
                <a:latin typeface="Arial" panose="020B0604020202020204" pitchFamily="34" charset="0"/>
              </a:rPr>
              <a:t>d</a:t>
            </a:r>
            <a:r>
              <a:rPr lang="zh-CN" altLang="da-DK" sz="2400" b="1" dirty="0">
                <a:solidFill>
                  <a:srgbClr val="000099"/>
                </a:solidFill>
                <a:latin typeface="Arial" panose="020B0604020202020204" pitchFamily="34" charset="0"/>
              </a:rPr>
              <a:t>中每个元素求除以</a:t>
            </a:r>
            <a:r>
              <a:rPr lang="da-DK" altLang="zh-CN" sz="2400" b="1" dirty="0">
                <a:solidFill>
                  <a:srgbClr val="000099"/>
                </a:solidFill>
                <a:latin typeface="Arial" panose="020B0604020202020204" pitchFamily="34" charset="0"/>
              </a:rPr>
              <a:t>x</a:t>
            </a:r>
          </a:p>
          <a:p>
            <a:pPr marL="0" algn="just">
              <a:spcBef>
                <a:spcPts val="600"/>
              </a:spcBef>
              <a:buFont typeface="Arial" panose="020B0604020202020204" pitchFamily="34" charset="0"/>
              <a:buNone/>
            </a:pPr>
            <a:r>
              <a:rPr lang="da-DK" altLang="zh-CN" sz="2400" dirty="0">
                <a:solidFill>
                  <a:srgbClr val="000000"/>
                </a:solidFill>
                <a:latin typeface="Arial" panose="020B0604020202020204" pitchFamily="34" charset="0"/>
              </a:rPr>
              <a:t>    </a:t>
            </a:r>
            <a:r>
              <a:rPr lang="da-DK" altLang="zh-CN" sz="2400" b="1" dirty="0">
                <a:solidFill>
                  <a:srgbClr val="000000"/>
                </a:solidFill>
                <a:latin typeface="Courier New" panose="02070309020205020404" pitchFamily="49" charset="0"/>
                <a:cs typeface="Courier New" panose="02070309020205020404" pitchFamily="49" charset="0"/>
              </a:rPr>
              <a:t>for</a:t>
            </a:r>
            <a:r>
              <a:rPr lang="da-DK" altLang="zh-CN" sz="2400" dirty="0">
                <a:solidFill>
                  <a:srgbClr val="000000"/>
                </a:solidFill>
                <a:latin typeface="Courier New" panose="02070309020205020404" pitchFamily="49" charset="0"/>
                <a:cs typeface="Courier New" panose="02070309020205020404" pitchFamily="49" charset="0"/>
              </a:rPr>
              <a:t>(</a:t>
            </a:r>
            <a:r>
              <a:rPr lang="da-DK" altLang="zh-CN" sz="2400" b="1" dirty="0">
                <a:solidFill>
                  <a:srgbClr val="000000"/>
                </a:solidFill>
                <a:latin typeface="Courier New" panose="02070309020205020404" pitchFamily="49" charset="0"/>
                <a:cs typeface="Courier New" panose="02070309020205020404" pitchFamily="49" charset="0"/>
              </a:rPr>
              <a:t>int</a:t>
            </a:r>
            <a:r>
              <a:rPr lang="da-DK" altLang="zh-CN" sz="2400" dirty="0">
                <a:solidFill>
                  <a:srgbClr val="000000"/>
                </a:solidFill>
                <a:latin typeface="Courier New" panose="02070309020205020404" pitchFamily="49" charset="0"/>
                <a:cs typeface="Courier New" panose="02070309020205020404" pitchFamily="49" charset="0"/>
              </a:rPr>
              <a:t> i=0; i&lt;10; i++)</a:t>
            </a:r>
          </a:p>
          <a:p>
            <a:pPr marL="0" algn="just">
              <a:spcBef>
                <a:spcPts val="0"/>
              </a:spcBef>
              <a:spcAft>
                <a:spcPts val="600"/>
              </a:spcAft>
              <a:buFont typeface="Arial" panose="020B0604020202020204" pitchFamily="34" charset="0"/>
              <a:buNone/>
            </a:pPr>
            <a:r>
              <a:rPr lang="da-DK" altLang="zh-CN" sz="2400" dirty="0">
                <a:solidFill>
                  <a:srgbClr val="000000"/>
                </a:solidFill>
                <a:latin typeface="Courier New" panose="02070309020205020404" pitchFamily="49" charset="0"/>
                <a:cs typeface="Courier New" panose="02070309020205020404" pitchFamily="49" charset="0"/>
              </a:rPr>
              <a:t>     d[i]/=x;</a:t>
            </a:r>
          </a:p>
          <a:p>
            <a:pPr marL="0" indent="0" algn="just">
              <a:lnSpc>
                <a:spcPct val="100000"/>
              </a:lnSpc>
              <a:spcBef>
                <a:spcPct val="0"/>
              </a:spcBef>
              <a:buNone/>
            </a:pPr>
            <a:r>
              <a:rPr lang="da-DK" altLang="zh-CN" sz="2400" b="1" dirty="0">
                <a:solidFill>
                  <a:srgbClr val="000099"/>
                </a:solidFill>
                <a:latin typeface="Arial" panose="020B0604020202020204" pitchFamily="34" charset="0"/>
              </a:rPr>
              <a:t>9. </a:t>
            </a:r>
            <a:r>
              <a:rPr lang="zh-CN" altLang="da-DK" sz="2400" b="1" dirty="0">
                <a:solidFill>
                  <a:srgbClr val="000099"/>
                </a:solidFill>
                <a:latin typeface="Arial" panose="020B0604020202020204" pitchFamily="34" charset="0"/>
              </a:rPr>
              <a:t>求</a:t>
            </a:r>
            <a:r>
              <a:rPr lang="da-DK" altLang="zh-CN" sz="2400" b="1" dirty="0">
                <a:solidFill>
                  <a:srgbClr val="000099"/>
                </a:solidFill>
                <a:latin typeface="Arial" panose="020B0604020202020204" pitchFamily="34" charset="0"/>
              </a:rPr>
              <a:t>d</a:t>
            </a:r>
            <a:r>
              <a:rPr lang="zh-CN" altLang="da-DK" sz="2400" b="1" dirty="0">
                <a:solidFill>
                  <a:srgbClr val="000099"/>
                </a:solidFill>
                <a:latin typeface="Arial" panose="020B0604020202020204" pitchFamily="34" charset="0"/>
              </a:rPr>
              <a:t>中元素的最大值</a:t>
            </a:r>
            <a:r>
              <a:rPr lang="da-DK" altLang="zh-CN" sz="2400" b="1" dirty="0">
                <a:solidFill>
                  <a:srgbClr val="000099"/>
                </a:solidFill>
                <a:latin typeface="Arial" panose="020B0604020202020204" pitchFamily="34" charset="0"/>
              </a:rPr>
              <a:t>max</a:t>
            </a:r>
          </a:p>
          <a:p>
            <a:pPr marL="0" algn="just">
              <a:spcBef>
                <a:spcPts val="600"/>
              </a:spcBef>
              <a:buFont typeface="Arial" panose="020B0604020202020204" pitchFamily="34" charset="0"/>
              <a:buNone/>
            </a:pPr>
            <a:r>
              <a:rPr lang="da-DK" altLang="zh-CN" sz="2400" dirty="0">
                <a:solidFill>
                  <a:srgbClr val="000000"/>
                </a:solidFill>
                <a:latin typeface="Arial" panose="020B0604020202020204" pitchFamily="34" charset="0"/>
              </a:rPr>
              <a:t>    </a:t>
            </a:r>
            <a:r>
              <a:rPr lang="da-DK" altLang="zh-CN" sz="2400" b="1" dirty="0">
                <a:solidFill>
                  <a:srgbClr val="000000"/>
                </a:solidFill>
                <a:latin typeface="Courier New" panose="02070309020205020404" pitchFamily="49" charset="0"/>
                <a:cs typeface="Courier New" panose="02070309020205020404" pitchFamily="49" charset="0"/>
              </a:rPr>
              <a:t>int</a:t>
            </a:r>
            <a:r>
              <a:rPr lang="da-DK" altLang="zh-CN" sz="2400" dirty="0">
                <a:solidFill>
                  <a:srgbClr val="000000"/>
                </a:solidFill>
                <a:latin typeface="Courier New" panose="02070309020205020404" pitchFamily="49" charset="0"/>
                <a:cs typeface="Courier New" panose="02070309020205020404" pitchFamily="49" charset="0"/>
              </a:rPr>
              <a:t> max=d[0]</a:t>
            </a:r>
          </a:p>
          <a:p>
            <a:pPr marL="0" algn="just">
              <a:spcBef>
                <a:spcPts val="0"/>
              </a:spcBef>
              <a:buFont typeface="Arial" panose="020B0604020202020204" pitchFamily="34" charset="0"/>
              <a:buNone/>
            </a:pPr>
            <a:r>
              <a:rPr lang="da-DK" altLang="zh-CN" sz="2400" dirty="0">
                <a:solidFill>
                  <a:srgbClr val="000000"/>
                </a:solidFill>
                <a:latin typeface="Courier New" panose="02070309020205020404" pitchFamily="49" charset="0"/>
                <a:cs typeface="Courier New" panose="02070309020205020404" pitchFamily="49" charset="0"/>
              </a:rPr>
              <a:t>  </a:t>
            </a:r>
            <a:r>
              <a:rPr lang="da-DK" altLang="zh-CN" sz="2400" b="1" dirty="0">
                <a:solidFill>
                  <a:srgbClr val="000000"/>
                </a:solidFill>
                <a:latin typeface="Courier New" panose="02070309020205020404" pitchFamily="49" charset="0"/>
                <a:cs typeface="Courier New" panose="02070309020205020404" pitchFamily="49" charset="0"/>
              </a:rPr>
              <a:t>for</a:t>
            </a:r>
            <a:r>
              <a:rPr lang="da-DK" altLang="zh-CN" sz="2400" dirty="0">
                <a:solidFill>
                  <a:srgbClr val="000000"/>
                </a:solidFill>
                <a:latin typeface="Courier New" panose="02070309020205020404" pitchFamily="49" charset="0"/>
                <a:cs typeface="Courier New" panose="02070309020205020404" pitchFamily="49" charset="0"/>
              </a:rPr>
              <a:t>(</a:t>
            </a:r>
            <a:r>
              <a:rPr lang="da-DK" altLang="zh-CN" sz="2400" b="1" dirty="0">
                <a:solidFill>
                  <a:srgbClr val="000000"/>
                </a:solidFill>
                <a:latin typeface="Courier New" panose="02070309020205020404" pitchFamily="49" charset="0"/>
                <a:cs typeface="Courier New" panose="02070309020205020404" pitchFamily="49" charset="0"/>
              </a:rPr>
              <a:t>int</a:t>
            </a:r>
            <a:r>
              <a:rPr lang="da-DK" altLang="zh-CN" sz="2400" dirty="0">
                <a:solidFill>
                  <a:srgbClr val="000000"/>
                </a:solidFill>
                <a:latin typeface="Courier New" panose="02070309020205020404" pitchFamily="49" charset="0"/>
                <a:cs typeface="Courier New" panose="02070309020205020404" pitchFamily="49" charset="0"/>
              </a:rPr>
              <a:t> i=1; i&lt;10; i++)</a:t>
            </a:r>
          </a:p>
          <a:p>
            <a:pPr marL="0" algn="just">
              <a:spcBef>
                <a:spcPts val="0"/>
              </a:spcBef>
              <a:spcAft>
                <a:spcPts val="600"/>
              </a:spcAft>
              <a:buFont typeface="Arial" panose="020B0604020202020204" pitchFamily="34" charset="0"/>
              <a:buNone/>
            </a:pPr>
            <a:r>
              <a:rPr lang="da-DK" altLang="zh-CN" sz="2400" dirty="0">
                <a:solidFill>
                  <a:srgbClr val="000000"/>
                </a:solidFill>
                <a:latin typeface="Courier New" panose="02070309020205020404" pitchFamily="49" charset="0"/>
                <a:cs typeface="Courier New" panose="02070309020205020404" pitchFamily="49" charset="0"/>
              </a:rPr>
              <a:t>     </a:t>
            </a:r>
            <a:r>
              <a:rPr lang="da-DK" altLang="zh-CN" sz="2400" b="1" dirty="0">
                <a:solidFill>
                  <a:srgbClr val="000000"/>
                </a:solidFill>
                <a:latin typeface="Courier New" panose="02070309020205020404" pitchFamily="49" charset="0"/>
                <a:cs typeface="Courier New" panose="02070309020205020404" pitchFamily="49" charset="0"/>
              </a:rPr>
              <a:t>if</a:t>
            </a:r>
            <a:r>
              <a:rPr lang="da-DK" altLang="zh-CN" sz="2400" dirty="0">
                <a:solidFill>
                  <a:srgbClr val="000000"/>
                </a:solidFill>
                <a:latin typeface="Courier New" panose="02070309020205020404" pitchFamily="49" charset="0"/>
                <a:cs typeface="Courier New" panose="02070309020205020404" pitchFamily="49" charset="0"/>
              </a:rPr>
              <a:t>(d[i]&gt;max)max=d[i];</a:t>
            </a:r>
          </a:p>
          <a:p>
            <a:pPr marL="0" indent="0" algn="just">
              <a:lnSpc>
                <a:spcPct val="100000"/>
              </a:lnSpc>
              <a:spcBef>
                <a:spcPct val="0"/>
              </a:spcBef>
              <a:buNone/>
            </a:pPr>
            <a:r>
              <a:rPr lang="en-US" altLang="zh-CN" sz="2400" b="1" dirty="0">
                <a:solidFill>
                  <a:srgbClr val="000099"/>
                </a:solidFill>
                <a:latin typeface="Arial" panose="020B0604020202020204" pitchFamily="34" charset="0"/>
              </a:rPr>
              <a:t>10. </a:t>
            </a:r>
            <a:r>
              <a:rPr lang="zh-CN" altLang="da-DK" sz="2400" b="1" dirty="0">
                <a:solidFill>
                  <a:srgbClr val="000099"/>
                </a:solidFill>
                <a:latin typeface="Arial" panose="020B0604020202020204" pitchFamily="34" charset="0"/>
              </a:rPr>
              <a:t>求</a:t>
            </a:r>
            <a:r>
              <a:rPr lang="en-US" altLang="zh-CN" sz="2400" b="1" dirty="0">
                <a:solidFill>
                  <a:srgbClr val="000099"/>
                </a:solidFill>
                <a:latin typeface="Arial" panose="020B0604020202020204" pitchFamily="34" charset="0"/>
              </a:rPr>
              <a:t>d</a:t>
            </a:r>
            <a:r>
              <a:rPr lang="zh-CN" altLang="da-DK" sz="2400" b="1" dirty="0">
                <a:solidFill>
                  <a:srgbClr val="000099"/>
                </a:solidFill>
                <a:latin typeface="Arial" panose="020B0604020202020204" pitchFamily="34" charset="0"/>
              </a:rPr>
              <a:t>中元素的最小值</a:t>
            </a:r>
            <a:r>
              <a:rPr lang="en-US" altLang="zh-CN" sz="2400" b="1" dirty="0">
                <a:solidFill>
                  <a:srgbClr val="000099"/>
                </a:solidFill>
                <a:latin typeface="Arial" panose="020B0604020202020204" pitchFamily="34" charset="0"/>
              </a:rPr>
              <a:t>min</a:t>
            </a:r>
            <a:endParaRPr lang="da-DK" altLang="zh-CN" sz="2400" b="1" dirty="0">
              <a:solidFill>
                <a:srgbClr val="000099"/>
              </a:solidFill>
              <a:latin typeface="Arial" panose="020B0604020202020204" pitchFamily="34" charset="0"/>
            </a:endParaRPr>
          </a:p>
          <a:p>
            <a:pPr marL="0" algn="just">
              <a:spcBef>
                <a:spcPts val="600"/>
              </a:spcBef>
              <a:buNone/>
            </a:pPr>
            <a:r>
              <a:rPr lang="da-DK" altLang="zh-CN" sz="2400" dirty="0">
                <a:solidFill>
                  <a:srgbClr val="000000"/>
                </a:solidFill>
                <a:latin typeface="Arial" panose="020B0604020202020204" pitchFamily="34" charset="0"/>
              </a:rPr>
              <a:t>    </a:t>
            </a:r>
            <a:r>
              <a:rPr lang="da-DK" altLang="zh-CN" sz="2400" b="1" dirty="0">
                <a:solidFill>
                  <a:srgbClr val="000000"/>
                </a:solidFill>
                <a:latin typeface="Courier New" panose="02070309020205020404" pitchFamily="49" charset="0"/>
                <a:cs typeface="Courier New" panose="02070309020205020404" pitchFamily="49" charset="0"/>
              </a:rPr>
              <a:t>int</a:t>
            </a:r>
            <a:r>
              <a:rPr lang="da-DK" altLang="zh-CN" sz="2400" dirty="0">
                <a:solidFill>
                  <a:srgbClr val="000000"/>
                </a:solidFill>
                <a:latin typeface="Courier New" panose="02070309020205020404" pitchFamily="49" charset="0"/>
                <a:cs typeface="Courier New" panose="02070309020205020404" pitchFamily="49" charset="0"/>
              </a:rPr>
              <a:t> min=d[0]</a:t>
            </a:r>
          </a:p>
          <a:p>
            <a:pPr marL="0" algn="just">
              <a:spcBef>
                <a:spcPts val="0"/>
              </a:spcBef>
              <a:buFont typeface="Arial" panose="020B0604020202020204" pitchFamily="34" charset="0"/>
              <a:buNone/>
            </a:pPr>
            <a:r>
              <a:rPr lang="da-DK" altLang="zh-CN" sz="2400" dirty="0">
                <a:solidFill>
                  <a:srgbClr val="000000"/>
                </a:solidFill>
                <a:latin typeface="Courier New" panose="02070309020205020404" pitchFamily="49" charset="0"/>
                <a:cs typeface="Courier New" panose="02070309020205020404" pitchFamily="49" charset="0"/>
              </a:rPr>
              <a:t>  </a:t>
            </a:r>
            <a:r>
              <a:rPr lang="da-DK" altLang="zh-CN" sz="2400" b="1" dirty="0">
                <a:solidFill>
                  <a:srgbClr val="000000"/>
                </a:solidFill>
                <a:latin typeface="Courier New" panose="02070309020205020404" pitchFamily="49" charset="0"/>
                <a:cs typeface="Courier New" panose="02070309020205020404" pitchFamily="49" charset="0"/>
              </a:rPr>
              <a:t>for</a:t>
            </a:r>
            <a:r>
              <a:rPr lang="da-DK" altLang="zh-CN" sz="2400" dirty="0">
                <a:solidFill>
                  <a:srgbClr val="000000"/>
                </a:solidFill>
                <a:latin typeface="Courier New" panose="02070309020205020404" pitchFamily="49" charset="0"/>
                <a:cs typeface="Courier New" panose="02070309020205020404" pitchFamily="49" charset="0"/>
              </a:rPr>
              <a:t>(</a:t>
            </a:r>
            <a:r>
              <a:rPr lang="da-DK" altLang="zh-CN" sz="2400" b="1" dirty="0">
                <a:solidFill>
                  <a:srgbClr val="000000"/>
                </a:solidFill>
                <a:latin typeface="Courier New" panose="02070309020205020404" pitchFamily="49" charset="0"/>
                <a:cs typeface="Courier New" panose="02070309020205020404" pitchFamily="49" charset="0"/>
              </a:rPr>
              <a:t>int</a:t>
            </a:r>
            <a:r>
              <a:rPr lang="da-DK" altLang="zh-CN" sz="2400" dirty="0">
                <a:solidFill>
                  <a:srgbClr val="000000"/>
                </a:solidFill>
                <a:latin typeface="Courier New" panose="02070309020205020404" pitchFamily="49" charset="0"/>
                <a:cs typeface="Courier New" panose="02070309020205020404" pitchFamily="49" charset="0"/>
              </a:rPr>
              <a:t> i=1; i&lt;10; i++)</a:t>
            </a:r>
          </a:p>
          <a:p>
            <a:pPr marL="0" algn="just">
              <a:spcBef>
                <a:spcPts val="0"/>
              </a:spcBef>
              <a:buFont typeface="Arial" panose="020B0604020202020204" pitchFamily="34" charset="0"/>
              <a:buNone/>
            </a:pPr>
            <a:r>
              <a:rPr lang="da-DK" altLang="zh-CN" sz="2400" dirty="0">
                <a:solidFill>
                  <a:srgbClr val="000000"/>
                </a:solidFill>
                <a:latin typeface="Courier New" panose="02070309020205020404" pitchFamily="49" charset="0"/>
                <a:cs typeface="Courier New" panose="02070309020205020404" pitchFamily="49" charset="0"/>
              </a:rPr>
              <a:t>     </a:t>
            </a:r>
            <a:r>
              <a:rPr lang="da-DK" altLang="zh-CN" sz="2400" b="1" dirty="0">
                <a:solidFill>
                  <a:srgbClr val="000000"/>
                </a:solidFill>
                <a:latin typeface="Courier New" panose="02070309020205020404" pitchFamily="49" charset="0"/>
                <a:cs typeface="Courier New" panose="02070309020205020404" pitchFamily="49" charset="0"/>
              </a:rPr>
              <a:t>if</a:t>
            </a:r>
            <a:r>
              <a:rPr lang="da-DK" altLang="zh-CN" sz="2400" dirty="0">
                <a:solidFill>
                  <a:srgbClr val="000000"/>
                </a:solidFill>
                <a:latin typeface="Courier New" panose="02070309020205020404" pitchFamily="49" charset="0"/>
                <a:cs typeface="Courier New" panose="02070309020205020404" pitchFamily="49" charset="0"/>
              </a:rPr>
              <a:t>(d[i]&lt;min)min=d[i];</a:t>
            </a:r>
          </a:p>
        </p:txBody>
      </p:sp>
      <p:sp>
        <p:nvSpPr>
          <p:cNvPr id="4" name="灯片编号占位符 3">
            <a:extLst>
              <a:ext uri="{FF2B5EF4-FFF2-40B4-BE49-F238E27FC236}">
                <a16:creationId xmlns:a16="http://schemas.microsoft.com/office/drawing/2014/main" id="{F55A5412-01CD-5C20-BDD4-E01111A79CC0}"/>
              </a:ext>
            </a:extLst>
          </p:cNvPr>
          <p:cNvSpPr>
            <a:spLocks noGrp="1"/>
          </p:cNvSpPr>
          <p:nvPr>
            <p:ph type="sldNum" sz="quarter" idx="12"/>
          </p:nvPr>
        </p:nvSpPr>
        <p:spPr/>
        <p:txBody>
          <a:bodyPr/>
          <a:lstStyle/>
          <a:p>
            <a:fld id="{D7C0FE0B-717B-41AE-9FA2-CA4BF851D1C3}" type="slidenum">
              <a:rPr lang="zh-CN" altLang="en-US" smtClean="0"/>
              <a:t>9</a:t>
            </a:fld>
            <a:endParaRPr lang="zh-CN" altLang="en-US"/>
          </a:p>
        </p:txBody>
      </p:sp>
    </p:spTree>
    <p:extLst>
      <p:ext uri="{BB962C8B-B14F-4D97-AF65-F5344CB8AC3E}">
        <p14:creationId xmlns:p14="http://schemas.microsoft.com/office/powerpoint/2010/main" val="3091016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D2EBCB49-2E96-3827-5B17-DA2C4DD4A897}"/>
              </a:ext>
            </a:extLst>
          </p:cNvPr>
          <p:cNvSpPr/>
          <p:nvPr/>
        </p:nvSpPr>
        <p:spPr>
          <a:xfrm>
            <a:off x="2045715" y="3913556"/>
            <a:ext cx="5347306" cy="1844407"/>
          </a:xfrm>
          <a:prstGeom prst="rect">
            <a:avLst/>
          </a:prstGeom>
          <a:solidFill>
            <a:schemeClr val="accent6">
              <a:lumMod val="20000"/>
              <a:lumOff val="80000"/>
            </a:schemeClr>
          </a:solidFill>
          <a:ln w="9525" cap="flat" cmpd="sng">
            <a:solidFill>
              <a:schemeClr val="tx1"/>
            </a:solidFill>
            <a:prstDash val="solid"/>
            <a:miter/>
            <a:headEnd type="none" w="med" len="med"/>
            <a:tailEnd type="none" w="med" len="med"/>
          </a:ln>
          <a:effectLst>
            <a:prstShdw prst="shdw12" dir="16200000">
              <a:schemeClr val="bg2">
                <a:alpha val="50000"/>
              </a:schemeClr>
            </a:prstShdw>
          </a:effectLst>
        </p:spPr>
        <p:txBody>
          <a:bodyPr/>
          <a:lstStyle>
            <a:defPPr>
              <a:defRPr lang="zh-CN"/>
            </a:defPPr>
            <a:lvl1pPr marL="0" lvl="0"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3" name="标题 161794">
            <a:extLst>
              <a:ext uri="{FF2B5EF4-FFF2-40B4-BE49-F238E27FC236}">
                <a16:creationId xmlns:a16="http://schemas.microsoft.com/office/drawing/2014/main" id="{321D66DB-72FB-A219-D1C4-9DFD448C1BD7}"/>
              </a:ext>
            </a:extLst>
          </p:cNvPr>
          <p:cNvSpPr>
            <a:spLocks noGrp="1"/>
          </p:cNvSpPr>
          <p:nvPr/>
        </p:nvSpPr>
        <p:spPr>
          <a:xfrm>
            <a:off x="1301178" y="129534"/>
            <a:ext cx="5459546" cy="737011"/>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200" dirty="0">
                <a:solidFill>
                  <a:srgbClr val="000099"/>
                </a:solidFill>
                <a:effectLst>
                  <a:outerShdw blurRad="38100" dist="38100" dir="2700000" algn="tl">
                    <a:srgbClr val="000000">
                      <a:alpha val="43137"/>
                    </a:srgbClr>
                  </a:outerShdw>
                </a:effectLst>
              </a:rPr>
              <a:t>1.0.4  </a:t>
            </a:r>
            <a:r>
              <a:rPr lang="zh-CN" altLang="en-US" sz="3200" dirty="0">
                <a:solidFill>
                  <a:srgbClr val="000099"/>
                </a:solidFill>
                <a:effectLst>
                  <a:outerShdw blurRad="38100" dist="38100" dir="2700000" algn="tl">
                    <a:srgbClr val="000000">
                      <a:alpha val="43137"/>
                    </a:srgbClr>
                  </a:outerShdw>
                </a:effectLst>
              </a:rPr>
              <a:t>序列的顺序存储结构</a:t>
            </a:r>
          </a:p>
        </p:txBody>
      </p:sp>
      <p:sp>
        <p:nvSpPr>
          <p:cNvPr id="4" name="文本占位符 161795">
            <a:extLst>
              <a:ext uri="{FF2B5EF4-FFF2-40B4-BE49-F238E27FC236}">
                <a16:creationId xmlns:a16="http://schemas.microsoft.com/office/drawing/2014/main" id="{942D8B35-D979-42AF-4002-A1BEBF779CEE}"/>
              </a:ext>
            </a:extLst>
          </p:cNvPr>
          <p:cNvSpPr>
            <a:spLocks noGrp="1"/>
          </p:cNvSpPr>
          <p:nvPr/>
        </p:nvSpPr>
        <p:spPr>
          <a:xfrm>
            <a:off x="1437363" y="1100037"/>
            <a:ext cx="9467343" cy="4684359"/>
          </a:xfrm>
          <a:prstGeom prst="rect">
            <a:avLst/>
          </a:prstGeom>
          <a:effectLst>
            <a:prstShdw prst="shdw12" dir="16200000">
              <a:schemeClr val="bg2">
                <a:alpha val="50000"/>
              </a:schemeClr>
            </a:prstShdw>
          </a:effectLst>
        </p:spPr>
        <p:txBody>
          <a:bodyPr vert="horz" wrap="square" lIns="91440" tIns="45720" rIns="91440" bIns="45720" rtlCol="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20000"/>
              </a:lnSpc>
              <a:spcBef>
                <a:spcPct val="0"/>
              </a:spcBef>
              <a:buClrTx/>
              <a:buNone/>
            </a:pPr>
            <a:r>
              <a:rPr lang="en-US" altLang="zh-CN" dirty="0">
                <a:solidFill>
                  <a:srgbClr val="000000"/>
                </a:solidFill>
                <a:latin typeface="Arial" panose="020B0604020202020204" pitchFamily="34" charset="0"/>
              </a:rPr>
              <a:t>       </a:t>
            </a:r>
            <a:r>
              <a:rPr lang="zh-CN" altLang="en-US" sz="2400" b="1" dirty="0">
                <a:solidFill>
                  <a:srgbClr val="000099"/>
                </a:solidFill>
                <a:latin typeface="Arial" panose="020B0604020202020204" pitchFamily="34" charset="0"/>
              </a:rPr>
              <a:t>可以用一维数组存储序列。但在许多情况下，需要作一些变通，才便于对序列的存储和各种操作。</a:t>
            </a:r>
          </a:p>
          <a:p>
            <a:pPr marL="0" indent="0" algn="just" fontAlgn="base">
              <a:lnSpc>
                <a:spcPct val="150000"/>
              </a:lnSpc>
              <a:spcBef>
                <a:spcPct val="0"/>
              </a:spcBef>
              <a:spcAft>
                <a:spcPct val="20000"/>
              </a:spcAft>
              <a:buClrTx/>
              <a:buNone/>
            </a:pPr>
            <a:r>
              <a:rPr lang="en-US" altLang="zh-CN" b="1" dirty="0">
                <a:solidFill>
                  <a:srgbClr val="A50021"/>
                </a:solidFill>
                <a:effectLst>
                  <a:outerShdw blurRad="38100" dist="38100" dir="2700000">
                    <a:srgbClr val="C0C0C0"/>
                  </a:outerShdw>
                </a:effectLst>
                <a:latin typeface="Calibri Light" panose="020F0302020204030204"/>
                <a:ea typeface="黑体" panose="02010609060101010101" pitchFamily="49" charset="-122"/>
                <a:cs typeface="Calibri Light" panose="020F0302020204030204"/>
              </a:rPr>
              <a:t>1.0.4.1  </a:t>
            </a:r>
            <a:r>
              <a:rPr lang="zh-CN" altLang="en-US" b="1" dirty="0">
                <a:solidFill>
                  <a:srgbClr val="A50021"/>
                </a:solidFill>
                <a:effectLst>
                  <a:outerShdw blurRad="38100" dist="38100" dir="2700000">
                    <a:srgbClr val="C0C0C0"/>
                  </a:outerShdw>
                </a:effectLst>
                <a:latin typeface="Calibri Light" panose="020F0302020204030204"/>
                <a:ea typeface="黑体" panose="02010609060101010101" pitchFamily="49" charset="-122"/>
                <a:cs typeface="Calibri Light" panose="020F0302020204030204"/>
              </a:rPr>
              <a:t>数组及其长度的封装</a:t>
            </a:r>
          </a:p>
          <a:p>
            <a:pPr marL="0" indent="0" algn="just">
              <a:lnSpc>
                <a:spcPct val="120000"/>
              </a:lnSpc>
              <a:spcBef>
                <a:spcPct val="0"/>
              </a:spcBef>
              <a:spcAft>
                <a:spcPct val="30000"/>
              </a:spcAft>
              <a:buClrTx/>
              <a:buNone/>
            </a:pPr>
            <a:r>
              <a:rPr lang="zh-CN" altLang="en-US" dirty="0">
                <a:solidFill>
                  <a:srgbClr val="000000"/>
                </a:solidFill>
                <a:latin typeface="Arial" panose="020B0604020202020204" pitchFamily="34" charset="0"/>
              </a:rPr>
              <a:t>       </a:t>
            </a:r>
            <a:r>
              <a:rPr lang="zh-CN" altLang="en-US" sz="2400" b="1" dirty="0">
                <a:solidFill>
                  <a:srgbClr val="000099"/>
                </a:solidFill>
                <a:latin typeface="Arial" panose="020B0604020202020204" pitchFamily="34" charset="0"/>
              </a:rPr>
              <a:t>当程序中有多个长度不尽相同的数组时，最好将每个数组与其长度封装为一个结构。</a:t>
            </a:r>
          </a:p>
          <a:p>
            <a:pPr marL="0" indent="0" algn="just">
              <a:lnSpc>
                <a:spcPct val="120000"/>
              </a:lnSpc>
              <a:spcBef>
                <a:spcPct val="0"/>
              </a:spcBef>
              <a:buClrTx/>
              <a:buNone/>
            </a:pPr>
            <a:r>
              <a:rPr lang="zh-CN" altLang="en-US" dirty="0">
                <a:solidFill>
                  <a:srgbClr val="000000"/>
                </a:solidFill>
                <a:latin typeface="Arial" panose="020B0604020202020204" pitchFamily="34" charset="0"/>
              </a:rPr>
              <a:t>      </a:t>
            </a:r>
            <a:r>
              <a:rPr lang="zh-CN" altLang="en-US" dirty="0">
                <a:solidFill>
                  <a:srgbClr val="000000"/>
                </a:solidFill>
                <a:latin typeface="Courier New" panose="02070309020205020404" pitchFamily="49" charset="0"/>
                <a:cs typeface="Courier New" panose="02070309020205020404" pitchFamily="49" charset="0"/>
              </a:rPr>
              <a:t> </a:t>
            </a:r>
            <a:r>
              <a:rPr lang="en-US" altLang="zh-CN" sz="2400" b="1" dirty="0">
                <a:solidFill>
                  <a:srgbClr val="000000"/>
                </a:solidFill>
                <a:latin typeface="Courier New" panose="02070309020205020404" pitchFamily="49" charset="0"/>
                <a:cs typeface="Courier New" panose="02070309020205020404" pitchFamily="49" charset="0"/>
              </a:rPr>
              <a:t>struct</a:t>
            </a:r>
            <a:r>
              <a:rPr lang="en-US" altLang="zh-CN" sz="2400" dirty="0">
                <a:solidFill>
                  <a:srgbClr val="000000"/>
                </a:solidFill>
                <a:latin typeface="Courier New" panose="02070309020205020404" pitchFamily="49" charset="0"/>
                <a:cs typeface="Courier New" panose="02070309020205020404" pitchFamily="49" charset="0"/>
              </a:rPr>
              <a:t> </a:t>
            </a:r>
            <a:r>
              <a:rPr lang="en-US" altLang="zh-CN" sz="2400" b="1" dirty="0">
                <a:solidFill>
                  <a:srgbClr val="000000"/>
                </a:solidFill>
                <a:latin typeface="Courier New" panose="02070309020205020404" pitchFamily="49" charset="0"/>
                <a:cs typeface="Courier New" panose="02070309020205020404" pitchFamily="49" charset="0"/>
              </a:rPr>
              <a:t>{</a:t>
            </a:r>
          </a:p>
          <a:p>
            <a:pPr marL="0" indent="0" algn="just">
              <a:lnSpc>
                <a:spcPct val="120000"/>
              </a:lnSpc>
              <a:spcBef>
                <a:spcPct val="0"/>
              </a:spcBef>
              <a:buClrTx/>
              <a:buNone/>
            </a:pPr>
            <a:r>
              <a:rPr lang="en-US" altLang="zh-CN" sz="2400" dirty="0">
                <a:solidFill>
                  <a:srgbClr val="000000"/>
                </a:solidFill>
                <a:latin typeface="Courier New" panose="02070309020205020404" pitchFamily="49" charset="0"/>
                <a:cs typeface="Courier New" panose="02070309020205020404" pitchFamily="49" charset="0"/>
              </a:rPr>
              <a:t>       </a:t>
            </a:r>
            <a:r>
              <a:rPr lang="en-US" altLang="zh-CN" sz="2400" dirty="0" err="1">
                <a:solidFill>
                  <a:srgbClr val="000000"/>
                </a:solidFill>
                <a:latin typeface="Courier New" panose="02070309020205020404" pitchFamily="49" charset="0"/>
                <a:cs typeface="Courier New" panose="02070309020205020404" pitchFamily="49" charset="0"/>
              </a:rPr>
              <a:t>ElemType</a:t>
            </a:r>
            <a:r>
              <a:rPr lang="en-US" altLang="zh-CN" sz="2400" dirty="0">
                <a:solidFill>
                  <a:srgbClr val="000000"/>
                </a:solidFill>
                <a:latin typeface="Courier New" panose="02070309020205020404" pitchFamily="49" charset="0"/>
                <a:cs typeface="Courier New" panose="02070309020205020404" pitchFamily="49" charset="0"/>
              </a:rPr>
              <a:t>  </a:t>
            </a:r>
            <a:r>
              <a:rPr lang="en-US" altLang="zh-CN" sz="2400" dirty="0" err="1">
                <a:solidFill>
                  <a:srgbClr val="000000"/>
                </a:solidFill>
                <a:latin typeface="Courier New" panose="02070309020205020404" pitchFamily="49" charset="0"/>
                <a:cs typeface="Courier New" panose="02070309020205020404" pitchFamily="49" charset="0"/>
              </a:rPr>
              <a:t>elem</a:t>
            </a:r>
            <a:r>
              <a:rPr lang="en-US" altLang="zh-CN" sz="2400" dirty="0">
                <a:solidFill>
                  <a:srgbClr val="000000"/>
                </a:solidFill>
                <a:latin typeface="Courier New" panose="02070309020205020404" pitchFamily="49" charset="0"/>
                <a:cs typeface="Courier New" panose="02070309020205020404" pitchFamily="49" charset="0"/>
              </a:rPr>
              <a:t>[N];</a:t>
            </a:r>
          </a:p>
          <a:p>
            <a:pPr marL="0" indent="0" algn="just">
              <a:lnSpc>
                <a:spcPct val="120000"/>
              </a:lnSpc>
              <a:spcBef>
                <a:spcPct val="0"/>
              </a:spcBef>
              <a:buClrTx/>
              <a:buNone/>
            </a:pPr>
            <a:r>
              <a:rPr lang="en-US" altLang="zh-CN" sz="2400" dirty="0">
                <a:solidFill>
                  <a:srgbClr val="000000"/>
                </a:solidFill>
                <a:latin typeface="Courier New" panose="02070309020205020404" pitchFamily="49" charset="0"/>
                <a:cs typeface="Courier New" panose="02070309020205020404" pitchFamily="49" charset="0"/>
              </a:rPr>
              <a:t>       </a:t>
            </a:r>
            <a:r>
              <a:rPr lang="en-US" altLang="zh-CN" sz="2400" b="1" dirty="0">
                <a:solidFill>
                  <a:srgbClr val="000000"/>
                </a:solidFill>
                <a:latin typeface="Courier New" panose="02070309020205020404" pitchFamily="49" charset="0"/>
                <a:cs typeface="Courier New" panose="02070309020205020404" pitchFamily="49" charset="0"/>
              </a:rPr>
              <a:t>int</a:t>
            </a:r>
            <a:r>
              <a:rPr lang="en-US" altLang="zh-CN" sz="2400" dirty="0">
                <a:solidFill>
                  <a:srgbClr val="000000"/>
                </a:solidFill>
                <a:latin typeface="Courier New" panose="02070309020205020404" pitchFamily="49" charset="0"/>
                <a:cs typeface="Courier New" panose="02070309020205020404" pitchFamily="49" charset="0"/>
              </a:rPr>
              <a:t>  length=N;</a:t>
            </a:r>
          </a:p>
          <a:p>
            <a:pPr marL="0" indent="0" algn="just">
              <a:lnSpc>
                <a:spcPct val="120000"/>
              </a:lnSpc>
              <a:spcBef>
                <a:spcPct val="0"/>
              </a:spcBef>
              <a:buClrTx/>
              <a:buNone/>
            </a:pPr>
            <a:r>
              <a:rPr lang="en-US" altLang="zh-CN" sz="2400" dirty="0">
                <a:solidFill>
                  <a:srgbClr val="000000"/>
                </a:solidFill>
                <a:latin typeface="Courier New" panose="02070309020205020404" pitchFamily="49" charset="0"/>
                <a:cs typeface="Courier New" panose="02070309020205020404" pitchFamily="49" charset="0"/>
              </a:rPr>
              <a:t>    </a:t>
            </a:r>
            <a:r>
              <a:rPr lang="en-US" altLang="zh-CN" sz="2400" b="1" dirty="0">
                <a:solidFill>
                  <a:srgbClr val="000000"/>
                </a:solidFill>
                <a:latin typeface="Courier New" panose="02070309020205020404" pitchFamily="49" charset="0"/>
                <a:cs typeface="Courier New" panose="02070309020205020404" pitchFamily="49" charset="0"/>
              </a:rPr>
              <a:t>}</a:t>
            </a:r>
            <a:r>
              <a:rPr lang="en-US" altLang="zh-CN" sz="2400" dirty="0">
                <a:solidFill>
                  <a:srgbClr val="000000"/>
                </a:solidFill>
                <a:latin typeface="Courier New" panose="02070309020205020404" pitchFamily="49" charset="0"/>
                <a:cs typeface="Courier New" panose="02070309020205020404" pitchFamily="49" charset="0"/>
              </a:rPr>
              <a:t> d;</a:t>
            </a:r>
            <a:endParaRPr lang="en-US" altLang="zh-CN" sz="2400" dirty="0">
              <a:solidFill>
                <a:srgbClr val="000000"/>
              </a:solidFill>
              <a:latin typeface="Courier New" panose="02070309020205020404" pitchFamily="49" charset="0"/>
              <a:ea typeface="Courier New" panose="02070309020205020404" pitchFamily="49" charset="0"/>
              <a:cs typeface="Courier New" panose="02070309020205020404" pitchFamily="49" charset="0"/>
            </a:endParaRPr>
          </a:p>
        </p:txBody>
      </p:sp>
      <p:sp>
        <p:nvSpPr>
          <p:cNvPr id="5" name="灯片编号占位符 4">
            <a:extLst>
              <a:ext uri="{FF2B5EF4-FFF2-40B4-BE49-F238E27FC236}">
                <a16:creationId xmlns:a16="http://schemas.microsoft.com/office/drawing/2014/main" id="{58320F7D-B225-3135-AFD3-52C0018FF6AB}"/>
              </a:ext>
            </a:extLst>
          </p:cNvPr>
          <p:cNvSpPr>
            <a:spLocks noGrp="1"/>
          </p:cNvSpPr>
          <p:nvPr>
            <p:ph type="sldNum" sz="quarter" idx="12"/>
          </p:nvPr>
        </p:nvSpPr>
        <p:spPr/>
        <p:txBody>
          <a:bodyPr/>
          <a:lstStyle/>
          <a:p>
            <a:fld id="{D7C0FE0B-717B-41AE-9FA2-CA4BF851D1C3}" type="slidenum">
              <a:rPr lang="zh-CN" altLang="en-US" smtClean="0"/>
              <a:t>10</a:t>
            </a:fld>
            <a:endParaRPr lang="zh-CN" altLang="en-US"/>
          </a:p>
        </p:txBody>
      </p:sp>
    </p:spTree>
    <p:extLst>
      <p:ext uri="{BB962C8B-B14F-4D97-AF65-F5344CB8AC3E}">
        <p14:creationId xmlns:p14="http://schemas.microsoft.com/office/powerpoint/2010/main" val="13176537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51F20335-B8FA-22B9-5EAB-207AA97CF5E9}"/>
              </a:ext>
            </a:extLst>
          </p:cNvPr>
          <p:cNvSpPr/>
          <p:nvPr/>
        </p:nvSpPr>
        <p:spPr>
          <a:xfrm>
            <a:off x="851171" y="3614738"/>
            <a:ext cx="10890114" cy="3058435"/>
          </a:xfrm>
          <a:prstGeom prst="rect">
            <a:avLst/>
          </a:prstGeom>
          <a:solidFill>
            <a:schemeClr val="accent6">
              <a:lumMod val="20000"/>
              <a:lumOff val="80000"/>
            </a:schemeClr>
          </a:solidFill>
          <a:ln w="9525" cap="flat" cmpd="sng">
            <a:solidFill>
              <a:schemeClr val="tx1"/>
            </a:solidFill>
            <a:prstDash val="solid"/>
            <a:miter/>
            <a:headEnd type="none" w="med" len="med"/>
            <a:tailEnd type="none" w="med" len="med"/>
          </a:ln>
          <a:effectLst>
            <a:prstShdw prst="shdw12" dir="16200000">
              <a:schemeClr val="bg2">
                <a:alpha val="50000"/>
              </a:schemeClr>
            </a:prstShdw>
          </a:effectLst>
        </p:spPr>
        <p:txBody>
          <a:bodyPr/>
          <a:lstStyle/>
          <a:p>
            <a:r>
              <a:rPr lang="en-US" altLang="zh-CN" sz="2400" dirty="0">
                <a:latin typeface="Courier New" panose="02070309020205020404" pitchFamily="49" charset="0"/>
                <a:cs typeface="Courier New" panose="02070309020205020404" pitchFamily="49" charset="0"/>
              </a:rPr>
              <a:t> Sequence </a:t>
            </a:r>
            <a:r>
              <a:rPr lang="en-US" altLang="zh-CN" sz="2400" dirty="0" err="1">
                <a:latin typeface="Courier New" panose="02070309020205020404" pitchFamily="49" charset="0"/>
                <a:cs typeface="Courier New" panose="02070309020205020404" pitchFamily="49" charset="0"/>
              </a:rPr>
              <a:t>InitSequence</a:t>
            </a:r>
            <a:r>
              <a:rPr lang="en-US" altLang="zh-CN" sz="2400" dirty="0">
                <a:latin typeface="Courier New" panose="02070309020205020404" pitchFamily="49" charset="0"/>
                <a:cs typeface="Courier New" panose="02070309020205020404" pitchFamily="49" charset="0"/>
              </a:rPr>
              <a:t>(</a:t>
            </a:r>
            <a:r>
              <a:rPr lang="en-US" altLang="zh-CN" sz="2400" b="1" dirty="0">
                <a:latin typeface="Courier New" panose="02070309020205020404" pitchFamily="49" charset="0"/>
                <a:cs typeface="Courier New" panose="02070309020205020404" pitchFamily="49" charset="0"/>
              </a:rPr>
              <a:t>int</a:t>
            </a:r>
            <a:r>
              <a:rPr lang="en-US" altLang="zh-CN" sz="2400" dirty="0">
                <a:latin typeface="Courier New" panose="02070309020205020404" pitchFamily="49" charset="0"/>
                <a:cs typeface="Courier New" panose="02070309020205020404" pitchFamily="49" charset="0"/>
              </a:rPr>
              <a:t> n) </a:t>
            </a:r>
            <a:r>
              <a:rPr lang="en-US" altLang="zh-CN" sz="2400" b="1" dirty="0">
                <a:latin typeface="Courier New" panose="02070309020205020404" pitchFamily="49" charset="0"/>
                <a:cs typeface="Courier New" panose="02070309020205020404" pitchFamily="49" charset="0"/>
              </a:rPr>
              <a:t>{</a:t>
            </a:r>
            <a:r>
              <a:rPr lang="en-US" altLang="zh-CN" sz="2400" dirty="0">
                <a:latin typeface="Courier New" panose="02070309020205020404" pitchFamily="49" charset="0"/>
                <a:cs typeface="Courier New" panose="02070309020205020404" pitchFamily="49" charset="0"/>
              </a:rPr>
              <a:t> </a:t>
            </a:r>
          </a:p>
          <a:p>
            <a:r>
              <a:rPr lang="en-US" altLang="zh-CN" sz="2400" dirty="0">
                <a:latin typeface="Courier New" panose="02070309020205020404" pitchFamily="49" charset="0"/>
                <a:cs typeface="Courier New" panose="02070309020205020404" pitchFamily="49" charset="0"/>
              </a:rPr>
              <a:t>   Sequence s;</a:t>
            </a:r>
          </a:p>
          <a:p>
            <a:r>
              <a:rPr lang="en-US" altLang="zh-CN" sz="2400" dirty="0">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if</a:t>
            </a:r>
            <a:r>
              <a:rPr lang="en-US" altLang="zh-CN" sz="2400" dirty="0">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a:t>
            </a:r>
            <a:r>
              <a:rPr lang="en-US" altLang="zh-CN" sz="2400" dirty="0">
                <a:latin typeface="Courier New" panose="02070309020205020404" pitchFamily="49" charset="0"/>
                <a:cs typeface="Courier New" panose="02070309020205020404" pitchFamily="49" charset="0"/>
              </a:rPr>
              <a:t>(s=(</a:t>
            </a:r>
            <a:r>
              <a:rPr lang="en-US" altLang="zh-CN" sz="2400" dirty="0">
                <a:solidFill>
                  <a:srgbClr val="000000"/>
                </a:solidFill>
                <a:latin typeface="Courier New" panose="02070309020205020404" pitchFamily="49" charset="0"/>
                <a:cs typeface="Courier New" panose="02070309020205020404" pitchFamily="49" charset="0"/>
              </a:rPr>
              <a:t>Sequence</a:t>
            </a:r>
            <a:r>
              <a:rPr lang="en-US" altLang="zh-CN" sz="2400" dirty="0">
                <a:latin typeface="Courier New" panose="02070309020205020404" pitchFamily="49" charset="0"/>
                <a:cs typeface="Courier New" panose="02070309020205020404" pitchFamily="49" charset="0"/>
              </a:rPr>
              <a:t>)</a:t>
            </a:r>
            <a:r>
              <a:rPr lang="en-US" altLang="zh-CN" sz="2400" b="1" dirty="0">
                <a:latin typeface="Courier New" panose="02070309020205020404" pitchFamily="49" charset="0"/>
                <a:cs typeface="Courier New" panose="02070309020205020404" pitchFamily="49" charset="0"/>
              </a:rPr>
              <a:t>malloc</a:t>
            </a:r>
            <a:r>
              <a:rPr lang="en-US" altLang="zh-CN" sz="2400"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sizeof</a:t>
            </a:r>
            <a:r>
              <a:rPr lang="en-US" altLang="zh-CN" sz="2400" dirty="0">
                <a:latin typeface="Courier New" panose="02070309020205020404" pitchFamily="49" charset="0"/>
                <a:cs typeface="Courier New" panose="02070309020205020404" pitchFamily="49" charset="0"/>
              </a:rPr>
              <a:t>(*s)))) </a:t>
            </a:r>
            <a:r>
              <a:rPr lang="en-US" altLang="zh-CN" sz="2400" b="1" dirty="0">
                <a:latin typeface="Courier New" panose="02070309020205020404" pitchFamily="49" charset="0"/>
                <a:cs typeface="Courier New" panose="02070309020205020404" pitchFamily="49" charset="0"/>
              </a:rPr>
              <a:t>exit</a:t>
            </a:r>
            <a:r>
              <a:rPr lang="en-US" altLang="zh-CN" sz="2400" dirty="0">
                <a:latin typeface="Courier New" panose="02070309020205020404" pitchFamily="49" charset="0"/>
                <a:cs typeface="Courier New" panose="02070309020205020404" pitchFamily="49" charset="0"/>
              </a:rPr>
              <a:t>(OVERFLOW);</a:t>
            </a:r>
          </a:p>
          <a:p>
            <a:r>
              <a:rPr lang="en-US" altLang="zh-CN" sz="2400" dirty="0">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if</a:t>
            </a:r>
            <a:r>
              <a:rPr lang="en-US" altLang="zh-CN" sz="2400" dirty="0">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a:t>
            </a:r>
            <a:r>
              <a:rPr lang="en-US" altLang="zh-CN" sz="2400" dirty="0">
                <a:latin typeface="Courier New" panose="02070309020205020404" pitchFamily="49" charset="0"/>
                <a:cs typeface="Courier New" panose="02070309020205020404" pitchFamily="49" charset="0"/>
              </a:rPr>
              <a:t>( s-&gt;</a:t>
            </a:r>
            <a:r>
              <a:rPr lang="en-US" altLang="zh-CN" sz="2400" dirty="0" err="1">
                <a:latin typeface="Courier New" panose="02070309020205020404" pitchFamily="49" charset="0"/>
                <a:cs typeface="Courier New" panose="02070309020205020404" pitchFamily="49" charset="0"/>
              </a:rPr>
              <a:t>elem</a:t>
            </a:r>
            <a:r>
              <a:rPr lang="en-US" altLang="zh-CN" sz="2400" dirty="0">
                <a:latin typeface="Courier New" panose="02070309020205020404" pitchFamily="49" charset="0"/>
                <a:cs typeface="Courier New" panose="02070309020205020404" pitchFamily="49" charset="0"/>
              </a:rPr>
              <a:t>=(</a:t>
            </a:r>
            <a:r>
              <a:rPr lang="en-US" altLang="zh-CN" sz="2400" dirty="0" err="1">
                <a:latin typeface="Courier New" panose="02070309020205020404" pitchFamily="49" charset="0"/>
                <a:cs typeface="Courier New" panose="02070309020205020404" pitchFamily="49" charset="0"/>
              </a:rPr>
              <a:t>ElemType</a:t>
            </a:r>
            <a:r>
              <a:rPr lang="en-US" altLang="zh-CN" sz="2400" dirty="0">
                <a:latin typeface="Courier New" panose="02070309020205020404" pitchFamily="49" charset="0"/>
                <a:cs typeface="Courier New" panose="02070309020205020404" pitchFamily="49" charset="0"/>
              </a:rPr>
              <a:t>*)</a:t>
            </a:r>
            <a:r>
              <a:rPr lang="en-US" altLang="zh-CN" sz="2400" b="1" dirty="0">
                <a:latin typeface="Courier New" panose="02070309020205020404" pitchFamily="49" charset="0"/>
                <a:cs typeface="Courier New" panose="02070309020205020404" pitchFamily="49" charset="0"/>
              </a:rPr>
              <a:t>malloc</a:t>
            </a:r>
            <a:r>
              <a:rPr lang="en-US" altLang="zh-CN" sz="2400" dirty="0">
                <a:latin typeface="Courier New" panose="02070309020205020404" pitchFamily="49" charset="0"/>
                <a:cs typeface="Courier New" panose="02070309020205020404" pitchFamily="49" charset="0"/>
              </a:rPr>
              <a:t>(n*</a:t>
            </a:r>
            <a:r>
              <a:rPr lang="en-US" altLang="zh-CN" sz="2400" b="1" dirty="0" err="1">
                <a:latin typeface="Courier New" panose="02070309020205020404" pitchFamily="49" charset="0"/>
                <a:cs typeface="Courier New" panose="02070309020205020404" pitchFamily="49" charset="0"/>
              </a:rPr>
              <a:t>sizeof</a:t>
            </a:r>
            <a:r>
              <a:rPr lang="en-US" altLang="zh-CN" sz="2400" dirty="0">
                <a:latin typeface="Courier New" panose="02070309020205020404" pitchFamily="49" charset="0"/>
                <a:cs typeface="Courier New" panose="02070309020205020404" pitchFamily="49" charset="0"/>
              </a:rPr>
              <a:t>(</a:t>
            </a:r>
            <a:r>
              <a:rPr lang="en-US" altLang="zh-CN" sz="2400" dirty="0" err="1">
                <a:latin typeface="Courier New" panose="02070309020205020404" pitchFamily="49" charset="0"/>
                <a:cs typeface="Courier New" panose="02070309020205020404" pitchFamily="49" charset="0"/>
              </a:rPr>
              <a:t>ElemType</a:t>
            </a:r>
            <a:r>
              <a:rPr lang="en-US" altLang="zh-CN" sz="2400" dirty="0">
                <a:latin typeface="Courier New" panose="02070309020205020404" pitchFamily="49" charset="0"/>
                <a:cs typeface="Courier New" panose="02070309020205020404" pitchFamily="49" charset="0"/>
              </a:rPr>
              <a:t>)))) </a:t>
            </a:r>
          </a:p>
          <a:p>
            <a:r>
              <a:rPr lang="en-US" altLang="zh-CN" sz="2400" b="1" dirty="0">
                <a:latin typeface="Courier New" panose="02070309020205020404" pitchFamily="49" charset="0"/>
                <a:cs typeface="Courier New" panose="02070309020205020404" pitchFamily="49" charset="0"/>
              </a:rPr>
              <a:t>      exit</a:t>
            </a:r>
            <a:r>
              <a:rPr lang="en-US" altLang="zh-CN" sz="2400" dirty="0">
                <a:latin typeface="Courier New" panose="02070309020205020404" pitchFamily="49" charset="0"/>
                <a:cs typeface="Courier New" panose="02070309020205020404" pitchFamily="49" charset="0"/>
              </a:rPr>
              <a:t>(OVERFLOW);</a:t>
            </a:r>
          </a:p>
          <a:p>
            <a:r>
              <a:rPr lang="en-US" altLang="zh-CN" sz="2400" dirty="0">
                <a:latin typeface="Courier New" panose="02070309020205020404" pitchFamily="49" charset="0"/>
                <a:cs typeface="Courier New" panose="02070309020205020404" pitchFamily="49" charset="0"/>
              </a:rPr>
              <a:t>   s-&gt;length=n;</a:t>
            </a:r>
          </a:p>
          <a:p>
            <a:r>
              <a:rPr lang="en-US" altLang="zh-CN" sz="2400" dirty="0">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return</a:t>
            </a:r>
            <a:r>
              <a:rPr lang="en-US" altLang="zh-CN" sz="2400" dirty="0">
                <a:latin typeface="Courier New" panose="02070309020205020404" pitchFamily="49" charset="0"/>
                <a:cs typeface="Courier New" panose="02070309020205020404" pitchFamily="49" charset="0"/>
              </a:rPr>
              <a:t> s;</a:t>
            </a:r>
          </a:p>
          <a:p>
            <a:r>
              <a:rPr lang="en-US" altLang="zh-CN" sz="2400" dirty="0">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a:t>
            </a:r>
          </a:p>
          <a:p>
            <a:endParaRPr lang="zh-CN" altLang="en-US" sz="2400" dirty="0">
              <a:latin typeface="Courier New" panose="02070309020205020404" pitchFamily="49" charset="0"/>
              <a:cs typeface="Courier New" panose="02070309020205020404" pitchFamily="49" charset="0"/>
            </a:endParaRPr>
          </a:p>
        </p:txBody>
      </p:sp>
      <p:sp>
        <p:nvSpPr>
          <p:cNvPr id="3" name="矩形 2">
            <a:extLst>
              <a:ext uri="{FF2B5EF4-FFF2-40B4-BE49-F238E27FC236}">
                <a16:creationId xmlns:a16="http://schemas.microsoft.com/office/drawing/2014/main" id="{B8D0CEED-247D-E9B5-AC4E-7F3FBC5D23F1}"/>
              </a:ext>
            </a:extLst>
          </p:cNvPr>
          <p:cNvSpPr/>
          <p:nvPr/>
        </p:nvSpPr>
        <p:spPr>
          <a:xfrm>
            <a:off x="7407613" y="1279187"/>
            <a:ext cx="4333672" cy="1614791"/>
          </a:xfrm>
          <a:prstGeom prst="rect">
            <a:avLst/>
          </a:prstGeom>
          <a:solidFill>
            <a:schemeClr val="accent6">
              <a:lumMod val="20000"/>
              <a:lumOff val="80000"/>
            </a:schemeClr>
          </a:solidFill>
          <a:ln w="9525" cap="flat" cmpd="sng">
            <a:solidFill>
              <a:schemeClr val="tx1"/>
            </a:solidFill>
            <a:prstDash val="solid"/>
            <a:miter/>
            <a:headEnd type="none" w="med" len="med"/>
            <a:tailEnd type="none" w="med" len="med"/>
          </a:ln>
          <a:effectLst>
            <a:prstShdw prst="shdw12" dir="16200000">
              <a:schemeClr val="bg2">
                <a:alpha val="50000"/>
              </a:schemeClr>
            </a:prstShdw>
          </a:effectLst>
        </p:spPr>
        <p:txBody>
          <a:bodyPr/>
          <a:lstStyle/>
          <a:p>
            <a:pPr algn="just">
              <a:spcBef>
                <a:spcPct val="0"/>
              </a:spcBef>
            </a:pPr>
            <a:r>
              <a:rPr lang="zh-CN" altLang="en-US" sz="2400" dirty="0">
                <a:solidFill>
                  <a:srgbClr val="000000"/>
                </a:solidFill>
                <a:latin typeface="Arial" panose="020B0604020202020204" pitchFamily="34" charset="0"/>
              </a:rPr>
              <a:t> </a:t>
            </a:r>
            <a:r>
              <a:rPr lang="en-US" altLang="zh-CN" sz="2400" b="1" dirty="0">
                <a:solidFill>
                  <a:srgbClr val="000000"/>
                </a:solidFill>
                <a:latin typeface="Courier New" panose="02070309020205020404" pitchFamily="49" charset="0"/>
                <a:cs typeface="Courier New" panose="02070309020205020404" pitchFamily="49" charset="0"/>
              </a:rPr>
              <a:t>typedef</a:t>
            </a:r>
            <a:r>
              <a:rPr lang="en-US" altLang="zh-CN" sz="2400" dirty="0">
                <a:solidFill>
                  <a:srgbClr val="000000"/>
                </a:solidFill>
                <a:latin typeface="Courier New" panose="02070309020205020404" pitchFamily="49" charset="0"/>
                <a:cs typeface="Courier New" panose="02070309020205020404" pitchFamily="49" charset="0"/>
              </a:rPr>
              <a:t> </a:t>
            </a:r>
            <a:r>
              <a:rPr lang="en-US" altLang="zh-CN" sz="2400" b="1" dirty="0">
                <a:solidFill>
                  <a:srgbClr val="000000"/>
                </a:solidFill>
                <a:latin typeface="Courier New" panose="02070309020205020404" pitchFamily="49" charset="0"/>
                <a:cs typeface="Courier New" panose="02070309020205020404" pitchFamily="49" charset="0"/>
              </a:rPr>
              <a:t>struct</a:t>
            </a:r>
            <a:r>
              <a:rPr lang="en-US" altLang="zh-CN" sz="2400" dirty="0">
                <a:solidFill>
                  <a:srgbClr val="000000"/>
                </a:solidFill>
                <a:latin typeface="Courier New" panose="02070309020205020404" pitchFamily="49" charset="0"/>
                <a:cs typeface="Courier New" panose="02070309020205020404" pitchFamily="49" charset="0"/>
              </a:rPr>
              <a:t> </a:t>
            </a:r>
            <a:r>
              <a:rPr lang="en-US" altLang="zh-CN" sz="2400" b="1" dirty="0">
                <a:solidFill>
                  <a:srgbClr val="000000"/>
                </a:solidFill>
                <a:latin typeface="Courier New" panose="02070309020205020404" pitchFamily="49" charset="0"/>
                <a:cs typeface="Courier New" panose="02070309020205020404" pitchFamily="49" charset="0"/>
              </a:rPr>
              <a:t>{</a:t>
            </a:r>
          </a:p>
          <a:p>
            <a:pPr algn="just">
              <a:spcBef>
                <a:spcPct val="0"/>
              </a:spcBef>
            </a:pPr>
            <a:r>
              <a:rPr lang="en-US" altLang="zh-CN" sz="2400" dirty="0">
                <a:solidFill>
                  <a:srgbClr val="000000"/>
                </a:solidFill>
                <a:latin typeface="Courier New" panose="02070309020205020404" pitchFamily="49" charset="0"/>
                <a:cs typeface="Courier New" panose="02070309020205020404" pitchFamily="49" charset="0"/>
              </a:rPr>
              <a:t>     </a:t>
            </a:r>
            <a:r>
              <a:rPr lang="en-US" altLang="zh-CN" sz="2400" dirty="0" err="1">
                <a:solidFill>
                  <a:srgbClr val="000000"/>
                </a:solidFill>
                <a:latin typeface="Courier New" panose="02070309020205020404" pitchFamily="49" charset="0"/>
                <a:cs typeface="Courier New" panose="02070309020205020404" pitchFamily="49" charset="0"/>
              </a:rPr>
              <a:t>ElemType</a:t>
            </a:r>
            <a:r>
              <a:rPr lang="en-US" altLang="zh-CN" sz="2400" dirty="0">
                <a:solidFill>
                  <a:srgbClr val="000000"/>
                </a:solidFill>
                <a:latin typeface="Courier New" panose="02070309020205020404" pitchFamily="49" charset="0"/>
                <a:cs typeface="Courier New" panose="02070309020205020404" pitchFamily="49" charset="0"/>
              </a:rPr>
              <a:t>  *</a:t>
            </a:r>
            <a:r>
              <a:rPr lang="en-US" altLang="zh-CN" sz="2400" dirty="0" err="1">
                <a:solidFill>
                  <a:srgbClr val="000000"/>
                </a:solidFill>
                <a:latin typeface="Courier New" panose="02070309020205020404" pitchFamily="49" charset="0"/>
                <a:cs typeface="Courier New" panose="02070309020205020404" pitchFamily="49" charset="0"/>
              </a:rPr>
              <a:t>elem</a:t>
            </a:r>
            <a:r>
              <a:rPr lang="en-US" altLang="zh-CN" sz="2400" dirty="0">
                <a:solidFill>
                  <a:srgbClr val="000000"/>
                </a:solidFill>
                <a:latin typeface="Courier New" panose="02070309020205020404" pitchFamily="49" charset="0"/>
                <a:cs typeface="Courier New" panose="02070309020205020404" pitchFamily="49" charset="0"/>
              </a:rPr>
              <a:t>;</a:t>
            </a:r>
          </a:p>
          <a:p>
            <a:pPr algn="just">
              <a:spcBef>
                <a:spcPct val="0"/>
              </a:spcBef>
            </a:pPr>
            <a:r>
              <a:rPr lang="en-US" altLang="zh-CN" sz="2400" dirty="0">
                <a:solidFill>
                  <a:srgbClr val="000000"/>
                </a:solidFill>
                <a:latin typeface="Courier New" panose="02070309020205020404" pitchFamily="49" charset="0"/>
                <a:cs typeface="Courier New" panose="02070309020205020404" pitchFamily="49" charset="0"/>
              </a:rPr>
              <a:t>     </a:t>
            </a:r>
            <a:r>
              <a:rPr lang="en-US" altLang="zh-CN" sz="2400" b="1" dirty="0">
                <a:solidFill>
                  <a:srgbClr val="000000"/>
                </a:solidFill>
                <a:latin typeface="Courier New" panose="02070309020205020404" pitchFamily="49" charset="0"/>
                <a:cs typeface="Courier New" panose="02070309020205020404" pitchFamily="49" charset="0"/>
              </a:rPr>
              <a:t>int</a:t>
            </a:r>
            <a:r>
              <a:rPr lang="en-US" altLang="zh-CN" sz="2400" dirty="0">
                <a:solidFill>
                  <a:srgbClr val="000000"/>
                </a:solidFill>
                <a:latin typeface="Courier New" panose="02070309020205020404" pitchFamily="49" charset="0"/>
                <a:cs typeface="Courier New" panose="02070309020205020404" pitchFamily="49" charset="0"/>
              </a:rPr>
              <a:t> length;</a:t>
            </a:r>
          </a:p>
          <a:p>
            <a:pPr algn="just">
              <a:spcBef>
                <a:spcPct val="0"/>
              </a:spcBef>
            </a:pPr>
            <a:r>
              <a:rPr lang="en-US" altLang="zh-CN" sz="2400" dirty="0">
                <a:solidFill>
                  <a:srgbClr val="000000"/>
                </a:solidFill>
                <a:latin typeface="Courier New" panose="02070309020205020404" pitchFamily="49" charset="0"/>
                <a:cs typeface="Courier New" panose="02070309020205020404" pitchFamily="49" charset="0"/>
              </a:rPr>
              <a:t>  </a:t>
            </a:r>
            <a:r>
              <a:rPr lang="en-US" altLang="zh-CN" sz="2400" b="1" dirty="0">
                <a:solidFill>
                  <a:srgbClr val="000000"/>
                </a:solidFill>
                <a:latin typeface="Courier New" panose="02070309020205020404" pitchFamily="49" charset="0"/>
                <a:cs typeface="Courier New" panose="02070309020205020404" pitchFamily="49" charset="0"/>
              </a:rPr>
              <a:t>}</a:t>
            </a:r>
            <a:r>
              <a:rPr lang="en-US" altLang="zh-CN" sz="2400" dirty="0">
                <a:solidFill>
                  <a:srgbClr val="000000"/>
                </a:solidFill>
                <a:latin typeface="Courier New" panose="02070309020205020404" pitchFamily="49" charset="0"/>
                <a:cs typeface="Courier New" panose="02070309020205020404" pitchFamily="49" charset="0"/>
              </a:rPr>
              <a:t> *Sequence;</a:t>
            </a:r>
            <a:endParaRPr lang="zh-CN" altLang="en-US" sz="2400" dirty="0"/>
          </a:p>
        </p:txBody>
      </p:sp>
      <p:sp>
        <p:nvSpPr>
          <p:cNvPr id="4" name="标题 162820">
            <a:extLst>
              <a:ext uri="{FF2B5EF4-FFF2-40B4-BE49-F238E27FC236}">
                <a16:creationId xmlns:a16="http://schemas.microsoft.com/office/drawing/2014/main" id="{902AD915-4EA1-C344-0C9E-FC1512E9AEB8}"/>
              </a:ext>
            </a:extLst>
          </p:cNvPr>
          <p:cNvSpPr txBox="1">
            <a:spLocks/>
          </p:cNvSpPr>
          <p:nvPr/>
        </p:nvSpPr>
        <p:spPr>
          <a:xfrm>
            <a:off x="1295400" y="143889"/>
            <a:ext cx="7396264" cy="680598"/>
          </a:xfrm>
          <a:prstGeom prst="rect">
            <a:avLst/>
          </a:prstGeom>
        </p:spPr>
        <p:txBody>
          <a:bodyPr vert="horz" lIns="91440" tIns="45720" rIns="91440" bIns="45720" rtlCol="0" anchor="ctr" anchorCtr="0">
            <a:normAutofit/>
          </a:bodyPr>
          <a:lstStyle>
            <a:defPPr>
              <a:defRPr lang="zh-CN"/>
            </a:defPPr>
            <a:lvl1pPr>
              <a:lnSpc>
                <a:spcPct val="90000"/>
              </a:lnSpc>
              <a:spcBef>
                <a:spcPct val="0"/>
              </a:spcBef>
              <a:buNone/>
              <a:defRPr sz="3200">
                <a:solidFill>
                  <a:srgbClr val="000099"/>
                </a:solidFill>
                <a:effectLst>
                  <a:outerShdw blurRad="38100" dist="38100" dir="2700000" algn="tl">
                    <a:srgbClr val="000000">
                      <a:alpha val="43137"/>
                    </a:srgbClr>
                  </a:outerShdw>
                </a:effectLst>
                <a:latin typeface="+mj-lt"/>
                <a:ea typeface="+mj-ea"/>
                <a:cs typeface="+mj-cs"/>
              </a:defRPr>
            </a:lvl1pPr>
          </a:lstStyle>
          <a:p>
            <a:r>
              <a:rPr lang="en-US" altLang="zh-CN" dirty="0"/>
              <a:t>1.0.4  </a:t>
            </a:r>
            <a:r>
              <a:rPr lang="zh-CN" altLang="en-US" dirty="0"/>
              <a:t>序列的顺序存储结构</a:t>
            </a:r>
          </a:p>
        </p:txBody>
      </p:sp>
      <p:sp>
        <p:nvSpPr>
          <p:cNvPr id="5" name="文本占位符 162819">
            <a:extLst>
              <a:ext uri="{FF2B5EF4-FFF2-40B4-BE49-F238E27FC236}">
                <a16:creationId xmlns:a16="http://schemas.microsoft.com/office/drawing/2014/main" id="{04E7B945-BA96-905E-3160-9A3D7FE44A70}"/>
              </a:ext>
            </a:extLst>
          </p:cNvPr>
          <p:cNvSpPr txBox="1">
            <a:spLocks/>
          </p:cNvSpPr>
          <p:nvPr/>
        </p:nvSpPr>
        <p:spPr>
          <a:xfrm>
            <a:off x="737497" y="824487"/>
            <a:ext cx="9379270" cy="2707472"/>
          </a:xfrm>
          <a:prstGeom prst="rect">
            <a:avLst/>
          </a:prstGeom>
          <a:effectLst>
            <a:prstShdw prst="shdw12" dir="16200000">
              <a:schemeClr val="bg2">
                <a:alpha val="50000"/>
              </a:schemeClr>
            </a:prstShdw>
          </a:effectLst>
        </p:spPr>
        <p:txBody>
          <a:bodyPr vert="horz" wrap="square" lIns="91440" tIns="45720" rIns="91440" bIns="4572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fontAlgn="base">
              <a:lnSpc>
                <a:spcPct val="150000"/>
              </a:lnSpc>
              <a:spcBef>
                <a:spcPct val="0"/>
              </a:spcBef>
              <a:spcAft>
                <a:spcPct val="20000"/>
              </a:spcAft>
              <a:buNone/>
            </a:pPr>
            <a:r>
              <a:rPr lang="en-US" altLang="zh-CN" b="1" dirty="0">
                <a:solidFill>
                  <a:srgbClr val="A50021"/>
                </a:solidFill>
                <a:effectLst>
                  <a:outerShdw blurRad="38100" dist="38100" dir="2700000">
                    <a:srgbClr val="C0C0C0"/>
                  </a:outerShdw>
                </a:effectLst>
                <a:latin typeface="Calibri Light" panose="020F0302020204030204"/>
                <a:ea typeface="黑体" panose="02010609060101010101" pitchFamily="49" charset="-122"/>
                <a:cs typeface="Calibri Light" panose="020F0302020204030204"/>
              </a:rPr>
              <a:t>1.0.4.2  </a:t>
            </a:r>
            <a:r>
              <a:rPr lang="zh-CN" altLang="en-US" b="1" dirty="0">
                <a:solidFill>
                  <a:srgbClr val="A50021"/>
                </a:solidFill>
                <a:effectLst>
                  <a:outerShdw blurRad="38100" dist="38100" dir="2700000">
                    <a:srgbClr val="C0C0C0"/>
                  </a:outerShdw>
                </a:effectLst>
                <a:latin typeface="Calibri Light" panose="020F0302020204030204"/>
                <a:ea typeface="黑体" panose="02010609060101010101" pitchFamily="49" charset="-122"/>
                <a:cs typeface="Calibri Light" panose="020F0302020204030204"/>
              </a:rPr>
              <a:t>长度待定序列的存储结构</a:t>
            </a:r>
          </a:p>
          <a:p>
            <a:pPr marL="0" indent="0" algn="just">
              <a:lnSpc>
                <a:spcPct val="120000"/>
              </a:lnSpc>
              <a:spcBef>
                <a:spcPct val="0"/>
              </a:spcBef>
              <a:buFont typeface="Arial" panose="020B0604020202020204" pitchFamily="34" charset="0"/>
              <a:buNone/>
            </a:pPr>
            <a:r>
              <a:rPr lang="zh-CN" altLang="en-US" sz="2400" dirty="0">
                <a:solidFill>
                  <a:srgbClr val="000099"/>
                </a:solidFill>
                <a:latin typeface="Arial" panose="020B0604020202020204" pitchFamily="34" charset="0"/>
              </a:rPr>
              <a:t>        </a:t>
            </a:r>
            <a:r>
              <a:rPr lang="zh-CN" altLang="en-US" sz="2400" b="1" dirty="0">
                <a:solidFill>
                  <a:srgbClr val="000099"/>
                </a:solidFill>
                <a:latin typeface="Arial" panose="020B0604020202020204" pitchFamily="34" charset="0"/>
              </a:rPr>
              <a:t>当序列的长度待定时，可将其元素的存储</a:t>
            </a:r>
            <a:endParaRPr lang="en-US" altLang="zh-CN" sz="2400" b="1" dirty="0">
              <a:solidFill>
                <a:srgbClr val="000099"/>
              </a:solidFill>
              <a:latin typeface="Arial" panose="020B0604020202020204" pitchFamily="34" charset="0"/>
            </a:endParaRPr>
          </a:p>
          <a:p>
            <a:pPr marL="0" indent="0" algn="just">
              <a:lnSpc>
                <a:spcPct val="120000"/>
              </a:lnSpc>
              <a:spcBef>
                <a:spcPct val="0"/>
              </a:spcBef>
              <a:buFont typeface="Arial" panose="020B0604020202020204" pitchFamily="34" charset="0"/>
              <a:buNone/>
            </a:pPr>
            <a:r>
              <a:rPr lang="zh-CN" altLang="en-US" sz="2400" b="1" dirty="0">
                <a:solidFill>
                  <a:srgbClr val="000099"/>
                </a:solidFill>
                <a:latin typeface="Arial" panose="020B0604020202020204" pitchFamily="34" charset="0"/>
              </a:rPr>
              <a:t>空间动态分配，并与其长度封装为一个记录。</a:t>
            </a:r>
            <a:endParaRPr lang="en-US" altLang="zh-CN" sz="2400" b="1" dirty="0">
              <a:solidFill>
                <a:srgbClr val="000099"/>
              </a:solidFill>
              <a:latin typeface="Arial" panose="020B0604020202020204" pitchFamily="34" charset="0"/>
            </a:endParaRPr>
          </a:p>
          <a:p>
            <a:pPr marL="0" indent="0" algn="just">
              <a:lnSpc>
                <a:spcPct val="120000"/>
              </a:lnSpc>
              <a:spcBef>
                <a:spcPct val="0"/>
              </a:spcBef>
              <a:buFont typeface="Arial" panose="020B0604020202020204" pitchFamily="34" charset="0"/>
              <a:buNone/>
            </a:pPr>
            <a:r>
              <a:rPr lang="zh-CN" altLang="en-US" sz="2400" b="1" dirty="0">
                <a:solidFill>
                  <a:srgbClr val="000099"/>
                </a:solidFill>
                <a:latin typeface="Arial" panose="020B0604020202020204" pitchFamily="34" charset="0"/>
              </a:rPr>
              <a:t>右边是一个序列的典型存储结构的类型定义：</a:t>
            </a:r>
          </a:p>
          <a:p>
            <a:pPr marL="0" indent="0" algn="just">
              <a:lnSpc>
                <a:spcPct val="120000"/>
              </a:lnSpc>
              <a:spcBef>
                <a:spcPts val="1200"/>
              </a:spcBef>
              <a:spcAft>
                <a:spcPts val="1200"/>
              </a:spcAft>
              <a:buFont typeface="Arial" panose="020B0604020202020204" pitchFamily="34" charset="0"/>
              <a:buNone/>
            </a:pPr>
            <a:r>
              <a:rPr lang="zh-CN" altLang="en-US" sz="2400" b="1" dirty="0">
                <a:solidFill>
                  <a:srgbClr val="000099"/>
                </a:solidFill>
                <a:latin typeface="Arial" panose="020B0604020202020204" pitchFamily="34" charset="0"/>
              </a:rPr>
              <a:t>声明一个序列变量时，启用前需要对其分配存储空间。</a:t>
            </a:r>
          </a:p>
        </p:txBody>
      </p:sp>
      <p:sp>
        <p:nvSpPr>
          <p:cNvPr id="6" name="灯片编号占位符 5">
            <a:extLst>
              <a:ext uri="{FF2B5EF4-FFF2-40B4-BE49-F238E27FC236}">
                <a16:creationId xmlns:a16="http://schemas.microsoft.com/office/drawing/2014/main" id="{0DD043AE-AB65-12F3-0394-86A6B428DE12}"/>
              </a:ext>
            </a:extLst>
          </p:cNvPr>
          <p:cNvSpPr>
            <a:spLocks noGrp="1"/>
          </p:cNvSpPr>
          <p:nvPr>
            <p:ph type="sldNum" sz="quarter" idx="12"/>
          </p:nvPr>
        </p:nvSpPr>
        <p:spPr/>
        <p:txBody>
          <a:bodyPr/>
          <a:lstStyle/>
          <a:p>
            <a:fld id="{D7C0FE0B-717B-41AE-9FA2-CA4BF851D1C3}" type="slidenum">
              <a:rPr lang="zh-CN" altLang="en-US" smtClean="0"/>
              <a:t>11</a:t>
            </a:fld>
            <a:endParaRPr lang="zh-CN" altLang="en-US"/>
          </a:p>
        </p:txBody>
      </p:sp>
    </p:spTree>
    <p:extLst>
      <p:ext uri="{BB962C8B-B14F-4D97-AF65-F5344CB8AC3E}">
        <p14:creationId xmlns:p14="http://schemas.microsoft.com/office/powerpoint/2010/main" val="26468932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10263B5-9B79-DAD5-F54C-F5E29963EADB}"/>
              </a:ext>
            </a:extLst>
          </p:cNvPr>
          <p:cNvSpPr/>
          <p:nvPr/>
        </p:nvSpPr>
        <p:spPr>
          <a:xfrm>
            <a:off x="1560818" y="1478234"/>
            <a:ext cx="8945054" cy="2792209"/>
          </a:xfrm>
          <a:prstGeom prst="rect">
            <a:avLst/>
          </a:prstGeom>
          <a:solidFill>
            <a:schemeClr val="accent6">
              <a:lumMod val="20000"/>
              <a:lumOff val="80000"/>
            </a:schemeClr>
          </a:solidFill>
          <a:ln w="9525" cap="flat" cmpd="sng">
            <a:solidFill>
              <a:schemeClr val="tx1"/>
            </a:solidFill>
            <a:prstDash val="solid"/>
            <a:miter/>
            <a:headEnd type="none" w="med" len="med"/>
            <a:tailEnd type="none" w="med" len="med"/>
          </a:ln>
          <a:effectLst>
            <a:prstShdw prst="shdw12" dir="16200000">
              <a:schemeClr val="bg2">
                <a:alpha val="50000"/>
              </a:schemeClr>
            </a:prstShdw>
          </a:effectLst>
        </p:spPr>
        <p:txBody>
          <a:bodyPr/>
          <a:lstStyle/>
          <a:p>
            <a:endParaRPr lang="zh-CN" altLang="en-US"/>
          </a:p>
        </p:txBody>
      </p:sp>
      <p:sp>
        <p:nvSpPr>
          <p:cNvPr id="3" name="标题 163842">
            <a:extLst>
              <a:ext uri="{FF2B5EF4-FFF2-40B4-BE49-F238E27FC236}">
                <a16:creationId xmlns:a16="http://schemas.microsoft.com/office/drawing/2014/main" id="{AB4645F4-B1E6-4906-C40F-E610BAD84B88}"/>
              </a:ext>
            </a:extLst>
          </p:cNvPr>
          <p:cNvSpPr txBox="1">
            <a:spLocks/>
          </p:cNvSpPr>
          <p:nvPr/>
        </p:nvSpPr>
        <p:spPr>
          <a:xfrm>
            <a:off x="1256489" y="66991"/>
            <a:ext cx="6588868" cy="821649"/>
          </a:xfrm>
          <a:prstGeom prst="rect">
            <a:avLst/>
          </a:prstGeom>
        </p:spPr>
        <p:txBody>
          <a:bodyPr vert="horz" lIns="91440" tIns="45720" rIns="91440" bIns="45720" rtlCol="0" anchor="ctr" anchorCtr="0">
            <a:normAutofit/>
          </a:bodyPr>
          <a:lstStyle>
            <a:defPPr>
              <a:defRPr lang="zh-CN"/>
            </a:defPPr>
            <a:lvl1pPr>
              <a:lnSpc>
                <a:spcPct val="90000"/>
              </a:lnSpc>
              <a:spcBef>
                <a:spcPct val="0"/>
              </a:spcBef>
              <a:buNone/>
              <a:defRPr sz="3200">
                <a:solidFill>
                  <a:srgbClr val="000099"/>
                </a:solidFill>
                <a:effectLst>
                  <a:outerShdw blurRad="38100" dist="38100" dir="2700000" algn="tl">
                    <a:srgbClr val="000000">
                      <a:alpha val="43137"/>
                    </a:srgbClr>
                  </a:outerShdw>
                </a:effectLst>
                <a:latin typeface="+mj-lt"/>
                <a:ea typeface="+mj-ea"/>
                <a:cs typeface="+mj-cs"/>
              </a:defRPr>
            </a:lvl1pPr>
          </a:lstStyle>
          <a:p>
            <a:r>
              <a:rPr lang="en-US" altLang="zh-CN" dirty="0"/>
              <a:t>1.0.5  </a:t>
            </a:r>
            <a:r>
              <a:rPr lang="zh-CN" altLang="en-US" dirty="0"/>
              <a:t>顺序查找序列元素</a:t>
            </a:r>
          </a:p>
        </p:txBody>
      </p:sp>
      <p:sp>
        <p:nvSpPr>
          <p:cNvPr id="4" name="文本占位符 163843">
            <a:extLst>
              <a:ext uri="{FF2B5EF4-FFF2-40B4-BE49-F238E27FC236}">
                <a16:creationId xmlns:a16="http://schemas.microsoft.com/office/drawing/2014/main" id="{1656F2A4-1A02-BBF2-94C8-6D6AA08D530E}"/>
              </a:ext>
            </a:extLst>
          </p:cNvPr>
          <p:cNvSpPr txBox="1">
            <a:spLocks/>
          </p:cNvSpPr>
          <p:nvPr/>
        </p:nvSpPr>
        <p:spPr>
          <a:xfrm>
            <a:off x="1256489" y="990210"/>
            <a:ext cx="10045530" cy="5109797"/>
          </a:xfrm>
          <a:prstGeom prst="rect">
            <a:avLst/>
          </a:prstGeom>
          <a:effectLst>
            <a:prstShdw prst="shdw12" dir="16200000">
              <a:schemeClr val="bg2">
                <a:alpha val="50000"/>
              </a:schemeClr>
            </a:prstShdw>
          </a:effectLst>
        </p:spPr>
        <p:txBody>
          <a:bodyPr vert="horz" wrap="square" lIns="91440" tIns="45720" rIns="91440" bIns="4572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20000"/>
              </a:lnSpc>
              <a:spcBef>
                <a:spcPct val="10000"/>
              </a:spcBef>
              <a:buFont typeface="Arial" panose="020B0604020202020204" pitchFamily="34" charset="0"/>
              <a:buNone/>
            </a:pPr>
            <a:r>
              <a:rPr lang="zh-CN" altLang="da-DK" sz="2400" dirty="0">
                <a:solidFill>
                  <a:srgbClr val="000000"/>
                </a:solidFill>
                <a:latin typeface="Arial" panose="020B0604020202020204" pitchFamily="34" charset="0"/>
              </a:rPr>
              <a:t>        </a:t>
            </a:r>
            <a:r>
              <a:rPr lang="zh-CN" altLang="da-DK" sz="2400" dirty="0">
                <a:solidFill>
                  <a:srgbClr val="000099"/>
                </a:solidFill>
                <a:latin typeface="Arial" panose="020B0604020202020204" pitchFamily="34" charset="0"/>
              </a:rPr>
              <a:t>在序列中查找元素的基本方法是顺序查找，平均时间复杂度为</a:t>
            </a:r>
            <a:r>
              <a:rPr lang="da-DK" altLang="zh-CN" sz="2400" dirty="0">
                <a:solidFill>
                  <a:srgbClr val="000099"/>
                </a:solidFill>
                <a:latin typeface="Arial" panose="020B0604020202020204" pitchFamily="34" charset="0"/>
              </a:rPr>
              <a:t>O(n)</a:t>
            </a:r>
            <a:r>
              <a:rPr lang="zh-CN" altLang="da-DK" sz="2400" dirty="0">
                <a:solidFill>
                  <a:srgbClr val="000099"/>
                </a:solidFill>
                <a:latin typeface="Arial" panose="020B0604020202020204" pitchFamily="34" charset="0"/>
              </a:rPr>
              <a:t>。</a:t>
            </a:r>
            <a:endParaRPr lang="zh-CN" altLang="en-US" sz="2400" dirty="0">
              <a:solidFill>
                <a:srgbClr val="000099"/>
              </a:solidFill>
              <a:latin typeface="Arial" panose="020B0604020202020204" pitchFamily="34" charset="0"/>
            </a:endParaRPr>
          </a:p>
          <a:p>
            <a:pPr marL="0" indent="0" algn="just">
              <a:spcBef>
                <a:spcPct val="10000"/>
              </a:spcBef>
              <a:buFont typeface="Arial" panose="020B0604020202020204" pitchFamily="34" charset="0"/>
              <a:buNone/>
            </a:pPr>
            <a:r>
              <a:rPr lang="zh-CN" altLang="en-US" sz="2400" dirty="0">
                <a:solidFill>
                  <a:srgbClr val="000000"/>
                </a:solidFill>
                <a:latin typeface="Lucida Sans Typewriter" pitchFamily="49" charset="0"/>
              </a:rPr>
              <a:t>  </a:t>
            </a:r>
            <a:r>
              <a:rPr lang="en-US" altLang="zh-CN" sz="2400" b="1" dirty="0">
                <a:solidFill>
                  <a:srgbClr val="000000"/>
                </a:solidFill>
                <a:latin typeface="Courier New" panose="02070309020205020404" pitchFamily="49" charset="0"/>
                <a:cs typeface="Courier New" panose="02070309020205020404" pitchFamily="49" charset="0"/>
              </a:rPr>
              <a:t>int</a:t>
            </a:r>
            <a:r>
              <a:rPr lang="en-US" altLang="zh-CN" sz="2400" dirty="0">
                <a:solidFill>
                  <a:srgbClr val="000000"/>
                </a:solidFill>
                <a:latin typeface="Courier New" panose="02070309020205020404" pitchFamily="49" charset="0"/>
                <a:cs typeface="Courier New" panose="02070309020205020404" pitchFamily="49" charset="0"/>
              </a:rPr>
              <a:t> SeqSearch(Sequence s, </a:t>
            </a:r>
            <a:r>
              <a:rPr lang="en-US" altLang="zh-CN" sz="2400" dirty="0" err="1">
                <a:solidFill>
                  <a:srgbClr val="000000"/>
                </a:solidFill>
                <a:latin typeface="Courier New" panose="02070309020205020404" pitchFamily="49" charset="0"/>
                <a:cs typeface="Courier New" panose="02070309020205020404" pitchFamily="49" charset="0"/>
              </a:rPr>
              <a:t>ElemType</a:t>
            </a:r>
            <a:r>
              <a:rPr lang="en-US" altLang="zh-CN" sz="2400" dirty="0">
                <a:solidFill>
                  <a:srgbClr val="000000"/>
                </a:solidFill>
                <a:latin typeface="Courier New" panose="02070309020205020404" pitchFamily="49" charset="0"/>
                <a:cs typeface="Courier New" panose="02070309020205020404" pitchFamily="49" charset="0"/>
              </a:rPr>
              <a:t> x) </a:t>
            </a:r>
            <a:r>
              <a:rPr lang="en-US" altLang="zh-CN" sz="2400" b="1" dirty="0">
                <a:solidFill>
                  <a:srgbClr val="000000"/>
                </a:solidFill>
                <a:latin typeface="Courier New" panose="02070309020205020404" pitchFamily="49" charset="0"/>
                <a:cs typeface="Courier New" panose="02070309020205020404" pitchFamily="49" charset="0"/>
              </a:rPr>
              <a:t>{</a:t>
            </a:r>
          </a:p>
          <a:p>
            <a:pPr marL="0" indent="0" algn="just">
              <a:spcBef>
                <a:spcPct val="0"/>
              </a:spcBef>
              <a:buFont typeface="Arial" panose="020B0604020202020204" pitchFamily="34" charset="0"/>
              <a:buNone/>
            </a:pPr>
            <a:r>
              <a:rPr lang="en-US" altLang="zh-CN" sz="2400" dirty="0">
                <a:solidFill>
                  <a:srgbClr val="000000"/>
                </a:solidFill>
                <a:latin typeface="Courier New" panose="02070309020205020404" pitchFamily="49" charset="0"/>
                <a:cs typeface="Courier New" panose="02070309020205020404" pitchFamily="49" charset="0"/>
              </a:rPr>
              <a:t>    </a:t>
            </a:r>
            <a:r>
              <a:rPr lang="da-DK" altLang="zh-CN" sz="2400" b="1" dirty="0">
                <a:solidFill>
                  <a:srgbClr val="000000"/>
                </a:solidFill>
                <a:latin typeface="Courier New" panose="02070309020205020404" pitchFamily="49" charset="0"/>
                <a:cs typeface="Courier New" panose="02070309020205020404" pitchFamily="49" charset="0"/>
              </a:rPr>
              <a:t>int</a:t>
            </a:r>
            <a:r>
              <a:rPr lang="da-DK" altLang="zh-CN" sz="2400" dirty="0">
                <a:solidFill>
                  <a:srgbClr val="000000"/>
                </a:solidFill>
                <a:latin typeface="Courier New" panose="02070309020205020404" pitchFamily="49" charset="0"/>
                <a:cs typeface="Courier New" panose="02070309020205020404" pitchFamily="49" charset="0"/>
              </a:rPr>
              <a:t> i;</a:t>
            </a:r>
            <a:endParaRPr lang="en-US" altLang="zh-CN" sz="2400" dirty="0">
              <a:solidFill>
                <a:srgbClr val="000000"/>
              </a:solidFill>
              <a:latin typeface="Courier New" panose="02070309020205020404" pitchFamily="49" charset="0"/>
              <a:cs typeface="Courier New" panose="02070309020205020404" pitchFamily="49" charset="0"/>
            </a:endParaRPr>
          </a:p>
          <a:p>
            <a:pPr marL="0" indent="0">
              <a:spcBef>
                <a:spcPct val="0"/>
              </a:spcBef>
              <a:buFont typeface="Arial" panose="020B0604020202020204" pitchFamily="34" charset="0"/>
              <a:buNone/>
            </a:pPr>
            <a:r>
              <a:rPr lang="en-US" altLang="zh-CN" sz="2400" dirty="0">
                <a:solidFill>
                  <a:srgbClr val="000000"/>
                </a:solidFill>
                <a:latin typeface="Courier New" panose="02070309020205020404" pitchFamily="49" charset="0"/>
                <a:cs typeface="Courier New" panose="02070309020205020404" pitchFamily="49" charset="0"/>
              </a:rPr>
              <a:t>    </a:t>
            </a:r>
            <a:r>
              <a:rPr lang="en-US" altLang="zh-CN" sz="2400" b="1" dirty="0">
                <a:solidFill>
                  <a:srgbClr val="000000"/>
                </a:solidFill>
                <a:latin typeface="Courier New" panose="02070309020205020404" pitchFamily="49" charset="0"/>
                <a:cs typeface="Courier New" panose="02070309020205020404" pitchFamily="49" charset="0"/>
              </a:rPr>
              <a:t>for </a:t>
            </a:r>
            <a:r>
              <a:rPr lang="en-US" altLang="zh-CN" sz="2400" dirty="0">
                <a:solidFill>
                  <a:srgbClr val="000000"/>
                </a:solidFill>
                <a:latin typeface="Courier New" panose="02070309020205020404" pitchFamily="49" charset="0"/>
                <a:cs typeface="Courier New" panose="02070309020205020404" pitchFamily="49" charset="0"/>
              </a:rPr>
              <a:t>(</a:t>
            </a:r>
            <a:r>
              <a:rPr lang="en-US" altLang="zh-CN" sz="2400" dirty="0" err="1">
                <a:solidFill>
                  <a:srgbClr val="000000"/>
                </a:solidFill>
                <a:latin typeface="Courier New" panose="02070309020205020404" pitchFamily="49" charset="0"/>
                <a:cs typeface="Courier New" panose="02070309020205020404" pitchFamily="49" charset="0"/>
              </a:rPr>
              <a:t>i</a:t>
            </a:r>
            <a:r>
              <a:rPr lang="en-US" altLang="zh-CN" sz="2400" dirty="0">
                <a:solidFill>
                  <a:srgbClr val="000000"/>
                </a:solidFill>
                <a:latin typeface="Courier New" panose="02070309020205020404" pitchFamily="49" charset="0"/>
                <a:cs typeface="Courier New" panose="02070309020205020404" pitchFamily="49" charset="0"/>
              </a:rPr>
              <a:t>=0; </a:t>
            </a:r>
          </a:p>
          <a:p>
            <a:pPr marL="0" indent="0">
              <a:spcBef>
                <a:spcPct val="0"/>
              </a:spcBef>
              <a:buFont typeface="Arial" panose="020B0604020202020204" pitchFamily="34" charset="0"/>
              <a:buNone/>
            </a:pPr>
            <a:r>
              <a:rPr lang="en-US" altLang="zh-CN" sz="2400" dirty="0">
                <a:solidFill>
                  <a:srgbClr val="000000"/>
                </a:solidFill>
                <a:latin typeface="Courier New" panose="02070309020205020404" pitchFamily="49" charset="0"/>
                <a:cs typeface="Courier New" panose="02070309020205020404" pitchFamily="49" charset="0"/>
              </a:rPr>
              <a:t>         </a:t>
            </a:r>
            <a:r>
              <a:rPr lang="en-US" altLang="zh-CN" sz="2400" dirty="0" err="1">
                <a:solidFill>
                  <a:srgbClr val="000000"/>
                </a:solidFill>
                <a:latin typeface="Courier New" panose="02070309020205020404" pitchFamily="49" charset="0"/>
                <a:cs typeface="Courier New" panose="02070309020205020404" pitchFamily="49" charset="0"/>
              </a:rPr>
              <a:t>i</a:t>
            </a:r>
            <a:r>
              <a:rPr lang="en-US" altLang="zh-CN" sz="2400" dirty="0">
                <a:solidFill>
                  <a:srgbClr val="000000"/>
                </a:solidFill>
                <a:latin typeface="Courier New" panose="02070309020205020404" pitchFamily="49" charset="0"/>
                <a:cs typeface="Courier New" panose="02070309020205020404" pitchFamily="49" charset="0"/>
              </a:rPr>
              <a:t>&lt;s-&gt;length </a:t>
            </a:r>
            <a:r>
              <a:rPr lang="en-US" altLang="zh-CN" sz="2400" b="1" dirty="0">
                <a:solidFill>
                  <a:srgbClr val="000000"/>
                </a:solidFill>
                <a:latin typeface="Courier New" panose="02070309020205020404" pitchFamily="49" charset="0"/>
                <a:cs typeface="Courier New" panose="02070309020205020404" pitchFamily="49" charset="0"/>
              </a:rPr>
              <a:t>&amp;&amp;</a:t>
            </a:r>
            <a:r>
              <a:rPr lang="en-US" altLang="zh-CN" sz="2400" dirty="0">
                <a:solidFill>
                  <a:srgbClr val="000000"/>
                </a:solidFill>
                <a:latin typeface="Courier New" panose="02070309020205020404" pitchFamily="49" charset="0"/>
                <a:cs typeface="Courier New" panose="02070309020205020404" pitchFamily="49" charset="0"/>
              </a:rPr>
              <a:t> </a:t>
            </a:r>
            <a:r>
              <a:rPr lang="en-US" altLang="zh-CN" sz="2400" dirty="0" err="1">
                <a:solidFill>
                  <a:srgbClr val="000000"/>
                </a:solidFill>
                <a:latin typeface="Courier New" panose="02070309020205020404" pitchFamily="49" charset="0"/>
                <a:cs typeface="Courier New" panose="02070309020205020404" pitchFamily="49" charset="0"/>
              </a:rPr>
              <a:t>notEqual</a:t>
            </a:r>
            <a:r>
              <a:rPr lang="en-US" altLang="zh-CN" sz="2400" dirty="0">
                <a:solidFill>
                  <a:srgbClr val="000000"/>
                </a:solidFill>
                <a:latin typeface="Courier New" panose="02070309020205020404" pitchFamily="49" charset="0"/>
                <a:cs typeface="Courier New" panose="02070309020205020404" pitchFamily="49" charset="0"/>
              </a:rPr>
              <a:t>(</a:t>
            </a:r>
            <a:r>
              <a:rPr lang="en-US" altLang="zh-CN" sz="2400" dirty="0" err="1">
                <a:solidFill>
                  <a:srgbClr val="000000"/>
                </a:solidFill>
                <a:latin typeface="Courier New" panose="02070309020205020404" pitchFamily="49" charset="0"/>
                <a:cs typeface="Courier New" panose="02070309020205020404" pitchFamily="49" charset="0"/>
              </a:rPr>
              <a:t>x,s</a:t>
            </a:r>
            <a:r>
              <a:rPr lang="en-US" altLang="zh-CN" sz="2400" dirty="0">
                <a:solidFill>
                  <a:srgbClr val="000000"/>
                </a:solidFill>
                <a:latin typeface="Courier New" panose="02070309020205020404" pitchFamily="49" charset="0"/>
                <a:cs typeface="Courier New" panose="02070309020205020404" pitchFamily="49" charset="0"/>
              </a:rPr>
              <a:t>-&gt;</a:t>
            </a:r>
            <a:r>
              <a:rPr lang="en-US" altLang="zh-CN" sz="2400" dirty="0" err="1">
                <a:solidFill>
                  <a:srgbClr val="000000"/>
                </a:solidFill>
                <a:latin typeface="Courier New" panose="02070309020205020404" pitchFamily="49" charset="0"/>
                <a:cs typeface="Courier New" panose="02070309020205020404" pitchFamily="49" charset="0"/>
              </a:rPr>
              <a:t>elem</a:t>
            </a:r>
            <a:r>
              <a:rPr lang="en-US" altLang="zh-CN" sz="2400" dirty="0">
                <a:solidFill>
                  <a:srgbClr val="000000"/>
                </a:solidFill>
                <a:latin typeface="Courier New" panose="02070309020205020404" pitchFamily="49" charset="0"/>
                <a:cs typeface="Courier New" panose="02070309020205020404" pitchFamily="49" charset="0"/>
              </a:rPr>
              <a:t>[</a:t>
            </a:r>
            <a:r>
              <a:rPr lang="en-US" altLang="zh-CN" sz="2400" dirty="0" err="1">
                <a:solidFill>
                  <a:srgbClr val="000000"/>
                </a:solidFill>
                <a:latin typeface="Courier New" panose="02070309020205020404" pitchFamily="49" charset="0"/>
                <a:cs typeface="Courier New" panose="02070309020205020404" pitchFamily="49" charset="0"/>
              </a:rPr>
              <a:t>i</a:t>
            </a:r>
            <a:r>
              <a:rPr lang="en-US" altLang="zh-CN" sz="2400" dirty="0">
                <a:solidFill>
                  <a:srgbClr val="000000"/>
                </a:solidFill>
                <a:latin typeface="Courier New" panose="02070309020205020404" pitchFamily="49" charset="0"/>
                <a:cs typeface="Courier New" panose="02070309020205020404" pitchFamily="49" charset="0"/>
              </a:rPr>
              <a:t>]);</a:t>
            </a:r>
          </a:p>
          <a:p>
            <a:pPr marL="0" indent="0">
              <a:spcBef>
                <a:spcPct val="0"/>
              </a:spcBef>
              <a:buFont typeface="Arial" panose="020B0604020202020204" pitchFamily="34" charset="0"/>
              <a:buNone/>
            </a:pPr>
            <a:r>
              <a:rPr lang="en-US" altLang="zh-CN" sz="2400" dirty="0">
                <a:solidFill>
                  <a:srgbClr val="000000"/>
                </a:solidFill>
                <a:latin typeface="Courier New" panose="02070309020205020404" pitchFamily="49" charset="0"/>
                <a:cs typeface="Courier New" panose="02070309020205020404" pitchFamily="49" charset="0"/>
              </a:rPr>
              <a:t>         </a:t>
            </a:r>
            <a:r>
              <a:rPr lang="en-US" altLang="zh-CN" sz="2400" dirty="0" err="1">
                <a:solidFill>
                  <a:srgbClr val="000000"/>
                </a:solidFill>
                <a:latin typeface="Courier New" panose="02070309020205020404" pitchFamily="49" charset="0"/>
                <a:cs typeface="Courier New" panose="02070309020205020404" pitchFamily="49" charset="0"/>
              </a:rPr>
              <a:t>i</a:t>
            </a:r>
            <a:r>
              <a:rPr lang="en-US" altLang="zh-CN" sz="2400" dirty="0">
                <a:solidFill>
                  <a:srgbClr val="000000"/>
                </a:solidFill>
                <a:latin typeface="Courier New" panose="02070309020205020404" pitchFamily="49" charset="0"/>
                <a:cs typeface="Courier New" panose="02070309020205020404" pitchFamily="49" charset="0"/>
              </a:rPr>
              <a:t>++);</a:t>
            </a:r>
          </a:p>
          <a:p>
            <a:pPr marL="0" indent="0" algn="just">
              <a:spcBef>
                <a:spcPct val="0"/>
              </a:spcBef>
              <a:buFont typeface="Arial" panose="020B0604020202020204" pitchFamily="34" charset="0"/>
              <a:buNone/>
            </a:pPr>
            <a:r>
              <a:rPr lang="en-US" altLang="zh-CN" sz="2400" dirty="0">
                <a:solidFill>
                  <a:srgbClr val="000000"/>
                </a:solidFill>
                <a:latin typeface="Courier New" panose="02070309020205020404" pitchFamily="49" charset="0"/>
                <a:cs typeface="Courier New" panose="02070309020205020404" pitchFamily="49" charset="0"/>
              </a:rPr>
              <a:t>    </a:t>
            </a:r>
            <a:r>
              <a:rPr lang="en-US" altLang="zh-CN" sz="2400" b="1" dirty="0">
                <a:solidFill>
                  <a:srgbClr val="000000"/>
                </a:solidFill>
                <a:latin typeface="Courier New" panose="02070309020205020404" pitchFamily="49" charset="0"/>
                <a:cs typeface="Courier New" panose="02070309020205020404" pitchFamily="49" charset="0"/>
              </a:rPr>
              <a:t>if </a:t>
            </a:r>
            <a:r>
              <a:rPr lang="en-US" altLang="zh-CN" sz="2400" dirty="0">
                <a:solidFill>
                  <a:srgbClr val="000000"/>
                </a:solidFill>
                <a:latin typeface="Courier New" panose="02070309020205020404" pitchFamily="49" charset="0"/>
                <a:cs typeface="Courier New" panose="02070309020205020404" pitchFamily="49" charset="0"/>
              </a:rPr>
              <a:t>(</a:t>
            </a:r>
            <a:r>
              <a:rPr lang="en-US" altLang="zh-CN" sz="2400" dirty="0" err="1">
                <a:solidFill>
                  <a:srgbClr val="000000"/>
                </a:solidFill>
                <a:latin typeface="Courier New" panose="02070309020205020404" pitchFamily="49" charset="0"/>
                <a:cs typeface="Courier New" panose="02070309020205020404" pitchFamily="49" charset="0"/>
              </a:rPr>
              <a:t>i</a:t>
            </a:r>
            <a:r>
              <a:rPr lang="en-US" altLang="zh-CN" sz="2400" dirty="0">
                <a:solidFill>
                  <a:srgbClr val="000000"/>
                </a:solidFill>
                <a:latin typeface="Courier New" panose="02070309020205020404" pitchFamily="49" charset="0"/>
                <a:cs typeface="Courier New" panose="02070309020205020404" pitchFamily="49" charset="0"/>
              </a:rPr>
              <a:t>&lt;s-&gt;length) </a:t>
            </a:r>
            <a:r>
              <a:rPr lang="en-US" altLang="zh-CN" sz="2400" b="1" dirty="0">
                <a:solidFill>
                  <a:srgbClr val="000000"/>
                </a:solidFill>
                <a:latin typeface="Courier New" panose="02070309020205020404" pitchFamily="49" charset="0"/>
                <a:cs typeface="Courier New" panose="02070309020205020404" pitchFamily="49" charset="0"/>
              </a:rPr>
              <a:t>return</a:t>
            </a:r>
            <a:r>
              <a:rPr lang="en-US" altLang="zh-CN" sz="2400" dirty="0">
                <a:solidFill>
                  <a:srgbClr val="000000"/>
                </a:solidFill>
                <a:latin typeface="Courier New" panose="02070309020205020404" pitchFamily="49" charset="0"/>
                <a:cs typeface="Courier New" panose="02070309020205020404" pitchFamily="49" charset="0"/>
              </a:rPr>
              <a:t> </a:t>
            </a:r>
            <a:r>
              <a:rPr lang="en-US" altLang="zh-CN" sz="2400" dirty="0" err="1">
                <a:solidFill>
                  <a:srgbClr val="000000"/>
                </a:solidFill>
                <a:latin typeface="Courier New" panose="02070309020205020404" pitchFamily="49" charset="0"/>
                <a:cs typeface="Courier New" panose="02070309020205020404" pitchFamily="49" charset="0"/>
              </a:rPr>
              <a:t>i</a:t>
            </a:r>
            <a:r>
              <a:rPr lang="en-US" altLang="zh-CN" sz="2400" dirty="0">
                <a:solidFill>
                  <a:srgbClr val="000000"/>
                </a:solidFill>
                <a:latin typeface="Courier New" panose="02070309020205020404" pitchFamily="49" charset="0"/>
                <a:cs typeface="Courier New" panose="02070309020205020404" pitchFamily="49" charset="0"/>
              </a:rPr>
              <a:t>;</a:t>
            </a:r>
          </a:p>
          <a:p>
            <a:pPr marL="0" indent="0" algn="just">
              <a:spcBef>
                <a:spcPct val="0"/>
              </a:spcBef>
              <a:buFont typeface="Arial" panose="020B0604020202020204" pitchFamily="34" charset="0"/>
              <a:buNone/>
            </a:pPr>
            <a:r>
              <a:rPr lang="en-US" altLang="zh-CN" sz="2400" dirty="0">
                <a:solidFill>
                  <a:srgbClr val="000000"/>
                </a:solidFill>
                <a:latin typeface="Courier New" panose="02070309020205020404" pitchFamily="49" charset="0"/>
                <a:cs typeface="Courier New" panose="02070309020205020404" pitchFamily="49" charset="0"/>
              </a:rPr>
              <a:t>    </a:t>
            </a:r>
            <a:r>
              <a:rPr lang="en-US" altLang="zh-CN" sz="2400" b="1" dirty="0">
                <a:solidFill>
                  <a:srgbClr val="000000"/>
                </a:solidFill>
                <a:latin typeface="Courier New" panose="02070309020205020404" pitchFamily="49" charset="0"/>
                <a:cs typeface="Courier New" panose="02070309020205020404" pitchFamily="49" charset="0"/>
              </a:rPr>
              <a:t>return</a:t>
            </a:r>
            <a:r>
              <a:rPr lang="en-US" altLang="zh-CN" sz="2400" dirty="0">
                <a:solidFill>
                  <a:srgbClr val="000000"/>
                </a:solidFill>
                <a:latin typeface="Courier New" panose="02070309020205020404" pitchFamily="49" charset="0"/>
                <a:cs typeface="Courier New" panose="02070309020205020404" pitchFamily="49" charset="0"/>
              </a:rPr>
              <a:t> -1;</a:t>
            </a:r>
            <a:endParaRPr lang="da-DK" altLang="zh-CN" sz="2400" dirty="0">
              <a:solidFill>
                <a:srgbClr val="000000"/>
              </a:solidFill>
              <a:latin typeface="Courier New" panose="02070309020205020404" pitchFamily="49" charset="0"/>
              <a:cs typeface="Courier New" panose="02070309020205020404" pitchFamily="49" charset="0"/>
            </a:endParaRPr>
          </a:p>
          <a:p>
            <a:pPr marL="0" indent="0" algn="just">
              <a:spcBef>
                <a:spcPct val="10000"/>
              </a:spcBef>
              <a:buFont typeface="Arial" panose="020B0604020202020204" pitchFamily="34" charset="0"/>
              <a:buNone/>
            </a:pPr>
            <a:r>
              <a:rPr lang="da-DK" altLang="zh-CN" sz="2400" dirty="0">
                <a:solidFill>
                  <a:srgbClr val="000000"/>
                </a:solidFill>
                <a:latin typeface="Courier New" panose="02070309020205020404" pitchFamily="49" charset="0"/>
                <a:cs typeface="Courier New" panose="02070309020205020404" pitchFamily="49" charset="0"/>
              </a:rPr>
              <a:t>  </a:t>
            </a:r>
            <a:r>
              <a:rPr lang="da-DK" altLang="zh-CN" sz="2400" b="1" dirty="0">
                <a:solidFill>
                  <a:srgbClr val="000000"/>
                </a:solidFill>
                <a:latin typeface="Courier New" panose="02070309020205020404" pitchFamily="49" charset="0"/>
                <a:cs typeface="Courier New" panose="02070309020205020404" pitchFamily="49" charset="0"/>
              </a:rPr>
              <a:t>}</a:t>
            </a:r>
          </a:p>
          <a:p>
            <a:pPr marL="0" indent="0" algn="just">
              <a:lnSpc>
                <a:spcPct val="120000"/>
              </a:lnSpc>
              <a:spcBef>
                <a:spcPct val="30000"/>
              </a:spcBef>
              <a:buFont typeface="Arial" panose="020B0604020202020204" pitchFamily="34" charset="0"/>
              <a:buNone/>
            </a:pPr>
            <a:r>
              <a:rPr lang="en-US" altLang="zh-CN" sz="2400" dirty="0">
                <a:solidFill>
                  <a:srgbClr val="000099"/>
                </a:solidFill>
              </a:rPr>
              <a:t>      </a:t>
            </a:r>
            <a:r>
              <a:rPr lang="zh-CN" altLang="en-US" sz="2400" dirty="0">
                <a:solidFill>
                  <a:srgbClr val="000099"/>
                </a:solidFill>
              </a:rPr>
              <a:t>查找是最常用的操作，若在无序序列查找，则常用顺序查找（</a:t>
            </a:r>
            <a:r>
              <a:rPr lang="en-US" altLang="zh-CN" sz="2400" dirty="0">
                <a:solidFill>
                  <a:srgbClr val="000099"/>
                </a:solidFill>
              </a:rPr>
              <a:t>Sequential Search</a:t>
            </a:r>
            <a:r>
              <a:rPr lang="zh-CN" altLang="en-US" sz="2400" dirty="0">
                <a:solidFill>
                  <a:srgbClr val="000099"/>
                </a:solidFill>
              </a:rPr>
              <a:t>）。基本思想：从待查序列的一端开始顺序扫描，依次将元素和给定值比较。若当前元素与给定值相等，则查找成功；反之，若扫描结束后，仍未找到，则查找失败。</a:t>
            </a:r>
          </a:p>
        </p:txBody>
      </p:sp>
      <p:sp>
        <p:nvSpPr>
          <p:cNvPr id="5" name="灯片编号占位符 4">
            <a:extLst>
              <a:ext uri="{FF2B5EF4-FFF2-40B4-BE49-F238E27FC236}">
                <a16:creationId xmlns:a16="http://schemas.microsoft.com/office/drawing/2014/main" id="{ADADB617-FC0E-EE31-02D8-DF91348CEC18}"/>
              </a:ext>
            </a:extLst>
          </p:cNvPr>
          <p:cNvSpPr>
            <a:spLocks noGrp="1"/>
          </p:cNvSpPr>
          <p:nvPr>
            <p:ph type="sldNum" sz="quarter" idx="12"/>
          </p:nvPr>
        </p:nvSpPr>
        <p:spPr/>
        <p:txBody>
          <a:bodyPr/>
          <a:lstStyle/>
          <a:p>
            <a:fld id="{D7C0FE0B-717B-41AE-9FA2-CA4BF851D1C3}" type="slidenum">
              <a:rPr lang="zh-CN" altLang="en-US" smtClean="0"/>
              <a:t>12</a:t>
            </a:fld>
            <a:endParaRPr lang="zh-CN" altLang="en-US"/>
          </a:p>
        </p:txBody>
      </p:sp>
    </p:spTree>
    <p:extLst>
      <p:ext uri="{BB962C8B-B14F-4D97-AF65-F5344CB8AC3E}">
        <p14:creationId xmlns:p14="http://schemas.microsoft.com/office/powerpoint/2010/main" val="22777118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E40F643-89D7-DFF5-F3D2-FDEF2804D53B}"/>
              </a:ext>
            </a:extLst>
          </p:cNvPr>
          <p:cNvSpPr/>
          <p:nvPr/>
        </p:nvSpPr>
        <p:spPr>
          <a:xfrm>
            <a:off x="1775839" y="2115428"/>
            <a:ext cx="8598710" cy="4192388"/>
          </a:xfrm>
          <a:prstGeom prst="rect">
            <a:avLst/>
          </a:prstGeom>
          <a:solidFill>
            <a:schemeClr val="accent6">
              <a:lumMod val="20000"/>
              <a:lumOff val="80000"/>
            </a:schemeClr>
          </a:solidFill>
          <a:ln w="9525" cap="flat" cmpd="sng">
            <a:solidFill>
              <a:schemeClr val="tx1"/>
            </a:solidFill>
            <a:prstDash val="solid"/>
            <a:miter/>
            <a:headEnd type="none" w="med" len="med"/>
            <a:tailEnd type="none" w="med" len="med"/>
          </a:ln>
          <a:effectLst>
            <a:prstShdw prst="shdw12" dir="16200000">
              <a:schemeClr val="bg2">
                <a:alpha val="50000"/>
              </a:schemeClr>
            </a:prstShdw>
          </a:effectLst>
        </p:spPr>
        <p:txBody>
          <a:bodyPr/>
          <a:lstStyle/>
          <a:p>
            <a:endParaRPr lang="zh-CN" altLang="en-US"/>
          </a:p>
        </p:txBody>
      </p:sp>
      <p:sp>
        <p:nvSpPr>
          <p:cNvPr id="3" name="标题 164866">
            <a:extLst>
              <a:ext uri="{FF2B5EF4-FFF2-40B4-BE49-F238E27FC236}">
                <a16:creationId xmlns:a16="http://schemas.microsoft.com/office/drawing/2014/main" id="{C138A752-A9B0-5693-28EA-085573B644B6}"/>
              </a:ext>
            </a:extLst>
          </p:cNvPr>
          <p:cNvSpPr txBox="1">
            <a:spLocks/>
          </p:cNvSpPr>
          <p:nvPr/>
        </p:nvSpPr>
        <p:spPr>
          <a:xfrm>
            <a:off x="1266217" y="170572"/>
            <a:ext cx="5630694" cy="670871"/>
          </a:xfrm>
          <a:prstGeom prst="rect">
            <a:avLst/>
          </a:prstGeom>
        </p:spPr>
        <p:txBody>
          <a:bodyPr vert="horz" lIns="91440" tIns="45720" rIns="91440" bIns="45720" rtlCol="0" anchor="ctr" anchorCtr="0">
            <a:normAutofit/>
          </a:bodyPr>
          <a:lstStyle>
            <a:defPPr>
              <a:defRPr lang="zh-CN"/>
            </a:defPPr>
            <a:lvl1pPr>
              <a:lnSpc>
                <a:spcPct val="90000"/>
              </a:lnSpc>
              <a:spcBef>
                <a:spcPct val="0"/>
              </a:spcBef>
              <a:buNone/>
              <a:defRPr sz="3200">
                <a:solidFill>
                  <a:srgbClr val="000099"/>
                </a:solidFill>
                <a:effectLst>
                  <a:outerShdw blurRad="38100" dist="38100" dir="2700000" algn="tl">
                    <a:srgbClr val="000000">
                      <a:alpha val="43137"/>
                    </a:srgbClr>
                  </a:outerShdw>
                </a:effectLst>
                <a:latin typeface="+mj-lt"/>
                <a:ea typeface="+mj-ea"/>
                <a:cs typeface="+mj-cs"/>
              </a:defRPr>
            </a:lvl1pPr>
          </a:lstStyle>
          <a:p>
            <a:r>
              <a:rPr lang="de-DE" altLang="zh-CN" dirty="0"/>
              <a:t>1.0.6  </a:t>
            </a:r>
            <a:r>
              <a:rPr lang="zh-CN" altLang="de-DE" dirty="0"/>
              <a:t>折半查找有序序列元素</a:t>
            </a:r>
            <a:endParaRPr lang="zh-CN" altLang="en-US" dirty="0"/>
          </a:p>
        </p:txBody>
      </p:sp>
      <p:sp>
        <p:nvSpPr>
          <p:cNvPr id="4" name="文本占位符 164867">
            <a:extLst>
              <a:ext uri="{FF2B5EF4-FFF2-40B4-BE49-F238E27FC236}">
                <a16:creationId xmlns:a16="http://schemas.microsoft.com/office/drawing/2014/main" id="{1826E887-674F-1F40-7245-D2B52942E5C9}"/>
              </a:ext>
            </a:extLst>
          </p:cNvPr>
          <p:cNvSpPr txBox="1">
            <a:spLocks/>
          </p:cNvSpPr>
          <p:nvPr/>
        </p:nvSpPr>
        <p:spPr>
          <a:xfrm>
            <a:off x="1434830" y="1103314"/>
            <a:ext cx="9396919" cy="5204502"/>
          </a:xfrm>
          <a:prstGeom prst="rect">
            <a:avLst/>
          </a:prstGeom>
          <a:effectLst>
            <a:prstShdw prst="shdw12" dir="16200000">
              <a:schemeClr val="bg2">
                <a:alpha val="50000"/>
              </a:schemeClr>
            </a:prstShdw>
          </a:effectLst>
        </p:spPr>
        <p:txBody>
          <a:bodyPr vert="horz" wrap="square" lIns="91440" tIns="45720" rIns="91440" bIns="4572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20000"/>
              </a:lnSpc>
              <a:spcBef>
                <a:spcPts val="0"/>
              </a:spcBef>
              <a:spcAft>
                <a:spcPts val="1200"/>
              </a:spcAft>
              <a:buFont typeface="Arial" panose="020B0604020202020204" pitchFamily="34" charset="0"/>
              <a:buNone/>
            </a:pPr>
            <a:r>
              <a:rPr lang="zh-CN" altLang="da-DK" sz="2400" dirty="0">
                <a:solidFill>
                  <a:srgbClr val="000000"/>
                </a:solidFill>
                <a:latin typeface="Arial" panose="020B0604020202020204" pitchFamily="34" charset="0"/>
              </a:rPr>
              <a:t>       </a:t>
            </a:r>
            <a:r>
              <a:rPr lang="zh-CN" altLang="da-DK" sz="2400" b="1" dirty="0">
                <a:solidFill>
                  <a:srgbClr val="000099"/>
                </a:solidFill>
                <a:latin typeface="Arial" panose="020B0604020202020204" pitchFamily="34" charset="0"/>
              </a:rPr>
              <a:t>在有序序列中可采用折半查找的方法查找元素，平均时间复杂度下降为</a:t>
            </a:r>
            <a:r>
              <a:rPr lang="da-DK" altLang="zh-CN" sz="2400" b="1" i="1" dirty="0">
                <a:solidFill>
                  <a:srgbClr val="000099"/>
                </a:solidFill>
                <a:latin typeface="Arial" panose="020B0604020202020204" pitchFamily="34" charset="0"/>
              </a:rPr>
              <a:t>O</a:t>
            </a:r>
            <a:r>
              <a:rPr lang="da-DK" altLang="zh-CN" sz="2400" b="1" dirty="0">
                <a:solidFill>
                  <a:srgbClr val="000099"/>
                </a:solidFill>
                <a:latin typeface="Arial" panose="020B0604020202020204" pitchFamily="34" charset="0"/>
              </a:rPr>
              <a:t>(㏒n)</a:t>
            </a:r>
            <a:r>
              <a:rPr lang="zh-CN" altLang="da-DK" sz="2400" b="1" dirty="0">
                <a:solidFill>
                  <a:srgbClr val="000099"/>
                </a:solidFill>
                <a:latin typeface="Arial" panose="020B0604020202020204" pitchFamily="34" charset="0"/>
              </a:rPr>
              <a:t>。</a:t>
            </a:r>
            <a:endParaRPr lang="zh-CN" altLang="en-US" sz="2400" b="1" dirty="0">
              <a:solidFill>
                <a:srgbClr val="000099"/>
              </a:solidFill>
              <a:latin typeface="Lucida Sans Typewriter" pitchFamily="49" charset="0"/>
            </a:endParaRPr>
          </a:p>
          <a:p>
            <a:pPr marL="0" indent="0">
              <a:spcBef>
                <a:spcPct val="10000"/>
              </a:spcBef>
              <a:buFont typeface="Arial" panose="020B0604020202020204" pitchFamily="34" charset="0"/>
              <a:buNone/>
            </a:pPr>
            <a:r>
              <a:rPr lang="zh-CN" altLang="en-US" sz="2400" dirty="0">
                <a:solidFill>
                  <a:srgbClr val="000000"/>
                </a:solidFill>
                <a:latin typeface="Lucida Sans Typewriter" pitchFamily="49" charset="0"/>
              </a:rPr>
              <a:t>   </a:t>
            </a:r>
            <a:r>
              <a:rPr lang="en-US" altLang="zh-CN" sz="2400" b="1" dirty="0">
                <a:solidFill>
                  <a:srgbClr val="000000"/>
                </a:solidFill>
                <a:latin typeface="Courier New" panose="02070309020205020404" pitchFamily="49" charset="0"/>
                <a:cs typeface="Courier New" panose="02070309020205020404" pitchFamily="49" charset="0"/>
              </a:rPr>
              <a:t>int</a:t>
            </a:r>
            <a:r>
              <a:rPr lang="en-US" altLang="zh-CN" sz="2400" dirty="0">
                <a:solidFill>
                  <a:srgbClr val="000000"/>
                </a:solidFill>
                <a:latin typeface="Courier New" panose="02070309020205020404" pitchFamily="49" charset="0"/>
                <a:cs typeface="Courier New" panose="02070309020205020404" pitchFamily="49" charset="0"/>
              </a:rPr>
              <a:t> </a:t>
            </a:r>
            <a:r>
              <a:rPr lang="en-US" altLang="zh-CN" sz="2400" dirty="0" err="1">
                <a:solidFill>
                  <a:srgbClr val="000000"/>
                </a:solidFill>
                <a:latin typeface="Courier New" panose="02070309020205020404" pitchFamily="49" charset="0"/>
                <a:cs typeface="Courier New" panose="02070309020205020404" pitchFamily="49" charset="0"/>
              </a:rPr>
              <a:t>binSearch</a:t>
            </a:r>
            <a:r>
              <a:rPr lang="en-US" altLang="zh-CN" sz="2400" dirty="0">
                <a:solidFill>
                  <a:srgbClr val="000000"/>
                </a:solidFill>
                <a:latin typeface="Courier New" panose="02070309020205020404" pitchFamily="49" charset="0"/>
                <a:cs typeface="Courier New" panose="02070309020205020404" pitchFamily="49" charset="0"/>
              </a:rPr>
              <a:t>(Sequence s, </a:t>
            </a:r>
            <a:r>
              <a:rPr lang="en-US" altLang="zh-CN" sz="2400" dirty="0" err="1">
                <a:solidFill>
                  <a:srgbClr val="000000"/>
                </a:solidFill>
                <a:latin typeface="Courier New" panose="02070309020205020404" pitchFamily="49" charset="0"/>
                <a:cs typeface="Courier New" panose="02070309020205020404" pitchFamily="49" charset="0"/>
              </a:rPr>
              <a:t>ElemType</a:t>
            </a:r>
            <a:r>
              <a:rPr lang="en-US" altLang="zh-CN" sz="2400" dirty="0">
                <a:solidFill>
                  <a:srgbClr val="000000"/>
                </a:solidFill>
                <a:latin typeface="Courier New" panose="02070309020205020404" pitchFamily="49" charset="0"/>
                <a:cs typeface="Courier New" panose="02070309020205020404" pitchFamily="49" charset="0"/>
              </a:rPr>
              <a:t> x) </a:t>
            </a:r>
            <a:r>
              <a:rPr lang="en-US" altLang="zh-CN" sz="2400" b="1" dirty="0">
                <a:solidFill>
                  <a:srgbClr val="000000"/>
                </a:solidFill>
                <a:latin typeface="Courier New" panose="02070309020205020404" pitchFamily="49" charset="0"/>
                <a:cs typeface="Courier New" panose="02070309020205020404" pitchFamily="49" charset="0"/>
              </a:rPr>
              <a:t>{</a:t>
            </a:r>
          </a:p>
          <a:p>
            <a:pPr marL="0" indent="0">
              <a:spcBef>
                <a:spcPct val="10000"/>
              </a:spcBef>
              <a:buFont typeface="Arial" panose="020B0604020202020204" pitchFamily="34" charset="0"/>
              <a:buNone/>
            </a:pPr>
            <a:r>
              <a:rPr lang="en-US" altLang="zh-CN" sz="2400" dirty="0">
                <a:solidFill>
                  <a:srgbClr val="000000"/>
                </a:solidFill>
                <a:latin typeface="Courier New" panose="02070309020205020404" pitchFamily="49" charset="0"/>
                <a:cs typeface="Courier New" panose="02070309020205020404" pitchFamily="49" charset="0"/>
              </a:rPr>
              <a:t>    </a:t>
            </a:r>
            <a:r>
              <a:rPr lang="en-US" altLang="zh-CN" sz="2400" b="1" dirty="0">
                <a:solidFill>
                  <a:srgbClr val="000000"/>
                </a:solidFill>
                <a:latin typeface="Courier New" panose="02070309020205020404" pitchFamily="49" charset="0"/>
                <a:cs typeface="Courier New" panose="02070309020205020404" pitchFamily="49" charset="0"/>
              </a:rPr>
              <a:t>int</a:t>
            </a:r>
            <a:r>
              <a:rPr lang="en-US" altLang="zh-CN" sz="2400" dirty="0">
                <a:solidFill>
                  <a:srgbClr val="000000"/>
                </a:solidFill>
                <a:latin typeface="Courier New" panose="02070309020205020404" pitchFamily="49" charset="0"/>
                <a:cs typeface="Courier New" panose="02070309020205020404" pitchFamily="49" charset="0"/>
              </a:rPr>
              <a:t> </a:t>
            </a:r>
            <a:r>
              <a:rPr lang="en-US" altLang="zh-CN" sz="2400" dirty="0" err="1">
                <a:solidFill>
                  <a:srgbClr val="000000"/>
                </a:solidFill>
                <a:latin typeface="Courier New" panose="02070309020205020404" pitchFamily="49" charset="0"/>
                <a:cs typeface="Courier New" panose="02070309020205020404" pitchFamily="49" charset="0"/>
              </a:rPr>
              <a:t>low,mid,high</a:t>
            </a:r>
            <a:r>
              <a:rPr lang="en-US" altLang="zh-CN" sz="2400" dirty="0">
                <a:solidFill>
                  <a:srgbClr val="000000"/>
                </a:solidFill>
                <a:latin typeface="Courier New" panose="02070309020205020404" pitchFamily="49" charset="0"/>
                <a:cs typeface="Courier New" panose="02070309020205020404" pitchFamily="49" charset="0"/>
              </a:rPr>
              <a:t>;</a:t>
            </a:r>
          </a:p>
          <a:p>
            <a:pPr marL="0" indent="0">
              <a:spcBef>
                <a:spcPct val="10000"/>
              </a:spcBef>
              <a:buFont typeface="Arial" panose="020B0604020202020204" pitchFamily="34" charset="0"/>
              <a:buNone/>
            </a:pPr>
            <a:r>
              <a:rPr lang="en-US" altLang="zh-CN" sz="2400" dirty="0">
                <a:solidFill>
                  <a:srgbClr val="000000"/>
                </a:solidFill>
                <a:latin typeface="Courier New" panose="02070309020205020404" pitchFamily="49" charset="0"/>
                <a:cs typeface="Courier New" panose="02070309020205020404" pitchFamily="49" charset="0"/>
              </a:rPr>
              <a:t>    low=0;  high=s-&gt;length-1;</a:t>
            </a:r>
          </a:p>
          <a:p>
            <a:pPr marL="0" indent="0">
              <a:spcBef>
                <a:spcPct val="10000"/>
              </a:spcBef>
              <a:buFont typeface="Arial" panose="020B0604020202020204" pitchFamily="34" charset="0"/>
              <a:buNone/>
            </a:pPr>
            <a:r>
              <a:rPr lang="en-US" altLang="zh-CN" sz="2400" dirty="0">
                <a:solidFill>
                  <a:srgbClr val="000000"/>
                </a:solidFill>
                <a:latin typeface="Courier New" panose="02070309020205020404" pitchFamily="49" charset="0"/>
                <a:cs typeface="Courier New" panose="02070309020205020404" pitchFamily="49" charset="0"/>
              </a:rPr>
              <a:t>    </a:t>
            </a:r>
            <a:r>
              <a:rPr lang="en-US" altLang="zh-CN" sz="2400" b="1" dirty="0">
                <a:solidFill>
                  <a:srgbClr val="000000"/>
                </a:solidFill>
                <a:latin typeface="Courier New" panose="02070309020205020404" pitchFamily="49" charset="0"/>
                <a:cs typeface="Courier New" panose="02070309020205020404" pitchFamily="49" charset="0"/>
              </a:rPr>
              <a:t>while</a:t>
            </a:r>
            <a:r>
              <a:rPr lang="en-US" altLang="zh-CN" sz="2400" dirty="0">
                <a:solidFill>
                  <a:srgbClr val="000000"/>
                </a:solidFill>
                <a:latin typeface="Courier New" panose="02070309020205020404" pitchFamily="49" charset="0"/>
                <a:cs typeface="Courier New" panose="02070309020205020404" pitchFamily="49" charset="0"/>
              </a:rPr>
              <a:t>(low&lt;=high) {</a:t>
            </a:r>
          </a:p>
          <a:p>
            <a:pPr marL="0" indent="0">
              <a:spcBef>
                <a:spcPct val="10000"/>
              </a:spcBef>
              <a:buFont typeface="Arial" panose="020B0604020202020204" pitchFamily="34" charset="0"/>
              <a:buNone/>
            </a:pPr>
            <a:r>
              <a:rPr lang="en-US" altLang="zh-CN" sz="2400" dirty="0">
                <a:solidFill>
                  <a:srgbClr val="000000"/>
                </a:solidFill>
                <a:latin typeface="Courier New" panose="02070309020205020404" pitchFamily="49" charset="0"/>
                <a:cs typeface="Courier New" panose="02070309020205020404" pitchFamily="49" charset="0"/>
              </a:rPr>
              <a:t>       mid=(</a:t>
            </a:r>
            <a:r>
              <a:rPr lang="en-US" altLang="zh-CN" sz="2400" dirty="0" err="1">
                <a:solidFill>
                  <a:srgbClr val="000000"/>
                </a:solidFill>
                <a:latin typeface="Courier New" panose="02070309020205020404" pitchFamily="49" charset="0"/>
                <a:cs typeface="Courier New" panose="02070309020205020404" pitchFamily="49" charset="0"/>
              </a:rPr>
              <a:t>low+high</a:t>
            </a:r>
            <a:r>
              <a:rPr lang="en-US" altLang="zh-CN" sz="2400" dirty="0">
                <a:solidFill>
                  <a:srgbClr val="000000"/>
                </a:solidFill>
                <a:latin typeface="Courier New" panose="02070309020205020404" pitchFamily="49" charset="0"/>
                <a:cs typeface="Courier New" panose="02070309020205020404" pitchFamily="49" charset="0"/>
              </a:rPr>
              <a:t>)/2;</a:t>
            </a:r>
          </a:p>
          <a:p>
            <a:pPr marL="0" indent="0">
              <a:spcBef>
                <a:spcPct val="10000"/>
              </a:spcBef>
              <a:buFont typeface="Arial" panose="020B0604020202020204" pitchFamily="34" charset="0"/>
              <a:buNone/>
            </a:pPr>
            <a:r>
              <a:rPr lang="en-US" altLang="zh-CN" sz="2400" dirty="0">
                <a:solidFill>
                  <a:srgbClr val="000000"/>
                </a:solidFill>
                <a:latin typeface="Courier New" panose="02070309020205020404" pitchFamily="49" charset="0"/>
                <a:cs typeface="Courier New" panose="02070309020205020404" pitchFamily="49" charset="0"/>
              </a:rPr>
              <a:t>       </a:t>
            </a:r>
            <a:r>
              <a:rPr lang="en-US" altLang="zh-CN" sz="2400" b="1" dirty="0">
                <a:solidFill>
                  <a:srgbClr val="000000"/>
                </a:solidFill>
                <a:latin typeface="Courier New" panose="02070309020205020404" pitchFamily="49" charset="0"/>
                <a:cs typeface="Courier New" panose="02070309020205020404" pitchFamily="49" charset="0"/>
              </a:rPr>
              <a:t>if</a:t>
            </a:r>
            <a:r>
              <a:rPr lang="en-US" altLang="zh-CN" sz="2400" dirty="0">
                <a:solidFill>
                  <a:srgbClr val="000000"/>
                </a:solidFill>
                <a:latin typeface="Courier New" panose="02070309020205020404" pitchFamily="49" charset="0"/>
                <a:cs typeface="Courier New" panose="02070309020205020404" pitchFamily="49" charset="0"/>
              </a:rPr>
              <a:t>(Equal(</a:t>
            </a:r>
            <a:r>
              <a:rPr lang="en-US" altLang="zh-CN" sz="2400" dirty="0" err="1">
                <a:solidFill>
                  <a:srgbClr val="000000"/>
                </a:solidFill>
                <a:latin typeface="Courier New" panose="02070309020205020404" pitchFamily="49" charset="0"/>
                <a:cs typeface="Courier New" panose="02070309020205020404" pitchFamily="49" charset="0"/>
              </a:rPr>
              <a:t>x,s</a:t>
            </a:r>
            <a:r>
              <a:rPr lang="en-US" altLang="zh-CN" sz="2400" dirty="0">
                <a:solidFill>
                  <a:srgbClr val="000000"/>
                </a:solidFill>
                <a:latin typeface="Courier New" panose="02070309020205020404" pitchFamily="49" charset="0"/>
                <a:cs typeface="Courier New" panose="02070309020205020404" pitchFamily="49" charset="0"/>
              </a:rPr>
              <a:t>-&gt;</a:t>
            </a:r>
            <a:r>
              <a:rPr lang="en-US" altLang="zh-CN" sz="2400" dirty="0" err="1">
                <a:solidFill>
                  <a:srgbClr val="000000"/>
                </a:solidFill>
                <a:latin typeface="Courier New" panose="02070309020205020404" pitchFamily="49" charset="0"/>
                <a:cs typeface="Courier New" panose="02070309020205020404" pitchFamily="49" charset="0"/>
              </a:rPr>
              <a:t>elem</a:t>
            </a:r>
            <a:r>
              <a:rPr lang="en-US" altLang="zh-CN" sz="2400" dirty="0">
                <a:solidFill>
                  <a:srgbClr val="000000"/>
                </a:solidFill>
                <a:latin typeface="Courier New" panose="02070309020205020404" pitchFamily="49" charset="0"/>
                <a:cs typeface="Courier New" panose="02070309020205020404" pitchFamily="49" charset="0"/>
              </a:rPr>
              <a:t>[mid]))</a:t>
            </a:r>
            <a:r>
              <a:rPr lang="en-US" altLang="zh-CN" sz="2400" b="1" dirty="0">
                <a:solidFill>
                  <a:srgbClr val="000000"/>
                </a:solidFill>
                <a:latin typeface="Courier New" panose="02070309020205020404" pitchFamily="49" charset="0"/>
                <a:cs typeface="Courier New" panose="02070309020205020404" pitchFamily="49" charset="0"/>
              </a:rPr>
              <a:t>return</a:t>
            </a:r>
            <a:r>
              <a:rPr lang="en-US" altLang="zh-CN" sz="2400" dirty="0">
                <a:solidFill>
                  <a:srgbClr val="000000"/>
                </a:solidFill>
                <a:latin typeface="Courier New" panose="02070309020205020404" pitchFamily="49" charset="0"/>
                <a:cs typeface="Courier New" panose="02070309020205020404" pitchFamily="49" charset="0"/>
              </a:rPr>
              <a:t> mid;</a:t>
            </a:r>
          </a:p>
          <a:p>
            <a:pPr marL="0" indent="0">
              <a:spcBef>
                <a:spcPct val="10000"/>
              </a:spcBef>
              <a:buFont typeface="Arial" panose="020B0604020202020204" pitchFamily="34" charset="0"/>
              <a:buNone/>
            </a:pPr>
            <a:r>
              <a:rPr lang="en-US" altLang="zh-CN" sz="2400" dirty="0">
                <a:solidFill>
                  <a:srgbClr val="000000"/>
                </a:solidFill>
                <a:latin typeface="Courier New" panose="02070309020205020404" pitchFamily="49" charset="0"/>
                <a:cs typeface="Courier New" panose="02070309020205020404" pitchFamily="49" charset="0"/>
              </a:rPr>
              <a:t>       </a:t>
            </a:r>
            <a:r>
              <a:rPr lang="en-US" altLang="zh-CN" sz="2400" b="1" dirty="0">
                <a:solidFill>
                  <a:srgbClr val="000000"/>
                </a:solidFill>
                <a:latin typeface="Courier New" panose="02070309020205020404" pitchFamily="49" charset="0"/>
                <a:cs typeface="Courier New" panose="02070309020205020404" pitchFamily="49" charset="0"/>
              </a:rPr>
              <a:t>else</a:t>
            </a:r>
            <a:r>
              <a:rPr lang="en-US" altLang="zh-CN" sz="2400" dirty="0">
                <a:solidFill>
                  <a:srgbClr val="000000"/>
                </a:solidFill>
                <a:latin typeface="Courier New" panose="02070309020205020404" pitchFamily="49" charset="0"/>
                <a:cs typeface="Courier New" panose="02070309020205020404" pitchFamily="49" charset="0"/>
              </a:rPr>
              <a:t> </a:t>
            </a:r>
            <a:r>
              <a:rPr lang="en-US" altLang="zh-CN" sz="2400" b="1" dirty="0">
                <a:solidFill>
                  <a:srgbClr val="000000"/>
                </a:solidFill>
                <a:latin typeface="Courier New" panose="02070309020205020404" pitchFamily="49" charset="0"/>
                <a:cs typeface="Courier New" panose="02070309020205020404" pitchFamily="49" charset="0"/>
              </a:rPr>
              <a:t>if</a:t>
            </a:r>
            <a:r>
              <a:rPr lang="en-US" altLang="zh-CN" sz="2400" dirty="0">
                <a:solidFill>
                  <a:srgbClr val="000000"/>
                </a:solidFill>
                <a:latin typeface="Courier New" panose="02070309020205020404" pitchFamily="49" charset="0"/>
                <a:cs typeface="Courier New" panose="02070309020205020404" pitchFamily="49" charset="0"/>
              </a:rPr>
              <a:t>(less(</a:t>
            </a:r>
            <a:r>
              <a:rPr lang="en-US" altLang="zh-CN" sz="2400" dirty="0" err="1">
                <a:solidFill>
                  <a:srgbClr val="000000"/>
                </a:solidFill>
                <a:latin typeface="Courier New" panose="02070309020205020404" pitchFamily="49" charset="0"/>
                <a:cs typeface="Courier New" panose="02070309020205020404" pitchFamily="49" charset="0"/>
              </a:rPr>
              <a:t>x,s</a:t>
            </a:r>
            <a:r>
              <a:rPr lang="en-US" altLang="zh-CN" sz="2400" dirty="0">
                <a:solidFill>
                  <a:srgbClr val="000000"/>
                </a:solidFill>
                <a:latin typeface="Courier New" panose="02070309020205020404" pitchFamily="49" charset="0"/>
                <a:cs typeface="Courier New" panose="02070309020205020404" pitchFamily="49" charset="0"/>
              </a:rPr>
              <a:t>-&gt;</a:t>
            </a:r>
            <a:r>
              <a:rPr lang="en-US" altLang="zh-CN" sz="2400" dirty="0" err="1">
                <a:solidFill>
                  <a:srgbClr val="000000"/>
                </a:solidFill>
                <a:latin typeface="Courier New" panose="02070309020205020404" pitchFamily="49" charset="0"/>
                <a:cs typeface="Courier New" panose="02070309020205020404" pitchFamily="49" charset="0"/>
              </a:rPr>
              <a:t>elem</a:t>
            </a:r>
            <a:r>
              <a:rPr lang="en-US" altLang="zh-CN" sz="2400" dirty="0">
                <a:solidFill>
                  <a:srgbClr val="000000"/>
                </a:solidFill>
                <a:latin typeface="Courier New" panose="02070309020205020404" pitchFamily="49" charset="0"/>
                <a:cs typeface="Courier New" panose="02070309020205020404" pitchFamily="49" charset="0"/>
              </a:rPr>
              <a:t>[mid]))high=mid-1;</a:t>
            </a:r>
          </a:p>
          <a:p>
            <a:pPr marL="0" indent="0">
              <a:spcBef>
                <a:spcPct val="10000"/>
              </a:spcBef>
              <a:buFont typeface="Arial" panose="020B0604020202020204" pitchFamily="34" charset="0"/>
              <a:buNone/>
            </a:pPr>
            <a:r>
              <a:rPr lang="en-US" altLang="zh-CN" sz="2400" dirty="0">
                <a:solidFill>
                  <a:srgbClr val="000000"/>
                </a:solidFill>
                <a:latin typeface="Courier New" panose="02070309020205020404" pitchFamily="49" charset="0"/>
                <a:cs typeface="Courier New" panose="02070309020205020404" pitchFamily="49" charset="0"/>
              </a:rPr>
              <a:t>       </a:t>
            </a:r>
            <a:r>
              <a:rPr lang="en-US" altLang="zh-CN" sz="2400" b="1" dirty="0">
                <a:solidFill>
                  <a:srgbClr val="000000"/>
                </a:solidFill>
                <a:latin typeface="Courier New" panose="02070309020205020404" pitchFamily="49" charset="0"/>
                <a:cs typeface="Courier New" panose="02070309020205020404" pitchFamily="49" charset="0"/>
              </a:rPr>
              <a:t>else</a:t>
            </a:r>
            <a:r>
              <a:rPr lang="en-US" altLang="zh-CN" sz="2400" dirty="0">
                <a:solidFill>
                  <a:srgbClr val="000000"/>
                </a:solidFill>
                <a:latin typeface="Courier New" panose="02070309020205020404" pitchFamily="49" charset="0"/>
                <a:cs typeface="Courier New" panose="02070309020205020404" pitchFamily="49" charset="0"/>
              </a:rPr>
              <a:t> low=</a:t>
            </a:r>
            <a:r>
              <a:rPr lang="en-US" altLang="zh-CN" sz="2400" dirty="0" err="1">
                <a:solidFill>
                  <a:srgbClr val="000000"/>
                </a:solidFill>
                <a:latin typeface="Courier New" panose="02070309020205020404" pitchFamily="49" charset="0"/>
                <a:cs typeface="Courier New" panose="02070309020205020404" pitchFamily="49" charset="0"/>
              </a:rPr>
              <a:t>mid+1</a:t>
            </a:r>
            <a:r>
              <a:rPr lang="en-US" altLang="zh-CN" sz="2400" dirty="0">
                <a:solidFill>
                  <a:srgbClr val="000000"/>
                </a:solidFill>
                <a:latin typeface="Courier New" panose="02070309020205020404" pitchFamily="49" charset="0"/>
                <a:cs typeface="Courier New" panose="02070309020205020404" pitchFamily="49" charset="0"/>
              </a:rPr>
              <a:t>;</a:t>
            </a:r>
          </a:p>
          <a:p>
            <a:pPr marL="0" indent="0">
              <a:spcBef>
                <a:spcPct val="10000"/>
              </a:spcBef>
              <a:buFont typeface="Arial" panose="020B0604020202020204" pitchFamily="34" charset="0"/>
              <a:buNone/>
            </a:pPr>
            <a:r>
              <a:rPr lang="en-US" altLang="zh-CN" sz="2400" dirty="0">
                <a:solidFill>
                  <a:srgbClr val="000000"/>
                </a:solidFill>
                <a:latin typeface="Courier New" panose="02070309020205020404" pitchFamily="49" charset="0"/>
                <a:cs typeface="Courier New" panose="02070309020205020404" pitchFamily="49" charset="0"/>
              </a:rPr>
              <a:t>    </a:t>
            </a:r>
            <a:r>
              <a:rPr lang="en-US" altLang="zh-CN" sz="2400" b="1" dirty="0">
                <a:solidFill>
                  <a:srgbClr val="000000"/>
                </a:solidFill>
                <a:latin typeface="Courier New" panose="02070309020205020404" pitchFamily="49" charset="0"/>
                <a:cs typeface="Courier New" panose="02070309020205020404" pitchFamily="49" charset="0"/>
              </a:rPr>
              <a:t>}</a:t>
            </a:r>
          </a:p>
          <a:p>
            <a:pPr marL="0" indent="0">
              <a:spcBef>
                <a:spcPct val="10000"/>
              </a:spcBef>
              <a:buFont typeface="Arial" panose="020B0604020202020204" pitchFamily="34" charset="0"/>
              <a:buNone/>
            </a:pPr>
            <a:r>
              <a:rPr lang="en-US" altLang="zh-CN" sz="2400" dirty="0">
                <a:solidFill>
                  <a:srgbClr val="000000"/>
                </a:solidFill>
                <a:latin typeface="Courier New" panose="02070309020205020404" pitchFamily="49" charset="0"/>
                <a:cs typeface="Courier New" panose="02070309020205020404" pitchFamily="49" charset="0"/>
              </a:rPr>
              <a:t>    </a:t>
            </a:r>
            <a:r>
              <a:rPr lang="en-US" altLang="zh-CN" sz="2400" b="1" dirty="0">
                <a:solidFill>
                  <a:srgbClr val="000000"/>
                </a:solidFill>
                <a:latin typeface="Courier New" panose="02070309020205020404" pitchFamily="49" charset="0"/>
                <a:cs typeface="Courier New" panose="02070309020205020404" pitchFamily="49" charset="0"/>
              </a:rPr>
              <a:t>return</a:t>
            </a:r>
            <a:r>
              <a:rPr lang="en-US" altLang="zh-CN" sz="2400" dirty="0">
                <a:solidFill>
                  <a:srgbClr val="000000"/>
                </a:solidFill>
                <a:latin typeface="Courier New" panose="02070309020205020404" pitchFamily="49" charset="0"/>
                <a:cs typeface="Courier New" panose="02070309020205020404" pitchFamily="49" charset="0"/>
              </a:rPr>
              <a:t> -1;</a:t>
            </a:r>
          </a:p>
          <a:p>
            <a:pPr marL="0" indent="0">
              <a:spcBef>
                <a:spcPct val="10000"/>
              </a:spcBef>
              <a:buFont typeface="Arial" panose="020B0604020202020204" pitchFamily="34" charset="0"/>
              <a:buNone/>
            </a:pPr>
            <a:r>
              <a:rPr lang="en-US" altLang="zh-CN" sz="2400" dirty="0">
                <a:solidFill>
                  <a:srgbClr val="000000"/>
                </a:solidFill>
                <a:latin typeface="Courier New" panose="02070309020205020404" pitchFamily="49" charset="0"/>
                <a:cs typeface="Courier New" panose="02070309020205020404" pitchFamily="49" charset="0"/>
              </a:rPr>
              <a:t>  </a:t>
            </a:r>
            <a:r>
              <a:rPr lang="en-US" altLang="zh-CN" sz="2400" b="1" dirty="0">
                <a:solidFill>
                  <a:srgbClr val="000000"/>
                </a:solidFill>
                <a:latin typeface="Courier New" panose="02070309020205020404" pitchFamily="49" charset="0"/>
                <a:cs typeface="Courier New" panose="02070309020205020404" pitchFamily="49" charset="0"/>
              </a:rPr>
              <a:t>}</a:t>
            </a:r>
          </a:p>
        </p:txBody>
      </p:sp>
      <p:sp>
        <p:nvSpPr>
          <p:cNvPr id="5" name="灯片编号占位符 4">
            <a:extLst>
              <a:ext uri="{FF2B5EF4-FFF2-40B4-BE49-F238E27FC236}">
                <a16:creationId xmlns:a16="http://schemas.microsoft.com/office/drawing/2014/main" id="{63575B2E-A7CF-1B9A-6693-B365504248AC}"/>
              </a:ext>
            </a:extLst>
          </p:cNvPr>
          <p:cNvSpPr>
            <a:spLocks noGrp="1"/>
          </p:cNvSpPr>
          <p:nvPr>
            <p:ph type="sldNum" sz="quarter" idx="12"/>
          </p:nvPr>
        </p:nvSpPr>
        <p:spPr/>
        <p:txBody>
          <a:bodyPr/>
          <a:lstStyle/>
          <a:p>
            <a:fld id="{D7C0FE0B-717B-41AE-9FA2-CA4BF851D1C3}" type="slidenum">
              <a:rPr lang="zh-CN" altLang="en-US" smtClean="0"/>
              <a:t>13</a:t>
            </a:fld>
            <a:endParaRPr lang="zh-CN" altLang="en-US"/>
          </a:p>
        </p:txBody>
      </p:sp>
    </p:spTree>
    <p:extLst>
      <p:ext uri="{BB962C8B-B14F-4D97-AF65-F5344CB8AC3E}">
        <p14:creationId xmlns:p14="http://schemas.microsoft.com/office/powerpoint/2010/main" val="8476134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CE4E10B-515D-3AFC-EAA2-6A035E2ADB39}"/>
              </a:ext>
            </a:extLst>
          </p:cNvPr>
          <p:cNvSpPr/>
          <p:nvPr/>
        </p:nvSpPr>
        <p:spPr>
          <a:xfrm>
            <a:off x="1345660" y="1777798"/>
            <a:ext cx="9481700" cy="4243893"/>
          </a:xfrm>
          <a:prstGeom prst="rect">
            <a:avLst/>
          </a:prstGeom>
          <a:solidFill>
            <a:schemeClr val="accent6">
              <a:lumMod val="20000"/>
              <a:lumOff val="80000"/>
            </a:schemeClr>
          </a:solidFill>
          <a:ln w="9525" cap="flat" cmpd="sng">
            <a:solidFill>
              <a:schemeClr val="tx1"/>
            </a:solidFill>
            <a:prstDash val="solid"/>
            <a:miter/>
            <a:headEnd type="none" w="med" len="med"/>
            <a:tailEnd type="none" w="med" len="med"/>
          </a:ln>
          <a:effectLst>
            <a:prstShdw prst="shdw12" dir="16200000">
              <a:schemeClr val="bg2">
                <a:alpha val="50000"/>
              </a:schemeClr>
            </a:prstShdw>
          </a:effectLst>
        </p:spPr>
        <p:txBody>
          <a:bodyPr/>
          <a:lstStyle/>
          <a:p>
            <a:endParaRPr lang="zh-CN" altLang="en-US"/>
          </a:p>
        </p:txBody>
      </p:sp>
      <p:sp>
        <p:nvSpPr>
          <p:cNvPr id="3" name="标题 165890">
            <a:extLst>
              <a:ext uri="{FF2B5EF4-FFF2-40B4-BE49-F238E27FC236}">
                <a16:creationId xmlns:a16="http://schemas.microsoft.com/office/drawing/2014/main" id="{14F0788D-2F0B-A020-9AC6-0F2A9D059E0C}"/>
              </a:ext>
            </a:extLst>
          </p:cNvPr>
          <p:cNvSpPr txBox="1">
            <a:spLocks/>
          </p:cNvSpPr>
          <p:nvPr/>
        </p:nvSpPr>
        <p:spPr>
          <a:xfrm>
            <a:off x="1215958" y="177798"/>
            <a:ext cx="5728402" cy="711201"/>
          </a:xfrm>
          <a:prstGeom prst="rect">
            <a:avLst/>
          </a:prstGeom>
        </p:spPr>
        <p:txBody>
          <a:bodyPr vert="horz" lIns="91440" tIns="45720" rIns="91440" bIns="45720" rtlCol="0" anchor="ctr" anchorCtr="0">
            <a:normAutofit/>
          </a:bodyPr>
          <a:lstStyle>
            <a:defPPr>
              <a:defRPr lang="zh-CN"/>
            </a:defPPr>
            <a:lvl1pPr>
              <a:lnSpc>
                <a:spcPct val="90000"/>
              </a:lnSpc>
              <a:spcBef>
                <a:spcPct val="0"/>
              </a:spcBef>
              <a:buNone/>
              <a:defRPr sz="3200">
                <a:solidFill>
                  <a:srgbClr val="000099"/>
                </a:solidFill>
                <a:effectLst>
                  <a:outerShdw blurRad="38100" dist="38100" dir="2700000" algn="tl">
                    <a:srgbClr val="000000">
                      <a:alpha val="43137"/>
                    </a:srgbClr>
                  </a:outerShdw>
                </a:effectLst>
                <a:latin typeface="+mj-lt"/>
                <a:ea typeface="+mj-ea"/>
                <a:cs typeface="+mj-cs"/>
              </a:defRPr>
            </a:lvl1pPr>
          </a:lstStyle>
          <a:p>
            <a:r>
              <a:rPr lang="en-US" altLang="zh-CN" dirty="0"/>
              <a:t>1.0.7  </a:t>
            </a:r>
            <a:r>
              <a:rPr lang="zh-CN" altLang="en-US" dirty="0"/>
              <a:t>序列的元素滑移（换位）</a:t>
            </a:r>
          </a:p>
        </p:txBody>
      </p:sp>
      <p:sp>
        <p:nvSpPr>
          <p:cNvPr id="4" name="文本占位符 165891">
            <a:extLst>
              <a:ext uri="{FF2B5EF4-FFF2-40B4-BE49-F238E27FC236}">
                <a16:creationId xmlns:a16="http://schemas.microsoft.com/office/drawing/2014/main" id="{0628D42C-86D5-9768-0510-324F33671FCC}"/>
              </a:ext>
            </a:extLst>
          </p:cNvPr>
          <p:cNvSpPr txBox="1">
            <a:spLocks/>
          </p:cNvSpPr>
          <p:nvPr/>
        </p:nvSpPr>
        <p:spPr>
          <a:xfrm>
            <a:off x="1455906" y="1076326"/>
            <a:ext cx="9390434" cy="4896725"/>
          </a:xfrm>
          <a:prstGeom prst="rect">
            <a:avLst/>
          </a:prstGeom>
          <a:effectLst>
            <a:prstShdw prst="shdw12" dir="16200000">
              <a:schemeClr val="bg2">
                <a:alpha val="50000"/>
              </a:schemeClr>
            </a:prstShdw>
          </a:effectLst>
        </p:spPr>
        <p:txBody>
          <a:bodyPr vert="horz" wrap="square" lIns="91440" tIns="45720" rIns="91440" bIns="4572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fontAlgn="base">
              <a:lnSpc>
                <a:spcPct val="150000"/>
              </a:lnSpc>
              <a:spcBef>
                <a:spcPct val="0"/>
              </a:spcBef>
              <a:spcAft>
                <a:spcPct val="20000"/>
              </a:spcAft>
              <a:buNone/>
            </a:pPr>
            <a:r>
              <a:rPr lang="en-US" altLang="zh-CN" b="1" dirty="0">
                <a:solidFill>
                  <a:srgbClr val="A50021"/>
                </a:solidFill>
                <a:effectLst>
                  <a:outerShdw blurRad="38100" dist="38100" dir="2700000">
                    <a:srgbClr val="C0C0C0"/>
                  </a:outerShdw>
                </a:effectLst>
                <a:latin typeface="Calibri Light" panose="020F0302020204030204"/>
                <a:ea typeface="黑体" panose="02010609060101010101" pitchFamily="49" charset="-122"/>
                <a:cs typeface="Calibri Light" panose="020F0302020204030204"/>
              </a:rPr>
              <a:t>1.0.7.1  </a:t>
            </a:r>
            <a:r>
              <a:rPr lang="zh-CN" altLang="en-US" b="1" dirty="0">
                <a:solidFill>
                  <a:srgbClr val="A50021"/>
                </a:solidFill>
                <a:effectLst>
                  <a:outerShdw blurRad="38100" dist="38100" dir="2700000">
                    <a:srgbClr val="C0C0C0"/>
                  </a:outerShdw>
                </a:effectLst>
                <a:latin typeface="Calibri Light" panose="020F0302020204030204"/>
                <a:ea typeface="黑体" panose="02010609060101010101" pitchFamily="49" charset="-122"/>
                <a:cs typeface="Calibri Light" panose="020F0302020204030204"/>
              </a:rPr>
              <a:t>两个元素交换位置</a:t>
            </a:r>
          </a:p>
          <a:p>
            <a:pPr marL="0" indent="0">
              <a:spcBef>
                <a:spcPct val="10000"/>
              </a:spcBef>
              <a:buFont typeface="Arial" panose="020B0604020202020204" pitchFamily="34" charset="0"/>
              <a:buNone/>
            </a:pPr>
            <a:r>
              <a:rPr lang="en-US" altLang="zh-CN" sz="2400" b="1" dirty="0">
                <a:solidFill>
                  <a:schemeClr val="tx2"/>
                </a:solidFill>
                <a:latin typeface="Courier New" panose="02070309020205020404" pitchFamily="49" charset="0"/>
                <a:ea typeface="黑体" panose="02010609060101010101" pitchFamily="49" charset="-122"/>
                <a:cs typeface="Courier New" panose="02070309020205020404" pitchFamily="49" charset="0"/>
              </a:rPr>
              <a:t>int</a:t>
            </a:r>
            <a:r>
              <a:rPr lang="en-US" altLang="zh-CN" sz="2400" dirty="0">
                <a:solidFill>
                  <a:schemeClr val="tx2"/>
                </a:solidFill>
                <a:latin typeface="Courier New" panose="02070309020205020404" pitchFamily="49" charset="0"/>
                <a:ea typeface="黑体" panose="02010609060101010101" pitchFamily="49" charset="-122"/>
                <a:cs typeface="Courier New" panose="02070309020205020404" pitchFamily="49" charset="0"/>
              </a:rPr>
              <a:t> swap(Sequence s, </a:t>
            </a:r>
            <a:r>
              <a:rPr lang="en-US" altLang="zh-CN" sz="2400" b="1" dirty="0">
                <a:solidFill>
                  <a:schemeClr val="tx2"/>
                </a:solidFill>
                <a:latin typeface="Courier New" panose="02070309020205020404" pitchFamily="49" charset="0"/>
                <a:ea typeface="黑体" panose="02010609060101010101" pitchFamily="49" charset="-122"/>
                <a:cs typeface="Courier New" panose="02070309020205020404" pitchFamily="49" charset="0"/>
              </a:rPr>
              <a:t>int</a:t>
            </a:r>
            <a:r>
              <a:rPr lang="en-US" altLang="zh-CN" sz="2400" dirty="0">
                <a:solidFill>
                  <a:schemeClr val="tx2"/>
                </a:solidFill>
                <a:latin typeface="Courier New" panose="02070309020205020404" pitchFamily="49" charset="0"/>
                <a:ea typeface="黑体" panose="02010609060101010101" pitchFamily="49" charset="-122"/>
                <a:cs typeface="Courier New" panose="02070309020205020404" pitchFamily="49" charset="0"/>
              </a:rPr>
              <a:t> </a:t>
            </a:r>
            <a:r>
              <a:rPr lang="en-US" altLang="zh-CN" sz="2400" dirty="0" err="1">
                <a:solidFill>
                  <a:schemeClr val="tx2"/>
                </a:solidFill>
                <a:latin typeface="Courier New" panose="02070309020205020404" pitchFamily="49" charset="0"/>
                <a:ea typeface="黑体" panose="02010609060101010101" pitchFamily="49" charset="-122"/>
                <a:cs typeface="Courier New" panose="02070309020205020404" pitchFamily="49" charset="0"/>
              </a:rPr>
              <a:t>i</a:t>
            </a:r>
            <a:r>
              <a:rPr lang="en-US" altLang="zh-CN" sz="2400" dirty="0">
                <a:solidFill>
                  <a:schemeClr val="tx2"/>
                </a:solidFill>
                <a:latin typeface="Courier New" panose="02070309020205020404" pitchFamily="49" charset="0"/>
                <a:ea typeface="黑体" panose="02010609060101010101" pitchFamily="49" charset="-122"/>
                <a:cs typeface="Courier New" panose="02070309020205020404" pitchFamily="49" charset="0"/>
              </a:rPr>
              <a:t>, </a:t>
            </a:r>
            <a:r>
              <a:rPr lang="en-US" altLang="zh-CN" sz="2400" b="1" dirty="0">
                <a:solidFill>
                  <a:schemeClr val="tx2"/>
                </a:solidFill>
                <a:latin typeface="Courier New" panose="02070309020205020404" pitchFamily="49" charset="0"/>
                <a:ea typeface="黑体" panose="02010609060101010101" pitchFamily="49" charset="-122"/>
                <a:cs typeface="Courier New" panose="02070309020205020404" pitchFamily="49" charset="0"/>
              </a:rPr>
              <a:t>int</a:t>
            </a:r>
            <a:r>
              <a:rPr lang="en-US" altLang="zh-CN" sz="2400" dirty="0">
                <a:solidFill>
                  <a:schemeClr val="tx2"/>
                </a:solidFill>
                <a:latin typeface="Courier New" panose="02070309020205020404" pitchFamily="49" charset="0"/>
                <a:ea typeface="黑体" panose="02010609060101010101" pitchFamily="49" charset="-122"/>
                <a:cs typeface="Courier New" panose="02070309020205020404" pitchFamily="49" charset="0"/>
              </a:rPr>
              <a:t> j) </a:t>
            </a:r>
            <a:r>
              <a:rPr lang="en-US" altLang="zh-CN" sz="2400" b="1" dirty="0">
                <a:solidFill>
                  <a:schemeClr val="tx2"/>
                </a:solidFill>
                <a:latin typeface="Courier New" panose="02070309020205020404" pitchFamily="49" charset="0"/>
                <a:ea typeface="黑体" panose="02010609060101010101" pitchFamily="49" charset="-122"/>
                <a:cs typeface="Courier New" panose="02070309020205020404" pitchFamily="49" charset="0"/>
              </a:rPr>
              <a:t>{</a:t>
            </a:r>
          </a:p>
          <a:p>
            <a:pPr marL="0" indent="0">
              <a:spcBef>
                <a:spcPct val="10000"/>
              </a:spcBef>
              <a:buFont typeface="Arial" panose="020B0604020202020204" pitchFamily="34" charset="0"/>
              <a:buNone/>
            </a:pPr>
            <a:r>
              <a:rPr lang="en-US" altLang="zh-CN" sz="2400" dirty="0">
                <a:solidFill>
                  <a:schemeClr val="tx2"/>
                </a:solidFill>
                <a:latin typeface="Courier New" panose="02070309020205020404" pitchFamily="49" charset="0"/>
                <a:ea typeface="黑体" panose="02010609060101010101" pitchFamily="49" charset="-122"/>
                <a:cs typeface="Courier New" panose="02070309020205020404" pitchFamily="49" charset="0"/>
              </a:rPr>
              <a:t>   </a:t>
            </a:r>
            <a:r>
              <a:rPr lang="en-US" altLang="zh-CN" sz="2400" dirty="0" err="1">
                <a:solidFill>
                  <a:schemeClr val="tx2"/>
                </a:solidFill>
                <a:latin typeface="Courier New" panose="02070309020205020404" pitchFamily="49" charset="0"/>
                <a:ea typeface="黑体" panose="02010609060101010101" pitchFamily="49" charset="-122"/>
                <a:cs typeface="Courier New" panose="02070309020205020404" pitchFamily="49" charset="0"/>
              </a:rPr>
              <a:t>ElemType</a:t>
            </a:r>
            <a:r>
              <a:rPr lang="en-US" altLang="zh-CN" sz="2400" dirty="0">
                <a:solidFill>
                  <a:schemeClr val="tx2"/>
                </a:solidFill>
                <a:latin typeface="Courier New" panose="02070309020205020404" pitchFamily="49" charset="0"/>
                <a:ea typeface="黑体" panose="02010609060101010101" pitchFamily="49" charset="-122"/>
                <a:cs typeface="Courier New" panose="02070309020205020404" pitchFamily="49" charset="0"/>
              </a:rPr>
              <a:t> t;</a:t>
            </a:r>
          </a:p>
          <a:p>
            <a:pPr marL="0" indent="0">
              <a:spcBef>
                <a:spcPct val="10000"/>
              </a:spcBef>
              <a:buFont typeface="Arial" panose="020B0604020202020204" pitchFamily="34" charset="0"/>
              <a:buNone/>
            </a:pPr>
            <a:r>
              <a:rPr lang="en-US" altLang="zh-CN" sz="24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   </a:t>
            </a:r>
            <a:r>
              <a:rPr lang="en-US" altLang="zh-CN" sz="2400" b="1" dirty="0">
                <a:solidFill>
                  <a:schemeClr val="tx2"/>
                </a:solidFill>
                <a:latin typeface="Courier New" panose="02070309020205020404" pitchFamily="49" charset="0"/>
                <a:ea typeface="黑体" panose="02010609060101010101" pitchFamily="49" charset="-122"/>
                <a:cs typeface="Courier New" panose="02070309020205020404" pitchFamily="49" charset="0"/>
              </a:rPr>
              <a:t>if </a:t>
            </a:r>
            <a:r>
              <a:rPr lang="en-US" altLang="zh-CN" sz="24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a:t>
            </a:r>
            <a:r>
              <a:rPr lang="en-US" altLang="zh-CN" sz="2400" dirty="0" err="1">
                <a:solidFill>
                  <a:srgbClr val="000000"/>
                </a:solidFill>
                <a:latin typeface="Courier New" panose="02070309020205020404" pitchFamily="49" charset="0"/>
                <a:ea typeface="黑体" panose="02010609060101010101" pitchFamily="49" charset="-122"/>
                <a:cs typeface="Courier New" panose="02070309020205020404" pitchFamily="49" charset="0"/>
              </a:rPr>
              <a:t>i</a:t>
            </a:r>
            <a:r>
              <a:rPr lang="en-US" altLang="zh-CN" sz="24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&lt;0 </a:t>
            </a:r>
            <a:r>
              <a:rPr lang="en-US" altLang="zh-CN" sz="2400" b="1" dirty="0">
                <a:solidFill>
                  <a:srgbClr val="000000"/>
                </a:solidFill>
                <a:latin typeface="Courier New" panose="02070309020205020404" pitchFamily="49" charset="0"/>
                <a:ea typeface="黑体" panose="02010609060101010101" pitchFamily="49" charset="-122"/>
                <a:cs typeface="Courier New" panose="02070309020205020404" pitchFamily="49" charset="0"/>
              </a:rPr>
              <a:t>|| </a:t>
            </a:r>
            <a:r>
              <a:rPr lang="en-US" altLang="zh-CN" sz="2400" dirty="0" err="1">
                <a:solidFill>
                  <a:srgbClr val="000000"/>
                </a:solidFill>
                <a:latin typeface="Courier New" panose="02070309020205020404" pitchFamily="49" charset="0"/>
                <a:ea typeface="黑体" panose="02010609060101010101" pitchFamily="49" charset="-122"/>
                <a:cs typeface="Courier New" panose="02070309020205020404" pitchFamily="49" charset="0"/>
              </a:rPr>
              <a:t>i</a:t>
            </a:r>
            <a:r>
              <a:rPr lang="en-US" altLang="zh-CN" sz="24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&gt;=s-&gt;length </a:t>
            </a:r>
            <a:r>
              <a:rPr lang="en-US" altLang="zh-CN" sz="2400" b="1" dirty="0">
                <a:solidFill>
                  <a:srgbClr val="000000"/>
                </a:solidFill>
                <a:latin typeface="Courier New" panose="02070309020205020404" pitchFamily="49" charset="0"/>
                <a:ea typeface="黑体" panose="02010609060101010101" pitchFamily="49" charset="-122"/>
                <a:cs typeface="Courier New" panose="02070309020205020404" pitchFamily="49" charset="0"/>
              </a:rPr>
              <a:t>|| </a:t>
            </a:r>
            <a:r>
              <a:rPr lang="en-US" altLang="zh-CN" sz="24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j&lt;0||j&gt;=s-&gt;length)</a:t>
            </a:r>
          </a:p>
          <a:p>
            <a:pPr marL="0" indent="0">
              <a:spcBef>
                <a:spcPct val="10000"/>
              </a:spcBef>
              <a:buFont typeface="Arial" panose="020B0604020202020204" pitchFamily="34" charset="0"/>
              <a:buNone/>
            </a:pPr>
            <a:r>
              <a:rPr lang="en-US" altLang="zh-CN" sz="24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      </a:t>
            </a:r>
            <a:r>
              <a:rPr lang="en-US" altLang="zh-CN" sz="2400" b="1" dirty="0">
                <a:solidFill>
                  <a:schemeClr val="tx2"/>
                </a:solidFill>
                <a:latin typeface="Courier New" panose="02070309020205020404" pitchFamily="49" charset="0"/>
                <a:ea typeface="黑体" panose="02010609060101010101" pitchFamily="49" charset="-122"/>
                <a:cs typeface="Courier New" panose="02070309020205020404" pitchFamily="49" charset="0"/>
              </a:rPr>
              <a:t>return</a:t>
            </a:r>
            <a:r>
              <a:rPr lang="en-US" altLang="zh-CN" sz="24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 0;</a:t>
            </a:r>
            <a:endParaRPr lang="da-DK" altLang="zh-CN" sz="2400" dirty="0">
              <a:solidFill>
                <a:srgbClr val="000000"/>
              </a:solidFill>
              <a:latin typeface="Courier New" panose="02070309020205020404" pitchFamily="49" charset="0"/>
              <a:ea typeface="黑体" panose="02010609060101010101" pitchFamily="49" charset="-122"/>
              <a:cs typeface="Courier New" panose="02070309020205020404" pitchFamily="49" charset="0"/>
            </a:endParaRPr>
          </a:p>
          <a:p>
            <a:pPr marL="0" indent="0">
              <a:spcBef>
                <a:spcPct val="10000"/>
              </a:spcBef>
              <a:buFont typeface="Arial" panose="020B0604020202020204" pitchFamily="34" charset="0"/>
              <a:buNone/>
            </a:pPr>
            <a:r>
              <a:rPr lang="da-DK" altLang="zh-CN" sz="24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   </a:t>
            </a:r>
            <a:r>
              <a:rPr lang="da-DK" altLang="zh-CN" sz="2400" b="1" dirty="0">
                <a:solidFill>
                  <a:schemeClr val="tx2"/>
                </a:solidFill>
                <a:latin typeface="Courier New" panose="02070309020205020404" pitchFamily="49" charset="0"/>
                <a:ea typeface="黑体" panose="02010609060101010101" pitchFamily="49" charset="-122"/>
                <a:cs typeface="Courier New" panose="02070309020205020404" pitchFamily="49" charset="0"/>
              </a:rPr>
              <a:t>if </a:t>
            </a:r>
            <a:r>
              <a:rPr lang="da-DK" altLang="zh-CN" sz="24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(i</a:t>
            </a:r>
            <a:r>
              <a:rPr lang="da-DK" altLang="zh-CN" sz="2400" b="1" dirty="0">
                <a:solidFill>
                  <a:srgbClr val="000000"/>
                </a:solidFill>
                <a:latin typeface="Courier New" panose="02070309020205020404" pitchFamily="49" charset="0"/>
                <a:ea typeface="黑体" panose="02010609060101010101" pitchFamily="49" charset="-122"/>
                <a:cs typeface="Courier New" panose="02070309020205020404" pitchFamily="49" charset="0"/>
              </a:rPr>
              <a:t>!</a:t>
            </a:r>
            <a:r>
              <a:rPr lang="da-DK" altLang="zh-CN" sz="24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=j) </a:t>
            </a:r>
            <a:r>
              <a:rPr lang="da-DK" altLang="zh-CN" sz="2400" b="1" dirty="0">
                <a:solidFill>
                  <a:schemeClr val="tx2"/>
                </a:solidFill>
                <a:latin typeface="Courier New" panose="02070309020205020404" pitchFamily="49" charset="0"/>
                <a:ea typeface="黑体" panose="02010609060101010101" pitchFamily="49" charset="-122"/>
                <a:cs typeface="Courier New" panose="02070309020205020404" pitchFamily="49" charset="0"/>
              </a:rPr>
              <a:t>{</a:t>
            </a:r>
          </a:p>
          <a:p>
            <a:pPr marL="0" indent="0">
              <a:spcBef>
                <a:spcPct val="10000"/>
              </a:spcBef>
              <a:buFont typeface="Arial" panose="020B0604020202020204" pitchFamily="34" charset="0"/>
              <a:buNone/>
            </a:pPr>
            <a:r>
              <a:rPr lang="da-DK" altLang="zh-CN" sz="24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      t=s-&gt;elem[i];</a:t>
            </a:r>
          </a:p>
          <a:p>
            <a:pPr marL="0" indent="0">
              <a:spcBef>
                <a:spcPct val="10000"/>
              </a:spcBef>
              <a:buFont typeface="Arial" panose="020B0604020202020204" pitchFamily="34" charset="0"/>
              <a:buNone/>
            </a:pPr>
            <a:r>
              <a:rPr lang="da-DK" altLang="zh-CN" sz="24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      s-&gt;elem[i]=s-&gt;elem[j];</a:t>
            </a:r>
            <a:endParaRPr lang="en-US" altLang="zh-CN" sz="2400" dirty="0">
              <a:solidFill>
                <a:srgbClr val="000000"/>
              </a:solidFill>
              <a:latin typeface="Courier New" panose="02070309020205020404" pitchFamily="49" charset="0"/>
              <a:ea typeface="黑体" panose="02010609060101010101" pitchFamily="49" charset="-122"/>
              <a:cs typeface="Courier New" panose="02070309020205020404" pitchFamily="49" charset="0"/>
            </a:endParaRPr>
          </a:p>
          <a:p>
            <a:pPr marL="0" indent="0">
              <a:spcBef>
                <a:spcPct val="10000"/>
              </a:spcBef>
              <a:buFont typeface="Arial" panose="020B0604020202020204" pitchFamily="34" charset="0"/>
              <a:buNone/>
            </a:pPr>
            <a:r>
              <a:rPr lang="en-US" altLang="zh-CN" sz="24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      s-&gt;</a:t>
            </a:r>
            <a:r>
              <a:rPr lang="en-US" altLang="zh-CN" sz="2400" dirty="0" err="1">
                <a:solidFill>
                  <a:srgbClr val="000000"/>
                </a:solidFill>
                <a:latin typeface="Courier New" panose="02070309020205020404" pitchFamily="49" charset="0"/>
                <a:ea typeface="黑体" panose="02010609060101010101" pitchFamily="49" charset="-122"/>
                <a:cs typeface="Courier New" panose="02070309020205020404" pitchFamily="49" charset="0"/>
              </a:rPr>
              <a:t>elem</a:t>
            </a:r>
            <a:r>
              <a:rPr lang="en-US" altLang="zh-CN" sz="24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[j]=t;</a:t>
            </a:r>
          </a:p>
          <a:p>
            <a:pPr marL="0" indent="0">
              <a:spcBef>
                <a:spcPct val="10000"/>
              </a:spcBef>
              <a:buFont typeface="Arial" panose="020B0604020202020204" pitchFamily="34" charset="0"/>
              <a:buNone/>
            </a:pPr>
            <a:r>
              <a:rPr lang="en-US" altLang="zh-CN" sz="24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   </a:t>
            </a:r>
            <a:r>
              <a:rPr lang="en-US" altLang="zh-CN" sz="2400" b="1" dirty="0">
                <a:solidFill>
                  <a:schemeClr val="tx2"/>
                </a:solidFill>
                <a:latin typeface="Courier New" panose="02070309020205020404" pitchFamily="49" charset="0"/>
                <a:ea typeface="黑体" panose="02010609060101010101" pitchFamily="49" charset="-122"/>
                <a:cs typeface="Courier New" panose="02070309020205020404" pitchFamily="49" charset="0"/>
              </a:rPr>
              <a:t>}</a:t>
            </a:r>
          </a:p>
          <a:p>
            <a:pPr marL="0" indent="0">
              <a:spcBef>
                <a:spcPct val="10000"/>
              </a:spcBef>
              <a:buFont typeface="Arial" panose="020B0604020202020204" pitchFamily="34" charset="0"/>
              <a:buNone/>
            </a:pPr>
            <a:r>
              <a:rPr lang="en-US" altLang="zh-CN" sz="24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   </a:t>
            </a:r>
            <a:r>
              <a:rPr lang="en-US" altLang="zh-CN" sz="2400" b="1" dirty="0">
                <a:solidFill>
                  <a:schemeClr val="tx2"/>
                </a:solidFill>
                <a:latin typeface="Courier New" panose="02070309020205020404" pitchFamily="49" charset="0"/>
                <a:ea typeface="黑体" panose="02010609060101010101" pitchFamily="49" charset="-122"/>
                <a:cs typeface="Courier New" panose="02070309020205020404" pitchFamily="49" charset="0"/>
              </a:rPr>
              <a:t>return</a:t>
            </a:r>
            <a:r>
              <a:rPr lang="en-US" altLang="zh-CN" sz="24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 1;</a:t>
            </a:r>
          </a:p>
          <a:p>
            <a:pPr marL="0" indent="0">
              <a:spcBef>
                <a:spcPct val="10000"/>
              </a:spcBef>
              <a:buFont typeface="Arial" panose="020B0604020202020204" pitchFamily="34" charset="0"/>
              <a:buNone/>
            </a:pPr>
            <a:r>
              <a:rPr lang="en-US" altLang="zh-CN" sz="2400" b="1" dirty="0">
                <a:solidFill>
                  <a:schemeClr val="tx2"/>
                </a:solidFill>
                <a:latin typeface="Courier New" panose="02070309020205020404" pitchFamily="49" charset="0"/>
                <a:ea typeface="黑体" panose="02010609060101010101" pitchFamily="49" charset="-122"/>
                <a:cs typeface="Courier New" panose="02070309020205020404" pitchFamily="49" charset="0"/>
              </a:rPr>
              <a:t>}</a:t>
            </a:r>
          </a:p>
        </p:txBody>
      </p:sp>
      <p:sp>
        <p:nvSpPr>
          <p:cNvPr id="5" name="灯片编号占位符 4">
            <a:extLst>
              <a:ext uri="{FF2B5EF4-FFF2-40B4-BE49-F238E27FC236}">
                <a16:creationId xmlns:a16="http://schemas.microsoft.com/office/drawing/2014/main" id="{CBDCDFD2-4E1E-DE07-AF58-DFB33C9FAB46}"/>
              </a:ext>
            </a:extLst>
          </p:cNvPr>
          <p:cNvSpPr>
            <a:spLocks noGrp="1"/>
          </p:cNvSpPr>
          <p:nvPr>
            <p:ph type="sldNum" sz="quarter" idx="12"/>
          </p:nvPr>
        </p:nvSpPr>
        <p:spPr/>
        <p:txBody>
          <a:bodyPr/>
          <a:lstStyle/>
          <a:p>
            <a:fld id="{D7C0FE0B-717B-41AE-9FA2-CA4BF851D1C3}" type="slidenum">
              <a:rPr lang="zh-CN" altLang="en-US" smtClean="0"/>
              <a:t>14</a:t>
            </a:fld>
            <a:endParaRPr lang="zh-CN" altLang="en-US"/>
          </a:p>
        </p:txBody>
      </p:sp>
    </p:spTree>
    <p:extLst>
      <p:ext uri="{BB962C8B-B14F-4D97-AF65-F5344CB8AC3E}">
        <p14:creationId xmlns:p14="http://schemas.microsoft.com/office/powerpoint/2010/main" val="34803159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4FBDCC2A-87D4-5444-0A2A-B4CC9174BD59}"/>
              </a:ext>
            </a:extLst>
          </p:cNvPr>
          <p:cNvSpPr/>
          <p:nvPr/>
        </p:nvSpPr>
        <p:spPr>
          <a:xfrm>
            <a:off x="1147542" y="1513186"/>
            <a:ext cx="9036997" cy="4493670"/>
          </a:xfrm>
          <a:prstGeom prst="rect">
            <a:avLst/>
          </a:prstGeom>
          <a:solidFill>
            <a:schemeClr val="accent6">
              <a:lumMod val="20000"/>
              <a:lumOff val="80000"/>
            </a:schemeClr>
          </a:solidFill>
          <a:ln w="9525" cap="flat" cmpd="sng">
            <a:solidFill>
              <a:schemeClr val="tx1"/>
            </a:solidFill>
            <a:prstDash val="solid"/>
            <a:miter/>
            <a:headEnd type="none" w="med" len="med"/>
            <a:tailEnd type="none" w="med" len="med"/>
          </a:ln>
          <a:effectLst>
            <a:prstShdw prst="shdw12" dir="16200000">
              <a:schemeClr val="bg2">
                <a:alpha val="50000"/>
              </a:schemeClr>
            </a:prstShdw>
          </a:effectLst>
        </p:spPr>
        <p:txBody>
          <a:bodyPr/>
          <a:lstStyle/>
          <a:p>
            <a:endParaRPr lang="zh-CN" altLang="en-US"/>
          </a:p>
        </p:txBody>
      </p:sp>
      <p:sp>
        <p:nvSpPr>
          <p:cNvPr id="3" name="标题 166915">
            <a:extLst>
              <a:ext uri="{FF2B5EF4-FFF2-40B4-BE49-F238E27FC236}">
                <a16:creationId xmlns:a16="http://schemas.microsoft.com/office/drawing/2014/main" id="{844AE293-0E17-4C95-AF85-412CCA161131}"/>
              </a:ext>
            </a:extLst>
          </p:cNvPr>
          <p:cNvSpPr txBox="1">
            <a:spLocks/>
          </p:cNvSpPr>
          <p:nvPr/>
        </p:nvSpPr>
        <p:spPr>
          <a:xfrm>
            <a:off x="1269459" y="121933"/>
            <a:ext cx="6320061" cy="700089"/>
          </a:xfrm>
          <a:prstGeom prst="rect">
            <a:avLst/>
          </a:prstGeom>
        </p:spPr>
        <p:txBody>
          <a:bodyPr vert="horz" lIns="91440" tIns="45720" rIns="91440" bIns="45720" rtlCol="0" anchor="ctr" anchorCtr="0">
            <a:normAutofit/>
          </a:bodyPr>
          <a:lstStyle>
            <a:defPPr>
              <a:defRPr lang="zh-CN"/>
            </a:defPPr>
            <a:lvl1pPr>
              <a:lnSpc>
                <a:spcPct val="90000"/>
              </a:lnSpc>
              <a:spcBef>
                <a:spcPct val="0"/>
              </a:spcBef>
              <a:buNone/>
              <a:defRPr sz="3200">
                <a:solidFill>
                  <a:srgbClr val="000099"/>
                </a:solidFill>
                <a:effectLst>
                  <a:outerShdw blurRad="38100" dist="38100" dir="2700000" algn="tl">
                    <a:srgbClr val="000000">
                      <a:alpha val="43137"/>
                    </a:srgbClr>
                  </a:outerShdw>
                </a:effectLst>
                <a:latin typeface="+mj-lt"/>
                <a:ea typeface="+mj-ea"/>
                <a:cs typeface="+mj-cs"/>
              </a:defRPr>
            </a:lvl1pPr>
          </a:lstStyle>
          <a:p>
            <a:r>
              <a:rPr lang="en-US" altLang="zh-CN" dirty="0"/>
              <a:t>1.0.7  </a:t>
            </a:r>
            <a:r>
              <a:rPr lang="zh-CN" altLang="en-US" dirty="0"/>
              <a:t>序列的元素滑移（换位）</a:t>
            </a:r>
          </a:p>
        </p:txBody>
      </p:sp>
      <p:sp>
        <p:nvSpPr>
          <p:cNvPr id="4" name="文本占位符 166914">
            <a:extLst>
              <a:ext uri="{FF2B5EF4-FFF2-40B4-BE49-F238E27FC236}">
                <a16:creationId xmlns:a16="http://schemas.microsoft.com/office/drawing/2014/main" id="{8DC1D2D2-5278-295E-AECC-9C510FCA85C3}"/>
              </a:ext>
            </a:extLst>
          </p:cNvPr>
          <p:cNvSpPr txBox="1">
            <a:spLocks/>
          </p:cNvSpPr>
          <p:nvPr/>
        </p:nvSpPr>
        <p:spPr>
          <a:xfrm>
            <a:off x="1332960" y="783888"/>
            <a:ext cx="8666163" cy="5222968"/>
          </a:xfrm>
          <a:prstGeom prst="rect">
            <a:avLst/>
          </a:prstGeom>
          <a:effectLst>
            <a:prstShdw prst="shdw12" dir="16200000">
              <a:schemeClr val="bg2">
                <a:alpha val="50000"/>
              </a:schemeClr>
            </a:prstShdw>
          </a:effectLst>
        </p:spPr>
        <p:txBody>
          <a:bodyPr vert="horz" wrap="square" lIns="91440" tIns="45720" rIns="91440" bIns="4572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fontAlgn="base">
              <a:lnSpc>
                <a:spcPct val="150000"/>
              </a:lnSpc>
              <a:spcBef>
                <a:spcPct val="0"/>
              </a:spcBef>
              <a:spcAft>
                <a:spcPts val="1200"/>
              </a:spcAft>
              <a:buNone/>
            </a:pPr>
            <a:r>
              <a:rPr lang="en-US" altLang="zh-CN" b="1" dirty="0">
                <a:solidFill>
                  <a:srgbClr val="A50021"/>
                </a:solidFill>
                <a:effectLst>
                  <a:outerShdw blurRad="38100" dist="38100" dir="2700000">
                    <a:srgbClr val="C0C0C0"/>
                  </a:outerShdw>
                </a:effectLst>
                <a:latin typeface="Calibri Light" panose="020F0302020204030204"/>
                <a:ea typeface="黑体" panose="02010609060101010101" pitchFamily="49" charset="-122"/>
                <a:cs typeface="Calibri Light" panose="020F0302020204030204"/>
              </a:rPr>
              <a:t>1.0.7.2  1</a:t>
            </a:r>
            <a:r>
              <a:rPr lang="zh-CN" altLang="en-US" b="1" dirty="0">
                <a:solidFill>
                  <a:srgbClr val="A50021"/>
                </a:solidFill>
                <a:effectLst>
                  <a:outerShdw blurRad="38100" dist="38100" dir="2700000">
                    <a:srgbClr val="C0C0C0"/>
                  </a:outerShdw>
                </a:effectLst>
                <a:latin typeface="Calibri Light" panose="020F0302020204030204"/>
                <a:ea typeface="黑体" panose="02010609060101010101" pitchFamily="49" charset="-122"/>
                <a:cs typeface="Calibri Light" panose="020F0302020204030204"/>
              </a:rPr>
              <a:t>个元素向前和向后滑移</a:t>
            </a:r>
            <a:r>
              <a:rPr lang="en-US" altLang="zh-CN" b="1" dirty="0">
                <a:solidFill>
                  <a:srgbClr val="A50021"/>
                </a:solidFill>
                <a:effectLst>
                  <a:outerShdw blurRad="38100" dist="38100" dir="2700000">
                    <a:srgbClr val="C0C0C0"/>
                  </a:outerShdw>
                </a:effectLst>
                <a:latin typeface="Calibri Light" panose="020F0302020204030204"/>
                <a:ea typeface="黑体" panose="02010609060101010101" pitchFamily="49" charset="-122"/>
                <a:cs typeface="Calibri Light" panose="020F0302020204030204"/>
              </a:rPr>
              <a:t>m</a:t>
            </a:r>
            <a:r>
              <a:rPr lang="zh-CN" altLang="en-US" b="1" dirty="0">
                <a:solidFill>
                  <a:srgbClr val="A50021"/>
                </a:solidFill>
                <a:effectLst>
                  <a:outerShdw blurRad="38100" dist="38100" dir="2700000">
                    <a:srgbClr val="C0C0C0"/>
                  </a:outerShdw>
                </a:effectLst>
                <a:latin typeface="Calibri Light" panose="020F0302020204030204"/>
                <a:ea typeface="黑体" panose="02010609060101010101" pitchFamily="49" charset="-122"/>
                <a:cs typeface="Calibri Light" panose="020F0302020204030204"/>
              </a:rPr>
              <a:t>个位置</a:t>
            </a:r>
          </a:p>
          <a:p>
            <a:pPr marL="0" indent="0">
              <a:spcBef>
                <a:spcPct val="0"/>
              </a:spcBef>
              <a:buFont typeface="Arial" panose="020B0604020202020204" pitchFamily="34" charset="0"/>
              <a:buNone/>
            </a:pPr>
            <a:r>
              <a:rPr lang="en-US" altLang="zh-CN" sz="2400" b="1" dirty="0">
                <a:solidFill>
                  <a:srgbClr val="000000"/>
                </a:solidFill>
                <a:latin typeface="Courier New" panose="02070309020205020404" pitchFamily="49" charset="0"/>
                <a:ea typeface="黑体" panose="02010609060101010101" pitchFamily="49" charset="-122"/>
                <a:cs typeface="Courier New" panose="02070309020205020404" pitchFamily="49" charset="0"/>
              </a:rPr>
              <a:t>int</a:t>
            </a:r>
            <a:r>
              <a:rPr lang="en-US" altLang="zh-CN" sz="24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 </a:t>
            </a:r>
            <a:r>
              <a:rPr lang="en-US" altLang="zh-CN" sz="2400" dirty="0" err="1">
                <a:solidFill>
                  <a:srgbClr val="000000"/>
                </a:solidFill>
                <a:latin typeface="Courier New" panose="02070309020205020404" pitchFamily="49" charset="0"/>
                <a:ea typeface="黑体" panose="02010609060101010101" pitchFamily="49" charset="-122"/>
                <a:cs typeface="Courier New" panose="02070309020205020404" pitchFamily="49" charset="0"/>
              </a:rPr>
              <a:t>moveForward1</a:t>
            </a:r>
            <a:r>
              <a:rPr lang="en-US" altLang="zh-CN" sz="24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(Sequence s, </a:t>
            </a:r>
            <a:r>
              <a:rPr lang="en-US" altLang="zh-CN" sz="2400" b="1" dirty="0">
                <a:solidFill>
                  <a:srgbClr val="000000"/>
                </a:solidFill>
                <a:latin typeface="Courier New" panose="02070309020205020404" pitchFamily="49" charset="0"/>
                <a:ea typeface="黑体" panose="02010609060101010101" pitchFamily="49" charset="-122"/>
                <a:cs typeface="Courier New" panose="02070309020205020404" pitchFamily="49" charset="0"/>
              </a:rPr>
              <a:t>int</a:t>
            </a:r>
            <a:r>
              <a:rPr lang="en-US" altLang="zh-CN" sz="24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 </a:t>
            </a:r>
            <a:r>
              <a:rPr lang="en-US" altLang="zh-CN" sz="2400" dirty="0" err="1">
                <a:solidFill>
                  <a:srgbClr val="000000"/>
                </a:solidFill>
                <a:latin typeface="Courier New" panose="02070309020205020404" pitchFamily="49" charset="0"/>
                <a:ea typeface="黑体" panose="02010609060101010101" pitchFamily="49" charset="-122"/>
                <a:cs typeface="Courier New" panose="02070309020205020404" pitchFamily="49" charset="0"/>
              </a:rPr>
              <a:t>i</a:t>
            </a:r>
            <a:r>
              <a:rPr lang="en-US" altLang="zh-CN" sz="24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 </a:t>
            </a:r>
            <a:r>
              <a:rPr lang="en-US" altLang="zh-CN" sz="2400" b="1" dirty="0">
                <a:solidFill>
                  <a:srgbClr val="000000"/>
                </a:solidFill>
                <a:latin typeface="Courier New" panose="02070309020205020404" pitchFamily="49" charset="0"/>
                <a:ea typeface="黑体" panose="02010609060101010101" pitchFamily="49" charset="-122"/>
                <a:cs typeface="Courier New" panose="02070309020205020404" pitchFamily="49" charset="0"/>
              </a:rPr>
              <a:t>int</a:t>
            </a:r>
            <a:r>
              <a:rPr lang="en-US" altLang="zh-CN" sz="24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 m) </a:t>
            </a:r>
            <a:r>
              <a:rPr lang="en-US" altLang="zh-CN" sz="2400" b="1" dirty="0">
                <a:solidFill>
                  <a:srgbClr val="000000"/>
                </a:solidFill>
                <a:latin typeface="Courier New" panose="02070309020205020404" pitchFamily="49" charset="0"/>
                <a:ea typeface="黑体" panose="02010609060101010101" pitchFamily="49" charset="-122"/>
                <a:cs typeface="Courier New" panose="02070309020205020404" pitchFamily="49" charset="0"/>
              </a:rPr>
              <a:t>{</a:t>
            </a:r>
            <a:r>
              <a:rPr lang="en-US" altLang="zh-CN" sz="24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 </a:t>
            </a:r>
          </a:p>
          <a:p>
            <a:pPr marL="0" indent="0">
              <a:spcBef>
                <a:spcPct val="0"/>
              </a:spcBef>
              <a:buFont typeface="Arial" panose="020B0604020202020204" pitchFamily="34" charset="0"/>
              <a:buNone/>
            </a:pPr>
            <a:r>
              <a:rPr lang="en-US" altLang="zh-CN" sz="24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   </a:t>
            </a:r>
            <a:r>
              <a:rPr lang="en-US" altLang="zh-CN" sz="2400" dirty="0" err="1">
                <a:solidFill>
                  <a:srgbClr val="000000"/>
                </a:solidFill>
                <a:latin typeface="Courier New" panose="02070309020205020404" pitchFamily="49" charset="0"/>
                <a:ea typeface="黑体" panose="02010609060101010101" pitchFamily="49" charset="-122"/>
                <a:cs typeface="Courier New" panose="02070309020205020404" pitchFamily="49" charset="0"/>
              </a:rPr>
              <a:t>ElemType</a:t>
            </a:r>
            <a:r>
              <a:rPr lang="en-US" altLang="zh-CN" sz="24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 t;</a:t>
            </a:r>
          </a:p>
          <a:p>
            <a:pPr marL="0" indent="0">
              <a:spcBef>
                <a:spcPct val="0"/>
              </a:spcBef>
              <a:buFont typeface="Arial" panose="020B0604020202020204" pitchFamily="34" charset="0"/>
              <a:buNone/>
            </a:pPr>
            <a:r>
              <a:rPr lang="en-US" altLang="zh-CN" sz="24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   </a:t>
            </a:r>
            <a:r>
              <a:rPr lang="en-US" altLang="zh-CN" sz="2400" b="1" dirty="0">
                <a:solidFill>
                  <a:srgbClr val="000000"/>
                </a:solidFill>
                <a:latin typeface="Courier New" panose="02070309020205020404" pitchFamily="49" charset="0"/>
                <a:ea typeface="黑体" panose="02010609060101010101" pitchFamily="49" charset="-122"/>
                <a:cs typeface="Courier New" panose="02070309020205020404" pitchFamily="49" charset="0"/>
              </a:rPr>
              <a:t>int</a:t>
            </a:r>
            <a:r>
              <a:rPr lang="en-US" altLang="zh-CN" sz="24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 j;</a:t>
            </a:r>
          </a:p>
          <a:p>
            <a:pPr marL="0" indent="0">
              <a:spcBef>
                <a:spcPct val="0"/>
              </a:spcBef>
              <a:buFont typeface="Arial" panose="020B0604020202020204" pitchFamily="34" charset="0"/>
              <a:buNone/>
            </a:pPr>
            <a:r>
              <a:rPr lang="en-US" altLang="zh-CN" sz="24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   </a:t>
            </a:r>
            <a:r>
              <a:rPr lang="en-US" altLang="zh-CN" sz="2400" b="1" dirty="0">
                <a:solidFill>
                  <a:srgbClr val="000000"/>
                </a:solidFill>
                <a:latin typeface="Courier New" panose="02070309020205020404" pitchFamily="49" charset="0"/>
                <a:ea typeface="黑体" panose="02010609060101010101" pitchFamily="49" charset="-122"/>
                <a:cs typeface="Courier New" panose="02070309020205020404" pitchFamily="49" charset="0"/>
              </a:rPr>
              <a:t>if </a:t>
            </a:r>
            <a:r>
              <a:rPr lang="en-US" altLang="zh-CN" sz="24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a:t>
            </a:r>
            <a:r>
              <a:rPr lang="en-US" altLang="zh-CN" sz="2400" dirty="0" err="1">
                <a:solidFill>
                  <a:srgbClr val="000000"/>
                </a:solidFill>
                <a:latin typeface="Courier New" panose="02070309020205020404" pitchFamily="49" charset="0"/>
                <a:ea typeface="黑体" panose="02010609060101010101" pitchFamily="49" charset="-122"/>
                <a:cs typeface="Courier New" panose="02070309020205020404" pitchFamily="49" charset="0"/>
              </a:rPr>
              <a:t>i</a:t>
            </a:r>
            <a:r>
              <a:rPr lang="en-US" altLang="zh-CN" sz="24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&lt;0 </a:t>
            </a:r>
            <a:r>
              <a:rPr lang="en-US" altLang="zh-CN" sz="2400" b="1" dirty="0">
                <a:solidFill>
                  <a:srgbClr val="000000"/>
                </a:solidFill>
                <a:latin typeface="Courier New" panose="02070309020205020404" pitchFamily="49" charset="0"/>
                <a:ea typeface="黑体" panose="02010609060101010101" pitchFamily="49" charset="-122"/>
                <a:cs typeface="Courier New" panose="02070309020205020404" pitchFamily="49" charset="0"/>
              </a:rPr>
              <a:t>|| </a:t>
            </a:r>
            <a:r>
              <a:rPr lang="en-US" altLang="zh-CN" sz="2400" dirty="0" err="1">
                <a:solidFill>
                  <a:srgbClr val="000000"/>
                </a:solidFill>
                <a:latin typeface="Courier New" panose="02070309020205020404" pitchFamily="49" charset="0"/>
                <a:ea typeface="黑体" panose="02010609060101010101" pitchFamily="49" charset="-122"/>
                <a:cs typeface="Courier New" panose="02070309020205020404" pitchFamily="49" charset="0"/>
              </a:rPr>
              <a:t>i</a:t>
            </a:r>
            <a:r>
              <a:rPr lang="en-US" altLang="zh-CN" sz="24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&gt;=s-&gt;length </a:t>
            </a:r>
            <a:r>
              <a:rPr lang="en-US" altLang="zh-CN" sz="2400" b="1" dirty="0">
                <a:solidFill>
                  <a:srgbClr val="000000"/>
                </a:solidFill>
                <a:latin typeface="Courier New" panose="02070309020205020404" pitchFamily="49" charset="0"/>
                <a:ea typeface="黑体" panose="02010609060101010101" pitchFamily="49" charset="-122"/>
                <a:cs typeface="Courier New" panose="02070309020205020404" pitchFamily="49" charset="0"/>
              </a:rPr>
              <a:t>|| </a:t>
            </a:r>
            <a:r>
              <a:rPr lang="en-US" altLang="zh-CN" sz="24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m&lt;0 </a:t>
            </a:r>
            <a:r>
              <a:rPr lang="en-US" altLang="zh-CN" sz="2400" b="1" dirty="0">
                <a:solidFill>
                  <a:srgbClr val="000000"/>
                </a:solidFill>
                <a:latin typeface="Courier New" panose="02070309020205020404" pitchFamily="49" charset="0"/>
                <a:ea typeface="黑体" panose="02010609060101010101" pitchFamily="49" charset="-122"/>
                <a:cs typeface="Courier New" panose="02070309020205020404" pitchFamily="49" charset="0"/>
              </a:rPr>
              <a:t>|| </a:t>
            </a:r>
            <a:r>
              <a:rPr lang="en-US" altLang="zh-CN" sz="24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m&gt;</a:t>
            </a:r>
            <a:r>
              <a:rPr lang="en-US" altLang="zh-CN" sz="2400" dirty="0" err="1">
                <a:solidFill>
                  <a:srgbClr val="000000"/>
                </a:solidFill>
                <a:latin typeface="Courier New" panose="02070309020205020404" pitchFamily="49" charset="0"/>
                <a:ea typeface="黑体" panose="02010609060101010101" pitchFamily="49" charset="-122"/>
                <a:cs typeface="Courier New" panose="02070309020205020404" pitchFamily="49" charset="0"/>
              </a:rPr>
              <a:t>i</a:t>
            </a:r>
            <a:r>
              <a:rPr lang="en-US" altLang="zh-CN" sz="24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a:t>
            </a:r>
          </a:p>
          <a:p>
            <a:pPr marL="0" indent="0">
              <a:spcBef>
                <a:spcPct val="0"/>
              </a:spcBef>
              <a:buFont typeface="Arial" panose="020B0604020202020204" pitchFamily="34" charset="0"/>
              <a:buNone/>
            </a:pPr>
            <a:r>
              <a:rPr lang="en-US" altLang="zh-CN" sz="24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     </a:t>
            </a:r>
            <a:r>
              <a:rPr lang="en-US" altLang="zh-CN" sz="2400" b="1" dirty="0">
                <a:solidFill>
                  <a:srgbClr val="000000"/>
                </a:solidFill>
                <a:latin typeface="Courier New" panose="02070309020205020404" pitchFamily="49" charset="0"/>
                <a:ea typeface="黑体" panose="02010609060101010101" pitchFamily="49" charset="-122"/>
                <a:cs typeface="Courier New" panose="02070309020205020404" pitchFamily="49" charset="0"/>
              </a:rPr>
              <a:t>return</a:t>
            </a:r>
            <a:r>
              <a:rPr lang="en-US" altLang="zh-CN" sz="24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 0;</a:t>
            </a:r>
          </a:p>
          <a:p>
            <a:pPr marL="0" indent="0">
              <a:spcBef>
                <a:spcPct val="0"/>
              </a:spcBef>
              <a:buFont typeface="Arial" panose="020B0604020202020204" pitchFamily="34" charset="0"/>
              <a:buNone/>
            </a:pPr>
            <a:r>
              <a:rPr lang="en-US" altLang="zh-CN" sz="24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   </a:t>
            </a:r>
            <a:r>
              <a:rPr lang="en-US" altLang="zh-CN" sz="2400" b="1" dirty="0">
                <a:solidFill>
                  <a:srgbClr val="000000"/>
                </a:solidFill>
                <a:latin typeface="Courier New" panose="02070309020205020404" pitchFamily="49" charset="0"/>
                <a:ea typeface="黑体" panose="02010609060101010101" pitchFamily="49" charset="-122"/>
                <a:cs typeface="Courier New" panose="02070309020205020404" pitchFamily="49" charset="0"/>
              </a:rPr>
              <a:t>if </a:t>
            </a:r>
            <a:r>
              <a:rPr lang="en-US" altLang="zh-CN" sz="24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(m</a:t>
            </a:r>
            <a:r>
              <a:rPr lang="en-US" altLang="zh-CN" sz="2400" b="1" dirty="0">
                <a:solidFill>
                  <a:srgbClr val="000000"/>
                </a:solidFill>
                <a:latin typeface="Courier New" panose="02070309020205020404" pitchFamily="49" charset="0"/>
                <a:ea typeface="黑体" panose="02010609060101010101" pitchFamily="49" charset="-122"/>
                <a:cs typeface="Courier New" panose="02070309020205020404" pitchFamily="49" charset="0"/>
              </a:rPr>
              <a:t>!</a:t>
            </a:r>
            <a:r>
              <a:rPr lang="en-US" altLang="zh-CN" sz="24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=0) {</a:t>
            </a:r>
          </a:p>
          <a:p>
            <a:pPr marL="0" indent="0">
              <a:spcBef>
                <a:spcPct val="0"/>
              </a:spcBef>
              <a:buFont typeface="Arial" panose="020B0604020202020204" pitchFamily="34" charset="0"/>
              <a:buNone/>
            </a:pPr>
            <a:r>
              <a:rPr lang="en-US" altLang="zh-CN" sz="24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     t=s-&gt;</a:t>
            </a:r>
            <a:r>
              <a:rPr lang="en-US" altLang="zh-CN" sz="2400" dirty="0" err="1">
                <a:solidFill>
                  <a:srgbClr val="000000"/>
                </a:solidFill>
                <a:latin typeface="Courier New" panose="02070309020205020404" pitchFamily="49" charset="0"/>
                <a:ea typeface="黑体" panose="02010609060101010101" pitchFamily="49" charset="-122"/>
                <a:cs typeface="Courier New" panose="02070309020205020404" pitchFamily="49" charset="0"/>
              </a:rPr>
              <a:t>elem</a:t>
            </a:r>
            <a:r>
              <a:rPr lang="en-US" altLang="zh-CN" sz="24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a:t>
            </a:r>
            <a:r>
              <a:rPr lang="en-US" altLang="zh-CN" sz="2400" dirty="0" err="1">
                <a:solidFill>
                  <a:srgbClr val="000000"/>
                </a:solidFill>
                <a:latin typeface="Courier New" panose="02070309020205020404" pitchFamily="49" charset="0"/>
                <a:ea typeface="黑体" panose="02010609060101010101" pitchFamily="49" charset="-122"/>
                <a:cs typeface="Courier New" panose="02070309020205020404" pitchFamily="49" charset="0"/>
              </a:rPr>
              <a:t>i</a:t>
            </a:r>
            <a:r>
              <a:rPr lang="en-US" altLang="zh-CN" sz="24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a:t>
            </a:r>
            <a:endParaRPr lang="da-DK" altLang="zh-CN" sz="2400" dirty="0">
              <a:solidFill>
                <a:srgbClr val="000000"/>
              </a:solidFill>
              <a:latin typeface="Courier New" panose="02070309020205020404" pitchFamily="49" charset="0"/>
              <a:ea typeface="黑体" panose="02010609060101010101" pitchFamily="49" charset="-122"/>
              <a:cs typeface="Courier New" panose="02070309020205020404" pitchFamily="49" charset="0"/>
            </a:endParaRPr>
          </a:p>
          <a:p>
            <a:pPr marL="0" indent="0">
              <a:spcBef>
                <a:spcPct val="0"/>
              </a:spcBef>
              <a:buFont typeface="Arial" panose="020B0604020202020204" pitchFamily="34" charset="0"/>
              <a:buNone/>
            </a:pPr>
            <a:r>
              <a:rPr lang="da-DK" altLang="zh-CN" sz="24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     </a:t>
            </a:r>
            <a:r>
              <a:rPr lang="da-DK" altLang="zh-CN" sz="2400" b="1" dirty="0">
                <a:solidFill>
                  <a:srgbClr val="000000"/>
                </a:solidFill>
                <a:latin typeface="Courier New" panose="02070309020205020404" pitchFamily="49" charset="0"/>
                <a:ea typeface="黑体" panose="02010609060101010101" pitchFamily="49" charset="-122"/>
                <a:cs typeface="Courier New" panose="02070309020205020404" pitchFamily="49" charset="0"/>
              </a:rPr>
              <a:t>for </a:t>
            </a:r>
            <a:r>
              <a:rPr lang="da-DK" altLang="zh-CN" sz="24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(j=i; m&gt;0; j--,m--)</a:t>
            </a:r>
          </a:p>
          <a:p>
            <a:pPr marL="0" indent="0">
              <a:spcBef>
                <a:spcPct val="0"/>
              </a:spcBef>
              <a:buFont typeface="Arial" panose="020B0604020202020204" pitchFamily="34" charset="0"/>
              <a:buNone/>
            </a:pPr>
            <a:r>
              <a:rPr lang="da-DK" altLang="zh-CN" sz="24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       s-&gt;elem[j]=s-&gt;elem[j-1];</a:t>
            </a:r>
          </a:p>
          <a:p>
            <a:pPr marL="0" indent="0">
              <a:spcBef>
                <a:spcPct val="0"/>
              </a:spcBef>
              <a:buFont typeface="Arial" panose="020B0604020202020204" pitchFamily="34" charset="0"/>
              <a:buNone/>
            </a:pPr>
            <a:r>
              <a:rPr lang="da-DK" altLang="zh-CN" sz="24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     </a:t>
            </a:r>
            <a:r>
              <a:rPr lang="en-US" altLang="zh-CN" sz="24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s-&gt;</a:t>
            </a:r>
            <a:r>
              <a:rPr lang="en-US" altLang="zh-CN" sz="2400" dirty="0" err="1">
                <a:solidFill>
                  <a:srgbClr val="000000"/>
                </a:solidFill>
                <a:latin typeface="Courier New" panose="02070309020205020404" pitchFamily="49" charset="0"/>
                <a:ea typeface="黑体" panose="02010609060101010101" pitchFamily="49" charset="-122"/>
                <a:cs typeface="Courier New" panose="02070309020205020404" pitchFamily="49" charset="0"/>
              </a:rPr>
              <a:t>elem</a:t>
            </a:r>
            <a:r>
              <a:rPr lang="en-US" altLang="zh-CN" sz="24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[j]=t;</a:t>
            </a:r>
          </a:p>
          <a:p>
            <a:pPr marL="0" indent="0">
              <a:spcBef>
                <a:spcPct val="0"/>
              </a:spcBef>
              <a:buFont typeface="Arial" panose="020B0604020202020204" pitchFamily="34" charset="0"/>
              <a:buNone/>
            </a:pPr>
            <a:r>
              <a:rPr lang="en-US" altLang="zh-CN" sz="24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   </a:t>
            </a:r>
            <a:r>
              <a:rPr lang="en-US" altLang="zh-CN" sz="2400" b="1" dirty="0">
                <a:solidFill>
                  <a:srgbClr val="000000"/>
                </a:solidFill>
                <a:latin typeface="Courier New" panose="02070309020205020404" pitchFamily="49" charset="0"/>
                <a:ea typeface="黑体" panose="02010609060101010101" pitchFamily="49" charset="-122"/>
                <a:cs typeface="Courier New" panose="02070309020205020404" pitchFamily="49" charset="0"/>
              </a:rPr>
              <a:t>}</a:t>
            </a:r>
          </a:p>
          <a:p>
            <a:pPr marL="0" indent="0">
              <a:spcBef>
                <a:spcPct val="0"/>
              </a:spcBef>
              <a:buFont typeface="Arial" panose="020B0604020202020204" pitchFamily="34" charset="0"/>
              <a:buNone/>
            </a:pPr>
            <a:r>
              <a:rPr lang="en-US" altLang="zh-CN" sz="24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   </a:t>
            </a:r>
            <a:r>
              <a:rPr lang="en-US" altLang="zh-CN" sz="2400" b="1" dirty="0">
                <a:solidFill>
                  <a:srgbClr val="000000"/>
                </a:solidFill>
                <a:latin typeface="Courier New" panose="02070309020205020404" pitchFamily="49" charset="0"/>
                <a:ea typeface="黑体" panose="02010609060101010101" pitchFamily="49" charset="-122"/>
                <a:cs typeface="Courier New" panose="02070309020205020404" pitchFamily="49" charset="0"/>
              </a:rPr>
              <a:t>return</a:t>
            </a:r>
            <a:r>
              <a:rPr lang="en-US" altLang="zh-CN" sz="24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 1;</a:t>
            </a:r>
          </a:p>
          <a:p>
            <a:pPr marL="0" indent="0">
              <a:spcBef>
                <a:spcPct val="0"/>
              </a:spcBef>
              <a:buFont typeface="Arial" panose="020B0604020202020204" pitchFamily="34" charset="0"/>
              <a:buNone/>
            </a:pPr>
            <a:r>
              <a:rPr lang="en-US" altLang="zh-CN" sz="2400" b="1" dirty="0">
                <a:solidFill>
                  <a:srgbClr val="000000"/>
                </a:solidFill>
                <a:latin typeface="Courier New" panose="02070309020205020404" pitchFamily="49" charset="0"/>
                <a:ea typeface="黑体" panose="02010609060101010101" pitchFamily="49" charset="-122"/>
                <a:cs typeface="Courier New" panose="02070309020205020404" pitchFamily="49" charset="0"/>
              </a:rPr>
              <a:t>}</a:t>
            </a:r>
          </a:p>
        </p:txBody>
      </p:sp>
      <p:sp>
        <p:nvSpPr>
          <p:cNvPr id="5" name="灯片编号占位符 4">
            <a:extLst>
              <a:ext uri="{FF2B5EF4-FFF2-40B4-BE49-F238E27FC236}">
                <a16:creationId xmlns:a16="http://schemas.microsoft.com/office/drawing/2014/main" id="{DB939F1F-1FCE-6C8E-7F26-477B21D11766}"/>
              </a:ext>
            </a:extLst>
          </p:cNvPr>
          <p:cNvSpPr>
            <a:spLocks noGrp="1"/>
          </p:cNvSpPr>
          <p:nvPr>
            <p:ph type="sldNum" sz="quarter" idx="12"/>
          </p:nvPr>
        </p:nvSpPr>
        <p:spPr/>
        <p:txBody>
          <a:bodyPr/>
          <a:lstStyle/>
          <a:p>
            <a:fld id="{D7C0FE0B-717B-41AE-9FA2-CA4BF851D1C3}" type="slidenum">
              <a:rPr lang="zh-CN" altLang="en-US" smtClean="0"/>
              <a:t>15</a:t>
            </a:fld>
            <a:endParaRPr lang="zh-CN" altLang="en-US"/>
          </a:p>
        </p:txBody>
      </p:sp>
    </p:spTree>
    <p:extLst>
      <p:ext uri="{BB962C8B-B14F-4D97-AF65-F5344CB8AC3E}">
        <p14:creationId xmlns:p14="http://schemas.microsoft.com/office/powerpoint/2010/main" val="28129640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67966">
            <a:extLst>
              <a:ext uri="{FF2B5EF4-FFF2-40B4-BE49-F238E27FC236}">
                <a16:creationId xmlns:a16="http://schemas.microsoft.com/office/drawing/2014/main" id="{2787C025-0E35-63E2-8AA9-2A4017CE6A0C}"/>
              </a:ext>
            </a:extLst>
          </p:cNvPr>
          <p:cNvSpPr txBox="1">
            <a:spLocks/>
          </p:cNvSpPr>
          <p:nvPr/>
        </p:nvSpPr>
        <p:spPr>
          <a:xfrm>
            <a:off x="1257300" y="212726"/>
            <a:ext cx="5764696" cy="590552"/>
          </a:xfrm>
          <a:prstGeom prst="rect">
            <a:avLst/>
          </a:prstGeom>
        </p:spPr>
        <p:txBody>
          <a:bodyPr vert="horz" lIns="91440" tIns="45720" rIns="91440" bIns="45720" rtlCol="0" anchor="ctr" anchorCtr="0">
            <a:normAutofit/>
          </a:bodyPr>
          <a:lstStyle>
            <a:defPPr>
              <a:defRPr lang="zh-CN"/>
            </a:defPPr>
            <a:lvl1pPr>
              <a:lnSpc>
                <a:spcPct val="90000"/>
              </a:lnSpc>
              <a:spcBef>
                <a:spcPct val="0"/>
              </a:spcBef>
              <a:buNone/>
              <a:defRPr sz="3200">
                <a:solidFill>
                  <a:srgbClr val="000099"/>
                </a:solidFill>
                <a:effectLst>
                  <a:outerShdw blurRad="38100" dist="38100" dir="2700000" algn="tl">
                    <a:srgbClr val="000000">
                      <a:alpha val="43137"/>
                    </a:srgbClr>
                  </a:outerShdw>
                </a:effectLst>
                <a:latin typeface="+mj-lt"/>
                <a:ea typeface="+mj-ea"/>
                <a:cs typeface="+mj-cs"/>
              </a:defRPr>
            </a:lvl1pPr>
          </a:lstStyle>
          <a:p>
            <a:r>
              <a:rPr lang="en-US" altLang="zh-CN" dirty="0"/>
              <a:t>1.0.7  </a:t>
            </a:r>
            <a:r>
              <a:rPr lang="zh-CN" altLang="en-US" dirty="0"/>
              <a:t>序列的元素滑移（换位）</a:t>
            </a:r>
          </a:p>
        </p:txBody>
      </p:sp>
      <p:sp>
        <p:nvSpPr>
          <p:cNvPr id="3" name="文本占位符 167937">
            <a:extLst>
              <a:ext uri="{FF2B5EF4-FFF2-40B4-BE49-F238E27FC236}">
                <a16:creationId xmlns:a16="http://schemas.microsoft.com/office/drawing/2014/main" id="{63D65136-65D2-C5A2-6F34-6830EB9D7BC0}"/>
              </a:ext>
            </a:extLst>
          </p:cNvPr>
          <p:cNvSpPr txBox="1">
            <a:spLocks/>
          </p:cNvSpPr>
          <p:nvPr/>
        </p:nvSpPr>
        <p:spPr>
          <a:xfrm>
            <a:off x="1411288" y="1376362"/>
            <a:ext cx="8704262" cy="41052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fontAlgn="base">
              <a:lnSpc>
                <a:spcPct val="150000"/>
              </a:lnSpc>
              <a:spcBef>
                <a:spcPct val="0"/>
              </a:spcBef>
              <a:spcAft>
                <a:spcPts val="1200"/>
              </a:spcAft>
              <a:buNone/>
            </a:pPr>
            <a:r>
              <a:rPr lang="en-US" altLang="zh-CN" b="1" dirty="0">
                <a:solidFill>
                  <a:srgbClr val="A50021"/>
                </a:solidFill>
                <a:effectLst>
                  <a:outerShdw blurRad="38100" dist="38100" dir="2700000">
                    <a:srgbClr val="C0C0C0"/>
                  </a:outerShdw>
                </a:effectLst>
                <a:latin typeface="Calibri Light" panose="020F0302020204030204"/>
                <a:ea typeface="黑体" panose="02010609060101010101" pitchFamily="49" charset="-122"/>
                <a:cs typeface="Calibri Light" panose="020F0302020204030204"/>
              </a:rPr>
              <a:t>1.0.7.3  </a:t>
            </a:r>
            <a:r>
              <a:rPr lang="zh-CN" altLang="en-US" b="1" dirty="0">
                <a:solidFill>
                  <a:srgbClr val="A50021"/>
                </a:solidFill>
                <a:effectLst>
                  <a:outerShdw blurRad="38100" dist="38100" dir="2700000">
                    <a:srgbClr val="C0C0C0"/>
                  </a:outerShdw>
                </a:effectLst>
                <a:latin typeface="Calibri Light" panose="020F0302020204030204"/>
                <a:ea typeface="黑体" panose="02010609060101010101" pitchFamily="49" charset="-122"/>
                <a:cs typeface="Calibri Light" panose="020F0302020204030204"/>
              </a:rPr>
              <a:t>连续子序列的前移和后移</a:t>
            </a:r>
            <a:r>
              <a:rPr lang="en-US" altLang="zh-CN" b="1" dirty="0">
                <a:solidFill>
                  <a:srgbClr val="A50021"/>
                </a:solidFill>
                <a:effectLst>
                  <a:outerShdw blurRad="38100" dist="38100" dir="2700000">
                    <a:srgbClr val="C0C0C0"/>
                  </a:outerShdw>
                </a:effectLst>
                <a:latin typeface="Calibri Light" panose="020F0302020204030204"/>
                <a:ea typeface="黑体" panose="02010609060101010101" pitchFamily="49" charset="-122"/>
                <a:cs typeface="Calibri Light" panose="020F0302020204030204"/>
              </a:rPr>
              <a:t>m</a:t>
            </a:r>
            <a:r>
              <a:rPr lang="zh-CN" altLang="en-US" b="1" dirty="0">
                <a:solidFill>
                  <a:srgbClr val="A50021"/>
                </a:solidFill>
                <a:effectLst>
                  <a:outerShdw blurRad="38100" dist="38100" dir="2700000">
                    <a:srgbClr val="C0C0C0"/>
                  </a:outerShdw>
                </a:effectLst>
                <a:latin typeface="Calibri Light" panose="020F0302020204030204"/>
                <a:ea typeface="黑体" panose="02010609060101010101" pitchFamily="49" charset="-122"/>
                <a:cs typeface="Calibri Light" panose="020F0302020204030204"/>
              </a:rPr>
              <a:t>个位置</a:t>
            </a:r>
          </a:p>
          <a:p>
            <a:pPr>
              <a:buFont typeface="Arial" panose="020B0604020202020204" pitchFamily="34" charset="0"/>
              <a:buNone/>
            </a:pPr>
            <a:endParaRPr lang="zh-CN" altLang="en-US" dirty="0">
              <a:solidFill>
                <a:srgbClr val="A50021"/>
              </a:solidFill>
              <a:ea typeface="黑体" panose="02010609060101010101" pitchFamily="49" charset="-122"/>
            </a:endParaRPr>
          </a:p>
          <a:p>
            <a:pPr>
              <a:buFont typeface="Arial" panose="020B0604020202020204" pitchFamily="34" charset="0"/>
              <a:buNone/>
            </a:pPr>
            <a:r>
              <a:rPr lang="zh-CN" altLang="en-US" dirty="0">
                <a:solidFill>
                  <a:srgbClr val="A50021"/>
                </a:solidFill>
                <a:effectLst>
                  <a:outerShdw blurRad="38100" dist="38100" dir="2700000" algn="tl">
                    <a:srgbClr val="000000">
                      <a:alpha val="43137"/>
                    </a:srgbClr>
                  </a:outerShdw>
                </a:effectLst>
                <a:ea typeface="黑体" panose="02010609060101010101" pitchFamily="49" charset="-122"/>
              </a:rPr>
              <a:t>例</a:t>
            </a:r>
            <a:r>
              <a:rPr lang="zh-CN" altLang="en-US" dirty="0">
                <a:ea typeface="黑体" panose="02010609060101010101" pitchFamily="49" charset="-122"/>
              </a:rPr>
              <a:t>  移动子数组。</a:t>
            </a:r>
          </a:p>
          <a:p>
            <a:pPr>
              <a:buFont typeface="Arial" panose="020B0604020202020204" pitchFamily="34" charset="0"/>
              <a:buNone/>
            </a:pPr>
            <a:r>
              <a:rPr lang="zh-CN" altLang="en-US" dirty="0">
                <a:ea typeface="黑体" panose="02010609060101010101" pitchFamily="49" charset="-122"/>
              </a:rPr>
              <a:t>一维数组</a:t>
            </a:r>
            <a:r>
              <a:rPr lang="en-US" altLang="zh-CN" dirty="0">
                <a:latin typeface="Verdana" panose="020B0604030504040204" pitchFamily="34" charset="0"/>
                <a:ea typeface="黑体" panose="02010609060101010101" pitchFamily="49" charset="-122"/>
              </a:rPr>
              <a:t>——</a:t>
            </a:r>
            <a:endParaRPr lang="en-US" altLang="zh-CN" dirty="0">
              <a:ea typeface="黑体" panose="02010609060101010101" pitchFamily="49" charset="-122"/>
            </a:endParaRPr>
          </a:p>
          <a:p>
            <a:pPr>
              <a:buFont typeface="Arial" panose="020B0604020202020204" pitchFamily="34" charset="0"/>
              <a:buNone/>
            </a:pPr>
            <a:endParaRPr lang="en-US" altLang="zh-CN" dirty="0">
              <a:ea typeface="黑体" panose="02010609060101010101" pitchFamily="49" charset="-122"/>
            </a:endParaRPr>
          </a:p>
          <a:p>
            <a:pPr>
              <a:buFont typeface="Arial" panose="020B0604020202020204" pitchFamily="34" charset="0"/>
              <a:buNone/>
            </a:pPr>
            <a:endParaRPr lang="en-US" altLang="zh-CN" sz="2400" dirty="0">
              <a:latin typeface="Lucida Sans Typewriter" pitchFamily="49" charset="0"/>
              <a:ea typeface="黑体" panose="02010609060101010101" pitchFamily="49" charset="-122"/>
            </a:endParaRPr>
          </a:p>
          <a:p>
            <a:pPr>
              <a:buFont typeface="Arial" panose="020B0604020202020204" pitchFamily="34" charset="0"/>
              <a:buNone/>
            </a:pPr>
            <a:r>
              <a:rPr lang="en-US" altLang="zh-CN" sz="2400" b="1" dirty="0">
                <a:solidFill>
                  <a:schemeClr val="tx2"/>
                </a:solidFill>
                <a:latin typeface="Courier New" panose="02070309020205020404" pitchFamily="49" charset="0"/>
                <a:ea typeface="黑体" panose="02010609060101010101" pitchFamily="49" charset="-122"/>
                <a:cs typeface="Courier New" panose="02070309020205020404" pitchFamily="49" charset="0"/>
              </a:rPr>
              <a:t>int</a:t>
            </a:r>
            <a:r>
              <a:rPr lang="en-US" altLang="zh-CN" sz="2400" dirty="0">
                <a:solidFill>
                  <a:schemeClr val="tx2"/>
                </a:solidFill>
                <a:latin typeface="Courier New" panose="02070309020205020404" pitchFamily="49" charset="0"/>
                <a:ea typeface="黑体" panose="02010609060101010101" pitchFamily="49" charset="-122"/>
                <a:cs typeface="Courier New" panose="02070309020205020404" pitchFamily="49" charset="0"/>
              </a:rPr>
              <a:t> move(</a:t>
            </a:r>
            <a:r>
              <a:rPr lang="en-US" altLang="zh-CN" sz="2400" b="1" dirty="0">
                <a:solidFill>
                  <a:schemeClr val="tx2"/>
                </a:solidFill>
                <a:latin typeface="Courier New" panose="02070309020205020404" pitchFamily="49" charset="0"/>
                <a:ea typeface="黑体" panose="02010609060101010101" pitchFamily="49" charset="-122"/>
                <a:cs typeface="Courier New" panose="02070309020205020404" pitchFamily="49" charset="0"/>
              </a:rPr>
              <a:t>char</a:t>
            </a:r>
            <a:r>
              <a:rPr lang="en-US" altLang="zh-CN" sz="2400" dirty="0">
                <a:solidFill>
                  <a:schemeClr val="tx2"/>
                </a:solidFill>
                <a:latin typeface="Courier New" panose="02070309020205020404" pitchFamily="49" charset="0"/>
                <a:ea typeface="黑体" panose="02010609060101010101" pitchFamily="49" charset="-122"/>
                <a:cs typeface="Courier New" panose="02070309020205020404" pitchFamily="49" charset="0"/>
              </a:rPr>
              <a:t> *a, </a:t>
            </a:r>
            <a:r>
              <a:rPr lang="en-US" altLang="zh-CN" sz="2400" b="1" dirty="0">
                <a:solidFill>
                  <a:schemeClr val="tx2"/>
                </a:solidFill>
                <a:latin typeface="Courier New" panose="02070309020205020404" pitchFamily="49" charset="0"/>
                <a:ea typeface="黑体" panose="02010609060101010101" pitchFamily="49" charset="-122"/>
                <a:cs typeface="Courier New" panose="02070309020205020404" pitchFamily="49" charset="0"/>
              </a:rPr>
              <a:t>int</a:t>
            </a:r>
            <a:r>
              <a:rPr lang="en-US" altLang="zh-CN" sz="2400" dirty="0">
                <a:solidFill>
                  <a:schemeClr val="tx2"/>
                </a:solidFill>
                <a:latin typeface="Courier New" panose="02070309020205020404" pitchFamily="49" charset="0"/>
                <a:ea typeface="黑体" panose="02010609060101010101" pitchFamily="49" charset="-122"/>
                <a:cs typeface="Courier New" panose="02070309020205020404" pitchFamily="49" charset="0"/>
              </a:rPr>
              <a:t> n, </a:t>
            </a:r>
            <a:r>
              <a:rPr lang="en-US" altLang="zh-CN" sz="2400" b="1" dirty="0">
                <a:solidFill>
                  <a:schemeClr val="tx2"/>
                </a:solidFill>
                <a:latin typeface="Courier New" panose="02070309020205020404" pitchFamily="49" charset="0"/>
                <a:ea typeface="黑体" panose="02010609060101010101" pitchFamily="49" charset="-122"/>
                <a:cs typeface="Courier New" panose="02070309020205020404" pitchFamily="49" charset="0"/>
              </a:rPr>
              <a:t>int</a:t>
            </a:r>
            <a:r>
              <a:rPr lang="en-US" altLang="zh-CN" sz="2400" dirty="0">
                <a:solidFill>
                  <a:schemeClr val="tx2"/>
                </a:solidFill>
                <a:latin typeface="Courier New" panose="02070309020205020404" pitchFamily="49" charset="0"/>
                <a:ea typeface="黑体" panose="02010609060101010101" pitchFamily="49" charset="-122"/>
                <a:cs typeface="Courier New" panose="02070309020205020404" pitchFamily="49" charset="0"/>
              </a:rPr>
              <a:t> </a:t>
            </a:r>
            <a:r>
              <a:rPr lang="en-US" altLang="zh-CN" sz="2400" dirty="0" err="1">
                <a:solidFill>
                  <a:schemeClr val="tx2"/>
                </a:solidFill>
                <a:latin typeface="Courier New" panose="02070309020205020404" pitchFamily="49" charset="0"/>
                <a:ea typeface="黑体" panose="02010609060101010101" pitchFamily="49" charset="-122"/>
                <a:cs typeface="Courier New" panose="02070309020205020404" pitchFamily="49" charset="0"/>
              </a:rPr>
              <a:t>i</a:t>
            </a:r>
            <a:r>
              <a:rPr lang="en-US" altLang="zh-CN" sz="2400" dirty="0">
                <a:solidFill>
                  <a:schemeClr val="tx2"/>
                </a:solidFill>
                <a:latin typeface="Courier New" panose="02070309020205020404" pitchFamily="49" charset="0"/>
                <a:ea typeface="黑体" panose="02010609060101010101" pitchFamily="49" charset="-122"/>
                <a:cs typeface="Courier New" panose="02070309020205020404" pitchFamily="49" charset="0"/>
              </a:rPr>
              <a:t>, </a:t>
            </a:r>
            <a:r>
              <a:rPr lang="en-US" altLang="zh-CN" sz="2400" b="1" dirty="0">
                <a:solidFill>
                  <a:schemeClr val="tx2"/>
                </a:solidFill>
                <a:latin typeface="Courier New" panose="02070309020205020404" pitchFamily="49" charset="0"/>
                <a:ea typeface="黑体" panose="02010609060101010101" pitchFamily="49" charset="-122"/>
                <a:cs typeface="Courier New" panose="02070309020205020404" pitchFamily="49" charset="0"/>
              </a:rPr>
              <a:t>int</a:t>
            </a:r>
            <a:r>
              <a:rPr lang="en-US" altLang="zh-CN" sz="2400" dirty="0">
                <a:solidFill>
                  <a:schemeClr val="tx2"/>
                </a:solidFill>
                <a:latin typeface="Courier New" panose="02070309020205020404" pitchFamily="49" charset="0"/>
                <a:ea typeface="黑体" panose="02010609060101010101" pitchFamily="49" charset="-122"/>
                <a:cs typeface="Courier New" panose="02070309020205020404" pitchFamily="49" charset="0"/>
              </a:rPr>
              <a:t> m, </a:t>
            </a:r>
            <a:r>
              <a:rPr lang="en-US" altLang="zh-CN" sz="2400" b="1" dirty="0">
                <a:solidFill>
                  <a:schemeClr val="tx2"/>
                </a:solidFill>
                <a:latin typeface="Courier New" panose="02070309020205020404" pitchFamily="49" charset="0"/>
                <a:ea typeface="黑体" panose="02010609060101010101" pitchFamily="49" charset="-122"/>
                <a:cs typeface="Courier New" panose="02070309020205020404" pitchFamily="49" charset="0"/>
              </a:rPr>
              <a:t>int</a:t>
            </a:r>
            <a:r>
              <a:rPr lang="en-US" altLang="zh-CN" sz="2400" dirty="0">
                <a:solidFill>
                  <a:schemeClr val="tx2"/>
                </a:solidFill>
                <a:latin typeface="Courier New" panose="02070309020205020404" pitchFamily="49" charset="0"/>
                <a:ea typeface="黑体" panose="02010609060101010101" pitchFamily="49" charset="-122"/>
                <a:cs typeface="Courier New" panose="02070309020205020404" pitchFamily="49" charset="0"/>
              </a:rPr>
              <a:t> j)</a:t>
            </a:r>
          </a:p>
        </p:txBody>
      </p:sp>
      <p:grpSp>
        <p:nvGrpSpPr>
          <p:cNvPr id="4" name="组合 3">
            <a:extLst>
              <a:ext uri="{FF2B5EF4-FFF2-40B4-BE49-F238E27FC236}">
                <a16:creationId xmlns:a16="http://schemas.microsoft.com/office/drawing/2014/main" id="{2D941DC7-766E-6E77-93FA-0C4659D3E73A}"/>
              </a:ext>
            </a:extLst>
          </p:cNvPr>
          <p:cNvGrpSpPr/>
          <p:nvPr/>
        </p:nvGrpSpPr>
        <p:grpSpPr>
          <a:xfrm>
            <a:off x="4722814" y="3289298"/>
            <a:ext cx="4860925" cy="647700"/>
            <a:chOff x="2381" y="1457"/>
            <a:chExt cx="3062" cy="408"/>
          </a:xfrm>
        </p:grpSpPr>
        <p:sp>
          <p:nvSpPr>
            <p:cNvPr id="5" name="立方体 4">
              <a:extLst>
                <a:ext uri="{FF2B5EF4-FFF2-40B4-BE49-F238E27FC236}">
                  <a16:creationId xmlns:a16="http://schemas.microsoft.com/office/drawing/2014/main" id="{93987B76-85B3-7641-BE3D-5F21C375C5F2}"/>
                </a:ext>
              </a:extLst>
            </p:cNvPr>
            <p:cNvSpPr/>
            <p:nvPr/>
          </p:nvSpPr>
          <p:spPr>
            <a:xfrm>
              <a:off x="2381"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6" name="立方体 5">
              <a:extLst>
                <a:ext uri="{FF2B5EF4-FFF2-40B4-BE49-F238E27FC236}">
                  <a16:creationId xmlns:a16="http://schemas.microsoft.com/office/drawing/2014/main" id="{DE012144-5D50-1825-F6F3-7387D7C4789F}"/>
                </a:ext>
              </a:extLst>
            </p:cNvPr>
            <p:cNvSpPr/>
            <p:nvPr/>
          </p:nvSpPr>
          <p:spPr>
            <a:xfrm>
              <a:off x="2631"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7" name="立方体 6">
              <a:extLst>
                <a:ext uri="{FF2B5EF4-FFF2-40B4-BE49-F238E27FC236}">
                  <a16:creationId xmlns:a16="http://schemas.microsoft.com/office/drawing/2014/main" id="{428FA218-1C43-6319-DDB8-76BF80A7FD5D}"/>
                </a:ext>
              </a:extLst>
            </p:cNvPr>
            <p:cNvSpPr/>
            <p:nvPr/>
          </p:nvSpPr>
          <p:spPr>
            <a:xfrm>
              <a:off x="2880"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8" name="立方体 7">
              <a:extLst>
                <a:ext uri="{FF2B5EF4-FFF2-40B4-BE49-F238E27FC236}">
                  <a16:creationId xmlns:a16="http://schemas.microsoft.com/office/drawing/2014/main" id="{CB57FDB8-C2B2-E876-AEA4-D50565F91A12}"/>
                </a:ext>
              </a:extLst>
            </p:cNvPr>
            <p:cNvSpPr/>
            <p:nvPr/>
          </p:nvSpPr>
          <p:spPr>
            <a:xfrm>
              <a:off x="3129"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9" name="立方体 8">
              <a:extLst>
                <a:ext uri="{FF2B5EF4-FFF2-40B4-BE49-F238E27FC236}">
                  <a16:creationId xmlns:a16="http://schemas.microsoft.com/office/drawing/2014/main" id="{9C1F41E5-8A77-30D2-6240-BCB14332AAA5}"/>
                </a:ext>
              </a:extLst>
            </p:cNvPr>
            <p:cNvSpPr/>
            <p:nvPr/>
          </p:nvSpPr>
          <p:spPr>
            <a:xfrm>
              <a:off x="3378"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10" name="立方体 9">
              <a:extLst>
                <a:ext uri="{FF2B5EF4-FFF2-40B4-BE49-F238E27FC236}">
                  <a16:creationId xmlns:a16="http://schemas.microsoft.com/office/drawing/2014/main" id="{2223084E-4C53-59DE-549D-F294770A4DFD}"/>
                </a:ext>
              </a:extLst>
            </p:cNvPr>
            <p:cNvSpPr/>
            <p:nvPr/>
          </p:nvSpPr>
          <p:spPr>
            <a:xfrm>
              <a:off x="3629"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11" name="立方体 10">
              <a:extLst>
                <a:ext uri="{FF2B5EF4-FFF2-40B4-BE49-F238E27FC236}">
                  <a16:creationId xmlns:a16="http://schemas.microsoft.com/office/drawing/2014/main" id="{D3E209F1-64EB-7B71-0773-06D7A9264711}"/>
                </a:ext>
              </a:extLst>
            </p:cNvPr>
            <p:cNvSpPr/>
            <p:nvPr/>
          </p:nvSpPr>
          <p:spPr>
            <a:xfrm>
              <a:off x="3879"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12" name="立方体 11">
              <a:extLst>
                <a:ext uri="{FF2B5EF4-FFF2-40B4-BE49-F238E27FC236}">
                  <a16:creationId xmlns:a16="http://schemas.microsoft.com/office/drawing/2014/main" id="{1CAA45AC-1919-0183-E85D-E907251C1F25}"/>
                </a:ext>
              </a:extLst>
            </p:cNvPr>
            <p:cNvSpPr/>
            <p:nvPr/>
          </p:nvSpPr>
          <p:spPr>
            <a:xfrm>
              <a:off x="4128"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13" name="立方体 12">
              <a:extLst>
                <a:ext uri="{FF2B5EF4-FFF2-40B4-BE49-F238E27FC236}">
                  <a16:creationId xmlns:a16="http://schemas.microsoft.com/office/drawing/2014/main" id="{E4A7DF2D-80D9-D5E5-2046-7D81BCC8FD1F}"/>
                </a:ext>
              </a:extLst>
            </p:cNvPr>
            <p:cNvSpPr/>
            <p:nvPr/>
          </p:nvSpPr>
          <p:spPr>
            <a:xfrm>
              <a:off x="4377"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14" name="立方体 13">
              <a:extLst>
                <a:ext uri="{FF2B5EF4-FFF2-40B4-BE49-F238E27FC236}">
                  <a16:creationId xmlns:a16="http://schemas.microsoft.com/office/drawing/2014/main" id="{BE27F6C6-9D4A-31B7-1D86-48FBAF924ECD}"/>
                </a:ext>
              </a:extLst>
            </p:cNvPr>
            <p:cNvSpPr/>
            <p:nvPr/>
          </p:nvSpPr>
          <p:spPr>
            <a:xfrm>
              <a:off x="4626"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15" name="立方体 14">
              <a:extLst>
                <a:ext uri="{FF2B5EF4-FFF2-40B4-BE49-F238E27FC236}">
                  <a16:creationId xmlns:a16="http://schemas.microsoft.com/office/drawing/2014/main" id="{0205B406-48B8-04DB-0C64-FE2C6BEF5BEA}"/>
                </a:ext>
              </a:extLst>
            </p:cNvPr>
            <p:cNvSpPr/>
            <p:nvPr/>
          </p:nvSpPr>
          <p:spPr>
            <a:xfrm>
              <a:off x="4876"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16" name="立方体 15">
              <a:extLst>
                <a:ext uri="{FF2B5EF4-FFF2-40B4-BE49-F238E27FC236}">
                  <a16:creationId xmlns:a16="http://schemas.microsoft.com/office/drawing/2014/main" id="{4B653CAA-2835-66CD-9B07-2D819B7F452C}"/>
                </a:ext>
              </a:extLst>
            </p:cNvPr>
            <p:cNvSpPr/>
            <p:nvPr/>
          </p:nvSpPr>
          <p:spPr>
            <a:xfrm>
              <a:off x="5125"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grpSp>
      <p:grpSp>
        <p:nvGrpSpPr>
          <p:cNvPr id="17" name="组合 16">
            <a:extLst>
              <a:ext uri="{FF2B5EF4-FFF2-40B4-BE49-F238E27FC236}">
                <a16:creationId xmlns:a16="http://schemas.microsoft.com/office/drawing/2014/main" id="{651AC4A9-CAC5-9AF6-A813-21E6A341DD90}"/>
              </a:ext>
            </a:extLst>
          </p:cNvPr>
          <p:cNvGrpSpPr/>
          <p:nvPr/>
        </p:nvGrpSpPr>
        <p:grpSpPr>
          <a:xfrm>
            <a:off x="6307139" y="3289298"/>
            <a:ext cx="1692275" cy="647700"/>
            <a:chOff x="3107" y="2183"/>
            <a:chExt cx="1066" cy="408"/>
          </a:xfrm>
        </p:grpSpPr>
        <p:sp>
          <p:nvSpPr>
            <p:cNvPr id="18" name="立方体 17">
              <a:extLst>
                <a:ext uri="{FF2B5EF4-FFF2-40B4-BE49-F238E27FC236}">
                  <a16:creationId xmlns:a16="http://schemas.microsoft.com/office/drawing/2014/main" id="{DBD529AF-7E36-FF4F-8581-094B17B5FABB}"/>
                </a:ext>
              </a:extLst>
            </p:cNvPr>
            <p:cNvSpPr/>
            <p:nvPr/>
          </p:nvSpPr>
          <p:spPr>
            <a:xfrm>
              <a:off x="3107" y="2183"/>
              <a:ext cx="318" cy="408"/>
            </a:xfrm>
            <a:prstGeom prst="cube">
              <a:avLst>
                <a:gd name="adj" fmla="val 25000"/>
              </a:avLst>
            </a:prstGeom>
            <a:solidFill>
              <a:srgbClr val="660066"/>
            </a:solidFill>
            <a:ln w="9525" cap="flat" cmpd="sng">
              <a:solidFill>
                <a:srgbClr val="CC0000"/>
              </a:solidFill>
              <a:prstDash val="solid"/>
              <a:miter/>
              <a:headEnd type="none" w="med" len="med"/>
              <a:tailEnd type="none" w="med" len="med"/>
            </a:ln>
          </p:spPr>
          <p:txBody>
            <a:bodyPr/>
            <a:lstStyle/>
            <a:p>
              <a:endParaRPr lang="zh-CN" altLang="en-US"/>
            </a:p>
          </p:txBody>
        </p:sp>
        <p:sp>
          <p:nvSpPr>
            <p:cNvPr id="19" name="立方体 18">
              <a:extLst>
                <a:ext uri="{FF2B5EF4-FFF2-40B4-BE49-F238E27FC236}">
                  <a16:creationId xmlns:a16="http://schemas.microsoft.com/office/drawing/2014/main" id="{D3BFEDFF-E0CB-4F5F-8281-6B1273BF9770}"/>
                </a:ext>
              </a:extLst>
            </p:cNvPr>
            <p:cNvSpPr/>
            <p:nvPr/>
          </p:nvSpPr>
          <p:spPr>
            <a:xfrm>
              <a:off x="3356" y="2183"/>
              <a:ext cx="318" cy="408"/>
            </a:xfrm>
            <a:prstGeom prst="cube">
              <a:avLst>
                <a:gd name="adj" fmla="val 25000"/>
              </a:avLst>
            </a:prstGeom>
            <a:solidFill>
              <a:srgbClr val="660066"/>
            </a:solidFill>
            <a:ln w="9525" cap="flat" cmpd="sng">
              <a:solidFill>
                <a:srgbClr val="CC0000"/>
              </a:solidFill>
              <a:prstDash val="solid"/>
              <a:miter/>
              <a:headEnd type="none" w="med" len="med"/>
              <a:tailEnd type="none" w="med" len="med"/>
            </a:ln>
          </p:spPr>
          <p:txBody>
            <a:bodyPr/>
            <a:lstStyle/>
            <a:p>
              <a:endParaRPr lang="zh-CN" altLang="en-US"/>
            </a:p>
          </p:txBody>
        </p:sp>
        <p:sp>
          <p:nvSpPr>
            <p:cNvPr id="20" name="立方体 19">
              <a:extLst>
                <a:ext uri="{FF2B5EF4-FFF2-40B4-BE49-F238E27FC236}">
                  <a16:creationId xmlns:a16="http://schemas.microsoft.com/office/drawing/2014/main" id="{434C1556-5F85-9519-20C5-135B20F91C66}"/>
                </a:ext>
              </a:extLst>
            </p:cNvPr>
            <p:cNvSpPr/>
            <p:nvPr/>
          </p:nvSpPr>
          <p:spPr>
            <a:xfrm>
              <a:off x="3606" y="2183"/>
              <a:ext cx="318" cy="408"/>
            </a:xfrm>
            <a:prstGeom prst="cube">
              <a:avLst>
                <a:gd name="adj" fmla="val 25000"/>
              </a:avLst>
            </a:prstGeom>
            <a:solidFill>
              <a:srgbClr val="660066"/>
            </a:solidFill>
            <a:ln w="9525" cap="flat" cmpd="sng">
              <a:solidFill>
                <a:srgbClr val="CC0000"/>
              </a:solidFill>
              <a:prstDash val="solid"/>
              <a:miter/>
              <a:headEnd type="none" w="med" len="med"/>
              <a:tailEnd type="none" w="med" len="med"/>
            </a:ln>
          </p:spPr>
          <p:txBody>
            <a:bodyPr/>
            <a:lstStyle/>
            <a:p>
              <a:endParaRPr lang="zh-CN" altLang="en-US"/>
            </a:p>
          </p:txBody>
        </p:sp>
        <p:sp>
          <p:nvSpPr>
            <p:cNvPr id="21" name="立方体 20">
              <a:extLst>
                <a:ext uri="{FF2B5EF4-FFF2-40B4-BE49-F238E27FC236}">
                  <a16:creationId xmlns:a16="http://schemas.microsoft.com/office/drawing/2014/main" id="{85244C70-BEEA-F70E-995C-F41F74FA7DF5}"/>
                </a:ext>
              </a:extLst>
            </p:cNvPr>
            <p:cNvSpPr/>
            <p:nvPr/>
          </p:nvSpPr>
          <p:spPr>
            <a:xfrm>
              <a:off x="3855" y="2183"/>
              <a:ext cx="318" cy="408"/>
            </a:xfrm>
            <a:prstGeom prst="cube">
              <a:avLst>
                <a:gd name="adj" fmla="val 25000"/>
              </a:avLst>
            </a:prstGeom>
            <a:solidFill>
              <a:srgbClr val="660066"/>
            </a:solidFill>
            <a:ln w="9525" cap="flat" cmpd="sng">
              <a:solidFill>
                <a:srgbClr val="CC0000"/>
              </a:solidFill>
              <a:prstDash val="solid"/>
              <a:miter/>
              <a:headEnd type="none" w="med" len="med"/>
              <a:tailEnd type="none" w="med" len="med"/>
            </a:ln>
          </p:spPr>
          <p:txBody>
            <a:bodyPr/>
            <a:lstStyle/>
            <a:p>
              <a:endParaRPr lang="zh-CN" altLang="en-US"/>
            </a:p>
          </p:txBody>
        </p:sp>
      </p:grpSp>
      <p:sp>
        <p:nvSpPr>
          <p:cNvPr id="22" name="直接连接符 21">
            <a:extLst>
              <a:ext uri="{FF2B5EF4-FFF2-40B4-BE49-F238E27FC236}">
                <a16:creationId xmlns:a16="http://schemas.microsoft.com/office/drawing/2014/main" id="{0D8549F7-0647-EEE1-210F-95E940249D1E}"/>
              </a:ext>
            </a:extLst>
          </p:cNvPr>
          <p:cNvSpPr/>
          <p:nvPr/>
        </p:nvSpPr>
        <p:spPr>
          <a:xfrm flipH="1">
            <a:off x="5119689" y="4117973"/>
            <a:ext cx="1546225" cy="0"/>
          </a:xfrm>
          <a:prstGeom prst="line">
            <a:avLst/>
          </a:prstGeom>
          <a:ln w="38100" cap="flat" cmpd="sng">
            <a:solidFill>
              <a:srgbClr val="333399"/>
            </a:solidFill>
            <a:prstDash val="solid"/>
            <a:headEnd type="none" w="med" len="med"/>
            <a:tailEnd type="triangle" w="lg" len="lg"/>
          </a:ln>
        </p:spPr>
      </p:sp>
      <p:sp>
        <p:nvSpPr>
          <p:cNvPr id="23" name="直接连接符 22">
            <a:extLst>
              <a:ext uri="{FF2B5EF4-FFF2-40B4-BE49-F238E27FC236}">
                <a16:creationId xmlns:a16="http://schemas.microsoft.com/office/drawing/2014/main" id="{E3659E92-8B25-7F55-41E6-07BBA43F06FC}"/>
              </a:ext>
            </a:extLst>
          </p:cNvPr>
          <p:cNvSpPr/>
          <p:nvPr/>
        </p:nvSpPr>
        <p:spPr>
          <a:xfrm>
            <a:off x="7135813" y="4117973"/>
            <a:ext cx="1547812" cy="0"/>
          </a:xfrm>
          <a:prstGeom prst="line">
            <a:avLst/>
          </a:prstGeom>
          <a:ln w="38100" cap="flat" cmpd="sng">
            <a:solidFill>
              <a:srgbClr val="333399"/>
            </a:solidFill>
            <a:prstDash val="solid"/>
            <a:headEnd type="none" w="med" len="med"/>
            <a:tailEnd type="triangle" w="lg" len="lg"/>
          </a:ln>
        </p:spPr>
      </p:sp>
      <p:sp>
        <p:nvSpPr>
          <p:cNvPr id="24" name="文本框 23">
            <a:extLst>
              <a:ext uri="{FF2B5EF4-FFF2-40B4-BE49-F238E27FC236}">
                <a16:creationId xmlns:a16="http://schemas.microsoft.com/office/drawing/2014/main" id="{50DA491B-86F3-5325-FCE7-EB124E681544}"/>
              </a:ext>
            </a:extLst>
          </p:cNvPr>
          <p:cNvSpPr txBox="1"/>
          <p:nvPr/>
        </p:nvSpPr>
        <p:spPr>
          <a:xfrm>
            <a:off x="4767263" y="2338387"/>
            <a:ext cx="387350" cy="579437"/>
          </a:xfrm>
          <a:prstGeom prst="rect">
            <a:avLst/>
          </a:prstGeom>
          <a:noFill/>
          <a:ln w="9525">
            <a:noFill/>
          </a:ln>
        </p:spPr>
        <p:txBody>
          <a:bodyPr wrap="none" anchor="t" anchorCtr="0">
            <a:spAutoFit/>
          </a:bodyPr>
          <a:lstStyle/>
          <a:p>
            <a:r>
              <a:rPr lang="en-US" altLang="zh-CN" sz="3200" b="1">
                <a:solidFill>
                  <a:srgbClr val="003300"/>
                </a:solidFill>
              </a:rPr>
              <a:t>a</a:t>
            </a:r>
          </a:p>
        </p:txBody>
      </p:sp>
      <p:sp>
        <p:nvSpPr>
          <p:cNvPr id="25" name="直接连接符 24">
            <a:extLst>
              <a:ext uri="{FF2B5EF4-FFF2-40B4-BE49-F238E27FC236}">
                <a16:creationId xmlns:a16="http://schemas.microsoft.com/office/drawing/2014/main" id="{85C5C240-A32C-080F-C7D9-43423C7115D3}"/>
              </a:ext>
            </a:extLst>
          </p:cNvPr>
          <p:cNvSpPr/>
          <p:nvPr/>
        </p:nvSpPr>
        <p:spPr>
          <a:xfrm>
            <a:off x="4938713" y="2820986"/>
            <a:ext cx="0" cy="468312"/>
          </a:xfrm>
          <a:prstGeom prst="line">
            <a:avLst/>
          </a:prstGeom>
          <a:ln w="38100" cap="flat" cmpd="sng">
            <a:solidFill>
              <a:schemeClr val="tx1"/>
            </a:solidFill>
            <a:prstDash val="solid"/>
            <a:headEnd type="none" w="med" len="med"/>
            <a:tailEnd type="triangle" w="med" len="lg"/>
          </a:ln>
        </p:spPr>
      </p:sp>
      <p:sp>
        <p:nvSpPr>
          <p:cNvPr id="26" name="文本框 25">
            <a:extLst>
              <a:ext uri="{FF2B5EF4-FFF2-40B4-BE49-F238E27FC236}">
                <a16:creationId xmlns:a16="http://schemas.microsoft.com/office/drawing/2014/main" id="{AE28F8FA-6C25-90A6-3A98-18EAF32E0037}"/>
              </a:ext>
            </a:extLst>
          </p:cNvPr>
          <p:cNvSpPr txBox="1"/>
          <p:nvPr/>
        </p:nvSpPr>
        <p:spPr>
          <a:xfrm>
            <a:off x="6378576" y="2781298"/>
            <a:ext cx="296863" cy="579438"/>
          </a:xfrm>
          <a:prstGeom prst="rect">
            <a:avLst/>
          </a:prstGeom>
          <a:noFill/>
          <a:ln w="9525">
            <a:noFill/>
          </a:ln>
        </p:spPr>
        <p:txBody>
          <a:bodyPr wrap="none" anchor="t" anchorCtr="0">
            <a:spAutoFit/>
          </a:bodyPr>
          <a:lstStyle/>
          <a:p>
            <a:r>
              <a:rPr lang="en-US" altLang="zh-CN" sz="3200" b="1">
                <a:solidFill>
                  <a:srgbClr val="003300"/>
                </a:solidFill>
              </a:rPr>
              <a:t>i</a:t>
            </a:r>
          </a:p>
        </p:txBody>
      </p:sp>
      <p:sp>
        <p:nvSpPr>
          <p:cNvPr id="27" name="文本框 26">
            <a:extLst>
              <a:ext uri="{FF2B5EF4-FFF2-40B4-BE49-F238E27FC236}">
                <a16:creationId xmlns:a16="http://schemas.microsoft.com/office/drawing/2014/main" id="{6B5C9924-B51B-2E83-9F39-5050B3762844}"/>
              </a:ext>
            </a:extLst>
          </p:cNvPr>
          <p:cNvSpPr txBox="1"/>
          <p:nvPr/>
        </p:nvSpPr>
        <p:spPr>
          <a:xfrm>
            <a:off x="5262564" y="2713037"/>
            <a:ext cx="319087" cy="579437"/>
          </a:xfrm>
          <a:prstGeom prst="rect">
            <a:avLst/>
          </a:prstGeom>
          <a:noFill/>
          <a:ln w="9525">
            <a:noFill/>
          </a:ln>
        </p:spPr>
        <p:txBody>
          <a:bodyPr wrap="none" anchor="t" anchorCtr="0">
            <a:spAutoFit/>
          </a:bodyPr>
          <a:lstStyle/>
          <a:p>
            <a:r>
              <a:rPr lang="en-US" altLang="zh-CN" sz="3200" b="1">
                <a:solidFill>
                  <a:srgbClr val="003300"/>
                </a:solidFill>
              </a:rPr>
              <a:t>j</a:t>
            </a:r>
          </a:p>
        </p:txBody>
      </p:sp>
      <p:sp>
        <p:nvSpPr>
          <p:cNvPr id="28" name="文本框 27">
            <a:extLst>
              <a:ext uri="{FF2B5EF4-FFF2-40B4-BE49-F238E27FC236}">
                <a16:creationId xmlns:a16="http://schemas.microsoft.com/office/drawing/2014/main" id="{A91AE8D7-CB5E-B293-46A4-6CAE0F43312D}"/>
              </a:ext>
            </a:extLst>
          </p:cNvPr>
          <p:cNvSpPr txBox="1"/>
          <p:nvPr/>
        </p:nvSpPr>
        <p:spPr>
          <a:xfrm>
            <a:off x="9043988" y="2781298"/>
            <a:ext cx="747712" cy="579438"/>
          </a:xfrm>
          <a:prstGeom prst="rect">
            <a:avLst/>
          </a:prstGeom>
          <a:noFill/>
          <a:ln w="9525">
            <a:noFill/>
          </a:ln>
        </p:spPr>
        <p:txBody>
          <a:bodyPr wrap="none" anchor="t" anchorCtr="0">
            <a:spAutoFit/>
          </a:bodyPr>
          <a:lstStyle/>
          <a:p>
            <a:r>
              <a:rPr lang="en-US" altLang="zh-CN" sz="3200" b="1">
                <a:solidFill>
                  <a:srgbClr val="003300"/>
                </a:solidFill>
              </a:rPr>
              <a:t>n-1</a:t>
            </a:r>
          </a:p>
        </p:txBody>
      </p:sp>
      <p:sp>
        <p:nvSpPr>
          <p:cNvPr id="29" name="右大括号 28">
            <a:extLst>
              <a:ext uri="{FF2B5EF4-FFF2-40B4-BE49-F238E27FC236}">
                <a16:creationId xmlns:a16="http://schemas.microsoft.com/office/drawing/2014/main" id="{468C0DBE-843E-1FD3-E1BA-852DFC049465}"/>
              </a:ext>
            </a:extLst>
          </p:cNvPr>
          <p:cNvSpPr/>
          <p:nvPr/>
        </p:nvSpPr>
        <p:spPr>
          <a:xfrm rot="16200000">
            <a:off x="7045325" y="2011361"/>
            <a:ext cx="323850" cy="1441450"/>
          </a:xfrm>
          <a:prstGeom prst="rightBrace">
            <a:avLst>
              <a:gd name="adj1" fmla="val 37091"/>
              <a:gd name="adj2" fmla="val 50000"/>
            </a:avLst>
          </a:prstGeom>
          <a:noFill/>
          <a:ln w="28575" cap="flat" cmpd="sng">
            <a:solidFill>
              <a:schemeClr val="tx1"/>
            </a:solidFill>
            <a:prstDash val="solid"/>
            <a:headEnd type="none" w="med" len="med"/>
            <a:tailEnd type="none" w="med" len="med"/>
          </a:ln>
        </p:spPr>
        <p:txBody>
          <a:bodyPr/>
          <a:lstStyle/>
          <a:p>
            <a:endParaRPr lang="zh-CN" altLang="en-US"/>
          </a:p>
        </p:txBody>
      </p:sp>
      <p:sp>
        <p:nvSpPr>
          <p:cNvPr id="30" name="文本框 29">
            <a:extLst>
              <a:ext uri="{FF2B5EF4-FFF2-40B4-BE49-F238E27FC236}">
                <a16:creationId xmlns:a16="http://schemas.microsoft.com/office/drawing/2014/main" id="{1C7910BF-88E2-071B-9733-B690DFA7E8EC}"/>
              </a:ext>
            </a:extLst>
          </p:cNvPr>
          <p:cNvSpPr txBox="1"/>
          <p:nvPr/>
        </p:nvSpPr>
        <p:spPr>
          <a:xfrm>
            <a:off x="6937375" y="2062162"/>
            <a:ext cx="522288" cy="579437"/>
          </a:xfrm>
          <a:prstGeom prst="rect">
            <a:avLst/>
          </a:prstGeom>
          <a:noFill/>
          <a:ln w="9525">
            <a:noFill/>
          </a:ln>
        </p:spPr>
        <p:txBody>
          <a:bodyPr wrap="none" anchor="t" anchorCtr="0">
            <a:spAutoFit/>
          </a:bodyPr>
          <a:lstStyle/>
          <a:p>
            <a:r>
              <a:rPr lang="en-US" altLang="zh-CN" sz="3200" b="1">
                <a:solidFill>
                  <a:srgbClr val="003300"/>
                </a:solidFill>
              </a:rPr>
              <a:t>m</a:t>
            </a:r>
          </a:p>
        </p:txBody>
      </p:sp>
      <p:sp>
        <p:nvSpPr>
          <p:cNvPr id="31" name="文本框 30">
            <a:extLst>
              <a:ext uri="{FF2B5EF4-FFF2-40B4-BE49-F238E27FC236}">
                <a16:creationId xmlns:a16="http://schemas.microsoft.com/office/drawing/2014/main" id="{4F98FB2B-D1A4-DC8D-FC1C-9EB5AECE14B0}"/>
              </a:ext>
            </a:extLst>
          </p:cNvPr>
          <p:cNvSpPr txBox="1"/>
          <p:nvPr/>
        </p:nvSpPr>
        <p:spPr>
          <a:xfrm>
            <a:off x="8467725" y="2709862"/>
            <a:ext cx="319088" cy="579437"/>
          </a:xfrm>
          <a:prstGeom prst="rect">
            <a:avLst/>
          </a:prstGeom>
          <a:noFill/>
          <a:ln w="9525">
            <a:noFill/>
          </a:ln>
        </p:spPr>
        <p:txBody>
          <a:bodyPr>
            <a:spAutoFit/>
          </a:bodyPr>
          <a:lstStyle/>
          <a:p>
            <a:r>
              <a:rPr lang="en-US" altLang="zh-CN" sz="3200" b="1">
                <a:solidFill>
                  <a:srgbClr val="003300"/>
                </a:solidFill>
              </a:rPr>
              <a:t>j</a:t>
            </a:r>
          </a:p>
        </p:txBody>
      </p:sp>
      <p:sp>
        <p:nvSpPr>
          <p:cNvPr id="32" name="灯片编号占位符 31">
            <a:extLst>
              <a:ext uri="{FF2B5EF4-FFF2-40B4-BE49-F238E27FC236}">
                <a16:creationId xmlns:a16="http://schemas.microsoft.com/office/drawing/2014/main" id="{6AFF980E-1D43-D902-9378-B0C33269A650}"/>
              </a:ext>
            </a:extLst>
          </p:cNvPr>
          <p:cNvSpPr>
            <a:spLocks noGrp="1"/>
          </p:cNvSpPr>
          <p:nvPr>
            <p:ph type="sldNum" sz="quarter" idx="12"/>
          </p:nvPr>
        </p:nvSpPr>
        <p:spPr/>
        <p:txBody>
          <a:bodyPr/>
          <a:lstStyle/>
          <a:p>
            <a:fld id="{D7C0FE0B-717B-41AE-9FA2-CA4BF851D1C3}" type="slidenum">
              <a:rPr lang="zh-CN" altLang="en-US" smtClean="0"/>
              <a:t>16</a:t>
            </a:fld>
            <a:endParaRPr lang="zh-CN" altLang="en-US"/>
          </a:p>
        </p:txBody>
      </p:sp>
    </p:spTree>
    <p:extLst>
      <p:ext uri="{BB962C8B-B14F-4D97-AF65-F5344CB8AC3E}">
        <p14:creationId xmlns:p14="http://schemas.microsoft.com/office/powerpoint/2010/main" val="1941332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blinds(horizontal)">
                                      <p:cBhvr>
                                        <p:cTn id="7" dur="500"/>
                                        <p:tgtEl>
                                          <p:spTgt spid="22"/>
                                        </p:tgtEl>
                                      </p:cBhvr>
                                    </p:animEffect>
                                  </p:childTnLst>
                                </p:cTn>
                              </p:par>
                              <p:par>
                                <p:cTn id="8" presetID="35" presetClass="path" presetSubtype="0" accel="50000" decel="50000" fill="hold" nodeType="withEffect">
                                  <p:stCondLst>
                                    <p:cond delay="0"/>
                                  </p:stCondLst>
                                  <p:childTnLst>
                                    <p:animMotion origin="layout" path="M 3.33333E-6 -7.40741E-7 L -0.13195 -7.40741E-7 " pathEditMode="relative" rAng="0" ptsTypes="AA">
                                      <p:cBhvr>
                                        <p:cTn id="9" dur="2000" fill="hold"/>
                                        <p:tgtEl>
                                          <p:spTgt spid="17"/>
                                        </p:tgtEl>
                                        <p:attrNameLst>
                                          <p:attrName>ppt_x</p:attrName>
                                          <p:attrName>ppt_y</p:attrName>
                                        </p:attrNameLst>
                                      </p:cBhvr>
                                      <p:rCtr x="-6600" y="0"/>
                                    </p:animMotion>
                                  </p:childTnLst>
                                </p:cTn>
                              </p:par>
                            </p:childTnLst>
                          </p:cTn>
                        </p:par>
                      </p:childTnLst>
                    </p:cTn>
                  </p:par>
                  <p:par>
                    <p:cTn id="10" fill="hold">
                      <p:stCondLst>
                        <p:cond delay="indefinite"/>
                      </p:stCondLst>
                      <p:childTnLst>
                        <p:par>
                          <p:cTn id="11" fill="hold">
                            <p:stCondLst>
                              <p:cond delay="0"/>
                            </p:stCondLst>
                            <p:childTnLst>
                              <p:par>
                                <p:cTn id="12" presetID="3" presetClass="exit" presetSubtype="10" fill="hold" grpId="0" nodeType="clickEffect">
                                  <p:stCondLst>
                                    <p:cond delay="0"/>
                                  </p:stCondLst>
                                  <p:childTnLst>
                                    <p:animEffect transition="out" filter="blinds(horizontal)">
                                      <p:cBhvr>
                                        <p:cTn id="13" dur="500"/>
                                        <p:tgtEl>
                                          <p:spTgt spid="27"/>
                                        </p:tgtEl>
                                      </p:cBhvr>
                                    </p:animEffect>
                                    <p:set>
                                      <p:cBhvr>
                                        <p:cTn id="14" dur="1" fill="hold">
                                          <p:stCondLst>
                                            <p:cond delay="499"/>
                                          </p:stCondLst>
                                        </p:cTn>
                                        <p:tgtEl>
                                          <p:spTgt spid="27"/>
                                        </p:tgtEl>
                                        <p:attrNameLst>
                                          <p:attrName>style.visibility</p:attrName>
                                        </p:attrNameLst>
                                      </p:cBhvr>
                                      <p:to>
                                        <p:strVal val="hidden"/>
                                      </p:to>
                                    </p:set>
                                  </p:childTnLst>
                                </p:cTn>
                              </p:par>
                              <p:par>
                                <p:cTn id="15" presetID="3" presetClass="exit" presetSubtype="10" fill="hold" nodeType="withEffect">
                                  <p:stCondLst>
                                    <p:cond delay="0"/>
                                  </p:stCondLst>
                                  <p:childTnLst>
                                    <p:animEffect transition="out" filter="blinds(horizontal)">
                                      <p:cBhvr>
                                        <p:cTn id="16" dur="500"/>
                                        <p:tgtEl>
                                          <p:spTgt spid="22"/>
                                        </p:tgtEl>
                                      </p:cBhvr>
                                    </p:animEffect>
                                    <p:set>
                                      <p:cBhvr>
                                        <p:cTn id="17" dur="1" fill="hold">
                                          <p:stCondLst>
                                            <p:cond delay="499"/>
                                          </p:stCondLst>
                                        </p:cTn>
                                        <p:tgtEl>
                                          <p:spTgt spid="22"/>
                                        </p:tgtEl>
                                        <p:attrNameLst>
                                          <p:attrName>style.visibility</p:attrName>
                                        </p:attrNameLst>
                                      </p:cBhvr>
                                      <p:to>
                                        <p:strVal val="hidden"/>
                                      </p:to>
                                    </p:set>
                                  </p:childTnLst>
                                </p:cTn>
                              </p:par>
                              <p:par>
                                <p:cTn id="18" presetID="3" presetClass="entr" presetSubtype="10" fill="hold" grpId="0" nodeType="withEffect">
                                  <p:stCondLst>
                                    <p:cond delay="0"/>
                                  </p:stCondLst>
                                  <p:childTnLst>
                                    <p:set>
                                      <p:cBhvr>
                                        <p:cTn id="19" dur="1" fill="hold">
                                          <p:stCondLst>
                                            <p:cond delay="0"/>
                                          </p:stCondLst>
                                        </p:cTn>
                                        <p:tgtEl>
                                          <p:spTgt spid="31"/>
                                        </p:tgtEl>
                                        <p:attrNameLst>
                                          <p:attrName>style.visibility</p:attrName>
                                        </p:attrNameLst>
                                      </p:cBhvr>
                                      <p:to>
                                        <p:strVal val="visible"/>
                                      </p:to>
                                    </p:set>
                                    <p:animEffect transition="in" filter="blinds(horizontal)">
                                      <p:cBhvr>
                                        <p:cTn id="20" dur="500"/>
                                        <p:tgtEl>
                                          <p:spTgt spid="31"/>
                                        </p:tgtEl>
                                      </p:cBhvr>
                                    </p:animEffect>
                                  </p:childTnLst>
                                </p:cTn>
                              </p:par>
                              <p:par>
                                <p:cTn id="21" presetID="3" presetClass="entr" presetSubtype="10" fill="hold" nodeType="with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blinds(horizontal)">
                                      <p:cBhvr>
                                        <p:cTn id="23" dur="500"/>
                                        <p:tgtEl>
                                          <p:spTgt spid="23"/>
                                        </p:tgtEl>
                                      </p:cBhvr>
                                    </p:animEffect>
                                  </p:childTnLst>
                                </p:cTn>
                              </p:par>
                              <p:par>
                                <p:cTn id="24" presetID="63" presetClass="path" presetSubtype="0" accel="50000" decel="50000" fill="hold" nodeType="withEffect">
                                  <p:stCondLst>
                                    <p:cond delay="0"/>
                                  </p:stCondLst>
                                  <p:childTnLst>
                                    <p:animMotion origin="layout" path="M 3.33333E-6 -7.40741E-7 L 0.08854 -7.40741E-7 " pathEditMode="relative" rAng="0" ptsTypes="AA">
                                      <p:cBhvr>
                                        <p:cTn id="25" dur="2000" fill="hold"/>
                                        <p:tgtEl>
                                          <p:spTgt spid="17"/>
                                        </p:tgtEl>
                                        <p:attrNameLst>
                                          <p:attrName>ppt_x</p:attrName>
                                          <p:attrName>ppt_y</p:attrName>
                                        </p:attrNameLst>
                                      </p:cBhvr>
                                      <p:rCtr x="440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7F7B6BC3-1286-2941-ADCF-974D8B4F28A6}"/>
              </a:ext>
            </a:extLst>
          </p:cNvPr>
          <p:cNvSpPr/>
          <p:nvPr/>
        </p:nvSpPr>
        <p:spPr>
          <a:xfrm>
            <a:off x="350520" y="1941696"/>
            <a:ext cx="11567160" cy="4717200"/>
          </a:xfrm>
          <a:prstGeom prst="rect">
            <a:avLst/>
          </a:prstGeom>
          <a:solidFill>
            <a:schemeClr val="accent6">
              <a:lumMod val="20000"/>
              <a:lumOff val="80000"/>
            </a:schemeClr>
          </a:solidFill>
          <a:ln w="9525" cap="flat" cmpd="sng">
            <a:solidFill>
              <a:schemeClr val="tx1"/>
            </a:solidFill>
            <a:prstDash val="solid"/>
            <a:miter/>
            <a:headEnd type="none" w="med" len="med"/>
            <a:tailEnd type="none" w="med" len="med"/>
          </a:ln>
          <a:effectLst>
            <a:prstShdw prst="shdw12" dir="16200000">
              <a:schemeClr val="bg2">
                <a:alpha val="50000"/>
              </a:schemeClr>
            </a:prstShdw>
          </a:effectLst>
        </p:spPr>
        <p:txBody>
          <a:bodyPr/>
          <a:lstStyle/>
          <a:p>
            <a:endParaRPr lang="zh-CN" altLang="en-US"/>
          </a:p>
        </p:txBody>
      </p:sp>
      <p:sp>
        <p:nvSpPr>
          <p:cNvPr id="3" name="标题 168963">
            <a:extLst>
              <a:ext uri="{FF2B5EF4-FFF2-40B4-BE49-F238E27FC236}">
                <a16:creationId xmlns:a16="http://schemas.microsoft.com/office/drawing/2014/main" id="{EFB80954-96A8-A49D-87B1-230085C71DB8}"/>
              </a:ext>
            </a:extLst>
          </p:cNvPr>
          <p:cNvSpPr txBox="1">
            <a:spLocks/>
          </p:cNvSpPr>
          <p:nvPr/>
        </p:nvSpPr>
        <p:spPr>
          <a:xfrm>
            <a:off x="1308370" y="277577"/>
            <a:ext cx="5392150" cy="524955"/>
          </a:xfrm>
          <a:prstGeom prst="rect">
            <a:avLst/>
          </a:prstGeom>
        </p:spPr>
        <p:txBody>
          <a:bodyPr vert="horz" lIns="91440" tIns="45720" rIns="91440" bIns="45720" rtlCol="0" anchor="ctr" anchorCtr="0">
            <a:normAutofit lnSpcReduction="10000"/>
          </a:bodyPr>
          <a:lstStyle>
            <a:defPPr>
              <a:defRPr lang="zh-CN"/>
            </a:defPPr>
            <a:lvl1pPr>
              <a:lnSpc>
                <a:spcPct val="90000"/>
              </a:lnSpc>
              <a:spcBef>
                <a:spcPct val="0"/>
              </a:spcBef>
              <a:buNone/>
              <a:defRPr sz="3200">
                <a:solidFill>
                  <a:srgbClr val="000099"/>
                </a:solidFill>
                <a:effectLst>
                  <a:outerShdw blurRad="38100" dist="38100" dir="2700000" algn="tl">
                    <a:srgbClr val="000000">
                      <a:alpha val="43137"/>
                    </a:srgbClr>
                  </a:outerShdw>
                </a:effectLst>
                <a:latin typeface="+mj-lt"/>
                <a:ea typeface="+mj-ea"/>
                <a:cs typeface="+mj-cs"/>
              </a:defRPr>
            </a:lvl1pPr>
          </a:lstStyle>
          <a:p>
            <a:r>
              <a:rPr lang="en-US" altLang="zh-CN" dirty="0"/>
              <a:t>1.0.7  </a:t>
            </a:r>
            <a:r>
              <a:rPr lang="zh-CN" altLang="en-US" dirty="0"/>
              <a:t>序列的元素滑移（换位）</a:t>
            </a:r>
          </a:p>
        </p:txBody>
      </p:sp>
      <p:sp>
        <p:nvSpPr>
          <p:cNvPr id="4" name="文本占位符 168962">
            <a:extLst>
              <a:ext uri="{FF2B5EF4-FFF2-40B4-BE49-F238E27FC236}">
                <a16:creationId xmlns:a16="http://schemas.microsoft.com/office/drawing/2014/main" id="{40E89923-FE45-7D59-9D32-3DD47BE06F28}"/>
              </a:ext>
            </a:extLst>
          </p:cNvPr>
          <p:cNvSpPr txBox="1">
            <a:spLocks/>
          </p:cNvSpPr>
          <p:nvPr/>
        </p:nvSpPr>
        <p:spPr>
          <a:xfrm>
            <a:off x="470170" y="728811"/>
            <a:ext cx="11447510" cy="5930085"/>
          </a:xfrm>
          <a:prstGeom prst="rect">
            <a:avLst/>
          </a:prstGeom>
          <a:effectLst>
            <a:prstShdw prst="shdw12" dir="16200000">
              <a:schemeClr val="bg2">
                <a:alpha val="50000"/>
              </a:schemeClr>
            </a:prstShdw>
          </a:effectLst>
        </p:spPr>
        <p:txBody>
          <a:bodyPr vert="horz" wrap="square" lIns="91440" tIns="45720" rIns="91440" bIns="4572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fontAlgn="base">
              <a:lnSpc>
                <a:spcPct val="150000"/>
              </a:lnSpc>
              <a:spcBef>
                <a:spcPct val="0"/>
              </a:spcBef>
              <a:spcAft>
                <a:spcPts val="1200"/>
              </a:spcAft>
              <a:buNone/>
            </a:pPr>
            <a:r>
              <a:rPr lang="en-US" altLang="zh-CN" b="1" dirty="0">
                <a:solidFill>
                  <a:srgbClr val="A50021"/>
                </a:solidFill>
                <a:effectLst>
                  <a:outerShdw blurRad="38100" dist="38100" dir="2700000">
                    <a:srgbClr val="C0C0C0"/>
                  </a:outerShdw>
                </a:effectLst>
                <a:latin typeface="Calibri Light" panose="020F0302020204030204"/>
                <a:ea typeface="黑体" panose="02010609060101010101" pitchFamily="49" charset="-122"/>
                <a:cs typeface="Calibri Light" panose="020F0302020204030204"/>
              </a:rPr>
              <a:t>1.0.7.3  </a:t>
            </a:r>
            <a:r>
              <a:rPr lang="zh-CN" altLang="en-US" b="1" dirty="0">
                <a:solidFill>
                  <a:srgbClr val="A50021"/>
                </a:solidFill>
                <a:effectLst>
                  <a:outerShdw blurRad="38100" dist="38100" dir="2700000">
                    <a:srgbClr val="C0C0C0"/>
                  </a:outerShdw>
                </a:effectLst>
                <a:latin typeface="Calibri Light" panose="020F0302020204030204"/>
                <a:ea typeface="黑体" panose="02010609060101010101" pitchFamily="49" charset="-122"/>
                <a:cs typeface="Calibri Light" panose="020F0302020204030204"/>
              </a:rPr>
              <a:t>连续子序列向前和向后滑移</a:t>
            </a:r>
            <a:r>
              <a:rPr lang="en-US" altLang="zh-CN" b="1" dirty="0">
                <a:solidFill>
                  <a:srgbClr val="A50021"/>
                </a:solidFill>
                <a:effectLst>
                  <a:outerShdw blurRad="38100" dist="38100" dir="2700000">
                    <a:srgbClr val="C0C0C0"/>
                  </a:outerShdw>
                </a:effectLst>
                <a:latin typeface="Calibri Light" panose="020F0302020204030204"/>
                <a:ea typeface="黑体" panose="02010609060101010101" pitchFamily="49" charset="-122"/>
                <a:cs typeface="Calibri Light" panose="020F0302020204030204"/>
              </a:rPr>
              <a:t>m</a:t>
            </a:r>
            <a:r>
              <a:rPr lang="zh-CN" altLang="en-US" b="1" dirty="0">
                <a:solidFill>
                  <a:srgbClr val="A50021"/>
                </a:solidFill>
                <a:effectLst>
                  <a:outerShdw blurRad="38100" dist="38100" dir="2700000">
                    <a:srgbClr val="C0C0C0"/>
                  </a:outerShdw>
                </a:effectLst>
                <a:latin typeface="Calibri Light" panose="020F0302020204030204"/>
                <a:ea typeface="黑体" panose="02010609060101010101" pitchFamily="49" charset="-122"/>
                <a:cs typeface="Calibri Light" panose="020F0302020204030204"/>
              </a:rPr>
              <a:t>个位置</a:t>
            </a:r>
          </a:p>
          <a:p>
            <a:pPr marL="0" indent="0">
              <a:spcBef>
                <a:spcPct val="0"/>
              </a:spcBef>
              <a:spcAft>
                <a:spcPts val="1200"/>
              </a:spcAft>
              <a:buFont typeface="Arial" panose="020B0604020202020204" pitchFamily="34" charset="0"/>
              <a:buNone/>
            </a:pPr>
            <a:r>
              <a:rPr lang="zh-CN" altLang="en-US" sz="2200" b="1" dirty="0">
                <a:solidFill>
                  <a:srgbClr val="000000"/>
                </a:solidFill>
                <a:latin typeface="+mn-ea"/>
                <a:cs typeface="Courier New" panose="02070309020205020404" pitchFamily="49" charset="0"/>
              </a:rPr>
              <a:t>例如，序列</a:t>
            </a:r>
            <a:r>
              <a:rPr lang="en-US" altLang="zh-CN" sz="2200" b="1" dirty="0">
                <a:solidFill>
                  <a:srgbClr val="000000"/>
                </a:solidFill>
                <a:latin typeface="+mn-ea"/>
                <a:cs typeface="Courier New" panose="02070309020205020404" pitchFamily="49" charset="0"/>
              </a:rPr>
              <a:t>s</a:t>
            </a:r>
            <a:r>
              <a:rPr lang="zh-CN" altLang="en-US" sz="2200" b="1" dirty="0">
                <a:solidFill>
                  <a:srgbClr val="000000"/>
                </a:solidFill>
                <a:latin typeface="+mn-ea"/>
                <a:cs typeface="Courier New" panose="02070309020205020404" pitchFamily="49" charset="0"/>
              </a:rPr>
              <a:t>中从第</a:t>
            </a:r>
            <a:r>
              <a:rPr lang="en-US" altLang="zh-CN" sz="2200" b="1" dirty="0" err="1">
                <a:solidFill>
                  <a:srgbClr val="000000"/>
                </a:solidFill>
                <a:latin typeface="+mn-ea"/>
                <a:cs typeface="Courier New" panose="02070309020205020404" pitchFamily="49" charset="0"/>
              </a:rPr>
              <a:t>i</a:t>
            </a:r>
            <a:r>
              <a:rPr lang="zh-CN" altLang="en-US" sz="2200" b="1" dirty="0">
                <a:solidFill>
                  <a:srgbClr val="000000"/>
                </a:solidFill>
                <a:latin typeface="+mn-ea"/>
                <a:cs typeface="Courier New" panose="02070309020205020404" pitchFamily="49" charset="0"/>
              </a:rPr>
              <a:t>元素起</a:t>
            </a:r>
            <a:r>
              <a:rPr lang="en-US" altLang="zh-CN" sz="2200" b="1" dirty="0">
                <a:solidFill>
                  <a:srgbClr val="000000"/>
                </a:solidFill>
                <a:latin typeface="+mn-ea"/>
                <a:cs typeface="Courier New" panose="02070309020205020404" pitchFamily="49" charset="0"/>
              </a:rPr>
              <a:t>n</a:t>
            </a:r>
            <a:r>
              <a:rPr lang="zh-CN" altLang="en-US" sz="2200" b="1" dirty="0">
                <a:solidFill>
                  <a:srgbClr val="000000"/>
                </a:solidFill>
                <a:latin typeface="+mn-ea"/>
                <a:cs typeface="Courier New" panose="02070309020205020404" pitchFamily="49" charset="0"/>
              </a:rPr>
              <a:t>个字符向后滑移</a:t>
            </a:r>
            <a:r>
              <a:rPr lang="en-US" altLang="zh-CN" sz="2200" b="1" dirty="0">
                <a:solidFill>
                  <a:srgbClr val="000000"/>
                </a:solidFill>
                <a:latin typeface="+mn-ea"/>
                <a:cs typeface="Courier New" panose="02070309020205020404" pitchFamily="49" charset="0"/>
              </a:rPr>
              <a:t>m</a:t>
            </a:r>
            <a:r>
              <a:rPr lang="zh-CN" altLang="en-US" sz="2200" b="1" dirty="0">
                <a:solidFill>
                  <a:srgbClr val="000000"/>
                </a:solidFill>
                <a:latin typeface="+mn-ea"/>
                <a:cs typeface="Courier New" panose="02070309020205020404" pitchFamily="49" charset="0"/>
              </a:rPr>
              <a:t>个位置（实际上，与后面的子序列换位）：</a:t>
            </a:r>
            <a:endParaRPr lang="en-US" altLang="zh-CN" sz="2200" b="1" dirty="0">
              <a:solidFill>
                <a:srgbClr val="000000"/>
              </a:solidFill>
              <a:latin typeface="+mn-ea"/>
              <a:cs typeface="Courier New" panose="02070309020205020404" pitchFamily="49" charset="0"/>
            </a:endParaRPr>
          </a:p>
          <a:p>
            <a:pPr marL="0" indent="0">
              <a:spcBef>
                <a:spcPct val="0"/>
              </a:spcBef>
              <a:buFont typeface="Arial" panose="020B0604020202020204" pitchFamily="34" charset="0"/>
              <a:buNone/>
            </a:pPr>
            <a:r>
              <a:rPr lang="en-US" altLang="zh-CN" sz="2200" b="1" dirty="0">
                <a:solidFill>
                  <a:srgbClr val="000000"/>
                </a:solidFill>
                <a:latin typeface="Courier New" panose="02070309020205020404" pitchFamily="49" charset="0"/>
                <a:ea typeface="黑体" panose="02010609060101010101" pitchFamily="49" charset="-122"/>
                <a:cs typeface="Courier New" panose="02070309020205020404" pitchFamily="49" charset="0"/>
              </a:rPr>
              <a:t>int</a:t>
            </a:r>
            <a:r>
              <a:rPr lang="en-US" altLang="zh-CN" sz="22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 </a:t>
            </a:r>
            <a:r>
              <a:rPr lang="en-US" altLang="zh-CN" sz="2200" dirty="0" err="1">
                <a:solidFill>
                  <a:srgbClr val="000000"/>
                </a:solidFill>
                <a:latin typeface="Courier New" panose="02070309020205020404" pitchFamily="49" charset="0"/>
                <a:ea typeface="黑体" panose="02010609060101010101" pitchFamily="49" charset="-122"/>
                <a:cs typeface="Courier New" panose="02070309020205020404" pitchFamily="49" charset="0"/>
              </a:rPr>
              <a:t>moveBackwardx</a:t>
            </a:r>
            <a:r>
              <a:rPr lang="en-US" altLang="zh-CN" sz="22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(Sequence s, </a:t>
            </a:r>
            <a:r>
              <a:rPr lang="en-US" altLang="zh-CN" sz="2200" b="1" dirty="0">
                <a:solidFill>
                  <a:srgbClr val="000000"/>
                </a:solidFill>
                <a:latin typeface="Courier New" panose="02070309020205020404" pitchFamily="49" charset="0"/>
                <a:ea typeface="黑体" panose="02010609060101010101" pitchFamily="49" charset="-122"/>
                <a:cs typeface="Courier New" panose="02070309020205020404" pitchFamily="49" charset="0"/>
              </a:rPr>
              <a:t>int</a:t>
            </a:r>
            <a:r>
              <a:rPr lang="en-US" altLang="zh-CN" sz="22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 </a:t>
            </a:r>
            <a:r>
              <a:rPr lang="en-US" altLang="zh-CN" sz="2200" dirty="0" err="1">
                <a:solidFill>
                  <a:srgbClr val="000000"/>
                </a:solidFill>
                <a:latin typeface="Courier New" panose="02070309020205020404" pitchFamily="49" charset="0"/>
                <a:ea typeface="黑体" panose="02010609060101010101" pitchFamily="49" charset="-122"/>
                <a:cs typeface="Courier New" panose="02070309020205020404" pitchFamily="49" charset="0"/>
              </a:rPr>
              <a:t>i</a:t>
            </a:r>
            <a:r>
              <a:rPr lang="en-US" altLang="zh-CN" sz="22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 </a:t>
            </a:r>
            <a:r>
              <a:rPr lang="en-US" altLang="zh-CN" sz="2200" b="1" dirty="0">
                <a:solidFill>
                  <a:srgbClr val="000000"/>
                </a:solidFill>
                <a:latin typeface="Courier New" panose="02070309020205020404" pitchFamily="49" charset="0"/>
                <a:ea typeface="黑体" panose="02010609060101010101" pitchFamily="49" charset="-122"/>
                <a:cs typeface="Courier New" panose="02070309020205020404" pitchFamily="49" charset="0"/>
              </a:rPr>
              <a:t>int</a:t>
            </a:r>
            <a:r>
              <a:rPr lang="en-US" altLang="zh-CN" sz="22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 n, </a:t>
            </a:r>
            <a:r>
              <a:rPr lang="en-US" altLang="zh-CN" sz="2200" b="1" dirty="0">
                <a:solidFill>
                  <a:srgbClr val="000000"/>
                </a:solidFill>
                <a:latin typeface="Courier New" panose="02070309020205020404" pitchFamily="49" charset="0"/>
                <a:ea typeface="黑体" panose="02010609060101010101" pitchFamily="49" charset="-122"/>
                <a:cs typeface="Courier New" panose="02070309020205020404" pitchFamily="49" charset="0"/>
              </a:rPr>
              <a:t>int</a:t>
            </a:r>
            <a:r>
              <a:rPr lang="en-US" altLang="zh-CN" sz="22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 m) </a:t>
            </a:r>
            <a:r>
              <a:rPr lang="en-US" altLang="zh-CN" sz="2200" b="1" dirty="0">
                <a:solidFill>
                  <a:srgbClr val="000000"/>
                </a:solidFill>
                <a:latin typeface="Courier New" panose="02070309020205020404" pitchFamily="49" charset="0"/>
                <a:ea typeface="黑体" panose="02010609060101010101" pitchFamily="49" charset="-122"/>
                <a:cs typeface="Courier New" panose="02070309020205020404" pitchFamily="49" charset="0"/>
              </a:rPr>
              <a:t>{</a:t>
            </a:r>
            <a:r>
              <a:rPr lang="en-US" altLang="zh-CN" sz="22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 </a:t>
            </a:r>
          </a:p>
          <a:p>
            <a:pPr marL="0" indent="0">
              <a:spcBef>
                <a:spcPct val="0"/>
              </a:spcBef>
              <a:buFont typeface="Arial" panose="020B0604020202020204" pitchFamily="34" charset="0"/>
              <a:buNone/>
            </a:pPr>
            <a:r>
              <a:rPr lang="de-DE" altLang="zh-CN" sz="22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  ElemType *t;</a:t>
            </a:r>
          </a:p>
          <a:p>
            <a:pPr marL="0" indent="0">
              <a:spcBef>
                <a:spcPct val="0"/>
              </a:spcBef>
              <a:buFont typeface="Arial" panose="020B0604020202020204" pitchFamily="34" charset="0"/>
              <a:buNone/>
            </a:pPr>
            <a:r>
              <a:rPr lang="de-DE" altLang="zh-CN" sz="22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  </a:t>
            </a:r>
            <a:r>
              <a:rPr lang="de-DE" altLang="zh-CN" sz="2200" b="1" dirty="0">
                <a:solidFill>
                  <a:srgbClr val="000000"/>
                </a:solidFill>
                <a:latin typeface="Courier New" panose="02070309020205020404" pitchFamily="49" charset="0"/>
                <a:ea typeface="黑体" panose="02010609060101010101" pitchFamily="49" charset="-122"/>
                <a:cs typeface="Courier New" panose="02070309020205020404" pitchFamily="49" charset="0"/>
              </a:rPr>
              <a:t>int</a:t>
            </a:r>
            <a:r>
              <a:rPr lang="de-DE" altLang="zh-CN" sz="22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 j,k;</a:t>
            </a:r>
          </a:p>
          <a:p>
            <a:pPr marL="0" indent="0">
              <a:spcBef>
                <a:spcPct val="0"/>
              </a:spcBef>
              <a:buFont typeface="Arial" panose="020B0604020202020204" pitchFamily="34" charset="0"/>
              <a:buNone/>
            </a:pPr>
            <a:r>
              <a:rPr lang="de-DE" altLang="zh-CN" sz="22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  </a:t>
            </a:r>
            <a:r>
              <a:rPr lang="en-US" altLang="zh-CN" sz="2200" b="1" dirty="0">
                <a:solidFill>
                  <a:srgbClr val="000000"/>
                </a:solidFill>
                <a:latin typeface="Courier New" panose="02070309020205020404" pitchFamily="49" charset="0"/>
                <a:ea typeface="黑体" panose="02010609060101010101" pitchFamily="49" charset="-122"/>
                <a:cs typeface="Courier New" panose="02070309020205020404" pitchFamily="49" charset="0"/>
              </a:rPr>
              <a:t>if </a:t>
            </a:r>
            <a:r>
              <a:rPr lang="en-US" altLang="zh-CN" sz="22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a:t>
            </a:r>
            <a:r>
              <a:rPr lang="en-US" altLang="zh-CN" sz="2200" dirty="0" err="1">
                <a:solidFill>
                  <a:srgbClr val="000000"/>
                </a:solidFill>
                <a:latin typeface="Courier New" panose="02070309020205020404" pitchFamily="49" charset="0"/>
                <a:ea typeface="黑体" panose="02010609060101010101" pitchFamily="49" charset="-122"/>
                <a:cs typeface="Courier New" panose="02070309020205020404" pitchFamily="49" charset="0"/>
              </a:rPr>
              <a:t>i</a:t>
            </a:r>
            <a:r>
              <a:rPr lang="en-US" altLang="zh-CN" sz="22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&lt;0 </a:t>
            </a:r>
            <a:r>
              <a:rPr lang="en-US" altLang="zh-CN" sz="2200" b="1" dirty="0">
                <a:solidFill>
                  <a:srgbClr val="000000"/>
                </a:solidFill>
                <a:latin typeface="Courier New" panose="02070309020205020404" pitchFamily="49" charset="0"/>
                <a:ea typeface="黑体" panose="02010609060101010101" pitchFamily="49" charset="-122"/>
                <a:cs typeface="Courier New" panose="02070309020205020404" pitchFamily="49" charset="0"/>
              </a:rPr>
              <a:t>|| </a:t>
            </a:r>
            <a:r>
              <a:rPr lang="en-US" altLang="zh-CN" sz="22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n&lt;0 </a:t>
            </a:r>
            <a:r>
              <a:rPr lang="en-US" altLang="zh-CN" sz="2200" b="1" dirty="0">
                <a:solidFill>
                  <a:srgbClr val="000000"/>
                </a:solidFill>
                <a:latin typeface="Courier New" panose="02070309020205020404" pitchFamily="49" charset="0"/>
                <a:ea typeface="黑体" panose="02010609060101010101" pitchFamily="49" charset="-122"/>
                <a:cs typeface="Courier New" panose="02070309020205020404" pitchFamily="49" charset="0"/>
              </a:rPr>
              <a:t>|| </a:t>
            </a:r>
            <a:r>
              <a:rPr lang="en-US" altLang="zh-CN" sz="2200" dirty="0" err="1">
                <a:solidFill>
                  <a:srgbClr val="000000"/>
                </a:solidFill>
                <a:latin typeface="Courier New" panose="02070309020205020404" pitchFamily="49" charset="0"/>
                <a:ea typeface="黑体" panose="02010609060101010101" pitchFamily="49" charset="-122"/>
                <a:cs typeface="Courier New" panose="02070309020205020404" pitchFamily="49" charset="0"/>
              </a:rPr>
              <a:t>i+n-1</a:t>
            </a:r>
            <a:r>
              <a:rPr lang="en-US" altLang="zh-CN" sz="22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&gt;=s-&gt;length </a:t>
            </a:r>
            <a:r>
              <a:rPr lang="en-US" altLang="zh-CN" sz="2200" b="1" dirty="0">
                <a:solidFill>
                  <a:srgbClr val="000000"/>
                </a:solidFill>
                <a:latin typeface="Courier New" panose="02070309020205020404" pitchFamily="49" charset="0"/>
                <a:ea typeface="黑体" panose="02010609060101010101" pitchFamily="49" charset="-122"/>
                <a:cs typeface="Courier New" panose="02070309020205020404" pitchFamily="49" charset="0"/>
              </a:rPr>
              <a:t>|| </a:t>
            </a:r>
            <a:r>
              <a:rPr lang="en-US" altLang="zh-CN" sz="22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m&lt;0</a:t>
            </a:r>
          </a:p>
          <a:p>
            <a:pPr marL="0" indent="0">
              <a:spcBef>
                <a:spcPct val="0"/>
              </a:spcBef>
              <a:buFont typeface="Arial" panose="020B0604020202020204" pitchFamily="34" charset="0"/>
              <a:buNone/>
            </a:pPr>
            <a:r>
              <a:rPr lang="en-US" altLang="zh-CN" sz="22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      </a:t>
            </a:r>
            <a:r>
              <a:rPr lang="en-US" altLang="zh-CN" sz="2200" b="1" dirty="0">
                <a:solidFill>
                  <a:srgbClr val="000000"/>
                </a:solidFill>
                <a:latin typeface="Courier New" panose="02070309020205020404" pitchFamily="49" charset="0"/>
                <a:ea typeface="黑体" panose="02010609060101010101" pitchFamily="49" charset="-122"/>
                <a:cs typeface="Courier New" panose="02070309020205020404" pitchFamily="49" charset="0"/>
              </a:rPr>
              <a:t>|| </a:t>
            </a:r>
            <a:r>
              <a:rPr lang="en-US" altLang="zh-CN" sz="22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m&gt;S-&gt;length-(</a:t>
            </a:r>
            <a:r>
              <a:rPr lang="en-US" altLang="zh-CN" sz="2200" dirty="0" err="1">
                <a:solidFill>
                  <a:srgbClr val="000000"/>
                </a:solidFill>
                <a:latin typeface="Courier New" panose="02070309020205020404" pitchFamily="49" charset="0"/>
                <a:ea typeface="黑体" panose="02010609060101010101" pitchFamily="49" charset="-122"/>
                <a:cs typeface="Courier New" panose="02070309020205020404" pitchFamily="49" charset="0"/>
              </a:rPr>
              <a:t>i+n</a:t>
            </a:r>
            <a:r>
              <a:rPr lang="en-US" altLang="zh-CN" sz="22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a:t>
            </a:r>
          </a:p>
          <a:p>
            <a:pPr marL="0" indent="0">
              <a:spcBef>
                <a:spcPct val="0"/>
              </a:spcBef>
              <a:buFont typeface="Arial" panose="020B0604020202020204" pitchFamily="34" charset="0"/>
              <a:buNone/>
            </a:pPr>
            <a:r>
              <a:rPr lang="en-US" altLang="zh-CN" sz="22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    </a:t>
            </a:r>
            <a:r>
              <a:rPr lang="en-US" altLang="zh-CN" sz="2200" b="1" dirty="0">
                <a:solidFill>
                  <a:srgbClr val="000000"/>
                </a:solidFill>
                <a:latin typeface="Courier New" panose="02070309020205020404" pitchFamily="49" charset="0"/>
                <a:ea typeface="黑体" panose="02010609060101010101" pitchFamily="49" charset="-122"/>
                <a:cs typeface="Courier New" panose="02070309020205020404" pitchFamily="49" charset="0"/>
              </a:rPr>
              <a:t>return</a:t>
            </a:r>
            <a:r>
              <a:rPr lang="en-US" altLang="zh-CN" sz="22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 0;</a:t>
            </a:r>
          </a:p>
          <a:p>
            <a:pPr marL="0" indent="0">
              <a:spcBef>
                <a:spcPct val="0"/>
              </a:spcBef>
              <a:buFont typeface="Arial" panose="020B0604020202020204" pitchFamily="34" charset="0"/>
              <a:buNone/>
            </a:pPr>
            <a:r>
              <a:rPr lang="en-US" altLang="zh-CN" sz="22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  </a:t>
            </a:r>
            <a:r>
              <a:rPr lang="en-US" altLang="zh-CN" sz="2200" b="1" dirty="0">
                <a:solidFill>
                  <a:srgbClr val="000000"/>
                </a:solidFill>
                <a:latin typeface="Courier New" panose="02070309020205020404" pitchFamily="49" charset="0"/>
                <a:ea typeface="黑体" panose="02010609060101010101" pitchFamily="49" charset="-122"/>
                <a:cs typeface="Courier New" panose="02070309020205020404" pitchFamily="49" charset="0"/>
              </a:rPr>
              <a:t>if </a:t>
            </a:r>
            <a:r>
              <a:rPr lang="en-US" altLang="zh-CN" sz="22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(m</a:t>
            </a:r>
            <a:r>
              <a:rPr lang="en-US" altLang="zh-CN" sz="2200" b="1" dirty="0">
                <a:solidFill>
                  <a:srgbClr val="000000"/>
                </a:solidFill>
                <a:latin typeface="Courier New" panose="02070309020205020404" pitchFamily="49" charset="0"/>
                <a:ea typeface="黑体" panose="02010609060101010101" pitchFamily="49" charset="-122"/>
                <a:cs typeface="Courier New" panose="02070309020205020404" pitchFamily="49" charset="0"/>
              </a:rPr>
              <a:t>!</a:t>
            </a:r>
            <a:r>
              <a:rPr lang="en-US" altLang="zh-CN" sz="22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=0 &amp;&amp; n</a:t>
            </a:r>
            <a:r>
              <a:rPr lang="en-US" altLang="zh-CN" sz="2200" b="1" dirty="0">
                <a:solidFill>
                  <a:srgbClr val="000000"/>
                </a:solidFill>
                <a:latin typeface="Courier New" panose="02070309020205020404" pitchFamily="49" charset="0"/>
                <a:ea typeface="黑体" panose="02010609060101010101" pitchFamily="49" charset="-122"/>
                <a:cs typeface="Courier New" panose="02070309020205020404" pitchFamily="49" charset="0"/>
              </a:rPr>
              <a:t>!</a:t>
            </a:r>
            <a:r>
              <a:rPr lang="en-US" altLang="zh-CN" sz="22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=0) {</a:t>
            </a:r>
          </a:p>
          <a:p>
            <a:pPr marL="0" indent="0">
              <a:spcBef>
                <a:spcPct val="0"/>
              </a:spcBef>
              <a:buFont typeface="Arial" panose="020B0604020202020204" pitchFamily="34" charset="0"/>
              <a:buNone/>
            </a:pPr>
            <a:r>
              <a:rPr lang="en-US" altLang="zh-CN" sz="22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    t=(</a:t>
            </a:r>
            <a:r>
              <a:rPr lang="en-US" altLang="zh-CN" sz="2200" dirty="0" err="1">
                <a:solidFill>
                  <a:srgbClr val="000000"/>
                </a:solidFill>
                <a:latin typeface="Courier New" panose="02070309020205020404" pitchFamily="49" charset="0"/>
                <a:ea typeface="黑体" panose="02010609060101010101" pitchFamily="49" charset="-122"/>
                <a:cs typeface="Courier New" panose="02070309020205020404" pitchFamily="49" charset="0"/>
              </a:rPr>
              <a:t>ElemType</a:t>
            </a:r>
            <a:r>
              <a:rPr lang="en-US" altLang="zh-CN" sz="22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a:t>
            </a:r>
            <a:r>
              <a:rPr lang="en-US" altLang="zh-CN" sz="2200" b="1" dirty="0">
                <a:solidFill>
                  <a:srgbClr val="000000"/>
                </a:solidFill>
                <a:latin typeface="Courier New" panose="02070309020205020404" pitchFamily="49" charset="0"/>
                <a:ea typeface="黑体" panose="02010609060101010101" pitchFamily="49" charset="-122"/>
                <a:cs typeface="Courier New" panose="02070309020205020404" pitchFamily="49" charset="0"/>
              </a:rPr>
              <a:t>malloc</a:t>
            </a:r>
            <a:r>
              <a:rPr lang="en-US" altLang="zh-CN" sz="22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(n*</a:t>
            </a:r>
            <a:r>
              <a:rPr lang="en-US" altLang="zh-CN" sz="2200" b="1" dirty="0" err="1">
                <a:solidFill>
                  <a:srgbClr val="000000"/>
                </a:solidFill>
                <a:latin typeface="Courier New" panose="02070309020205020404" pitchFamily="49" charset="0"/>
                <a:ea typeface="黑体" panose="02010609060101010101" pitchFamily="49" charset="-122"/>
                <a:cs typeface="Courier New" panose="02070309020205020404" pitchFamily="49" charset="0"/>
              </a:rPr>
              <a:t>sizeof</a:t>
            </a:r>
            <a:r>
              <a:rPr lang="en-US" altLang="zh-CN" sz="22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a:t>
            </a:r>
            <a:r>
              <a:rPr lang="en-US" altLang="zh-CN" sz="2200" dirty="0" err="1">
                <a:solidFill>
                  <a:srgbClr val="000000"/>
                </a:solidFill>
                <a:latin typeface="Courier New" panose="02070309020205020404" pitchFamily="49" charset="0"/>
                <a:ea typeface="黑体" panose="02010609060101010101" pitchFamily="49" charset="-122"/>
                <a:cs typeface="Courier New" panose="02070309020205020404" pitchFamily="49" charset="0"/>
              </a:rPr>
              <a:t>ElemType</a:t>
            </a:r>
            <a:r>
              <a:rPr lang="en-US" altLang="zh-CN" sz="22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a:t>
            </a:r>
          </a:p>
          <a:p>
            <a:pPr marL="0" indent="0">
              <a:spcBef>
                <a:spcPct val="0"/>
              </a:spcBef>
              <a:buFont typeface="Arial" panose="020B0604020202020204" pitchFamily="34" charset="0"/>
              <a:buNone/>
            </a:pPr>
            <a:r>
              <a:rPr lang="en-US" altLang="zh-CN" sz="22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    </a:t>
            </a:r>
            <a:r>
              <a:rPr lang="en-US" altLang="zh-CN" sz="2200" b="1" dirty="0">
                <a:solidFill>
                  <a:srgbClr val="000000"/>
                </a:solidFill>
                <a:latin typeface="Courier New" panose="02070309020205020404" pitchFamily="49" charset="0"/>
                <a:ea typeface="黑体" panose="02010609060101010101" pitchFamily="49" charset="-122"/>
                <a:cs typeface="Courier New" panose="02070309020205020404" pitchFamily="49" charset="0"/>
              </a:rPr>
              <a:t>if</a:t>
            </a:r>
            <a:r>
              <a:rPr lang="en-US" altLang="zh-CN" sz="22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(t==NULL) </a:t>
            </a:r>
            <a:r>
              <a:rPr lang="en-US" altLang="zh-CN" sz="2200" b="1" dirty="0">
                <a:solidFill>
                  <a:srgbClr val="000000"/>
                </a:solidFill>
                <a:latin typeface="Courier New" panose="02070309020205020404" pitchFamily="49" charset="0"/>
                <a:ea typeface="黑体" panose="02010609060101010101" pitchFamily="49" charset="-122"/>
                <a:cs typeface="Courier New" panose="02070309020205020404" pitchFamily="49" charset="0"/>
              </a:rPr>
              <a:t>return</a:t>
            </a:r>
            <a:r>
              <a:rPr lang="en-US" altLang="zh-CN" sz="22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 0;</a:t>
            </a:r>
            <a:endParaRPr lang="da-DK" altLang="zh-CN" sz="2200" dirty="0">
              <a:solidFill>
                <a:srgbClr val="000000"/>
              </a:solidFill>
              <a:latin typeface="Courier New" panose="02070309020205020404" pitchFamily="49" charset="0"/>
              <a:ea typeface="黑体" panose="02010609060101010101" pitchFamily="49" charset="-122"/>
              <a:cs typeface="Courier New" panose="02070309020205020404" pitchFamily="49" charset="0"/>
            </a:endParaRPr>
          </a:p>
          <a:p>
            <a:pPr marL="0" indent="0">
              <a:spcBef>
                <a:spcPct val="0"/>
              </a:spcBef>
              <a:buFont typeface="Arial" panose="020B0604020202020204" pitchFamily="34" charset="0"/>
              <a:buNone/>
            </a:pPr>
            <a:r>
              <a:rPr lang="da-DK" altLang="zh-CN" sz="22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    </a:t>
            </a:r>
            <a:r>
              <a:rPr lang="da-DK" altLang="zh-CN" sz="2200" b="1" dirty="0">
                <a:solidFill>
                  <a:srgbClr val="000000"/>
                </a:solidFill>
                <a:latin typeface="Courier New" panose="02070309020205020404" pitchFamily="49" charset="0"/>
                <a:ea typeface="黑体" panose="02010609060101010101" pitchFamily="49" charset="-122"/>
                <a:cs typeface="Courier New" panose="02070309020205020404" pitchFamily="49" charset="0"/>
              </a:rPr>
              <a:t>for </a:t>
            </a:r>
            <a:r>
              <a:rPr lang="da-DK" altLang="zh-CN" sz="22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(j=0; j&lt;n; j++) t[j]=s-&gt;elem[i+j];    </a:t>
            </a:r>
            <a:r>
              <a:rPr lang="en-US" altLang="zh-CN" sz="2200" dirty="0">
                <a:solidFill>
                  <a:schemeClr val="accent4">
                    <a:lumMod val="75000"/>
                  </a:schemeClr>
                </a:solidFill>
                <a:latin typeface="Courier New" panose="02070309020205020404" pitchFamily="49" charset="0"/>
                <a:ea typeface="黑体" panose="02010609060101010101" pitchFamily="49" charset="-122"/>
                <a:cs typeface="Courier New" panose="02070309020205020404" pitchFamily="49" charset="0"/>
              </a:rPr>
              <a:t>//</a:t>
            </a:r>
            <a:r>
              <a:rPr lang="zh-CN" altLang="en-US" sz="2200" dirty="0">
                <a:solidFill>
                  <a:schemeClr val="accent4">
                    <a:lumMod val="75000"/>
                  </a:schemeClr>
                </a:solidFill>
                <a:latin typeface="Courier New" panose="02070309020205020404" pitchFamily="49" charset="0"/>
                <a:ea typeface="黑体" panose="02010609060101010101" pitchFamily="49" charset="-122"/>
                <a:cs typeface="Courier New" panose="02070309020205020404" pitchFamily="49" charset="0"/>
              </a:rPr>
              <a:t> 暂存要滑移的子序列</a:t>
            </a:r>
            <a:endParaRPr lang="da-DK" altLang="zh-CN" sz="2200" dirty="0">
              <a:solidFill>
                <a:schemeClr val="accent4">
                  <a:lumMod val="75000"/>
                </a:schemeClr>
              </a:solidFill>
              <a:latin typeface="Courier New" panose="02070309020205020404" pitchFamily="49" charset="0"/>
              <a:ea typeface="黑体" panose="02010609060101010101" pitchFamily="49" charset="-122"/>
              <a:cs typeface="Courier New" panose="02070309020205020404" pitchFamily="49" charset="0"/>
            </a:endParaRPr>
          </a:p>
          <a:p>
            <a:pPr marL="0" indent="0">
              <a:spcBef>
                <a:spcPct val="0"/>
              </a:spcBef>
              <a:buFont typeface="Arial" panose="020B0604020202020204" pitchFamily="34" charset="0"/>
              <a:buNone/>
            </a:pPr>
            <a:r>
              <a:rPr lang="da-DK" altLang="zh-CN" sz="22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    </a:t>
            </a:r>
            <a:r>
              <a:rPr lang="da-DK" altLang="zh-CN" sz="2200" b="1" dirty="0">
                <a:solidFill>
                  <a:srgbClr val="000000"/>
                </a:solidFill>
                <a:latin typeface="Courier New" panose="02070309020205020404" pitchFamily="49" charset="0"/>
                <a:ea typeface="黑体" panose="02010609060101010101" pitchFamily="49" charset="-122"/>
                <a:cs typeface="Courier New" panose="02070309020205020404" pitchFamily="49" charset="0"/>
              </a:rPr>
              <a:t>for </a:t>
            </a:r>
            <a:r>
              <a:rPr lang="da-DK" altLang="zh-CN" sz="22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(j=i; m&gt;0; j++,m--) s-&gt;elem[j]=s-&gt;elem[j+n]; </a:t>
            </a:r>
            <a:r>
              <a:rPr lang="da-DK" altLang="zh-CN" sz="2200" dirty="0">
                <a:solidFill>
                  <a:schemeClr val="accent4">
                    <a:lumMod val="75000"/>
                  </a:schemeClr>
                </a:solidFill>
                <a:latin typeface="Courier New" panose="02070309020205020404" pitchFamily="49" charset="0"/>
                <a:ea typeface="黑体" panose="02010609060101010101" pitchFamily="49" charset="-122"/>
                <a:cs typeface="Courier New" panose="02070309020205020404" pitchFamily="49" charset="0"/>
              </a:rPr>
              <a:t>//</a:t>
            </a:r>
            <a:r>
              <a:rPr lang="zh-CN" altLang="en-US" sz="2200" dirty="0">
                <a:solidFill>
                  <a:schemeClr val="accent4">
                    <a:lumMod val="75000"/>
                  </a:schemeClr>
                </a:solidFill>
                <a:latin typeface="Courier New" panose="02070309020205020404" pitchFamily="49" charset="0"/>
                <a:ea typeface="黑体" panose="02010609060101010101" pitchFamily="49" charset="-122"/>
                <a:cs typeface="Courier New" panose="02070309020205020404" pitchFamily="49" charset="0"/>
              </a:rPr>
              <a:t>之后子序列前移</a:t>
            </a:r>
            <a:endParaRPr lang="da-DK" altLang="zh-CN" sz="2200" dirty="0">
              <a:solidFill>
                <a:schemeClr val="accent4">
                  <a:lumMod val="75000"/>
                </a:schemeClr>
              </a:solidFill>
              <a:latin typeface="Courier New" panose="02070309020205020404" pitchFamily="49" charset="0"/>
              <a:ea typeface="黑体" panose="02010609060101010101" pitchFamily="49" charset="-122"/>
              <a:cs typeface="Courier New" panose="02070309020205020404" pitchFamily="49" charset="0"/>
            </a:endParaRPr>
          </a:p>
          <a:p>
            <a:pPr marL="0" indent="0">
              <a:spcBef>
                <a:spcPct val="0"/>
              </a:spcBef>
              <a:buFont typeface="Arial" panose="020B0604020202020204" pitchFamily="34" charset="0"/>
              <a:buNone/>
            </a:pPr>
            <a:r>
              <a:rPr lang="da-DK" altLang="zh-CN" sz="22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    </a:t>
            </a:r>
            <a:r>
              <a:rPr lang="da-DK" altLang="zh-CN" sz="2200" b="1" dirty="0">
                <a:solidFill>
                  <a:srgbClr val="000000"/>
                </a:solidFill>
                <a:latin typeface="Courier New" panose="02070309020205020404" pitchFamily="49" charset="0"/>
                <a:ea typeface="黑体" panose="02010609060101010101" pitchFamily="49" charset="-122"/>
                <a:cs typeface="Courier New" panose="02070309020205020404" pitchFamily="49" charset="0"/>
              </a:rPr>
              <a:t>for </a:t>
            </a:r>
            <a:r>
              <a:rPr lang="da-DK" altLang="zh-CN" sz="22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(k=0; k&lt;n; j++,k++) s-&gt;elem[j]=t[k];  </a:t>
            </a:r>
            <a:r>
              <a:rPr lang="da-DK" altLang="zh-CN" sz="2200" dirty="0">
                <a:solidFill>
                  <a:schemeClr val="accent4">
                    <a:lumMod val="75000"/>
                  </a:schemeClr>
                </a:solidFill>
                <a:latin typeface="Courier New" panose="02070309020205020404" pitchFamily="49" charset="0"/>
                <a:ea typeface="黑体" panose="02010609060101010101" pitchFamily="49" charset="-122"/>
                <a:cs typeface="Courier New" panose="02070309020205020404" pitchFamily="49" charset="0"/>
              </a:rPr>
              <a:t>// </a:t>
            </a:r>
            <a:r>
              <a:rPr lang="zh-CN" altLang="en-US" sz="2200" dirty="0">
                <a:solidFill>
                  <a:schemeClr val="accent4">
                    <a:lumMod val="75000"/>
                  </a:schemeClr>
                </a:solidFill>
                <a:latin typeface="Courier New" panose="02070309020205020404" pitchFamily="49" charset="0"/>
                <a:ea typeface="黑体" panose="02010609060101010101" pitchFamily="49" charset="-122"/>
                <a:cs typeface="Courier New" panose="02070309020205020404" pitchFamily="49" charset="0"/>
              </a:rPr>
              <a:t>滑移的子序列到位</a:t>
            </a:r>
            <a:endParaRPr lang="da-DK" altLang="zh-CN" sz="2200" dirty="0">
              <a:solidFill>
                <a:schemeClr val="accent4">
                  <a:lumMod val="75000"/>
                </a:schemeClr>
              </a:solidFill>
              <a:latin typeface="Courier New" panose="02070309020205020404" pitchFamily="49" charset="0"/>
              <a:ea typeface="黑体" panose="02010609060101010101" pitchFamily="49" charset="-122"/>
              <a:cs typeface="Courier New" panose="02070309020205020404" pitchFamily="49" charset="0"/>
            </a:endParaRPr>
          </a:p>
          <a:p>
            <a:pPr marL="0" indent="0">
              <a:spcBef>
                <a:spcPct val="0"/>
              </a:spcBef>
              <a:buFont typeface="Arial" panose="020B0604020202020204" pitchFamily="34" charset="0"/>
              <a:buNone/>
            </a:pPr>
            <a:r>
              <a:rPr lang="da-DK" altLang="zh-CN" sz="22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  </a:t>
            </a:r>
            <a:r>
              <a:rPr lang="da-DK" altLang="zh-CN" sz="2200" b="1" dirty="0">
                <a:solidFill>
                  <a:srgbClr val="000000"/>
                </a:solidFill>
                <a:latin typeface="Courier New" panose="02070309020205020404" pitchFamily="49" charset="0"/>
                <a:ea typeface="黑体" panose="02010609060101010101" pitchFamily="49" charset="-122"/>
                <a:cs typeface="Courier New" panose="02070309020205020404" pitchFamily="49" charset="0"/>
              </a:rPr>
              <a:t>}</a:t>
            </a:r>
          </a:p>
          <a:p>
            <a:pPr marL="0" indent="0">
              <a:spcBef>
                <a:spcPct val="0"/>
              </a:spcBef>
              <a:buFont typeface="Arial" panose="020B0604020202020204" pitchFamily="34" charset="0"/>
              <a:buNone/>
            </a:pPr>
            <a:r>
              <a:rPr lang="da-DK" altLang="zh-CN" sz="22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  </a:t>
            </a:r>
            <a:r>
              <a:rPr lang="en-US" altLang="zh-CN" sz="2200" b="1" dirty="0">
                <a:solidFill>
                  <a:srgbClr val="000000"/>
                </a:solidFill>
                <a:latin typeface="Courier New" panose="02070309020205020404" pitchFamily="49" charset="0"/>
                <a:ea typeface="黑体" panose="02010609060101010101" pitchFamily="49" charset="-122"/>
                <a:cs typeface="Courier New" panose="02070309020205020404" pitchFamily="49" charset="0"/>
              </a:rPr>
              <a:t>return</a:t>
            </a:r>
            <a:r>
              <a:rPr lang="en-US" altLang="zh-CN" sz="2200" dirty="0">
                <a:solidFill>
                  <a:srgbClr val="000000"/>
                </a:solidFill>
                <a:latin typeface="Courier New" panose="02070309020205020404" pitchFamily="49" charset="0"/>
                <a:ea typeface="黑体" panose="02010609060101010101" pitchFamily="49" charset="-122"/>
                <a:cs typeface="Courier New" panose="02070309020205020404" pitchFamily="49" charset="0"/>
              </a:rPr>
              <a:t> 1;</a:t>
            </a:r>
          </a:p>
          <a:p>
            <a:pPr marL="0" indent="0">
              <a:spcBef>
                <a:spcPct val="0"/>
              </a:spcBef>
              <a:buFont typeface="Arial" panose="020B0604020202020204" pitchFamily="34" charset="0"/>
              <a:buNone/>
            </a:pPr>
            <a:r>
              <a:rPr lang="en-US" altLang="zh-CN" sz="2200" b="1" dirty="0">
                <a:solidFill>
                  <a:srgbClr val="000000"/>
                </a:solidFill>
                <a:latin typeface="Courier New" panose="02070309020205020404" pitchFamily="49" charset="0"/>
                <a:ea typeface="黑体" panose="02010609060101010101" pitchFamily="49" charset="-122"/>
                <a:cs typeface="Courier New" panose="02070309020205020404" pitchFamily="49" charset="0"/>
              </a:rPr>
              <a:t>}</a:t>
            </a:r>
          </a:p>
        </p:txBody>
      </p:sp>
      <p:sp>
        <p:nvSpPr>
          <p:cNvPr id="5" name="灯片编号占位符 4">
            <a:extLst>
              <a:ext uri="{FF2B5EF4-FFF2-40B4-BE49-F238E27FC236}">
                <a16:creationId xmlns:a16="http://schemas.microsoft.com/office/drawing/2014/main" id="{190F2B35-201E-2AE5-C58D-2D3A3B20FDF7}"/>
              </a:ext>
            </a:extLst>
          </p:cNvPr>
          <p:cNvSpPr>
            <a:spLocks noGrp="1"/>
          </p:cNvSpPr>
          <p:nvPr>
            <p:ph type="sldNum" sz="quarter" idx="12"/>
          </p:nvPr>
        </p:nvSpPr>
        <p:spPr/>
        <p:txBody>
          <a:bodyPr/>
          <a:lstStyle/>
          <a:p>
            <a:fld id="{D7C0FE0B-717B-41AE-9FA2-CA4BF851D1C3}" type="slidenum">
              <a:rPr lang="zh-CN" altLang="en-US" smtClean="0"/>
              <a:t>17</a:t>
            </a:fld>
            <a:endParaRPr lang="zh-CN" altLang="en-US"/>
          </a:p>
        </p:txBody>
      </p:sp>
    </p:spTree>
    <p:extLst>
      <p:ext uri="{BB962C8B-B14F-4D97-AF65-F5344CB8AC3E}">
        <p14:creationId xmlns:p14="http://schemas.microsoft.com/office/powerpoint/2010/main" val="5350604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69985">
            <a:extLst>
              <a:ext uri="{FF2B5EF4-FFF2-40B4-BE49-F238E27FC236}">
                <a16:creationId xmlns:a16="http://schemas.microsoft.com/office/drawing/2014/main" id="{5B70C543-970F-DD16-0AF8-01A3DC9C80E9}"/>
              </a:ext>
            </a:extLst>
          </p:cNvPr>
          <p:cNvSpPr txBox="1">
            <a:spLocks/>
          </p:cNvSpPr>
          <p:nvPr/>
        </p:nvSpPr>
        <p:spPr>
          <a:xfrm>
            <a:off x="1331511" y="126747"/>
            <a:ext cx="6575899" cy="773010"/>
          </a:xfrm>
          <a:prstGeom prst="rect">
            <a:avLst/>
          </a:prstGeom>
        </p:spPr>
        <p:txBody>
          <a:bodyPr vert="horz" lIns="91440" tIns="45720" rIns="91440" bIns="45720" rtlCol="0" anchor="ctr" anchorCtr="0">
            <a:normAutofit/>
          </a:bodyPr>
          <a:lstStyle>
            <a:defPPr>
              <a:defRPr lang="zh-CN"/>
            </a:defPPr>
            <a:lvl1pPr>
              <a:lnSpc>
                <a:spcPct val="90000"/>
              </a:lnSpc>
              <a:spcBef>
                <a:spcPct val="0"/>
              </a:spcBef>
              <a:buNone/>
              <a:defRPr sz="3200">
                <a:solidFill>
                  <a:srgbClr val="000099"/>
                </a:solidFill>
                <a:effectLst>
                  <a:outerShdw blurRad="38100" dist="38100" dir="2700000" algn="tl">
                    <a:srgbClr val="000000">
                      <a:alpha val="43137"/>
                    </a:srgbClr>
                  </a:outerShdw>
                </a:effectLst>
                <a:latin typeface="+mj-lt"/>
                <a:ea typeface="+mj-ea"/>
                <a:cs typeface="+mj-cs"/>
              </a:defRPr>
            </a:lvl1pPr>
          </a:lstStyle>
          <a:p>
            <a:r>
              <a:rPr lang="en-US" altLang="zh-CN" dirty="0"/>
              <a:t>1.0.8  </a:t>
            </a:r>
            <a:r>
              <a:rPr lang="zh-CN" altLang="en-US" dirty="0"/>
              <a:t>关于序列的元素插入和删除</a:t>
            </a:r>
          </a:p>
        </p:txBody>
      </p:sp>
      <p:sp>
        <p:nvSpPr>
          <p:cNvPr id="3" name="文本占位符 169986">
            <a:extLst>
              <a:ext uri="{FF2B5EF4-FFF2-40B4-BE49-F238E27FC236}">
                <a16:creationId xmlns:a16="http://schemas.microsoft.com/office/drawing/2014/main" id="{D4C32671-F80A-AFC0-943D-F1C5EFB16A69}"/>
              </a:ext>
            </a:extLst>
          </p:cNvPr>
          <p:cNvSpPr txBox="1">
            <a:spLocks/>
          </p:cNvSpPr>
          <p:nvPr/>
        </p:nvSpPr>
        <p:spPr>
          <a:xfrm>
            <a:off x="1499680" y="1013096"/>
            <a:ext cx="9055677" cy="4477764"/>
          </a:xfrm>
          <a:prstGeom prst="rect">
            <a:avLst/>
          </a:prstGeom>
          <a:effectLst>
            <a:prstShdw prst="shdw12" dir="16200000">
              <a:schemeClr val="bg2">
                <a:alpha val="50000"/>
              </a:schemeClr>
            </a:prstShdw>
          </a:effectLst>
        </p:spPr>
        <p:txBody>
          <a:bodyPr vert="horz" wrap="square" lIns="91440" tIns="45720" rIns="91440" bIns="4572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20000"/>
              </a:lnSpc>
              <a:spcBef>
                <a:spcPct val="0"/>
              </a:spcBef>
              <a:buFont typeface="Arial" panose="020B0604020202020204" pitchFamily="34" charset="0"/>
              <a:buNone/>
            </a:pPr>
            <a:endParaRPr lang="en-US" altLang="zh-CN" sz="2400" dirty="0">
              <a:solidFill>
                <a:srgbClr val="000099"/>
              </a:solidFill>
              <a:latin typeface="Lucida Sans Typewriter" pitchFamily="49" charset="0"/>
              <a:cs typeface="Courier New" panose="02070309020205020404" pitchFamily="49" charset="0"/>
            </a:endParaRPr>
          </a:p>
          <a:p>
            <a:pPr marL="0" indent="0" algn="just">
              <a:lnSpc>
                <a:spcPct val="120000"/>
              </a:lnSpc>
              <a:spcBef>
                <a:spcPct val="0"/>
              </a:spcBef>
              <a:buFont typeface="Arial" panose="020B0604020202020204" pitchFamily="34" charset="0"/>
              <a:buNone/>
            </a:pPr>
            <a:r>
              <a:rPr lang="en-US" altLang="zh-CN" sz="2400" dirty="0">
                <a:solidFill>
                  <a:srgbClr val="000099"/>
                </a:solidFill>
                <a:latin typeface="Lucida Sans Typewriter" pitchFamily="49" charset="0"/>
                <a:cs typeface="Courier New" panose="02070309020205020404" pitchFamily="49" charset="0"/>
              </a:rPr>
              <a:t>   </a:t>
            </a:r>
            <a:r>
              <a:rPr lang="zh-CN" altLang="en-US" sz="2400" b="1" dirty="0">
                <a:solidFill>
                  <a:srgbClr val="000099"/>
                </a:solidFill>
                <a:latin typeface="Lucida Sans Typewriter" pitchFamily="49" charset="0"/>
                <a:cs typeface="Courier New" panose="02070309020205020404" pitchFamily="49" charset="0"/>
              </a:rPr>
              <a:t>如果在序列中插入或者删除元素，其顺序存储结构中部分元素需要移动，平均时间复杂度为</a:t>
            </a:r>
            <a:r>
              <a:rPr lang="en-US" altLang="zh-CN" sz="2400" b="1" i="1" dirty="0">
                <a:solidFill>
                  <a:srgbClr val="000099"/>
                </a:solidFill>
                <a:cs typeface="Courier New" panose="02070309020205020404" pitchFamily="49" charset="0"/>
              </a:rPr>
              <a:t>O</a:t>
            </a:r>
            <a:r>
              <a:rPr lang="en-US" altLang="zh-CN" sz="2400" b="1" dirty="0">
                <a:solidFill>
                  <a:srgbClr val="000099"/>
                </a:solidFill>
                <a:latin typeface="Lucida Sans Typewriter" pitchFamily="49" charset="0"/>
                <a:cs typeface="Courier New" panose="02070309020205020404" pitchFamily="49" charset="0"/>
              </a:rPr>
              <a:t>(</a:t>
            </a:r>
            <a:r>
              <a:rPr lang="en-US" altLang="zh-CN" sz="2400" b="1" dirty="0">
                <a:solidFill>
                  <a:srgbClr val="000099"/>
                </a:solidFill>
                <a:cs typeface="Courier New" panose="02070309020205020404" pitchFamily="49" charset="0"/>
              </a:rPr>
              <a:t>n</a:t>
            </a:r>
            <a:r>
              <a:rPr lang="en-US" altLang="zh-CN" sz="2400" b="1" dirty="0">
                <a:solidFill>
                  <a:srgbClr val="000099"/>
                </a:solidFill>
                <a:latin typeface="Lucida Sans Typewriter" pitchFamily="49" charset="0"/>
                <a:cs typeface="Courier New" panose="02070309020205020404" pitchFamily="49" charset="0"/>
              </a:rPr>
              <a:t>)</a:t>
            </a:r>
            <a:r>
              <a:rPr lang="zh-CN" altLang="en-US" sz="2400" b="1" dirty="0">
                <a:solidFill>
                  <a:srgbClr val="000099"/>
                </a:solidFill>
                <a:latin typeface="Lucida Sans Typewriter" pitchFamily="49" charset="0"/>
                <a:cs typeface="Courier New" panose="02070309020205020404" pitchFamily="49" charset="0"/>
              </a:rPr>
              <a:t>。</a:t>
            </a:r>
          </a:p>
          <a:p>
            <a:pPr marL="0" indent="0" algn="just">
              <a:lnSpc>
                <a:spcPct val="120000"/>
              </a:lnSpc>
              <a:spcBef>
                <a:spcPct val="0"/>
              </a:spcBef>
              <a:buFont typeface="Arial" panose="020B0604020202020204" pitchFamily="34" charset="0"/>
              <a:buNone/>
            </a:pPr>
            <a:r>
              <a:rPr lang="zh-CN" altLang="en-US" sz="2400" b="1" dirty="0">
                <a:solidFill>
                  <a:srgbClr val="000099"/>
                </a:solidFill>
                <a:latin typeface="Lucida Sans Typewriter" pitchFamily="49" charset="0"/>
                <a:cs typeface="Courier New" panose="02070309020205020404" pitchFamily="49" charset="0"/>
              </a:rPr>
              <a:t>   显然，顺序存储结构只适合静态序列。对于动态序列，需要寻找时间复杂度为</a:t>
            </a:r>
            <a:r>
              <a:rPr lang="en-US" altLang="zh-CN" sz="2400" b="1" i="1" dirty="0">
                <a:solidFill>
                  <a:srgbClr val="000099"/>
                </a:solidFill>
                <a:cs typeface="Courier New" panose="02070309020205020404" pitchFamily="49" charset="0"/>
              </a:rPr>
              <a:t>O</a:t>
            </a:r>
            <a:r>
              <a:rPr lang="en-US" altLang="zh-CN" sz="2400" b="1" dirty="0">
                <a:solidFill>
                  <a:srgbClr val="000099"/>
                </a:solidFill>
                <a:latin typeface="Lucida Sans Typewriter" pitchFamily="49" charset="0"/>
                <a:cs typeface="Courier New" panose="02070309020205020404" pitchFamily="49" charset="0"/>
              </a:rPr>
              <a:t>(</a:t>
            </a:r>
            <a:r>
              <a:rPr lang="en-US" altLang="zh-CN" sz="2400" b="1" dirty="0">
                <a:solidFill>
                  <a:srgbClr val="000099"/>
                </a:solidFill>
                <a:latin typeface="Courier New" panose="02070309020205020404" pitchFamily="49" charset="0"/>
                <a:cs typeface="Courier New" panose="02070309020205020404" pitchFamily="49" charset="0"/>
              </a:rPr>
              <a:t>1</a:t>
            </a:r>
            <a:r>
              <a:rPr lang="en-US" altLang="zh-CN" sz="2400" b="1" dirty="0">
                <a:solidFill>
                  <a:srgbClr val="000099"/>
                </a:solidFill>
                <a:latin typeface="Lucida Sans Typewriter" pitchFamily="49" charset="0"/>
                <a:cs typeface="Courier New" panose="02070309020205020404" pitchFamily="49" charset="0"/>
              </a:rPr>
              <a:t>)</a:t>
            </a:r>
            <a:r>
              <a:rPr lang="zh-CN" altLang="en-US" sz="2400" b="1" dirty="0">
                <a:solidFill>
                  <a:srgbClr val="000099"/>
                </a:solidFill>
                <a:latin typeface="Lucida Sans Typewriter" pitchFamily="49" charset="0"/>
                <a:cs typeface="Courier New" panose="02070309020205020404" pitchFamily="49" charset="0"/>
              </a:rPr>
              <a:t>的插入和删除操作的实现方法。</a:t>
            </a:r>
          </a:p>
          <a:p>
            <a:pPr marL="0" indent="0" algn="just">
              <a:lnSpc>
                <a:spcPct val="120000"/>
              </a:lnSpc>
              <a:spcBef>
                <a:spcPct val="0"/>
              </a:spcBef>
              <a:buFont typeface="Arial" panose="020B0604020202020204" pitchFamily="34" charset="0"/>
              <a:buNone/>
            </a:pPr>
            <a:endParaRPr lang="zh-CN" altLang="en-US" sz="2400" dirty="0">
              <a:solidFill>
                <a:srgbClr val="000099"/>
              </a:solidFill>
              <a:latin typeface="Lucida Sans Typewriter" pitchFamily="49" charset="0"/>
              <a:cs typeface="Courier New" panose="02070309020205020404" pitchFamily="49" charset="0"/>
            </a:endParaRPr>
          </a:p>
          <a:p>
            <a:pPr marL="0" indent="0" algn="just">
              <a:lnSpc>
                <a:spcPct val="120000"/>
              </a:lnSpc>
              <a:spcBef>
                <a:spcPct val="0"/>
              </a:spcBef>
              <a:buFont typeface="Arial" panose="020B0604020202020204" pitchFamily="34" charset="0"/>
              <a:buNone/>
            </a:pPr>
            <a:r>
              <a:rPr lang="zh-CN" altLang="en-US" sz="2400" dirty="0">
                <a:solidFill>
                  <a:srgbClr val="000099"/>
                </a:solidFill>
                <a:latin typeface="Lucida Sans Typewriter" pitchFamily="49" charset="0"/>
                <a:cs typeface="Courier New" panose="02070309020205020404" pitchFamily="49" charset="0"/>
              </a:rPr>
              <a:t>   </a:t>
            </a:r>
            <a:r>
              <a:rPr lang="zh-CN" altLang="en-US" sz="2400" b="1" dirty="0">
                <a:solidFill>
                  <a:srgbClr val="A50021"/>
                </a:solidFill>
                <a:latin typeface="Lucida Sans Typewriter" pitchFamily="49" charset="0"/>
                <a:cs typeface="Courier New" panose="02070309020205020404" pitchFamily="49" charset="0"/>
              </a:rPr>
              <a:t>如何存储集合？</a:t>
            </a:r>
          </a:p>
          <a:p>
            <a:pPr marL="0" indent="0" algn="just">
              <a:lnSpc>
                <a:spcPct val="120000"/>
              </a:lnSpc>
              <a:spcBef>
                <a:spcPct val="0"/>
              </a:spcBef>
              <a:buFont typeface="Arial" panose="020B0604020202020204" pitchFamily="34" charset="0"/>
              <a:buNone/>
            </a:pPr>
            <a:r>
              <a:rPr lang="zh-CN" altLang="en-US" sz="2400" b="1" dirty="0">
                <a:solidFill>
                  <a:srgbClr val="A50021"/>
                </a:solidFill>
                <a:latin typeface="Lucida Sans Typewriter" pitchFamily="49" charset="0"/>
                <a:cs typeface="Courier New" panose="02070309020205020404" pitchFamily="49" charset="0"/>
              </a:rPr>
              <a:t>   如何实现集合的各种运算？</a:t>
            </a:r>
          </a:p>
          <a:p>
            <a:pPr marL="0" indent="0" algn="just">
              <a:lnSpc>
                <a:spcPct val="120000"/>
              </a:lnSpc>
              <a:spcBef>
                <a:spcPct val="0"/>
              </a:spcBef>
              <a:buFont typeface="Arial" panose="020B0604020202020204" pitchFamily="34" charset="0"/>
              <a:buNone/>
            </a:pPr>
            <a:r>
              <a:rPr lang="zh-CN" altLang="en-US" sz="2400" b="1" dirty="0">
                <a:solidFill>
                  <a:srgbClr val="000099"/>
                </a:solidFill>
                <a:latin typeface="Lucida Sans Typewriter" pitchFamily="49" charset="0"/>
                <a:cs typeface="Courier New" panose="02070309020205020404" pitchFamily="49" charset="0"/>
              </a:rPr>
              <a:t>   从专业学习和发展阶段看：</a:t>
            </a:r>
          </a:p>
          <a:p>
            <a:pPr marL="0" indent="0" algn="just">
              <a:lnSpc>
                <a:spcPct val="120000"/>
              </a:lnSpc>
              <a:spcBef>
                <a:spcPct val="0"/>
              </a:spcBef>
              <a:buFont typeface="Arial" panose="020B0604020202020204" pitchFamily="34" charset="0"/>
              <a:buNone/>
            </a:pPr>
            <a:r>
              <a:rPr lang="zh-CN" altLang="en-US" sz="2400" b="1" dirty="0">
                <a:solidFill>
                  <a:srgbClr val="000099"/>
                </a:solidFill>
                <a:latin typeface="Lucida Sans Typewriter" pitchFamily="49" charset="0"/>
                <a:cs typeface="Courier New" panose="02070309020205020404" pitchFamily="49" charset="0"/>
              </a:rPr>
              <a:t>   学习、研究</a:t>
            </a:r>
            <a:r>
              <a:rPr lang="zh-CN" altLang="en-US" sz="2400" b="1" dirty="0">
                <a:solidFill>
                  <a:srgbClr val="A50021"/>
                </a:solidFill>
                <a:effectLst>
                  <a:outerShdw blurRad="38100" dist="38100" dir="2700000" algn="tl">
                    <a:srgbClr val="000000">
                      <a:alpha val="43137"/>
                    </a:srgbClr>
                  </a:outerShdw>
                </a:effectLst>
                <a:latin typeface="+mj-ea"/>
                <a:ea typeface="+mj-ea"/>
                <a:cs typeface="Courier New" panose="02070309020205020404" pitchFamily="49" charset="0"/>
              </a:rPr>
              <a:t>数据结构和算法的设计、实现与分析</a:t>
            </a:r>
            <a:r>
              <a:rPr lang="zh-CN" altLang="en-US" sz="2400" b="1" dirty="0">
                <a:solidFill>
                  <a:srgbClr val="000099"/>
                </a:solidFill>
                <a:latin typeface="Lucida Sans Typewriter" pitchFamily="49" charset="0"/>
                <a:cs typeface="Courier New" panose="02070309020205020404" pitchFamily="49" charset="0"/>
              </a:rPr>
              <a:t>，势在必行！</a:t>
            </a:r>
            <a:endParaRPr lang="zh-CN" altLang="en-US" sz="2400" b="1" dirty="0">
              <a:solidFill>
                <a:srgbClr val="000099"/>
              </a:solidFill>
              <a:latin typeface="Lucida Sans Typewriter" pitchFamily="49" charset="0"/>
              <a:ea typeface="Courier New" panose="02070309020205020404" pitchFamily="49" charset="0"/>
            </a:endParaRPr>
          </a:p>
        </p:txBody>
      </p:sp>
      <p:sp>
        <p:nvSpPr>
          <p:cNvPr id="4" name="灯片编号占位符 3">
            <a:extLst>
              <a:ext uri="{FF2B5EF4-FFF2-40B4-BE49-F238E27FC236}">
                <a16:creationId xmlns:a16="http://schemas.microsoft.com/office/drawing/2014/main" id="{599F52F7-54BF-9A34-9D2F-0437060B6962}"/>
              </a:ext>
            </a:extLst>
          </p:cNvPr>
          <p:cNvSpPr>
            <a:spLocks noGrp="1"/>
          </p:cNvSpPr>
          <p:nvPr>
            <p:ph type="sldNum" sz="quarter" idx="12"/>
          </p:nvPr>
        </p:nvSpPr>
        <p:spPr/>
        <p:txBody>
          <a:bodyPr/>
          <a:lstStyle/>
          <a:p>
            <a:fld id="{D7C0FE0B-717B-41AE-9FA2-CA4BF851D1C3}" type="slidenum">
              <a:rPr lang="zh-CN" altLang="en-US" smtClean="0"/>
              <a:t>18</a:t>
            </a:fld>
            <a:endParaRPr lang="zh-CN" altLang="en-US"/>
          </a:p>
        </p:txBody>
      </p:sp>
    </p:spTree>
    <p:extLst>
      <p:ext uri="{BB962C8B-B14F-4D97-AF65-F5344CB8AC3E}">
        <p14:creationId xmlns:p14="http://schemas.microsoft.com/office/powerpoint/2010/main" val="13622029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69635">
            <a:hlinkClick r:id="" action="ppaction://hlinkshowjump?jump=nextslide"/>
            <a:extLst>
              <a:ext uri="{FF2B5EF4-FFF2-40B4-BE49-F238E27FC236}">
                <a16:creationId xmlns:a16="http://schemas.microsoft.com/office/drawing/2014/main" id="{04148858-5298-EE6B-EAF4-A314D40D20CB}"/>
              </a:ext>
            </a:extLst>
          </p:cNvPr>
          <p:cNvSpPr txBox="1">
            <a:spLocks/>
          </p:cNvSpPr>
          <p:nvPr/>
        </p:nvSpPr>
        <p:spPr>
          <a:xfrm>
            <a:off x="692849" y="873207"/>
            <a:ext cx="5450529" cy="657110"/>
          </a:xfrm>
          <a:prstGeom prst="rect">
            <a:avLst/>
          </a:prstGeom>
        </p:spPr>
        <p:txBody>
          <a:bodyPr vert="horz" lIns="91440" tIns="45720" rIns="91440" bIns="45720" rtlCol="0" anchor="ctr" anchorCtr="0">
            <a:normAutofit/>
          </a:bodyPr>
          <a:lstStyle>
            <a:defPPr>
              <a:defRPr lang="zh-CN"/>
            </a:defPPr>
            <a:lvl1pPr>
              <a:lnSpc>
                <a:spcPct val="90000"/>
              </a:lnSpc>
              <a:spcBef>
                <a:spcPct val="0"/>
              </a:spcBef>
              <a:buNone/>
              <a:defRPr sz="3200">
                <a:solidFill>
                  <a:srgbClr val="000099"/>
                </a:solidFill>
                <a:effectLst>
                  <a:outerShdw blurRad="38100" dist="38100" dir="2700000" algn="tl">
                    <a:srgbClr val="000000">
                      <a:alpha val="43137"/>
                    </a:srgbClr>
                  </a:outerShdw>
                </a:effectLst>
                <a:latin typeface="+mj-lt"/>
                <a:ea typeface="+mj-ea"/>
                <a:cs typeface="+mj-cs"/>
              </a:defRPr>
            </a:lvl1pPr>
          </a:lstStyle>
          <a:p>
            <a:r>
              <a:rPr lang="en-US" altLang="zh-CN" sz="2800" dirty="0">
                <a:solidFill>
                  <a:srgbClr val="C00000"/>
                </a:solidFill>
              </a:rPr>
              <a:t>1.1.1   </a:t>
            </a:r>
            <a:r>
              <a:rPr lang="zh-CN" altLang="en-US" sz="2800" dirty="0">
                <a:solidFill>
                  <a:srgbClr val="C00000"/>
                </a:solidFill>
              </a:rPr>
              <a:t>抽象与结构</a:t>
            </a:r>
            <a:r>
              <a:rPr lang="zh-CN" altLang="en-US" sz="2200" dirty="0">
                <a:solidFill>
                  <a:srgbClr val="C00000"/>
                </a:solidFill>
              </a:rPr>
              <a:t>（增补内容）</a:t>
            </a:r>
          </a:p>
        </p:txBody>
      </p:sp>
      <p:sp>
        <p:nvSpPr>
          <p:cNvPr id="3" name="副标题 69634">
            <a:extLst>
              <a:ext uri="{FF2B5EF4-FFF2-40B4-BE49-F238E27FC236}">
                <a16:creationId xmlns:a16="http://schemas.microsoft.com/office/drawing/2014/main" id="{5BEE6ED4-ECFE-DAD7-D7F3-6005FE468863}"/>
              </a:ext>
            </a:extLst>
          </p:cNvPr>
          <p:cNvSpPr txBox="1">
            <a:spLocks/>
          </p:cNvSpPr>
          <p:nvPr/>
        </p:nvSpPr>
        <p:spPr>
          <a:xfrm>
            <a:off x="739101" y="1433874"/>
            <a:ext cx="10442163" cy="1356703"/>
          </a:xfrm>
          <a:prstGeom prst="rect">
            <a:avLst/>
          </a:prstGeom>
        </p:spPr>
        <p:txBody>
          <a:bodyPr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20000"/>
              </a:lnSpc>
              <a:buNone/>
            </a:pPr>
            <a:r>
              <a:rPr lang="zh-CN" altLang="en-US" sz="2400" b="1" dirty="0">
                <a:solidFill>
                  <a:srgbClr val="FF0000"/>
                </a:solidFill>
                <a:effectLst>
                  <a:outerShdw blurRad="38100" dist="38100" dir="2700000">
                    <a:srgbClr val="000000"/>
                  </a:outerShdw>
                </a:effectLst>
                <a:latin typeface="Times New Roman" panose="02020603050405020304" pitchFamily="18" charset="0"/>
                <a:ea typeface="黑体" panose="02010609060101010101" pitchFamily="49" charset="-122"/>
              </a:rPr>
              <a:t>抽象</a:t>
            </a:r>
            <a:r>
              <a:rPr lang="zh-CN" altLang="en-US" sz="2400" b="1" dirty="0">
                <a:solidFill>
                  <a:srgbClr val="000000"/>
                </a:solidFill>
                <a:latin typeface="Times New Roman" panose="02020603050405020304" pitchFamily="18" charset="0"/>
                <a:ea typeface="宋体" panose="02010600030101010101" pitchFamily="2" charset="-122"/>
              </a:rPr>
              <a:t>（</a:t>
            </a:r>
            <a:r>
              <a:rPr lang="en-US" altLang="zh-CN" sz="2400" b="1" dirty="0">
                <a:solidFill>
                  <a:srgbClr val="000000"/>
                </a:solidFill>
                <a:latin typeface="Times New Roman" panose="02020603050405020304" pitchFamily="18" charset="0"/>
                <a:ea typeface="宋体" panose="02010600030101010101" pitchFamily="2" charset="-122"/>
              </a:rPr>
              <a:t>abstract</a:t>
            </a:r>
            <a:r>
              <a:rPr lang="zh-CN" altLang="en-US" sz="2400" b="1" dirty="0">
                <a:solidFill>
                  <a:srgbClr val="000000"/>
                </a:solidFill>
                <a:latin typeface="Times New Roman" panose="02020603050405020304" pitchFamily="18" charset="0"/>
                <a:ea typeface="宋体" panose="02010600030101010101" pitchFamily="2" charset="-122"/>
              </a:rPr>
              <a:t>）是对一类事物或一个系统的简化描述。它舍弃个别的、非本质的属性，抽取共同的、本质的属性，是形成概念的必要手段。</a:t>
            </a:r>
          </a:p>
          <a:p>
            <a:pPr marL="0" indent="0" algn="just">
              <a:spcBef>
                <a:spcPct val="45000"/>
              </a:spcBef>
              <a:buNone/>
            </a:pPr>
            <a:r>
              <a:rPr lang="zh-CN" altLang="en-US" sz="2400" b="1" dirty="0">
                <a:solidFill>
                  <a:srgbClr val="000000"/>
                </a:solidFill>
                <a:latin typeface="Times New Roman" panose="02020603050405020304" pitchFamily="18" charset="0"/>
                <a:ea typeface="宋体" panose="02010600030101010101" pitchFamily="2" charset="-122"/>
              </a:rPr>
              <a:t>在计算机学科的三种形态中：</a:t>
            </a:r>
            <a:r>
              <a:rPr lang="zh-CN" altLang="en-US" sz="2400" b="1" dirty="0">
                <a:solidFill>
                  <a:srgbClr val="FF0000"/>
                </a:solidFill>
                <a:effectLst>
                  <a:outerShdw blurRad="38100" dist="38100" dir="2700000">
                    <a:srgbClr val="000000"/>
                  </a:outerShdw>
                </a:effectLst>
                <a:latin typeface="Times New Roman" panose="02020603050405020304" pitchFamily="18" charset="0"/>
                <a:ea typeface="黑体" panose="02010609060101010101" pitchFamily="49" charset="-122"/>
              </a:rPr>
              <a:t>抽象</a:t>
            </a:r>
            <a:r>
              <a:rPr lang="zh-CN" altLang="en-US" sz="2400" b="1" dirty="0">
                <a:solidFill>
                  <a:srgbClr val="000000"/>
                </a:solidFill>
                <a:latin typeface="Times New Roman" panose="02020603050405020304" pitchFamily="18" charset="0"/>
                <a:ea typeface="宋体" panose="02010600030101010101" pitchFamily="2" charset="-122"/>
              </a:rPr>
              <a:t>是连接</a:t>
            </a:r>
            <a:r>
              <a:rPr lang="zh-CN" altLang="en-US" sz="2400" b="1" dirty="0">
                <a:solidFill>
                  <a:srgbClr val="2516E2"/>
                </a:solidFill>
                <a:effectLst>
                  <a:outerShdw blurRad="38100" dist="38100" dir="2700000">
                    <a:srgbClr val="000000"/>
                  </a:outerShdw>
                </a:effectLst>
                <a:latin typeface="Times New Roman" panose="02020603050405020304" pitchFamily="18" charset="0"/>
                <a:ea typeface="黑体" panose="02010609060101010101" pitchFamily="49" charset="-122"/>
              </a:rPr>
              <a:t>理论</a:t>
            </a:r>
            <a:r>
              <a:rPr lang="zh-CN" altLang="en-US" sz="2400" b="1" dirty="0">
                <a:solidFill>
                  <a:srgbClr val="000000"/>
                </a:solidFill>
                <a:latin typeface="Times New Roman" panose="02020603050405020304" pitchFamily="18" charset="0"/>
                <a:ea typeface="宋体" panose="02010600030101010101" pitchFamily="2" charset="-122"/>
              </a:rPr>
              <a:t>和</a:t>
            </a:r>
            <a:r>
              <a:rPr lang="zh-CN" altLang="en-US" sz="2400" b="1" dirty="0">
                <a:solidFill>
                  <a:srgbClr val="2516E2"/>
                </a:solidFill>
                <a:effectLst>
                  <a:outerShdw blurRad="38100" dist="38100" dir="2700000">
                    <a:srgbClr val="000000"/>
                  </a:outerShdw>
                </a:effectLst>
                <a:latin typeface="Times New Roman" panose="02020603050405020304" pitchFamily="18" charset="0"/>
                <a:ea typeface="黑体" panose="02010609060101010101" pitchFamily="49" charset="-122"/>
              </a:rPr>
              <a:t>设计</a:t>
            </a:r>
            <a:r>
              <a:rPr lang="zh-CN" altLang="en-US" sz="2400" b="1" dirty="0">
                <a:solidFill>
                  <a:srgbClr val="000000"/>
                </a:solidFill>
                <a:latin typeface="Times New Roman" panose="02020603050405020304" pitchFamily="18" charset="0"/>
                <a:ea typeface="宋体" panose="02010600030101010101" pitchFamily="2" charset="-122"/>
              </a:rPr>
              <a:t>的</a:t>
            </a:r>
            <a:r>
              <a:rPr lang="zh-CN" altLang="en-US" sz="2400" b="1" dirty="0">
                <a:solidFill>
                  <a:srgbClr val="FF0000"/>
                </a:solidFill>
                <a:effectLst>
                  <a:outerShdw blurRad="38100" dist="38100" dir="2700000">
                    <a:srgbClr val="000000"/>
                  </a:outerShdw>
                </a:effectLst>
                <a:latin typeface="Times New Roman" panose="02020603050405020304" pitchFamily="18" charset="0"/>
                <a:ea typeface="黑体" panose="02010609060101010101" pitchFamily="49" charset="-122"/>
              </a:rPr>
              <a:t>纽带</a:t>
            </a:r>
            <a:r>
              <a:rPr lang="zh-CN" altLang="en-US" sz="2400" b="1" dirty="0">
                <a:latin typeface="Times New Roman" panose="02020603050405020304" pitchFamily="18" charset="0"/>
                <a:ea typeface="宋体" panose="02010600030101010101" pitchFamily="2" charset="-122"/>
              </a:rPr>
              <a:t>。 </a:t>
            </a:r>
          </a:p>
        </p:txBody>
      </p:sp>
      <p:sp>
        <p:nvSpPr>
          <p:cNvPr id="4" name="灯片编号占位符 1">
            <a:extLst>
              <a:ext uri="{FF2B5EF4-FFF2-40B4-BE49-F238E27FC236}">
                <a16:creationId xmlns:a16="http://schemas.microsoft.com/office/drawing/2014/main" id="{0CFFDE4C-C555-FCD1-6486-16B7746C88D1}"/>
              </a:ext>
            </a:extLst>
          </p:cNvPr>
          <p:cNvSpPr>
            <a:spLocks noGrp="1"/>
          </p:cNvSpPr>
          <p:nvPr>
            <p:ph type="sldNum" sz="quarter" idx="12"/>
          </p:nvPr>
        </p:nvSpPr>
        <p:spPr>
          <a:xfrm>
            <a:off x="8918559" y="6356350"/>
            <a:ext cx="2743200" cy="365125"/>
          </a:xfrm>
        </p:spPr>
        <p:txBody>
          <a:bodyPr/>
          <a:lstStyle/>
          <a:p>
            <a:pPr>
              <a:spcBef>
                <a:spcPct val="50000"/>
              </a:spcBef>
            </a:pPr>
            <a:fld id="{9A0DB2DC-4C9A-4742-B13C-FB6460FD3503}" type="slidenum">
              <a:rPr lang="zh-CN" altLang="en-US" dirty="0">
                <a:latin typeface="Times New Roman" panose="02020603050405020304" pitchFamily="18" charset="0"/>
              </a:rPr>
              <a:t>19</a:t>
            </a:fld>
            <a:endParaRPr lang="zh-CN" altLang="en-US" dirty="0">
              <a:latin typeface="Times New Roman" panose="02020603050405020304" pitchFamily="18" charset="0"/>
            </a:endParaRPr>
          </a:p>
        </p:txBody>
      </p:sp>
      <p:sp>
        <p:nvSpPr>
          <p:cNvPr id="5" name="标题 70657">
            <a:extLst>
              <a:ext uri="{FF2B5EF4-FFF2-40B4-BE49-F238E27FC236}">
                <a16:creationId xmlns:a16="http://schemas.microsoft.com/office/drawing/2014/main" id="{9C08C21A-CCB8-ACA6-BC89-2CDF0C6CDADB}"/>
              </a:ext>
            </a:extLst>
          </p:cNvPr>
          <p:cNvSpPr>
            <a:spLocks noGrp="1"/>
          </p:cNvSpPr>
          <p:nvPr/>
        </p:nvSpPr>
        <p:spPr>
          <a:xfrm>
            <a:off x="1135639" y="2964191"/>
            <a:ext cx="5615760" cy="476250"/>
          </a:xfrm>
          <a:prstGeom prst="rect">
            <a:avLst/>
          </a:prstGeom>
        </p:spPr>
        <p:txBody>
          <a:bodyPr vert="horz" lIns="91440" tIns="45720" rIns="91440" bIns="45720" rtlCol="0" anchor="b" anchorCtr="0">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00000"/>
              </a:lnSpc>
            </a:pPr>
            <a:r>
              <a:rPr lang="zh-CN" altLang="en-US" sz="2400" b="1" kern="1200" baseline="0" dirty="0">
                <a:solidFill>
                  <a:srgbClr val="FF0000"/>
                </a:solidFill>
                <a:effectLst>
                  <a:outerShdw blurRad="38100" dist="38100" dir="2700000">
                    <a:srgbClr val="000000"/>
                  </a:outerShdw>
                </a:effectLst>
                <a:latin typeface="楷体" panose="02010609060101010101" pitchFamily="49" charset="-122"/>
                <a:ea typeface="楷体" panose="02010609060101010101" pitchFamily="49" charset="-122"/>
              </a:rPr>
              <a:t>例</a:t>
            </a:r>
            <a:r>
              <a:rPr lang="zh-CN" altLang="en-US" sz="2400" b="1" kern="1200" baseline="0" dirty="0">
                <a:solidFill>
                  <a:srgbClr val="000000"/>
                </a:solidFill>
                <a:latin typeface="楷体" panose="02010609060101010101" pitchFamily="49" charset="-122"/>
                <a:ea typeface="楷体" panose="02010609060101010101" pitchFamily="49" charset="-122"/>
              </a:rPr>
              <a:t> </a:t>
            </a:r>
            <a:r>
              <a:rPr lang="zh-CN" altLang="en-US" sz="2400" b="1" dirty="0">
                <a:solidFill>
                  <a:srgbClr val="000000"/>
                </a:solidFill>
                <a:latin typeface="楷体" panose="02010609060101010101" pitchFamily="49" charset="-122"/>
                <a:ea typeface="楷体" panose="02010609060101010101" pitchFamily="49" charset="-122"/>
              </a:rPr>
              <a:t>用几秒钟就能记住整数集合：</a:t>
            </a:r>
          </a:p>
        </p:txBody>
      </p:sp>
      <p:sp>
        <p:nvSpPr>
          <p:cNvPr id="6" name="副标题 70658">
            <a:extLst>
              <a:ext uri="{FF2B5EF4-FFF2-40B4-BE49-F238E27FC236}">
                <a16:creationId xmlns:a16="http://schemas.microsoft.com/office/drawing/2014/main" id="{BD628B6D-062E-33E5-DA15-EA7308D037DF}"/>
              </a:ext>
            </a:extLst>
          </p:cNvPr>
          <p:cNvSpPr>
            <a:spLocks noGrp="1"/>
          </p:cNvSpPr>
          <p:nvPr/>
        </p:nvSpPr>
        <p:spPr>
          <a:xfrm>
            <a:off x="1602512" y="3442048"/>
            <a:ext cx="8610600" cy="3328302"/>
          </a:xfrm>
          <a:prstGeom prst="rect">
            <a:avLst/>
          </a:prstGeom>
        </p:spPr>
        <p:txBody>
          <a:bodyPr vert="horz" lIns="91440" tIns="45720" rIns="91440" bIns="45720"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altLang="zh-CN" b="1" dirty="0">
                <a:solidFill>
                  <a:srgbClr val="000000"/>
                </a:solidFill>
                <a:latin typeface="Times New Roman" panose="02020603050405020304" pitchFamily="18" charset="0"/>
                <a:ea typeface="仿宋_GB2312" pitchFamily="49" charset="-122"/>
              </a:rPr>
              <a:t>         { 2, 4, 6, 8, 10, 12, 14, 16, 18, 20, 22, 24, 26, 28, 30 }</a:t>
            </a:r>
          </a:p>
          <a:p>
            <a:pPr algn="just"/>
            <a:r>
              <a:rPr lang="zh-CN" altLang="en-US" sz="2300" b="1" dirty="0">
                <a:solidFill>
                  <a:srgbClr val="000000"/>
                </a:solidFill>
                <a:latin typeface="楷体" panose="02010609060101010101" pitchFamily="49" charset="-122"/>
                <a:ea typeface="楷体" panose="02010609060101010101" pitchFamily="49" charset="-122"/>
                <a:cs typeface="+mj-cs"/>
              </a:rPr>
              <a:t>但是，如果要用同样时间记住：</a:t>
            </a:r>
          </a:p>
          <a:p>
            <a:pPr algn="just"/>
            <a:r>
              <a:rPr lang="zh-CN" altLang="en-US" b="1" dirty="0">
                <a:solidFill>
                  <a:srgbClr val="000000"/>
                </a:solidFill>
                <a:latin typeface="Times New Roman" panose="02020603050405020304" pitchFamily="18" charset="0"/>
                <a:ea typeface="仿宋_GB2312" pitchFamily="49" charset="-122"/>
              </a:rPr>
              <a:t>         </a:t>
            </a:r>
            <a:r>
              <a:rPr lang="en-US" altLang="zh-CN" b="1" dirty="0">
                <a:solidFill>
                  <a:srgbClr val="000000"/>
                </a:solidFill>
                <a:latin typeface="Times New Roman" panose="02020603050405020304" pitchFamily="18" charset="0"/>
                <a:ea typeface="仿宋_GB2312" pitchFamily="49" charset="-122"/>
              </a:rPr>
              <a:t>{ 18, 2, 20, 16, 24, 4, 30, 26, 6, 22, 14, 12, 28, 10, 8 }</a:t>
            </a:r>
            <a:endParaRPr lang="en-US" altLang="zh-CN" b="1" dirty="0">
              <a:solidFill>
                <a:srgbClr val="000000"/>
              </a:solidFill>
              <a:latin typeface="Times New Roman" panose="02020603050405020304" pitchFamily="18" charset="0"/>
              <a:ea typeface="宋体" panose="02010600030101010101" pitchFamily="2" charset="-122"/>
            </a:endParaRPr>
          </a:p>
          <a:p>
            <a:pPr algn="just"/>
            <a:r>
              <a:rPr lang="zh-CN" altLang="en-US" sz="2300" b="1" dirty="0">
                <a:solidFill>
                  <a:srgbClr val="000000"/>
                </a:solidFill>
                <a:latin typeface="楷体" panose="02010609060101010101" pitchFamily="49" charset="-122"/>
                <a:ea typeface="楷体" panose="02010609060101010101" pitchFamily="49" charset="-122"/>
                <a:cs typeface="+mj-cs"/>
              </a:rPr>
              <a:t>就难多了！</a:t>
            </a:r>
          </a:p>
          <a:p>
            <a:pPr algn="just"/>
            <a:r>
              <a:rPr lang="zh-CN" altLang="en-US" sz="2300" b="1" dirty="0">
                <a:solidFill>
                  <a:srgbClr val="000000"/>
                </a:solidFill>
                <a:latin typeface="楷体" panose="02010609060101010101" pitchFamily="49" charset="-122"/>
                <a:ea typeface="楷体" panose="02010609060101010101" pitchFamily="49" charset="-122"/>
                <a:cs typeface="+mj-cs"/>
              </a:rPr>
              <a:t>前一个集合是有序的，容易发现和记忆它的一个有限</a:t>
            </a:r>
            <a:r>
              <a:rPr lang="zh-CN" altLang="en-US" b="1" kern="1200" baseline="0" dirty="0">
                <a:solidFill>
                  <a:srgbClr val="CC0000"/>
                </a:solidFill>
                <a:effectLst>
                  <a:outerShdw blurRad="38100" dist="38100" dir="2700000">
                    <a:srgbClr val="000000"/>
                  </a:outerShdw>
                </a:effectLst>
                <a:latin typeface="Times New Roman" panose="02020603050405020304" pitchFamily="18" charset="0"/>
                <a:ea typeface="黑体" panose="02010609060101010101" pitchFamily="49" charset="-122"/>
              </a:rPr>
              <a:t>结构</a:t>
            </a:r>
            <a:r>
              <a:rPr lang="zh-CN" altLang="en-US" b="1" kern="1200" baseline="0" dirty="0">
                <a:solidFill>
                  <a:srgbClr val="000000"/>
                </a:solidFill>
                <a:latin typeface="Times New Roman" panose="02020603050405020304" pitchFamily="18" charset="0"/>
                <a:ea typeface="仿宋_GB2312" pitchFamily="49" charset="-122"/>
              </a:rPr>
              <a:t>：</a:t>
            </a:r>
          </a:p>
          <a:p>
            <a:pPr algn="just"/>
            <a:r>
              <a:rPr lang="zh-CN" altLang="en-US" b="1" kern="1200" baseline="0" dirty="0">
                <a:solidFill>
                  <a:srgbClr val="000000"/>
                </a:solidFill>
                <a:latin typeface="Times New Roman" panose="02020603050405020304" pitchFamily="18" charset="0"/>
                <a:ea typeface="仿宋_GB2312" pitchFamily="49" charset="-122"/>
              </a:rPr>
              <a:t>           </a:t>
            </a:r>
            <a:r>
              <a:rPr lang="en-US" altLang="zh-CN" b="1" dirty="0">
                <a:solidFill>
                  <a:srgbClr val="000000"/>
                </a:solidFill>
                <a:latin typeface="Times New Roman" panose="02020603050405020304" pitchFamily="18" charset="0"/>
                <a:ea typeface="仿宋_GB2312" pitchFamily="49" charset="-122"/>
              </a:rPr>
              <a:t>2</a:t>
            </a:r>
            <a:r>
              <a:rPr lang="en-US" altLang="zh-CN" sz="2300" b="1" dirty="0">
                <a:solidFill>
                  <a:srgbClr val="000000"/>
                </a:solidFill>
                <a:latin typeface="楷体" panose="02010609060101010101" pitchFamily="49" charset="-122"/>
                <a:ea typeface="楷体" panose="02010609060101010101" pitchFamily="49" charset="-122"/>
                <a:cs typeface="+mj-cs"/>
              </a:rPr>
              <a:t> </a:t>
            </a:r>
            <a:r>
              <a:rPr lang="zh-CN" altLang="en-US" sz="2300" b="1" dirty="0">
                <a:solidFill>
                  <a:srgbClr val="000000"/>
                </a:solidFill>
                <a:latin typeface="楷体" panose="02010609060101010101" pitchFamily="49" charset="-122"/>
                <a:ea typeface="楷体" panose="02010609060101010101" pitchFamily="49" charset="-122"/>
                <a:cs typeface="+mj-cs"/>
              </a:rPr>
              <a:t>和 </a:t>
            </a:r>
            <a:r>
              <a:rPr lang="en-US" altLang="zh-CN" b="1" dirty="0">
                <a:solidFill>
                  <a:srgbClr val="000000"/>
                </a:solidFill>
                <a:latin typeface="Times New Roman" panose="02020603050405020304" pitchFamily="18" charset="0"/>
                <a:ea typeface="仿宋_GB2312" pitchFamily="49" charset="-122"/>
              </a:rPr>
              <a:t>30</a:t>
            </a:r>
            <a:r>
              <a:rPr lang="en-US" altLang="zh-CN" sz="2300" b="1" dirty="0">
                <a:solidFill>
                  <a:srgbClr val="000000"/>
                </a:solidFill>
                <a:latin typeface="楷体" panose="02010609060101010101" pitchFamily="49" charset="-122"/>
                <a:ea typeface="楷体" panose="02010609060101010101" pitchFamily="49" charset="-122"/>
                <a:cs typeface="+mj-cs"/>
              </a:rPr>
              <a:t> </a:t>
            </a:r>
            <a:r>
              <a:rPr lang="zh-CN" altLang="en-US" sz="2300" b="1" dirty="0">
                <a:solidFill>
                  <a:srgbClr val="000000"/>
                </a:solidFill>
                <a:latin typeface="楷体" panose="02010609060101010101" pitchFamily="49" charset="-122"/>
                <a:ea typeface="楷体" panose="02010609060101010101" pitchFamily="49" charset="-122"/>
                <a:cs typeface="+mj-cs"/>
              </a:rPr>
              <a:t>之间的偶数集。</a:t>
            </a:r>
          </a:p>
          <a:p>
            <a:pPr algn="just"/>
            <a:r>
              <a:rPr lang="zh-CN" altLang="en-US" sz="2300" b="1" dirty="0">
                <a:solidFill>
                  <a:srgbClr val="000000"/>
                </a:solidFill>
                <a:latin typeface="楷体" panose="02010609060101010101" pitchFamily="49" charset="-122"/>
                <a:ea typeface="楷体" panose="02010609060101010101" pitchFamily="49" charset="-122"/>
                <a:cs typeface="+mj-cs"/>
              </a:rPr>
              <a:t>后一个集合没有这样的</a:t>
            </a:r>
            <a:r>
              <a:rPr lang="zh-CN" altLang="en-US" b="1" kern="1200" baseline="0" dirty="0">
                <a:solidFill>
                  <a:srgbClr val="CC0000"/>
                </a:solidFill>
                <a:effectLst>
                  <a:outerShdw blurRad="38100" dist="38100" dir="2700000">
                    <a:srgbClr val="000000"/>
                  </a:outerShdw>
                </a:effectLst>
                <a:latin typeface="Times New Roman" panose="02020603050405020304" pitchFamily="18" charset="0"/>
                <a:ea typeface="黑体" panose="02010609060101010101" pitchFamily="49" charset="-122"/>
              </a:rPr>
              <a:t>结构</a:t>
            </a:r>
            <a:r>
              <a:rPr lang="zh-CN" altLang="en-US" sz="2300" b="1" dirty="0">
                <a:solidFill>
                  <a:srgbClr val="000000"/>
                </a:solidFill>
                <a:latin typeface="楷体" panose="02010609060101010101" pitchFamily="49" charset="-122"/>
                <a:ea typeface="楷体" panose="02010609060101010101" pitchFamily="49" charset="-122"/>
                <a:cs typeface="+mj-cs"/>
              </a:rPr>
              <a:t>，因此不易记住。 </a:t>
            </a:r>
          </a:p>
        </p:txBody>
      </p:sp>
      <p:sp>
        <p:nvSpPr>
          <p:cNvPr id="7" name="灯片编号占位符 1">
            <a:extLst>
              <a:ext uri="{FF2B5EF4-FFF2-40B4-BE49-F238E27FC236}">
                <a16:creationId xmlns:a16="http://schemas.microsoft.com/office/drawing/2014/main" id="{8ED4CCA3-A2B3-0D8F-4082-D41107327268}"/>
              </a:ext>
            </a:extLst>
          </p:cNvPr>
          <p:cNvSpPr>
            <a:spLocks noGrp="1"/>
          </p:cNvSpPr>
          <p:nvPr/>
        </p:nvSpPr>
        <p:spPr>
          <a:xfrm>
            <a:off x="8171307" y="7912781"/>
            <a:ext cx="2743200" cy="365125"/>
          </a:xfrm>
          <a:prstGeom prst="rect">
            <a:avLst/>
          </a:prstGeom>
        </p:spPr>
        <p:txBody>
          <a:bodyPr vert="horz" lIns="91440" tIns="45720" rIns="91440" bIns="45720" rtlCol="0" anchor="ctr"/>
          <a:lstStyle>
            <a:defPPr>
              <a:defRPr lang="zh-CN"/>
            </a:defPPr>
            <a:lvl1pPr marL="0" lvl="0" indent="0" algn="r" defTabSz="914400" rtl="0" eaLnBrk="1" fontAlgn="base" latinLnBrk="0" hangingPunct="1">
              <a:lnSpc>
                <a:spcPct val="100000"/>
              </a:lnSpc>
              <a:spcBef>
                <a:spcPct val="0"/>
              </a:spcBef>
              <a:spcAft>
                <a:spcPct val="0"/>
              </a:spcAft>
              <a:buNone/>
              <a:defRPr sz="1200" b="0" i="0" u="none" kern="1200" baseline="0">
                <a:solidFill>
                  <a:schemeClr val="tx1">
                    <a:tint val="75000"/>
                  </a:schemeClr>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9pPr>
          </a:lstStyle>
          <a:p>
            <a:pPr>
              <a:spcBef>
                <a:spcPct val="50000"/>
              </a:spcBef>
            </a:pPr>
            <a:fld id="{9A0DB2DC-4C9A-4742-B13C-FB6460FD3503}" type="slidenum">
              <a:rPr lang="zh-CN" altLang="en-US" dirty="0">
                <a:latin typeface="Times New Roman" panose="02020603050405020304" pitchFamily="18" charset="0"/>
              </a:rPr>
              <a:pPr>
                <a:spcBef>
                  <a:spcPct val="50000"/>
                </a:spcBef>
              </a:pPr>
              <a:t>19</a:t>
            </a:fld>
            <a:endParaRPr lang="zh-CN" altLang="en-US" dirty="0">
              <a:latin typeface="Times New Roman" panose="02020603050405020304" pitchFamily="18" charset="0"/>
            </a:endParaRPr>
          </a:p>
        </p:txBody>
      </p:sp>
      <p:sp>
        <p:nvSpPr>
          <p:cNvPr id="8" name="标题 91139">
            <a:extLst>
              <a:ext uri="{FF2B5EF4-FFF2-40B4-BE49-F238E27FC236}">
                <a16:creationId xmlns:a16="http://schemas.microsoft.com/office/drawing/2014/main" id="{1D89C008-0C2D-FD83-C540-221B506DAA36}"/>
              </a:ext>
            </a:extLst>
          </p:cNvPr>
          <p:cNvSpPr txBox="1">
            <a:spLocks/>
          </p:cNvSpPr>
          <p:nvPr/>
        </p:nvSpPr>
        <p:spPr>
          <a:xfrm>
            <a:off x="1322702" y="221736"/>
            <a:ext cx="4820676" cy="616146"/>
          </a:xfrm>
          <a:prstGeom prst="rect">
            <a:avLst/>
          </a:prstGeom>
        </p:spPr>
        <p:txBody>
          <a:bodyPr vert="horz" lIns="91440" tIns="45720" rIns="91440" bIns="45720" rtlCol="0" anchor="ctr" anchorCtr="0">
            <a:normAutofit/>
          </a:bodyPr>
          <a:lstStyle>
            <a:defPPr>
              <a:defRPr lang="zh-CN"/>
            </a:defPPr>
            <a:lvl1pPr>
              <a:lnSpc>
                <a:spcPct val="90000"/>
              </a:lnSpc>
              <a:spcBef>
                <a:spcPct val="0"/>
              </a:spcBef>
              <a:buNone/>
              <a:defRPr sz="3200" b="1">
                <a:solidFill>
                  <a:srgbClr val="000099"/>
                </a:solidFill>
                <a:effectLst>
                  <a:outerShdw blurRad="38100" dist="38100" dir="2700000" algn="tl">
                    <a:srgbClr val="000000">
                      <a:alpha val="43137"/>
                    </a:srgbClr>
                  </a:outerShdw>
                </a:effectLst>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1.1  </a:t>
            </a:r>
            <a:r>
              <a:rPr lang="zh-CN" altLang="en-US" dirty="0"/>
              <a:t>什么是数据结构？</a:t>
            </a:r>
          </a:p>
        </p:txBody>
      </p:sp>
    </p:spTree>
    <p:extLst>
      <p:ext uri="{BB962C8B-B14F-4D97-AF65-F5344CB8AC3E}">
        <p14:creationId xmlns:p14="http://schemas.microsoft.com/office/powerpoint/2010/main" val="4983987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71681">
            <a:extLst>
              <a:ext uri="{FF2B5EF4-FFF2-40B4-BE49-F238E27FC236}">
                <a16:creationId xmlns:a16="http://schemas.microsoft.com/office/drawing/2014/main" id="{3785F1F5-DC1A-BFD1-0105-A3A27E952677}"/>
              </a:ext>
            </a:extLst>
          </p:cNvPr>
          <p:cNvSpPr>
            <a:spLocks noGrp="1"/>
          </p:cNvSpPr>
          <p:nvPr/>
        </p:nvSpPr>
        <p:spPr>
          <a:xfrm>
            <a:off x="1415894" y="258762"/>
            <a:ext cx="7772400" cy="986019"/>
          </a:xfrm>
          <a:prstGeom prst="rect">
            <a:avLst/>
          </a:prstGeom>
        </p:spPr>
        <p:txBody>
          <a:bodyPr vert="horz" lIns="91440" tIns="45720" rIns="91440" bIns="45720" rtlCol="0" anchor="b" anchorCtr="0">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3200" kern="1200" baseline="0" dirty="0">
                <a:solidFill>
                  <a:srgbClr val="990099"/>
                </a:solidFill>
                <a:effectLst>
                  <a:outerShdw blurRad="38100" dist="38100" dir="2700000">
                    <a:srgbClr val="000000"/>
                  </a:outerShdw>
                </a:effectLst>
                <a:latin typeface="宋体" panose="02010600030101010101" pitchFamily="2" charset="-122"/>
                <a:ea typeface="华文新魏" pitchFamily="2" charset="-122"/>
              </a:rPr>
              <a:t>抽象和结构</a:t>
            </a:r>
            <a:r>
              <a:rPr lang="en-US" altLang="zh-CN" sz="3200" kern="1200" baseline="0" dirty="0">
                <a:solidFill>
                  <a:srgbClr val="990099"/>
                </a:solidFill>
                <a:effectLst>
                  <a:outerShdw blurRad="38100" dist="38100" dir="2700000">
                    <a:srgbClr val="000000"/>
                  </a:outerShdw>
                </a:effectLst>
                <a:latin typeface="Times New Roman" panose="02020603050405020304" pitchFamily="18" charset="0"/>
                <a:ea typeface="华文新魏" pitchFamily="2" charset="-122"/>
              </a:rPr>
              <a:t>——</a:t>
            </a:r>
            <a:br>
              <a:rPr lang="en-US" altLang="zh-CN" sz="3200" kern="1200" baseline="0" dirty="0">
                <a:solidFill>
                  <a:srgbClr val="990099"/>
                </a:solidFill>
                <a:effectLst>
                  <a:outerShdw blurRad="38100" dist="38100" dir="2700000">
                    <a:srgbClr val="000000"/>
                  </a:outerShdw>
                </a:effectLst>
                <a:latin typeface="宋体" panose="02010600030101010101" pitchFamily="2" charset="-122"/>
                <a:ea typeface="华文新魏" pitchFamily="2" charset="-122"/>
              </a:rPr>
            </a:br>
            <a:r>
              <a:rPr lang="en-US" altLang="zh-CN" sz="3200" kern="1200" baseline="0" dirty="0">
                <a:solidFill>
                  <a:srgbClr val="990099"/>
                </a:solidFill>
                <a:effectLst>
                  <a:outerShdw blurRad="38100" dist="38100" dir="2700000">
                    <a:srgbClr val="000000"/>
                  </a:outerShdw>
                </a:effectLst>
                <a:latin typeface="宋体" panose="02010600030101010101" pitchFamily="2" charset="-122"/>
                <a:ea typeface="华文新魏" pitchFamily="2" charset="-122"/>
              </a:rPr>
              <a:t>   </a:t>
            </a:r>
            <a:r>
              <a:rPr lang="zh-CN" altLang="en-US" sz="3200" kern="1200" baseline="0" dirty="0">
                <a:solidFill>
                  <a:srgbClr val="990099"/>
                </a:solidFill>
                <a:effectLst>
                  <a:outerShdw blurRad="38100" dist="38100" dir="2700000">
                    <a:srgbClr val="000000"/>
                  </a:outerShdw>
                </a:effectLst>
                <a:latin typeface="宋体" panose="02010600030101010101" pitchFamily="2" charset="-122"/>
                <a:ea typeface="华文新魏" pitchFamily="2" charset="-122"/>
              </a:rPr>
              <a:t>克服复杂性的重要认知形式</a:t>
            </a:r>
            <a:r>
              <a:rPr lang="zh-CN" altLang="en-US" sz="3200" kern="1200" baseline="0" dirty="0">
                <a:solidFill>
                  <a:srgbClr val="990099"/>
                </a:solidFill>
                <a:effectLst>
                  <a:outerShdw blurRad="38100" dist="38100" dir="2700000">
                    <a:srgbClr val="000000"/>
                  </a:outerShdw>
                </a:effectLst>
                <a:latin typeface="Times New Roman" panose="02020603050405020304" pitchFamily="18" charset="0"/>
                <a:ea typeface="华文新魏" pitchFamily="2" charset="-122"/>
              </a:rPr>
              <a:t> </a:t>
            </a:r>
          </a:p>
        </p:txBody>
      </p:sp>
      <p:sp>
        <p:nvSpPr>
          <p:cNvPr id="3" name="副标题 71682">
            <a:extLst>
              <a:ext uri="{FF2B5EF4-FFF2-40B4-BE49-F238E27FC236}">
                <a16:creationId xmlns:a16="http://schemas.microsoft.com/office/drawing/2014/main" id="{DBEA1B22-BD7E-9FBB-F187-2EDB23EF66E7}"/>
              </a:ext>
            </a:extLst>
          </p:cNvPr>
          <p:cNvSpPr>
            <a:spLocks noGrp="1"/>
          </p:cNvSpPr>
          <p:nvPr/>
        </p:nvSpPr>
        <p:spPr>
          <a:xfrm>
            <a:off x="999681" y="1516103"/>
            <a:ext cx="9831453" cy="4922599"/>
          </a:xfrm>
          <a:prstGeom prst="rect">
            <a:avLst/>
          </a:prstGeom>
        </p:spPr>
        <p:txBody>
          <a:bodyPr vert="horz" lIns="91440" tIns="45720" rIns="91440" bIns="45720"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50000"/>
              </a:lnSpc>
            </a:pPr>
            <a:r>
              <a:rPr lang="en-US" altLang="zh-CN" b="1" kern="1200" baseline="0" dirty="0">
                <a:solidFill>
                  <a:srgbClr val="000000"/>
                </a:solidFill>
                <a:latin typeface="宋体" panose="02010600030101010101" pitchFamily="2" charset="-122"/>
                <a:ea typeface="宋体" panose="02010600030101010101" pitchFamily="2" charset="-122"/>
              </a:rPr>
              <a:t>    </a:t>
            </a:r>
            <a:r>
              <a:rPr lang="zh-CN" altLang="en-US" b="1" kern="1200" baseline="0" dirty="0">
                <a:solidFill>
                  <a:srgbClr val="000000"/>
                </a:solidFill>
                <a:latin typeface="宋体" panose="02010600030101010101" pitchFamily="2" charset="-122"/>
                <a:ea typeface="宋体" panose="02010600030101010101" pitchFamily="2" charset="-122"/>
              </a:rPr>
              <a:t>在认识事物时，对结构的</a:t>
            </a:r>
            <a:r>
              <a:rPr lang="zh-CN" altLang="en-US" b="1" kern="1200" baseline="0" dirty="0">
                <a:solidFill>
                  <a:srgbClr val="CC0000"/>
                </a:solidFill>
                <a:latin typeface="黑体" panose="02010609060101010101" pitchFamily="49" charset="-122"/>
                <a:ea typeface="黑体" panose="02010609060101010101" pitchFamily="49" charset="-122"/>
              </a:rPr>
              <a:t>分解</a:t>
            </a:r>
            <a:r>
              <a:rPr lang="zh-CN" altLang="en-US" b="1" kern="1200" baseline="0" dirty="0">
                <a:solidFill>
                  <a:srgbClr val="000000"/>
                </a:solidFill>
                <a:latin typeface="宋体" panose="02010600030101010101" pitchFamily="2" charset="-122"/>
                <a:ea typeface="宋体" panose="02010600030101010101" pitchFamily="2" charset="-122"/>
              </a:rPr>
              <a:t>和</a:t>
            </a:r>
            <a:r>
              <a:rPr lang="zh-CN" altLang="en-US" b="1" kern="1200" baseline="0" dirty="0">
                <a:solidFill>
                  <a:srgbClr val="CC0000"/>
                </a:solidFill>
                <a:latin typeface="黑体" panose="02010609060101010101" pitchFamily="49" charset="-122"/>
                <a:ea typeface="黑体" panose="02010609060101010101" pitchFamily="49" charset="-122"/>
              </a:rPr>
              <a:t>合成</a:t>
            </a:r>
            <a:r>
              <a:rPr lang="zh-CN" altLang="en-US" b="1" kern="1200" baseline="0" dirty="0">
                <a:solidFill>
                  <a:srgbClr val="000000"/>
                </a:solidFill>
                <a:latin typeface="宋体" panose="02010600030101010101" pitchFamily="2" charset="-122"/>
                <a:ea typeface="宋体" panose="02010600030101010101" pitchFamily="2" charset="-122"/>
              </a:rPr>
              <a:t>十分重要。</a:t>
            </a:r>
            <a:endParaRPr lang="en-US" altLang="zh-CN" b="1" kern="1200" baseline="0" dirty="0">
              <a:solidFill>
                <a:srgbClr val="000000"/>
              </a:solidFill>
              <a:latin typeface="宋体" panose="02010600030101010101" pitchFamily="2" charset="-122"/>
              <a:ea typeface="宋体" panose="02010600030101010101" pitchFamily="2" charset="-122"/>
            </a:endParaRPr>
          </a:p>
          <a:p>
            <a:pPr algn="just">
              <a:lnSpc>
                <a:spcPct val="150000"/>
              </a:lnSpc>
            </a:pPr>
            <a:r>
              <a:rPr lang="zh-CN" altLang="en-US" b="1" kern="1200" baseline="0" dirty="0">
                <a:solidFill>
                  <a:srgbClr val="000000"/>
                </a:solidFill>
                <a:latin typeface="宋体" panose="02010600030101010101" pitchFamily="2" charset="-122"/>
                <a:ea typeface="宋体" panose="02010600030101010101" pitchFamily="2" charset="-122"/>
              </a:rPr>
              <a:t>    例如，一辆汽车能够描述为“</a:t>
            </a:r>
            <a:r>
              <a:rPr lang="zh-CN" altLang="en-US" b="1" u="sng" kern="1200" baseline="0" dirty="0">
                <a:solidFill>
                  <a:srgbClr val="CC0000"/>
                </a:solidFill>
                <a:latin typeface="黑体" panose="02010609060101010101" pitchFamily="49" charset="-122"/>
                <a:ea typeface="黑体" panose="02010609060101010101" pitchFamily="49" charset="-122"/>
              </a:rPr>
              <a:t>由人操纵的、燃油动力的和陆上行驶的运输设备</a:t>
            </a:r>
            <a:r>
              <a:rPr lang="zh-CN" altLang="en-US" b="1" kern="1200" baseline="0" dirty="0">
                <a:solidFill>
                  <a:srgbClr val="000000"/>
                </a:solidFill>
                <a:latin typeface="宋体" panose="02010600030101010101" pitchFamily="2" charset="-122"/>
                <a:ea typeface="宋体" panose="02010600030101010101" pitchFamily="2" charset="-122"/>
              </a:rPr>
              <a:t>”。</a:t>
            </a:r>
            <a:endParaRPr lang="en-US" altLang="zh-CN" b="1" kern="1200" baseline="0" dirty="0">
              <a:solidFill>
                <a:srgbClr val="000000"/>
              </a:solidFill>
              <a:latin typeface="宋体" panose="02010600030101010101" pitchFamily="2" charset="-122"/>
              <a:ea typeface="宋体" panose="02010600030101010101" pitchFamily="2" charset="-122"/>
            </a:endParaRPr>
          </a:p>
          <a:p>
            <a:pPr algn="just">
              <a:lnSpc>
                <a:spcPct val="150000"/>
              </a:lnSpc>
            </a:pPr>
            <a:r>
              <a:rPr lang="zh-CN" altLang="en-US" b="1" kern="1200" baseline="0" dirty="0">
                <a:solidFill>
                  <a:srgbClr val="000000"/>
                </a:solidFill>
                <a:latin typeface="宋体" panose="02010600030101010101" pitchFamily="2" charset="-122"/>
                <a:ea typeface="宋体" panose="02010600030101010101" pitchFamily="2" charset="-122"/>
              </a:rPr>
              <a:t>    方向盘由人操纵，引擎通常由燃油获得动力，加上车轮和车厢后构成了运输的功能。</a:t>
            </a:r>
            <a:endParaRPr lang="en-US" altLang="zh-CN" b="1" kern="1200" baseline="0" dirty="0">
              <a:solidFill>
                <a:srgbClr val="000000"/>
              </a:solidFill>
              <a:latin typeface="宋体" panose="02010600030101010101" pitchFamily="2" charset="-122"/>
              <a:ea typeface="宋体" panose="02010600030101010101" pitchFamily="2" charset="-122"/>
            </a:endParaRPr>
          </a:p>
          <a:p>
            <a:pPr algn="just">
              <a:lnSpc>
                <a:spcPct val="150000"/>
              </a:lnSpc>
            </a:pPr>
            <a:r>
              <a:rPr lang="zh-CN" altLang="en-US" b="1" kern="1200" baseline="0" dirty="0">
                <a:solidFill>
                  <a:srgbClr val="000000"/>
                </a:solidFill>
                <a:latin typeface="宋体" panose="02010600030101010101" pitchFamily="2" charset="-122"/>
                <a:ea typeface="宋体" panose="02010600030101010101" pitchFamily="2" charset="-122"/>
              </a:rPr>
              <a:t>    但是每一部分都可以放到别的机器上，没有哪部分能够单独被称为汽车。构成汽车的是所有部件的正确</a:t>
            </a:r>
            <a:r>
              <a:rPr lang="zh-CN" altLang="en-US" b="1" kern="1200" baseline="0" dirty="0">
                <a:solidFill>
                  <a:srgbClr val="C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rPr>
              <a:t>组装</a:t>
            </a:r>
            <a:r>
              <a:rPr lang="zh-CN" altLang="en-US" b="1" kern="1200" baseline="0" dirty="0">
                <a:solidFill>
                  <a:srgbClr val="000000"/>
                </a:solidFill>
                <a:latin typeface="宋体" panose="02010600030101010101" pitchFamily="2" charset="-122"/>
                <a:ea typeface="宋体" panose="02010600030101010101" pitchFamily="2" charset="-122"/>
              </a:rPr>
              <a:t>（</a:t>
            </a:r>
            <a:r>
              <a:rPr lang="en-US" altLang="zh-CN" b="1" kern="1200" baseline="0" dirty="0">
                <a:solidFill>
                  <a:srgbClr val="000000"/>
                </a:solidFill>
                <a:latin typeface="Times New Roman" panose="02020603050405020304" pitchFamily="18" charset="0"/>
                <a:ea typeface="宋体" panose="02010600030101010101" pitchFamily="2" charset="-122"/>
              </a:rPr>
              <a:t>composition</a:t>
            </a:r>
            <a:r>
              <a:rPr lang="zh-CN" altLang="en-US" b="1" kern="1200" baseline="0" dirty="0">
                <a:solidFill>
                  <a:srgbClr val="000000"/>
                </a:solidFill>
                <a:latin typeface="宋体" panose="02010600030101010101" pitchFamily="2" charset="-122"/>
                <a:ea typeface="宋体" panose="02010600030101010101" pitchFamily="2" charset="-122"/>
              </a:rPr>
              <a:t>），或者说</a:t>
            </a:r>
            <a:r>
              <a:rPr lang="zh-CN" altLang="en-US" b="1" kern="1200" baseline="0" dirty="0">
                <a:solidFill>
                  <a:srgbClr val="C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rPr>
              <a:t>协同</a:t>
            </a:r>
            <a:r>
              <a:rPr lang="zh-CN" altLang="en-US" b="1" dirty="0">
                <a:solidFill>
                  <a:srgbClr val="C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rPr>
              <a:t>作用</a:t>
            </a:r>
            <a:r>
              <a:rPr lang="zh-CN" altLang="en-US" b="1" kern="1200" baseline="0" dirty="0">
                <a:solidFill>
                  <a:srgbClr val="000000"/>
                </a:solidFill>
                <a:latin typeface="宋体" panose="02010600030101010101" pitchFamily="2" charset="-122"/>
                <a:ea typeface="宋体" panose="02010600030101010101" pitchFamily="2" charset="-122"/>
              </a:rPr>
              <a:t>（</a:t>
            </a:r>
            <a:r>
              <a:rPr lang="en-US" altLang="zh-CN" b="1" kern="1200" baseline="0" dirty="0">
                <a:solidFill>
                  <a:srgbClr val="000000"/>
                </a:solidFill>
                <a:latin typeface="Times New Roman" panose="02020603050405020304" pitchFamily="18" charset="0"/>
                <a:ea typeface="宋体" panose="02010600030101010101" pitchFamily="2" charset="-122"/>
              </a:rPr>
              <a:t>synergy</a:t>
            </a:r>
            <a:r>
              <a:rPr lang="zh-CN" altLang="en-US" b="1" kern="1200" baseline="0" dirty="0">
                <a:solidFill>
                  <a:srgbClr val="000000"/>
                </a:solidFill>
                <a:latin typeface="宋体" panose="02010600030101010101" pitchFamily="2" charset="-122"/>
                <a:ea typeface="宋体" panose="02010600030101010101" pitchFamily="2" charset="-122"/>
              </a:rPr>
              <a:t>）。</a:t>
            </a:r>
            <a:r>
              <a:rPr lang="zh-CN" altLang="en-US" b="1" kern="1200" baseline="0" dirty="0">
                <a:solidFill>
                  <a:srgbClr val="000000"/>
                </a:solidFill>
                <a:latin typeface="Times New Roman" panose="02020603050405020304" pitchFamily="18" charset="0"/>
                <a:ea typeface="宋体" panose="02010600030101010101" pitchFamily="2" charset="-122"/>
              </a:rPr>
              <a:t> </a:t>
            </a:r>
          </a:p>
        </p:txBody>
      </p:sp>
      <p:sp>
        <p:nvSpPr>
          <p:cNvPr id="4" name="灯片编号占位符 1">
            <a:extLst>
              <a:ext uri="{FF2B5EF4-FFF2-40B4-BE49-F238E27FC236}">
                <a16:creationId xmlns:a16="http://schemas.microsoft.com/office/drawing/2014/main" id="{4D3ACC86-6A64-C441-8208-CFB607D59724}"/>
              </a:ext>
            </a:extLst>
          </p:cNvPr>
          <p:cNvSpPr>
            <a:spLocks noGrp="1"/>
          </p:cNvSpPr>
          <p:nvPr/>
        </p:nvSpPr>
        <p:spPr>
          <a:xfrm>
            <a:off x="8087934" y="6234113"/>
            <a:ext cx="2743200" cy="365125"/>
          </a:xfrm>
          <a:prstGeom prst="rect">
            <a:avLst/>
          </a:prstGeom>
        </p:spPr>
        <p:txBody>
          <a:bodyPr vert="horz" lIns="91440" tIns="45720" rIns="91440" bIns="45720" rtlCol="0" anchor="ctr"/>
          <a:lstStyle>
            <a:defPPr>
              <a:defRPr lang="zh-CN"/>
            </a:defPPr>
            <a:lvl1pPr marL="0" lvl="0" indent="0" algn="r" defTabSz="914400" rtl="0" eaLnBrk="1" fontAlgn="base" latinLnBrk="0" hangingPunct="1">
              <a:lnSpc>
                <a:spcPct val="100000"/>
              </a:lnSpc>
              <a:spcBef>
                <a:spcPct val="0"/>
              </a:spcBef>
              <a:spcAft>
                <a:spcPct val="0"/>
              </a:spcAft>
              <a:buNone/>
              <a:defRPr sz="1200" b="0" i="0" u="none" kern="1200" baseline="0">
                <a:solidFill>
                  <a:schemeClr val="tx1">
                    <a:tint val="75000"/>
                  </a:schemeClr>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9pPr>
          </a:lstStyle>
          <a:p>
            <a:pPr>
              <a:spcBef>
                <a:spcPct val="50000"/>
              </a:spcBef>
            </a:pPr>
            <a:fld id="{9A0DB2DC-4C9A-4742-B13C-FB6460FD3503}" type="slidenum">
              <a:rPr lang="zh-CN" altLang="en-US" dirty="0">
                <a:latin typeface="Times New Roman" panose="02020603050405020304" pitchFamily="18" charset="0"/>
              </a:rPr>
              <a:pPr>
                <a:spcBef>
                  <a:spcPct val="50000"/>
                </a:spcBef>
              </a:pPr>
              <a:t>20</a:t>
            </a:fld>
            <a:endParaRPr lang="zh-CN" altLang="en-US" dirty="0">
              <a:latin typeface="Times New Roman" panose="02020603050405020304" pitchFamily="18" charset="0"/>
            </a:endParaRPr>
          </a:p>
        </p:txBody>
      </p:sp>
      <p:sp>
        <p:nvSpPr>
          <p:cNvPr id="5" name="灯片编号占位符 4">
            <a:extLst>
              <a:ext uri="{FF2B5EF4-FFF2-40B4-BE49-F238E27FC236}">
                <a16:creationId xmlns:a16="http://schemas.microsoft.com/office/drawing/2014/main" id="{DFCC4534-A02E-D2F1-7C46-D5B30651C282}"/>
              </a:ext>
            </a:extLst>
          </p:cNvPr>
          <p:cNvSpPr>
            <a:spLocks noGrp="1"/>
          </p:cNvSpPr>
          <p:nvPr>
            <p:ph type="sldNum" sz="quarter" idx="12"/>
          </p:nvPr>
        </p:nvSpPr>
        <p:spPr/>
        <p:txBody>
          <a:bodyPr/>
          <a:lstStyle/>
          <a:p>
            <a:fld id="{D7C0FE0B-717B-41AE-9FA2-CA4BF851D1C3}" type="slidenum">
              <a:rPr lang="zh-CN" altLang="en-US" smtClean="0"/>
              <a:t>20</a:t>
            </a:fld>
            <a:endParaRPr lang="zh-CN" altLang="en-US"/>
          </a:p>
        </p:txBody>
      </p:sp>
    </p:spTree>
    <p:extLst>
      <p:ext uri="{BB962C8B-B14F-4D97-AF65-F5344CB8AC3E}">
        <p14:creationId xmlns:p14="http://schemas.microsoft.com/office/powerpoint/2010/main" val="4111607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29025">
            <a:extLst>
              <a:ext uri="{FF2B5EF4-FFF2-40B4-BE49-F238E27FC236}">
                <a16:creationId xmlns:a16="http://schemas.microsoft.com/office/drawing/2014/main" id="{9F8C3645-C407-B94C-0672-1E969EC8539C}"/>
              </a:ext>
            </a:extLst>
          </p:cNvPr>
          <p:cNvSpPr txBox="1">
            <a:spLocks/>
          </p:cNvSpPr>
          <p:nvPr/>
        </p:nvSpPr>
        <p:spPr>
          <a:xfrm>
            <a:off x="1497152" y="296861"/>
            <a:ext cx="1909343" cy="527520"/>
          </a:xfrm>
          <a:prstGeom prst="rect">
            <a:avLst/>
          </a:prstGeom>
        </p:spPr>
        <p:txBody>
          <a:bodyPr vert="horz" lIns="91440" tIns="45720" rIns="91440" bIns="45720" rtlCol="0" anchor="ctr" anchorCtr="0">
            <a:normAutofit lnSpcReduction="10000"/>
          </a:bodyPr>
          <a:lstStyle>
            <a:defPPr>
              <a:defRPr lang="zh-CN"/>
            </a:defPPr>
            <a:lvl1pPr>
              <a:lnSpc>
                <a:spcPct val="90000"/>
              </a:lnSpc>
              <a:spcBef>
                <a:spcPct val="0"/>
              </a:spcBef>
              <a:buNone/>
              <a:defRPr sz="3200">
                <a:solidFill>
                  <a:srgbClr val="000099"/>
                </a:solidFill>
                <a:effectLst>
                  <a:outerShdw blurRad="38100" dist="38100" dir="2700000" algn="tl">
                    <a:srgbClr val="000000">
                      <a:alpha val="43137"/>
                    </a:srgbClr>
                  </a:outerShdw>
                </a:effectLst>
                <a:latin typeface="+mj-lt"/>
                <a:ea typeface="+mj-ea"/>
                <a:cs typeface="+mj-cs"/>
              </a:defRPr>
            </a:lvl1pPr>
          </a:lstStyle>
          <a:p>
            <a:r>
              <a:rPr lang="zh-CN" altLang="en-US" dirty="0"/>
              <a:t>功能抽象</a:t>
            </a:r>
          </a:p>
        </p:txBody>
      </p:sp>
      <p:sp>
        <p:nvSpPr>
          <p:cNvPr id="3" name="文本占位符 129026">
            <a:extLst>
              <a:ext uri="{FF2B5EF4-FFF2-40B4-BE49-F238E27FC236}">
                <a16:creationId xmlns:a16="http://schemas.microsoft.com/office/drawing/2014/main" id="{5FF92DB0-4AA9-9F2A-4EBC-0DDD6089FC81}"/>
              </a:ext>
            </a:extLst>
          </p:cNvPr>
          <p:cNvSpPr txBox="1">
            <a:spLocks/>
          </p:cNvSpPr>
          <p:nvPr/>
        </p:nvSpPr>
        <p:spPr>
          <a:xfrm>
            <a:off x="1409561" y="1008854"/>
            <a:ext cx="8461375" cy="208020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zh-CN" altLang="en-US" dirty="0">
                <a:solidFill>
                  <a:srgbClr val="CC0000"/>
                </a:solidFill>
                <a:effectLst>
                  <a:outerShdw blurRad="38100" dist="38100" dir="2700000">
                    <a:srgbClr val="000000"/>
                  </a:outerShdw>
                </a:effectLst>
                <a:ea typeface="华文琥珀" pitchFamily="2" charset="-122"/>
              </a:rPr>
              <a:t>例</a:t>
            </a:r>
            <a:r>
              <a:rPr lang="zh-CN" altLang="en-US" dirty="0"/>
              <a:t>  </a:t>
            </a:r>
            <a:r>
              <a:rPr lang="zh-CN" altLang="en-US" sz="2400" b="1" dirty="0">
                <a:solidFill>
                  <a:srgbClr val="003300"/>
                </a:solidFill>
              </a:rPr>
              <a:t>移动子数组。</a:t>
            </a:r>
          </a:p>
          <a:p>
            <a:pPr>
              <a:buFont typeface="Wingdings" panose="05000000000000000000" pitchFamily="2" charset="2"/>
              <a:buChar char="u"/>
            </a:pPr>
            <a:r>
              <a:rPr lang="zh-CN" altLang="en-US" sz="2400" b="1" dirty="0">
                <a:solidFill>
                  <a:srgbClr val="003300"/>
                </a:solidFill>
              </a:rPr>
              <a:t>一维数组</a:t>
            </a:r>
            <a:r>
              <a:rPr lang="en-US" altLang="zh-CN" sz="2400" b="1" dirty="0">
                <a:solidFill>
                  <a:srgbClr val="003300"/>
                </a:solidFill>
                <a:latin typeface="Times New Roman" panose="02020603050405020304" pitchFamily="18" charset="0"/>
              </a:rPr>
              <a:t>——</a:t>
            </a:r>
            <a:endParaRPr lang="en-US" altLang="zh-CN" sz="2400" b="1" dirty="0">
              <a:solidFill>
                <a:srgbClr val="003300"/>
              </a:solidFill>
            </a:endParaRPr>
          </a:p>
          <a:p>
            <a:pPr>
              <a:buFont typeface="Arial" panose="020B0604020202020204" pitchFamily="34" charset="0"/>
              <a:buNone/>
            </a:pPr>
            <a:endParaRPr lang="en-US" altLang="zh-CN" b="1" dirty="0">
              <a:solidFill>
                <a:srgbClr val="003300"/>
              </a:solidFill>
            </a:endParaRPr>
          </a:p>
          <a:p>
            <a:pPr>
              <a:buFont typeface="Arial" panose="020B0604020202020204" pitchFamily="34" charset="0"/>
              <a:buNone/>
            </a:pPr>
            <a:r>
              <a:rPr lang="en-US" altLang="zh-CN" b="1" dirty="0">
                <a:solidFill>
                  <a:srgbClr val="003300"/>
                </a:solidFill>
              </a:rPr>
              <a:t>    int  move(char *a,  int n,  int </a:t>
            </a:r>
            <a:r>
              <a:rPr lang="en-US" altLang="zh-CN" b="1" dirty="0" err="1">
                <a:solidFill>
                  <a:srgbClr val="003300"/>
                </a:solidFill>
              </a:rPr>
              <a:t>i</a:t>
            </a:r>
            <a:r>
              <a:rPr lang="en-US" altLang="zh-CN" b="1" dirty="0">
                <a:solidFill>
                  <a:srgbClr val="003300"/>
                </a:solidFill>
              </a:rPr>
              <a:t>,  int m,  int j)</a:t>
            </a:r>
          </a:p>
        </p:txBody>
      </p:sp>
      <p:grpSp>
        <p:nvGrpSpPr>
          <p:cNvPr id="5" name="组合 4">
            <a:extLst>
              <a:ext uri="{FF2B5EF4-FFF2-40B4-BE49-F238E27FC236}">
                <a16:creationId xmlns:a16="http://schemas.microsoft.com/office/drawing/2014/main" id="{767F750C-0188-6787-C362-803BDBF6F041}"/>
              </a:ext>
            </a:extLst>
          </p:cNvPr>
          <p:cNvGrpSpPr/>
          <p:nvPr/>
        </p:nvGrpSpPr>
        <p:grpSpPr>
          <a:xfrm>
            <a:off x="4721086" y="1693065"/>
            <a:ext cx="4860925" cy="647700"/>
            <a:chOff x="2381" y="1457"/>
            <a:chExt cx="3062" cy="408"/>
          </a:xfrm>
        </p:grpSpPr>
        <p:sp>
          <p:nvSpPr>
            <p:cNvPr id="6" name="立方体 5">
              <a:extLst>
                <a:ext uri="{FF2B5EF4-FFF2-40B4-BE49-F238E27FC236}">
                  <a16:creationId xmlns:a16="http://schemas.microsoft.com/office/drawing/2014/main" id="{13BF7B63-4A4D-97D7-8DC8-A9EF0F8A409D}"/>
                </a:ext>
              </a:extLst>
            </p:cNvPr>
            <p:cNvSpPr/>
            <p:nvPr/>
          </p:nvSpPr>
          <p:spPr>
            <a:xfrm>
              <a:off x="2381"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7" name="立方体 6">
              <a:extLst>
                <a:ext uri="{FF2B5EF4-FFF2-40B4-BE49-F238E27FC236}">
                  <a16:creationId xmlns:a16="http://schemas.microsoft.com/office/drawing/2014/main" id="{6F67E68F-DE43-FC94-46DF-41724926F2A8}"/>
                </a:ext>
              </a:extLst>
            </p:cNvPr>
            <p:cNvSpPr/>
            <p:nvPr/>
          </p:nvSpPr>
          <p:spPr>
            <a:xfrm>
              <a:off x="2631"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8" name="立方体 7">
              <a:extLst>
                <a:ext uri="{FF2B5EF4-FFF2-40B4-BE49-F238E27FC236}">
                  <a16:creationId xmlns:a16="http://schemas.microsoft.com/office/drawing/2014/main" id="{81C22F16-0AA5-3CB0-9C92-9C14F0008C96}"/>
                </a:ext>
              </a:extLst>
            </p:cNvPr>
            <p:cNvSpPr/>
            <p:nvPr/>
          </p:nvSpPr>
          <p:spPr>
            <a:xfrm>
              <a:off x="2880"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9" name="立方体 8">
              <a:extLst>
                <a:ext uri="{FF2B5EF4-FFF2-40B4-BE49-F238E27FC236}">
                  <a16:creationId xmlns:a16="http://schemas.microsoft.com/office/drawing/2014/main" id="{167212F5-C679-7530-C665-36E599BF6817}"/>
                </a:ext>
              </a:extLst>
            </p:cNvPr>
            <p:cNvSpPr/>
            <p:nvPr/>
          </p:nvSpPr>
          <p:spPr>
            <a:xfrm>
              <a:off x="3129"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10" name="立方体 9">
              <a:extLst>
                <a:ext uri="{FF2B5EF4-FFF2-40B4-BE49-F238E27FC236}">
                  <a16:creationId xmlns:a16="http://schemas.microsoft.com/office/drawing/2014/main" id="{DA211068-C726-942A-CC91-5DB560A523F1}"/>
                </a:ext>
              </a:extLst>
            </p:cNvPr>
            <p:cNvSpPr/>
            <p:nvPr/>
          </p:nvSpPr>
          <p:spPr>
            <a:xfrm>
              <a:off x="3378"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11" name="立方体 10">
              <a:extLst>
                <a:ext uri="{FF2B5EF4-FFF2-40B4-BE49-F238E27FC236}">
                  <a16:creationId xmlns:a16="http://schemas.microsoft.com/office/drawing/2014/main" id="{832DF5D6-B52F-B566-586E-4A4C8CACD3D8}"/>
                </a:ext>
              </a:extLst>
            </p:cNvPr>
            <p:cNvSpPr/>
            <p:nvPr/>
          </p:nvSpPr>
          <p:spPr>
            <a:xfrm>
              <a:off x="3629"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12" name="立方体 11">
              <a:extLst>
                <a:ext uri="{FF2B5EF4-FFF2-40B4-BE49-F238E27FC236}">
                  <a16:creationId xmlns:a16="http://schemas.microsoft.com/office/drawing/2014/main" id="{BC6A371C-2280-FC9F-747A-7C1CB530599D}"/>
                </a:ext>
              </a:extLst>
            </p:cNvPr>
            <p:cNvSpPr/>
            <p:nvPr/>
          </p:nvSpPr>
          <p:spPr>
            <a:xfrm>
              <a:off x="3879"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13" name="立方体 12">
              <a:extLst>
                <a:ext uri="{FF2B5EF4-FFF2-40B4-BE49-F238E27FC236}">
                  <a16:creationId xmlns:a16="http://schemas.microsoft.com/office/drawing/2014/main" id="{0E82138B-572F-AE5F-9751-AFDAB789ABE7}"/>
                </a:ext>
              </a:extLst>
            </p:cNvPr>
            <p:cNvSpPr/>
            <p:nvPr/>
          </p:nvSpPr>
          <p:spPr>
            <a:xfrm>
              <a:off x="4128"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14" name="立方体 13">
              <a:extLst>
                <a:ext uri="{FF2B5EF4-FFF2-40B4-BE49-F238E27FC236}">
                  <a16:creationId xmlns:a16="http://schemas.microsoft.com/office/drawing/2014/main" id="{17A34784-8488-C4A9-140D-BAC5A67777AA}"/>
                </a:ext>
              </a:extLst>
            </p:cNvPr>
            <p:cNvSpPr/>
            <p:nvPr/>
          </p:nvSpPr>
          <p:spPr>
            <a:xfrm>
              <a:off x="4377"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15" name="立方体 14">
              <a:extLst>
                <a:ext uri="{FF2B5EF4-FFF2-40B4-BE49-F238E27FC236}">
                  <a16:creationId xmlns:a16="http://schemas.microsoft.com/office/drawing/2014/main" id="{9C5F15BE-109E-B45D-408D-F1D80064F20B}"/>
                </a:ext>
              </a:extLst>
            </p:cNvPr>
            <p:cNvSpPr/>
            <p:nvPr/>
          </p:nvSpPr>
          <p:spPr>
            <a:xfrm>
              <a:off x="4626"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16" name="立方体 15">
              <a:extLst>
                <a:ext uri="{FF2B5EF4-FFF2-40B4-BE49-F238E27FC236}">
                  <a16:creationId xmlns:a16="http://schemas.microsoft.com/office/drawing/2014/main" id="{274C2463-445F-E383-80C4-75DD1405626A}"/>
                </a:ext>
              </a:extLst>
            </p:cNvPr>
            <p:cNvSpPr/>
            <p:nvPr/>
          </p:nvSpPr>
          <p:spPr>
            <a:xfrm>
              <a:off x="4876"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17" name="立方体 16">
              <a:extLst>
                <a:ext uri="{FF2B5EF4-FFF2-40B4-BE49-F238E27FC236}">
                  <a16:creationId xmlns:a16="http://schemas.microsoft.com/office/drawing/2014/main" id="{72C30D42-43FE-A9AC-16F6-4E6E2964F937}"/>
                </a:ext>
              </a:extLst>
            </p:cNvPr>
            <p:cNvSpPr/>
            <p:nvPr/>
          </p:nvSpPr>
          <p:spPr>
            <a:xfrm>
              <a:off x="5125"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grpSp>
      <p:grpSp>
        <p:nvGrpSpPr>
          <p:cNvPr id="18" name="组合 17">
            <a:extLst>
              <a:ext uri="{FF2B5EF4-FFF2-40B4-BE49-F238E27FC236}">
                <a16:creationId xmlns:a16="http://schemas.microsoft.com/office/drawing/2014/main" id="{D4D16673-A287-95EB-0236-6D85835386EB}"/>
              </a:ext>
            </a:extLst>
          </p:cNvPr>
          <p:cNvGrpSpPr/>
          <p:nvPr/>
        </p:nvGrpSpPr>
        <p:grpSpPr>
          <a:xfrm>
            <a:off x="6305411" y="1693065"/>
            <a:ext cx="1692275" cy="647700"/>
            <a:chOff x="3107" y="2183"/>
            <a:chExt cx="1066" cy="408"/>
          </a:xfrm>
        </p:grpSpPr>
        <p:sp>
          <p:nvSpPr>
            <p:cNvPr id="19" name="立方体 18">
              <a:extLst>
                <a:ext uri="{FF2B5EF4-FFF2-40B4-BE49-F238E27FC236}">
                  <a16:creationId xmlns:a16="http://schemas.microsoft.com/office/drawing/2014/main" id="{EB0AF336-06D0-EAA9-56A9-7B00737C113C}"/>
                </a:ext>
              </a:extLst>
            </p:cNvPr>
            <p:cNvSpPr/>
            <p:nvPr/>
          </p:nvSpPr>
          <p:spPr>
            <a:xfrm>
              <a:off x="3107" y="2183"/>
              <a:ext cx="318" cy="408"/>
            </a:xfrm>
            <a:prstGeom prst="cube">
              <a:avLst>
                <a:gd name="adj" fmla="val 25000"/>
              </a:avLst>
            </a:prstGeom>
            <a:solidFill>
              <a:srgbClr val="660066"/>
            </a:solidFill>
            <a:ln w="9525" cap="flat" cmpd="sng">
              <a:solidFill>
                <a:srgbClr val="CC0000"/>
              </a:solidFill>
              <a:prstDash val="solid"/>
              <a:miter/>
              <a:headEnd type="none" w="med" len="med"/>
              <a:tailEnd type="none" w="med" len="med"/>
            </a:ln>
          </p:spPr>
          <p:txBody>
            <a:bodyPr/>
            <a:lstStyle/>
            <a:p>
              <a:endParaRPr lang="zh-CN" altLang="en-US"/>
            </a:p>
          </p:txBody>
        </p:sp>
        <p:sp>
          <p:nvSpPr>
            <p:cNvPr id="20" name="立方体 19">
              <a:extLst>
                <a:ext uri="{FF2B5EF4-FFF2-40B4-BE49-F238E27FC236}">
                  <a16:creationId xmlns:a16="http://schemas.microsoft.com/office/drawing/2014/main" id="{B48B43C9-ACF2-29ED-7D0C-2E5A104F641D}"/>
                </a:ext>
              </a:extLst>
            </p:cNvPr>
            <p:cNvSpPr/>
            <p:nvPr/>
          </p:nvSpPr>
          <p:spPr>
            <a:xfrm>
              <a:off x="3356" y="2183"/>
              <a:ext cx="318" cy="408"/>
            </a:xfrm>
            <a:prstGeom prst="cube">
              <a:avLst>
                <a:gd name="adj" fmla="val 25000"/>
              </a:avLst>
            </a:prstGeom>
            <a:solidFill>
              <a:srgbClr val="660066"/>
            </a:solidFill>
            <a:ln w="9525" cap="flat" cmpd="sng">
              <a:solidFill>
                <a:srgbClr val="CC0000"/>
              </a:solidFill>
              <a:prstDash val="solid"/>
              <a:miter/>
              <a:headEnd type="none" w="med" len="med"/>
              <a:tailEnd type="none" w="med" len="med"/>
            </a:ln>
          </p:spPr>
          <p:txBody>
            <a:bodyPr/>
            <a:lstStyle/>
            <a:p>
              <a:endParaRPr lang="zh-CN" altLang="en-US"/>
            </a:p>
          </p:txBody>
        </p:sp>
        <p:sp>
          <p:nvSpPr>
            <p:cNvPr id="21" name="立方体 20">
              <a:extLst>
                <a:ext uri="{FF2B5EF4-FFF2-40B4-BE49-F238E27FC236}">
                  <a16:creationId xmlns:a16="http://schemas.microsoft.com/office/drawing/2014/main" id="{F2B82ED5-C899-136B-EC7C-B2A7A7A3C386}"/>
                </a:ext>
              </a:extLst>
            </p:cNvPr>
            <p:cNvSpPr/>
            <p:nvPr/>
          </p:nvSpPr>
          <p:spPr>
            <a:xfrm>
              <a:off x="3606" y="2183"/>
              <a:ext cx="318" cy="408"/>
            </a:xfrm>
            <a:prstGeom prst="cube">
              <a:avLst>
                <a:gd name="adj" fmla="val 25000"/>
              </a:avLst>
            </a:prstGeom>
            <a:solidFill>
              <a:srgbClr val="660066"/>
            </a:solidFill>
            <a:ln w="9525" cap="flat" cmpd="sng">
              <a:solidFill>
                <a:srgbClr val="CC0000"/>
              </a:solidFill>
              <a:prstDash val="solid"/>
              <a:miter/>
              <a:headEnd type="none" w="med" len="med"/>
              <a:tailEnd type="none" w="med" len="med"/>
            </a:ln>
          </p:spPr>
          <p:txBody>
            <a:bodyPr/>
            <a:lstStyle/>
            <a:p>
              <a:endParaRPr lang="zh-CN" altLang="en-US"/>
            </a:p>
          </p:txBody>
        </p:sp>
        <p:sp>
          <p:nvSpPr>
            <p:cNvPr id="22" name="立方体 21">
              <a:extLst>
                <a:ext uri="{FF2B5EF4-FFF2-40B4-BE49-F238E27FC236}">
                  <a16:creationId xmlns:a16="http://schemas.microsoft.com/office/drawing/2014/main" id="{3A7F022E-BA5E-9AE7-883B-3FFF901E0205}"/>
                </a:ext>
              </a:extLst>
            </p:cNvPr>
            <p:cNvSpPr/>
            <p:nvPr/>
          </p:nvSpPr>
          <p:spPr>
            <a:xfrm>
              <a:off x="3855" y="2183"/>
              <a:ext cx="318" cy="408"/>
            </a:xfrm>
            <a:prstGeom prst="cube">
              <a:avLst>
                <a:gd name="adj" fmla="val 25000"/>
              </a:avLst>
            </a:prstGeom>
            <a:solidFill>
              <a:srgbClr val="660066"/>
            </a:solidFill>
            <a:ln w="9525" cap="flat" cmpd="sng">
              <a:solidFill>
                <a:srgbClr val="CC0000"/>
              </a:solidFill>
              <a:prstDash val="solid"/>
              <a:miter/>
              <a:headEnd type="none" w="med" len="med"/>
              <a:tailEnd type="none" w="med" len="med"/>
            </a:ln>
          </p:spPr>
          <p:txBody>
            <a:bodyPr/>
            <a:lstStyle/>
            <a:p>
              <a:endParaRPr lang="zh-CN" altLang="en-US"/>
            </a:p>
          </p:txBody>
        </p:sp>
      </p:grpSp>
      <p:sp>
        <p:nvSpPr>
          <p:cNvPr id="23" name="直接连接符 22">
            <a:extLst>
              <a:ext uri="{FF2B5EF4-FFF2-40B4-BE49-F238E27FC236}">
                <a16:creationId xmlns:a16="http://schemas.microsoft.com/office/drawing/2014/main" id="{3BC4BE5A-AEE4-0C42-128F-E4B515CA6AD6}"/>
              </a:ext>
            </a:extLst>
          </p:cNvPr>
          <p:cNvSpPr/>
          <p:nvPr/>
        </p:nvSpPr>
        <p:spPr>
          <a:xfrm flipH="1">
            <a:off x="5117961" y="2521740"/>
            <a:ext cx="1546225" cy="0"/>
          </a:xfrm>
          <a:prstGeom prst="line">
            <a:avLst/>
          </a:prstGeom>
          <a:ln w="38100" cap="flat" cmpd="sng">
            <a:solidFill>
              <a:srgbClr val="333399"/>
            </a:solidFill>
            <a:prstDash val="solid"/>
            <a:headEnd type="none" w="med" len="med"/>
            <a:tailEnd type="triangle" w="lg" len="lg"/>
          </a:ln>
        </p:spPr>
      </p:sp>
      <p:sp>
        <p:nvSpPr>
          <p:cNvPr id="24" name="直接连接符 23">
            <a:extLst>
              <a:ext uri="{FF2B5EF4-FFF2-40B4-BE49-F238E27FC236}">
                <a16:creationId xmlns:a16="http://schemas.microsoft.com/office/drawing/2014/main" id="{77345725-C13A-4ACE-7C42-B863CD80773F}"/>
              </a:ext>
            </a:extLst>
          </p:cNvPr>
          <p:cNvSpPr/>
          <p:nvPr/>
        </p:nvSpPr>
        <p:spPr>
          <a:xfrm>
            <a:off x="7134085" y="2521740"/>
            <a:ext cx="1547812" cy="0"/>
          </a:xfrm>
          <a:prstGeom prst="line">
            <a:avLst/>
          </a:prstGeom>
          <a:ln w="38100" cap="flat" cmpd="sng">
            <a:solidFill>
              <a:srgbClr val="333399"/>
            </a:solidFill>
            <a:prstDash val="solid"/>
            <a:headEnd type="none" w="med" len="med"/>
            <a:tailEnd type="triangle" w="lg" len="lg"/>
          </a:ln>
        </p:spPr>
      </p:sp>
      <p:sp>
        <p:nvSpPr>
          <p:cNvPr id="25" name="文本框 24">
            <a:extLst>
              <a:ext uri="{FF2B5EF4-FFF2-40B4-BE49-F238E27FC236}">
                <a16:creationId xmlns:a16="http://schemas.microsoft.com/office/drawing/2014/main" id="{2D3F67FE-CC70-175B-60DD-5FC04C6E3F4D}"/>
              </a:ext>
            </a:extLst>
          </p:cNvPr>
          <p:cNvSpPr txBox="1"/>
          <p:nvPr/>
        </p:nvSpPr>
        <p:spPr>
          <a:xfrm>
            <a:off x="4765535" y="742154"/>
            <a:ext cx="387350" cy="579437"/>
          </a:xfrm>
          <a:prstGeom prst="rect">
            <a:avLst/>
          </a:prstGeom>
          <a:noFill/>
          <a:ln w="9525">
            <a:noFill/>
          </a:ln>
        </p:spPr>
        <p:txBody>
          <a:bodyPr wrap="none" anchor="t" anchorCtr="0">
            <a:spAutoFit/>
          </a:bodyPr>
          <a:lstStyle/>
          <a:p>
            <a:r>
              <a:rPr lang="en-US" altLang="zh-CN" sz="3200" b="1">
                <a:solidFill>
                  <a:srgbClr val="003300"/>
                </a:solidFill>
              </a:rPr>
              <a:t>a</a:t>
            </a:r>
          </a:p>
        </p:txBody>
      </p:sp>
      <p:sp>
        <p:nvSpPr>
          <p:cNvPr id="26" name="直接连接符 25">
            <a:extLst>
              <a:ext uri="{FF2B5EF4-FFF2-40B4-BE49-F238E27FC236}">
                <a16:creationId xmlns:a16="http://schemas.microsoft.com/office/drawing/2014/main" id="{4252F355-8114-0A54-DD42-DE2F49495C8D}"/>
              </a:ext>
            </a:extLst>
          </p:cNvPr>
          <p:cNvSpPr/>
          <p:nvPr/>
        </p:nvSpPr>
        <p:spPr>
          <a:xfrm>
            <a:off x="4936985" y="1224753"/>
            <a:ext cx="0" cy="468312"/>
          </a:xfrm>
          <a:prstGeom prst="line">
            <a:avLst/>
          </a:prstGeom>
          <a:ln w="38100" cap="flat" cmpd="sng">
            <a:solidFill>
              <a:schemeClr val="tx1"/>
            </a:solidFill>
            <a:prstDash val="solid"/>
            <a:headEnd type="none" w="med" len="med"/>
            <a:tailEnd type="triangle" w="med" len="lg"/>
          </a:ln>
        </p:spPr>
      </p:sp>
      <p:sp>
        <p:nvSpPr>
          <p:cNvPr id="27" name="文本框 26">
            <a:extLst>
              <a:ext uri="{FF2B5EF4-FFF2-40B4-BE49-F238E27FC236}">
                <a16:creationId xmlns:a16="http://schemas.microsoft.com/office/drawing/2014/main" id="{3BAE634B-7228-9ADC-C715-B5FCB50E0F9D}"/>
              </a:ext>
            </a:extLst>
          </p:cNvPr>
          <p:cNvSpPr txBox="1"/>
          <p:nvPr/>
        </p:nvSpPr>
        <p:spPr>
          <a:xfrm>
            <a:off x="6376848" y="1185065"/>
            <a:ext cx="296863" cy="579438"/>
          </a:xfrm>
          <a:prstGeom prst="rect">
            <a:avLst/>
          </a:prstGeom>
          <a:noFill/>
          <a:ln w="9525">
            <a:noFill/>
          </a:ln>
        </p:spPr>
        <p:txBody>
          <a:bodyPr wrap="none" anchor="t" anchorCtr="0">
            <a:spAutoFit/>
          </a:bodyPr>
          <a:lstStyle/>
          <a:p>
            <a:r>
              <a:rPr lang="en-US" altLang="zh-CN" sz="3200" b="1">
                <a:solidFill>
                  <a:srgbClr val="003300"/>
                </a:solidFill>
              </a:rPr>
              <a:t>i</a:t>
            </a:r>
          </a:p>
        </p:txBody>
      </p:sp>
      <p:sp>
        <p:nvSpPr>
          <p:cNvPr id="28" name="文本框 27">
            <a:extLst>
              <a:ext uri="{FF2B5EF4-FFF2-40B4-BE49-F238E27FC236}">
                <a16:creationId xmlns:a16="http://schemas.microsoft.com/office/drawing/2014/main" id="{DAB61DE7-45A5-6041-AA7D-C969737F4391}"/>
              </a:ext>
            </a:extLst>
          </p:cNvPr>
          <p:cNvSpPr txBox="1"/>
          <p:nvPr/>
        </p:nvSpPr>
        <p:spPr>
          <a:xfrm>
            <a:off x="5260836" y="1116804"/>
            <a:ext cx="319087" cy="579437"/>
          </a:xfrm>
          <a:prstGeom prst="rect">
            <a:avLst/>
          </a:prstGeom>
          <a:noFill/>
          <a:ln w="9525">
            <a:noFill/>
          </a:ln>
        </p:spPr>
        <p:txBody>
          <a:bodyPr wrap="none" anchor="t" anchorCtr="0">
            <a:spAutoFit/>
          </a:bodyPr>
          <a:lstStyle/>
          <a:p>
            <a:r>
              <a:rPr lang="en-US" altLang="zh-CN" sz="3200" b="1">
                <a:solidFill>
                  <a:srgbClr val="003300"/>
                </a:solidFill>
              </a:rPr>
              <a:t>j</a:t>
            </a:r>
          </a:p>
        </p:txBody>
      </p:sp>
      <p:sp>
        <p:nvSpPr>
          <p:cNvPr id="29" name="文本框 28">
            <a:extLst>
              <a:ext uri="{FF2B5EF4-FFF2-40B4-BE49-F238E27FC236}">
                <a16:creationId xmlns:a16="http://schemas.microsoft.com/office/drawing/2014/main" id="{0FB9425F-BCCD-52E8-0E5C-5FEB730A008D}"/>
              </a:ext>
            </a:extLst>
          </p:cNvPr>
          <p:cNvSpPr txBox="1"/>
          <p:nvPr/>
        </p:nvSpPr>
        <p:spPr>
          <a:xfrm>
            <a:off x="9042260" y="1185065"/>
            <a:ext cx="747712" cy="579438"/>
          </a:xfrm>
          <a:prstGeom prst="rect">
            <a:avLst/>
          </a:prstGeom>
          <a:noFill/>
          <a:ln w="9525">
            <a:noFill/>
          </a:ln>
        </p:spPr>
        <p:txBody>
          <a:bodyPr wrap="none" anchor="t" anchorCtr="0">
            <a:spAutoFit/>
          </a:bodyPr>
          <a:lstStyle/>
          <a:p>
            <a:r>
              <a:rPr lang="en-US" altLang="zh-CN" sz="3200" b="1">
                <a:solidFill>
                  <a:srgbClr val="003300"/>
                </a:solidFill>
              </a:rPr>
              <a:t>n-1</a:t>
            </a:r>
          </a:p>
        </p:txBody>
      </p:sp>
      <p:sp>
        <p:nvSpPr>
          <p:cNvPr id="30" name="右大括号 29">
            <a:extLst>
              <a:ext uri="{FF2B5EF4-FFF2-40B4-BE49-F238E27FC236}">
                <a16:creationId xmlns:a16="http://schemas.microsoft.com/office/drawing/2014/main" id="{1FC19A95-253D-ADED-040E-345341C25050}"/>
              </a:ext>
            </a:extLst>
          </p:cNvPr>
          <p:cNvSpPr/>
          <p:nvPr/>
        </p:nvSpPr>
        <p:spPr>
          <a:xfrm rot="-5400000">
            <a:off x="7043597" y="415128"/>
            <a:ext cx="323850" cy="1441450"/>
          </a:xfrm>
          <a:prstGeom prst="rightBrace">
            <a:avLst>
              <a:gd name="adj1" fmla="val 37091"/>
              <a:gd name="adj2" fmla="val 50000"/>
            </a:avLst>
          </a:prstGeom>
          <a:noFill/>
          <a:ln w="28575" cap="flat" cmpd="sng">
            <a:solidFill>
              <a:schemeClr val="tx1"/>
            </a:solidFill>
            <a:prstDash val="solid"/>
            <a:headEnd type="none" w="med" len="med"/>
            <a:tailEnd type="none" w="med" len="med"/>
          </a:ln>
        </p:spPr>
        <p:txBody>
          <a:bodyPr/>
          <a:lstStyle/>
          <a:p>
            <a:endParaRPr lang="zh-CN" altLang="en-US"/>
          </a:p>
        </p:txBody>
      </p:sp>
      <p:sp>
        <p:nvSpPr>
          <p:cNvPr id="31" name="文本框 30">
            <a:extLst>
              <a:ext uri="{FF2B5EF4-FFF2-40B4-BE49-F238E27FC236}">
                <a16:creationId xmlns:a16="http://schemas.microsoft.com/office/drawing/2014/main" id="{1A64909D-DCE6-B1B9-9DCB-867B1335384F}"/>
              </a:ext>
            </a:extLst>
          </p:cNvPr>
          <p:cNvSpPr txBox="1"/>
          <p:nvPr/>
        </p:nvSpPr>
        <p:spPr>
          <a:xfrm>
            <a:off x="6935647" y="465929"/>
            <a:ext cx="522288" cy="579437"/>
          </a:xfrm>
          <a:prstGeom prst="rect">
            <a:avLst/>
          </a:prstGeom>
          <a:noFill/>
          <a:ln w="9525">
            <a:noFill/>
          </a:ln>
        </p:spPr>
        <p:txBody>
          <a:bodyPr wrap="none" anchor="t" anchorCtr="0">
            <a:spAutoFit/>
          </a:bodyPr>
          <a:lstStyle/>
          <a:p>
            <a:r>
              <a:rPr lang="en-US" altLang="zh-CN" sz="3200" b="1">
                <a:solidFill>
                  <a:srgbClr val="003300"/>
                </a:solidFill>
              </a:rPr>
              <a:t>m</a:t>
            </a:r>
          </a:p>
        </p:txBody>
      </p:sp>
      <p:sp>
        <p:nvSpPr>
          <p:cNvPr id="32" name="文本框 31">
            <a:extLst>
              <a:ext uri="{FF2B5EF4-FFF2-40B4-BE49-F238E27FC236}">
                <a16:creationId xmlns:a16="http://schemas.microsoft.com/office/drawing/2014/main" id="{D3E528DD-FE1F-5773-337D-36E0F6E7063E}"/>
              </a:ext>
            </a:extLst>
          </p:cNvPr>
          <p:cNvSpPr txBox="1"/>
          <p:nvPr/>
        </p:nvSpPr>
        <p:spPr>
          <a:xfrm>
            <a:off x="8465997" y="1113629"/>
            <a:ext cx="319088" cy="579437"/>
          </a:xfrm>
          <a:prstGeom prst="rect">
            <a:avLst/>
          </a:prstGeom>
          <a:noFill/>
          <a:ln w="9525">
            <a:noFill/>
          </a:ln>
        </p:spPr>
        <p:txBody>
          <a:bodyPr>
            <a:spAutoFit/>
          </a:bodyPr>
          <a:lstStyle/>
          <a:p>
            <a:r>
              <a:rPr lang="en-US" altLang="zh-CN" sz="3200" b="1">
                <a:solidFill>
                  <a:srgbClr val="003300"/>
                </a:solidFill>
              </a:rPr>
              <a:t>j</a:t>
            </a:r>
          </a:p>
        </p:txBody>
      </p:sp>
      <p:sp>
        <p:nvSpPr>
          <p:cNvPr id="33" name="矩形 32">
            <a:extLst>
              <a:ext uri="{FF2B5EF4-FFF2-40B4-BE49-F238E27FC236}">
                <a16:creationId xmlns:a16="http://schemas.microsoft.com/office/drawing/2014/main" id="{926505B2-53D7-F34E-0C2C-B6795BFBE963}"/>
              </a:ext>
            </a:extLst>
          </p:cNvPr>
          <p:cNvSpPr/>
          <p:nvPr/>
        </p:nvSpPr>
        <p:spPr>
          <a:xfrm>
            <a:off x="1405687" y="3520863"/>
            <a:ext cx="3241675" cy="670968"/>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bg2"/>
              </a:buClr>
              <a:buFont typeface="Monotype Sorts" pitchFamily="2" charset="2"/>
              <a:buChar char="§"/>
              <a:defRPr sz="32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bg2"/>
              </a:buClr>
              <a:buSzPct val="50000"/>
              <a:buFont typeface="Monotype Sorts" pitchFamily="2" charset="2"/>
              <a:buChar char="l"/>
              <a:defRPr sz="28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SzTx/>
              <a:buFontTx/>
              <a:buChar char="•"/>
              <a:defRPr sz="24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SzTx/>
              <a:buFontTx/>
              <a:buChar char="–"/>
              <a:defRPr sz="20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SzTx/>
              <a:buFontTx/>
              <a:buChar char="»"/>
              <a:defRPr sz="2000" b="0" i="0" u="none" kern="1200" baseline="0">
                <a:solidFill>
                  <a:schemeClr val="tx1"/>
                </a:solidFill>
                <a:latin typeface="Times New Roman" panose="02020603050405020304" pitchFamily="18" charset="0"/>
                <a:ea typeface="宋体" panose="02010600030101010101" pitchFamily="2" charset="-122"/>
              </a:defRPr>
            </a:lvl5pPr>
          </a:lstStyle>
          <a:p>
            <a:pPr lvl="0">
              <a:buClr>
                <a:schemeClr val="tx1"/>
              </a:buClr>
              <a:buFont typeface="Wingdings" panose="05000000000000000000" pitchFamily="2" charset="2"/>
              <a:buChar char="u"/>
            </a:pPr>
            <a:r>
              <a:rPr lang="zh-CN" altLang="en-US" sz="2400" b="1" dirty="0">
                <a:solidFill>
                  <a:srgbClr val="003300"/>
                </a:solidFill>
              </a:rPr>
              <a:t>二维数组</a:t>
            </a:r>
            <a:r>
              <a:rPr lang="en-US" altLang="zh-CN" sz="2400" b="1" dirty="0">
                <a:solidFill>
                  <a:srgbClr val="003300"/>
                </a:solidFill>
              </a:rPr>
              <a:t>——</a:t>
            </a:r>
          </a:p>
        </p:txBody>
      </p:sp>
      <p:grpSp>
        <p:nvGrpSpPr>
          <p:cNvPr id="34" name="组合 33">
            <a:extLst>
              <a:ext uri="{FF2B5EF4-FFF2-40B4-BE49-F238E27FC236}">
                <a16:creationId xmlns:a16="http://schemas.microsoft.com/office/drawing/2014/main" id="{9AC311B0-850E-10C3-8DAA-C148CA1A97B4}"/>
              </a:ext>
            </a:extLst>
          </p:cNvPr>
          <p:cNvGrpSpPr/>
          <p:nvPr/>
        </p:nvGrpSpPr>
        <p:grpSpPr>
          <a:xfrm>
            <a:off x="4753724" y="3484348"/>
            <a:ext cx="4860925" cy="2889250"/>
            <a:chOff x="2404" y="2500"/>
            <a:chExt cx="3062" cy="1820"/>
          </a:xfrm>
        </p:grpSpPr>
        <p:grpSp>
          <p:nvGrpSpPr>
            <p:cNvPr id="35" name="组合 34">
              <a:extLst>
                <a:ext uri="{FF2B5EF4-FFF2-40B4-BE49-F238E27FC236}">
                  <a16:creationId xmlns:a16="http://schemas.microsoft.com/office/drawing/2014/main" id="{D4A2141C-7F4F-3300-C70F-573D393A5ACB}"/>
                </a:ext>
              </a:extLst>
            </p:cNvPr>
            <p:cNvGrpSpPr/>
            <p:nvPr/>
          </p:nvGrpSpPr>
          <p:grpSpPr>
            <a:xfrm>
              <a:off x="2404" y="4002"/>
              <a:ext cx="3062" cy="318"/>
              <a:chOff x="2381" y="1457"/>
              <a:chExt cx="3062" cy="408"/>
            </a:xfrm>
          </p:grpSpPr>
          <p:sp>
            <p:nvSpPr>
              <p:cNvPr id="114" name="立方体 113">
                <a:extLst>
                  <a:ext uri="{FF2B5EF4-FFF2-40B4-BE49-F238E27FC236}">
                    <a16:creationId xmlns:a16="http://schemas.microsoft.com/office/drawing/2014/main" id="{F827A12E-D2EC-A9A7-42FA-2E031ADF5CA7}"/>
                  </a:ext>
                </a:extLst>
              </p:cNvPr>
              <p:cNvSpPr/>
              <p:nvPr/>
            </p:nvSpPr>
            <p:spPr>
              <a:xfrm>
                <a:off x="2381"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115" name="立方体 114">
                <a:extLst>
                  <a:ext uri="{FF2B5EF4-FFF2-40B4-BE49-F238E27FC236}">
                    <a16:creationId xmlns:a16="http://schemas.microsoft.com/office/drawing/2014/main" id="{C76E5830-3E1C-0BC2-DE9B-EE15D24048E9}"/>
                  </a:ext>
                </a:extLst>
              </p:cNvPr>
              <p:cNvSpPr/>
              <p:nvPr/>
            </p:nvSpPr>
            <p:spPr>
              <a:xfrm>
                <a:off x="2631"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116" name="立方体 115">
                <a:extLst>
                  <a:ext uri="{FF2B5EF4-FFF2-40B4-BE49-F238E27FC236}">
                    <a16:creationId xmlns:a16="http://schemas.microsoft.com/office/drawing/2014/main" id="{14BDBA58-BFBA-6370-B9BB-48EE8901CD37}"/>
                  </a:ext>
                </a:extLst>
              </p:cNvPr>
              <p:cNvSpPr/>
              <p:nvPr/>
            </p:nvSpPr>
            <p:spPr>
              <a:xfrm>
                <a:off x="2880"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117" name="立方体 116">
                <a:extLst>
                  <a:ext uri="{FF2B5EF4-FFF2-40B4-BE49-F238E27FC236}">
                    <a16:creationId xmlns:a16="http://schemas.microsoft.com/office/drawing/2014/main" id="{02640812-9A35-6123-BB27-0B73DF90EF22}"/>
                  </a:ext>
                </a:extLst>
              </p:cNvPr>
              <p:cNvSpPr/>
              <p:nvPr/>
            </p:nvSpPr>
            <p:spPr>
              <a:xfrm>
                <a:off x="3129"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118" name="立方体 117">
                <a:extLst>
                  <a:ext uri="{FF2B5EF4-FFF2-40B4-BE49-F238E27FC236}">
                    <a16:creationId xmlns:a16="http://schemas.microsoft.com/office/drawing/2014/main" id="{5E4FA8D0-0148-E20E-9A43-F1BDE407EA50}"/>
                  </a:ext>
                </a:extLst>
              </p:cNvPr>
              <p:cNvSpPr/>
              <p:nvPr/>
            </p:nvSpPr>
            <p:spPr>
              <a:xfrm>
                <a:off x="3378"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119" name="立方体 118">
                <a:extLst>
                  <a:ext uri="{FF2B5EF4-FFF2-40B4-BE49-F238E27FC236}">
                    <a16:creationId xmlns:a16="http://schemas.microsoft.com/office/drawing/2014/main" id="{EAB5C259-EE07-E66B-FE0F-F3F941FE2B27}"/>
                  </a:ext>
                </a:extLst>
              </p:cNvPr>
              <p:cNvSpPr/>
              <p:nvPr/>
            </p:nvSpPr>
            <p:spPr>
              <a:xfrm>
                <a:off x="3629"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120" name="立方体 119">
                <a:extLst>
                  <a:ext uri="{FF2B5EF4-FFF2-40B4-BE49-F238E27FC236}">
                    <a16:creationId xmlns:a16="http://schemas.microsoft.com/office/drawing/2014/main" id="{3660ED80-0966-7CFB-0C00-9E2FBA607CCC}"/>
                  </a:ext>
                </a:extLst>
              </p:cNvPr>
              <p:cNvSpPr/>
              <p:nvPr/>
            </p:nvSpPr>
            <p:spPr>
              <a:xfrm>
                <a:off x="3879"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121" name="立方体 120">
                <a:extLst>
                  <a:ext uri="{FF2B5EF4-FFF2-40B4-BE49-F238E27FC236}">
                    <a16:creationId xmlns:a16="http://schemas.microsoft.com/office/drawing/2014/main" id="{9E66C640-06FF-9E8B-4471-58228EDDDCF5}"/>
                  </a:ext>
                </a:extLst>
              </p:cNvPr>
              <p:cNvSpPr/>
              <p:nvPr/>
            </p:nvSpPr>
            <p:spPr>
              <a:xfrm>
                <a:off x="4128"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122" name="立方体 121">
                <a:extLst>
                  <a:ext uri="{FF2B5EF4-FFF2-40B4-BE49-F238E27FC236}">
                    <a16:creationId xmlns:a16="http://schemas.microsoft.com/office/drawing/2014/main" id="{54F61B5E-B941-7A7E-A1AD-A4F03F3B8EF6}"/>
                  </a:ext>
                </a:extLst>
              </p:cNvPr>
              <p:cNvSpPr/>
              <p:nvPr/>
            </p:nvSpPr>
            <p:spPr>
              <a:xfrm>
                <a:off x="4377"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123" name="立方体 122">
                <a:extLst>
                  <a:ext uri="{FF2B5EF4-FFF2-40B4-BE49-F238E27FC236}">
                    <a16:creationId xmlns:a16="http://schemas.microsoft.com/office/drawing/2014/main" id="{2B4DF449-1D4F-3D79-5A18-DC2EA7388B71}"/>
                  </a:ext>
                </a:extLst>
              </p:cNvPr>
              <p:cNvSpPr/>
              <p:nvPr/>
            </p:nvSpPr>
            <p:spPr>
              <a:xfrm>
                <a:off x="4626"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124" name="立方体 123">
                <a:extLst>
                  <a:ext uri="{FF2B5EF4-FFF2-40B4-BE49-F238E27FC236}">
                    <a16:creationId xmlns:a16="http://schemas.microsoft.com/office/drawing/2014/main" id="{0E24DBE7-6C3D-4890-ACA0-87B63317156D}"/>
                  </a:ext>
                </a:extLst>
              </p:cNvPr>
              <p:cNvSpPr/>
              <p:nvPr/>
            </p:nvSpPr>
            <p:spPr>
              <a:xfrm>
                <a:off x="4876"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125" name="立方体 124">
                <a:extLst>
                  <a:ext uri="{FF2B5EF4-FFF2-40B4-BE49-F238E27FC236}">
                    <a16:creationId xmlns:a16="http://schemas.microsoft.com/office/drawing/2014/main" id="{B5A7080F-EB78-821B-DE9E-F2776208691C}"/>
                  </a:ext>
                </a:extLst>
              </p:cNvPr>
              <p:cNvSpPr/>
              <p:nvPr/>
            </p:nvSpPr>
            <p:spPr>
              <a:xfrm>
                <a:off x="5125"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grpSp>
        <p:grpSp>
          <p:nvGrpSpPr>
            <p:cNvPr id="36" name="组合 35">
              <a:extLst>
                <a:ext uri="{FF2B5EF4-FFF2-40B4-BE49-F238E27FC236}">
                  <a16:creationId xmlns:a16="http://schemas.microsoft.com/office/drawing/2014/main" id="{1EBF83D3-19E0-E334-BB03-85B2CEBFFEE9}"/>
                </a:ext>
              </a:extLst>
            </p:cNvPr>
            <p:cNvGrpSpPr/>
            <p:nvPr/>
          </p:nvGrpSpPr>
          <p:grpSpPr>
            <a:xfrm>
              <a:off x="2404" y="3752"/>
              <a:ext cx="3062" cy="317"/>
              <a:chOff x="2381" y="1457"/>
              <a:chExt cx="3062" cy="408"/>
            </a:xfrm>
          </p:grpSpPr>
          <p:sp>
            <p:nvSpPr>
              <p:cNvPr id="102" name="立方体 101">
                <a:extLst>
                  <a:ext uri="{FF2B5EF4-FFF2-40B4-BE49-F238E27FC236}">
                    <a16:creationId xmlns:a16="http://schemas.microsoft.com/office/drawing/2014/main" id="{60AF674C-1BDD-8AFE-8D90-A65B316A49E8}"/>
                  </a:ext>
                </a:extLst>
              </p:cNvPr>
              <p:cNvSpPr/>
              <p:nvPr/>
            </p:nvSpPr>
            <p:spPr>
              <a:xfrm>
                <a:off x="2381"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103" name="立方体 102">
                <a:extLst>
                  <a:ext uri="{FF2B5EF4-FFF2-40B4-BE49-F238E27FC236}">
                    <a16:creationId xmlns:a16="http://schemas.microsoft.com/office/drawing/2014/main" id="{1F8D33C2-AE7F-CFBF-6620-FD93883526CD}"/>
                  </a:ext>
                </a:extLst>
              </p:cNvPr>
              <p:cNvSpPr/>
              <p:nvPr/>
            </p:nvSpPr>
            <p:spPr>
              <a:xfrm>
                <a:off x="2631"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104" name="立方体 103">
                <a:extLst>
                  <a:ext uri="{FF2B5EF4-FFF2-40B4-BE49-F238E27FC236}">
                    <a16:creationId xmlns:a16="http://schemas.microsoft.com/office/drawing/2014/main" id="{C57403D8-6762-DABD-3230-2B443DAE63A1}"/>
                  </a:ext>
                </a:extLst>
              </p:cNvPr>
              <p:cNvSpPr/>
              <p:nvPr/>
            </p:nvSpPr>
            <p:spPr>
              <a:xfrm>
                <a:off x="2880"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105" name="立方体 104">
                <a:extLst>
                  <a:ext uri="{FF2B5EF4-FFF2-40B4-BE49-F238E27FC236}">
                    <a16:creationId xmlns:a16="http://schemas.microsoft.com/office/drawing/2014/main" id="{12D23563-1CF4-651F-9118-794E2BCB0AE4}"/>
                  </a:ext>
                </a:extLst>
              </p:cNvPr>
              <p:cNvSpPr/>
              <p:nvPr/>
            </p:nvSpPr>
            <p:spPr>
              <a:xfrm>
                <a:off x="3129"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106" name="立方体 105">
                <a:extLst>
                  <a:ext uri="{FF2B5EF4-FFF2-40B4-BE49-F238E27FC236}">
                    <a16:creationId xmlns:a16="http://schemas.microsoft.com/office/drawing/2014/main" id="{1FE19450-2DBD-BACB-E24A-BDDD5CD99592}"/>
                  </a:ext>
                </a:extLst>
              </p:cNvPr>
              <p:cNvSpPr/>
              <p:nvPr/>
            </p:nvSpPr>
            <p:spPr>
              <a:xfrm>
                <a:off x="3378"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107" name="立方体 106">
                <a:extLst>
                  <a:ext uri="{FF2B5EF4-FFF2-40B4-BE49-F238E27FC236}">
                    <a16:creationId xmlns:a16="http://schemas.microsoft.com/office/drawing/2014/main" id="{D9A7D920-A5D3-51DF-96F9-A6CC99BE1D8E}"/>
                  </a:ext>
                </a:extLst>
              </p:cNvPr>
              <p:cNvSpPr/>
              <p:nvPr/>
            </p:nvSpPr>
            <p:spPr>
              <a:xfrm>
                <a:off x="3629"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108" name="立方体 107">
                <a:extLst>
                  <a:ext uri="{FF2B5EF4-FFF2-40B4-BE49-F238E27FC236}">
                    <a16:creationId xmlns:a16="http://schemas.microsoft.com/office/drawing/2014/main" id="{0FCE397E-0F8C-A2FF-2C14-7B7B20C940F0}"/>
                  </a:ext>
                </a:extLst>
              </p:cNvPr>
              <p:cNvSpPr/>
              <p:nvPr/>
            </p:nvSpPr>
            <p:spPr>
              <a:xfrm>
                <a:off x="3879"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109" name="立方体 108">
                <a:extLst>
                  <a:ext uri="{FF2B5EF4-FFF2-40B4-BE49-F238E27FC236}">
                    <a16:creationId xmlns:a16="http://schemas.microsoft.com/office/drawing/2014/main" id="{F690ABAF-FD45-A108-2712-91B61D4870CF}"/>
                  </a:ext>
                </a:extLst>
              </p:cNvPr>
              <p:cNvSpPr/>
              <p:nvPr/>
            </p:nvSpPr>
            <p:spPr>
              <a:xfrm>
                <a:off x="4128"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110" name="立方体 109">
                <a:extLst>
                  <a:ext uri="{FF2B5EF4-FFF2-40B4-BE49-F238E27FC236}">
                    <a16:creationId xmlns:a16="http://schemas.microsoft.com/office/drawing/2014/main" id="{AC3040A8-B419-FDD8-858B-93D53E911710}"/>
                  </a:ext>
                </a:extLst>
              </p:cNvPr>
              <p:cNvSpPr/>
              <p:nvPr/>
            </p:nvSpPr>
            <p:spPr>
              <a:xfrm>
                <a:off x="4377"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111" name="立方体 110">
                <a:extLst>
                  <a:ext uri="{FF2B5EF4-FFF2-40B4-BE49-F238E27FC236}">
                    <a16:creationId xmlns:a16="http://schemas.microsoft.com/office/drawing/2014/main" id="{9489CD59-630F-0D47-D24A-88211B3F8298}"/>
                  </a:ext>
                </a:extLst>
              </p:cNvPr>
              <p:cNvSpPr/>
              <p:nvPr/>
            </p:nvSpPr>
            <p:spPr>
              <a:xfrm>
                <a:off x="4626"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112" name="立方体 111">
                <a:extLst>
                  <a:ext uri="{FF2B5EF4-FFF2-40B4-BE49-F238E27FC236}">
                    <a16:creationId xmlns:a16="http://schemas.microsoft.com/office/drawing/2014/main" id="{FDA64FF5-1601-01F1-BAEA-79786FFAA93E}"/>
                  </a:ext>
                </a:extLst>
              </p:cNvPr>
              <p:cNvSpPr/>
              <p:nvPr/>
            </p:nvSpPr>
            <p:spPr>
              <a:xfrm>
                <a:off x="4876"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113" name="立方体 112">
                <a:extLst>
                  <a:ext uri="{FF2B5EF4-FFF2-40B4-BE49-F238E27FC236}">
                    <a16:creationId xmlns:a16="http://schemas.microsoft.com/office/drawing/2014/main" id="{D784F82B-D3A0-EADA-D150-27BE3B19440D}"/>
                  </a:ext>
                </a:extLst>
              </p:cNvPr>
              <p:cNvSpPr/>
              <p:nvPr/>
            </p:nvSpPr>
            <p:spPr>
              <a:xfrm>
                <a:off x="5125"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grpSp>
        <p:grpSp>
          <p:nvGrpSpPr>
            <p:cNvPr id="37" name="组合 36">
              <a:extLst>
                <a:ext uri="{FF2B5EF4-FFF2-40B4-BE49-F238E27FC236}">
                  <a16:creationId xmlns:a16="http://schemas.microsoft.com/office/drawing/2014/main" id="{1855DB01-A95D-9D13-C723-C92569E48353}"/>
                </a:ext>
              </a:extLst>
            </p:cNvPr>
            <p:cNvGrpSpPr/>
            <p:nvPr/>
          </p:nvGrpSpPr>
          <p:grpSpPr>
            <a:xfrm>
              <a:off x="2404" y="3503"/>
              <a:ext cx="3062" cy="317"/>
              <a:chOff x="2381" y="1457"/>
              <a:chExt cx="3062" cy="408"/>
            </a:xfrm>
          </p:grpSpPr>
          <p:sp>
            <p:nvSpPr>
              <p:cNvPr id="90" name="立方体 89">
                <a:extLst>
                  <a:ext uri="{FF2B5EF4-FFF2-40B4-BE49-F238E27FC236}">
                    <a16:creationId xmlns:a16="http://schemas.microsoft.com/office/drawing/2014/main" id="{C097AE9B-7FD9-11C0-E9A5-63959A3FA0E4}"/>
                  </a:ext>
                </a:extLst>
              </p:cNvPr>
              <p:cNvSpPr/>
              <p:nvPr/>
            </p:nvSpPr>
            <p:spPr>
              <a:xfrm>
                <a:off x="2381"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91" name="立方体 90">
                <a:extLst>
                  <a:ext uri="{FF2B5EF4-FFF2-40B4-BE49-F238E27FC236}">
                    <a16:creationId xmlns:a16="http://schemas.microsoft.com/office/drawing/2014/main" id="{F9FC839E-8CB5-3FC1-A767-335F610B0ACA}"/>
                  </a:ext>
                </a:extLst>
              </p:cNvPr>
              <p:cNvSpPr/>
              <p:nvPr/>
            </p:nvSpPr>
            <p:spPr>
              <a:xfrm>
                <a:off x="2631"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92" name="立方体 91">
                <a:extLst>
                  <a:ext uri="{FF2B5EF4-FFF2-40B4-BE49-F238E27FC236}">
                    <a16:creationId xmlns:a16="http://schemas.microsoft.com/office/drawing/2014/main" id="{E41A3846-B4A3-2C7E-CB82-CC81FF2018CC}"/>
                  </a:ext>
                </a:extLst>
              </p:cNvPr>
              <p:cNvSpPr/>
              <p:nvPr/>
            </p:nvSpPr>
            <p:spPr>
              <a:xfrm>
                <a:off x="2880"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93" name="立方体 92">
                <a:extLst>
                  <a:ext uri="{FF2B5EF4-FFF2-40B4-BE49-F238E27FC236}">
                    <a16:creationId xmlns:a16="http://schemas.microsoft.com/office/drawing/2014/main" id="{A71675B4-11B1-DB7B-2FF9-8F0ADE69C4B0}"/>
                  </a:ext>
                </a:extLst>
              </p:cNvPr>
              <p:cNvSpPr/>
              <p:nvPr/>
            </p:nvSpPr>
            <p:spPr>
              <a:xfrm>
                <a:off x="3129"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94" name="立方体 93">
                <a:extLst>
                  <a:ext uri="{FF2B5EF4-FFF2-40B4-BE49-F238E27FC236}">
                    <a16:creationId xmlns:a16="http://schemas.microsoft.com/office/drawing/2014/main" id="{2AF0F468-C9A4-0338-37D4-BA82FDCBAB94}"/>
                  </a:ext>
                </a:extLst>
              </p:cNvPr>
              <p:cNvSpPr/>
              <p:nvPr/>
            </p:nvSpPr>
            <p:spPr>
              <a:xfrm>
                <a:off x="3378"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95" name="立方体 94">
                <a:extLst>
                  <a:ext uri="{FF2B5EF4-FFF2-40B4-BE49-F238E27FC236}">
                    <a16:creationId xmlns:a16="http://schemas.microsoft.com/office/drawing/2014/main" id="{426025FE-9AE9-6636-F15D-8CBA7A5D0753}"/>
                  </a:ext>
                </a:extLst>
              </p:cNvPr>
              <p:cNvSpPr/>
              <p:nvPr/>
            </p:nvSpPr>
            <p:spPr>
              <a:xfrm>
                <a:off x="3629"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96" name="立方体 95">
                <a:extLst>
                  <a:ext uri="{FF2B5EF4-FFF2-40B4-BE49-F238E27FC236}">
                    <a16:creationId xmlns:a16="http://schemas.microsoft.com/office/drawing/2014/main" id="{3E23D337-8881-FA32-8446-9C5F28B08079}"/>
                  </a:ext>
                </a:extLst>
              </p:cNvPr>
              <p:cNvSpPr/>
              <p:nvPr/>
            </p:nvSpPr>
            <p:spPr>
              <a:xfrm>
                <a:off x="3879"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97" name="立方体 96">
                <a:extLst>
                  <a:ext uri="{FF2B5EF4-FFF2-40B4-BE49-F238E27FC236}">
                    <a16:creationId xmlns:a16="http://schemas.microsoft.com/office/drawing/2014/main" id="{1E55EB8B-0D92-56CB-034F-97E7E5DDE7CD}"/>
                  </a:ext>
                </a:extLst>
              </p:cNvPr>
              <p:cNvSpPr/>
              <p:nvPr/>
            </p:nvSpPr>
            <p:spPr>
              <a:xfrm>
                <a:off x="4128"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98" name="立方体 97">
                <a:extLst>
                  <a:ext uri="{FF2B5EF4-FFF2-40B4-BE49-F238E27FC236}">
                    <a16:creationId xmlns:a16="http://schemas.microsoft.com/office/drawing/2014/main" id="{8FA8B0E4-1BC6-311B-8187-7AEFFBF4B4D1}"/>
                  </a:ext>
                </a:extLst>
              </p:cNvPr>
              <p:cNvSpPr/>
              <p:nvPr/>
            </p:nvSpPr>
            <p:spPr>
              <a:xfrm>
                <a:off x="4377"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99" name="立方体 98">
                <a:extLst>
                  <a:ext uri="{FF2B5EF4-FFF2-40B4-BE49-F238E27FC236}">
                    <a16:creationId xmlns:a16="http://schemas.microsoft.com/office/drawing/2014/main" id="{522545A1-9B65-789B-53FC-8E062C1FF63F}"/>
                  </a:ext>
                </a:extLst>
              </p:cNvPr>
              <p:cNvSpPr/>
              <p:nvPr/>
            </p:nvSpPr>
            <p:spPr>
              <a:xfrm>
                <a:off x="4626"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100" name="立方体 99">
                <a:extLst>
                  <a:ext uri="{FF2B5EF4-FFF2-40B4-BE49-F238E27FC236}">
                    <a16:creationId xmlns:a16="http://schemas.microsoft.com/office/drawing/2014/main" id="{F04A1037-6DD8-E08F-86CB-D1ACFC0B09E4}"/>
                  </a:ext>
                </a:extLst>
              </p:cNvPr>
              <p:cNvSpPr/>
              <p:nvPr/>
            </p:nvSpPr>
            <p:spPr>
              <a:xfrm>
                <a:off x="4876"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101" name="立方体 100">
                <a:extLst>
                  <a:ext uri="{FF2B5EF4-FFF2-40B4-BE49-F238E27FC236}">
                    <a16:creationId xmlns:a16="http://schemas.microsoft.com/office/drawing/2014/main" id="{85C2D82F-3954-8100-A218-C11E92AA65BA}"/>
                  </a:ext>
                </a:extLst>
              </p:cNvPr>
              <p:cNvSpPr/>
              <p:nvPr/>
            </p:nvSpPr>
            <p:spPr>
              <a:xfrm>
                <a:off x="5125"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grpSp>
        <p:grpSp>
          <p:nvGrpSpPr>
            <p:cNvPr id="38" name="组合 37">
              <a:extLst>
                <a:ext uri="{FF2B5EF4-FFF2-40B4-BE49-F238E27FC236}">
                  <a16:creationId xmlns:a16="http://schemas.microsoft.com/office/drawing/2014/main" id="{6B7D8A31-AA66-4268-C163-62A8877128DE}"/>
                </a:ext>
              </a:extLst>
            </p:cNvPr>
            <p:cNvGrpSpPr/>
            <p:nvPr/>
          </p:nvGrpSpPr>
          <p:grpSpPr>
            <a:xfrm>
              <a:off x="2404" y="3253"/>
              <a:ext cx="3062" cy="317"/>
              <a:chOff x="2381" y="1457"/>
              <a:chExt cx="3062" cy="408"/>
            </a:xfrm>
          </p:grpSpPr>
          <p:sp>
            <p:nvSpPr>
              <p:cNvPr id="78" name="立方体 77">
                <a:extLst>
                  <a:ext uri="{FF2B5EF4-FFF2-40B4-BE49-F238E27FC236}">
                    <a16:creationId xmlns:a16="http://schemas.microsoft.com/office/drawing/2014/main" id="{6C1F5DDD-C4D0-0AE2-8489-A4F53504C710}"/>
                  </a:ext>
                </a:extLst>
              </p:cNvPr>
              <p:cNvSpPr/>
              <p:nvPr/>
            </p:nvSpPr>
            <p:spPr>
              <a:xfrm>
                <a:off x="2381"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79" name="立方体 78">
                <a:extLst>
                  <a:ext uri="{FF2B5EF4-FFF2-40B4-BE49-F238E27FC236}">
                    <a16:creationId xmlns:a16="http://schemas.microsoft.com/office/drawing/2014/main" id="{3001A827-D147-9AB8-00DA-CC4A57A46BC8}"/>
                  </a:ext>
                </a:extLst>
              </p:cNvPr>
              <p:cNvSpPr/>
              <p:nvPr/>
            </p:nvSpPr>
            <p:spPr>
              <a:xfrm>
                <a:off x="2631"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80" name="立方体 79">
                <a:extLst>
                  <a:ext uri="{FF2B5EF4-FFF2-40B4-BE49-F238E27FC236}">
                    <a16:creationId xmlns:a16="http://schemas.microsoft.com/office/drawing/2014/main" id="{430ACBBE-7D32-5042-DA42-3F51A96549F2}"/>
                  </a:ext>
                </a:extLst>
              </p:cNvPr>
              <p:cNvSpPr/>
              <p:nvPr/>
            </p:nvSpPr>
            <p:spPr>
              <a:xfrm>
                <a:off x="2880"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81" name="立方体 80">
                <a:extLst>
                  <a:ext uri="{FF2B5EF4-FFF2-40B4-BE49-F238E27FC236}">
                    <a16:creationId xmlns:a16="http://schemas.microsoft.com/office/drawing/2014/main" id="{9BB00D2C-8025-0805-9BDB-15FBDCF4EDB3}"/>
                  </a:ext>
                </a:extLst>
              </p:cNvPr>
              <p:cNvSpPr/>
              <p:nvPr/>
            </p:nvSpPr>
            <p:spPr>
              <a:xfrm>
                <a:off x="3129"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82" name="立方体 81">
                <a:extLst>
                  <a:ext uri="{FF2B5EF4-FFF2-40B4-BE49-F238E27FC236}">
                    <a16:creationId xmlns:a16="http://schemas.microsoft.com/office/drawing/2014/main" id="{AE9329C1-5CE5-83FC-3DE4-64C9B1CF340D}"/>
                  </a:ext>
                </a:extLst>
              </p:cNvPr>
              <p:cNvSpPr/>
              <p:nvPr/>
            </p:nvSpPr>
            <p:spPr>
              <a:xfrm>
                <a:off x="3378"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83" name="立方体 82">
                <a:extLst>
                  <a:ext uri="{FF2B5EF4-FFF2-40B4-BE49-F238E27FC236}">
                    <a16:creationId xmlns:a16="http://schemas.microsoft.com/office/drawing/2014/main" id="{3F9A7F2E-2049-AD0F-EEA1-54E8CD86EE52}"/>
                  </a:ext>
                </a:extLst>
              </p:cNvPr>
              <p:cNvSpPr/>
              <p:nvPr/>
            </p:nvSpPr>
            <p:spPr>
              <a:xfrm>
                <a:off x="3629"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84" name="立方体 83">
                <a:extLst>
                  <a:ext uri="{FF2B5EF4-FFF2-40B4-BE49-F238E27FC236}">
                    <a16:creationId xmlns:a16="http://schemas.microsoft.com/office/drawing/2014/main" id="{EEC79B1F-B6C9-B73A-2B5F-99745770F857}"/>
                  </a:ext>
                </a:extLst>
              </p:cNvPr>
              <p:cNvSpPr/>
              <p:nvPr/>
            </p:nvSpPr>
            <p:spPr>
              <a:xfrm>
                <a:off x="3879"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85" name="立方体 84">
                <a:extLst>
                  <a:ext uri="{FF2B5EF4-FFF2-40B4-BE49-F238E27FC236}">
                    <a16:creationId xmlns:a16="http://schemas.microsoft.com/office/drawing/2014/main" id="{A13382A6-6BDE-3B3C-DF35-C38063DDD855}"/>
                  </a:ext>
                </a:extLst>
              </p:cNvPr>
              <p:cNvSpPr/>
              <p:nvPr/>
            </p:nvSpPr>
            <p:spPr>
              <a:xfrm>
                <a:off x="4128"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86" name="立方体 85">
                <a:extLst>
                  <a:ext uri="{FF2B5EF4-FFF2-40B4-BE49-F238E27FC236}">
                    <a16:creationId xmlns:a16="http://schemas.microsoft.com/office/drawing/2014/main" id="{A4F80C3B-D9D9-59DB-C916-8807C2C2BD9C}"/>
                  </a:ext>
                </a:extLst>
              </p:cNvPr>
              <p:cNvSpPr/>
              <p:nvPr/>
            </p:nvSpPr>
            <p:spPr>
              <a:xfrm>
                <a:off x="4377"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87" name="立方体 86">
                <a:extLst>
                  <a:ext uri="{FF2B5EF4-FFF2-40B4-BE49-F238E27FC236}">
                    <a16:creationId xmlns:a16="http://schemas.microsoft.com/office/drawing/2014/main" id="{95D7FDF7-D9DD-5177-C26C-07272EFEFBB6}"/>
                  </a:ext>
                </a:extLst>
              </p:cNvPr>
              <p:cNvSpPr/>
              <p:nvPr/>
            </p:nvSpPr>
            <p:spPr>
              <a:xfrm>
                <a:off x="4626"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88" name="立方体 87">
                <a:extLst>
                  <a:ext uri="{FF2B5EF4-FFF2-40B4-BE49-F238E27FC236}">
                    <a16:creationId xmlns:a16="http://schemas.microsoft.com/office/drawing/2014/main" id="{649DF86F-E725-3DD8-A4D7-B8618DA24E3E}"/>
                  </a:ext>
                </a:extLst>
              </p:cNvPr>
              <p:cNvSpPr/>
              <p:nvPr/>
            </p:nvSpPr>
            <p:spPr>
              <a:xfrm>
                <a:off x="4876"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89" name="立方体 88">
                <a:extLst>
                  <a:ext uri="{FF2B5EF4-FFF2-40B4-BE49-F238E27FC236}">
                    <a16:creationId xmlns:a16="http://schemas.microsoft.com/office/drawing/2014/main" id="{DEF1B1F8-930F-77B2-88AE-47FB9DA61ADB}"/>
                  </a:ext>
                </a:extLst>
              </p:cNvPr>
              <p:cNvSpPr/>
              <p:nvPr/>
            </p:nvSpPr>
            <p:spPr>
              <a:xfrm>
                <a:off x="5125"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grpSp>
        <p:grpSp>
          <p:nvGrpSpPr>
            <p:cNvPr id="39" name="组合 38">
              <a:extLst>
                <a:ext uri="{FF2B5EF4-FFF2-40B4-BE49-F238E27FC236}">
                  <a16:creationId xmlns:a16="http://schemas.microsoft.com/office/drawing/2014/main" id="{B8D0C8D8-6F83-A38E-1E51-9C3C17D4DB34}"/>
                </a:ext>
              </a:extLst>
            </p:cNvPr>
            <p:cNvGrpSpPr/>
            <p:nvPr/>
          </p:nvGrpSpPr>
          <p:grpSpPr>
            <a:xfrm>
              <a:off x="2404" y="3004"/>
              <a:ext cx="3062" cy="317"/>
              <a:chOff x="2381" y="1457"/>
              <a:chExt cx="3062" cy="408"/>
            </a:xfrm>
          </p:grpSpPr>
          <p:sp>
            <p:nvSpPr>
              <p:cNvPr id="66" name="立方体 65">
                <a:extLst>
                  <a:ext uri="{FF2B5EF4-FFF2-40B4-BE49-F238E27FC236}">
                    <a16:creationId xmlns:a16="http://schemas.microsoft.com/office/drawing/2014/main" id="{67239FD1-2322-DFD1-F148-98F6DEB80EBE}"/>
                  </a:ext>
                </a:extLst>
              </p:cNvPr>
              <p:cNvSpPr/>
              <p:nvPr/>
            </p:nvSpPr>
            <p:spPr>
              <a:xfrm>
                <a:off x="2381"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67" name="立方体 66">
                <a:extLst>
                  <a:ext uri="{FF2B5EF4-FFF2-40B4-BE49-F238E27FC236}">
                    <a16:creationId xmlns:a16="http://schemas.microsoft.com/office/drawing/2014/main" id="{DD26F280-3B25-394F-5AC4-A4A39EBEB98F}"/>
                  </a:ext>
                </a:extLst>
              </p:cNvPr>
              <p:cNvSpPr/>
              <p:nvPr/>
            </p:nvSpPr>
            <p:spPr>
              <a:xfrm>
                <a:off x="2631"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68" name="立方体 67">
                <a:extLst>
                  <a:ext uri="{FF2B5EF4-FFF2-40B4-BE49-F238E27FC236}">
                    <a16:creationId xmlns:a16="http://schemas.microsoft.com/office/drawing/2014/main" id="{1D067BB6-C043-5905-4D23-9C71BB986665}"/>
                  </a:ext>
                </a:extLst>
              </p:cNvPr>
              <p:cNvSpPr/>
              <p:nvPr/>
            </p:nvSpPr>
            <p:spPr>
              <a:xfrm>
                <a:off x="2880"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69" name="立方体 68">
                <a:extLst>
                  <a:ext uri="{FF2B5EF4-FFF2-40B4-BE49-F238E27FC236}">
                    <a16:creationId xmlns:a16="http://schemas.microsoft.com/office/drawing/2014/main" id="{CF15DF6F-B48D-6066-7DAA-C36E0AECD9CA}"/>
                  </a:ext>
                </a:extLst>
              </p:cNvPr>
              <p:cNvSpPr/>
              <p:nvPr/>
            </p:nvSpPr>
            <p:spPr>
              <a:xfrm>
                <a:off x="3129"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70" name="立方体 69">
                <a:extLst>
                  <a:ext uri="{FF2B5EF4-FFF2-40B4-BE49-F238E27FC236}">
                    <a16:creationId xmlns:a16="http://schemas.microsoft.com/office/drawing/2014/main" id="{D1B0827C-D523-1C97-38A2-3967D652689E}"/>
                  </a:ext>
                </a:extLst>
              </p:cNvPr>
              <p:cNvSpPr/>
              <p:nvPr/>
            </p:nvSpPr>
            <p:spPr>
              <a:xfrm>
                <a:off x="3378"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71" name="立方体 70">
                <a:extLst>
                  <a:ext uri="{FF2B5EF4-FFF2-40B4-BE49-F238E27FC236}">
                    <a16:creationId xmlns:a16="http://schemas.microsoft.com/office/drawing/2014/main" id="{7D970F74-59B5-8D0E-65B3-798C1C252DF7}"/>
                  </a:ext>
                </a:extLst>
              </p:cNvPr>
              <p:cNvSpPr/>
              <p:nvPr/>
            </p:nvSpPr>
            <p:spPr>
              <a:xfrm>
                <a:off x="3629"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72" name="立方体 71">
                <a:extLst>
                  <a:ext uri="{FF2B5EF4-FFF2-40B4-BE49-F238E27FC236}">
                    <a16:creationId xmlns:a16="http://schemas.microsoft.com/office/drawing/2014/main" id="{1058890B-171F-D72B-D30B-9263D3A5C926}"/>
                  </a:ext>
                </a:extLst>
              </p:cNvPr>
              <p:cNvSpPr/>
              <p:nvPr/>
            </p:nvSpPr>
            <p:spPr>
              <a:xfrm>
                <a:off x="3879"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73" name="立方体 72">
                <a:extLst>
                  <a:ext uri="{FF2B5EF4-FFF2-40B4-BE49-F238E27FC236}">
                    <a16:creationId xmlns:a16="http://schemas.microsoft.com/office/drawing/2014/main" id="{F4D78CDC-EC99-4EF5-6F8E-9A6C621AF3D1}"/>
                  </a:ext>
                </a:extLst>
              </p:cNvPr>
              <p:cNvSpPr/>
              <p:nvPr/>
            </p:nvSpPr>
            <p:spPr>
              <a:xfrm>
                <a:off x="4128"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74" name="立方体 73">
                <a:extLst>
                  <a:ext uri="{FF2B5EF4-FFF2-40B4-BE49-F238E27FC236}">
                    <a16:creationId xmlns:a16="http://schemas.microsoft.com/office/drawing/2014/main" id="{A798426C-DD08-291F-967A-E6A57C023493}"/>
                  </a:ext>
                </a:extLst>
              </p:cNvPr>
              <p:cNvSpPr/>
              <p:nvPr/>
            </p:nvSpPr>
            <p:spPr>
              <a:xfrm>
                <a:off x="4377"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75" name="立方体 74">
                <a:extLst>
                  <a:ext uri="{FF2B5EF4-FFF2-40B4-BE49-F238E27FC236}">
                    <a16:creationId xmlns:a16="http://schemas.microsoft.com/office/drawing/2014/main" id="{F4B45529-FB3E-19AB-AB97-1B55497AD6EC}"/>
                  </a:ext>
                </a:extLst>
              </p:cNvPr>
              <p:cNvSpPr/>
              <p:nvPr/>
            </p:nvSpPr>
            <p:spPr>
              <a:xfrm>
                <a:off x="4626"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76" name="立方体 75">
                <a:extLst>
                  <a:ext uri="{FF2B5EF4-FFF2-40B4-BE49-F238E27FC236}">
                    <a16:creationId xmlns:a16="http://schemas.microsoft.com/office/drawing/2014/main" id="{8622C187-03D8-C90D-B1A2-185614D910B3}"/>
                  </a:ext>
                </a:extLst>
              </p:cNvPr>
              <p:cNvSpPr/>
              <p:nvPr/>
            </p:nvSpPr>
            <p:spPr>
              <a:xfrm>
                <a:off x="4876"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77" name="立方体 76">
                <a:extLst>
                  <a:ext uri="{FF2B5EF4-FFF2-40B4-BE49-F238E27FC236}">
                    <a16:creationId xmlns:a16="http://schemas.microsoft.com/office/drawing/2014/main" id="{9075796F-8A1A-B60D-636E-8D5FFF5ED190}"/>
                  </a:ext>
                </a:extLst>
              </p:cNvPr>
              <p:cNvSpPr/>
              <p:nvPr/>
            </p:nvSpPr>
            <p:spPr>
              <a:xfrm>
                <a:off x="5125"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grpSp>
        <p:grpSp>
          <p:nvGrpSpPr>
            <p:cNvPr id="40" name="组合 39">
              <a:extLst>
                <a:ext uri="{FF2B5EF4-FFF2-40B4-BE49-F238E27FC236}">
                  <a16:creationId xmlns:a16="http://schemas.microsoft.com/office/drawing/2014/main" id="{BC20F32C-C338-3ED5-2E88-7AAA0D19C6B7}"/>
                </a:ext>
              </a:extLst>
            </p:cNvPr>
            <p:cNvGrpSpPr/>
            <p:nvPr/>
          </p:nvGrpSpPr>
          <p:grpSpPr>
            <a:xfrm>
              <a:off x="2404" y="2754"/>
              <a:ext cx="3062" cy="317"/>
              <a:chOff x="2381" y="1457"/>
              <a:chExt cx="3062" cy="408"/>
            </a:xfrm>
          </p:grpSpPr>
          <p:sp>
            <p:nvSpPr>
              <p:cNvPr id="54" name="立方体 53">
                <a:extLst>
                  <a:ext uri="{FF2B5EF4-FFF2-40B4-BE49-F238E27FC236}">
                    <a16:creationId xmlns:a16="http://schemas.microsoft.com/office/drawing/2014/main" id="{78D31130-BF3B-4413-6DFA-86ABE2F75770}"/>
                  </a:ext>
                </a:extLst>
              </p:cNvPr>
              <p:cNvSpPr/>
              <p:nvPr/>
            </p:nvSpPr>
            <p:spPr>
              <a:xfrm>
                <a:off x="2381"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55" name="立方体 54">
                <a:extLst>
                  <a:ext uri="{FF2B5EF4-FFF2-40B4-BE49-F238E27FC236}">
                    <a16:creationId xmlns:a16="http://schemas.microsoft.com/office/drawing/2014/main" id="{B147385C-6C16-EF71-D2B3-57030A8F4F81}"/>
                  </a:ext>
                </a:extLst>
              </p:cNvPr>
              <p:cNvSpPr/>
              <p:nvPr/>
            </p:nvSpPr>
            <p:spPr>
              <a:xfrm>
                <a:off x="2631"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56" name="立方体 55">
                <a:extLst>
                  <a:ext uri="{FF2B5EF4-FFF2-40B4-BE49-F238E27FC236}">
                    <a16:creationId xmlns:a16="http://schemas.microsoft.com/office/drawing/2014/main" id="{DCD22D86-D068-38D7-1302-0B18173A25FC}"/>
                  </a:ext>
                </a:extLst>
              </p:cNvPr>
              <p:cNvSpPr/>
              <p:nvPr/>
            </p:nvSpPr>
            <p:spPr>
              <a:xfrm>
                <a:off x="2880"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57" name="立方体 56">
                <a:extLst>
                  <a:ext uri="{FF2B5EF4-FFF2-40B4-BE49-F238E27FC236}">
                    <a16:creationId xmlns:a16="http://schemas.microsoft.com/office/drawing/2014/main" id="{FDF52FF7-5D3F-BE0D-4AF7-9178370F8F7B}"/>
                  </a:ext>
                </a:extLst>
              </p:cNvPr>
              <p:cNvSpPr/>
              <p:nvPr/>
            </p:nvSpPr>
            <p:spPr>
              <a:xfrm>
                <a:off x="3129"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58" name="立方体 57">
                <a:extLst>
                  <a:ext uri="{FF2B5EF4-FFF2-40B4-BE49-F238E27FC236}">
                    <a16:creationId xmlns:a16="http://schemas.microsoft.com/office/drawing/2014/main" id="{6198BE23-7229-5B57-939A-E7344D2C6067}"/>
                  </a:ext>
                </a:extLst>
              </p:cNvPr>
              <p:cNvSpPr/>
              <p:nvPr/>
            </p:nvSpPr>
            <p:spPr>
              <a:xfrm>
                <a:off x="3378"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59" name="立方体 58">
                <a:extLst>
                  <a:ext uri="{FF2B5EF4-FFF2-40B4-BE49-F238E27FC236}">
                    <a16:creationId xmlns:a16="http://schemas.microsoft.com/office/drawing/2014/main" id="{7F52BF3F-94FA-F790-8E30-5933C0BAC579}"/>
                  </a:ext>
                </a:extLst>
              </p:cNvPr>
              <p:cNvSpPr/>
              <p:nvPr/>
            </p:nvSpPr>
            <p:spPr>
              <a:xfrm>
                <a:off x="3629"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60" name="立方体 59">
                <a:extLst>
                  <a:ext uri="{FF2B5EF4-FFF2-40B4-BE49-F238E27FC236}">
                    <a16:creationId xmlns:a16="http://schemas.microsoft.com/office/drawing/2014/main" id="{21ADC783-79C1-2FB6-839F-C3602BA9BEBD}"/>
                  </a:ext>
                </a:extLst>
              </p:cNvPr>
              <p:cNvSpPr/>
              <p:nvPr/>
            </p:nvSpPr>
            <p:spPr>
              <a:xfrm>
                <a:off x="3879"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61" name="立方体 60">
                <a:extLst>
                  <a:ext uri="{FF2B5EF4-FFF2-40B4-BE49-F238E27FC236}">
                    <a16:creationId xmlns:a16="http://schemas.microsoft.com/office/drawing/2014/main" id="{AFBEDB4B-2DCB-CFA9-59EC-965A0BC8C936}"/>
                  </a:ext>
                </a:extLst>
              </p:cNvPr>
              <p:cNvSpPr/>
              <p:nvPr/>
            </p:nvSpPr>
            <p:spPr>
              <a:xfrm>
                <a:off x="4128"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62" name="立方体 61">
                <a:extLst>
                  <a:ext uri="{FF2B5EF4-FFF2-40B4-BE49-F238E27FC236}">
                    <a16:creationId xmlns:a16="http://schemas.microsoft.com/office/drawing/2014/main" id="{E7A0AF1C-D927-03C3-9D99-090AE8FB428F}"/>
                  </a:ext>
                </a:extLst>
              </p:cNvPr>
              <p:cNvSpPr/>
              <p:nvPr/>
            </p:nvSpPr>
            <p:spPr>
              <a:xfrm>
                <a:off x="4377"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63" name="立方体 62">
                <a:extLst>
                  <a:ext uri="{FF2B5EF4-FFF2-40B4-BE49-F238E27FC236}">
                    <a16:creationId xmlns:a16="http://schemas.microsoft.com/office/drawing/2014/main" id="{4479F35B-91B7-7412-3A76-5A1C0047858B}"/>
                  </a:ext>
                </a:extLst>
              </p:cNvPr>
              <p:cNvSpPr/>
              <p:nvPr/>
            </p:nvSpPr>
            <p:spPr>
              <a:xfrm>
                <a:off x="4626"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64" name="立方体 63">
                <a:extLst>
                  <a:ext uri="{FF2B5EF4-FFF2-40B4-BE49-F238E27FC236}">
                    <a16:creationId xmlns:a16="http://schemas.microsoft.com/office/drawing/2014/main" id="{FAC23F0D-9E1D-BD77-E77A-FFA686A83510}"/>
                  </a:ext>
                </a:extLst>
              </p:cNvPr>
              <p:cNvSpPr/>
              <p:nvPr/>
            </p:nvSpPr>
            <p:spPr>
              <a:xfrm>
                <a:off x="4876"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65" name="立方体 64">
                <a:extLst>
                  <a:ext uri="{FF2B5EF4-FFF2-40B4-BE49-F238E27FC236}">
                    <a16:creationId xmlns:a16="http://schemas.microsoft.com/office/drawing/2014/main" id="{DFCE0AB5-B6F8-C72B-35EB-5491D4A1B048}"/>
                  </a:ext>
                </a:extLst>
              </p:cNvPr>
              <p:cNvSpPr/>
              <p:nvPr/>
            </p:nvSpPr>
            <p:spPr>
              <a:xfrm>
                <a:off x="5125"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grpSp>
        <p:grpSp>
          <p:nvGrpSpPr>
            <p:cNvPr id="41" name="组合 40">
              <a:extLst>
                <a:ext uri="{FF2B5EF4-FFF2-40B4-BE49-F238E27FC236}">
                  <a16:creationId xmlns:a16="http://schemas.microsoft.com/office/drawing/2014/main" id="{26437A10-7146-47A3-CC6E-3938E03BD580}"/>
                </a:ext>
              </a:extLst>
            </p:cNvPr>
            <p:cNvGrpSpPr/>
            <p:nvPr/>
          </p:nvGrpSpPr>
          <p:grpSpPr>
            <a:xfrm>
              <a:off x="2404" y="2500"/>
              <a:ext cx="3062" cy="317"/>
              <a:chOff x="2381" y="1457"/>
              <a:chExt cx="3062" cy="408"/>
            </a:xfrm>
          </p:grpSpPr>
          <p:sp>
            <p:nvSpPr>
              <p:cNvPr id="42" name="立方体 41">
                <a:extLst>
                  <a:ext uri="{FF2B5EF4-FFF2-40B4-BE49-F238E27FC236}">
                    <a16:creationId xmlns:a16="http://schemas.microsoft.com/office/drawing/2014/main" id="{0006E038-CC2A-2C74-A5EC-F9EEFA80614E}"/>
                  </a:ext>
                </a:extLst>
              </p:cNvPr>
              <p:cNvSpPr/>
              <p:nvPr/>
            </p:nvSpPr>
            <p:spPr>
              <a:xfrm>
                <a:off x="2381"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43" name="立方体 42">
                <a:extLst>
                  <a:ext uri="{FF2B5EF4-FFF2-40B4-BE49-F238E27FC236}">
                    <a16:creationId xmlns:a16="http://schemas.microsoft.com/office/drawing/2014/main" id="{78EB8DF5-F58A-179B-A970-DA3914EB2650}"/>
                  </a:ext>
                </a:extLst>
              </p:cNvPr>
              <p:cNvSpPr/>
              <p:nvPr/>
            </p:nvSpPr>
            <p:spPr>
              <a:xfrm>
                <a:off x="2631"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44" name="立方体 43">
                <a:extLst>
                  <a:ext uri="{FF2B5EF4-FFF2-40B4-BE49-F238E27FC236}">
                    <a16:creationId xmlns:a16="http://schemas.microsoft.com/office/drawing/2014/main" id="{C79C1C04-DD37-F2E2-9F13-C196A283E8FF}"/>
                  </a:ext>
                </a:extLst>
              </p:cNvPr>
              <p:cNvSpPr/>
              <p:nvPr/>
            </p:nvSpPr>
            <p:spPr>
              <a:xfrm>
                <a:off x="2880"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45" name="立方体 44">
                <a:extLst>
                  <a:ext uri="{FF2B5EF4-FFF2-40B4-BE49-F238E27FC236}">
                    <a16:creationId xmlns:a16="http://schemas.microsoft.com/office/drawing/2014/main" id="{EAB38C53-B0F7-117C-DE7A-0CF62FFBB8EF}"/>
                  </a:ext>
                </a:extLst>
              </p:cNvPr>
              <p:cNvSpPr/>
              <p:nvPr/>
            </p:nvSpPr>
            <p:spPr>
              <a:xfrm>
                <a:off x="3129"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46" name="立方体 45">
                <a:extLst>
                  <a:ext uri="{FF2B5EF4-FFF2-40B4-BE49-F238E27FC236}">
                    <a16:creationId xmlns:a16="http://schemas.microsoft.com/office/drawing/2014/main" id="{2B57717D-F630-29B9-2466-765D6AAE9BD1}"/>
                  </a:ext>
                </a:extLst>
              </p:cNvPr>
              <p:cNvSpPr/>
              <p:nvPr/>
            </p:nvSpPr>
            <p:spPr>
              <a:xfrm>
                <a:off x="3378"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47" name="立方体 46">
                <a:extLst>
                  <a:ext uri="{FF2B5EF4-FFF2-40B4-BE49-F238E27FC236}">
                    <a16:creationId xmlns:a16="http://schemas.microsoft.com/office/drawing/2014/main" id="{CBCE6F4D-034A-8F27-B38C-284FA475E13C}"/>
                  </a:ext>
                </a:extLst>
              </p:cNvPr>
              <p:cNvSpPr/>
              <p:nvPr/>
            </p:nvSpPr>
            <p:spPr>
              <a:xfrm>
                <a:off x="3629"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48" name="立方体 47">
                <a:extLst>
                  <a:ext uri="{FF2B5EF4-FFF2-40B4-BE49-F238E27FC236}">
                    <a16:creationId xmlns:a16="http://schemas.microsoft.com/office/drawing/2014/main" id="{C3EBA022-8162-E41F-A93D-1F1B22B9AC98}"/>
                  </a:ext>
                </a:extLst>
              </p:cNvPr>
              <p:cNvSpPr/>
              <p:nvPr/>
            </p:nvSpPr>
            <p:spPr>
              <a:xfrm>
                <a:off x="3879"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49" name="立方体 48">
                <a:extLst>
                  <a:ext uri="{FF2B5EF4-FFF2-40B4-BE49-F238E27FC236}">
                    <a16:creationId xmlns:a16="http://schemas.microsoft.com/office/drawing/2014/main" id="{B0100E9C-C271-BEBC-4D2F-4D2AE78BEFD4}"/>
                  </a:ext>
                </a:extLst>
              </p:cNvPr>
              <p:cNvSpPr/>
              <p:nvPr/>
            </p:nvSpPr>
            <p:spPr>
              <a:xfrm>
                <a:off x="4128"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50" name="立方体 49">
                <a:extLst>
                  <a:ext uri="{FF2B5EF4-FFF2-40B4-BE49-F238E27FC236}">
                    <a16:creationId xmlns:a16="http://schemas.microsoft.com/office/drawing/2014/main" id="{52F929F9-01B0-E961-B442-EAC75E497F26}"/>
                  </a:ext>
                </a:extLst>
              </p:cNvPr>
              <p:cNvSpPr/>
              <p:nvPr/>
            </p:nvSpPr>
            <p:spPr>
              <a:xfrm>
                <a:off x="4377"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51" name="立方体 50">
                <a:extLst>
                  <a:ext uri="{FF2B5EF4-FFF2-40B4-BE49-F238E27FC236}">
                    <a16:creationId xmlns:a16="http://schemas.microsoft.com/office/drawing/2014/main" id="{4ACA1174-C5A5-458F-D0F0-2A26A43C60FF}"/>
                  </a:ext>
                </a:extLst>
              </p:cNvPr>
              <p:cNvSpPr/>
              <p:nvPr/>
            </p:nvSpPr>
            <p:spPr>
              <a:xfrm>
                <a:off x="4626"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52" name="立方体 51">
                <a:extLst>
                  <a:ext uri="{FF2B5EF4-FFF2-40B4-BE49-F238E27FC236}">
                    <a16:creationId xmlns:a16="http://schemas.microsoft.com/office/drawing/2014/main" id="{E273F84A-102B-7DE0-EF0E-7DFC69B1ECA2}"/>
                  </a:ext>
                </a:extLst>
              </p:cNvPr>
              <p:cNvSpPr/>
              <p:nvPr/>
            </p:nvSpPr>
            <p:spPr>
              <a:xfrm>
                <a:off x="4876"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53" name="立方体 52">
                <a:extLst>
                  <a:ext uri="{FF2B5EF4-FFF2-40B4-BE49-F238E27FC236}">
                    <a16:creationId xmlns:a16="http://schemas.microsoft.com/office/drawing/2014/main" id="{E229232F-2290-045B-C429-889493620F69}"/>
                  </a:ext>
                </a:extLst>
              </p:cNvPr>
              <p:cNvSpPr/>
              <p:nvPr/>
            </p:nvSpPr>
            <p:spPr>
              <a:xfrm>
                <a:off x="5125" y="1457"/>
                <a:ext cx="318" cy="40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grpSp>
      </p:grpSp>
      <p:grpSp>
        <p:nvGrpSpPr>
          <p:cNvPr id="126" name="组合 125">
            <a:extLst>
              <a:ext uri="{FF2B5EF4-FFF2-40B4-BE49-F238E27FC236}">
                <a16:creationId xmlns:a16="http://schemas.microsoft.com/office/drawing/2014/main" id="{1C9B9406-1C5B-F5F3-12F7-AC2D1845FC38}"/>
              </a:ext>
            </a:extLst>
          </p:cNvPr>
          <p:cNvGrpSpPr/>
          <p:nvPr/>
        </p:nvGrpSpPr>
        <p:grpSpPr>
          <a:xfrm>
            <a:off x="6338049" y="4673387"/>
            <a:ext cx="1692275" cy="898525"/>
            <a:chOff x="3402" y="3249"/>
            <a:chExt cx="1066" cy="566"/>
          </a:xfrm>
        </p:grpSpPr>
        <p:grpSp>
          <p:nvGrpSpPr>
            <p:cNvPr id="127" name="组合 126">
              <a:extLst>
                <a:ext uri="{FF2B5EF4-FFF2-40B4-BE49-F238E27FC236}">
                  <a16:creationId xmlns:a16="http://schemas.microsoft.com/office/drawing/2014/main" id="{BA7073A2-2417-C640-656E-B7A5F1ECBF5A}"/>
                </a:ext>
              </a:extLst>
            </p:cNvPr>
            <p:cNvGrpSpPr/>
            <p:nvPr/>
          </p:nvGrpSpPr>
          <p:grpSpPr>
            <a:xfrm>
              <a:off x="3402" y="3498"/>
              <a:ext cx="1066" cy="317"/>
              <a:chOff x="3107" y="2183"/>
              <a:chExt cx="1066" cy="408"/>
            </a:xfrm>
          </p:grpSpPr>
          <p:sp>
            <p:nvSpPr>
              <p:cNvPr id="133" name="立方体 132">
                <a:extLst>
                  <a:ext uri="{FF2B5EF4-FFF2-40B4-BE49-F238E27FC236}">
                    <a16:creationId xmlns:a16="http://schemas.microsoft.com/office/drawing/2014/main" id="{F2E35F26-ED09-4AB5-EE06-8C15EDC0E832}"/>
                  </a:ext>
                </a:extLst>
              </p:cNvPr>
              <p:cNvSpPr/>
              <p:nvPr/>
            </p:nvSpPr>
            <p:spPr>
              <a:xfrm>
                <a:off x="3107" y="2183"/>
                <a:ext cx="318" cy="408"/>
              </a:xfrm>
              <a:prstGeom prst="cube">
                <a:avLst>
                  <a:gd name="adj" fmla="val 25000"/>
                </a:avLst>
              </a:prstGeom>
              <a:solidFill>
                <a:srgbClr val="660066"/>
              </a:solidFill>
              <a:ln w="9525" cap="flat" cmpd="sng">
                <a:solidFill>
                  <a:srgbClr val="CC0000"/>
                </a:solidFill>
                <a:prstDash val="solid"/>
                <a:miter/>
                <a:headEnd type="none" w="med" len="med"/>
                <a:tailEnd type="none" w="med" len="med"/>
              </a:ln>
            </p:spPr>
            <p:txBody>
              <a:bodyPr/>
              <a:lstStyle/>
              <a:p>
                <a:endParaRPr lang="zh-CN" altLang="en-US"/>
              </a:p>
            </p:txBody>
          </p:sp>
          <p:sp>
            <p:nvSpPr>
              <p:cNvPr id="134" name="立方体 133">
                <a:extLst>
                  <a:ext uri="{FF2B5EF4-FFF2-40B4-BE49-F238E27FC236}">
                    <a16:creationId xmlns:a16="http://schemas.microsoft.com/office/drawing/2014/main" id="{FF1D250B-027C-8EAD-C29A-99766435AD7E}"/>
                  </a:ext>
                </a:extLst>
              </p:cNvPr>
              <p:cNvSpPr/>
              <p:nvPr/>
            </p:nvSpPr>
            <p:spPr>
              <a:xfrm>
                <a:off x="3356" y="2183"/>
                <a:ext cx="318" cy="408"/>
              </a:xfrm>
              <a:prstGeom prst="cube">
                <a:avLst>
                  <a:gd name="adj" fmla="val 25000"/>
                </a:avLst>
              </a:prstGeom>
              <a:solidFill>
                <a:srgbClr val="660066"/>
              </a:solidFill>
              <a:ln w="9525" cap="flat" cmpd="sng">
                <a:solidFill>
                  <a:srgbClr val="CC0000"/>
                </a:solidFill>
                <a:prstDash val="solid"/>
                <a:miter/>
                <a:headEnd type="none" w="med" len="med"/>
                <a:tailEnd type="none" w="med" len="med"/>
              </a:ln>
            </p:spPr>
            <p:txBody>
              <a:bodyPr/>
              <a:lstStyle/>
              <a:p>
                <a:endParaRPr lang="zh-CN" altLang="en-US"/>
              </a:p>
            </p:txBody>
          </p:sp>
          <p:sp>
            <p:nvSpPr>
              <p:cNvPr id="135" name="立方体 134">
                <a:extLst>
                  <a:ext uri="{FF2B5EF4-FFF2-40B4-BE49-F238E27FC236}">
                    <a16:creationId xmlns:a16="http://schemas.microsoft.com/office/drawing/2014/main" id="{1B979A82-2C6B-6329-7FC4-280660A42339}"/>
                  </a:ext>
                </a:extLst>
              </p:cNvPr>
              <p:cNvSpPr/>
              <p:nvPr/>
            </p:nvSpPr>
            <p:spPr>
              <a:xfrm>
                <a:off x="3606" y="2183"/>
                <a:ext cx="318" cy="408"/>
              </a:xfrm>
              <a:prstGeom prst="cube">
                <a:avLst>
                  <a:gd name="adj" fmla="val 25000"/>
                </a:avLst>
              </a:prstGeom>
              <a:solidFill>
                <a:srgbClr val="660066"/>
              </a:solidFill>
              <a:ln w="9525" cap="flat" cmpd="sng">
                <a:solidFill>
                  <a:srgbClr val="CC0000"/>
                </a:solidFill>
                <a:prstDash val="solid"/>
                <a:miter/>
                <a:headEnd type="none" w="med" len="med"/>
                <a:tailEnd type="none" w="med" len="med"/>
              </a:ln>
            </p:spPr>
            <p:txBody>
              <a:bodyPr/>
              <a:lstStyle/>
              <a:p>
                <a:endParaRPr lang="zh-CN" altLang="en-US"/>
              </a:p>
            </p:txBody>
          </p:sp>
          <p:sp>
            <p:nvSpPr>
              <p:cNvPr id="136" name="立方体 135">
                <a:extLst>
                  <a:ext uri="{FF2B5EF4-FFF2-40B4-BE49-F238E27FC236}">
                    <a16:creationId xmlns:a16="http://schemas.microsoft.com/office/drawing/2014/main" id="{FAD22724-7800-D0CD-65CE-748664B5C176}"/>
                  </a:ext>
                </a:extLst>
              </p:cNvPr>
              <p:cNvSpPr/>
              <p:nvPr/>
            </p:nvSpPr>
            <p:spPr>
              <a:xfrm>
                <a:off x="3855" y="2183"/>
                <a:ext cx="318" cy="408"/>
              </a:xfrm>
              <a:prstGeom prst="cube">
                <a:avLst>
                  <a:gd name="adj" fmla="val 25000"/>
                </a:avLst>
              </a:prstGeom>
              <a:solidFill>
                <a:srgbClr val="660066"/>
              </a:solidFill>
              <a:ln w="9525" cap="flat" cmpd="sng">
                <a:solidFill>
                  <a:srgbClr val="CC0000"/>
                </a:solidFill>
                <a:prstDash val="solid"/>
                <a:miter/>
                <a:headEnd type="none" w="med" len="med"/>
                <a:tailEnd type="none" w="med" len="med"/>
              </a:ln>
            </p:spPr>
            <p:txBody>
              <a:bodyPr/>
              <a:lstStyle/>
              <a:p>
                <a:endParaRPr lang="zh-CN" altLang="en-US"/>
              </a:p>
            </p:txBody>
          </p:sp>
        </p:grpSp>
        <p:grpSp>
          <p:nvGrpSpPr>
            <p:cNvPr id="128" name="组合 127">
              <a:extLst>
                <a:ext uri="{FF2B5EF4-FFF2-40B4-BE49-F238E27FC236}">
                  <a16:creationId xmlns:a16="http://schemas.microsoft.com/office/drawing/2014/main" id="{415CA4F4-BFE5-5B91-5325-5F5019F708F5}"/>
                </a:ext>
              </a:extLst>
            </p:cNvPr>
            <p:cNvGrpSpPr/>
            <p:nvPr/>
          </p:nvGrpSpPr>
          <p:grpSpPr>
            <a:xfrm>
              <a:off x="3402" y="3249"/>
              <a:ext cx="1066" cy="317"/>
              <a:chOff x="3107" y="2183"/>
              <a:chExt cx="1066" cy="408"/>
            </a:xfrm>
          </p:grpSpPr>
          <p:sp>
            <p:nvSpPr>
              <p:cNvPr id="129" name="立方体 128">
                <a:extLst>
                  <a:ext uri="{FF2B5EF4-FFF2-40B4-BE49-F238E27FC236}">
                    <a16:creationId xmlns:a16="http://schemas.microsoft.com/office/drawing/2014/main" id="{0903E61F-369E-F2A0-4B2F-CE125F9C8CEF}"/>
                  </a:ext>
                </a:extLst>
              </p:cNvPr>
              <p:cNvSpPr/>
              <p:nvPr/>
            </p:nvSpPr>
            <p:spPr>
              <a:xfrm>
                <a:off x="3107" y="2183"/>
                <a:ext cx="318" cy="408"/>
              </a:xfrm>
              <a:prstGeom prst="cube">
                <a:avLst>
                  <a:gd name="adj" fmla="val 25000"/>
                </a:avLst>
              </a:prstGeom>
              <a:solidFill>
                <a:srgbClr val="660066"/>
              </a:solidFill>
              <a:ln w="9525" cap="flat" cmpd="sng">
                <a:solidFill>
                  <a:srgbClr val="CC0000"/>
                </a:solidFill>
                <a:prstDash val="solid"/>
                <a:miter/>
                <a:headEnd type="none" w="med" len="med"/>
                <a:tailEnd type="none" w="med" len="med"/>
              </a:ln>
            </p:spPr>
            <p:txBody>
              <a:bodyPr/>
              <a:lstStyle/>
              <a:p>
                <a:endParaRPr lang="zh-CN" altLang="en-US"/>
              </a:p>
            </p:txBody>
          </p:sp>
          <p:sp>
            <p:nvSpPr>
              <p:cNvPr id="130" name="立方体 129">
                <a:extLst>
                  <a:ext uri="{FF2B5EF4-FFF2-40B4-BE49-F238E27FC236}">
                    <a16:creationId xmlns:a16="http://schemas.microsoft.com/office/drawing/2014/main" id="{9ECD1706-CCAC-F2A3-8831-608A54602C64}"/>
                  </a:ext>
                </a:extLst>
              </p:cNvPr>
              <p:cNvSpPr/>
              <p:nvPr/>
            </p:nvSpPr>
            <p:spPr>
              <a:xfrm>
                <a:off x="3356" y="2183"/>
                <a:ext cx="318" cy="408"/>
              </a:xfrm>
              <a:prstGeom prst="cube">
                <a:avLst>
                  <a:gd name="adj" fmla="val 25000"/>
                </a:avLst>
              </a:prstGeom>
              <a:solidFill>
                <a:srgbClr val="660066"/>
              </a:solidFill>
              <a:ln w="9525" cap="flat" cmpd="sng">
                <a:solidFill>
                  <a:srgbClr val="CC0000"/>
                </a:solidFill>
                <a:prstDash val="solid"/>
                <a:miter/>
                <a:headEnd type="none" w="med" len="med"/>
                <a:tailEnd type="none" w="med" len="med"/>
              </a:ln>
            </p:spPr>
            <p:txBody>
              <a:bodyPr/>
              <a:lstStyle/>
              <a:p>
                <a:endParaRPr lang="zh-CN" altLang="en-US"/>
              </a:p>
            </p:txBody>
          </p:sp>
          <p:sp>
            <p:nvSpPr>
              <p:cNvPr id="131" name="立方体 130">
                <a:extLst>
                  <a:ext uri="{FF2B5EF4-FFF2-40B4-BE49-F238E27FC236}">
                    <a16:creationId xmlns:a16="http://schemas.microsoft.com/office/drawing/2014/main" id="{68EFFB45-C349-251C-10BA-AA7F3A9819E0}"/>
                  </a:ext>
                </a:extLst>
              </p:cNvPr>
              <p:cNvSpPr/>
              <p:nvPr/>
            </p:nvSpPr>
            <p:spPr>
              <a:xfrm>
                <a:off x="3606" y="2183"/>
                <a:ext cx="318" cy="408"/>
              </a:xfrm>
              <a:prstGeom prst="cube">
                <a:avLst>
                  <a:gd name="adj" fmla="val 25000"/>
                </a:avLst>
              </a:prstGeom>
              <a:solidFill>
                <a:srgbClr val="660066"/>
              </a:solidFill>
              <a:ln w="9525" cap="flat" cmpd="sng">
                <a:solidFill>
                  <a:srgbClr val="CC0000"/>
                </a:solidFill>
                <a:prstDash val="solid"/>
                <a:miter/>
                <a:headEnd type="none" w="med" len="med"/>
                <a:tailEnd type="none" w="med" len="med"/>
              </a:ln>
            </p:spPr>
            <p:txBody>
              <a:bodyPr/>
              <a:lstStyle/>
              <a:p>
                <a:endParaRPr lang="zh-CN" altLang="en-US"/>
              </a:p>
            </p:txBody>
          </p:sp>
          <p:sp>
            <p:nvSpPr>
              <p:cNvPr id="132" name="立方体 131">
                <a:extLst>
                  <a:ext uri="{FF2B5EF4-FFF2-40B4-BE49-F238E27FC236}">
                    <a16:creationId xmlns:a16="http://schemas.microsoft.com/office/drawing/2014/main" id="{8A9B80D5-47A4-CA15-88B7-6FB939542028}"/>
                  </a:ext>
                </a:extLst>
              </p:cNvPr>
              <p:cNvSpPr/>
              <p:nvPr/>
            </p:nvSpPr>
            <p:spPr>
              <a:xfrm>
                <a:off x="3855" y="2183"/>
                <a:ext cx="318" cy="408"/>
              </a:xfrm>
              <a:prstGeom prst="cube">
                <a:avLst>
                  <a:gd name="adj" fmla="val 25000"/>
                </a:avLst>
              </a:prstGeom>
              <a:solidFill>
                <a:srgbClr val="660066"/>
              </a:solidFill>
              <a:ln w="9525" cap="flat" cmpd="sng">
                <a:solidFill>
                  <a:srgbClr val="CC0000"/>
                </a:solidFill>
                <a:prstDash val="solid"/>
                <a:miter/>
                <a:headEnd type="none" w="med" len="med"/>
                <a:tailEnd type="none" w="med" len="med"/>
              </a:ln>
            </p:spPr>
            <p:txBody>
              <a:bodyPr/>
              <a:lstStyle/>
              <a:p>
                <a:endParaRPr lang="zh-CN" altLang="en-US"/>
              </a:p>
            </p:txBody>
          </p:sp>
        </p:grpSp>
      </p:grpSp>
      <p:sp>
        <p:nvSpPr>
          <p:cNvPr id="4" name="灯片编号占位符 3">
            <a:extLst>
              <a:ext uri="{FF2B5EF4-FFF2-40B4-BE49-F238E27FC236}">
                <a16:creationId xmlns:a16="http://schemas.microsoft.com/office/drawing/2014/main" id="{EAA08BA7-8F11-8BA5-3325-A45ED928E323}"/>
              </a:ext>
            </a:extLst>
          </p:cNvPr>
          <p:cNvSpPr>
            <a:spLocks noGrp="1"/>
          </p:cNvSpPr>
          <p:nvPr>
            <p:ph type="sldNum" sz="quarter" idx="12"/>
          </p:nvPr>
        </p:nvSpPr>
        <p:spPr/>
        <p:txBody>
          <a:bodyPr/>
          <a:lstStyle/>
          <a:p>
            <a:fld id="{D7C0FE0B-717B-41AE-9FA2-CA4BF851D1C3}" type="slidenum">
              <a:rPr lang="zh-CN" altLang="en-US" smtClean="0"/>
              <a:t>21</a:t>
            </a:fld>
            <a:endParaRPr lang="zh-CN" altLang="en-US"/>
          </a:p>
        </p:txBody>
      </p:sp>
    </p:spTree>
    <p:extLst>
      <p:ext uri="{BB962C8B-B14F-4D97-AF65-F5344CB8AC3E}">
        <p14:creationId xmlns:p14="http://schemas.microsoft.com/office/powerpoint/2010/main" val="3649591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linds(horizontal)">
                                      <p:cBhvr>
                                        <p:cTn id="7" dur="500"/>
                                        <p:tgtEl>
                                          <p:spTgt spid="23"/>
                                        </p:tgtEl>
                                      </p:cBhvr>
                                    </p:animEffect>
                                  </p:childTnLst>
                                </p:cTn>
                              </p:par>
                              <p:par>
                                <p:cTn id="8" presetID="35" presetClass="path" presetSubtype="0" accel="50000" decel="50000" fill="hold" nodeType="withEffect">
                                  <p:stCondLst>
                                    <p:cond delay="0"/>
                                  </p:stCondLst>
                                  <p:childTnLst>
                                    <p:animMotion origin="layout" path="M 3.33333E-6 -7.40741E-7 L -0.13195 -7.40741E-7 " pathEditMode="relative" rAng="0" ptsTypes="AA">
                                      <p:cBhvr>
                                        <p:cTn id="9" dur="2000" fill="hold"/>
                                        <p:tgtEl>
                                          <p:spTgt spid="18"/>
                                        </p:tgtEl>
                                        <p:attrNameLst>
                                          <p:attrName>ppt_x</p:attrName>
                                          <p:attrName>ppt_y</p:attrName>
                                        </p:attrNameLst>
                                      </p:cBhvr>
                                      <p:rCtr x="-6600" y="0"/>
                                    </p:animMotion>
                                  </p:childTnLst>
                                </p:cTn>
                              </p:par>
                            </p:childTnLst>
                          </p:cTn>
                        </p:par>
                      </p:childTnLst>
                    </p:cTn>
                  </p:par>
                  <p:par>
                    <p:cTn id="10" fill="hold">
                      <p:stCondLst>
                        <p:cond delay="indefinite"/>
                      </p:stCondLst>
                      <p:childTnLst>
                        <p:par>
                          <p:cTn id="11" fill="hold">
                            <p:stCondLst>
                              <p:cond delay="0"/>
                            </p:stCondLst>
                            <p:childTnLst>
                              <p:par>
                                <p:cTn id="12" presetID="3" presetClass="exit" presetSubtype="10" fill="hold" grpId="0" nodeType="clickEffect">
                                  <p:stCondLst>
                                    <p:cond delay="0"/>
                                  </p:stCondLst>
                                  <p:childTnLst>
                                    <p:animEffect transition="out" filter="blinds(horizontal)">
                                      <p:cBhvr>
                                        <p:cTn id="13" dur="500"/>
                                        <p:tgtEl>
                                          <p:spTgt spid="28"/>
                                        </p:tgtEl>
                                      </p:cBhvr>
                                    </p:animEffect>
                                    <p:set>
                                      <p:cBhvr>
                                        <p:cTn id="14" dur="1" fill="hold">
                                          <p:stCondLst>
                                            <p:cond delay="499"/>
                                          </p:stCondLst>
                                        </p:cTn>
                                        <p:tgtEl>
                                          <p:spTgt spid="28"/>
                                        </p:tgtEl>
                                        <p:attrNameLst>
                                          <p:attrName>style.visibility</p:attrName>
                                        </p:attrNameLst>
                                      </p:cBhvr>
                                      <p:to>
                                        <p:strVal val="hidden"/>
                                      </p:to>
                                    </p:set>
                                  </p:childTnLst>
                                </p:cTn>
                              </p:par>
                              <p:par>
                                <p:cTn id="15" presetID="3" presetClass="exit" presetSubtype="10" fill="hold" nodeType="withEffect">
                                  <p:stCondLst>
                                    <p:cond delay="0"/>
                                  </p:stCondLst>
                                  <p:childTnLst>
                                    <p:animEffect transition="out" filter="blinds(horizontal)">
                                      <p:cBhvr>
                                        <p:cTn id="16" dur="500"/>
                                        <p:tgtEl>
                                          <p:spTgt spid="23"/>
                                        </p:tgtEl>
                                      </p:cBhvr>
                                    </p:animEffect>
                                    <p:set>
                                      <p:cBhvr>
                                        <p:cTn id="17" dur="1" fill="hold">
                                          <p:stCondLst>
                                            <p:cond delay="499"/>
                                          </p:stCondLst>
                                        </p:cTn>
                                        <p:tgtEl>
                                          <p:spTgt spid="23"/>
                                        </p:tgtEl>
                                        <p:attrNameLst>
                                          <p:attrName>style.visibility</p:attrName>
                                        </p:attrNameLst>
                                      </p:cBhvr>
                                      <p:to>
                                        <p:strVal val="hidden"/>
                                      </p:to>
                                    </p:set>
                                  </p:childTnLst>
                                </p:cTn>
                              </p:par>
                              <p:par>
                                <p:cTn id="18" presetID="3" presetClass="entr" presetSubtype="10" fill="hold" grpId="0" nodeType="withEffect">
                                  <p:stCondLst>
                                    <p:cond delay="0"/>
                                  </p:stCondLst>
                                  <p:childTnLst>
                                    <p:set>
                                      <p:cBhvr>
                                        <p:cTn id="19" dur="1" fill="hold">
                                          <p:stCondLst>
                                            <p:cond delay="0"/>
                                          </p:stCondLst>
                                        </p:cTn>
                                        <p:tgtEl>
                                          <p:spTgt spid="32"/>
                                        </p:tgtEl>
                                        <p:attrNameLst>
                                          <p:attrName>style.visibility</p:attrName>
                                        </p:attrNameLst>
                                      </p:cBhvr>
                                      <p:to>
                                        <p:strVal val="visible"/>
                                      </p:to>
                                    </p:set>
                                    <p:animEffect transition="in" filter="blinds(horizontal)">
                                      <p:cBhvr>
                                        <p:cTn id="20" dur="500"/>
                                        <p:tgtEl>
                                          <p:spTgt spid="32"/>
                                        </p:tgtEl>
                                      </p:cBhvr>
                                    </p:animEffect>
                                  </p:childTnLst>
                                </p:cTn>
                              </p:par>
                              <p:par>
                                <p:cTn id="21" presetID="3" presetClass="entr" presetSubtype="10" fill="hold" nodeType="with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blinds(horizontal)">
                                      <p:cBhvr>
                                        <p:cTn id="23" dur="500"/>
                                        <p:tgtEl>
                                          <p:spTgt spid="24"/>
                                        </p:tgtEl>
                                      </p:cBhvr>
                                    </p:animEffect>
                                  </p:childTnLst>
                                </p:cTn>
                              </p:par>
                              <p:par>
                                <p:cTn id="24" presetID="63" presetClass="path" presetSubtype="0" accel="50000" decel="50000" fill="hold" nodeType="withEffect">
                                  <p:stCondLst>
                                    <p:cond delay="0"/>
                                  </p:stCondLst>
                                  <p:childTnLst>
                                    <p:animMotion origin="layout" path="M 3.33333E-6 -7.40741E-7 L 0.08854 -7.40741E-7 " pathEditMode="relative" rAng="0" ptsTypes="AA">
                                      <p:cBhvr>
                                        <p:cTn id="25" dur="2000" fill="hold"/>
                                        <p:tgtEl>
                                          <p:spTgt spid="18"/>
                                        </p:tgtEl>
                                        <p:attrNameLst>
                                          <p:attrName>ppt_x</p:attrName>
                                          <p:attrName>ppt_y</p:attrName>
                                        </p:attrNameLst>
                                      </p:cBhvr>
                                      <p:rCtr x="4400" y="0"/>
                                    </p:animMotion>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33"/>
                                        </p:tgtEl>
                                        <p:attrNameLst>
                                          <p:attrName>style.visibility</p:attrName>
                                        </p:attrNameLst>
                                      </p:cBhvr>
                                      <p:to>
                                        <p:strVal val="visible"/>
                                      </p:to>
                                    </p:set>
                                    <p:animEffect transition="in" filter="blinds(horizontal)">
                                      <p:cBhvr>
                                        <p:cTn id="30" dur="500"/>
                                        <p:tgtEl>
                                          <p:spTgt spid="33"/>
                                        </p:tgtEl>
                                      </p:cBhvr>
                                    </p:animEffect>
                                  </p:childTnLst>
                                </p:cTn>
                              </p:par>
                              <p:par>
                                <p:cTn id="31" presetID="3" presetClass="entr" presetSubtype="10" fill="hold" nodeType="withEffect">
                                  <p:stCondLst>
                                    <p:cond delay="0"/>
                                  </p:stCondLst>
                                  <p:childTnLst>
                                    <p:set>
                                      <p:cBhvr>
                                        <p:cTn id="32" dur="1" fill="hold">
                                          <p:stCondLst>
                                            <p:cond delay="0"/>
                                          </p:stCondLst>
                                        </p:cTn>
                                        <p:tgtEl>
                                          <p:spTgt spid="34"/>
                                        </p:tgtEl>
                                        <p:attrNameLst>
                                          <p:attrName>style.visibility</p:attrName>
                                        </p:attrNameLst>
                                      </p:cBhvr>
                                      <p:to>
                                        <p:strVal val="visible"/>
                                      </p:to>
                                    </p:set>
                                    <p:animEffect transition="in" filter="blinds(horizontal)">
                                      <p:cBhvr>
                                        <p:cTn id="33" dur="500"/>
                                        <p:tgtEl>
                                          <p:spTgt spid="34"/>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126"/>
                                        </p:tgtEl>
                                        <p:attrNameLst>
                                          <p:attrName>style.visibility</p:attrName>
                                        </p:attrNameLst>
                                      </p:cBhvr>
                                      <p:to>
                                        <p:strVal val="visible"/>
                                      </p:to>
                                    </p:set>
                                    <p:animEffect transition="in" filter="blinds(horizontal)">
                                      <p:cBhvr>
                                        <p:cTn id="38" dur="500"/>
                                        <p:tgtEl>
                                          <p:spTgt spid="126"/>
                                        </p:tgtEl>
                                      </p:cBhvr>
                                    </p:animEffect>
                                  </p:childTnLst>
                                </p:cTn>
                              </p:par>
                            </p:childTnLst>
                          </p:cTn>
                        </p:par>
                      </p:childTnLst>
                    </p:cTn>
                  </p:par>
                  <p:par>
                    <p:cTn id="39" fill="hold">
                      <p:stCondLst>
                        <p:cond delay="indefinite"/>
                      </p:stCondLst>
                      <p:childTnLst>
                        <p:par>
                          <p:cTn id="40" fill="hold">
                            <p:stCondLst>
                              <p:cond delay="0"/>
                            </p:stCondLst>
                            <p:childTnLst>
                              <p:par>
                                <p:cTn id="41" presetID="0" presetClass="path" presetSubtype="0" accel="50000" decel="50000" fill="hold" nodeType="clickEffect">
                                  <p:stCondLst>
                                    <p:cond delay="0"/>
                                  </p:stCondLst>
                                  <p:childTnLst>
                                    <p:animMotion origin="layout" path="M 0.00191 0.00787 L -0.13003 -0.11018 " pathEditMode="relative" rAng="0" ptsTypes="AA">
                                      <p:cBhvr>
                                        <p:cTn id="42" dur="2000" fill="hold"/>
                                        <p:tgtEl>
                                          <p:spTgt spid="126"/>
                                        </p:tgtEl>
                                        <p:attrNameLst>
                                          <p:attrName>ppt_x</p:attrName>
                                          <p:attrName>ppt_y</p:attrName>
                                        </p:attrNameLst>
                                      </p:cBhvr>
                                      <p:rCtr x="-6600" y="-59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2" grpId="0"/>
      <p:bldP spid="3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91139">
            <a:extLst>
              <a:ext uri="{FF2B5EF4-FFF2-40B4-BE49-F238E27FC236}">
                <a16:creationId xmlns:a16="http://schemas.microsoft.com/office/drawing/2014/main" id="{1D89C008-0C2D-FD83-C540-221B506DAA36}"/>
              </a:ext>
            </a:extLst>
          </p:cNvPr>
          <p:cNvSpPr txBox="1">
            <a:spLocks/>
          </p:cNvSpPr>
          <p:nvPr/>
        </p:nvSpPr>
        <p:spPr>
          <a:xfrm>
            <a:off x="1381136" y="1100359"/>
            <a:ext cx="4820676" cy="616146"/>
          </a:xfrm>
          <a:prstGeom prst="rect">
            <a:avLst/>
          </a:prstGeom>
        </p:spPr>
        <p:txBody>
          <a:bodyPr vert="horz" lIns="91440" tIns="45720" rIns="91440" bIns="45720" rtlCol="0" anchor="ctr" anchorCtr="0">
            <a:normAutofit/>
          </a:bodyPr>
          <a:lstStyle>
            <a:defPPr>
              <a:defRPr lang="zh-CN"/>
            </a:defPPr>
            <a:lvl1pPr>
              <a:lnSpc>
                <a:spcPct val="90000"/>
              </a:lnSpc>
              <a:spcBef>
                <a:spcPct val="0"/>
              </a:spcBef>
              <a:buNone/>
              <a:defRPr sz="2800">
                <a:solidFill>
                  <a:srgbClr val="C00000"/>
                </a:solidFill>
                <a:effectLst>
                  <a:outerShdw blurRad="38100" dist="38100" dir="2700000" algn="tl">
                    <a:srgbClr val="000000">
                      <a:alpha val="43137"/>
                    </a:srgbClr>
                  </a:outerShdw>
                </a:effectLst>
                <a:latin typeface="+mj-lt"/>
                <a:ea typeface="+mj-ea"/>
                <a:cs typeface="+mj-cs"/>
              </a:defRPr>
            </a:lvl1pPr>
          </a:lstStyle>
          <a:p>
            <a:r>
              <a:rPr lang="en-US" altLang="zh-CN" dirty="0"/>
              <a:t>1.1.1  </a:t>
            </a:r>
            <a:r>
              <a:rPr lang="zh-CN" altLang="en-US" dirty="0"/>
              <a:t>数据结构讨论的范畴</a:t>
            </a:r>
          </a:p>
        </p:txBody>
      </p:sp>
      <p:sp>
        <p:nvSpPr>
          <p:cNvPr id="3" name="灯片编号占位符 1">
            <a:extLst>
              <a:ext uri="{FF2B5EF4-FFF2-40B4-BE49-F238E27FC236}">
                <a16:creationId xmlns:a16="http://schemas.microsoft.com/office/drawing/2014/main" id="{2ED28A56-8496-E86A-6834-4688BF59D82C}"/>
              </a:ext>
            </a:extLst>
          </p:cNvPr>
          <p:cNvSpPr>
            <a:spLocks noGrp="1"/>
          </p:cNvSpPr>
          <p:nvPr>
            <p:ph type="sldNum" sz="quarter" idx="12"/>
          </p:nvPr>
        </p:nvSpPr>
        <p:spPr>
          <a:xfrm>
            <a:off x="8662716" y="6901200"/>
            <a:ext cx="2743200" cy="365125"/>
          </a:xfrm>
        </p:spPr>
        <p:txBody>
          <a:bodyPr/>
          <a:lstStyle/>
          <a:p>
            <a:pPr lvl="0">
              <a:spcBef>
                <a:spcPct val="50000"/>
              </a:spcBef>
            </a:pPr>
            <a:fld id="{9A0DB2DC-4C9A-4742-B13C-FB6460FD3503}" type="slidenum">
              <a:rPr lang="zh-CN" altLang="en-US" dirty="0">
                <a:latin typeface="Times New Roman" panose="02020603050405020304" pitchFamily="18" charset="0"/>
              </a:rPr>
              <a:t>22</a:t>
            </a:fld>
            <a:endParaRPr lang="zh-CN" altLang="en-US" dirty="0">
              <a:latin typeface="Times New Roman" panose="02020603050405020304" pitchFamily="18" charset="0"/>
            </a:endParaRPr>
          </a:p>
        </p:txBody>
      </p:sp>
      <p:sp>
        <p:nvSpPr>
          <p:cNvPr id="4" name="矩形 3">
            <a:extLst>
              <a:ext uri="{FF2B5EF4-FFF2-40B4-BE49-F238E27FC236}">
                <a16:creationId xmlns:a16="http://schemas.microsoft.com/office/drawing/2014/main" id="{49AD5736-C155-B7D4-49EA-907018B7525C}"/>
              </a:ext>
            </a:extLst>
          </p:cNvPr>
          <p:cNvSpPr/>
          <p:nvPr/>
        </p:nvSpPr>
        <p:spPr>
          <a:xfrm>
            <a:off x="1737762" y="1860643"/>
            <a:ext cx="8928100" cy="4540158"/>
          </a:xfrm>
          <a:prstGeom prst="rect">
            <a:avLst/>
          </a:prstGeom>
          <a:noFill/>
          <a:ln w="9525">
            <a:noFill/>
          </a:ln>
        </p:spPr>
        <p:txBody>
          <a:bodyPr/>
          <a:lstStyle/>
          <a:p>
            <a:pPr algn="just">
              <a:lnSpc>
                <a:spcPct val="110000"/>
              </a:lnSpc>
              <a:spcBef>
                <a:spcPct val="20000"/>
              </a:spcBef>
              <a:buClr>
                <a:schemeClr val="bg2"/>
              </a:buClr>
              <a:buFont typeface="Monotype Sorts" pitchFamily="2" charset="2"/>
            </a:pPr>
            <a:r>
              <a:rPr lang="zh-CN" altLang="en-US" sz="2400" dirty="0">
                <a:solidFill>
                  <a:srgbClr val="CC0000"/>
                </a:solidFill>
                <a:effectLst>
                  <a:outerShdw blurRad="38100" dist="38100" dir="2700000">
                    <a:srgbClr val="000000"/>
                  </a:outerShdw>
                </a:effectLst>
                <a:ea typeface="华文琥珀" pitchFamily="2" charset="-122"/>
              </a:rPr>
              <a:t>你同意吗</a:t>
            </a:r>
            <a:r>
              <a:rPr lang="zh-CN" altLang="en-US" sz="2400" b="1" dirty="0">
                <a:solidFill>
                  <a:srgbClr val="CC0000"/>
                </a:solidFill>
                <a:effectLst>
                  <a:outerShdw blurRad="38100" dist="38100" dir="2700000">
                    <a:srgbClr val="000000"/>
                  </a:outerShdw>
                </a:effectLst>
                <a:ea typeface="华文琥珀" pitchFamily="2" charset="-122"/>
              </a:rPr>
              <a:t>？</a:t>
            </a:r>
            <a:r>
              <a:rPr lang="zh-CN" altLang="en-US" sz="2400" b="1" dirty="0">
                <a:solidFill>
                  <a:srgbClr val="000000"/>
                </a:solidFill>
              </a:rPr>
              <a:t>                           </a:t>
            </a:r>
          </a:p>
          <a:p>
            <a:pPr algn="just">
              <a:lnSpc>
                <a:spcPct val="110000"/>
              </a:lnSpc>
              <a:spcBef>
                <a:spcPct val="20000"/>
              </a:spcBef>
              <a:buClr>
                <a:schemeClr val="bg2"/>
              </a:buClr>
              <a:buFont typeface="Monotype Sorts" pitchFamily="2" charset="2"/>
            </a:pPr>
            <a:r>
              <a:rPr lang="zh-CN" altLang="en-US" sz="2400" b="1" dirty="0">
                <a:solidFill>
                  <a:srgbClr val="000000"/>
                </a:solidFill>
              </a:rPr>
              <a:t>       计算机</a:t>
            </a:r>
            <a:r>
              <a:rPr lang="en-US" altLang="zh-CN" sz="2400" b="1" dirty="0">
                <a:solidFill>
                  <a:srgbClr val="000000"/>
                </a:solidFill>
              </a:rPr>
              <a:t>70~90%</a:t>
            </a:r>
            <a:r>
              <a:rPr lang="zh-CN" altLang="en-US" sz="2400" b="1" dirty="0">
                <a:solidFill>
                  <a:srgbClr val="000000"/>
                </a:solidFill>
              </a:rPr>
              <a:t>运行时间是进行查找、排序；</a:t>
            </a:r>
          </a:p>
          <a:p>
            <a:pPr algn="just">
              <a:lnSpc>
                <a:spcPct val="110000"/>
              </a:lnSpc>
              <a:spcBef>
                <a:spcPct val="20000"/>
              </a:spcBef>
              <a:buClr>
                <a:schemeClr val="bg2"/>
              </a:buClr>
              <a:buFont typeface="Monotype Sorts" pitchFamily="2" charset="2"/>
            </a:pPr>
            <a:r>
              <a:rPr lang="zh-CN" altLang="en-US" sz="2400" b="1" dirty="0">
                <a:solidFill>
                  <a:srgbClr val="000000"/>
                </a:solidFill>
              </a:rPr>
              <a:t>       科学家</a:t>
            </a:r>
            <a:r>
              <a:rPr lang="en-US" altLang="zh-CN" sz="2400" b="1" dirty="0">
                <a:solidFill>
                  <a:srgbClr val="000000"/>
                </a:solidFill>
              </a:rPr>
              <a:t>20~50%</a:t>
            </a:r>
            <a:r>
              <a:rPr lang="zh-CN" altLang="en-US" sz="2400" b="1" dirty="0">
                <a:solidFill>
                  <a:srgbClr val="000000"/>
                </a:solidFill>
              </a:rPr>
              <a:t>工作时间是进行资料检索、分析；</a:t>
            </a:r>
          </a:p>
          <a:p>
            <a:pPr algn="just">
              <a:lnSpc>
                <a:spcPct val="110000"/>
              </a:lnSpc>
              <a:spcBef>
                <a:spcPct val="20000"/>
              </a:spcBef>
              <a:buClr>
                <a:schemeClr val="bg2"/>
              </a:buClr>
              <a:buFont typeface="Monotype Sorts" pitchFamily="2" charset="2"/>
            </a:pPr>
            <a:r>
              <a:rPr lang="zh-CN" altLang="en-US" sz="2400" b="1" dirty="0">
                <a:solidFill>
                  <a:srgbClr val="000000"/>
                </a:solidFill>
              </a:rPr>
              <a:t>       毕业生</a:t>
            </a:r>
            <a:r>
              <a:rPr lang="en-US" altLang="zh-CN" sz="2400" b="1" dirty="0">
                <a:solidFill>
                  <a:srgbClr val="000000"/>
                </a:solidFill>
              </a:rPr>
              <a:t>20~70%</a:t>
            </a:r>
            <a:r>
              <a:rPr lang="zh-CN" altLang="en-US" sz="2400" b="1" dirty="0">
                <a:solidFill>
                  <a:srgbClr val="000000"/>
                </a:solidFill>
              </a:rPr>
              <a:t>日常时间是进行求职（找饭碗）；</a:t>
            </a:r>
          </a:p>
          <a:p>
            <a:pPr algn="just">
              <a:lnSpc>
                <a:spcPct val="110000"/>
              </a:lnSpc>
              <a:spcBef>
                <a:spcPct val="20000"/>
              </a:spcBef>
              <a:buClr>
                <a:schemeClr val="bg2"/>
              </a:buClr>
              <a:buFont typeface="Monotype Sorts" pitchFamily="2" charset="2"/>
            </a:pPr>
            <a:r>
              <a:rPr lang="zh-CN" altLang="en-US" sz="2400" b="1" dirty="0">
                <a:solidFill>
                  <a:srgbClr val="000000"/>
                </a:solidFill>
              </a:rPr>
              <a:t>        </a:t>
            </a:r>
            <a:r>
              <a:rPr lang="en-US" altLang="zh-CN" sz="2400" b="1" dirty="0">
                <a:solidFill>
                  <a:srgbClr val="000000"/>
                </a:solidFill>
              </a:rPr>
              <a:t>… …</a:t>
            </a:r>
          </a:p>
          <a:p>
            <a:pPr algn="just">
              <a:lnSpc>
                <a:spcPct val="110000"/>
              </a:lnSpc>
              <a:spcBef>
                <a:spcPct val="20000"/>
              </a:spcBef>
              <a:buClr>
                <a:schemeClr val="bg2"/>
              </a:buClr>
              <a:buFont typeface="Monotype Sorts" pitchFamily="2" charset="2"/>
            </a:pPr>
            <a:r>
              <a:rPr lang="en-US" altLang="zh-CN" sz="2400" b="1" dirty="0">
                <a:solidFill>
                  <a:srgbClr val="000000"/>
                </a:solidFill>
              </a:rPr>
              <a:t>       </a:t>
            </a:r>
            <a:r>
              <a:rPr lang="zh-CN" altLang="en-US" sz="2400" b="1" dirty="0">
                <a:solidFill>
                  <a:srgbClr val="000000"/>
                </a:solidFill>
              </a:rPr>
              <a:t>你每天花大量的时间在进行各种查找（物品、知识）；</a:t>
            </a:r>
          </a:p>
          <a:p>
            <a:pPr algn="just">
              <a:lnSpc>
                <a:spcPct val="110000"/>
              </a:lnSpc>
              <a:spcBef>
                <a:spcPct val="20000"/>
              </a:spcBef>
              <a:buClr>
                <a:schemeClr val="bg2"/>
              </a:buClr>
              <a:buFont typeface="Monotype Sorts" pitchFamily="2" charset="2"/>
            </a:pPr>
            <a:r>
              <a:rPr lang="zh-CN" altLang="en-US" sz="2400" dirty="0">
                <a:solidFill>
                  <a:srgbClr val="CC0000"/>
                </a:solidFill>
                <a:effectLst>
                  <a:outerShdw blurRad="38100" dist="38100" dir="2700000">
                    <a:srgbClr val="000000"/>
                  </a:outerShdw>
                </a:effectLst>
                <a:ea typeface="华文琥珀" pitchFamily="2" charset="-122"/>
              </a:rPr>
              <a:t>结论：</a:t>
            </a:r>
          </a:p>
          <a:p>
            <a:pPr algn="just">
              <a:lnSpc>
                <a:spcPct val="110000"/>
              </a:lnSpc>
              <a:spcBef>
                <a:spcPct val="20000"/>
              </a:spcBef>
              <a:buClr>
                <a:schemeClr val="bg2"/>
              </a:buClr>
              <a:buFont typeface="Monotype Sorts" pitchFamily="2" charset="2"/>
            </a:pPr>
            <a:r>
              <a:rPr lang="zh-CN" altLang="en-US" sz="2400" b="1" dirty="0">
                <a:solidFill>
                  <a:srgbClr val="000000"/>
                </a:solidFill>
              </a:rPr>
              <a:t>       生活和工作中，人们进行种种寻觅！（主动或被动）</a:t>
            </a:r>
            <a:endParaRPr lang="en-US" altLang="zh-CN" sz="2400" b="1" dirty="0">
              <a:solidFill>
                <a:srgbClr val="000000"/>
              </a:solidFill>
            </a:endParaRPr>
          </a:p>
          <a:p>
            <a:pPr algn="just">
              <a:lnSpc>
                <a:spcPct val="110000"/>
              </a:lnSpc>
              <a:spcBef>
                <a:spcPct val="20000"/>
              </a:spcBef>
              <a:buClr>
                <a:schemeClr val="bg2"/>
              </a:buClr>
              <a:buFont typeface="Monotype Sorts" pitchFamily="2" charset="2"/>
            </a:pPr>
            <a:r>
              <a:rPr lang="zh-CN" altLang="en-US" sz="2400" b="1" dirty="0">
                <a:solidFill>
                  <a:srgbClr val="000000"/>
                </a:solidFill>
              </a:rPr>
              <a:t>其中，有些是在</a:t>
            </a:r>
            <a:r>
              <a:rPr lang="zh-CN" altLang="en-US" sz="2400" b="1" dirty="0">
                <a:solidFill>
                  <a:srgbClr val="CC0000"/>
                </a:solidFill>
                <a:effectLst>
                  <a:outerShdw blurRad="38100" dist="38100" dir="2700000">
                    <a:srgbClr val="000000"/>
                  </a:outerShdw>
                </a:effectLst>
                <a:ea typeface="黑体" panose="02010609060101010101" pitchFamily="49" charset="-122"/>
              </a:rPr>
              <a:t>既定范围</a:t>
            </a:r>
            <a:r>
              <a:rPr lang="zh-CN" altLang="en-US" sz="2400" b="1" dirty="0">
                <a:solidFill>
                  <a:srgbClr val="000000"/>
                </a:solidFill>
              </a:rPr>
              <a:t>查找，有些则是</a:t>
            </a:r>
            <a:r>
              <a:rPr lang="zh-CN" altLang="en-US" sz="2400" b="1" dirty="0">
                <a:solidFill>
                  <a:srgbClr val="CC0000"/>
                </a:solidFill>
                <a:effectLst>
                  <a:outerShdw blurRad="38100" dist="38100" dir="2700000">
                    <a:srgbClr val="000000"/>
                  </a:outerShdw>
                </a:effectLst>
                <a:ea typeface="黑体" panose="02010609060101010101" pitchFamily="49" charset="-122"/>
              </a:rPr>
              <a:t>未知范围</a:t>
            </a:r>
            <a:r>
              <a:rPr lang="zh-CN" altLang="en-US" sz="2400" b="1" dirty="0">
                <a:solidFill>
                  <a:srgbClr val="000000"/>
                </a:solidFill>
              </a:rPr>
              <a:t>！</a:t>
            </a:r>
          </a:p>
        </p:txBody>
      </p:sp>
      <p:sp>
        <p:nvSpPr>
          <p:cNvPr id="5" name="标题 91139">
            <a:extLst>
              <a:ext uri="{FF2B5EF4-FFF2-40B4-BE49-F238E27FC236}">
                <a16:creationId xmlns:a16="http://schemas.microsoft.com/office/drawing/2014/main" id="{1D89C008-0C2D-FD83-C540-221B506DAA36}"/>
              </a:ext>
            </a:extLst>
          </p:cNvPr>
          <p:cNvSpPr txBox="1">
            <a:spLocks/>
          </p:cNvSpPr>
          <p:nvPr/>
        </p:nvSpPr>
        <p:spPr>
          <a:xfrm>
            <a:off x="1326225" y="221379"/>
            <a:ext cx="4820676" cy="616146"/>
          </a:xfrm>
          <a:prstGeom prst="rect">
            <a:avLst/>
          </a:prstGeom>
        </p:spPr>
        <p:txBody>
          <a:bodyPr vert="horz" lIns="91440" tIns="45720" rIns="91440" bIns="45720" rtlCol="0" anchor="ctr" anchorCtr="0">
            <a:normAutofit/>
          </a:bodyPr>
          <a:lstStyle>
            <a:defPPr>
              <a:defRPr lang="zh-CN"/>
            </a:defPPr>
            <a:lvl1pPr marL="0" algn="l" defTabSz="914400" rtl="0" eaLnBrk="1" latinLnBrk="0" hangingPunct="1">
              <a:lnSpc>
                <a:spcPct val="90000"/>
              </a:lnSpc>
              <a:spcBef>
                <a:spcPct val="0"/>
              </a:spcBef>
              <a:buNone/>
              <a:defRPr sz="3200" kern="1200">
                <a:solidFill>
                  <a:srgbClr val="000099"/>
                </a:solidFill>
                <a:effectLst>
                  <a:outerShdw blurRad="38100" dist="38100" dir="2700000" algn="tl">
                    <a:srgbClr val="000000">
                      <a:alpha val="43137"/>
                    </a:srgbClr>
                  </a:outerShdw>
                </a:effectLst>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t>1.1  </a:t>
            </a:r>
            <a:r>
              <a:rPr lang="zh-CN" altLang="en-US" b="1" dirty="0"/>
              <a:t>什么是数据结构？</a:t>
            </a:r>
          </a:p>
        </p:txBody>
      </p:sp>
    </p:spTree>
    <p:extLst>
      <p:ext uri="{BB962C8B-B14F-4D97-AF65-F5344CB8AC3E}">
        <p14:creationId xmlns:p14="http://schemas.microsoft.com/office/powerpoint/2010/main" val="3128397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24931">
            <a:extLst>
              <a:ext uri="{FF2B5EF4-FFF2-40B4-BE49-F238E27FC236}">
                <a16:creationId xmlns:a16="http://schemas.microsoft.com/office/drawing/2014/main" id="{560BA643-15B2-D378-F087-785A8E04AE3A}"/>
              </a:ext>
            </a:extLst>
          </p:cNvPr>
          <p:cNvSpPr txBox="1">
            <a:spLocks/>
          </p:cNvSpPr>
          <p:nvPr/>
        </p:nvSpPr>
        <p:spPr>
          <a:xfrm>
            <a:off x="1345642" y="41768"/>
            <a:ext cx="6215926" cy="739775"/>
          </a:xfrm>
          <a:prstGeom prst="rect">
            <a:avLst/>
          </a:prstGeom>
        </p:spPr>
        <p:txBody>
          <a:bodyPr anchor="b"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i="1" dirty="0">
                <a:solidFill>
                  <a:srgbClr val="CC0099"/>
                </a:solidFill>
                <a:effectLst>
                  <a:outerShdw blurRad="38100" dist="38100" dir="2700000">
                    <a:srgbClr val="000000"/>
                  </a:outerShdw>
                </a:effectLst>
                <a:ea typeface="华文琥珀" pitchFamily="2" charset="-122"/>
              </a:rPr>
              <a:t>计算机如何高效地查找、排序？</a:t>
            </a:r>
          </a:p>
        </p:txBody>
      </p:sp>
      <p:sp>
        <p:nvSpPr>
          <p:cNvPr id="3" name="灯片编号占位符 1">
            <a:extLst>
              <a:ext uri="{FF2B5EF4-FFF2-40B4-BE49-F238E27FC236}">
                <a16:creationId xmlns:a16="http://schemas.microsoft.com/office/drawing/2014/main" id="{74335466-61C7-A3BD-0FA4-8CA06997BFC0}"/>
              </a:ext>
            </a:extLst>
          </p:cNvPr>
          <p:cNvSpPr>
            <a:spLocks noGrp="1"/>
          </p:cNvSpPr>
          <p:nvPr>
            <p:ph type="sldNum" sz="quarter" idx="12"/>
          </p:nvPr>
        </p:nvSpPr>
        <p:spPr>
          <a:xfrm>
            <a:off x="8610600" y="6356350"/>
            <a:ext cx="2743200" cy="365125"/>
          </a:xfrm>
        </p:spPr>
        <p:txBody>
          <a:bodyPr/>
          <a:lstStyle/>
          <a:p>
            <a:pPr lvl="0">
              <a:spcBef>
                <a:spcPct val="50000"/>
              </a:spcBef>
            </a:pPr>
            <a:fld id="{9A0DB2DC-4C9A-4742-B13C-FB6460FD3503}" type="slidenum">
              <a:rPr lang="zh-CN" altLang="en-US" dirty="0">
                <a:latin typeface="Times New Roman" panose="02020603050405020304" pitchFamily="18" charset="0"/>
              </a:rPr>
              <a:t>23</a:t>
            </a:fld>
            <a:endParaRPr lang="zh-CN" altLang="en-US" dirty="0">
              <a:latin typeface="Times New Roman" panose="02020603050405020304" pitchFamily="18" charset="0"/>
            </a:endParaRPr>
          </a:p>
        </p:txBody>
      </p:sp>
      <p:sp>
        <p:nvSpPr>
          <p:cNvPr id="4" name="矩形 3">
            <a:extLst>
              <a:ext uri="{FF2B5EF4-FFF2-40B4-BE49-F238E27FC236}">
                <a16:creationId xmlns:a16="http://schemas.microsoft.com/office/drawing/2014/main" id="{5D3F63E1-2849-9CCB-5EA6-A732F32B56EC}"/>
              </a:ext>
            </a:extLst>
          </p:cNvPr>
          <p:cNvSpPr/>
          <p:nvPr/>
        </p:nvSpPr>
        <p:spPr>
          <a:xfrm>
            <a:off x="1757362" y="1247775"/>
            <a:ext cx="8677275" cy="5108575"/>
          </a:xfrm>
          <a:prstGeom prst="rect">
            <a:avLst/>
          </a:prstGeom>
          <a:noFill/>
          <a:ln w="9525">
            <a:noFill/>
          </a:ln>
        </p:spPr>
        <p:txBody>
          <a:bodyPr/>
          <a:lstStyle/>
          <a:p>
            <a:pPr algn="just">
              <a:lnSpc>
                <a:spcPct val="150000"/>
              </a:lnSpc>
              <a:spcBef>
                <a:spcPct val="20000"/>
              </a:spcBef>
              <a:buClr>
                <a:schemeClr val="bg2"/>
              </a:buClr>
              <a:buFont typeface="Monotype Sorts" pitchFamily="2" charset="2"/>
            </a:pPr>
            <a:r>
              <a:rPr lang="en-US" altLang="zh-CN" sz="2400" b="1" i="1" dirty="0">
                <a:solidFill>
                  <a:srgbClr val="CC0000"/>
                </a:solidFill>
                <a:effectLst>
                  <a:outerShdw blurRad="38100" dist="38100" dir="2700000">
                    <a:srgbClr val="000000"/>
                  </a:outerShdw>
                </a:effectLst>
                <a:latin typeface="Broadway" pitchFamily="82" charset="0"/>
              </a:rPr>
              <a:t>What</a:t>
            </a:r>
            <a:r>
              <a:rPr lang="en-US" altLang="zh-CN" sz="2400" b="1" i="1" dirty="0">
                <a:solidFill>
                  <a:srgbClr val="000000"/>
                </a:solidFill>
                <a:effectLst>
                  <a:outerShdw blurRad="38100" dist="38100" dir="2700000">
                    <a:srgbClr val="FFFFFF"/>
                  </a:outerShdw>
                </a:effectLst>
              </a:rPr>
              <a:t> </a:t>
            </a:r>
            <a:r>
              <a:rPr lang="en-US" altLang="zh-CN" sz="2400" b="1" dirty="0">
                <a:solidFill>
                  <a:srgbClr val="000000"/>
                </a:solidFill>
                <a:effectLst>
                  <a:outerShdw blurRad="38100" dist="38100" dir="2700000">
                    <a:srgbClr val="FFFFFF"/>
                  </a:outerShdw>
                </a:effectLst>
              </a:rPr>
              <a:t>     </a:t>
            </a:r>
            <a:r>
              <a:rPr lang="zh-CN" altLang="en-US" sz="2400" b="1" dirty="0">
                <a:solidFill>
                  <a:srgbClr val="000000"/>
                </a:solidFill>
                <a:effectLst>
                  <a:outerShdw blurRad="38100" dist="38100" dir="2700000">
                    <a:srgbClr val="FFFFFF"/>
                  </a:outerShdw>
                </a:effectLst>
                <a:ea typeface="黑体" panose="02010609060101010101" pitchFamily="49" charset="-122"/>
              </a:rPr>
              <a:t>找什么？</a:t>
            </a:r>
            <a:r>
              <a:rPr lang="zh-CN" altLang="en-US" sz="2400" b="1" dirty="0">
                <a:solidFill>
                  <a:srgbClr val="000000"/>
                </a:solidFill>
              </a:rPr>
              <a:t>   计算机处理的对象是什么？</a:t>
            </a:r>
          </a:p>
          <a:p>
            <a:pPr algn="just">
              <a:lnSpc>
                <a:spcPct val="150000"/>
              </a:lnSpc>
              <a:spcBef>
                <a:spcPct val="20000"/>
              </a:spcBef>
              <a:buClr>
                <a:schemeClr val="bg2"/>
              </a:buClr>
              <a:buFont typeface="Monotype Sorts" pitchFamily="2" charset="2"/>
            </a:pPr>
            <a:r>
              <a:rPr lang="en-US" altLang="zh-CN" sz="2400" b="1" i="1" dirty="0">
                <a:solidFill>
                  <a:srgbClr val="CC0000"/>
                </a:solidFill>
                <a:effectLst>
                  <a:outerShdw blurRad="38100" dist="38100" dir="2700000">
                    <a:srgbClr val="000000"/>
                  </a:outerShdw>
                </a:effectLst>
                <a:latin typeface="Broadway" pitchFamily="82" charset="0"/>
              </a:rPr>
              <a:t>Where</a:t>
            </a:r>
            <a:r>
              <a:rPr lang="en-US" altLang="zh-CN" sz="2400" b="1" dirty="0">
                <a:solidFill>
                  <a:srgbClr val="000000"/>
                </a:solidFill>
                <a:effectLst>
                  <a:outerShdw blurRad="38100" dist="38100" dir="2700000">
                    <a:srgbClr val="FFFFFF"/>
                  </a:outerShdw>
                </a:effectLst>
              </a:rPr>
              <a:t>    </a:t>
            </a:r>
            <a:r>
              <a:rPr lang="zh-CN" altLang="en-US" sz="2400" b="1" dirty="0">
                <a:solidFill>
                  <a:srgbClr val="000000"/>
                </a:solidFill>
                <a:effectLst>
                  <a:outerShdw blurRad="38100" dist="38100" dir="2700000">
                    <a:srgbClr val="FFFFFF"/>
                  </a:outerShdw>
                </a:effectLst>
                <a:ea typeface="黑体" panose="02010609060101010101" pitchFamily="49" charset="-122"/>
              </a:rPr>
              <a:t>在哪里？</a:t>
            </a:r>
          </a:p>
          <a:p>
            <a:pPr algn="just">
              <a:lnSpc>
                <a:spcPct val="150000"/>
              </a:lnSpc>
              <a:spcBef>
                <a:spcPct val="20000"/>
              </a:spcBef>
              <a:buClr>
                <a:schemeClr val="bg2"/>
              </a:buClr>
              <a:buFont typeface="Monotype Sorts" pitchFamily="2" charset="2"/>
            </a:pPr>
            <a:r>
              <a:rPr lang="en-US" altLang="zh-CN" sz="2400" b="1" i="1" dirty="0">
                <a:solidFill>
                  <a:srgbClr val="CC0000"/>
                </a:solidFill>
                <a:effectLst>
                  <a:outerShdw blurRad="38100" dist="38100" dir="2700000">
                    <a:srgbClr val="000000"/>
                  </a:outerShdw>
                </a:effectLst>
                <a:latin typeface="Broadway" pitchFamily="82" charset="0"/>
              </a:rPr>
              <a:t>How</a:t>
            </a:r>
            <a:r>
              <a:rPr lang="en-US" altLang="zh-CN" sz="2400" b="1" dirty="0">
                <a:solidFill>
                  <a:srgbClr val="000000"/>
                </a:solidFill>
                <a:effectLst>
                  <a:outerShdw blurRad="38100" dist="38100" dir="2700000">
                    <a:srgbClr val="FFFFFF"/>
                  </a:outerShdw>
                </a:effectLst>
              </a:rPr>
              <a:t>         </a:t>
            </a:r>
            <a:r>
              <a:rPr lang="zh-CN" altLang="en-US" sz="2400" b="1" dirty="0">
                <a:solidFill>
                  <a:srgbClr val="000000"/>
                </a:solidFill>
                <a:effectLst>
                  <a:outerShdw blurRad="38100" dist="38100" dir="2700000">
                    <a:srgbClr val="FFFFFF"/>
                  </a:outerShdw>
                </a:effectLst>
                <a:ea typeface="黑体" panose="02010609060101010101" pitchFamily="49" charset="-122"/>
              </a:rPr>
              <a:t>如何找？</a:t>
            </a:r>
          </a:p>
          <a:p>
            <a:pPr algn="just">
              <a:lnSpc>
                <a:spcPct val="150000"/>
              </a:lnSpc>
              <a:spcBef>
                <a:spcPct val="20000"/>
              </a:spcBef>
              <a:buClr>
                <a:schemeClr val="bg2"/>
              </a:buClr>
              <a:buFont typeface="Monotype Sorts" pitchFamily="2" charset="2"/>
            </a:pPr>
            <a:r>
              <a:rPr lang="zh-CN" altLang="en-US" sz="2400" b="1" dirty="0">
                <a:solidFill>
                  <a:srgbClr val="000000"/>
                </a:solidFill>
              </a:rPr>
              <a:t>计算机如何表示和处理形形色色的各种对象？</a:t>
            </a:r>
          </a:p>
          <a:p>
            <a:pPr algn="just">
              <a:lnSpc>
                <a:spcPct val="150000"/>
              </a:lnSpc>
              <a:spcBef>
                <a:spcPct val="20000"/>
              </a:spcBef>
              <a:buClr>
                <a:schemeClr val="bg2"/>
              </a:buClr>
              <a:buFont typeface="Monotype Sorts" pitchFamily="2" charset="2"/>
            </a:pPr>
            <a:r>
              <a:rPr lang="zh-CN" altLang="en-US" sz="2400" b="1" dirty="0">
                <a:solidFill>
                  <a:srgbClr val="000000"/>
                </a:solidFill>
              </a:rPr>
              <a:t>        如何存储要处理的对象？</a:t>
            </a:r>
          </a:p>
          <a:p>
            <a:pPr algn="just">
              <a:lnSpc>
                <a:spcPct val="150000"/>
              </a:lnSpc>
              <a:spcBef>
                <a:spcPct val="20000"/>
              </a:spcBef>
              <a:buClr>
                <a:schemeClr val="bg2"/>
              </a:buClr>
              <a:buFont typeface="Monotype Sorts" pitchFamily="2" charset="2"/>
            </a:pPr>
            <a:r>
              <a:rPr lang="zh-CN" altLang="en-US" sz="2400" b="1" dirty="0">
                <a:solidFill>
                  <a:srgbClr val="000000"/>
                </a:solidFill>
              </a:rPr>
              <a:t>        如何增加、删除和修改对象？</a:t>
            </a:r>
          </a:p>
          <a:p>
            <a:pPr algn="just">
              <a:lnSpc>
                <a:spcPct val="150000"/>
              </a:lnSpc>
              <a:spcBef>
                <a:spcPct val="20000"/>
              </a:spcBef>
              <a:buClr>
                <a:schemeClr val="bg2"/>
              </a:buClr>
              <a:buFont typeface="Monotype Sorts" pitchFamily="2" charset="2"/>
            </a:pPr>
            <a:r>
              <a:rPr lang="zh-CN" altLang="en-US" sz="2400" b="1" dirty="0">
                <a:solidFill>
                  <a:srgbClr val="000000"/>
                </a:solidFill>
              </a:rPr>
              <a:t>        如何在所存储的对象集合中找到当前需要处理的对象？</a:t>
            </a:r>
          </a:p>
          <a:p>
            <a:pPr algn="just">
              <a:lnSpc>
                <a:spcPct val="150000"/>
              </a:lnSpc>
              <a:buClr>
                <a:schemeClr val="bg2"/>
              </a:buClr>
              <a:buFont typeface="Monotype Sorts" pitchFamily="2" charset="2"/>
            </a:pPr>
            <a:r>
              <a:rPr lang="zh-CN" altLang="en-US" sz="2400" b="1" dirty="0">
                <a:solidFill>
                  <a:srgbClr val="000000"/>
                </a:solidFill>
              </a:rPr>
              <a:t>        </a:t>
            </a:r>
            <a:r>
              <a:rPr lang="en-US" altLang="zh-CN" sz="2400" b="1" dirty="0">
                <a:solidFill>
                  <a:srgbClr val="000000"/>
                </a:solidFill>
              </a:rPr>
              <a:t>… …</a:t>
            </a:r>
          </a:p>
        </p:txBody>
      </p:sp>
    </p:spTree>
    <p:extLst>
      <p:ext uri="{BB962C8B-B14F-4D97-AF65-F5344CB8AC3E}">
        <p14:creationId xmlns:p14="http://schemas.microsoft.com/office/powerpoint/2010/main" val="24589131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865773A-74FF-4B67-3037-9B3CB73B72B3}"/>
              </a:ext>
            </a:extLst>
          </p:cNvPr>
          <p:cNvSpPr>
            <a:spLocks noGrp="1"/>
          </p:cNvSpPr>
          <p:nvPr/>
        </p:nvSpPr>
        <p:spPr>
          <a:xfrm>
            <a:off x="7695835" y="6390614"/>
            <a:ext cx="3281898" cy="351009"/>
          </a:xfrm>
          <a:prstGeom prst="rect">
            <a:avLst/>
          </a:prstGeom>
        </p:spPr>
        <p:txBody>
          <a:bodyPr vert="horz" lIns="91440" tIns="45720" rIns="91440" bIns="45720" rtlCol="0" anchor="ctr"/>
          <a:lstStyle>
            <a:defPPr>
              <a:defRPr lang="zh-CN"/>
            </a:defPPr>
            <a:lvl1pPr marL="0" lvl="0" indent="0" algn="r" defTabSz="914400" rtl="0" eaLnBrk="1" fontAlgn="base" latinLnBrk="0" hangingPunct="1">
              <a:lnSpc>
                <a:spcPct val="100000"/>
              </a:lnSpc>
              <a:spcBef>
                <a:spcPct val="0"/>
              </a:spcBef>
              <a:spcAft>
                <a:spcPct val="0"/>
              </a:spcAft>
              <a:buNone/>
              <a:defRPr sz="1200" b="0" i="0" u="none" kern="1200" baseline="0">
                <a:solidFill>
                  <a:schemeClr val="tx1">
                    <a:tint val="75000"/>
                  </a:schemeClr>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9pPr>
          </a:lstStyle>
          <a:p>
            <a:pPr lvl="0">
              <a:lnSpc>
                <a:spcPct val="150000"/>
              </a:lnSpc>
              <a:spcBef>
                <a:spcPct val="50000"/>
              </a:spcBef>
            </a:pPr>
            <a:fld id="{9A0DB2DC-4C9A-4742-B13C-FB6460FD3503}" type="slidenum">
              <a:rPr lang="zh-CN" altLang="en-US" sz="2400" dirty="0">
                <a:latin typeface="Times New Roman" panose="02020603050405020304" pitchFamily="18" charset="0"/>
              </a:rPr>
              <a:pPr lvl="0">
                <a:lnSpc>
                  <a:spcPct val="150000"/>
                </a:lnSpc>
                <a:spcBef>
                  <a:spcPct val="50000"/>
                </a:spcBef>
              </a:pPr>
              <a:t>24</a:t>
            </a:fld>
            <a:endParaRPr lang="zh-CN" altLang="en-US" sz="2400" dirty="0">
              <a:latin typeface="Times New Roman" panose="02020603050405020304" pitchFamily="18" charset="0"/>
            </a:endParaRPr>
          </a:p>
        </p:txBody>
      </p:sp>
      <p:sp>
        <p:nvSpPr>
          <p:cNvPr id="3" name="矩形 2">
            <a:extLst>
              <a:ext uri="{FF2B5EF4-FFF2-40B4-BE49-F238E27FC236}">
                <a16:creationId xmlns:a16="http://schemas.microsoft.com/office/drawing/2014/main" id="{278BF7D0-8C05-CCC5-5F2B-6032E982BF13}"/>
              </a:ext>
            </a:extLst>
          </p:cNvPr>
          <p:cNvSpPr/>
          <p:nvPr/>
        </p:nvSpPr>
        <p:spPr>
          <a:xfrm>
            <a:off x="1185498" y="838595"/>
            <a:ext cx="9821004" cy="5706178"/>
          </a:xfrm>
          <a:prstGeom prst="rect">
            <a:avLst/>
          </a:prstGeom>
          <a:noFill/>
          <a:ln w="9525">
            <a:noFill/>
          </a:ln>
        </p:spPr>
        <p:txBody>
          <a:bodyPr/>
          <a:lstStyle>
            <a:defPPr>
              <a:defRPr lang="zh-CN"/>
            </a:defPPr>
            <a:lvl1pPr marL="0" lvl="0"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9pPr>
          </a:lstStyle>
          <a:p>
            <a:pPr algn="just">
              <a:lnSpc>
                <a:spcPct val="150000"/>
              </a:lnSpc>
              <a:spcBef>
                <a:spcPct val="30000"/>
              </a:spcBef>
              <a:buClr>
                <a:schemeClr val="bg2"/>
              </a:buClr>
              <a:buFont typeface="Monotype Sorts" pitchFamily="2" charset="2"/>
            </a:pPr>
            <a:r>
              <a:rPr lang="en-US" altLang="zh-CN" sz="2400" b="1" dirty="0">
                <a:solidFill>
                  <a:srgbClr val="000000"/>
                </a:solidFill>
              </a:rPr>
              <a:t>        </a:t>
            </a:r>
            <a:r>
              <a:rPr lang="zh-CN" altLang="en-US" sz="2400" b="1" dirty="0">
                <a:solidFill>
                  <a:srgbClr val="000000"/>
                </a:solidFill>
              </a:rPr>
              <a:t>计算机科学是一门研究用计算机进行</a:t>
            </a:r>
            <a:r>
              <a:rPr lang="zh-CN" altLang="en-US" sz="2400" b="1" dirty="0">
                <a:solidFill>
                  <a:srgbClr val="CC0000"/>
                </a:solidFill>
                <a:effectLst>
                  <a:outerShdw blurRad="38100" dist="38100" dir="2700000">
                    <a:srgbClr val="000000"/>
                  </a:outerShdw>
                </a:effectLst>
                <a:ea typeface="黑体" panose="02010609060101010101" pitchFamily="49" charset="-122"/>
              </a:rPr>
              <a:t>信息表示和处理</a:t>
            </a:r>
            <a:r>
              <a:rPr lang="zh-CN" altLang="en-US" sz="2400" b="1" dirty="0">
                <a:solidFill>
                  <a:srgbClr val="000000"/>
                </a:solidFill>
              </a:rPr>
              <a:t>的学科。这涉及两个问题：</a:t>
            </a:r>
          </a:p>
          <a:p>
            <a:pPr algn="just">
              <a:lnSpc>
                <a:spcPct val="150000"/>
              </a:lnSpc>
              <a:spcBef>
                <a:spcPct val="30000"/>
              </a:spcBef>
              <a:buClr>
                <a:schemeClr val="bg2"/>
              </a:buClr>
              <a:buFont typeface="Monotype Sorts" pitchFamily="2" charset="2"/>
            </a:pPr>
            <a:r>
              <a:rPr lang="zh-CN" altLang="en-US" sz="2400" b="1" dirty="0">
                <a:solidFill>
                  <a:srgbClr val="000000"/>
                </a:solidFill>
                <a:latin typeface="黑体" panose="02010609060101010101" pitchFamily="49" charset="-122"/>
                <a:ea typeface="黑体" panose="02010609060101010101" pitchFamily="49" charset="-122"/>
              </a:rPr>
              <a:t>          </a:t>
            </a:r>
            <a:r>
              <a:rPr lang="zh-CN" altLang="en-US" sz="2400" b="1" dirty="0">
                <a:solidFill>
                  <a:srgbClr val="CC0000"/>
                </a:solidFill>
                <a:effectLst>
                  <a:outerShdw blurRad="38100" dist="38100" dir="2700000">
                    <a:srgbClr val="000000"/>
                  </a:outerShdw>
                </a:effectLst>
                <a:ea typeface="黑体" panose="02010609060101010101" pitchFamily="49" charset="-122"/>
              </a:rPr>
              <a:t>信息的表示</a:t>
            </a:r>
          </a:p>
          <a:p>
            <a:pPr algn="just">
              <a:lnSpc>
                <a:spcPct val="150000"/>
              </a:lnSpc>
              <a:spcBef>
                <a:spcPct val="30000"/>
              </a:spcBef>
              <a:buClr>
                <a:schemeClr val="bg2"/>
              </a:buClr>
              <a:buFont typeface="Monotype Sorts" pitchFamily="2" charset="2"/>
            </a:pPr>
            <a:r>
              <a:rPr lang="zh-CN" altLang="en-US" sz="2400" b="1" dirty="0">
                <a:solidFill>
                  <a:srgbClr val="CC0000"/>
                </a:solidFill>
                <a:effectLst>
                  <a:outerShdw blurRad="38100" dist="38100" dir="2700000">
                    <a:srgbClr val="000000"/>
                  </a:outerShdw>
                </a:effectLst>
                <a:ea typeface="黑体" panose="02010609060101010101" pitchFamily="49" charset="-122"/>
              </a:rPr>
              <a:t>                    信息的处理</a:t>
            </a:r>
          </a:p>
          <a:p>
            <a:pPr algn="just">
              <a:lnSpc>
                <a:spcPct val="150000"/>
              </a:lnSpc>
              <a:spcBef>
                <a:spcPct val="30000"/>
              </a:spcBef>
              <a:buClr>
                <a:schemeClr val="bg2"/>
              </a:buClr>
              <a:buFont typeface="Monotype Sorts" pitchFamily="2" charset="2"/>
            </a:pPr>
            <a:r>
              <a:rPr lang="zh-CN" altLang="en-US" sz="2400" b="1" dirty="0">
                <a:solidFill>
                  <a:srgbClr val="000000"/>
                </a:solidFill>
              </a:rPr>
              <a:t>直接影响处理信息的程序的</a:t>
            </a:r>
            <a:r>
              <a:rPr lang="zh-CN" altLang="en-US" sz="2400" b="1" dirty="0">
                <a:solidFill>
                  <a:srgbClr val="CC0000"/>
                </a:solidFill>
                <a:effectLst>
                  <a:outerShdw blurRad="38100" dist="38100" dir="2700000">
                    <a:srgbClr val="000000"/>
                  </a:outerShdw>
                </a:effectLst>
                <a:ea typeface="黑体" panose="02010609060101010101" pitchFamily="49" charset="-122"/>
              </a:rPr>
              <a:t>效率</a:t>
            </a:r>
            <a:r>
              <a:rPr lang="zh-CN" altLang="en-US" sz="2400" b="1" dirty="0">
                <a:solidFill>
                  <a:srgbClr val="000000"/>
                </a:solidFill>
              </a:rPr>
              <a:t>。随着计算机普及，信息量暴增，信息范围拓宽，使许多系统程序和应用程序的规模巨大，且结构相当复杂。</a:t>
            </a:r>
          </a:p>
          <a:p>
            <a:pPr algn="just">
              <a:lnSpc>
                <a:spcPct val="150000"/>
              </a:lnSpc>
              <a:spcBef>
                <a:spcPct val="30000"/>
              </a:spcBef>
              <a:buClr>
                <a:schemeClr val="bg2"/>
              </a:buClr>
              <a:buFont typeface="Monotype Sorts" pitchFamily="2" charset="2"/>
            </a:pPr>
            <a:r>
              <a:rPr lang="zh-CN" altLang="en-US" sz="2400" b="1" dirty="0">
                <a:solidFill>
                  <a:srgbClr val="000000"/>
                </a:solidFill>
              </a:rPr>
              <a:t>        因此，为了编写出一个“</a:t>
            </a:r>
            <a:r>
              <a:rPr lang="zh-CN" altLang="en-US" sz="2400" b="1" dirty="0">
                <a:solidFill>
                  <a:srgbClr val="CC0000"/>
                </a:solidFill>
                <a:effectLst>
                  <a:outerShdw blurRad="38100" dist="38100" dir="2700000">
                    <a:srgbClr val="000000"/>
                  </a:outerShdw>
                </a:effectLst>
                <a:ea typeface="黑体" panose="02010609060101010101" pitchFamily="49" charset="-122"/>
              </a:rPr>
              <a:t>好</a:t>
            </a:r>
            <a:r>
              <a:rPr lang="zh-CN" altLang="en-US" sz="2400" b="1" dirty="0">
                <a:solidFill>
                  <a:srgbClr val="000000"/>
                </a:solidFill>
              </a:rPr>
              <a:t>”的程序，必须分析待处理的对象的特征及各对象之间存在的关系，这就是数据结构这门课程所要研究的主要问题。</a:t>
            </a:r>
          </a:p>
        </p:txBody>
      </p:sp>
      <p:sp>
        <p:nvSpPr>
          <p:cNvPr id="4" name="灯片编号占位符 3">
            <a:extLst>
              <a:ext uri="{FF2B5EF4-FFF2-40B4-BE49-F238E27FC236}">
                <a16:creationId xmlns:a16="http://schemas.microsoft.com/office/drawing/2014/main" id="{FB8A20FA-34F7-B966-CE17-96BEB6C5812C}"/>
              </a:ext>
            </a:extLst>
          </p:cNvPr>
          <p:cNvSpPr>
            <a:spLocks noGrp="1"/>
          </p:cNvSpPr>
          <p:nvPr>
            <p:ph type="sldNum" sz="quarter" idx="12"/>
          </p:nvPr>
        </p:nvSpPr>
        <p:spPr/>
        <p:txBody>
          <a:bodyPr/>
          <a:lstStyle/>
          <a:p>
            <a:fld id="{D7C0FE0B-717B-41AE-9FA2-CA4BF851D1C3}" type="slidenum">
              <a:rPr lang="zh-CN" altLang="en-US" smtClean="0"/>
              <a:t>24</a:t>
            </a:fld>
            <a:endParaRPr lang="zh-CN" altLang="en-US"/>
          </a:p>
        </p:txBody>
      </p:sp>
    </p:spTree>
    <p:extLst>
      <p:ext uri="{BB962C8B-B14F-4D97-AF65-F5344CB8AC3E}">
        <p14:creationId xmlns:p14="http://schemas.microsoft.com/office/powerpoint/2010/main" val="16786620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62474">
            <a:extLst>
              <a:ext uri="{FF2B5EF4-FFF2-40B4-BE49-F238E27FC236}">
                <a16:creationId xmlns:a16="http://schemas.microsoft.com/office/drawing/2014/main" id="{611D7B2C-CE07-D6A8-AB72-256A659FA0B2}"/>
              </a:ext>
            </a:extLst>
          </p:cNvPr>
          <p:cNvSpPr txBox="1">
            <a:spLocks noGrp="1"/>
          </p:cNvSpPr>
          <p:nvPr/>
        </p:nvSpPr>
        <p:spPr>
          <a:xfrm>
            <a:off x="489971" y="509085"/>
            <a:ext cx="6356186" cy="919567"/>
          </a:xfrm>
          <a:prstGeom prst="rect">
            <a:avLst/>
          </a:prstGeom>
        </p:spPr>
        <p:txBody>
          <a:bodyPr vert="horz" wrap="square" lIns="91440" tIns="45720" rIns="91440" bIns="45720" rtlCol="0" anchor="b" anchorCtr="0">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spcBef>
                <a:spcPct val="30000"/>
              </a:spcBef>
            </a:pPr>
            <a:r>
              <a:rPr lang="en-US" altLang="zh-CN" sz="2400" b="1" dirty="0">
                <a:solidFill>
                  <a:srgbClr val="000000"/>
                </a:solidFill>
                <a:ea typeface="楷体_GB2312" pitchFamily="49" charset="-122"/>
              </a:rPr>
              <a:t>Pascal</a:t>
            </a:r>
            <a:r>
              <a:rPr lang="zh-CN" altLang="en-US" sz="2400" b="1" dirty="0">
                <a:solidFill>
                  <a:srgbClr val="000000"/>
                </a:solidFill>
                <a:ea typeface="楷体_GB2312" pitchFamily="49" charset="-122"/>
              </a:rPr>
              <a:t>之父</a:t>
            </a:r>
            <a:r>
              <a:rPr lang="en-US" altLang="zh-CN" sz="2400" b="1" dirty="0">
                <a:solidFill>
                  <a:srgbClr val="CC0000"/>
                </a:solidFill>
                <a:effectLst>
                  <a:outerShdw blurRad="38100" dist="38100" dir="2700000">
                    <a:srgbClr val="000000"/>
                  </a:outerShdw>
                </a:effectLst>
                <a:latin typeface="Tempus Sans ITC" pitchFamily="82" charset="0"/>
                <a:ea typeface="楷体_GB2312" pitchFamily="49" charset="-122"/>
              </a:rPr>
              <a:t>Niklaus Wirth</a:t>
            </a:r>
            <a:r>
              <a:rPr lang="en-US" altLang="zh-CN" sz="2400" b="1" dirty="0">
                <a:solidFill>
                  <a:srgbClr val="333399"/>
                </a:solidFill>
                <a:ea typeface="楷体_GB2312" pitchFamily="49" charset="-122"/>
              </a:rPr>
              <a:t>:</a:t>
            </a:r>
            <a:br>
              <a:rPr lang="en-US" altLang="zh-CN" sz="2400" b="1" dirty="0">
                <a:solidFill>
                  <a:srgbClr val="000000"/>
                </a:solidFill>
                <a:ea typeface="楷体_GB2312" pitchFamily="49" charset="-122"/>
              </a:rPr>
            </a:br>
            <a:r>
              <a:rPr lang="en-US" altLang="zh-CN" sz="2400" b="1" dirty="0">
                <a:solidFill>
                  <a:srgbClr val="000000"/>
                </a:solidFill>
                <a:ea typeface="楷体_GB2312" pitchFamily="49" charset="-122"/>
              </a:rPr>
              <a:t>   Algorithms + Data Structures = Programs</a:t>
            </a:r>
          </a:p>
        </p:txBody>
      </p:sp>
      <p:sp>
        <p:nvSpPr>
          <p:cNvPr id="3" name="灯片编号占位符 1">
            <a:extLst>
              <a:ext uri="{FF2B5EF4-FFF2-40B4-BE49-F238E27FC236}">
                <a16:creationId xmlns:a16="http://schemas.microsoft.com/office/drawing/2014/main" id="{81570597-A7C0-3331-6AF3-0153AF11C41B}"/>
              </a:ext>
            </a:extLst>
          </p:cNvPr>
          <p:cNvSpPr>
            <a:spLocks noGrp="1"/>
          </p:cNvSpPr>
          <p:nvPr/>
        </p:nvSpPr>
        <p:spPr>
          <a:xfrm>
            <a:off x="7310067" y="6369774"/>
            <a:ext cx="2743200" cy="365125"/>
          </a:xfrm>
          <a:prstGeom prst="rect">
            <a:avLst/>
          </a:prstGeom>
        </p:spPr>
        <p:txBody>
          <a:bodyPr vert="horz" lIns="91440" tIns="45720" rIns="91440" bIns="45720" rtlCol="0" anchor="ctr"/>
          <a:lstStyle>
            <a:defPPr>
              <a:defRPr lang="zh-CN"/>
            </a:defPPr>
            <a:lvl1pPr marL="0" lvl="0" indent="0" algn="r" defTabSz="914400" rtl="0" eaLnBrk="1" fontAlgn="base" latinLnBrk="0" hangingPunct="1">
              <a:lnSpc>
                <a:spcPct val="100000"/>
              </a:lnSpc>
              <a:spcBef>
                <a:spcPct val="0"/>
              </a:spcBef>
              <a:spcAft>
                <a:spcPct val="0"/>
              </a:spcAft>
              <a:buNone/>
              <a:defRPr sz="1200" b="0" i="0" u="none" kern="1200" baseline="0">
                <a:solidFill>
                  <a:schemeClr val="tx1">
                    <a:tint val="75000"/>
                  </a:schemeClr>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9pPr>
          </a:lstStyle>
          <a:p>
            <a:pPr lvl="0">
              <a:spcBef>
                <a:spcPct val="50000"/>
              </a:spcBef>
            </a:pPr>
            <a:fld id="{9A0DB2DC-4C9A-4742-B13C-FB6460FD3503}" type="slidenum">
              <a:rPr lang="zh-CN" altLang="en-US" sz="2400" dirty="0">
                <a:latin typeface="Times New Roman" panose="02020603050405020304" pitchFamily="18" charset="0"/>
              </a:rPr>
              <a:pPr lvl="0">
                <a:spcBef>
                  <a:spcPct val="50000"/>
                </a:spcBef>
              </a:pPr>
              <a:t>25</a:t>
            </a:fld>
            <a:endParaRPr lang="zh-CN" altLang="en-US" sz="2400" dirty="0">
              <a:latin typeface="Times New Roman" panose="02020603050405020304" pitchFamily="18" charset="0"/>
            </a:endParaRPr>
          </a:p>
        </p:txBody>
      </p:sp>
      <p:sp>
        <p:nvSpPr>
          <p:cNvPr id="4" name="文本框 62467">
            <a:extLst>
              <a:ext uri="{FF2B5EF4-FFF2-40B4-BE49-F238E27FC236}">
                <a16:creationId xmlns:a16="http://schemas.microsoft.com/office/drawing/2014/main" id="{5A1C9CA4-FE5D-7C84-9DB8-BB2D9C5216EB}"/>
              </a:ext>
            </a:extLst>
          </p:cNvPr>
          <p:cNvSpPr txBox="1"/>
          <p:nvPr/>
        </p:nvSpPr>
        <p:spPr>
          <a:xfrm>
            <a:off x="452070" y="1488320"/>
            <a:ext cx="2730500" cy="1689052"/>
          </a:xfrm>
          <a:prstGeom prst="rect">
            <a:avLst/>
          </a:prstGeom>
          <a:noFill/>
          <a:ln w="9525">
            <a:noFill/>
          </a:ln>
        </p:spPr>
        <p:txBody>
          <a:bodyPr>
            <a:spAutoFit/>
          </a:bodyPr>
          <a:lstStyle>
            <a:defPPr>
              <a:defRPr lang="zh-CN"/>
            </a:defPPr>
            <a:lvl1pPr marL="0" lvl="0"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9pPr>
          </a:lstStyle>
          <a:p>
            <a:pPr>
              <a:lnSpc>
                <a:spcPct val="150000"/>
              </a:lnSpc>
            </a:pPr>
            <a:r>
              <a:rPr lang="zh-CN" altLang="en-US" sz="2400" b="1" dirty="0">
                <a:solidFill>
                  <a:srgbClr val="FF0000"/>
                </a:solidFill>
                <a:effectLst>
                  <a:outerShdw blurRad="38100" dist="38100" dir="2700000">
                    <a:srgbClr val="000000"/>
                  </a:outerShdw>
                </a:effectLst>
                <a:latin typeface="+mj-ea"/>
                <a:ea typeface="+mj-ea"/>
              </a:rPr>
              <a:t>程序设计</a:t>
            </a:r>
            <a:r>
              <a:rPr lang="en-US" altLang="zh-CN" sz="2400" b="1" dirty="0">
                <a:solidFill>
                  <a:srgbClr val="FF0000"/>
                </a:solidFill>
                <a:effectLst>
                  <a:outerShdw blurRad="38100" dist="38100" dir="2700000">
                    <a:srgbClr val="000000"/>
                  </a:outerShdw>
                </a:effectLst>
                <a:latin typeface="+mj-ea"/>
                <a:ea typeface="+mj-ea"/>
              </a:rPr>
              <a:t>:</a:t>
            </a:r>
          </a:p>
          <a:p>
            <a:pPr>
              <a:lnSpc>
                <a:spcPct val="150000"/>
              </a:lnSpc>
            </a:pPr>
            <a:r>
              <a:rPr lang="en-US" altLang="zh-CN" sz="2400" b="1" dirty="0">
                <a:solidFill>
                  <a:srgbClr val="FF0000"/>
                </a:solidFill>
                <a:effectLst>
                  <a:outerShdw blurRad="38100" dist="38100" dir="2700000">
                    <a:srgbClr val="000000"/>
                  </a:outerShdw>
                </a:effectLst>
                <a:latin typeface="楷体_GB2312" pitchFamily="49" charset="-122"/>
                <a:ea typeface="楷体_GB2312" pitchFamily="49" charset="-122"/>
              </a:rPr>
              <a:t>      </a:t>
            </a:r>
            <a:r>
              <a:rPr lang="zh-CN" altLang="en-US" sz="2400" b="1" dirty="0">
                <a:solidFill>
                  <a:srgbClr val="FF0000"/>
                </a:solidFill>
                <a:effectLst>
                  <a:outerShdw blurRad="38100" dist="38100" dir="2700000">
                    <a:srgbClr val="000000"/>
                  </a:outerShdw>
                </a:effectLst>
                <a:latin typeface="+mj-ea"/>
                <a:ea typeface="+mj-ea"/>
              </a:rPr>
              <a:t>算法</a:t>
            </a:r>
            <a:r>
              <a:rPr lang="en-US" altLang="zh-CN" sz="2400" b="1" dirty="0">
                <a:solidFill>
                  <a:srgbClr val="FF0000"/>
                </a:solidFill>
                <a:effectLst>
                  <a:outerShdw blurRad="38100" dist="38100" dir="2700000">
                    <a:srgbClr val="000000"/>
                  </a:outerShdw>
                </a:effectLst>
                <a:latin typeface="+mj-ea"/>
                <a:ea typeface="+mj-ea"/>
              </a:rPr>
              <a:t>:</a:t>
            </a:r>
          </a:p>
          <a:p>
            <a:pPr>
              <a:lnSpc>
                <a:spcPct val="150000"/>
              </a:lnSpc>
            </a:pPr>
            <a:r>
              <a:rPr lang="zh-CN" altLang="en-US" sz="2400" b="1" dirty="0">
                <a:solidFill>
                  <a:srgbClr val="FF0000"/>
                </a:solidFill>
                <a:effectLst>
                  <a:outerShdw blurRad="38100" dist="38100" dir="2700000">
                    <a:srgbClr val="000000"/>
                  </a:outerShdw>
                </a:effectLst>
                <a:latin typeface="+mj-ea"/>
                <a:ea typeface="+mj-ea"/>
              </a:rPr>
              <a:t>数据结构</a:t>
            </a:r>
            <a:r>
              <a:rPr lang="en-US" altLang="zh-CN" sz="2400" b="1" dirty="0">
                <a:solidFill>
                  <a:srgbClr val="FF0000"/>
                </a:solidFill>
                <a:effectLst>
                  <a:outerShdw blurRad="38100" dist="38100" dir="2700000">
                    <a:srgbClr val="000000"/>
                  </a:outerShdw>
                </a:effectLst>
                <a:latin typeface="+mj-ea"/>
                <a:ea typeface="+mj-ea"/>
              </a:rPr>
              <a:t>:</a:t>
            </a:r>
            <a:r>
              <a:rPr lang="en-US" altLang="zh-CN" sz="2400" dirty="0">
                <a:solidFill>
                  <a:srgbClr val="FF0000"/>
                </a:solidFill>
                <a:effectLst>
                  <a:outerShdw blurRad="38100" dist="38100" dir="2700000">
                    <a:srgbClr val="000000"/>
                  </a:outerShdw>
                </a:effectLst>
                <a:latin typeface="楷体_GB2312" pitchFamily="49" charset="-122"/>
                <a:ea typeface="楷体_GB2312" pitchFamily="49" charset="-122"/>
              </a:rPr>
              <a:t> </a:t>
            </a:r>
            <a:endParaRPr lang="en-US" altLang="zh-CN" sz="2400" b="1" dirty="0">
              <a:solidFill>
                <a:srgbClr val="800000"/>
              </a:solidFill>
              <a:effectLst>
                <a:outerShdw blurRad="38100" dist="38100" dir="2700000">
                  <a:srgbClr val="000000"/>
                </a:outerShdw>
              </a:effectLst>
              <a:latin typeface="楷体_GB2312" pitchFamily="49" charset="-122"/>
              <a:ea typeface="楷体_GB2312" pitchFamily="49" charset="-122"/>
            </a:endParaRPr>
          </a:p>
        </p:txBody>
      </p:sp>
      <p:sp>
        <p:nvSpPr>
          <p:cNvPr id="5" name="文本框 62468">
            <a:extLst>
              <a:ext uri="{FF2B5EF4-FFF2-40B4-BE49-F238E27FC236}">
                <a16:creationId xmlns:a16="http://schemas.microsoft.com/office/drawing/2014/main" id="{77E6F303-271F-0E6E-3F4B-457C800EF711}"/>
              </a:ext>
            </a:extLst>
          </p:cNvPr>
          <p:cNvSpPr txBox="1"/>
          <p:nvPr/>
        </p:nvSpPr>
        <p:spPr>
          <a:xfrm>
            <a:off x="1952560" y="1593422"/>
            <a:ext cx="4708823" cy="461665"/>
          </a:xfrm>
          <a:prstGeom prst="rect">
            <a:avLst/>
          </a:prstGeom>
          <a:noFill/>
          <a:ln w="9525">
            <a:noFill/>
          </a:ln>
        </p:spPr>
        <p:txBody>
          <a:bodyPr wrap="square">
            <a:spAutoFit/>
          </a:bodyPr>
          <a:lstStyle>
            <a:defPPr>
              <a:defRPr lang="zh-CN"/>
            </a:defPPr>
            <a:lvl1pPr marL="0" lvl="0"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9pPr>
          </a:lstStyle>
          <a:p>
            <a:r>
              <a:rPr lang="zh-CN" altLang="en-US" sz="2400" b="1" dirty="0">
                <a:solidFill>
                  <a:srgbClr val="002060"/>
                </a:solidFill>
                <a:latin typeface="+mn-ea"/>
                <a:ea typeface="+mn-ea"/>
              </a:rPr>
              <a:t>为计算机处理问题编制指令序列 </a:t>
            </a:r>
          </a:p>
        </p:txBody>
      </p:sp>
      <p:sp>
        <p:nvSpPr>
          <p:cNvPr id="6" name="文本框 62469">
            <a:extLst>
              <a:ext uri="{FF2B5EF4-FFF2-40B4-BE49-F238E27FC236}">
                <a16:creationId xmlns:a16="http://schemas.microsoft.com/office/drawing/2014/main" id="{05BD7910-E39D-772F-219C-CC1398DE188B}"/>
              </a:ext>
            </a:extLst>
          </p:cNvPr>
          <p:cNvSpPr txBox="1"/>
          <p:nvPr/>
        </p:nvSpPr>
        <p:spPr>
          <a:xfrm>
            <a:off x="1984476" y="2160189"/>
            <a:ext cx="2434666" cy="461665"/>
          </a:xfrm>
          <a:prstGeom prst="rect">
            <a:avLst/>
          </a:prstGeom>
          <a:noFill/>
          <a:ln w="9525">
            <a:noFill/>
          </a:ln>
        </p:spPr>
        <p:txBody>
          <a:bodyPr wrap="square">
            <a:spAutoFit/>
          </a:bodyPr>
          <a:lstStyle>
            <a:defPPr>
              <a:defRPr lang="zh-CN"/>
            </a:defPPr>
            <a:lvl1pPr marL="0" lvl="0"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9pPr>
          </a:lstStyle>
          <a:p>
            <a:r>
              <a:rPr lang="zh-CN" altLang="en-US" sz="2400" b="1" dirty="0">
                <a:solidFill>
                  <a:srgbClr val="002060"/>
                </a:solidFill>
                <a:latin typeface="+mn-ea"/>
                <a:ea typeface="+mn-ea"/>
              </a:rPr>
              <a:t>处理问题的</a:t>
            </a:r>
            <a:r>
              <a:rPr lang="zh-CN" altLang="en-US" sz="2400" b="1" dirty="0">
                <a:solidFill>
                  <a:srgbClr val="660066"/>
                </a:solidFill>
                <a:latin typeface="+mj-ea"/>
                <a:ea typeface="+mj-ea"/>
              </a:rPr>
              <a:t>策略</a:t>
            </a:r>
          </a:p>
        </p:txBody>
      </p:sp>
      <p:sp>
        <p:nvSpPr>
          <p:cNvPr id="7" name="文本框 62470">
            <a:extLst>
              <a:ext uri="{FF2B5EF4-FFF2-40B4-BE49-F238E27FC236}">
                <a16:creationId xmlns:a16="http://schemas.microsoft.com/office/drawing/2014/main" id="{5CB7F551-8F42-7489-8511-655490D64F48}"/>
              </a:ext>
            </a:extLst>
          </p:cNvPr>
          <p:cNvSpPr txBox="1"/>
          <p:nvPr/>
        </p:nvSpPr>
        <p:spPr>
          <a:xfrm>
            <a:off x="1984476" y="2716606"/>
            <a:ext cx="2434666" cy="461665"/>
          </a:xfrm>
          <a:prstGeom prst="rect">
            <a:avLst/>
          </a:prstGeom>
          <a:noFill/>
          <a:ln w="9525">
            <a:noFill/>
          </a:ln>
        </p:spPr>
        <p:txBody>
          <a:bodyPr wrap="square">
            <a:spAutoFit/>
          </a:bodyPr>
          <a:lstStyle>
            <a:defPPr>
              <a:defRPr lang="zh-CN"/>
            </a:defPPr>
            <a:lvl1pPr marL="0" lvl="0"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9pPr>
          </a:lstStyle>
          <a:p>
            <a:r>
              <a:rPr lang="zh-CN" altLang="en-US" sz="2400" b="1" dirty="0">
                <a:solidFill>
                  <a:srgbClr val="660066"/>
                </a:solidFill>
                <a:latin typeface="+mn-ea"/>
                <a:ea typeface="+mn-ea"/>
              </a:rPr>
              <a:t>问题的</a:t>
            </a:r>
            <a:r>
              <a:rPr lang="zh-CN" altLang="en-US" sz="2400" b="1" dirty="0">
                <a:solidFill>
                  <a:srgbClr val="660066"/>
                </a:solidFill>
                <a:latin typeface="+mj-ea"/>
                <a:ea typeface="+mj-ea"/>
              </a:rPr>
              <a:t>数学模型</a:t>
            </a:r>
          </a:p>
        </p:txBody>
      </p:sp>
      <p:sp>
        <p:nvSpPr>
          <p:cNvPr id="8" name="标题 5130">
            <a:extLst>
              <a:ext uri="{FF2B5EF4-FFF2-40B4-BE49-F238E27FC236}">
                <a16:creationId xmlns:a16="http://schemas.microsoft.com/office/drawing/2014/main" id="{B00906A4-9E62-A729-5E95-6954729D5996}"/>
              </a:ext>
            </a:extLst>
          </p:cNvPr>
          <p:cNvSpPr txBox="1">
            <a:spLocks noGrp="1"/>
          </p:cNvSpPr>
          <p:nvPr/>
        </p:nvSpPr>
        <p:spPr>
          <a:xfrm>
            <a:off x="520376" y="3545608"/>
            <a:ext cx="4592268" cy="461665"/>
          </a:xfrm>
          <a:prstGeom prst="rect">
            <a:avLst/>
          </a:prstGeom>
        </p:spPr>
        <p:txBody>
          <a:bodyPr vert="horz" wrap="square" lIns="9144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400" dirty="0">
                <a:solidFill>
                  <a:srgbClr val="990099"/>
                </a:solidFill>
                <a:effectLst>
                  <a:outerShdw blurRad="38100" dist="38100" dir="2700000">
                    <a:srgbClr val="000000"/>
                  </a:outerShdw>
                </a:effectLst>
                <a:latin typeface="+mj-ea"/>
              </a:rPr>
              <a:t>非数值计算的程序设计问题</a:t>
            </a:r>
          </a:p>
        </p:txBody>
      </p:sp>
      <p:grpSp>
        <p:nvGrpSpPr>
          <p:cNvPr id="17" name="组合 16">
            <a:extLst>
              <a:ext uri="{FF2B5EF4-FFF2-40B4-BE49-F238E27FC236}">
                <a16:creationId xmlns:a16="http://schemas.microsoft.com/office/drawing/2014/main" id="{4EFEBC09-7F4C-C508-EC3B-10E15C75D890}"/>
              </a:ext>
            </a:extLst>
          </p:cNvPr>
          <p:cNvGrpSpPr/>
          <p:nvPr/>
        </p:nvGrpSpPr>
        <p:grpSpPr>
          <a:xfrm>
            <a:off x="452071" y="4081265"/>
            <a:ext cx="5871346" cy="2366625"/>
            <a:chOff x="452071" y="4081265"/>
            <a:chExt cx="5871346" cy="2366625"/>
          </a:xfrm>
        </p:grpSpPr>
        <p:sp>
          <p:nvSpPr>
            <p:cNvPr id="14" name="矩形 13">
              <a:extLst>
                <a:ext uri="{FF2B5EF4-FFF2-40B4-BE49-F238E27FC236}">
                  <a16:creationId xmlns:a16="http://schemas.microsoft.com/office/drawing/2014/main" id="{C347EEA7-4898-0EDC-341B-143F6D9D44C4}"/>
                </a:ext>
              </a:extLst>
            </p:cNvPr>
            <p:cNvSpPr/>
            <p:nvPr/>
          </p:nvSpPr>
          <p:spPr>
            <a:xfrm>
              <a:off x="452071" y="4081265"/>
              <a:ext cx="5808374" cy="2366625"/>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5122">
              <a:extLst>
                <a:ext uri="{FF2B5EF4-FFF2-40B4-BE49-F238E27FC236}">
                  <a16:creationId xmlns:a16="http://schemas.microsoft.com/office/drawing/2014/main" id="{96D36DC1-090A-5FD2-0BD7-2FD76286192A}"/>
                </a:ext>
              </a:extLst>
            </p:cNvPr>
            <p:cNvSpPr txBox="1"/>
            <p:nvPr/>
          </p:nvSpPr>
          <p:spPr>
            <a:xfrm>
              <a:off x="520375" y="4144976"/>
              <a:ext cx="5529825" cy="461665"/>
            </a:xfrm>
            <a:prstGeom prst="rect">
              <a:avLst/>
            </a:prstGeom>
            <a:noFill/>
            <a:ln w="9525">
              <a:noFill/>
            </a:ln>
          </p:spPr>
          <p:txBody>
            <a:bodyPr wrap="square">
              <a:spAutoFit/>
            </a:bodyPr>
            <a:lstStyle>
              <a:defPPr>
                <a:defRPr lang="zh-CN"/>
              </a:defPPr>
              <a:lvl1pPr marL="0" lvl="0"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9pPr>
            </a:lstStyle>
            <a:p>
              <a:r>
                <a:rPr lang="zh-CN" altLang="en-US" sz="2400" dirty="0">
                  <a:solidFill>
                    <a:srgbClr val="CC0000"/>
                  </a:solidFill>
                  <a:effectLst>
                    <a:outerShdw blurRad="38100" dist="38100" dir="2700000">
                      <a:srgbClr val="000000"/>
                    </a:outerShdw>
                  </a:effectLst>
                  <a:latin typeface="华文琥珀" pitchFamily="2" charset="-122"/>
                  <a:ea typeface="华文琥珀" pitchFamily="2" charset="-122"/>
                </a:rPr>
                <a:t>例</a:t>
              </a:r>
              <a:r>
                <a:rPr lang="en-US" altLang="zh-CN" sz="2400" dirty="0">
                  <a:solidFill>
                    <a:srgbClr val="CC0000"/>
                  </a:solidFill>
                  <a:effectLst>
                    <a:outerShdw blurRad="38100" dist="38100" dir="2700000">
                      <a:srgbClr val="000000"/>
                    </a:outerShdw>
                  </a:effectLst>
                  <a:latin typeface="华文琥珀" pitchFamily="2" charset="-122"/>
                  <a:ea typeface="华文琥珀" pitchFamily="2" charset="-122"/>
                </a:rPr>
                <a:t>1-0</a:t>
              </a:r>
              <a:r>
                <a:rPr lang="en-US" altLang="zh-CN" sz="2400" b="1" dirty="0">
                  <a:solidFill>
                    <a:srgbClr val="000000"/>
                  </a:solidFill>
                  <a:latin typeface="楷体_GB2312" pitchFamily="49" charset="-122"/>
                  <a:ea typeface="楷体_GB2312" pitchFamily="49" charset="-122"/>
                </a:rPr>
                <a:t>  </a:t>
              </a:r>
              <a:r>
                <a:rPr lang="zh-CN" altLang="en-US" sz="2400" b="1" dirty="0">
                  <a:solidFill>
                    <a:srgbClr val="000000"/>
                  </a:solidFill>
                  <a:latin typeface="楷体" panose="02010609060101010101" pitchFamily="49" charset="-122"/>
                  <a:ea typeface="楷体" panose="02010609060101010101" pitchFamily="49" charset="-122"/>
                </a:rPr>
                <a:t>求一组</a:t>
              </a:r>
              <a:r>
                <a:rPr lang="en-US" altLang="zh-CN" sz="2400" b="1" dirty="0">
                  <a:solidFill>
                    <a:srgbClr val="000000"/>
                  </a:solidFill>
                  <a:latin typeface="楷体" panose="02010609060101010101" pitchFamily="49" charset="-122"/>
                  <a:ea typeface="楷体" panose="02010609060101010101" pitchFamily="49" charset="-122"/>
                </a:rPr>
                <a:t>(n</a:t>
              </a:r>
              <a:r>
                <a:rPr lang="zh-CN" altLang="en-US" sz="2400" b="1" dirty="0">
                  <a:solidFill>
                    <a:srgbClr val="000000"/>
                  </a:solidFill>
                  <a:latin typeface="楷体" panose="02010609060101010101" pitchFamily="49" charset="-122"/>
                  <a:ea typeface="楷体" panose="02010609060101010101" pitchFamily="49" charset="-122"/>
                </a:rPr>
                <a:t>个</a:t>
              </a:r>
              <a:r>
                <a:rPr lang="en-US" altLang="zh-CN" sz="2400" b="1" dirty="0">
                  <a:solidFill>
                    <a:srgbClr val="000000"/>
                  </a:solidFill>
                  <a:latin typeface="楷体" panose="02010609060101010101" pitchFamily="49" charset="-122"/>
                  <a:ea typeface="楷体" panose="02010609060101010101" pitchFamily="49" charset="-122"/>
                </a:rPr>
                <a:t>)</a:t>
              </a:r>
              <a:r>
                <a:rPr lang="zh-CN" altLang="en-US" sz="2400" b="1" dirty="0">
                  <a:solidFill>
                    <a:srgbClr val="000000"/>
                  </a:solidFill>
                  <a:latin typeface="楷体" panose="02010609060101010101" pitchFamily="49" charset="-122"/>
                  <a:ea typeface="楷体" panose="02010609060101010101" pitchFamily="49" charset="-122"/>
                </a:rPr>
                <a:t>整数中的最大值</a:t>
              </a:r>
            </a:p>
          </p:txBody>
        </p:sp>
        <p:sp>
          <p:nvSpPr>
            <p:cNvPr id="10" name="文本框 5123">
              <a:extLst>
                <a:ext uri="{FF2B5EF4-FFF2-40B4-BE49-F238E27FC236}">
                  <a16:creationId xmlns:a16="http://schemas.microsoft.com/office/drawing/2014/main" id="{9E0D73B5-4F58-375F-D3DC-F3EA9DD1DA6F}"/>
                </a:ext>
              </a:extLst>
            </p:cNvPr>
            <p:cNvSpPr txBox="1"/>
            <p:nvPr/>
          </p:nvSpPr>
          <p:spPr>
            <a:xfrm>
              <a:off x="520376" y="4698820"/>
              <a:ext cx="1974850" cy="1088696"/>
            </a:xfrm>
            <a:prstGeom prst="rect">
              <a:avLst/>
            </a:prstGeom>
            <a:noFill/>
            <a:ln w="9525">
              <a:noFill/>
            </a:ln>
          </p:spPr>
          <p:txBody>
            <a:bodyPr>
              <a:spAutoFit/>
            </a:bodyPr>
            <a:lstStyle>
              <a:defPPr>
                <a:defRPr lang="zh-CN"/>
              </a:defPPr>
              <a:lvl1pPr marL="0" lvl="0"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9pPr>
            </a:lstStyle>
            <a:p>
              <a:r>
                <a:rPr lang="zh-CN" altLang="en-US" sz="2400" b="1" dirty="0">
                  <a:solidFill>
                    <a:srgbClr val="FF0000"/>
                  </a:solidFill>
                  <a:effectLst>
                    <a:outerShdw blurRad="38100" dist="38100" dir="2700000">
                      <a:srgbClr val="000000"/>
                    </a:outerShdw>
                  </a:effectLst>
                  <a:latin typeface="+mj-ea"/>
                  <a:ea typeface="+mj-ea"/>
                </a:rPr>
                <a:t>算法</a:t>
              </a:r>
              <a:r>
                <a:rPr lang="zh-CN" altLang="en-US" sz="2400" b="1" dirty="0">
                  <a:solidFill>
                    <a:srgbClr val="FF0000"/>
                  </a:solidFill>
                  <a:effectLst>
                    <a:outerShdw blurRad="38100" dist="38100" dir="2700000">
                      <a:srgbClr val="000000"/>
                    </a:outerShdw>
                  </a:effectLst>
                  <a:latin typeface="楷体_GB2312" pitchFamily="49" charset="-122"/>
                  <a:ea typeface="楷体_GB2312" pitchFamily="49" charset="-122"/>
                </a:rPr>
                <a:t> </a:t>
              </a:r>
              <a:r>
                <a:rPr lang="zh-CN" altLang="en-US" sz="2400" b="1" dirty="0">
                  <a:latin typeface="楷体_GB2312" pitchFamily="49" charset="-122"/>
                  <a:ea typeface="楷体_GB2312" pitchFamily="49" charset="-122"/>
                </a:rPr>
                <a:t>？</a:t>
              </a:r>
              <a:endParaRPr lang="zh-CN" altLang="en-US" sz="2400" b="1" dirty="0"/>
            </a:p>
            <a:p>
              <a:pPr>
                <a:lnSpc>
                  <a:spcPct val="200000"/>
                </a:lnSpc>
              </a:pPr>
              <a:r>
                <a:rPr lang="zh-CN" altLang="en-US" sz="2400" b="1" dirty="0">
                  <a:solidFill>
                    <a:srgbClr val="FF0000"/>
                  </a:solidFill>
                  <a:effectLst>
                    <a:outerShdw blurRad="38100" dist="38100" dir="2700000">
                      <a:srgbClr val="000000"/>
                    </a:outerShdw>
                  </a:effectLst>
                  <a:latin typeface="+mj-ea"/>
                  <a:ea typeface="+mj-ea"/>
                </a:rPr>
                <a:t>模型</a:t>
              </a:r>
              <a:r>
                <a:rPr lang="zh-CN" altLang="en-US" sz="2400" b="1" dirty="0">
                  <a:solidFill>
                    <a:srgbClr val="FF0000"/>
                  </a:solidFill>
                  <a:effectLst>
                    <a:outerShdw blurRad="38100" dist="38100" dir="2700000">
                      <a:srgbClr val="000000"/>
                    </a:outerShdw>
                  </a:effectLst>
                  <a:latin typeface="楷体_GB2312" pitchFamily="49" charset="-122"/>
                  <a:ea typeface="楷体_GB2312" pitchFamily="49" charset="-122"/>
                </a:rPr>
                <a:t> </a:t>
              </a:r>
              <a:r>
                <a:rPr lang="zh-CN" altLang="en-US" sz="2400" b="1" dirty="0">
                  <a:latin typeface="楷体_GB2312" pitchFamily="49" charset="-122"/>
                  <a:ea typeface="楷体_GB2312" pitchFamily="49" charset="-122"/>
                </a:rPr>
                <a:t>？</a:t>
              </a:r>
              <a:endParaRPr lang="zh-CN" altLang="en-US" sz="2400" b="1" dirty="0"/>
            </a:p>
          </p:txBody>
        </p:sp>
        <p:sp>
          <p:nvSpPr>
            <p:cNvPr id="11" name="文本框 5125">
              <a:extLst>
                <a:ext uri="{FF2B5EF4-FFF2-40B4-BE49-F238E27FC236}">
                  <a16:creationId xmlns:a16="http://schemas.microsoft.com/office/drawing/2014/main" id="{8B0FFA53-F056-84A8-F3D4-154B1F41F985}"/>
                </a:ext>
              </a:extLst>
            </p:cNvPr>
            <p:cNvSpPr txBox="1"/>
            <p:nvPr/>
          </p:nvSpPr>
          <p:spPr>
            <a:xfrm>
              <a:off x="1575658" y="4698820"/>
              <a:ext cx="4684786" cy="461665"/>
            </a:xfrm>
            <a:prstGeom prst="rect">
              <a:avLst/>
            </a:prstGeom>
            <a:noFill/>
            <a:ln w="9525">
              <a:noFill/>
            </a:ln>
          </p:spPr>
          <p:txBody>
            <a:bodyPr wrap="square">
              <a:spAutoFit/>
            </a:bodyPr>
            <a:lstStyle>
              <a:defPPr>
                <a:defRPr lang="zh-CN"/>
              </a:defPPr>
              <a:lvl1pPr marL="0" lvl="0"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9pPr>
            </a:lstStyle>
            <a:p>
              <a:r>
                <a:rPr lang="zh-CN" altLang="en-US" sz="2400" b="1" dirty="0">
                  <a:solidFill>
                    <a:srgbClr val="000000"/>
                  </a:solidFill>
                  <a:latin typeface="+mn-ea"/>
                  <a:ea typeface="+mn-ea"/>
                </a:rPr>
                <a:t>基本操作是“比较两个数的大小”</a:t>
              </a:r>
            </a:p>
          </p:txBody>
        </p:sp>
        <p:sp>
          <p:nvSpPr>
            <p:cNvPr id="12" name="文本框 5127">
              <a:extLst>
                <a:ext uri="{FF2B5EF4-FFF2-40B4-BE49-F238E27FC236}">
                  <a16:creationId xmlns:a16="http://schemas.microsoft.com/office/drawing/2014/main" id="{6C4558FA-8670-CD89-0F45-CAA1CB76F432}"/>
                </a:ext>
              </a:extLst>
            </p:cNvPr>
            <p:cNvSpPr txBox="1"/>
            <p:nvPr/>
          </p:nvSpPr>
          <p:spPr>
            <a:xfrm>
              <a:off x="1560983" y="5303335"/>
              <a:ext cx="4561998" cy="461665"/>
            </a:xfrm>
            <a:prstGeom prst="rect">
              <a:avLst/>
            </a:prstGeom>
            <a:noFill/>
            <a:ln w="9525">
              <a:noFill/>
            </a:ln>
          </p:spPr>
          <p:txBody>
            <a:bodyPr wrap="square">
              <a:spAutoFit/>
            </a:bodyPr>
            <a:lstStyle>
              <a:defPPr>
                <a:defRPr lang="zh-CN"/>
              </a:defPPr>
              <a:lvl1pPr marL="0" lvl="0"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9pPr>
            </a:lstStyle>
            <a:p>
              <a:r>
                <a:rPr lang="zh-CN" altLang="zh-CN" sz="2400" b="1" dirty="0">
                  <a:solidFill>
                    <a:srgbClr val="660066"/>
                  </a:solidFill>
                  <a:latin typeface="+mn-ea"/>
                  <a:ea typeface="+mn-ea"/>
                </a:rPr>
                <a:t>取决于整数值的范围和组织形式</a:t>
              </a:r>
              <a:endParaRPr lang="zh-CN" altLang="en-US" sz="2400" b="1" dirty="0">
                <a:solidFill>
                  <a:srgbClr val="660066"/>
                </a:solidFill>
                <a:latin typeface="+mn-ea"/>
                <a:ea typeface="+mn-ea"/>
              </a:endParaRPr>
            </a:p>
          </p:txBody>
        </p:sp>
        <p:sp>
          <p:nvSpPr>
            <p:cNvPr id="13" name="文本框 5128">
              <a:extLst>
                <a:ext uri="{FF2B5EF4-FFF2-40B4-BE49-F238E27FC236}">
                  <a16:creationId xmlns:a16="http://schemas.microsoft.com/office/drawing/2014/main" id="{5A47DE25-9A05-15BA-D405-7CC94B9C142C}"/>
                </a:ext>
              </a:extLst>
            </p:cNvPr>
            <p:cNvSpPr txBox="1"/>
            <p:nvPr/>
          </p:nvSpPr>
          <p:spPr>
            <a:xfrm>
              <a:off x="1012711" y="5838992"/>
              <a:ext cx="5310706" cy="461665"/>
            </a:xfrm>
            <a:prstGeom prst="rect">
              <a:avLst/>
            </a:prstGeom>
            <a:noFill/>
            <a:ln w="9525">
              <a:noFill/>
            </a:ln>
          </p:spPr>
          <p:txBody>
            <a:bodyPr wrap="square">
              <a:spAutoFit/>
            </a:bodyPr>
            <a:lstStyle>
              <a:defPPr>
                <a:defRPr lang="zh-CN"/>
              </a:defPPr>
              <a:lvl1pPr marL="0" lvl="0"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9pPr>
            </a:lstStyle>
            <a:p>
              <a:r>
                <a:rPr lang="zh-CN" altLang="en-US" sz="2400" b="1" dirty="0">
                  <a:solidFill>
                    <a:srgbClr val="000000"/>
                  </a:solidFill>
                  <a:latin typeface="+mn-ea"/>
                  <a:ea typeface="+mn-ea"/>
                </a:rPr>
                <a:t>如：序列、有序序列、集合、树  等</a:t>
              </a:r>
            </a:p>
          </p:txBody>
        </p:sp>
      </p:grpSp>
      <p:grpSp>
        <p:nvGrpSpPr>
          <p:cNvPr id="15" name="组合 14">
            <a:extLst>
              <a:ext uri="{FF2B5EF4-FFF2-40B4-BE49-F238E27FC236}">
                <a16:creationId xmlns:a16="http://schemas.microsoft.com/office/drawing/2014/main" id="{26793019-8B57-B8A5-3A9A-84CC8CA941C4}"/>
              </a:ext>
            </a:extLst>
          </p:cNvPr>
          <p:cNvGrpSpPr/>
          <p:nvPr/>
        </p:nvGrpSpPr>
        <p:grpSpPr>
          <a:xfrm>
            <a:off x="6613134" y="1144078"/>
            <a:ext cx="5166798" cy="4164984"/>
            <a:chOff x="6794039" y="1226659"/>
            <a:chExt cx="5166798" cy="4164984"/>
          </a:xfrm>
        </p:grpSpPr>
        <p:sp>
          <p:nvSpPr>
            <p:cNvPr id="19" name="矩形 18">
              <a:extLst>
                <a:ext uri="{FF2B5EF4-FFF2-40B4-BE49-F238E27FC236}">
                  <a16:creationId xmlns:a16="http://schemas.microsoft.com/office/drawing/2014/main" id="{6CBF45B5-5E76-2EFD-EC72-7522E9DB1AA6}"/>
                </a:ext>
              </a:extLst>
            </p:cNvPr>
            <p:cNvSpPr/>
            <p:nvPr/>
          </p:nvSpPr>
          <p:spPr>
            <a:xfrm>
              <a:off x="6794039" y="1226659"/>
              <a:ext cx="5166798" cy="4164984"/>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B0B67802-AEC5-02F3-5C54-35D2475B2619}"/>
                </a:ext>
              </a:extLst>
            </p:cNvPr>
            <p:cNvSpPr txBox="1"/>
            <p:nvPr/>
          </p:nvSpPr>
          <p:spPr>
            <a:xfrm>
              <a:off x="6908535" y="1338418"/>
              <a:ext cx="4831395" cy="1569660"/>
            </a:xfrm>
            <a:prstGeom prst="rect">
              <a:avLst/>
            </a:prstGeom>
            <a:noFill/>
          </p:spPr>
          <p:txBody>
            <a:bodyPr wrap="square">
              <a:spAutoFit/>
            </a:bodyPr>
            <a:lstStyle/>
            <a:p>
              <a:pPr algn="just"/>
              <a:r>
                <a:rPr lang="zh-CN" altLang="zh-CN" sz="2400" dirty="0">
                  <a:solidFill>
                    <a:srgbClr val="CC0000"/>
                  </a:solidFill>
                  <a:effectLst>
                    <a:outerShdw blurRad="38100" dist="38100" dir="2700000">
                      <a:srgbClr val="000000"/>
                    </a:outerShdw>
                  </a:effectLst>
                  <a:latin typeface="华文琥珀" pitchFamily="2" charset="-122"/>
                  <a:ea typeface="华文琥珀" pitchFamily="2" charset="-122"/>
                </a:rPr>
                <a:t>例</a:t>
              </a:r>
              <a:r>
                <a:rPr lang="en-US" altLang="zh-CN" sz="2400" dirty="0">
                  <a:solidFill>
                    <a:srgbClr val="CC0000"/>
                  </a:solidFill>
                  <a:effectLst>
                    <a:outerShdw blurRad="38100" dist="38100" dir="2700000">
                      <a:srgbClr val="000000"/>
                    </a:outerShdw>
                  </a:effectLst>
                  <a:latin typeface="华文琥珀" pitchFamily="2" charset="-122"/>
                  <a:ea typeface="华文琥珀" pitchFamily="2" charset="-122"/>
                </a:rPr>
                <a:t>1-1  </a:t>
              </a:r>
              <a:r>
                <a:rPr lang="zh-CN" altLang="zh-CN" sz="2400" b="1" dirty="0"/>
                <a:t>目录、索引、字典、查询系统和浏览器。</a:t>
              </a:r>
              <a:r>
                <a:rPr lang="zh-CN" altLang="zh-CN" sz="2400" dirty="0"/>
                <a:t>本书的前后分别配有目录和索引，都是为了方便读者查阅书中内容而设的查找工具。</a:t>
              </a:r>
              <a:endParaRPr lang="zh-CN" altLang="en-US" sz="2400" dirty="0"/>
            </a:p>
          </p:txBody>
        </p:sp>
        <p:sp>
          <p:nvSpPr>
            <p:cNvPr id="18" name="文本框 17">
              <a:extLst>
                <a:ext uri="{FF2B5EF4-FFF2-40B4-BE49-F238E27FC236}">
                  <a16:creationId xmlns:a16="http://schemas.microsoft.com/office/drawing/2014/main" id="{8F37326A-F297-04CA-B069-4F5FF9B06C46}"/>
                </a:ext>
              </a:extLst>
            </p:cNvPr>
            <p:cNvSpPr txBox="1"/>
            <p:nvPr/>
          </p:nvSpPr>
          <p:spPr>
            <a:xfrm>
              <a:off x="6941701" y="3052080"/>
              <a:ext cx="4831395" cy="2185791"/>
            </a:xfrm>
            <a:prstGeom prst="rect">
              <a:avLst/>
            </a:prstGeom>
            <a:noFill/>
          </p:spPr>
          <p:txBody>
            <a:bodyPr wrap="square">
              <a:spAutoFit/>
            </a:bodyPr>
            <a:lstStyle/>
            <a:p>
              <a:pPr indent="266700" algn="just">
                <a:lnSpc>
                  <a:spcPct val="115000"/>
                </a:lnSpc>
                <a:buNone/>
              </a:pPr>
              <a:r>
                <a:rPr lang="zh-CN" altLang="zh-CN" sz="2400" kern="100" dirty="0">
                  <a:effectLst/>
                  <a:latin typeface="等线" panose="02010600030101010101" pitchFamily="2" charset="-122"/>
                  <a:ea typeface="楷体" panose="02010609060101010101" pitchFamily="49" charset="-122"/>
                  <a:cs typeface="Times New Roman" panose="02020603050405020304" pitchFamily="18" charset="0"/>
                </a:rPr>
                <a:t>在计算机实现各种查询或查阅系统，用到了数据结构中的各种查找表及其算法。人们也将这些查找表形象地泛称为“字典”，或者视为各种用途的字典的不同表示和实现。</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p:txBody>
        </p:sp>
      </p:grpSp>
      <p:sp>
        <p:nvSpPr>
          <p:cNvPr id="20" name="灯片编号占位符 19">
            <a:extLst>
              <a:ext uri="{FF2B5EF4-FFF2-40B4-BE49-F238E27FC236}">
                <a16:creationId xmlns:a16="http://schemas.microsoft.com/office/drawing/2014/main" id="{421F85ED-3909-61D8-D04B-3A89F2AB11B7}"/>
              </a:ext>
            </a:extLst>
          </p:cNvPr>
          <p:cNvSpPr>
            <a:spLocks noGrp="1"/>
          </p:cNvSpPr>
          <p:nvPr>
            <p:ph type="sldNum" sz="quarter" idx="12"/>
          </p:nvPr>
        </p:nvSpPr>
        <p:spPr/>
        <p:txBody>
          <a:bodyPr/>
          <a:lstStyle/>
          <a:p>
            <a:fld id="{D7C0FE0B-717B-41AE-9FA2-CA4BF851D1C3}" type="slidenum">
              <a:rPr lang="zh-CN" altLang="en-US" smtClean="0"/>
              <a:t>25</a:t>
            </a:fld>
            <a:endParaRPr lang="zh-CN" altLang="en-US"/>
          </a:p>
        </p:txBody>
      </p:sp>
    </p:spTree>
    <p:extLst>
      <p:ext uri="{BB962C8B-B14F-4D97-AF65-F5344CB8AC3E}">
        <p14:creationId xmlns:p14="http://schemas.microsoft.com/office/powerpoint/2010/main" val="1254342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1000"/>
                                        <p:tgtEl>
                                          <p:spTgt spid="17"/>
                                        </p:tgtEl>
                                      </p:cBhvr>
                                    </p:animEffect>
                                    <p:anim calcmode="lin" valueType="num">
                                      <p:cBhvr>
                                        <p:cTn id="12" dur="1000" fill="hold"/>
                                        <p:tgtEl>
                                          <p:spTgt spid="17"/>
                                        </p:tgtEl>
                                        <p:attrNameLst>
                                          <p:attrName>ppt_x</p:attrName>
                                        </p:attrNameLst>
                                      </p:cBhvr>
                                      <p:tavLst>
                                        <p:tav tm="0">
                                          <p:val>
                                            <p:strVal val="#ppt_x"/>
                                          </p:val>
                                        </p:tav>
                                        <p:tav tm="100000">
                                          <p:val>
                                            <p:strVal val="#ppt_x"/>
                                          </p:val>
                                        </p:tav>
                                      </p:tavLst>
                                    </p:anim>
                                    <p:anim calcmode="lin" valueType="num">
                                      <p:cBhvr>
                                        <p:cTn id="13"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1000"/>
                                        <p:tgtEl>
                                          <p:spTgt spid="15"/>
                                        </p:tgtEl>
                                      </p:cBhvr>
                                    </p:animEffect>
                                    <p:anim calcmode="lin" valueType="num">
                                      <p:cBhvr>
                                        <p:cTn id="19" dur="1000" fill="hold"/>
                                        <p:tgtEl>
                                          <p:spTgt spid="15"/>
                                        </p:tgtEl>
                                        <p:attrNameLst>
                                          <p:attrName>ppt_x</p:attrName>
                                        </p:attrNameLst>
                                      </p:cBhvr>
                                      <p:tavLst>
                                        <p:tav tm="0">
                                          <p:val>
                                            <p:strVal val="#ppt_x"/>
                                          </p:val>
                                        </p:tav>
                                        <p:tav tm="100000">
                                          <p:val>
                                            <p:strVal val="#ppt_x"/>
                                          </p:val>
                                        </p:tav>
                                      </p:tavLst>
                                    </p:anim>
                                    <p:anim calcmode="lin" valueType="num">
                                      <p:cBhvr>
                                        <p:cTn id="20"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566F3651-59FE-9678-C201-6B78804120C0}"/>
              </a:ext>
            </a:extLst>
          </p:cNvPr>
          <p:cNvSpPr txBox="1"/>
          <p:nvPr/>
        </p:nvSpPr>
        <p:spPr>
          <a:xfrm>
            <a:off x="587491" y="492861"/>
            <a:ext cx="4684524" cy="461665"/>
          </a:xfrm>
          <a:prstGeom prst="rect">
            <a:avLst/>
          </a:prstGeom>
          <a:noFill/>
        </p:spPr>
        <p:txBody>
          <a:bodyPr wrap="square">
            <a:spAutoFit/>
          </a:bodyPr>
          <a:lstStyle/>
          <a:p>
            <a:r>
              <a:rPr lang="zh-CN" altLang="zh-CN" sz="2400" dirty="0">
                <a:solidFill>
                  <a:srgbClr val="CC0000"/>
                </a:solidFill>
                <a:effectLst>
                  <a:outerShdw blurRad="38100" dist="38100" dir="2700000">
                    <a:srgbClr val="000000"/>
                  </a:outerShdw>
                </a:effectLst>
                <a:latin typeface="华文琥珀" pitchFamily="2" charset="-122"/>
                <a:ea typeface="华文琥珀" pitchFamily="2" charset="-122"/>
              </a:rPr>
              <a:t>例</a:t>
            </a:r>
            <a:r>
              <a:rPr lang="en-US" altLang="zh-CN" sz="2400" dirty="0">
                <a:solidFill>
                  <a:srgbClr val="CC0000"/>
                </a:solidFill>
                <a:effectLst>
                  <a:outerShdw blurRad="38100" dist="38100" dir="2700000">
                    <a:srgbClr val="000000"/>
                  </a:outerShdw>
                </a:effectLst>
                <a:latin typeface="华文琥珀" pitchFamily="2" charset="-122"/>
                <a:ea typeface="华文琥珀" pitchFamily="2" charset="-122"/>
              </a:rPr>
              <a:t>1-2  </a:t>
            </a:r>
            <a:r>
              <a:rPr lang="zh-CN" altLang="zh-CN" sz="2400" b="1" dirty="0"/>
              <a:t>计算机和人对弈问题。</a:t>
            </a:r>
            <a:endParaRPr lang="zh-CN" altLang="zh-CN" sz="2400" dirty="0"/>
          </a:p>
        </p:txBody>
      </p:sp>
      <p:sp>
        <p:nvSpPr>
          <p:cNvPr id="4" name="文本框 3">
            <a:extLst>
              <a:ext uri="{FF2B5EF4-FFF2-40B4-BE49-F238E27FC236}">
                <a16:creationId xmlns:a16="http://schemas.microsoft.com/office/drawing/2014/main" id="{5F98F664-940B-553B-DCD3-E5F635A69ECE}"/>
              </a:ext>
            </a:extLst>
          </p:cNvPr>
          <p:cNvSpPr txBox="1"/>
          <p:nvPr/>
        </p:nvSpPr>
        <p:spPr>
          <a:xfrm>
            <a:off x="587491" y="1132093"/>
            <a:ext cx="1114408" cy="1200329"/>
          </a:xfrm>
          <a:prstGeom prst="rect">
            <a:avLst/>
          </a:prstGeom>
          <a:noFill/>
          <a:ln w="9525">
            <a:noFill/>
          </a:ln>
        </p:spPr>
        <p:txBody>
          <a:bodyPr wrap="none" anchor="t" anchorCtr="0">
            <a:spAutoFit/>
          </a:bodyPr>
          <a:lstStyle/>
          <a:p>
            <a:r>
              <a:rPr lang="zh-CN" altLang="en-US" sz="2400" b="1" dirty="0">
                <a:solidFill>
                  <a:srgbClr val="FF0000"/>
                </a:solidFill>
                <a:effectLst>
                  <a:outerShdw blurRad="38100" dist="38100" dir="2700000">
                    <a:srgbClr val="000000"/>
                  </a:outerShdw>
                </a:effectLst>
                <a:latin typeface="+mj-ea"/>
                <a:ea typeface="+mj-ea"/>
              </a:rPr>
              <a:t>算法 </a:t>
            </a:r>
            <a:r>
              <a:rPr lang="en-US" altLang="zh-CN" sz="2400" b="1" dirty="0">
                <a:latin typeface="+mj-ea"/>
                <a:ea typeface="+mj-ea"/>
              </a:rPr>
              <a:t>?</a:t>
            </a:r>
          </a:p>
          <a:p>
            <a:endParaRPr lang="en-US" altLang="zh-CN" sz="2400" b="1" dirty="0">
              <a:latin typeface="+mj-ea"/>
              <a:ea typeface="+mj-ea"/>
            </a:endParaRPr>
          </a:p>
          <a:p>
            <a:r>
              <a:rPr lang="zh-CN" altLang="en-US" sz="2400" b="1" dirty="0">
                <a:solidFill>
                  <a:srgbClr val="FF0000"/>
                </a:solidFill>
                <a:effectLst>
                  <a:outerShdw blurRad="38100" dist="38100" dir="2700000">
                    <a:srgbClr val="000000"/>
                  </a:outerShdw>
                </a:effectLst>
                <a:latin typeface="+mj-ea"/>
                <a:ea typeface="+mj-ea"/>
              </a:rPr>
              <a:t>模型 </a:t>
            </a:r>
            <a:r>
              <a:rPr lang="en-US" altLang="zh-CN" sz="2400" b="1" dirty="0">
                <a:latin typeface="+mj-ea"/>
                <a:ea typeface="+mj-ea"/>
              </a:rPr>
              <a:t>?</a:t>
            </a:r>
            <a:endParaRPr lang="en-US" altLang="zh-CN" sz="2400" b="1" dirty="0">
              <a:solidFill>
                <a:srgbClr val="FF0000"/>
              </a:solidFill>
              <a:latin typeface="+mj-ea"/>
              <a:ea typeface="+mj-ea"/>
            </a:endParaRPr>
          </a:p>
        </p:txBody>
      </p:sp>
      <p:sp>
        <p:nvSpPr>
          <p:cNvPr id="5" name="文本框 4">
            <a:extLst>
              <a:ext uri="{FF2B5EF4-FFF2-40B4-BE49-F238E27FC236}">
                <a16:creationId xmlns:a16="http://schemas.microsoft.com/office/drawing/2014/main" id="{5953356F-711E-301C-C766-FDC3E6647038}"/>
              </a:ext>
            </a:extLst>
          </p:cNvPr>
          <p:cNvSpPr txBox="1"/>
          <p:nvPr/>
        </p:nvSpPr>
        <p:spPr>
          <a:xfrm>
            <a:off x="1720621" y="1132093"/>
            <a:ext cx="2756623" cy="461665"/>
          </a:xfrm>
          <a:prstGeom prst="rect">
            <a:avLst/>
          </a:prstGeom>
          <a:noFill/>
          <a:ln w="9525">
            <a:noFill/>
          </a:ln>
        </p:spPr>
        <p:txBody>
          <a:bodyPr wrap="square">
            <a:spAutoFit/>
          </a:bodyPr>
          <a:lstStyle/>
          <a:p>
            <a:r>
              <a:rPr lang="zh-CN" altLang="en-US" sz="2400" b="1" dirty="0">
                <a:solidFill>
                  <a:srgbClr val="660066"/>
                </a:solidFill>
                <a:latin typeface="+mj-ea"/>
                <a:ea typeface="+mj-ea"/>
              </a:rPr>
              <a:t>对弈的规则和策略</a:t>
            </a:r>
          </a:p>
        </p:txBody>
      </p:sp>
      <p:sp>
        <p:nvSpPr>
          <p:cNvPr id="6" name="文本框 5">
            <a:extLst>
              <a:ext uri="{FF2B5EF4-FFF2-40B4-BE49-F238E27FC236}">
                <a16:creationId xmlns:a16="http://schemas.microsoft.com/office/drawing/2014/main" id="{8C7E9241-100D-8799-E41C-33D0B8255931}"/>
              </a:ext>
            </a:extLst>
          </p:cNvPr>
          <p:cNvSpPr txBox="1"/>
          <p:nvPr/>
        </p:nvSpPr>
        <p:spPr>
          <a:xfrm>
            <a:off x="1671460" y="1870757"/>
            <a:ext cx="2701552" cy="461665"/>
          </a:xfrm>
          <a:prstGeom prst="rect">
            <a:avLst/>
          </a:prstGeom>
          <a:noFill/>
          <a:ln w="9525">
            <a:noFill/>
          </a:ln>
        </p:spPr>
        <p:txBody>
          <a:bodyPr wrap="square">
            <a:spAutoFit/>
          </a:bodyPr>
          <a:lstStyle/>
          <a:p>
            <a:r>
              <a:rPr lang="zh-CN" altLang="en-US" sz="2400" b="1" dirty="0">
                <a:solidFill>
                  <a:srgbClr val="000000"/>
                </a:solidFill>
                <a:latin typeface="+mj-ea"/>
                <a:ea typeface="+mj-ea"/>
              </a:rPr>
              <a:t>棋盘及棋盘的格局</a:t>
            </a:r>
          </a:p>
        </p:txBody>
      </p:sp>
      <p:sp>
        <p:nvSpPr>
          <p:cNvPr id="7" name="Rectangle 2">
            <a:extLst>
              <a:ext uri="{FF2B5EF4-FFF2-40B4-BE49-F238E27FC236}">
                <a16:creationId xmlns:a16="http://schemas.microsoft.com/office/drawing/2014/main" id="{484DAB0C-F76B-BBB0-44DF-7B821D1ED4CC}"/>
              </a:ext>
            </a:extLst>
          </p:cNvPr>
          <p:cNvSpPr>
            <a:spLocks noChangeArrowheads="1"/>
          </p:cNvSpPr>
          <p:nvPr/>
        </p:nvSpPr>
        <p:spPr bwMode="auto">
          <a:xfrm>
            <a:off x="3210571" y="2332422"/>
            <a:ext cx="898142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pic>
        <p:nvPicPr>
          <p:cNvPr id="1025" name="Picture 1">
            <a:extLst>
              <a:ext uri="{FF2B5EF4-FFF2-40B4-BE49-F238E27FC236}">
                <a16:creationId xmlns:a16="http://schemas.microsoft.com/office/drawing/2014/main" id="{B089D9EF-0E44-6A6C-C866-738340B3617F}"/>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601705" y="2595330"/>
            <a:ext cx="4396700" cy="2190951"/>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3">
            <a:extLst>
              <a:ext uri="{FF2B5EF4-FFF2-40B4-BE49-F238E27FC236}">
                <a16:creationId xmlns:a16="http://schemas.microsoft.com/office/drawing/2014/main" id="{8E2E8BFA-80B4-B0CF-6023-542EEC5DB031}"/>
              </a:ext>
            </a:extLst>
          </p:cNvPr>
          <p:cNvSpPr>
            <a:spLocks noChangeArrowheads="1"/>
          </p:cNvSpPr>
          <p:nvPr/>
        </p:nvSpPr>
        <p:spPr bwMode="auto">
          <a:xfrm>
            <a:off x="401787" y="4922553"/>
            <a:ext cx="4796536"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chemeClr val="tx1"/>
                </a:solidFill>
                <a:effectLst/>
                <a:latin typeface="+mj-ea"/>
                <a:ea typeface="+mj-ea"/>
                <a:cs typeface="Times New Roman" panose="02020603050405020304" pitchFamily="18" charset="0"/>
              </a:rPr>
              <a:t>图</a:t>
            </a:r>
            <a:r>
              <a:rPr kumimoji="0" lang="en-US" altLang="zh-CN" sz="2000" b="0" i="0" u="none" strike="noStrike" cap="none" normalizeH="0" baseline="0" dirty="0">
                <a:ln>
                  <a:noFill/>
                </a:ln>
                <a:solidFill>
                  <a:schemeClr val="tx1"/>
                </a:solidFill>
                <a:effectLst/>
                <a:latin typeface="+mj-ea"/>
                <a:ea typeface="+mj-ea"/>
                <a:cs typeface="Times New Roman" panose="02020603050405020304" pitchFamily="18" charset="0"/>
              </a:rPr>
              <a:t>1.2  </a:t>
            </a:r>
            <a:r>
              <a:rPr kumimoji="0" lang="zh-CN" altLang="en-US"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井字棋对弈</a:t>
            </a:r>
            <a:r>
              <a:rPr kumimoji="0" lang="zh-CN" altLang="en-US" sz="20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a:t>
            </a:r>
            <a:r>
              <a:rPr kumimoji="0" lang="zh-CN" altLang="en-US"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树</a:t>
            </a:r>
            <a:r>
              <a:rPr kumimoji="0" lang="zh-CN" altLang="en-US" sz="20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a:t>
            </a:r>
            <a:endParaRPr kumimoji="0" lang="zh-CN" altLang="en-US" sz="20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(a)</a:t>
            </a:r>
            <a:r>
              <a:rPr kumimoji="0" lang="zh-CN" altLang="en-US"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棋盘格局示例；</a:t>
            </a:r>
            <a:r>
              <a:rPr kumimoji="0" lang="en-US" altLang="zh-CN" sz="20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(b)</a:t>
            </a:r>
            <a:r>
              <a:rPr kumimoji="0" lang="zh-CN" altLang="en-US"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对弈树的局部</a:t>
            </a:r>
            <a:endParaRPr kumimoji="0" lang="zh-CN" altLang="en-US" sz="2000" b="0" i="0" u="none" strike="noStrike" cap="none" normalizeH="0" baseline="0" dirty="0">
              <a:ln>
                <a:noFill/>
              </a:ln>
              <a:solidFill>
                <a:schemeClr val="tx1"/>
              </a:solidFill>
              <a:effectLst/>
              <a:latin typeface="Arial" panose="020B0604020202020204" pitchFamily="34" charset="0"/>
            </a:endParaRPr>
          </a:p>
        </p:txBody>
      </p:sp>
      <p:sp>
        <p:nvSpPr>
          <p:cNvPr id="9" name="文本框 8">
            <a:extLst>
              <a:ext uri="{FF2B5EF4-FFF2-40B4-BE49-F238E27FC236}">
                <a16:creationId xmlns:a16="http://schemas.microsoft.com/office/drawing/2014/main" id="{EB00B2D2-C05C-DA1D-796E-F4862159E411}"/>
              </a:ext>
            </a:extLst>
          </p:cNvPr>
          <p:cNvSpPr txBox="1"/>
          <p:nvPr/>
        </p:nvSpPr>
        <p:spPr>
          <a:xfrm>
            <a:off x="5699414" y="954526"/>
            <a:ext cx="4634346" cy="1418915"/>
          </a:xfrm>
          <a:prstGeom prst="rect">
            <a:avLst/>
          </a:prstGeom>
          <a:noFill/>
        </p:spPr>
        <p:txBody>
          <a:bodyPr wrap="square">
            <a:spAutoFit/>
          </a:bodyPr>
          <a:lstStyle/>
          <a:p>
            <a:pPr>
              <a:lnSpc>
                <a:spcPct val="150000"/>
              </a:lnSpc>
            </a:pP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井字棋由两人对弈，棋盘为</a:t>
            </a:r>
            <a:r>
              <a:rPr lang="en-US" altLang="zh-CN" sz="2000" dirty="0">
                <a:effectLst/>
                <a:latin typeface="Times New Roman" panose="02020603050405020304" pitchFamily="18" charset="0"/>
                <a:ea typeface="宋体" panose="02010600030101010101" pitchFamily="2" charset="-122"/>
              </a:rPr>
              <a:t>3</a:t>
            </a:r>
            <a:r>
              <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000" dirty="0">
                <a:effectLst/>
                <a:latin typeface="Times New Roman" panose="02020603050405020304" pitchFamily="18" charset="0"/>
                <a:ea typeface="宋体" panose="02010600030101010101" pitchFamily="2" charset="-122"/>
              </a:rPr>
              <a:t>3</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的方格。</a:t>
            </a:r>
            <a:endPar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当一方的</a:t>
            </a:r>
            <a:r>
              <a:rPr lang="en-US" altLang="zh-CN" sz="2000" dirty="0">
                <a:effectLst/>
                <a:latin typeface="Times New Roman" panose="02020603050405020304" pitchFamily="18" charset="0"/>
                <a:ea typeface="宋体" panose="02010600030101010101" pitchFamily="2" charset="-122"/>
              </a:rPr>
              <a:t>3</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个棋子占同一行，或同一列，或同一对角线时便为胜方。</a:t>
            </a:r>
            <a:endParaRPr lang="zh-CN" altLang="en-US" sz="2000" dirty="0"/>
          </a:p>
        </p:txBody>
      </p:sp>
      <p:sp>
        <p:nvSpPr>
          <p:cNvPr id="11" name="文本框 10">
            <a:extLst>
              <a:ext uri="{FF2B5EF4-FFF2-40B4-BE49-F238E27FC236}">
                <a16:creationId xmlns:a16="http://schemas.microsoft.com/office/drawing/2014/main" id="{08E282E4-B21E-7CE1-D240-E886FFBA5966}"/>
              </a:ext>
            </a:extLst>
          </p:cNvPr>
          <p:cNvSpPr txBox="1"/>
          <p:nvPr/>
        </p:nvSpPr>
        <p:spPr>
          <a:xfrm>
            <a:off x="5527963" y="2765563"/>
            <a:ext cx="5839692" cy="2803909"/>
          </a:xfrm>
          <a:prstGeom prst="rect">
            <a:avLst/>
          </a:prstGeom>
          <a:noFill/>
        </p:spPr>
        <p:txBody>
          <a:bodyPr wrap="square">
            <a:spAutoFit/>
          </a:bodyPr>
          <a:lstStyle/>
          <a:p>
            <a:pPr>
              <a:lnSpc>
                <a:spcPct val="150000"/>
              </a:lnSpc>
            </a:pPr>
            <a:r>
              <a:rPr lang="zh-CN" altLang="zh-CN" sz="2000" dirty="0">
                <a:effectLst/>
                <a:ea typeface="楷体" panose="02010609060101010101" pitchFamily="49" charset="-122"/>
                <a:cs typeface="Times New Roman" panose="02020603050405020304" pitchFamily="18" charset="0"/>
              </a:rPr>
              <a:t>若将从对弈开始到结束的过程中所有可能出现的格局都画在一张图上，则可得到一棵倒长的“</a:t>
            </a:r>
            <a:r>
              <a:rPr lang="zh-CN" altLang="zh-CN" sz="2000" b="1" dirty="0">
                <a:solidFill>
                  <a:srgbClr val="C00000"/>
                </a:solidFill>
                <a:effectLst>
                  <a:outerShdw blurRad="38100" dist="38100" dir="2700000" algn="tl">
                    <a:srgbClr val="000000">
                      <a:alpha val="43137"/>
                    </a:srgbClr>
                  </a:outerShdw>
                </a:effectLst>
                <a:ea typeface="楷体" panose="02010609060101010101" pitchFamily="49" charset="-122"/>
                <a:cs typeface="Times New Roman" panose="02020603050405020304" pitchFamily="18" charset="0"/>
              </a:rPr>
              <a:t>树</a:t>
            </a:r>
            <a:r>
              <a:rPr lang="zh-CN" altLang="zh-CN" sz="2000" dirty="0">
                <a:effectLst/>
                <a:ea typeface="楷体" panose="02010609060101010101" pitchFamily="49" charset="-122"/>
                <a:cs typeface="Times New Roman" panose="02020603050405020304" pitchFamily="18" charset="0"/>
              </a:rPr>
              <a:t>”。“</a:t>
            </a:r>
            <a:r>
              <a:rPr lang="zh-CN" altLang="zh-CN" sz="2000" b="1" dirty="0">
                <a:solidFill>
                  <a:srgbClr val="C00000"/>
                </a:solidFill>
                <a:effectLst>
                  <a:outerShdw blurRad="38100" dist="38100" dir="2700000" algn="tl">
                    <a:srgbClr val="000000">
                      <a:alpha val="43137"/>
                    </a:srgbClr>
                  </a:outerShdw>
                </a:effectLst>
                <a:ea typeface="楷体" panose="02010609060101010101" pitchFamily="49" charset="-122"/>
                <a:cs typeface="Times New Roman" panose="02020603050405020304" pitchFamily="18" charset="0"/>
              </a:rPr>
              <a:t>树根</a:t>
            </a:r>
            <a:r>
              <a:rPr lang="zh-CN" altLang="zh-CN" sz="2000" dirty="0">
                <a:effectLst/>
                <a:ea typeface="楷体" panose="02010609060101010101" pitchFamily="49" charset="-122"/>
                <a:cs typeface="Times New Roman" panose="02020603050405020304" pitchFamily="18" charset="0"/>
              </a:rPr>
              <a:t>”是对弈开始之前的棋盘格局，而所有的“</a:t>
            </a:r>
            <a:r>
              <a:rPr lang="zh-CN" altLang="zh-CN" sz="2000" b="1" dirty="0">
                <a:solidFill>
                  <a:srgbClr val="C00000"/>
                </a:solidFill>
                <a:effectLst>
                  <a:outerShdw blurRad="38100" dist="38100" dir="2700000" algn="tl">
                    <a:srgbClr val="000000">
                      <a:alpha val="43137"/>
                    </a:srgbClr>
                  </a:outerShdw>
                </a:effectLst>
                <a:ea typeface="楷体" panose="02010609060101010101" pitchFamily="49" charset="-122"/>
                <a:cs typeface="Times New Roman" panose="02020603050405020304" pitchFamily="18" charset="0"/>
              </a:rPr>
              <a:t>叶子</a:t>
            </a:r>
            <a:r>
              <a:rPr lang="zh-CN" altLang="zh-CN" sz="2000" dirty="0">
                <a:effectLst/>
                <a:ea typeface="楷体" panose="02010609060101010101" pitchFamily="49" charset="-122"/>
                <a:cs typeface="Times New Roman" panose="02020603050405020304" pitchFamily="18" charset="0"/>
              </a:rPr>
              <a:t>”就是可能出现的结局。对弈的过程就是从树根沿树杈到某个叶子的过程。“树”可以是某些非数值计算问题的数学模型，它也是一种数据结构。</a:t>
            </a:r>
            <a:endParaRPr lang="zh-CN" altLang="en-US" sz="2000" dirty="0"/>
          </a:p>
        </p:txBody>
      </p:sp>
      <p:sp>
        <p:nvSpPr>
          <p:cNvPr id="2" name="灯片编号占位符 1">
            <a:extLst>
              <a:ext uri="{FF2B5EF4-FFF2-40B4-BE49-F238E27FC236}">
                <a16:creationId xmlns:a16="http://schemas.microsoft.com/office/drawing/2014/main" id="{FD34FCC7-D269-F3A6-2488-AF6677A1C9EB}"/>
              </a:ext>
            </a:extLst>
          </p:cNvPr>
          <p:cNvSpPr>
            <a:spLocks noGrp="1"/>
          </p:cNvSpPr>
          <p:nvPr>
            <p:ph type="sldNum" sz="quarter" idx="12"/>
          </p:nvPr>
        </p:nvSpPr>
        <p:spPr/>
        <p:txBody>
          <a:bodyPr/>
          <a:lstStyle/>
          <a:p>
            <a:fld id="{D7C0FE0B-717B-41AE-9FA2-CA4BF851D1C3}" type="slidenum">
              <a:rPr lang="zh-CN" altLang="en-US" smtClean="0"/>
              <a:t>26</a:t>
            </a:fld>
            <a:endParaRPr lang="zh-CN" altLang="en-US"/>
          </a:p>
        </p:txBody>
      </p:sp>
    </p:spTree>
    <p:extLst>
      <p:ext uri="{BB962C8B-B14F-4D97-AF65-F5344CB8AC3E}">
        <p14:creationId xmlns:p14="http://schemas.microsoft.com/office/powerpoint/2010/main" val="2181041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ou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1000" fill="hold"/>
                                        <p:tgtEl>
                                          <p:spTgt spid="6"/>
                                        </p:tgtEl>
                                        <p:attrNameLst>
                                          <p:attrName>ppt_x</p:attrName>
                                        </p:attrNameLst>
                                      </p:cBhvr>
                                      <p:tavLst>
                                        <p:tav tm="0">
                                          <p:val>
                                            <p:strVal val="1+#ppt_w/2"/>
                                          </p:val>
                                        </p:tav>
                                        <p:tav tm="100000">
                                          <p:val>
                                            <p:strVal val="#ppt_x"/>
                                          </p:val>
                                        </p:tav>
                                      </p:tavLst>
                                    </p:anim>
                                    <p:anim calcmode="lin" valueType="num">
                                      <p:cBhvr additive="base">
                                        <p:cTn id="18" dur="10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5" name="直接连接符 134">
            <a:extLst>
              <a:ext uri="{FF2B5EF4-FFF2-40B4-BE49-F238E27FC236}">
                <a16:creationId xmlns:a16="http://schemas.microsoft.com/office/drawing/2014/main" id="{FFB9E904-3B8B-4E40-BAB8-42B86A2D66EB}"/>
              </a:ext>
            </a:extLst>
          </p:cNvPr>
          <p:cNvCxnSpPr>
            <a:cxnSpLocks/>
          </p:cNvCxnSpPr>
          <p:nvPr/>
        </p:nvCxnSpPr>
        <p:spPr>
          <a:xfrm>
            <a:off x="8653016" y="3423408"/>
            <a:ext cx="603085" cy="902752"/>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6" name="直接连接符 135">
            <a:extLst>
              <a:ext uri="{FF2B5EF4-FFF2-40B4-BE49-F238E27FC236}">
                <a16:creationId xmlns:a16="http://schemas.microsoft.com/office/drawing/2014/main" id="{BE619BCE-91B3-48E7-8677-066CE80CB57F}"/>
              </a:ext>
            </a:extLst>
          </p:cNvPr>
          <p:cNvCxnSpPr>
            <a:cxnSpLocks/>
          </p:cNvCxnSpPr>
          <p:nvPr/>
        </p:nvCxnSpPr>
        <p:spPr>
          <a:xfrm>
            <a:off x="8660755" y="3448437"/>
            <a:ext cx="13838" cy="1743303"/>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58" name="任意多边形: 形状 57">
            <a:extLst>
              <a:ext uri="{FF2B5EF4-FFF2-40B4-BE49-F238E27FC236}">
                <a16:creationId xmlns:a16="http://schemas.microsoft.com/office/drawing/2014/main" id="{C301347A-E392-4448-9523-3AC2D1E17712}"/>
              </a:ext>
            </a:extLst>
          </p:cNvPr>
          <p:cNvSpPr/>
          <p:nvPr/>
        </p:nvSpPr>
        <p:spPr>
          <a:xfrm>
            <a:off x="7276705" y="2772866"/>
            <a:ext cx="3833439" cy="3193544"/>
          </a:xfrm>
          <a:custGeom>
            <a:avLst/>
            <a:gdLst>
              <a:gd name="connsiteX0" fmla="*/ 2669040 w 2669040"/>
              <a:gd name="connsiteY0" fmla="*/ 364539 h 2309249"/>
              <a:gd name="connsiteX1" fmla="*/ 859558 w 2669040"/>
              <a:gd name="connsiteY1" fmla="*/ 29688 h 2309249"/>
              <a:gd name="connsiteX2" fmla="*/ 35310 w 2669040"/>
              <a:gd name="connsiteY2" fmla="*/ 1034240 h 2309249"/>
              <a:gd name="connsiteX3" fmla="*/ 228493 w 2669040"/>
              <a:gd name="connsiteY3" fmla="*/ 2309249 h 2309249"/>
            </a:gdLst>
            <a:ahLst/>
            <a:cxnLst>
              <a:cxn ang="0">
                <a:pos x="connsiteX0" y="connsiteY0"/>
              </a:cxn>
              <a:cxn ang="0">
                <a:pos x="connsiteX1" y="connsiteY1"/>
              </a:cxn>
              <a:cxn ang="0">
                <a:pos x="connsiteX2" y="connsiteY2"/>
              </a:cxn>
              <a:cxn ang="0">
                <a:pos x="connsiteX3" y="connsiteY3"/>
              </a:cxn>
            </a:cxnLst>
            <a:rect l="l" t="t" r="r" b="b"/>
            <a:pathLst>
              <a:path w="2669040" h="2309249">
                <a:moveTo>
                  <a:pt x="2669040" y="364539"/>
                </a:moveTo>
                <a:cubicBezTo>
                  <a:pt x="1983776" y="141305"/>
                  <a:pt x="1298513" y="-81929"/>
                  <a:pt x="859558" y="29688"/>
                </a:cubicBezTo>
                <a:cubicBezTo>
                  <a:pt x="420603" y="141305"/>
                  <a:pt x="140487" y="654313"/>
                  <a:pt x="35310" y="1034240"/>
                </a:cubicBezTo>
                <a:cubicBezTo>
                  <a:pt x="-69867" y="1414167"/>
                  <a:pt x="79313" y="1861708"/>
                  <a:pt x="228493" y="2309249"/>
                </a:cubicBezTo>
              </a:path>
            </a:pathLst>
          </a:custGeom>
          <a:no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57" name="任意多边形: 形状 56">
            <a:extLst>
              <a:ext uri="{FF2B5EF4-FFF2-40B4-BE49-F238E27FC236}">
                <a16:creationId xmlns:a16="http://schemas.microsoft.com/office/drawing/2014/main" id="{6B9032FD-A95F-4491-932A-A08E3F5636FC}"/>
              </a:ext>
            </a:extLst>
          </p:cNvPr>
          <p:cNvSpPr/>
          <p:nvPr/>
        </p:nvSpPr>
        <p:spPr>
          <a:xfrm>
            <a:off x="7485085" y="2978818"/>
            <a:ext cx="2293244" cy="2791674"/>
          </a:xfrm>
          <a:custGeom>
            <a:avLst/>
            <a:gdLst>
              <a:gd name="connsiteX0" fmla="*/ 1596676 w 1596676"/>
              <a:gd name="connsiteY0" fmla="*/ 228494 h 2018657"/>
              <a:gd name="connsiteX1" fmla="*/ 624321 w 1596676"/>
              <a:gd name="connsiteY1" fmla="*/ 35310 h 2018657"/>
              <a:gd name="connsiteX2" fmla="*/ 25453 w 1596676"/>
              <a:gd name="connsiteY2" fmla="*/ 859558 h 2018657"/>
              <a:gd name="connsiteX3" fmla="*/ 167121 w 1596676"/>
              <a:gd name="connsiteY3" fmla="*/ 2018657 h 2018657"/>
            </a:gdLst>
            <a:ahLst/>
            <a:cxnLst>
              <a:cxn ang="0">
                <a:pos x="connsiteX0" y="connsiteY0"/>
              </a:cxn>
              <a:cxn ang="0">
                <a:pos x="connsiteX1" y="connsiteY1"/>
              </a:cxn>
              <a:cxn ang="0">
                <a:pos x="connsiteX2" y="connsiteY2"/>
              </a:cxn>
              <a:cxn ang="0">
                <a:pos x="connsiteX3" y="connsiteY3"/>
              </a:cxn>
            </a:cxnLst>
            <a:rect l="l" t="t" r="r" b="b"/>
            <a:pathLst>
              <a:path w="1596676" h="2018657">
                <a:moveTo>
                  <a:pt x="1596676" y="228494"/>
                </a:moveTo>
                <a:cubicBezTo>
                  <a:pt x="1241433" y="79313"/>
                  <a:pt x="886191" y="-69867"/>
                  <a:pt x="624321" y="35310"/>
                </a:cubicBezTo>
                <a:cubicBezTo>
                  <a:pt x="362450" y="140487"/>
                  <a:pt x="101653" y="529000"/>
                  <a:pt x="25453" y="859558"/>
                </a:cubicBezTo>
                <a:cubicBezTo>
                  <a:pt x="-50747" y="1190116"/>
                  <a:pt x="58187" y="1604386"/>
                  <a:pt x="167121" y="2018657"/>
                </a:cubicBezTo>
              </a:path>
            </a:pathLst>
          </a:custGeom>
          <a:no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54" name="弧形 53">
            <a:extLst>
              <a:ext uri="{FF2B5EF4-FFF2-40B4-BE49-F238E27FC236}">
                <a16:creationId xmlns:a16="http://schemas.microsoft.com/office/drawing/2014/main" id="{B47332DE-86C2-4BBE-85DE-CEB37DE13F43}"/>
              </a:ext>
            </a:extLst>
          </p:cNvPr>
          <p:cNvSpPr/>
          <p:nvPr/>
        </p:nvSpPr>
        <p:spPr>
          <a:xfrm rot="5142392">
            <a:off x="7271929" y="3051917"/>
            <a:ext cx="3349943" cy="2794482"/>
          </a:xfrm>
          <a:prstGeom prst="arc">
            <a:avLst>
              <a:gd name="adj1" fmla="val 16535543"/>
              <a:gd name="adj2" fmla="val 21275608"/>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cxnSp>
        <p:nvCxnSpPr>
          <p:cNvPr id="20" name="直接连接符 19">
            <a:extLst>
              <a:ext uri="{FF2B5EF4-FFF2-40B4-BE49-F238E27FC236}">
                <a16:creationId xmlns:a16="http://schemas.microsoft.com/office/drawing/2014/main" id="{7EC6AEEC-A444-4D03-95B7-CA9539ED36FF}"/>
              </a:ext>
            </a:extLst>
          </p:cNvPr>
          <p:cNvCxnSpPr>
            <a:cxnSpLocks/>
          </p:cNvCxnSpPr>
          <p:nvPr/>
        </p:nvCxnSpPr>
        <p:spPr>
          <a:xfrm>
            <a:off x="8684650" y="3412409"/>
            <a:ext cx="1754441" cy="902752"/>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2C320D9A-D08F-4BFB-B6B3-C01D12E88F9D}"/>
              </a:ext>
            </a:extLst>
          </p:cNvPr>
          <p:cNvCxnSpPr>
            <a:cxnSpLocks/>
          </p:cNvCxnSpPr>
          <p:nvPr/>
        </p:nvCxnSpPr>
        <p:spPr>
          <a:xfrm>
            <a:off x="9250084" y="4315161"/>
            <a:ext cx="603085" cy="902752"/>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C1FBEF23-EA6C-40F4-9A58-D5AC474B850F}"/>
              </a:ext>
            </a:extLst>
          </p:cNvPr>
          <p:cNvCxnSpPr>
            <a:cxnSpLocks/>
          </p:cNvCxnSpPr>
          <p:nvPr/>
        </p:nvCxnSpPr>
        <p:spPr>
          <a:xfrm>
            <a:off x="9836006" y="5190057"/>
            <a:ext cx="603085" cy="902752"/>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FD07702A-0C88-4AF9-8B97-FD4F2C114A73}"/>
              </a:ext>
            </a:extLst>
          </p:cNvPr>
          <p:cNvCxnSpPr>
            <a:cxnSpLocks/>
          </p:cNvCxnSpPr>
          <p:nvPr/>
        </p:nvCxnSpPr>
        <p:spPr>
          <a:xfrm>
            <a:off x="9856495" y="3412409"/>
            <a:ext cx="603085" cy="902752"/>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7" name="椭圆 6">
            <a:extLst>
              <a:ext uri="{FF2B5EF4-FFF2-40B4-BE49-F238E27FC236}">
                <a16:creationId xmlns:a16="http://schemas.microsoft.com/office/drawing/2014/main" id="{33F084F9-3D09-4E2B-940D-FE782687E921}"/>
              </a:ext>
            </a:extLst>
          </p:cNvPr>
          <p:cNvSpPr/>
          <p:nvPr/>
        </p:nvSpPr>
        <p:spPr>
          <a:xfrm>
            <a:off x="7653333" y="4041339"/>
            <a:ext cx="568759" cy="547643"/>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dirty="0">
              <a:ln>
                <a:noFill/>
              </a:ln>
              <a:solidFill>
                <a:srgbClr val="70AD47">
                  <a:lumMod val="50000"/>
                </a:srgbClr>
              </a:solidFill>
              <a:effectLst/>
              <a:uLnTx/>
              <a:uFillTx/>
              <a:latin typeface="等线" panose="020F0502020204030204"/>
              <a:ea typeface="等线" panose="02010600030101010101" pitchFamily="2" charset="-122"/>
              <a:cs typeface="+mn-cs"/>
            </a:endParaRPr>
          </a:p>
        </p:txBody>
      </p:sp>
      <p:sp>
        <p:nvSpPr>
          <p:cNvPr id="8" name="椭圆 7">
            <a:extLst>
              <a:ext uri="{FF2B5EF4-FFF2-40B4-BE49-F238E27FC236}">
                <a16:creationId xmlns:a16="http://schemas.microsoft.com/office/drawing/2014/main" id="{94F33E9F-0CF9-41ED-B87D-E7DC7BF5F691}"/>
              </a:ext>
            </a:extLst>
          </p:cNvPr>
          <p:cNvSpPr/>
          <p:nvPr/>
        </p:nvSpPr>
        <p:spPr>
          <a:xfrm>
            <a:off x="11082755" y="4469116"/>
            <a:ext cx="568759" cy="547643"/>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dirty="0">
              <a:ln>
                <a:noFill/>
              </a:ln>
              <a:solidFill>
                <a:srgbClr val="70AD47">
                  <a:lumMod val="50000"/>
                </a:srgbClr>
              </a:solidFill>
              <a:effectLst/>
              <a:uLnTx/>
              <a:uFillTx/>
              <a:latin typeface="等线" panose="020F0502020204030204"/>
              <a:ea typeface="等线" panose="02010600030101010101" pitchFamily="2" charset="-122"/>
              <a:cs typeface="+mn-cs"/>
            </a:endParaRPr>
          </a:p>
        </p:txBody>
      </p:sp>
      <p:sp>
        <p:nvSpPr>
          <p:cNvPr id="9" name="椭圆 8">
            <a:extLst>
              <a:ext uri="{FF2B5EF4-FFF2-40B4-BE49-F238E27FC236}">
                <a16:creationId xmlns:a16="http://schemas.microsoft.com/office/drawing/2014/main" id="{D2B7A417-1901-430E-934C-AB5BC776C029}"/>
              </a:ext>
            </a:extLst>
          </p:cNvPr>
          <p:cNvSpPr/>
          <p:nvPr/>
        </p:nvSpPr>
        <p:spPr>
          <a:xfrm>
            <a:off x="10937943" y="5260886"/>
            <a:ext cx="568759" cy="547643"/>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dirty="0">
              <a:ln>
                <a:noFill/>
              </a:ln>
              <a:solidFill>
                <a:srgbClr val="70AD47">
                  <a:lumMod val="50000"/>
                </a:srgbClr>
              </a:solidFill>
              <a:effectLst/>
              <a:uLnTx/>
              <a:uFillTx/>
              <a:latin typeface="等线" panose="020F0502020204030204"/>
              <a:ea typeface="等线" panose="02010600030101010101" pitchFamily="2" charset="-122"/>
              <a:cs typeface="+mn-cs"/>
            </a:endParaRPr>
          </a:p>
        </p:txBody>
      </p:sp>
      <p:cxnSp>
        <p:nvCxnSpPr>
          <p:cNvPr id="25" name="直接连接符 24">
            <a:extLst>
              <a:ext uri="{FF2B5EF4-FFF2-40B4-BE49-F238E27FC236}">
                <a16:creationId xmlns:a16="http://schemas.microsoft.com/office/drawing/2014/main" id="{99DFCBC7-8919-49F0-A95B-6E1BA91EDA36}"/>
              </a:ext>
            </a:extLst>
          </p:cNvPr>
          <p:cNvCxnSpPr>
            <a:cxnSpLocks/>
          </p:cNvCxnSpPr>
          <p:nvPr/>
        </p:nvCxnSpPr>
        <p:spPr>
          <a:xfrm flipH="1">
            <a:off x="10425740" y="4316921"/>
            <a:ext cx="10025" cy="1783068"/>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2EF29ECB-2383-48A6-8938-EECBAD261C56}"/>
              </a:ext>
            </a:extLst>
          </p:cNvPr>
          <p:cNvCxnSpPr>
            <a:cxnSpLocks/>
          </p:cNvCxnSpPr>
          <p:nvPr/>
        </p:nvCxnSpPr>
        <p:spPr>
          <a:xfrm>
            <a:off x="8671032" y="5142861"/>
            <a:ext cx="1744112" cy="970715"/>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00EBD49A-923B-4E40-BD86-C77587124FAC}"/>
              </a:ext>
            </a:extLst>
          </p:cNvPr>
          <p:cNvCxnSpPr>
            <a:cxnSpLocks/>
          </p:cNvCxnSpPr>
          <p:nvPr/>
        </p:nvCxnSpPr>
        <p:spPr>
          <a:xfrm flipV="1">
            <a:off x="8671032" y="4335924"/>
            <a:ext cx="1788548" cy="814027"/>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6211373B-0FE6-4D88-9B4A-70139552471D}"/>
              </a:ext>
            </a:extLst>
          </p:cNvPr>
          <p:cNvCxnSpPr>
            <a:cxnSpLocks/>
          </p:cNvCxnSpPr>
          <p:nvPr/>
        </p:nvCxnSpPr>
        <p:spPr>
          <a:xfrm flipH="1">
            <a:off x="7815705" y="3442695"/>
            <a:ext cx="868945" cy="2568241"/>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244E79B9-8906-4E03-A105-405F5AC34B7A}"/>
              </a:ext>
            </a:extLst>
          </p:cNvPr>
          <p:cNvCxnSpPr>
            <a:cxnSpLocks/>
          </p:cNvCxnSpPr>
          <p:nvPr/>
        </p:nvCxnSpPr>
        <p:spPr>
          <a:xfrm flipH="1">
            <a:off x="10456253" y="3412409"/>
            <a:ext cx="769397" cy="2708255"/>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E8D45D33-2E1C-4A4D-A88B-C81485316D39}"/>
              </a:ext>
            </a:extLst>
          </p:cNvPr>
          <p:cNvCxnSpPr>
            <a:cxnSpLocks/>
          </p:cNvCxnSpPr>
          <p:nvPr/>
        </p:nvCxnSpPr>
        <p:spPr>
          <a:xfrm>
            <a:off x="8673384" y="5168954"/>
            <a:ext cx="532191" cy="923855"/>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7829AF73-570D-4D33-B608-02C8D9D9D89E}"/>
              </a:ext>
            </a:extLst>
          </p:cNvPr>
          <p:cNvCxnSpPr>
            <a:cxnSpLocks/>
          </p:cNvCxnSpPr>
          <p:nvPr/>
        </p:nvCxnSpPr>
        <p:spPr>
          <a:xfrm flipH="1">
            <a:off x="9832680" y="3431412"/>
            <a:ext cx="37650" cy="1751465"/>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3003B96B-A5A3-4DAC-ACF7-80E15AFFD03C}"/>
              </a:ext>
            </a:extLst>
          </p:cNvPr>
          <p:cNvCxnSpPr>
            <a:cxnSpLocks/>
          </p:cNvCxnSpPr>
          <p:nvPr/>
        </p:nvCxnSpPr>
        <p:spPr>
          <a:xfrm flipH="1">
            <a:off x="9250084" y="3400690"/>
            <a:ext cx="603085" cy="2559677"/>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90CF1E72-C793-42DE-A4CA-248EDE716D47}"/>
              </a:ext>
            </a:extLst>
          </p:cNvPr>
          <p:cNvCxnSpPr>
            <a:cxnSpLocks/>
          </p:cNvCxnSpPr>
          <p:nvPr/>
        </p:nvCxnSpPr>
        <p:spPr>
          <a:xfrm flipH="1">
            <a:off x="9160497" y="4326618"/>
            <a:ext cx="110075" cy="1633748"/>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53" name="弧形 52">
            <a:extLst>
              <a:ext uri="{FF2B5EF4-FFF2-40B4-BE49-F238E27FC236}">
                <a16:creationId xmlns:a16="http://schemas.microsoft.com/office/drawing/2014/main" id="{4B6ECE79-98D0-4AEA-9433-627160D9BA6E}"/>
              </a:ext>
            </a:extLst>
          </p:cNvPr>
          <p:cNvSpPr/>
          <p:nvPr/>
        </p:nvSpPr>
        <p:spPr>
          <a:xfrm rot="16010691">
            <a:off x="8449134" y="3664036"/>
            <a:ext cx="3389974" cy="2794482"/>
          </a:xfrm>
          <a:prstGeom prst="arc">
            <a:avLst>
              <a:gd name="adj1" fmla="val 16535543"/>
              <a:gd name="adj2" fmla="val 21275608"/>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 name="椭圆 3">
            <a:extLst>
              <a:ext uri="{FF2B5EF4-FFF2-40B4-BE49-F238E27FC236}">
                <a16:creationId xmlns:a16="http://schemas.microsoft.com/office/drawing/2014/main" id="{C278D0BC-F09D-40FE-96C3-6601029B6B26}"/>
              </a:ext>
            </a:extLst>
          </p:cNvPr>
          <p:cNvSpPr/>
          <p:nvPr/>
        </p:nvSpPr>
        <p:spPr>
          <a:xfrm>
            <a:off x="8400271" y="3147113"/>
            <a:ext cx="568759" cy="547643"/>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dirty="0">
              <a:ln>
                <a:noFill/>
              </a:ln>
              <a:solidFill>
                <a:srgbClr val="70AD47">
                  <a:lumMod val="50000"/>
                </a:srgbClr>
              </a:solidFill>
              <a:effectLst/>
              <a:uLnTx/>
              <a:uFillTx/>
              <a:latin typeface="等线" panose="020F0502020204030204"/>
              <a:ea typeface="等线" panose="02010600030101010101" pitchFamily="2" charset="-122"/>
              <a:cs typeface="+mn-cs"/>
            </a:endParaRPr>
          </a:p>
        </p:txBody>
      </p:sp>
      <p:sp>
        <p:nvSpPr>
          <p:cNvPr id="5" name="椭圆 4">
            <a:extLst>
              <a:ext uri="{FF2B5EF4-FFF2-40B4-BE49-F238E27FC236}">
                <a16:creationId xmlns:a16="http://schemas.microsoft.com/office/drawing/2014/main" id="{A167DDA4-5CAF-40C5-8963-6B0E70B38133}"/>
              </a:ext>
            </a:extLst>
          </p:cNvPr>
          <p:cNvSpPr/>
          <p:nvPr/>
        </p:nvSpPr>
        <p:spPr>
          <a:xfrm>
            <a:off x="9572115" y="3147113"/>
            <a:ext cx="568759" cy="547643"/>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dirty="0">
              <a:ln>
                <a:noFill/>
              </a:ln>
              <a:solidFill>
                <a:srgbClr val="70AD47">
                  <a:lumMod val="50000"/>
                </a:srgbClr>
              </a:solidFill>
              <a:effectLst/>
              <a:uLnTx/>
              <a:uFillTx/>
              <a:latin typeface="等线" panose="020F0502020204030204"/>
              <a:ea typeface="等线" panose="02010600030101010101" pitchFamily="2" charset="-122"/>
              <a:cs typeface="+mn-cs"/>
            </a:endParaRPr>
          </a:p>
        </p:txBody>
      </p:sp>
      <p:sp>
        <p:nvSpPr>
          <p:cNvPr id="6" name="椭圆 5">
            <a:extLst>
              <a:ext uri="{FF2B5EF4-FFF2-40B4-BE49-F238E27FC236}">
                <a16:creationId xmlns:a16="http://schemas.microsoft.com/office/drawing/2014/main" id="{0C4A29CA-AA18-4949-8FF3-5FB873CA2628}"/>
              </a:ext>
            </a:extLst>
          </p:cNvPr>
          <p:cNvSpPr/>
          <p:nvPr/>
        </p:nvSpPr>
        <p:spPr>
          <a:xfrm>
            <a:off x="10930759" y="3147113"/>
            <a:ext cx="568759" cy="547643"/>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dirty="0">
              <a:ln>
                <a:noFill/>
              </a:ln>
              <a:solidFill>
                <a:srgbClr val="70AD47">
                  <a:lumMod val="50000"/>
                </a:srgbClr>
              </a:solidFill>
              <a:effectLst/>
              <a:uLnTx/>
              <a:uFillTx/>
              <a:latin typeface="等线" panose="020F0502020204030204"/>
              <a:ea typeface="等线" panose="02010600030101010101" pitchFamily="2" charset="-122"/>
              <a:cs typeface="+mn-cs"/>
            </a:endParaRPr>
          </a:p>
        </p:txBody>
      </p:sp>
      <p:sp>
        <p:nvSpPr>
          <p:cNvPr id="10" name="椭圆 9">
            <a:extLst>
              <a:ext uri="{FF2B5EF4-FFF2-40B4-BE49-F238E27FC236}">
                <a16:creationId xmlns:a16="http://schemas.microsoft.com/office/drawing/2014/main" id="{ED668ADC-BBBA-4CC6-B8A0-A809B88DE460}"/>
              </a:ext>
            </a:extLst>
          </p:cNvPr>
          <p:cNvSpPr/>
          <p:nvPr/>
        </p:nvSpPr>
        <p:spPr>
          <a:xfrm>
            <a:off x="8982867" y="4041339"/>
            <a:ext cx="568759" cy="547643"/>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dirty="0">
              <a:ln>
                <a:noFill/>
              </a:ln>
              <a:solidFill>
                <a:srgbClr val="70AD47">
                  <a:lumMod val="50000"/>
                </a:srgbClr>
              </a:solidFill>
              <a:effectLst/>
              <a:uLnTx/>
              <a:uFillTx/>
              <a:latin typeface="等线" panose="020F0502020204030204"/>
              <a:ea typeface="等线" panose="02010600030101010101" pitchFamily="2" charset="-122"/>
              <a:cs typeface="+mn-cs"/>
            </a:endParaRPr>
          </a:p>
        </p:txBody>
      </p:sp>
      <p:sp>
        <p:nvSpPr>
          <p:cNvPr id="11" name="椭圆 10">
            <a:extLst>
              <a:ext uri="{FF2B5EF4-FFF2-40B4-BE49-F238E27FC236}">
                <a16:creationId xmlns:a16="http://schemas.microsoft.com/office/drawing/2014/main" id="{B5B27D10-D5F1-4E6C-9304-DF0B39627CCE}"/>
              </a:ext>
            </a:extLst>
          </p:cNvPr>
          <p:cNvSpPr/>
          <p:nvPr/>
        </p:nvSpPr>
        <p:spPr>
          <a:xfrm>
            <a:off x="10175200" y="4041339"/>
            <a:ext cx="568759" cy="547643"/>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dirty="0">
              <a:ln>
                <a:noFill/>
              </a:ln>
              <a:solidFill>
                <a:srgbClr val="70AD47">
                  <a:lumMod val="50000"/>
                </a:srgbClr>
              </a:solidFill>
              <a:effectLst/>
              <a:uLnTx/>
              <a:uFillTx/>
              <a:latin typeface="等线" panose="020F0502020204030204"/>
              <a:ea typeface="等线" panose="02010600030101010101" pitchFamily="2" charset="-122"/>
              <a:cs typeface="+mn-cs"/>
            </a:endParaRPr>
          </a:p>
        </p:txBody>
      </p:sp>
      <p:sp>
        <p:nvSpPr>
          <p:cNvPr id="12" name="椭圆 11">
            <a:extLst>
              <a:ext uri="{FF2B5EF4-FFF2-40B4-BE49-F238E27FC236}">
                <a16:creationId xmlns:a16="http://schemas.microsoft.com/office/drawing/2014/main" id="{A9461403-02B4-4E3C-BA10-0913CE5461AF}"/>
              </a:ext>
            </a:extLst>
          </p:cNvPr>
          <p:cNvSpPr/>
          <p:nvPr/>
        </p:nvSpPr>
        <p:spPr>
          <a:xfrm>
            <a:off x="7512806" y="5709462"/>
            <a:ext cx="568759" cy="547643"/>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dirty="0">
              <a:ln>
                <a:noFill/>
              </a:ln>
              <a:solidFill>
                <a:srgbClr val="70AD47">
                  <a:lumMod val="50000"/>
                </a:srgbClr>
              </a:solidFill>
              <a:effectLst/>
              <a:uLnTx/>
              <a:uFillTx/>
              <a:latin typeface="等线" panose="020F0502020204030204"/>
              <a:ea typeface="等线" panose="02010600030101010101" pitchFamily="2" charset="-122"/>
              <a:cs typeface="+mn-cs"/>
            </a:endParaRPr>
          </a:p>
        </p:txBody>
      </p:sp>
      <p:sp>
        <p:nvSpPr>
          <p:cNvPr id="13" name="椭圆 12">
            <a:extLst>
              <a:ext uri="{FF2B5EF4-FFF2-40B4-BE49-F238E27FC236}">
                <a16:creationId xmlns:a16="http://schemas.microsoft.com/office/drawing/2014/main" id="{6A3A1EE2-68FC-4CFD-B960-0A0AE679F7E2}"/>
              </a:ext>
            </a:extLst>
          </p:cNvPr>
          <p:cNvSpPr/>
          <p:nvPr/>
        </p:nvSpPr>
        <p:spPr>
          <a:xfrm>
            <a:off x="8400271" y="4855416"/>
            <a:ext cx="568759" cy="547643"/>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dirty="0">
              <a:ln>
                <a:noFill/>
              </a:ln>
              <a:solidFill>
                <a:srgbClr val="70AD47">
                  <a:lumMod val="50000"/>
                </a:srgbClr>
              </a:solidFill>
              <a:effectLst/>
              <a:uLnTx/>
              <a:uFillTx/>
              <a:latin typeface="等线" panose="020F0502020204030204"/>
              <a:ea typeface="等线" panose="02010600030101010101" pitchFamily="2" charset="-122"/>
              <a:cs typeface="+mn-cs"/>
            </a:endParaRPr>
          </a:p>
        </p:txBody>
      </p:sp>
      <p:sp>
        <p:nvSpPr>
          <p:cNvPr id="14" name="椭圆 13">
            <a:extLst>
              <a:ext uri="{FF2B5EF4-FFF2-40B4-BE49-F238E27FC236}">
                <a16:creationId xmlns:a16="http://schemas.microsoft.com/office/drawing/2014/main" id="{E6E40114-37D8-409D-B4E4-8C3B54D4011B}"/>
              </a:ext>
            </a:extLst>
          </p:cNvPr>
          <p:cNvSpPr/>
          <p:nvPr/>
        </p:nvSpPr>
        <p:spPr>
          <a:xfrm>
            <a:off x="9551625" y="4916236"/>
            <a:ext cx="568759" cy="547643"/>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dirty="0">
              <a:ln>
                <a:noFill/>
              </a:ln>
              <a:solidFill>
                <a:srgbClr val="70AD47">
                  <a:lumMod val="50000"/>
                </a:srgbClr>
              </a:solidFill>
              <a:effectLst/>
              <a:uLnTx/>
              <a:uFillTx/>
              <a:latin typeface="等线" panose="020F0502020204030204"/>
              <a:ea typeface="等线" panose="02010600030101010101" pitchFamily="2" charset="-122"/>
              <a:cs typeface="+mn-cs"/>
            </a:endParaRPr>
          </a:p>
        </p:txBody>
      </p:sp>
      <p:sp>
        <p:nvSpPr>
          <p:cNvPr id="15" name="椭圆 14">
            <a:extLst>
              <a:ext uri="{FF2B5EF4-FFF2-40B4-BE49-F238E27FC236}">
                <a16:creationId xmlns:a16="http://schemas.microsoft.com/office/drawing/2014/main" id="{FEDC9A69-670A-4CAD-866E-102478E12502}"/>
              </a:ext>
            </a:extLst>
          </p:cNvPr>
          <p:cNvSpPr/>
          <p:nvPr/>
        </p:nvSpPr>
        <p:spPr>
          <a:xfrm>
            <a:off x="8945149" y="5818636"/>
            <a:ext cx="568759" cy="547643"/>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dirty="0">
              <a:ln>
                <a:noFill/>
              </a:ln>
              <a:solidFill>
                <a:srgbClr val="70AD47">
                  <a:lumMod val="50000"/>
                </a:srgbClr>
              </a:solidFill>
              <a:effectLst/>
              <a:uLnTx/>
              <a:uFillTx/>
              <a:latin typeface="等线" panose="020F0502020204030204"/>
              <a:ea typeface="等线" panose="02010600030101010101" pitchFamily="2" charset="-122"/>
              <a:cs typeface="+mn-cs"/>
            </a:endParaRPr>
          </a:p>
        </p:txBody>
      </p:sp>
      <p:sp>
        <p:nvSpPr>
          <p:cNvPr id="16" name="椭圆 15">
            <a:extLst>
              <a:ext uri="{FF2B5EF4-FFF2-40B4-BE49-F238E27FC236}">
                <a16:creationId xmlns:a16="http://schemas.microsoft.com/office/drawing/2014/main" id="{5431AD69-9494-4AC1-859C-BA7B67F5CFAC}"/>
              </a:ext>
            </a:extLst>
          </p:cNvPr>
          <p:cNvSpPr/>
          <p:nvPr/>
        </p:nvSpPr>
        <p:spPr>
          <a:xfrm>
            <a:off x="10136020" y="5806355"/>
            <a:ext cx="568759" cy="547643"/>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dirty="0">
              <a:ln>
                <a:noFill/>
              </a:ln>
              <a:solidFill>
                <a:srgbClr val="70AD47">
                  <a:lumMod val="50000"/>
                </a:srgbClr>
              </a:solidFill>
              <a:effectLst/>
              <a:uLnTx/>
              <a:uFillTx/>
              <a:latin typeface="等线" panose="020F0502020204030204"/>
              <a:ea typeface="等线" panose="02010600030101010101" pitchFamily="2" charset="-122"/>
              <a:cs typeface="+mn-cs"/>
            </a:endParaRPr>
          </a:p>
        </p:txBody>
      </p:sp>
      <p:cxnSp>
        <p:nvCxnSpPr>
          <p:cNvPr id="79" name="直接箭头连接符 78">
            <a:extLst>
              <a:ext uri="{FF2B5EF4-FFF2-40B4-BE49-F238E27FC236}">
                <a16:creationId xmlns:a16="http://schemas.microsoft.com/office/drawing/2014/main" id="{05A59B32-DF53-4085-9A9B-5D9D3656CC78}"/>
              </a:ext>
            </a:extLst>
          </p:cNvPr>
          <p:cNvCxnSpPr>
            <a:cxnSpLocks/>
          </p:cNvCxnSpPr>
          <p:nvPr/>
        </p:nvCxnSpPr>
        <p:spPr>
          <a:xfrm flipH="1" flipV="1">
            <a:off x="4905161" y="3716347"/>
            <a:ext cx="197800" cy="553322"/>
          </a:xfrm>
          <a:prstGeom prst="straightConnector1">
            <a:avLst/>
          </a:prstGeom>
          <a:ln w="28575">
            <a:solidFill>
              <a:schemeClr val="accent2">
                <a:lumMod val="75000"/>
              </a:schemeClr>
            </a:solidFill>
            <a:tailEnd type="arrow" w="med" len="lg"/>
          </a:ln>
        </p:spPr>
        <p:style>
          <a:lnRef idx="1">
            <a:schemeClr val="accent1"/>
          </a:lnRef>
          <a:fillRef idx="0">
            <a:schemeClr val="accent1"/>
          </a:fillRef>
          <a:effectRef idx="0">
            <a:schemeClr val="accent1"/>
          </a:effectRef>
          <a:fontRef idx="minor">
            <a:schemeClr val="tx1"/>
          </a:fontRef>
        </p:style>
      </p:cxnSp>
      <p:cxnSp>
        <p:nvCxnSpPr>
          <p:cNvPr id="81" name="直接箭头连接符 80">
            <a:extLst>
              <a:ext uri="{FF2B5EF4-FFF2-40B4-BE49-F238E27FC236}">
                <a16:creationId xmlns:a16="http://schemas.microsoft.com/office/drawing/2014/main" id="{34B285B8-8ADE-49AA-ADF9-6387AB2E5B76}"/>
              </a:ext>
            </a:extLst>
          </p:cNvPr>
          <p:cNvCxnSpPr>
            <a:cxnSpLocks/>
          </p:cNvCxnSpPr>
          <p:nvPr/>
        </p:nvCxnSpPr>
        <p:spPr>
          <a:xfrm flipH="1" flipV="1">
            <a:off x="6120746" y="5426728"/>
            <a:ext cx="461704" cy="396672"/>
          </a:xfrm>
          <a:prstGeom prst="straightConnector1">
            <a:avLst/>
          </a:prstGeom>
          <a:ln w="28575">
            <a:solidFill>
              <a:schemeClr val="accent2">
                <a:lumMod val="75000"/>
              </a:schemeClr>
            </a:solidFill>
            <a:tailEnd type="arrow" w="med" len="lg"/>
          </a:ln>
        </p:spPr>
        <p:style>
          <a:lnRef idx="1">
            <a:schemeClr val="accent1"/>
          </a:lnRef>
          <a:fillRef idx="0">
            <a:schemeClr val="accent1"/>
          </a:fillRef>
          <a:effectRef idx="0">
            <a:schemeClr val="accent1"/>
          </a:effectRef>
          <a:fontRef idx="minor">
            <a:schemeClr val="tx1"/>
          </a:fontRef>
        </p:style>
      </p:cxnSp>
      <p:sp>
        <p:nvSpPr>
          <p:cNvPr id="83" name="文本框 82">
            <a:extLst>
              <a:ext uri="{FF2B5EF4-FFF2-40B4-BE49-F238E27FC236}">
                <a16:creationId xmlns:a16="http://schemas.microsoft.com/office/drawing/2014/main" id="{928C3A68-6714-40B4-B82E-2D06D3FFF09A}"/>
              </a:ext>
            </a:extLst>
          </p:cNvPr>
          <p:cNvSpPr txBox="1"/>
          <p:nvPr/>
        </p:nvSpPr>
        <p:spPr>
          <a:xfrm>
            <a:off x="5268358" y="5970621"/>
            <a:ext cx="391454" cy="461665"/>
          </a:xfrm>
          <a:prstGeom prst="rect">
            <a:avLst/>
          </a:prstGeom>
          <a:noFill/>
        </p:spPr>
        <p:txBody>
          <a:bodyPr wrap="none" rtlCol="0">
            <a:spAutoFit/>
          </a:bodyPr>
          <a:lstStyle>
            <a:defPPr>
              <a:defRPr lang="zh-CN"/>
            </a:defPPr>
            <a:lvl1pPr>
              <a:defRPr sz="2400" b="1">
                <a:effectLst>
                  <a:outerShdw blurRad="38100" dist="38100" dir="2700000" algn="tl">
                    <a:srgbClr val="000000">
                      <a:alpha val="43137"/>
                    </a:srgbClr>
                  </a:outerShdw>
                </a:effectLs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等线" panose="020F0502020204030204"/>
                <a:ea typeface="等线" panose="02010600030101010101" pitchFamily="2" charset="-122"/>
                <a:cs typeface="+mn-cs"/>
              </a:rPr>
              <a:t>A</a:t>
            </a:r>
            <a:endParaRPr kumimoji="0" lang="zh-CN" altLang="en-US" sz="2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等线" panose="020F0502020204030204"/>
              <a:ea typeface="等线" panose="02010600030101010101" pitchFamily="2" charset="-122"/>
              <a:cs typeface="+mn-cs"/>
            </a:endParaRPr>
          </a:p>
        </p:txBody>
      </p:sp>
      <p:sp>
        <p:nvSpPr>
          <p:cNvPr id="84" name="文本框 83">
            <a:extLst>
              <a:ext uri="{FF2B5EF4-FFF2-40B4-BE49-F238E27FC236}">
                <a16:creationId xmlns:a16="http://schemas.microsoft.com/office/drawing/2014/main" id="{E515CEF8-19E9-4958-B235-F917626DFCFC}"/>
              </a:ext>
            </a:extLst>
          </p:cNvPr>
          <p:cNvSpPr txBox="1"/>
          <p:nvPr/>
        </p:nvSpPr>
        <p:spPr>
          <a:xfrm>
            <a:off x="6572997" y="5719868"/>
            <a:ext cx="343364" cy="461665"/>
          </a:xfrm>
          <a:prstGeom prst="rect">
            <a:avLst/>
          </a:prstGeom>
          <a:noFill/>
        </p:spPr>
        <p:txBody>
          <a:bodyPr wrap="none" rtlCol="0">
            <a:spAutoFit/>
          </a:bodyPr>
          <a:lstStyle>
            <a:defPPr>
              <a:defRPr lang="zh-CN"/>
            </a:defPPr>
            <a:lvl1pPr>
              <a:defRPr sz="2400" b="1">
                <a:effectLst>
                  <a:outerShdw blurRad="38100" dist="38100" dir="2700000" algn="tl">
                    <a:srgbClr val="000000">
                      <a:alpha val="43137"/>
                    </a:srgbClr>
                  </a:outerShdw>
                </a:effectLs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等线" panose="020F0502020204030204"/>
                <a:ea typeface="等线" panose="02010600030101010101" pitchFamily="2" charset="-122"/>
                <a:cs typeface="+mn-cs"/>
              </a:rPr>
              <a:t>E</a:t>
            </a:r>
            <a:endParaRPr kumimoji="0" lang="zh-CN" altLang="en-US" sz="2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等线" panose="020F0502020204030204"/>
              <a:ea typeface="等线" panose="02010600030101010101" pitchFamily="2" charset="-122"/>
              <a:cs typeface="+mn-cs"/>
            </a:endParaRPr>
          </a:p>
        </p:txBody>
      </p:sp>
      <p:sp>
        <p:nvSpPr>
          <p:cNvPr id="85" name="文本框 84">
            <a:extLst>
              <a:ext uri="{FF2B5EF4-FFF2-40B4-BE49-F238E27FC236}">
                <a16:creationId xmlns:a16="http://schemas.microsoft.com/office/drawing/2014/main" id="{621548A7-0FF2-4A5F-9E9B-66E470C195EB}"/>
              </a:ext>
            </a:extLst>
          </p:cNvPr>
          <p:cNvSpPr txBox="1"/>
          <p:nvPr/>
        </p:nvSpPr>
        <p:spPr>
          <a:xfrm>
            <a:off x="3917341" y="4573192"/>
            <a:ext cx="370614" cy="461665"/>
          </a:xfrm>
          <a:prstGeom prst="rect">
            <a:avLst/>
          </a:prstGeom>
          <a:noFill/>
        </p:spPr>
        <p:txBody>
          <a:bodyPr wrap="none" rtlCol="0">
            <a:spAutoFit/>
          </a:bodyPr>
          <a:lstStyle>
            <a:defPPr>
              <a:defRPr lang="zh-CN"/>
            </a:defPPr>
            <a:lvl1pPr>
              <a:defRPr sz="2400" b="1">
                <a:effectLst>
                  <a:outerShdw blurRad="38100" dist="38100" dir="2700000" algn="tl">
                    <a:srgbClr val="000000">
                      <a:alpha val="43137"/>
                    </a:srgbClr>
                  </a:outerShdw>
                </a:effectLs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等线" panose="020F0502020204030204"/>
                <a:ea typeface="等线" panose="02010600030101010101" pitchFamily="2" charset="-122"/>
                <a:cs typeface="+mn-cs"/>
              </a:rPr>
              <a:t>B</a:t>
            </a:r>
            <a:endParaRPr kumimoji="0" lang="zh-CN" altLang="en-US" sz="2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等线" panose="020F0502020204030204"/>
              <a:ea typeface="等线" panose="02010600030101010101" pitchFamily="2" charset="-122"/>
              <a:cs typeface="+mn-cs"/>
            </a:endParaRPr>
          </a:p>
        </p:txBody>
      </p:sp>
      <p:sp>
        <p:nvSpPr>
          <p:cNvPr id="86" name="文本框 85">
            <a:extLst>
              <a:ext uri="{FF2B5EF4-FFF2-40B4-BE49-F238E27FC236}">
                <a16:creationId xmlns:a16="http://schemas.microsoft.com/office/drawing/2014/main" id="{478252E2-9DF8-466A-927B-C09DA69B79A9}"/>
              </a:ext>
            </a:extLst>
          </p:cNvPr>
          <p:cNvSpPr txBox="1"/>
          <p:nvPr/>
        </p:nvSpPr>
        <p:spPr>
          <a:xfrm>
            <a:off x="4709434" y="3308987"/>
            <a:ext cx="37542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等线" panose="020F0502020204030204"/>
                <a:ea typeface="等线" panose="02010600030101010101" pitchFamily="2" charset="-122"/>
                <a:cs typeface="+mn-cs"/>
              </a:rPr>
              <a:t>C</a:t>
            </a:r>
            <a:endParaRPr kumimoji="0" lang="zh-CN" altLang="en-US" sz="2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等线" panose="020F0502020204030204"/>
              <a:ea typeface="等线" panose="02010600030101010101" pitchFamily="2" charset="-122"/>
              <a:cs typeface="+mn-cs"/>
            </a:endParaRPr>
          </a:p>
        </p:txBody>
      </p:sp>
      <p:sp>
        <p:nvSpPr>
          <p:cNvPr id="87" name="文本框 86">
            <a:extLst>
              <a:ext uri="{FF2B5EF4-FFF2-40B4-BE49-F238E27FC236}">
                <a16:creationId xmlns:a16="http://schemas.microsoft.com/office/drawing/2014/main" id="{6CA35B1D-7778-4DCE-A69C-042EECDD8A0E}"/>
              </a:ext>
            </a:extLst>
          </p:cNvPr>
          <p:cNvSpPr txBox="1"/>
          <p:nvPr/>
        </p:nvSpPr>
        <p:spPr>
          <a:xfrm>
            <a:off x="6255546" y="3734031"/>
            <a:ext cx="405880" cy="461665"/>
          </a:xfrm>
          <a:prstGeom prst="rect">
            <a:avLst/>
          </a:prstGeom>
          <a:noFill/>
        </p:spPr>
        <p:txBody>
          <a:bodyPr wrap="none" rtlCol="0">
            <a:spAutoFit/>
          </a:bodyPr>
          <a:lstStyle>
            <a:defPPr>
              <a:defRPr lang="zh-CN"/>
            </a:defPPr>
            <a:lvl1pPr>
              <a:defRPr sz="2400" b="1">
                <a:effectLst>
                  <a:outerShdw blurRad="38100" dist="38100" dir="2700000" algn="tl">
                    <a:srgbClr val="000000">
                      <a:alpha val="43137"/>
                    </a:srgbClr>
                  </a:outerShdw>
                </a:effectLs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等线" panose="020F0502020204030204"/>
                <a:ea typeface="等线" panose="02010600030101010101" pitchFamily="2" charset="-122"/>
                <a:cs typeface="+mn-cs"/>
              </a:rPr>
              <a:t>D</a:t>
            </a:r>
            <a:endParaRPr kumimoji="0" lang="zh-CN" altLang="en-US" sz="2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等线" panose="020F0502020204030204"/>
              <a:ea typeface="等线" panose="02010600030101010101" pitchFamily="2" charset="-122"/>
              <a:cs typeface="+mn-cs"/>
            </a:endParaRPr>
          </a:p>
        </p:txBody>
      </p:sp>
      <p:sp>
        <p:nvSpPr>
          <p:cNvPr id="90" name="文本框 89">
            <a:extLst>
              <a:ext uri="{FF2B5EF4-FFF2-40B4-BE49-F238E27FC236}">
                <a16:creationId xmlns:a16="http://schemas.microsoft.com/office/drawing/2014/main" id="{CBB5D9FB-FD19-4E16-889E-6E5B8A4CE9D4}"/>
              </a:ext>
            </a:extLst>
          </p:cNvPr>
          <p:cNvSpPr txBox="1"/>
          <p:nvPr/>
        </p:nvSpPr>
        <p:spPr>
          <a:xfrm>
            <a:off x="9068864" y="3721097"/>
            <a:ext cx="529312"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BC</a:t>
            </a:r>
            <a:endParaRPr kumimoji="0" lang="zh-CN" altLang="en-US" sz="2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91" name="文本框 90">
            <a:extLst>
              <a:ext uri="{FF2B5EF4-FFF2-40B4-BE49-F238E27FC236}">
                <a16:creationId xmlns:a16="http://schemas.microsoft.com/office/drawing/2014/main" id="{80EE77A6-5A1B-439E-8627-53FD76550051}"/>
              </a:ext>
            </a:extLst>
          </p:cNvPr>
          <p:cNvSpPr txBox="1"/>
          <p:nvPr/>
        </p:nvSpPr>
        <p:spPr>
          <a:xfrm>
            <a:off x="8182386" y="4532268"/>
            <a:ext cx="575799"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DA</a:t>
            </a:r>
            <a:endParaRPr kumimoji="0" lang="zh-CN" altLang="en-US" sz="2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92" name="文本框 91">
            <a:extLst>
              <a:ext uri="{FF2B5EF4-FFF2-40B4-BE49-F238E27FC236}">
                <a16:creationId xmlns:a16="http://schemas.microsoft.com/office/drawing/2014/main" id="{E9F88ED3-FFE9-4A3F-A6EE-F722865DE2F4}"/>
              </a:ext>
            </a:extLst>
          </p:cNvPr>
          <p:cNvSpPr txBox="1"/>
          <p:nvPr/>
        </p:nvSpPr>
        <p:spPr>
          <a:xfrm>
            <a:off x="7927946" y="3212494"/>
            <a:ext cx="543739"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AB</a:t>
            </a:r>
            <a:endParaRPr kumimoji="0" lang="zh-CN" altLang="en-US" sz="2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93" name="文本框 92">
            <a:extLst>
              <a:ext uri="{FF2B5EF4-FFF2-40B4-BE49-F238E27FC236}">
                <a16:creationId xmlns:a16="http://schemas.microsoft.com/office/drawing/2014/main" id="{53E6CB20-891C-4FE7-A87B-9C69D35D535C}"/>
              </a:ext>
            </a:extLst>
          </p:cNvPr>
          <p:cNvSpPr txBox="1"/>
          <p:nvPr/>
        </p:nvSpPr>
        <p:spPr>
          <a:xfrm>
            <a:off x="9790626" y="4603938"/>
            <a:ext cx="556563"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DB</a:t>
            </a:r>
            <a:endParaRPr kumimoji="0" lang="zh-CN" altLang="en-US" sz="2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94" name="文本框 93">
            <a:extLst>
              <a:ext uri="{FF2B5EF4-FFF2-40B4-BE49-F238E27FC236}">
                <a16:creationId xmlns:a16="http://schemas.microsoft.com/office/drawing/2014/main" id="{CD480AA0-F1FB-4FF4-874E-2A4EE5A4497A}"/>
              </a:ext>
            </a:extLst>
          </p:cNvPr>
          <p:cNvSpPr txBox="1"/>
          <p:nvPr/>
        </p:nvSpPr>
        <p:spPr>
          <a:xfrm>
            <a:off x="10200994" y="3710771"/>
            <a:ext cx="556563"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BD</a:t>
            </a:r>
            <a:endParaRPr kumimoji="0" lang="zh-CN" altLang="en-US" sz="2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95" name="文本框 94">
            <a:extLst>
              <a:ext uri="{FF2B5EF4-FFF2-40B4-BE49-F238E27FC236}">
                <a16:creationId xmlns:a16="http://schemas.microsoft.com/office/drawing/2014/main" id="{BF6559C3-1AA2-46D4-B38B-5CDD285EC2E5}"/>
              </a:ext>
            </a:extLst>
          </p:cNvPr>
          <p:cNvSpPr txBox="1"/>
          <p:nvPr/>
        </p:nvSpPr>
        <p:spPr>
          <a:xfrm>
            <a:off x="7717362" y="3704148"/>
            <a:ext cx="543739"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BA</a:t>
            </a:r>
            <a:endParaRPr kumimoji="0" lang="zh-CN" altLang="en-US" sz="2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96" name="文本框 95">
            <a:extLst>
              <a:ext uri="{FF2B5EF4-FFF2-40B4-BE49-F238E27FC236}">
                <a16:creationId xmlns:a16="http://schemas.microsoft.com/office/drawing/2014/main" id="{2B0D16B9-5630-4DF7-AA1E-06A89B22EA16}"/>
              </a:ext>
            </a:extLst>
          </p:cNvPr>
          <p:cNvSpPr txBox="1"/>
          <p:nvPr/>
        </p:nvSpPr>
        <p:spPr>
          <a:xfrm>
            <a:off x="10067802" y="3181861"/>
            <a:ext cx="548548"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AC</a:t>
            </a:r>
            <a:endParaRPr kumimoji="0" lang="zh-CN" altLang="en-US" sz="2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97" name="文本框 96">
            <a:extLst>
              <a:ext uri="{FF2B5EF4-FFF2-40B4-BE49-F238E27FC236}">
                <a16:creationId xmlns:a16="http://schemas.microsoft.com/office/drawing/2014/main" id="{8E6348B5-D819-47EB-BD67-96E8FBEF207C}"/>
              </a:ext>
            </a:extLst>
          </p:cNvPr>
          <p:cNvSpPr txBox="1"/>
          <p:nvPr/>
        </p:nvSpPr>
        <p:spPr>
          <a:xfrm>
            <a:off x="10930027" y="2804342"/>
            <a:ext cx="575799"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AD</a:t>
            </a:r>
            <a:endParaRPr kumimoji="0" lang="zh-CN" altLang="en-US" sz="2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98" name="文本框 97">
            <a:extLst>
              <a:ext uri="{FF2B5EF4-FFF2-40B4-BE49-F238E27FC236}">
                <a16:creationId xmlns:a16="http://schemas.microsoft.com/office/drawing/2014/main" id="{0318C40B-41A8-41A0-A21F-DEFE486D9C36}"/>
              </a:ext>
            </a:extLst>
          </p:cNvPr>
          <p:cNvSpPr txBox="1"/>
          <p:nvPr/>
        </p:nvSpPr>
        <p:spPr>
          <a:xfrm>
            <a:off x="8008047" y="5769085"/>
            <a:ext cx="519694"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EA</a:t>
            </a:r>
            <a:endParaRPr kumimoji="0" lang="zh-CN" altLang="en-US" sz="2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99" name="文本框 98">
            <a:extLst>
              <a:ext uri="{FF2B5EF4-FFF2-40B4-BE49-F238E27FC236}">
                <a16:creationId xmlns:a16="http://schemas.microsoft.com/office/drawing/2014/main" id="{994D0474-2534-47EE-8B1F-4B3AE954A900}"/>
              </a:ext>
            </a:extLst>
          </p:cNvPr>
          <p:cNvSpPr txBox="1"/>
          <p:nvPr/>
        </p:nvSpPr>
        <p:spPr>
          <a:xfrm>
            <a:off x="8948473" y="6304972"/>
            <a:ext cx="500458"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EB</a:t>
            </a:r>
            <a:endParaRPr kumimoji="0" lang="zh-CN" altLang="en-US" sz="2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00" name="文本框 99">
            <a:extLst>
              <a:ext uri="{FF2B5EF4-FFF2-40B4-BE49-F238E27FC236}">
                <a16:creationId xmlns:a16="http://schemas.microsoft.com/office/drawing/2014/main" id="{F97AD3AC-13E1-4E77-8992-4A886055F3B8}"/>
              </a:ext>
            </a:extLst>
          </p:cNvPr>
          <p:cNvSpPr txBox="1"/>
          <p:nvPr/>
        </p:nvSpPr>
        <p:spPr>
          <a:xfrm>
            <a:off x="10170167" y="6283396"/>
            <a:ext cx="505267"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EC</a:t>
            </a:r>
            <a:endParaRPr kumimoji="0" lang="zh-CN" altLang="en-US" sz="2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01" name="文本框 100">
            <a:extLst>
              <a:ext uri="{FF2B5EF4-FFF2-40B4-BE49-F238E27FC236}">
                <a16:creationId xmlns:a16="http://schemas.microsoft.com/office/drawing/2014/main" id="{BA7D571F-8134-461A-833D-2462F56DED4C}"/>
              </a:ext>
            </a:extLst>
          </p:cNvPr>
          <p:cNvSpPr txBox="1"/>
          <p:nvPr/>
        </p:nvSpPr>
        <p:spPr>
          <a:xfrm>
            <a:off x="10950209" y="5737927"/>
            <a:ext cx="532518"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ED</a:t>
            </a:r>
            <a:endParaRPr kumimoji="0" lang="zh-CN" altLang="en-US" sz="2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02" name="文本框 101">
            <a:extLst>
              <a:ext uri="{FF2B5EF4-FFF2-40B4-BE49-F238E27FC236}">
                <a16:creationId xmlns:a16="http://schemas.microsoft.com/office/drawing/2014/main" id="{FF304570-2DEA-447C-AD8E-3325C3CBC14C}"/>
              </a:ext>
            </a:extLst>
          </p:cNvPr>
          <p:cNvSpPr txBox="1"/>
          <p:nvPr/>
        </p:nvSpPr>
        <p:spPr>
          <a:xfrm>
            <a:off x="11084469" y="4090940"/>
            <a:ext cx="561372"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DC</a:t>
            </a:r>
            <a:endParaRPr kumimoji="0" lang="zh-CN" altLang="en-US" sz="2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03" name="矩形: 圆角 102">
            <a:extLst>
              <a:ext uri="{FF2B5EF4-FFF2-40B4-BE49-F238E27FC236}">
                <a16:creationId xmlns:a16="http://schemas.microsoft.com/office/drawing/2014/main" id="{CB7BBF20-F512-44D1-899A-999AD6CD2E98}"/>
              </a:ext>
            </a:extLst>
          </p:cNvPr>
          <p:cNvSpPr/>
          <p:nvPr/>
        </p:nvSpPr>
        <p:spPr>
          <a:xfrm>
            <a:off x="521213" y="234889"/>
            <a:ext cx="4393580" cy="624468"/>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等线" panose="020F0502020204030204"/>
                <a:ea typeface="等线" panose="02010600030101010101" pitchFamily="2" charset="-122"/>
                <a:cs typeface="+mn-cs"/>
              </a:rPr>
              <a:t>例</a:t>
            </a:r>
            <a:r>
              <a:rPr kumimoji="0" lang="en-US" altLang="zh-CN" sz="2800" b="1"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等线" panose="020F0502020204030204"/>
                <a:ea typeface="等线" panose="02010600030101010101" pitchFamily="2" charset="-122"/>
                <a:cs typeface="+mn-cs"/>
              </a:rPr>
              <a:t>1.3  </a:t>
            </a:r>
            <a:r>
              <a:rPr kumimoji="0" lang="zh-CN" altLang="en-US" sz="2800" b="1"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等线" panose="020F0502020204030204"/>
                <a:ea typeface="等线" panose="02010600030101010101" pitchFamily="2" charset="-122"/>
                <a:cs typeface="+mn-cs"/>
              </a:rPr>
              <a:t>多岔路口交通管理</a:t>
            </a:r>
          </a:p>
        </p:txBody>
      </p:sp>
      <p:sp>
        <p:nvSpPr>
          <p:cNvPr id="104" name="文本框 103">
            <a:extLst>
              <a:ext uri="{FF2B5EF4-FFF2-40B4-BE49-F238E27FC236}">
                <a16:creationId xmlns:a16="http://schemas.microsoft.com/office/drawing/2014/main" id="{609F00A4-BB85-4B0E-A182-7B70589914B6}"/>
              </a:ext>
            </a:extLst>
          </p:cNvPr>
          <p:cNvSpPr txBox="1"/>
          <p:nvPr/>
        </p:nvSpPr>
        <p:spPr>
          <a:xfrm>
            <a:off x="437990" y="1194045"/>
            <a:ext cx="5155635" cy="1938992"/>
          </a:xfrm>
          <a:prstGeom prst="rect">
            <a:avLst/>
          </a:prstGeom>
          <a:solidFill>
            <a:srgbClr val="D9F2FF"/>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图</a:t>
            </a:r>
            <a:r>
              <a:rPr kumimoji="0" lang="en-US" altLang="zh-CN" sz="20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1.3(a) </a:t>
            </a:r>
            <a:r>
              <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是一个五岔路口，</a:t>
            </a:r>
            <a:endParaRPr kumimoji="0" lang="en-US" altLang="zh-CN"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其中，</a:t>
            </a:r>
            <a:r>
              <a:rPr kumimoji="0" lang="en-US" altLang="zh-CN" sz="20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等线" panose="020F0502020204030204"/>
                <a:ea typeface="等线" panose="02010600030101010101" pitchFamily="2" charset="-122"/>
                <a:cs typeface="+mn-cs"/>
              </a:rPr>
              <a:t>C </a:t>
            </a:r>
            <a:r>
              <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和 </a:t>
            </a:r>
            <a:r>
              <a:rPr kumimoji="0" lang="en-US" altLang="zh-CN" sz="20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等线" panose="020F0502020204030204"/>
                <a:ea typeface="等线" panose="02010600030101010101" pitchFamily="2" charset="-122"/>
                <a:cs typeface="+mn-cs"/>
              </a:rPr>
              <a:t>E </a:t>
            </a:r>
            <a:r>
              <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为单行道，</a:t>
            </a:r>
            <a:endParaRPr kumimoji="0" lang="en-US" altLang="zh-CN"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共有 </a:t>
            </a:r>
            <a:r>
              <a:rPr kumimoji="0" lang="en-US" altLang="zh-CN" sz="20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13 </a:t>
            </a:r>
            <a:r>
              <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条可通行路线。</a:t>
            </a:r>
            <a:endParaRPr kumimoji="0" lang="en-US" altLang="zh-CN"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有的</a:t>
            </a:r>
            <a:r>
              <a:rPr kumimoji="0" lang="zh-CN" altLang="en-US" sz="2000" b="1" i="0" u="none" strike="noStrike" kern="1200" cap="none" spc="0" normalizeH="0" baseline="0" noProof="0" dirty="0">
                <a:ln>
                  <a:noFill/>
                </a:ln>
                <a:solidFill>
                  <a:srgbClr val="C00000"/>
                </a:solidFill>
                <a:effectLst/>
                <a:uLnTx/>
                <a:uFillTx/>
                <a:latin typeface="等线" panose="020F0502020204030204"/>
                <a:ea typeface="等线" panose="02010600030101010101" pitchFamily="2" charset="-122"/>
                <a:cs typeface="+mn-cs"/>
              </a:rPr>
              <a:t>不可</a:t>
            </a:r>
            <a:r>
              <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同时通行，如 </a:t>
            </a:r>
            <a:r>
              <a:rPr kumimoji="0" lang="en-US" altLang="zh-CN" sz="20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等线" panose="020F0502020204030204"/>
                <a:ea typeface="等线" panose="02010600030101010101" pitchFamily="2" charset="-122"/>
                <a:cs typeface="+mn-cs"/>
              </a:rPr>
              <a:t>E</a:t>
            </a:r>
            <a:r>
              <a:rPr kumimoji="0" lang="en-US" altLang="zh-CN" sz="2000" b="1"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rPr>
              <a:t> </a:t>
            </a:r>
            <a:r>
              <a:rPr kumimoji="0" lang="en-US" altLang="zh-CN" sz="2000" b="0"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rPr>
              <a:t>→</a:t>
            </a:r>
            <a:r>
              <a:rPr kumimoji="0" lang="en-US" altLang="zh-CN" sz="2000" b="1"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rPr>
              <a:t> </a:t>
            </a:r>
            <a:r>
              <a:rPr kumimoji="0" lang="en-US" altLang="zh-CN" sz="20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等线" panose="020F0502020204030204"/>
                <a:ea typeface="等线" panose="02010600030101010101" pitchFamily="2" charset="-122"/>
                <a:cs typeface="+mn-cs"/>
              </a:rPr>
              <a:t>B </a:t>
            </a:r>
            <a:r>
              <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和 </a:t>
            </a:r>
            <a:r>
              <a:rPr kumimoji="0" lang="en-US" altLang="zh-CN" sz="20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等线" panose="020F0502020204030204"/>
                <a:ea typeface="等线" panose="02010600030101010101" pitchFamily="2" charset="-122"/>
                <a:cs typeface="+mn-cs"/>
              </a:rPr>
              <a:t>A</a:t>
            </a:r>
            <a:r>
              <a:rPr kumimoji="0" lang="en-US" altLang="zh-CN" sz="2000" b="0"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rPr>
              <a:t>→</a:t>
            </a:r>
            <a:r>
              <a:rPr kumimoji="0" lang="en-US" altLang="zh-CN" sz="20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等线" panose="020F0502020204030204"/>
                <a:ea typeface="等线" panose="02010600030101010101" pitchFamily="2" charset="-122"/>
                <a:cs typeface="+mn-cs"/>
              </a:rPr>
              <a:t>D</a:t>
            </a:r>
            <a:r>
              <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endParaRPr kumimoji="0" lang="en-US" altLang="zh-CN"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但有的</a:t>
            </a:r>
            <a:r>
              <a:rPr kumimoji="0" lang="zh-CN" altLang="en-US" sz="2000" b="1" i="0" u="none" strike="noStrike" kern="1200" cap="none" spc="0" normalizeH="0" baseline="0" noProof="0" dirty="0">
                <a:ln>
                  <a:noFill/>
                </a:ln>
                <a:solidFill>
                  <a:srgbClr val="C00000"/>
                </a:solidFill>
                <a:effectLst/>
                <a:uLnTx/>
                <a:uFillTx/>
                <a:latin typeface="等线" panose="020F0502020204030204"/>
                <a:ea typeface="等线" panose="02010600030101010101" pitchFamily="2" charset="-122"/>
                <a:cs typeface="+mn-cs"/>
              </a:rPr>
              <a:t>可以</a:t>
            </a:r>
            <a:r>
              <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同时通行，如 </a:t>
            </a:r>
            <a:r>
              <a:rPr kumimoji="0" lang="en-US" altLang="zh-CN" sz="20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等线" panose="020F0502020204030204"/>
                <a:ea typeface="等线" panose="02010600030101010101" pitchFamily="2" charset="-122"/>
                <a:cs typeface="+mn-cs"/>
              </a:rPr>
              <a:t>A</a:t>
            </a:r>
            <a:r>
              <a:rPr kumimoji="0" lang="en-US" altLang="zh-CN" sz="2000" b="1"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rPr>
              <a:t> </a:t>
            </a:r>
            <a:r>
              <a:rPr kumimoji="0" lang="en-US" altLang="zh-CN" sz="2000" b="0"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rPr>
              <a:t>→</a:t>
            </a:r>
            <a:r>
              <a:rPr kumimoji="0" lang="en-US" altLang="zh-CN" sz="2000" b="1"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rPr>
              <a:t> </a:t>
            </a:r>
            <a:r>
              <a:rPr kumimoji="0" lang="en-US" altLang="zh-CN" sz="20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等线" panose="020F0502020204030204"/>
                <a:ea typeface="等线" panose="02010600030101010101" pitchFamily="2" charset="-122"/>
                <a:cs typeface="+mn-cs"/>
              </a:rPr>
              <a:t>B </a:t>
            </a:r>
            <a:r>
              <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和 </a:t>
            </a:r>
            <a:r>
              <a:rPr kumimoji="0" lang="en-US" altLang="zh-CN" sz="20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等线" panose="020F0502020204030204"/>
                <a:ea typeface="等线" panose="02010600030101010101" pitchFamily="2" charset="-122"/>
                <a:cs typeface="+mn-cs"/>
              </a:rPr>
              <a:t>E</a:t>
            </a:r>
            <a:r>
              <a:rPr kumimoji="0" lang="en-US" altLang="zh-CN" sz="2000" b="0"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rPr>
              <a:t>→</a:t>
            </a:r>
            <a:r>
              <a:rPr kumimoji="0" lang="en-US" altLang="zh-CN" sz="20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等线" panose="020F0502020204030204"/>
                <a:ea typeface="等线" panose="02010600030101010101" pitchFamily="2" charset="-122"/>
                <a:cs typeface="+mn-cs"/>
              </a:rPr>
              <a:t>C</a:t>
            </a:r>
            <a:r>
              <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endParaRPr kumimoji="0" lang="en-US" altLang="zh-CN"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如何设置交通灯进行该路口车辆通行管理呢</a:t>
            </a:r>
            <a:r>
              <a:rPr kumimoji="0" lang="zh-CN" altLang="en-US" sz="20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p>
        </p:txBody>
      </p:sp>
      <p:sp>
        <p:nvSpPr>
          <p:cNvPr id="110" name="任意多边形: 形状 109">
            <a:extLst>
              <a:ext uri="{FF2B5EF4-FFF2-40B4-BE49-F238E27FC236}">
                <a16:creationId xmlns:a16="http://schemas.microsoft.com/office/drawing/2014/main" id="{56700A66-62CA-4879-997C-6E676E4C5354}"/>
              </a:ext>
            </a:extLst>
          </p:cNvPr>
          <p:cNvSpPr/>
          <p:nvPr/>
        </p:nvSpPr>
        <p:spPr>
          <a:xfrm>
            <a:off x="4425284" y="4727385"/>
            <a:ext cx="1202695" cy="1182687"/>
          </a:xfrm>
          <a:custGeom>
            <a:avLst/>
            <a:gdLst>
              <a:gd name="connsiteX0" fmla="*/ 1170432 w 1170432"/>
              <a:gd name="connsiteY0" fmla="*/ 1177747 h 1177747"/>
              <a:gd name="connsiteX1" fmla="*/ 863194 w 1170432"/>
              <a:gd name="connsiteY1" fmla="*/ 482803 h 1177747"/>
              <a:gd name="connsiteX2" fmla="*/ 0 w 1170432"/>
              <a:gd name="connsiteY2" fmla="*/ 0 h 1177747"/>
            </a:gdLst>
            <a:ahLst/>
            <a:cxnLst>
              <a:cxn ang="0">
                <a:pos x="connsiteX0" y="connsiteY0"/>
              </a:cxn>
              <a:cxn ang="0">
                <a:pos x="connsiteX1" y="connsiteY1"/>
              </a:cxn>
              <a:cxn ang="0">
                <a:pos x="connsiteX2" y="connsiteY2"/>
              </a:cxn>
            </a:cxnLst>
            <a:rect l="l" t="t" r="r" b="b"/>
            <a:pathLst>
              <a:path w="1170432" h="1177747">
                <a:moveTo>
                  <a:pt x="1170432" y="1177747"/>
                </a:moveTo>
                <a:cubicBezTo>
                  <a:pt x="1114349" y="928420"/>
                  <a:pt x="1058266" y="679094"/>
                  <a:pt x="863194" y="482803"/>
                </a:cubicBezTo>
                <a:cubicBezTo>
                  <a:pt x="668122" y="286512"/>
                  <a:pt x="334061" y="143256"/>
                  <a:pt x="0" y="0"/>
                </a:cubicBezTo>
              </a:path>
            </a:pathLst>
          </a:custGeom>
          <a:noFill/>
          <a:ln w="19050">
            <a:solidFill>
              <a:srgbClr val="00B05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14" name="任意多边形: 形状 113">
            <a:extLst>
              <a:ext uri="{FF2B5EF4-FFF2-40B4-BE49-F238E27FC236}">
                <a16:creationId xmlns:a16="http://schemas.microsoft.com/office/drawing/2014/main" id="{ED779C60-6B6B-47DF-8133-356AE7926B0B}"/>
              </a:ext>
            </a:extLst>
          </p:cNvPr>
          <p:cNvSpPr/>
          <p:nvPr/>
        </p:nvSpPr>
        <p:spPr>
          <a:xfrm>
            <a:off x="5219583" y="4331152"/>
            <a:ext cx="921715" cy="994867"/>
          </a:xfrm>
          <a:custGeom>
            <a:avLst/>
            <a:gdLst>
              <a:gd name="connsiteX0" fmla="*/ 921715 w 921715"/>
              <a:gd name="connsiteY0" fmla="*/ 994867 h 994867"/>
              <a:gd name="connsiteX1" fmla="*/ 277978 w 921715"/>
              <a:gd name="connsiteY1" fmla="*/ 599847 h 994867"/>
              <a:gd name="connsiteX2" fmla="*/ 0 w 921715"/>
              <a:gd name="connsiteY2" fmla="*/ 0 h 994867"/>
            </a:gdLst>
            <a:ahLst/>
            <a:cxnLst>
              <a:cxn ang="0">
                <a:pos x="connsiteX0" y="connsiteY0"/>
              </a:cxn>
              <a:cxn ang="0">
                <a:pos x="connsiteX1" y="connsiteY1"/>
              </a:cxn>
              <a:cxn ang="0">
                <a:pos x="connsiteX2" y="connsiteY2"/>
              </a:cxn>
            </a:cxnLst>
            <a:rect l="l" t="t" r="r" b="b"/>
            <a:pathLst>
              <a:path w="921715" h="994867">
                <a:moveTo>
                  <a:pt x="921715" y="994867"/>
                </a:moveTo>
                <a:cubicBezTo>
                  <a:pt x="676656" y="880262"/>
                  <a:pt x="431597" y="765658"/>
                  <a:pt x="277978" y="599847"/>
                </a:cubicBezTo>
                <a:cubicBezTo>
                  <a:pt x="124359" y="434036"/>
                  <a:pt x="62179" y="217018"/>
                  <a:pt x="0" y="0"/>
                </a:cubicBezTo>
              </a:path>
            </a:pathLst>
          </a:custGeom>
          <a:noFill/>
          <a:ln w="19050">
            <a:solidFill>
              <a:srgbClr val="00B05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grpSp>
        <p:nvGrpSpPr>
          <p:cNvPr id="117" name="组合 116">
            <a:extLst>
              <a:ext uri="{FF2B5EF4-FFF2-40B4-BE49-F238E27FC236}">
                <a16:creationId xmlns:a16="http://schemas.microsoft.com/office/drawing/2014/main" id="{50A415A9-5C00-4689-89D0-72B22E8DC015}"/>
              </a:ext>
            </a:extLst>
          </p:cNvPr>
          <p:cNvGrpSpPr/>
          <p:nvPr/>
        </p:nvGrpSpPr>
        <p:grpSpPr>
          <a:xfrm>
            <a:off x="4091442" y="3639891"/>
            <a:ext cx="3053637" cy="3028835"/>
            <a:chOff x="4091442" y="3639891"/>
            <a:chExt cx="3053637" cy="3028835"/>
          </a:xfrm>
        </p:grpSpPr>
        <p:grpSp>
          <p:nvGrpSpPr>
            <p:cNvPr id="77" name="组合 76">
              <a:extLst>
                <a:ext uri="{FF2B5EF4-FFF2-40B4-BE49-F238E27FC236}">
                  <a16:creationId xmlns:a16="http://schemas.microsoft.com/office/drawing/2014/main" id="{F2E66940-1F48-47DA-AACD-1A6475BEAC10}"/>
                </a:ext>
              </a:extLst>
            </p:cNvPr>
            <p:cNvGrpSpPr/>
            <p:nvPr/>
          </p:nvGrpSpPr>
          <p:grpSpPr>
            <a:xfrm>
              <a:off x="4091442" y="3639891"/>
              <a:ext cx="2669040" cy="2561206"/>
              <a:chOff x="1344353" y="1938270"/>
              <a:chExt cx="2082192" cy="1930430"/>
            </a:xfrm>
          </p:grpSpPr>
          <p:cxnSp>
            <p:nvCxnSpPr>
              <p:cNvPr id="60" name="直接连接符 59">
                <a:extLst>
                  <a:ext uri="{FF2B5EF4-FFF2-40B4-BE49-F238E27FC236}">
                    <a16:creationId xmlns:a16="http://schemas.microsoft.com/office/drawing/2014/main" id="{6C22A3CC-160E-4497-B6CA-34031FE9E5F2}"/>
                  </a:ext>
                </a:extLst>
              </p:cNvPr>
              <p:cNvCxnSpPr/>
              <p:nvPr/>
            </p:nvCxnSpPr>
            <p:spPr>
              <a:xfrm>
                <a:off x="2137893" y="1938270"/>
                <a:ext cx="296214" cy="73982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78BEF1C4-2196-48C0-8089-4C669E42925D}"/>
                  </a:ext>
                </a:extLst>
              </p:cNvPr>
              <p:cNvCxnSpPr/>
              <p:nvPr/>
            </p:nvCxnSpPr>
            <p:spPr>
              <a:xfrm>
                <a:off x="1781070" y="1960485"/>
                <a:ext cx="296214" cy="73982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841BAB19-1AC6-4C5E-A195-05A711DCBB7A}"/>
                  </a:ext>
                </a:extLst>
              </p:cNvPr>
              <p:cNvCxnSpPr>
                <a:cxnSpLocks/>
              </p:cNvCxnSpPr>
              <p:nvPr/>
            </p:nvCxnSpPr>
            <p:spPr>
              <a:xfrm flipH="1">
                <a:off x="2426928" y="2086377"/>
                <a:ext cx="503017" cy="59815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CEE09E95-2A0F-4A3F-9CD8-498DAAF50D99}"/>
                  </a:ext>
                </a:extLst>
              </p:cNvPr>
              <p:cNvCxnSpPr>
                <a:cxnSpLocks/>
              </p:cNvCxnSpPr>
              <p:nvPr/>
            </p:nvCxnSpPr>
            <p:spPr>
              <a:xfrm flipH="1">
                <a:off x="2879247" y="2430351"/>
                <a:ext cx="503017" cy="59815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5DD90E9B-2AD5-4867-83FF-601D329D80A3}"/>
                  </a:ext>
                </a:extLst>
              </p:cNvPr>
              <p:cNvCxnSpPr>
                <a:cxnSpLocks/>
              </p:cNvCxnSpPr>
              <p:nvPr/>
            </p:nvCxnSpPr>
            <p:spPr>
              <a:xfrm>
                <a:off x="2881323" y="2998269"/>
                <a:ext cx="545222" cy="46528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6A789762-83B6-4D4F-A39C-76173E141A95}"/>
                  </a:ext>
                </a:extLst>
              </p:cNvPr>
              <p:cNvCxnSpPr>
                <a:cxnSpLocks/>
              </p:cNvCxnSpPr>
              <p:nvPr/>
            </p:nvCxnSpPr>
            <p:spPr>
              <a:xfrm>
                <a:off x="2686378" y="3304360"/>
                <a:ext cx="545222" cy="46528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54B1AEBF-5FD1-44A2-973F-B7A28A5E0E94}"/>
                  </a:ext>
                </a:extLst>
              </p:cNvPr>
              <p:cNvCxnSpPr>
                <a:cxnSpLocks/>
              </p:cNvCxnSpPr>
              <p:nvPr/>
            </p:nvCxnSpPr>
            <p:spPr>
              <a:xfrm>
                <a:off x="2698671" y="3304360"/>
                <a:ext cx="3275" cy="56434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12A28F5E-C3F2-4C66-BE9D-6335BCD92583}"/>
                  </a:ext>
                </a:extLst>
              </p:cNvPr>
              <p:cNvCxnSpPr>
                <a:cxnSpLocks/>
              </p:cNvCxnSpPr>
              <p:nvPr/>
            </p:nvCxnSpPr>
            <p:spPr>
              <a:xfrm>
                <a:off x="2104627" y="3285043"/>
                <a:ext cx="3275" cy="56434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49522101-C161-46D0-9B18-488F5E06128E}"/>
                  </a:ext>
                </a:extLst>
              </p:cNvPr>
              <p:cNvCxnSpPr>
                <a:cxnSpLocks/>
              </p:cNvCxnSpPr>
              <p:nvPr/>
            </p:nvCxnSpPr>
            <p:spPr>
              <a:xfrm flipH="1" flipV="1">
                <a:off x="1344353" y="2488294"/>
                <a:ext cx="733686" cy="198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3EF6F4D0-D56A-46D6-AF2B-F3F48D7261FB}"/>
                  </a:ext>
                </a:extLst>
              </p:cNvPr>
              <p:cNvCxnSpPr>
                <a:cxnSpLocks/>
              </p:cNvCxnSpPr>
              <p:nvPr/>
            </p:nvCxnSpPr>
            <p:spPr>
              <a:xfrm flipH="1" flipV="1">
                <a:off x="1384147" y="3106360"/>
                <a:ext cx="733686" cy="198000"/>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116" name="文本框 115">
              <a:extLst>
                <a:ext uri="{FF2B5EF4-FFF2-40B4-BE49-F238E27FC236}">
                  <a16:creationId xmlns:a16="http://schemas.microsoft.com/office/drawing/2014/main" id="{D9664CB7-00C5-41A6-A87F-6621E4DE5D34}"/>
                </a:ext>
              </a:extLst>
            </p:cNvPr>
            <p:cNvSpPr txBox="1"/>
            <p:nvPr/>
          </p:nvSpPr>
          <p:spPr>
            <a:xfrm>
              <a:off x="6061594" y="6237839"/>
              <a:ext cx="1083485" cy="43088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图</a:t>
              </a:r>
              <a:r>
                <a:rPr kumimoji="0" lang="en-US" altLang="zh-CN" sz="2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1.3(a) </a:t>
              </a:r>
              <a:endParaRPr kumimoji="0" lang="zh-CN" altLang="en-US" sz="2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grpSp>
      <p:sp>
        <p:nvSpPr>
          <p:cNvPr id="118" name="文本框 117">
            <a:extLst>
              <a:ext uri="{FF2B5EF4-FFF2-40B4-BE49-F238E27FC236}">
                <a16:creationId xmlns:a16="http://schemas.microsoft.com/office/drawing/2014/main" id="{DF3490F7-1B57-4D82-9436-D104004A146F}"/>
              </a:ext>
            </a:extLst>
          </p:cNvPr>
          <p:cNvSpPr txBox="1"/>
          <p:nvPr/>
        </p:nvSpPr>
        <p:spPr>
          <a:xfrm>
            <a:off x="5726291" y="389172"/>
            <a:ext cx="6217763" cy="2308324"/>
          </a:xfrm>
          <a:prstGeom prst="rect">
            <a:avLst/>
          </a:prstGeom>
          <a:solidFill>
            <a:srgbClr val="EEFFE5"/>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这类交通、道路问题的数学模型是一种称为“</a:t>
            </a:r>
            <a:r>
              <a:rPr kumimoji="0" lang="zh-CN" altLang="en-US" sz="1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等线" panose="020F0502020204030204"/>
                <a:ea typeface="等线" panose="02010600030101010101" pitchFamily="2" charset="-122"/>
                <a:cs typeface="+mn-cs"/>
              </a:rPr>
              <a:t>图</a:t>
            </a: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”的</a:t>
            </a:r>
            <a:r>
              <a:rPr kumimoji="0" lang="zh-CN" altLang="en-US" sz="1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等线" panose="020F0502020204030204"/>
                <a:ea typeface="等线" panose="02010600030101010101" pitchFamily="2" charset="-122"/>
                <a:cs typeface="+mn-cs"/>
              </a:rPr>
              <a:t>数据结构</a:t>
            </a: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endPar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可用 </a:t>
            </a:r>
            <a:r>
              <a:rPr kumimoji="0" lang="en-US" altLang="zh-CN" sz="1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等线" panose="020F0502020204030204"/>
                <a:ea typeface="等线" panose="02010600030101010101" pitchFamily="2" charset="-122"/>
                <a:cs typeface="+mn-cs"/>
              </a:rPr>
              <a:t>1 </a:t>
            </a: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个</a:t>
            </a:r>
            <a:r>
              <a:rPr kumimoji="0" lang="zh-CN" altLang="en-US" sz="1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等线" panose="020F0502020204030204"/>
                <a:ea typeface="等线" panose="02010600030101010101" pitchFamily="2" charset="-122"/>
                <a:cs typeface="+mn-cs"/>
              </a:rPr>
              <a:t>顶点</a:t>
            </a: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（圆圈）表示 </a:t>
            </a:r>
            <a:r>
              <a:rPr kumimoji="0" lang="en-US" altLang="zh-CN" sz="1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1 </a:t>
            </a: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条通行路线，</a:t>
            </a:r>
            <a:endPar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冲突，不能同时通行的线路的</a:t>
            </a:r>
            <a:r>
              <a:rPr kumimoji="0" lang="zh-CN" altLang="en-US" sz="1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等线" panose="020F0502020204030204"/>
                <a:ea typeface="等线" panose="02010600030101010101" pitchFamily="2" charset="-122"/>
                <a:cs typeface="+mn-cs"/>
              </a:rPr>
              <a:t>顶点</a:t>
            </a: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用</a:t>
            </a:r>
            <a:r>
              <a:rPr kumimoji="0" lang="zh-CN" altLang="en-US" sz="1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等线" panose="020F0502020204030204"/>
                <a:ea typeface="等线" panose="02010600030101010101" pitchFamily="2" charset="-122"/>
                <a:cs typeface="+mn-cs"/>
              </a:rPr>
              <a:t>线 </a:t>
            </a:r>
            <a:r>
              <a:rPr kumimoji="0" lang="en-US" altLang="zh-CN" sz="1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等线" panose="020F0502020204030204"/>
                <a:ea typeface="等线" panose="02010600030101010101" pitchFamily="2" charset="-122"/>
                <a:cs typeface="+mn-cs"/>
              </a:rPr>
              <a:t>(</a:t>
            </a:r>
            <a:r>
              <a:rPr kumimoji="0" lang="zh-CN" altLang="en-US" sz="1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等线" panose="020F0502020204030204"/>
                <a:ea typeface="等线" panose="02010600030101010101" pitchFamily="2" charset="-122"/>
                <a:cs typeface="+mn-cs"/>
              </a:rPr>
              <a:t>边</a:t>
            </a:r>
            <a:r>
              <a:rPr kumimoji="0" lang="en-US" altLang="zh-CN" sz="1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等线" panose="020F0502020204030204"/>
                <a:ea typeface="等线" panose="02010600030101010101" pitchFamily="2" charset="-122"/>
                <a:cs typeface="+mn-cs"/>
              </a:rPr>
              <a:t>) </a:t>
            </a: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相</a:t>
            </a:r>
            <a:r>
              <a:rPr kumimoji="0" lang="zh-CN" altLang="en-US" sz="1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等线" panose="020F0502020204030204"/>
                <a:ea typeface="等线" panose="02010600030101010101" pitchFamily="2" charset="-122"/>
                <a:cs typeface="+mn-cs"/>
              </a:rPr>
              <a:t>连接</a:t>
            </a: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endPar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如线路 </a:t>
            </a:r>
            <a:r>
              <a:rPr kumimoji="0" lang="en-US" altLang="zh-CN" sz="1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等线" panose="020F0502020204030204"/>
                <a:ea typeface="等线" panose="02010600030101010101" pitchFamily="2" charset="-122"/>
                <a:cs typeface="+mn-cs"/>
              </a:rPr>
              <a:t>AD</a:t>
            </a: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 </a:t>
            </a: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与 </a:t>
            </a:r>
            <a:r>
              <a:rPr kumimoji="0" lang="en-US" altLang="zh-CN" sz="1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等线" panose="020F0502020204030204"/>
                <a:ea typeface="等线" panose="02010600030101010101" pitchFamily="2" charset="-122"/>
                <a:cs typeface="+mn-cs"/>
              </a:rPr>
              <a:t>EC</a:t>
            </a: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 </a:t>
            </a: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冲突，它们之间用线相连接；</a:t>
            </a:r>
            <a:endPar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            </a:t>
            </a:r>
            <a:r>
              <a:rPr kumimoji="0" lang="en-US" altLang="zh-CN" sz="1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等线" panose="020F0502020204030204"/>
                <a:ea typeface="等线" panose="02010600030101010101" pitchFamily="2" charset="-122"/>
                <a:cs typeface="+mn-cs"/>
              </a:rPr>
              <a:t>AD</a:t>
            </a: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 </a:t>
            </a: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与 </a:t>
            </a:r>
            <a:r>
              <a:rPr kumimoji="0" lang="en-US" altLang="zh-CN" sz="1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等线" panose="020F0502020204030204"/>
                <a:ea typeface="等线" panose="02010600030101010101" pitchFamily="2" charset="-122"/>
                <a:cs typeface="+mn-cs"/>
              </a:rPr>
              <a:t>EA</a:t>
            </a: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 </a:t>
            </a: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也冲突，之间也连线；</a:t>
            </a:r>
            <a:endPar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显然， </a:t>
            </a:r>
            <a:r>
              <a:rPr kumimoji="0" lang="en-US" altLang="zh-CN" sz="1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等线" panose="020F0502020204030204"/>
                <a:ea typeface="等线" panose="02010600030101010101" pitchFamily="2" charset="-122"/>
                <a:cs typeface="+mn-cs"/>
              </a:rPr>
              <a:t>EA</a:t>
            </a: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 </a:t>
            </a: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与 </a:t>
            </a:r>
            <a:r>
              <a:rPr kumimoji="0" lang="en-US" altLang="zh-CN" sz="1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等线" panose="020F0502020204030204"/>
                <a:ea typeface="等线" panose="02010600030101010101" pitchFamily="2" charset="-122"/>
                <a:cs typeface="+mn-cs"/>
              </a:rPr>
              <a:t>AB</a:t>
            </a: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 </a:t>
            </a: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也是冲突的，连线。</a:t>
            </a:r>
            <a:endPar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可以自行验证：所有冲突线路都可这样连线。</a:t>
            </a:r>
            <a:endPar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为什么会有 </a:t>
            </a:r>
            <a:r>
              <a:rPr kumimoji="0" lang="en-US" altLang="zh-CN" sz="1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3 </a:t>
            </a: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个孤立顶点（线路）？</a:t>
            </a: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都是右转线路！</a:t>
            </a:r>
          </a:p>
        </p:txBody>
      </p:sp>
      <p:sp>
        <p:nvSpPr>
          <p:cNvPr id="119" name="文本框 118">
            <a:extLst>
              <a:ext uri="{FF2B5EF4-FFF2-40B4-BE49-F238E27FC236}">
                <a16:creationId xmlns:a16="http://schemas.microsoft.com/office/drawing/2014/main" id="{6E63DAFA-975E-44B5-A9CE-40D34BF11335}"/>
              </a:ext>
            </a:extLst>
          </p:cNvPr>
          <p:cNvSpPr txBox="1"/>
          <p:nvPr/>
        </p:nvSpPr>
        <p:spPr>
          <a:xfrm>
            <a:off x="8507288" y="3186393"/>
            <a:ext cx="35618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1</a:t>
            </a:r>
            <a:endParaRPr kumimoji="0" lang="zh-CN" altLang="en-US" sz="24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20" name="文本框 119">
            <a:extLst>
              <a:ext uri="{FF2B5EF4-FFF2-40B4-BE49-F238E27FC236}">
                <a16:creationId xmlns:a16="http://schemas.microsoft.com/office/drawing/2014/main" id="{08959BB9-C040-420A-BBCA-503FF2102D50}"/>
              </a:ext>
            </a:extLst>
          </p:cNvPr>
          <p:cNvSpPr txBox="1"/>
          <p:nvPr/>
        </p:nvSpPr>
        <p:spPr>
          <a:xfrm>
            <a:off x="9689358" y="3193399"/>
            <a:ext cx="35618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1</a:t>
            </a:r>
            <a:endParaRPr kumimoji="0" lang="zh-CN" altLang="en-US" sz="24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21" name="文本框 120">
            <a:extLst>
              <a:ext uri="{FF2B5EF4-FFF2-40B4-BE49-F238E27FC236}">
                <a16:creationId xmlns:a16="http://schemas.microsoft.com/office/drawing/2014/main" id="{FF5045B0-3D0C-438E-A0BF-2AD3C732251E}"/>
              </a:ext>
            </a:extLst>
          </p:cNvPr>
          <p:cNvSpPr txBox="1"/>
          <p:nvPr/>
        </p:nvSpPr>
        <p:spPr>
          <a:xfrm>
            <a:off x="11046359" y="3193399"/>
            <a:ext cx="35618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1</a:t>
            </a:r>
            <a:endParaRPr kumimoji="0" lang="zh-CN" altLang="en-US" sz="24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22" name="文本框 121">
            <a:extLst>
              <a:ext uri="{FF2B5EF4-FFF2-40B4-BE49-F238E27FC236}">
                <a16:creationId xmlns:a16="http://schemas.microsoft.com/office/drawing/2014/main" id="{EFAA5890-6966-4B5B-91B8-81461521CF53}"/>
              </a:ext>
            </a:extLst>
          </p:cNvPr>
          <p:cNvSpPr txBox="1"/>
          <p:nvPr/>
        </p:nvSpPr>
        <p:spPr>
          <a:xfrm>
            <a:off x="7739263" y="4092176"/>
            <a:ext cx="40427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0B050"/>
                </a:solidFill>
                <a:effectLst/>
                <a:uLnTx/>
                <a:uFillTx/>
                <a:latin typeface="等线" panose="020F0502020204030204"/>
                <a:ea typeface="等线" panose="02010600030101010101" pitchFamily="2" charset="-122"/>
                <a:cs typeface="+mn-cs"/>
                <a:sym typeface="Symbol" panose="05050102010706020507" pitchFamily="18" charset="2"/>
              </a:rPr>
              <a:t></a:t>
            </a:r>
            <a:endParaRPr kumimoji="0" lang="zh-CN" altLang="en-US" sz="2400" b="1" i="0" u="none" strike="noStrike" kern="1200" cap="none" spc="0" normalizeH="0" baseline="0" noProof="0" dirty="0">
              <a:ln>
                <a:noFill/>
              </a:ln>
              <a:solidFill>
                <a:srgbClr val="00B050"/>
              </a:solidFill>
              <a:effectLst/>
              <a:uLnTx/>
              <a:uFillTx/>
              <a:latin typeface="等线" panose="020F0502020204030204"/>
              <a:ea typeface="等线" panose="02010600030101010101" pitchFamily="2" charset="-122"/>
              <a:cs typeface="+mn-cs"/>
            </a:endParaRPr>
          </a:p>
        </p:txBody>
      </p:sp>
      <p:sp>
        <p:nvSpPr>
          <p:cNvPr id="123" name="文本框 122">
            <a:extLst>
              <a:ext uri="{FF2B5EF4-FFF2-40B4-BE49-F238E27FC236}">
                <a16:creationId xmlns:a16="http://schemas.microsoft.com/office/drawing/2014/main" id="{046820F7-57DB-4C26-B717-0B41FF2111EF}"/>
              </a:ext>
            </a:extLst>
          </p:cNvPr>
          <p:cNvSpPr txBox="1"/>
          <p:nvPr/>
        </p:nvSpPr>
        <p:spPr>
          <a:xfrm>
            <a:off x="11169504" y="4521827"/>
            <a:ext cx="40427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0B050"/>
                </a:solidFill>
                <a:effectLst/>
                <a:uLnTx/>
                <a:uFillTx/>
                <a:latin typeface="等线" panose="020F0502020204030204"/>
                <a:ea typeface="等线" panose="02010600030101010101" pitchFamily="2" charset="-122"/>
                <a:cs typeface="+mn-cs"/>
                <a:sym typeface="Symbol" panose="05050102010706020507" pitchFamily="18" charset="2"/>
              </a:rPr>
              <a:t></a:t>
            </a:r>
            <a:endParaRPr kumimoji="0" lang="zh-CN" altLang="en-US" sz="2400" b="1" i="0" u="none" strike="noStrike" kern="1200" cap="none" spc="0" normalizeH="0" baseline="0" noProof="0" dirty="0">
              <a:ln>
                <a:noFill/>
              </a:ln>
              <a:solidFill>
                <a:srgbClr val="00B050"/>
              </a:solidFill>
              <a:effectLst/>
              <a:uLnTx/>
              <a:uFillTx/>
              <a:latin typeface="等线" panose="020F0502020204030204"/>
              <a:ea typeface="等线" panose="02010600030101010101" pitchFamily="2" charset="-122"/>
              <a:cs typeface="+mn-cs"/>
            </a:endParaRPr>
          </a:p>
        </p:txBody>
      </p:sp>
      <p:sp>
        <p:nvSpPr>
          <p:cNvPr id="124" name="文本框 123">
            <a:extLst>
              <a:ext uri="{FF2B5EF4-FFF2-40B4-BE49-F238E27FC236}">
                <a16:creationId xmlns:a16="http://schemas.microsoft.com/office/drawing/2014/main" id="{16467B2F-BC74-4EEB-8051-5C90E20B6FBE}"/>
              </a:ext>
            </a:extLst>
          </p:cNvPr>
          <p:cNvSpPr txBox="1"/>
          <p:nvPr/>
        </p:nvSpPr>
        <p:spPr>
          <a:xfrm>
            <a:off x="11020231" y="5330015"/>
            <a:ext cx="40427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0B050"/>
                </a:solidFill>
                <a:effectLst/>
                <a:uLnTx/>
                <a:uFillTx/>
                <a:latin typeface="等线" panose="020F0502020204030204"/>
                <a:ea typeface="等线" panose="02010600030101010101" pitchFamily="2" charset="-122"/>
                <a:cs typeface="+mn-cs"/>
                <a:sym typeface="Symbol" panose="05050102010706020507" pitchFamily="18" charset="2"/>
              </a:rPr>
              <a:t></a:t>
            </a:r>
            <a:endParaRPr kumimoji="0" lang="zh-CN" altLang="en-US" sz="2400" b="1" i="0" u="none" strike="noStrike" kern="1200" cap="none" spc="0" normalizeH="0" baseline="0" noProof="0" dirty="0">
              <a:ln>
                <a:noFill/>
              </a:ln>
              <a:solidFill>
                <a:srgbClr val="00B050"/>
              </a:solidFill>
              <a:effectLst/>
              <a:uLnTx/>
              <a:uFillTx/>
              <a:latin typeface="等线" panose="020F0502020204030204"/>
              <a:ea typeface="等线" panose="02010600030101010101" pitchFamily="2" charset="-122"/>
              <a:cs typeface="+mn-cs"/>
            </a:endParaRPr>
          </a:p>
        </p:txBody>
      </p:sp>
      <p:sp>
        <p:nvSpPr>
          <p:cNvPr id="125" name="文本框 124">
            <a:extLst>
              <a:ext uri="{FF2B5EF4-FFF2-40B4-BE49-F238E27FC236}">
                <a16:creationId xmlns:a16="http://schemas.microsoft.com/office/drawing/2014/main" id="{DD4702EB-12FF-48BD-962E-5B9648572D39}"/>
              </a:ext>
            </a:extLst>
          </p:cNvPr>
          <p:cNvSpPr txBox="1"/>
          <p:nvPr/>
        </p:nvSpPr>
        <p:spPr>
          <a:xfrm>
            <a:off x="9095604" y="4056947"/>
            <a:ext cx="35618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2</a:t>
            </a:r>
            <a:endParaRPr kumimoji="0" lang="zh-CN" altLang="en-US" sz="24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26" name="文本框 125">
            <a:extLst>
              <a:ext uri="{FF2B5EF4-FFF2-40B4-BE49-F238E27FC236}">
                <a16:creationId xmlns:a16="http://schemas.microsoft.com/office/drawing/2014/main" id="{DAA2F52E-C388-444D-8CAC-2673048A3CE3}"/>
              </a:ext>
            </a:extLst>
          </p:cNvPr>
          <p:cNvSpPr txBox="1"/>
          <p:nvPr/>
        </p:nvSpPr>
        <p:spPr>
          <a:xfrm>
            <a:off x="10294859" y="4083587"/>
            <a:ext cx="35618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2</a:t>
            </a:r>
            <a:endParaRPr kumimoji="0" lang="zh-CN" altLang="en-US" sz="24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27" name="文本框 126">
            <a:extLst>
              <a:ext uri="{FF2B5EF4-FFF2-40B4-BE49-F238E27FC236}">
                <a16:creationId xmlns:a16="http://schemas.microsoft.com/office/drawing/2014/main" id="{943D2F29-12EC-42B3-A6D1-96D4A2A500E8}"/>
              </a:ext>
            </a:extLst>
          </p:cNvPr>
          <p:cNvSpPr txBox="1"/>
          <p:nvPr/>
        </p:nvSpPr>
        <p:spPr>
          <a:xfrm>
            <a:off x="7636696" y="5752113"/>
            <a:ext cx="35618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2</a:t>
            </a:r>
            <a:endParaRPr kumimoji="0" lang="zh-CN" altLang="en-US" sz="24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28" name="文本框 127">
            <a:extLst>
              <a:ext uri="{FF2B5EF4-FFF2-40B4-BE49-F238E27FC236}">
                <a16:creationId xmlns:a16="http://schemas.microsoft.com/office/drawing/2014/main" id="{4C1D49EC-43C2-4AD8-A6D8-2BF8DE1B6AB4}"/>
              </a:ext>
            </a:extLst>
          </p:cNvPr>
          <p:cNvSpPr txBox="1"/>
          <p:nvPr/>
        </p:nvSpPr>
        <p:spPr>
          <a:xfrm>
            <a:off x="8515564" y="4898305"/>
            <a:ext cx="35618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3</a:t>
            </a:r>
            <a:endParaRPr kumimoji="0" lang="zh-CN" altLang="en-US" sz="24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29" name="文本框 128">
            <a:extLst>
              <a:ext uri="{FF2B5EF4-FFF2-40B4-BE49-F238E27FC236}">
                <a16:creationId xmlns:a16="http://schemas.microsoft.com/office/drawing/2014/main" id="{4C5F3CCB-F81A-477C-99EA-E5A090D44CA5}"/>
              </a:ext>
            </a:extLst>
          </p:cNvPr>
          <p:cNvSpPr txBox="1"/>
          <p:nvPr/>
        </p:nvSpPr>
        <p:spPr>
          <a:xfrm>
            <a:off x="9663886" y="4963297"/>
            <a:ext cx="35618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3</a:t>
            </a:r>
            <a:endParaRPr kumimoji="0" lang="zh-CN" altLang="en-US" sz="24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30" name="文本框 129">
            <a:extLst>
              <a:ext uri="{FF2B5EF4-FFF2-40B4-BE49-F238E27FC236}">
                <a16:creationId xmlns:a16="http://schemas.microsoft.com/office/drawing/2014/main" id="{A3EE9910-E687-45F6-BDA4-D8077A6AC589}"/>
              </a:ext>
            </a:extLst>
          </p:cNvPr>
          <p:cNvSpPr txBox="1"/>
          <p:nvPr/>
        </p:nvSpPr>
        <p:spPr>
          <a:xfrm>
            <a:off x="9055549" y="5863834"/>
            <a:ext cx="35618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4</a:t>
            </a:r>
            <a:endParaRPr kumimoji="0" lang="zh-CN" altLang="en-US" sz="24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31" name="文本框 130">
            <a:extLst>
              <a:ext uri="{FF2B5EF4-FFF2-40B4-BE49-F238E27FC236}">
                <a16:creationId xmlns:a16="http://schemas.microsoft.com/office/drawing/2014/main" id="{0D18B63B-C34D-4B48-8BAC-F77ACF974FBC}"/>
              </a:ext>
            </a:extLst>
          </p:cNvPr>
          <p:cNvSpPr txBox="1"/>
          <p:nvPr/>
        </p:nvSpPr>
        <p:spPr>
          <a:xfrm>
            <a:off x="10244706" y="5848731"/>
            <a:ext cx="35618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4</a:t>
            </a:r>
            <a:endParaRPr kumimoji="0" lang="zh-CN" altLang="en-US" sz="24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32" name="任意多边形: 形状 131">
            <a:extLst>
              <a:ext uri="{FF2B5EF4-FFF2-40B4-BE49-F238E27FC236}">
                <a16:creationId xmlns:a16="http://schemas.microsoft.com/office/drawing/2014/main" id="{CC7468CB-4919-41B8-A456-9515C93D456C}"/>
              </a:ext>
            </a:extLst>
          </p:cNvPr>
          <p:cNvSpPr/>
          <p:nvPr/>
        </p:nvSpPr>
        <p:spPr>
          <a:xfrm>
            <a:off x="5677786" y="4267200"/>
            <a:ext cx="730102" cy="1630326"/>
          </a:xfrm>
          <a:custGeom>
            <a:avLst/>
            <a:gdLst>
              <a:gd name="connsiteX0" fmla="*/ 0 w 730102"/>
              <a:gd name="connsiteY0" fmla="*/ 1630326 h 1630326"/>
              <a:gd name="connsiteX1" fmla="*/ 134679 w 730102"/>
              <a:gd name="connsiteY1" fmla="*/ 765544 h 1630326"/>
              <a:gd name="connsiteX2" fmla="*/ 730102 w 730102"/>
              <a:gd name="connsiteY2" fmla="*/ 0 h 1630326"/>
            </a:gdLst>
            <a:ahLst/>
            <a:cxnLst>
              <a:cxn ang="0">
                <a:pos x="connsiteX0" y="connsiteY0"/>
              </a:cxn>
              <a:cxn ang="0">
                <a:pos x="connsiteX1" y="connsiteY1"/>
              </a:cxn>
              <a:cxn ang="0">
                <a:pos x="connsiteX2" y="connsiteY2"/>
              </a:cxn>
            </a:cxnLst>
            <a:rect l="l" t="t" r="r" b="b"/>
            <a:pathLst>
              <a:path w="730102" h="1630326">
                <a:moveTo>
                  <a:pt x="0" y="1630326"/>
                </a:moveTo>
                <a:cubicBezTo>
                  <a:pt x="6497" y="1333795"/>
                  <a:pt x="12995" y="1037265"/>
                  <a:pt x="134679" y="765544"/>
                </a:cubicBezTo>
                <a:cubicBezTo>
                  <a:pt x="256363" y="493823"/>
                  <a:pt x="493232" y="246911"/>
                  <a:pt x="730102" y="0"/>
                </a:cubicBezTo>
              </a:path>
            </a:pathLst>
          </a:custGeom>
          <a:noFill/>
          <a:ln w="19050">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w="19050">
                <a:solidFill>
                  <a:srgbClr val="FF0000"/>
                </a:solidFill>
              </a:ln>
              <a:solidFill>
                <a:prstClr val="white"/>
              </a:solidFill>
              <a:effectLst/>
              <a:uLnTx/>
              <a:uFillTx/>
              <a:latin typeface="等线" panose="020F0502020204030204"/>
              <a:ea typeface="等线" panose="02010600030101010101" pitchFamily="2" charset="-122"/>
              <a:cs typeface="+mn-cs"/>
            </a:endParaRPr>
          </a:p>
        </p:txBody>
      </p:sp>
      <p:sp>
        <p:nvSpPr>
          <p:cNvPr id="134" name="任意多边形: 形状 133">
            <a:extLst>
              <a:ext uri="{FF2B5EF4-FFF2-40B4-BE49-F238E27FC236}">
                <a16:creationId xmlns:a16="http://schemas.microsoft.com/office/drawing/2014/main" id="{9DD00DA4-A4AD-483F-8B55-56C4F9102C7B}"/>
              </a:ext>
            </a:extLst>
          </p:cNvPr>
          <p:cNvSpPr/>
          <p:nvPr/>
        </p:nvSpPr>
        <p:spPr>
          <a:xfrm>
            <a:off x="5262611" y="5282914"/>
            <a:ext cx="743449" cy="822251"/>
          </a:xfrm>
          <a:custGeom>
            <a:avLst/>
            <a:gdLst>
              <a:gd name="connsiteX0" fmla="*/ 864781 w 864781"/>
              <a:gd name="connsiteY0" fmla="*/ 177209 h 822251"/>
              <a:gd name="connsiteX1" fmla="*/ 489097 w 864781"/>
              <a:gd name="connsiteY1" fmla="*/ 0 h 822251"/>
              <a:gd name="connsiteX2" fmla="*/ 148856 w 864781"/>
              <a:gd name="connsiteY2" fmla="*/ 177209 h 822251"/>
              <a:gd name="connsiteX3" fmla="*/ 0 w 864781"/>
              <a:gd name="connsiteY3" fmla="*/ 822251 h 822251"/>
            </a:gdLst>
            <a:ahLst/>
            <a:cxnLst>
              <a:cxn ang="0">
                <a:pos x="connsiteX0" y="connsiteY0"/>
              </a:cxn>
              <a:cxn ang="0">
                <a:pos x="connsiteX1" y="connsiteY1"/>
              </a:cxn>
              <a:cxn ang="0">
                <a:pos x="connsiteX2" y="connsiteY2"/>
              </a:cxn>
              <a:cxn ang="0">
                <a:pos x="connsiteX3" y="connsiteY3"/>
              </a:cxn>
            </a:cxnLst>
            <a:rect l="l" t="t" r="r" b="b"/>
            <a:pathLst>
              <a:path w="864781" h="822251">
                <a:moveTo>
                  <a:pt x="864781" y="177209"/>
                </a:moveTo>
                <a:cubicBezTo>
                  <a:pt x="736599" y="88604"/>
                  <a:pt x="608418" y="0"/>
                  <a:pt x="489097" y="0"/>
                </a:cubicBezTo>
                <a:cubicBezTo>
                  <a:pt x="369776" y="0"/>
                  <a:pt x="230372" y="40167"/>
                  <a:pt x="148856" y="177209"/>
                </a:cubicBezTo>
                <a:cubicBezTo>
                  <a:pt x="67340" y="314251"/>
                  <a:pt x="33670" y="568251"/>
                  <a:pt x="0" y="822251"/>
                </a:cubicBezTo>
              </a:path>
            </a:pathLst>
          </a:custGeom>
          <a:noFill/>
          <a:ln w="19050">
            <a:solidFill>
              <a:srgbClr val="7030A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37" name="文本框 136">
            <a:extLst>
              <a:ext uri="{FF2B5EF4-FFF2-40B4-BE49-F238E27FC236}">
                <a16:creationId xmlns:a16="http://schemas.microsoft.com/office/drawing/2014/main" id="{1217162B-B3BB-482D-B636-86C37B842BE0}"/>
              </a:ext>
            </a:extLst>
          </p:cNvPr>
          <p:cNvSpPr txBox="1"/>
          <p:nvPr/>
        </p:nvSpPr>
        <p:spPr>
          <a:xfrm>
            <a:off x="391760" y="3350316"/>
            <a:ext cx="3511042" cy="3170099"/>
          </a:xfrm>
          <a:prstGeom prst="rect">
            <a:avLst/>
          </a:prstGeom>
          <a:solidFill>
            <a:schemeClr val="bg2"/>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如此表示线路及其冲突关系的数据结构“</a:t>
            </a:r>
            <a:r>
              <a:rPr kumimoji="0" lang="zh-CN" altLang="en-US" sz="2000"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等线" panose="020F0502020204030204"/>
                <a:ea typeface="等线" panose="02010600030101010101" pitchFamily="2" charset="-122"/>
                <a:cs typeface="+mn-cs"/>
              </a:rPr>
              <a:t>图</a:t>
            </a:r>
            <a:r>
              <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”，如何解决交通灯进配置问题呢？</a:t>
            </a:r>
            <a:endParaRPr kumimoji="0" lang="en-US" altLang="zh-CN"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这等价于</a:t>
            </a:r>
            <a:r>
              <a:rPr kumimoji="0" lang="zh-CN" altLang="en-US" sz="20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图的顶点</a:t>
            </a:r>
            <a:r>
              <a:rPr kumimoji="0" lang="zh-CN" altLang="en-US" sz="2000" b="1" i="0" u="none" strike="noStrike" kern="1200" cap="none" spc="0" normalizeH="0" baseline="0" noProof="0" dirty="0">
                <a:ln>
                  <a:noFill/>
                </a:ln>
                <a:solidFill>
                  <a:srgbClr val="C00000"/>
                </a:solidFill>
                <a:effectLst/>
                <a:uLnTx/>
                <a:uFillTx/>
                <a:latin typeface="等线" panose="020F0502020204030204"/>
                <a:ea typeface="等线" panose="02010600030101010101" pitchFamily="2" charset="-122"/>
                <a:cs typeface="+mn-cs"/>
              </a:rPr>
              <a:t>着色</a:t>
            </a:r>
            <a:r>
              <a:rPr kumimoji="0" lang="zh-CN" altLang="en-US" sz="20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问题</a:t>
            </a:r>
            <a:r>
              <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endParaRPr kumimoji="0" lang="en-US" altLang="zh-CN"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rPr>
              <a:t>⑴ </a:t>
            </a:r>
            <a:r>
              <a:rPr kumimoji="0" lang="zh-CN" altLang="en-US" sz="2000" b="0"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rPr>
              <a:t>每个顶点染 </a:t>
            </a:r>
            <a:r>
              <a:rPr kumimoji="0" lang="en-US" altLang="zh-CN" sz="2000" b="1"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rPr>
              <a:t>1 </a:t>
            </a:r>
            <a:r>
              <a:rPr kumimoji="0" lang="zh-CN" altLang="en-US" sz="2000" b="1"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rPr>
              <a:t>种颜色</a:t>
            </a:r>
            <a:r>
              <a:rPr kumimoji="0" lang="zh-CN" altLang="en-US" sz="2000" b="0"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rPr>
              <a:t>；</a:t>
            </a:r>
            <a:endParaRPr kumimoji="0" lang="en-US" altLang="zh-CN" sz="2000" b="0"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rPr>
              <a:t>将对应路口中心交通灯颜色</a:t>
            </a:r>
            <a:endParaRPr kumimoji="0" lang="en-US" altLang="zh-CN" sz="2000" b="0"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rPr>
              <a:t>⑵ </a:t>
            </a:r>
            <a:r>
              <a:rPr kumimoji="0" lang="zh-CN" altLang="en-US" sz="2000" b="0"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rPr>
              <a:t>有线相连的顶点染</a:t>
            </a:r>
            <a:r>
              <a:rPr kumimoji="0" lang="zh-CN" altLang="en-US" sz="2000" b="1"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rPr>
              <a:t>不同色</a:t>
            </a:r>
            <a:r>
              <a:rPr kumimoji="0" lang="zh-CN" altLang="en-US" sz="2000" b="0"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rPr>
              <a:t>；</a:t>
            </a:r>
            <a:endParaRPr kumimoji="0" lang="en-US" altLang="zh-CN" sz="2000" b="0"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rPr>
              <a:t>灯色让不冲突线路同时通行</a:t>
            </a:r>
            <a:endParaRPr kumimoji="0" lang="en-US" altLang="zh-CN" sz="2000" b="0"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rPr>
              <a:t>⑶ </a:t>
            </a:r>
            <a:r>
              <a:rPr kumimoji="0" lang="zh-CN" altLang="en-US" sz="2000" b="0"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rPr>
              <a:t>尽可能用</a:t>
            </a:r>
            <a:r>
              <a:rPr kumimoji="0" lang="zh-CN" altLang="en-US" sz="2000" b="1"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rPr>
              <a:t>最少颜色</a:t>
            </a:r>
            <a:r>
              <a:rPr kumimoji="0" lang="zh-CN" altLang="en-US" sz="2000" b="0"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rPr>
              <a:t>。</a:t>
            </a:r>
            <a:endParaRPr kumimoji="0" lang="en-US" altLang="zh-CN" sz="2000" b="0"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rPr>
              <a:t>使得灯色切换最少，追求效率</a:t>
            </a:r>
            <a:endParaRPr kumimoji="0" lang="en-US" altLang="zh-CN" sz="2000" b="0"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endParaRPr>
          </a:p>
        </p:txBody>
      </p:sp>
      <p:sp>
        <p:nvSpPr>
          <p:cNvPr id="139" name="任意多边形: 形状 138">
            <a:extLst>
              <a:ext uri="{FF2B5EF4-FFF2-40B4-BE49-F238E27FC236}">
                <a16:creationId xmlns:a16="http://schemas.microsoft.com/office/drawing/2014/main" id="{013A28CF-9EE1-4DE2-9F5F-002F5EA7775B}"/>
              </a:ext>
            </a:extLst>
          </p:cNvPr>
          <p:cNvSpPr/>
          <p:nvPr/>
        </p:nvSpPr>
        <p:spPr>
          <a:xfrm>
            <a:off x="5139070" y="3919870"/>
            <a:ext cx="808074" cy="801429"/>
          </a:xfrm>
          <a:custGeom>
            <a:avLst/>
            <a:gdLst>
              <a:gd name="connsiteX0" fmla="*/ 808074 w 808074"/>
              <a:gd name="connsiteY0" fmla="*/ 318977 h 801429"/>
              <a:gd name="connsiteX1" fmla="*/ 474921 w 808074"/>
              <a:gd name="connsiteY1" fmla="*/ 744279 h 801429"/>
              <a:gd name="connsiteX2" fmla="*/ 262270 w 808074"/>
              <a:gd name="connsiteY2" fmla="*/ 715925 h 801429"/>
              <a:gd name="connsiteX3" fmla="*/ 0 w 808074"/>
              <a:gd name="connsiteY3" fmla="*/ 0 h 801429"/>
            </a:gdLst>
            <a:ahLst/>
            <a:cxnLst>
              <a:cxn ang="0">
                <a:pos x="connsiteX0" y="connsiteY0"/>
              </a:cxn>
              <a:cxn ang="0">
                <a:pos x="connsiteX1" y="connsiteY1"/>
              </a:cxn>
              <a:cxn ang="0">
                <a:pos x="connsiteX2" y="connsiteY2"/>
              </a:cxn>
              <a:cxn ang="0">
                <a:pos x="connsiteX3" y="connsiteY3"/>
              </a:cxn>
            </a:cxnLst>
            <a:rect l="l" t="t" r="r" b="b"/>
            <a:pathLst>
              <a:path w="808074" h="801429">
                <a:moveTo>
                  <a:pt x="808074" y="318977"/>
                </a:moveTo>
                <a:cubicBezTo>
                  <a:pt x="686981" y="498549"/>
                  <a:pt x="565888" y="678121"/>
                  <a:pt x="474921" y="744279"/>
                </a:cubicBezTo>
                <a:cubicBezTo>
                  <a:pt x="383954" y="810437"/>
                  <a:pt x="341423" y="839972"/>
                  <a:pt x="262270" y="715925"/>
                </a:cubicBezTo>
                <a:cubicBezTo>
                  <a:pt x="183116" y="591879"/>
                  <a:pt x="91558" y="295939"/>
                  <a:pt x="0" y="0"/>
                </a:cubicBezTo>
              </a:path>
            </a:pathLst>
          </a:custGeom>
          <a:noFill/>
          <a:ln w="19050">
            <a:solidFill>
              <a:srgbClr val="00B05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40" name="任意多边形: 形状 139">
            <a:extLst>
              <a:ext uri="{FF2B5EF4-FFF2-40B4-BE49-F238E27FC236}">
                <a16:creationId xmlns:a16="http://schemas.microsoft.com/office/drawing/2014/main" id="{111C177C-5335-4891-BE5C-E7262A6DD096}"/>
              </a:ext>
            </a:extLst>
          </p:cNvPr>
          <p:cNvSpPr/>
          <p:nvPr/>
        </p:nvSpPr>
        <p:spPr>
          <a:xfrm>
            <a:off x="5960409" y="4543647"/>
            <a:ext cx="376596" cy="751367"/>
          </a:xfrm>
          <a:custGeom>
            <a:avLst/>
            <a:gdLst>
              <a:gd name="connsiteX0" fmla="*/ 241917 w 376596"/>
              <a:gd name="connsiteY0" fmla="*/ 751367 h 751367"/>
              <a:gd name="connsiteX1" fmla="*/ 43442 w 376596"/>
              <a:gd name="connsiteY1" fmla="*/ 609600 h 751367"/>
              <a:gd name="connsiteX2" fmla="*/ 29265 w 376596"/>
              <a:gd name="connsiteY2" fmla="*/ 453655 h 751367"/>
              <a:gd name="connsiteX3" fmla="*/ 376596 w 376596"/>
              <a:gd name="connsiteY3" fmla="*/ 0 h 751367"/>
            </a:gdLst>
            <a:ahLst/>
            <a:cxnLst>
              <a:cxn ang="0">
                <a:pos x="connsiteX0" y="connsiteY0"/>
              </a:cxn>
              <a:cxn ang="0">
                <a:pos x="connsiteX1" y="connsiteY1"/>
              </a:cxn>
              <a:cxn ang="0">
                <a:pos x="connsiteX2" y="connsiteY2"/>
              </a:cxn>
              <a:cxn ang="0">
                <a:pos x="connsiteX3" y="connsiteY3"/>
              </a:cxn>
            </a:cxnLst>
            <a:rect l="l" t="t" r="r" b="b"/>
            <a:pathLst>
              <a:path w="376596" h="751367">
                <a:moveTo>
                  <a:pt x="241917" y="751367"/>
                </a:moveTo>
                <a:cubicBezTo>
                  <a:pt x="160400" y="705293"/>
                  <a:pt x="78884" y="659219"/>
                  <a:pt x="43442" y="609600"/>
                </a:cubicBezTo>
                <a:cubicBezTo>
                  <a:pt x="8000" y="559981"/>
                  <a:pt x="-26261" y="555255"/>
                  <a:pt x="29265" y="453655"/>
                </a:cubicBezTo>
                <a:cubicBezTo>
                  <a:pt x="84791" y="352055"/>
                  <a:pt x="230693" y="176027"/>
                  <a:pt x="376596" y="0"/>
                </a:cubicBezTo>
              </a:path>
            </a:pathLst>
          </a:custGeom>
          <a:noFill/>
          <a:ln w="19050">
            <a:solidFill>
              <a:srgbClr val="00B05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42" name="任意多边形: 形状 141">
            <a:extLst>
              <a:ext uri="{FF2B5EF4-FFF2-40B4-BE49-F238E27FC236}">
                <a16:creationId xmlns:a16="http://schemas.microsoft.com/office/drawing/2014/main" id="{5BE836D5-751F-4C2D-BFB5-A05FCB5FA06F}"/>
              </a:ext>
            </a:extLst>
          </p:cNvPr>
          <p:cNvSpPr/>
          <p:nvPr/>
        </p:nvSpPr>
        <p:spPr>
          <a:xfrm>
            <a:off x="4990214" y="4167963"/>
            <a:ext cx="630865" cy="1453116"/>
          </a:xfrm>
          <a:custGeom>
            <a:avLst/>
            <a:gdLst>
              <a:gd name="connsiteX0" fmla="*/ 630865 w 630865"/>
              <a:gd name="connsiteY0" fmla="*/ 1453116 h 1453116"/>
              <a:gd name="connsiteX1" fmla="*/ 255181 w 630865"/>
              <a:gd name="connsiteY1" fmla="*/ 652130 h 1453116"/>
              <a:gd name="connsiteX2" fmla="*/ 0 w 630865"/>
              <a:gd name="connsiteY2" fmla="*/ 0 h 1453116"/>
            </a:gdLst>
            <a:ahLst/>
            <a:cxnLst>
              <a:cxn ang="0">
                <a:pos x="connsiteX0" y="connsiteY0"/>
              </a:cxn>
              <a:cxn ang="0">
                <a:pos x="connsiteX1" y="connsiteY1"/>
              </a:cxn>
              <a:cxn ang="0">
                <a:pos x="connsiteX2" y="connsiteY2"/>
              </a:cxn>
            </a:cxnLst>
            <a:rect l="l" t="t" r="r" b="b"/>
            <a:pathLst>
              <a:path w="630865" h="1453116">
                <a:moveTo>
                  <a:pt x="630865" y="1453116"/>
                </a:moveTo>
                <a:cubicBezTo>
                  <a:pt x="495595" y="1173716"/>
                  <a:pt x="360325" y="894316"/>
                  <a:pt x="255181" y="652130"/>
                </a:cubicBezTo>
                <a:cubicBezTo>
                  <a:pt x="150037" y="409944"/>
                  <a:pt x="75018" y="204972"/>
                  <a:pt x="0" y="0"/>
                </a:cubicBezTo>
              </a:path>
            </a:pathLst>
          </a:custGeom>
          <a:noFill/>
          <a:ln w="19050">
            <a:solidFill>
              <a:srgbClr val="00B05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44" name="任意多边形: 形状 143">
            <a:extLst>
              <a:ext uri="{FF2B5EF4-FFF2-40B4-BE49-F238E27FC236}">
                <a16:creationId xmlns:a16="http://schemas.microsoft.com/office/drawing/2014/main" id="{25ED2759-CC82-4EA3-ADFD-75C3FBAE931A}"/>
              </a:ext>
            </a:extLst>
          </p:cNvPr>
          <p:cNvSpPr/>
          <p:nvPr/>
        </p:nvSpPr>
        <p:spPr>
          <a:xfrm>
            <a:off x="4430233" y="5046921"/>
            <a:ext cx="804042" cy="730102"/>
          </a:xfrm>
          <a:custGeom>
            <a:avLst/>
            <a:gdLst>
              <a:gd name="connsiteX0" fmla="*/ 0 w 804042"/>
              <a:gd name="connsiteY0" fmla="*/ 0 h 730102"/>
              <a:gd name="connsiteX1" fmla="*/ 531627 w 804042"/>
              <a:gd name="connsiteY1" fmla="*/ 184298 h 730102"/>
              <a:gd name="connsiteX2" fmla="*/ 772632 w 804042"/>
              <a:gd name="connsiteY2" fmla="*/ 411126 h 730102"/>
              <a:gd name="connsiteX3" fmla="*/ 793897 w 804042"/>
              <a:gd name="connsiteY3" fmla="*/ 730102 h 730102"/>
            </a:gdLst>
            <a:ahLst/>
            <a:cxnLst>
              <a:cxn ang="0">
                <a:pos x="connsiteX0" y="connsiteY0"/>
              </a:cxn>
              <a:cxn ang="0">
                <a:pos x="connsiteX1" y="connsiteY1"/>
              </a:cxn>
              <a:cxn ang="0">
                <a:pos x="connsiteX2" y="connsiteY2"/>
              </a:cxn>
              <a:cxn ang="0">
                <a:pos x="connsiteX3" y="connsiteY3"/>
              </a:cxn>
            </a:cxnLst>
            <a:rect l="l" t="t" r="r" b="b"/>
            <a:pathLst>
              <a:path w="804042" h="730102">
                <a:moveTo>
                  <a:pt x="0" y="0"/>
                </a:moveTo>
                <a:cubicBezTo>
                  <a:pt x="201427" y="57888"/>
                  <a:pt x="402855" y="115777"/>
                  <a:pt x="531627" y="184298"/>
                </a:cubicBezTo>
                <a:cubicBezTo>
                  <a:pt x="660399" y="252819"/>
                  <a:pt x="728920" y="320159"/>
                  <a:pt x="772632" y="411126"/>
                </a:cubicBezTo>
                <a:cubicBezTo>
                  <a:pt x="816344" y="502093"/>
                  <a:pt x="805120" y="616097"/>
                  <a:pt x="793897" y="730102"/>
                </a:cubicBezTo>
              </a:path>
            </a:pathLst>
          </a:custGeom>
          <a:noFill/>
          <a:ln w="19050">
            <a:solidFill>
              <a:srgbClr val="00B05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45" name="椭圆 144">
            <a:extLst>
              <a:ext uri="{FF2B5EF4-FFF2-40B4-BE49-F238E27FC236}">
                <a16:creationId xmlns:a16="http://schemas.microsoft.com/office/drawing/2014/main" id="{69D9C70A-5C27-400C-878F-5205ADB62935}"/>
              </a:ext>
            </a:extLst>
          </p:cNvPr>
          <p:cNvSpPr/>
          <p:nvPr/>
        </p:nvSpPr>
        <p:spPr>
          <a:xfrm>
            <a:off x="5312826" y="4950063"/>
            <a:ext cx="252000" cy="252000"/>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等线" panose="020F0502020204030204"/>
                <a:ea typeface="等线" panose="02010600030101010101" pitchFamily="2" charset="-122"/>
                <a:cs typeface="+mn-cs"/>
              </a:rPr>
              <a:t>1</a:t>
            </a:r>
            <a:endParaRPr kumimoji="0" lang="zh-CN" altLang="en-US" sz="1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等线" panose="020F0502020204030204"/>
              <a:ea typeface="等线" panose="02010600030101010101" pitchFamily="2" charset="-122"/>
              <a:cs typeface="+mn-cs"/>
            </a:endParaRPr>
          </a:p>
        </p:txBody>
      </p:sp>
      <p:sp>
        <p:nvSpPr>
          <p:cNvPr id="146" name="任意多边形: 形状 145">
            <a:extLst>
              <a:ext uri="{FF2B5EF4-FFF2-40B4-BE49-F238E27FC236}">
                <a16:creationId xmlns:a16="http://schemas.microsoft.com/office/drawing/2014/main" id="{6DFDFB6C-12D3-4B76-BCD7-AA71162A4E13}"/>
              </a:ext>
            </a:extLst>
          </p:cNvPr>
          <p:cNvSpPr/>
          <p:nvPr/>
        </p:nvSpPr>
        <p:spPr>
          <a:xfrm>
            <a:off x="4527030" y="4616970"/>
            <a:ext cx="1499016" cy="771994"/>
          </a:xfrm>
          <a:custGeom>
            <a:avLst/>
            <a:gdLst>
              <a:gd name="connsiteX0" fmla="*/ 1499016 w 1499016"/>
              <a:gd name="connsiteY0" fmla="*/ 771994 h 771994"/>
              <a:gd name="connsiteX1" fmla="*/ 831954 w 1499016"/>
              <a:gd name="connsiteY1" fmla="*/ 299804 h 771994"/>
              <a:gd name="connsiteX2" fmla="*/ 599606 w 1499016"/>
              <a:gd name="connsiteY2" fmla="*/ 179882 h 771994"/>
              <a:gd name="connsiteX3" fmla="*/ 0 w 1499016"/>
              <a:gd name="connsiteY3" fmla="*/ 0 h 771994"/>
            </a:gdLst>
            <a:ahLst/>
            <a:cxnLst>
              <a:cxn ang="0">
                <a:pos x="connsiteX0" y="connsiteY0"/>
              </a:cxn>
              <a:cxn ang="0">
                <a:pos x="connsiteX1" y="connsiteY1"/>
              </a:cxn>
              <a:cxn ang="0">
                <a:pos x="connsiteX2" y="connsiteY2"/>
              </a:cxn>
              <a:cxn ang="0">
                <a:pos x="connsiteX3" y="connsiteY3"/>
              </a:cxn>
            </a:cxnLst>
            <a:rect l="l" t="t" r="r" b="b"/>
            <a:pathLst>
              <a:path w="1499016" h="771994">
                <a:moveTo>
                  <a:pt x="1499016" y="771994"/>
                </a:moveTo>
                <a:cubicBezTo>
                  <a:pt x="1240436" y="585241"/>
                  <a:pt x="981856" y="398489"/>
                  <a:pt x="831954" y="299804"/>
                </a:cubicBezTo>
                <a:cubicBezTo>
                  <a:pt x="682052" y="201119"/>
                  <a:pt x="738265" y="229849"/>
                  <a:pt x="599606" y="179882"/>
                </a:cubicBezTo>
                <a:cubicBezTo>
                  <a:pt x="460947" y="129915"/>
                  <a:pt x="230473" y="64957"/>
                  <a:pt x="0" y="0"/>
                </a:cubicBezTo>
              </a:path>
            </a:pathLst>
          </a:custGeom>
          <a:noFill/>
          <a:ln w="19050">
            <a:solidFill>
              <a:srgbClr val="C0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2" name="任意多边形: 形状 21">
            <a:extLst>
              <a:ext uri="{FF2B5EF4-FFF2-40B4-BE49-F238E27FC236}">
                <a16:creationId xmlns:a16="http://schemas.microsoft.com/office/drawing/2014/main" id="{BCEED479-0DB7-FE38-4D12-F69B4162360B}"/>
              </a:ext>
            </a:extLst>
          </p:cNvPr>
          <p:cNvSpPr/>
          <p:nvPr/>
        </p:nvSpPr>
        <p:spPr>
          <a:xfrm>
            <a:off x="9522542" y="3647768"/>
            <a:ext cx="1538748" cy="2433484"/>
          </a:xfrm>
          <a:custGeom>
            <a:avLst/>
            <a:gdLst>
              <a:gd name="connsiteX0" fmla="*/ 1538748 w 1538748"/>
              <a:gd name="connsiteY0" fmla="*/ 0 h 2433484"/>
              <a:gd name="connsiteX1" fmla="*/ 1268361 w 1538748"/>
              <a:gd name="connsiteY1" fmla="*/ 943897 h 2433484"/>
              <a:gd name="connsiteX2" fmla="*/ 1012723 w 1538748"/>
              <a:gd name="connsiteY2" fmla="*/ 1538748 h 2433484"/>
              <a:gd name="connsiteX3" fmla="*/ 693174 w 1538748"/>
              <a:gd name="connsiteY3" fmla="*/ 1966451 h 2433484"/>
              <a:gd name="connsiteX4" fmla="*/ 0 w 1538748"/>
              <a:gd name="connsiteY4" fmla="*/ 2433484 h 2433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8748" h="2433484">
                <a:moveTo>
                  <a:pt x="1538748" y="0"/>
                </a:moveTo>
                <a:cubicBezTo>
                  <a:pt x="1447390" y="343719"/>
                  <a:pt x="1356032" y="687439"/>
                  <a:pt x="1268361" y="943897"/>
                </a:cubicBezTo>
                <a:cubicBezTo>
                  <a:pt x="1180690" y="1200355"/>
                  <a:pt x="1108587" y="1368322"/>
                  <a:pt x="1012723" y="1538748"/>
                </a:cubicBezTo>
                <a:cubicBezTo>
                  <a:pt x="916859" y="1709174"/>
                  <a:pt x="861961" y="1817328"/>
                  <a:pt x="693174" y="1966451"/>
                </a:cubicBezTo>
                <a:cubicBezTo>
                  <a:pt x="524387" y="2115574"/>
                  <a:pt x="262193" y="2274529"/>
                  <a:pt x="0" y="2433484"/>
                </a:cubicBezTo>
              </a:path>
            </a:pathLst>
          </a:custGeom>
          <a:noFill/>
          <a:ln w="28575">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 name="灯片编号占位符 1">
            <a:extLst>
              <a:ext uri="{FF2B5EF4-FFF2-40B4-BE49-F238E27FC236}">
                <a16:creationId xmlns:a16="http://schemas.microsoft.com/office/drawing/2014/main" id="{D3E8C32B-2E4E-830C-C7E9-7FA08B39FB86}"/>
              </a:ext>
            </a:extLst>
          </p:cNvPr>
          <p:cNvSpPr>
            <a:spLocks noGrp="1"/>
          </p:cNvSpPr>
          <p:nvPr>
            <p:ph type="sldNum" sz="quarter" idx="12"/>
          </p:nvPr>
        </p:nvSpPr>
        <p:spPr/>
        <p:txBody>
          <a:bodyPr/>
          <a:lstStyle/>
          <a:p>
            <a:fld id="{D7C0FE0B-717B-41AE-9FA2-CA4BF851D1C3}" type="slidenum">
              <a:rPr lang="zh-CN" altLang="en-US" smtClean="0"/>
              <a:t>27</a:t>
            </a:fld>
            <a:endParaRPr lang="zh-CN" altLang="en-US"/>
          </a:p>
        </p:txBody>
      </p:sp>
    </p:spTree>
    <p:extLst>
      <p:ext uri="{BB962C8B-B14F-4D97-AF65-F5344CB8AC3E}">
        <p14:creationId xmlns:p14="http://schemas.microsoft.com/office/powerpoint/2010/main" val="2822929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7"/>
                                        </p:tgtEl>
                                        <p:attrNameLst>
                                          <p:attrName>style.visibility</p:attrName>
                                        </p:attrNameLst>
                                      </p:cBhvr>
                                      <p:to>
                                        <p:strVal val="visible"/>
                                      </p:to>
                                    </p:set>
                                    <p:animEffect transition="in" filter="fade">
                                      <p:cBhvr>
                                        <p:cTn id="7" dur="1000"/>
                                        <p:tgtEl>
                                          <p:spTgt spid="117"/>
                                        </p:tgtEl>
                                      </p:cBhvr>
                                    </p:animEffect>
                                    <p:anim calcmode="lin" valueType="num">
                                      <p:cBhvr>
                                        <p:cTn id="8" dur="1000" fill="hold"/>
                                        <p:tgtEl>
                                          <p:spTgt spid="117"/>
                                        </p:tgtEl>
                                        <p:attrNameLst>
                                          <p:attrName>ppt_x</p:attrName>
                                        </p:attrNameLst>
                                      </p:cBhvr>
                                      <p:tavLst>
                                        <p:tav tm="0">
                                          <p:val>
                                            <p:strVal val="#ppt_x"/>
                                          </p:val>
                                        </p:tav>
                                        <p:tav tm="100000">
                                          <p:val>
                                            <p:strVal val="#ppt_x"/>
                                          </p:val>
                                        </p:tav>
                                      </p:tavLst>
                                    </p:anim>
                                    <p:anim calcmode="lin" valueType="num">
                                      <p:cBhvr>
                                        <p:cTn id="9" dur="1000" fill="hold"/>
                                        <p:tgtEl>
                                          <p:spTgt spid="1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grpId="0" nodeType="clickEffect">
                                  <p:stCondLst>
                                    <p:cond delay="0"/>
                                  </p:stCondLst>
                                  <p:childTnLst>
                                    <p:set>
                                      <p:cBhvr>
                                        <p:cTn id="13" dur="1" fill="hold">
                                          <p:stCondLst>
                                            <p:cond delay="0"/>
                                          </p:stCondLst>
                                        </p:cTn>
                                        <p:tgtEl>
                                          <p:spTgt spid="104">
                                            <p:bg/>
                                          </p:spTgt>
                                        </p:tgtEl>
                                        <p:attrNameLst>
                                          <p:attrName>style.visibility</p:attrName>
                                        </p:attrNameLst>
                                      </p:cBhvr>
                                      <p:to>
                                        <p:strVal val="visible"/>
                                      </p:to>
                                    </p:set>
                                    <p:animEffect transition="in" filter="wipe(up)">
                                      <p:cBhvr>
                                        <p:cTn id="14" dur="500"/>
                                        <p:tgtEl>
                                          <p:spTgt spid="104">
                                            <p:bg/>
                                          </p:spTgt>
                                        </p:tgtEl>
                                      </p:cBhvr>
                                    </p:animEffect>
                                  </p:childTnLst>
                                </p:cTn>
                              </p:par>
                              <p:par>
                                <p:cTn id="15" presetID="22" presetClass="entr" presetSubtype="1" fill="hold" grpId="0" nodeType="withEffect">
                                  <p:stCondLst>
                                    <p:cond delay="0"/>
                                  </p:stCondLst>
                                  <p:childTnLst>
                                    <p:set>
                                      <p:cBhvr>
                                        <p:cTn id="16" dur="1" fill="hold">
                                          <p:stCondLst>
                                            <p:cond delay="0"/>
                                          </p:stCondLst>
                                        </p:cTn>
                                        <p:tgtEl>
                                          <p:spTgt spid="104">
                                            <p:txEl>
                                              <p:pRg st="0" end="0"/>
                                            </p:txEl>
                                          </p:spTgt>
                                        </p:tgtEl>
                                        <p:attrNameLst>
                                          <p:attrName>style.visibility</p:attrName>
                                        </p:attrNameLst>
                                      </p:cBhvr>
                                      <p:to>
                                        <p:strVal val="visible"/>
                                      </p:to>
                                    </p:set>
                                    <p:animEffect transition="in" filter="wipe(up)">
                                      <p:cBhvr>
                                        <p:cTn id="17" dur="500"/>
                                        <p:tgtEl>
                                          <p:spTgt spid="10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1" presetClass="entr" presetSubtype="0" fill="hold" grpId="0" nodeType="clickEffect">
                                  <p:stCondLst>
                                    <p:cond delay="0"/>
                                  </p:stCondLst>
                                  <p:childTnLst>
                                    <p:set>
                                      <p:cBhvr>
                                        <p:cTn id="21" dur="1" fill="hold">
                                          <p:stCondLst>
                                            <p:cond delay="0"/>
                                          </p:stCondLst>
                                        </p:cTn>
                                        <p:tgtEl>
                                          <p:spTgt spid="83"/>
                                        </p:tgtEl>
                                        <p:attrNameLst>
                                          <p:attrName>style.visibility</p:attrName>
                                        </p:attrNameLst>
                                      </p:cBhvr>
                                      <p:to>
                                        <p:strVal val="visible"/>
                                      </p:to>
                                    </p:set>
                                    <p:anim calcmode="lin" valueType="num">
                                      <p:cBhvr>
                                        <p:cTn id="22" dur="1000" fill="hold"/>
                                        <p:tgtEl>
                                          <p:spTgt spid="83"/>
                                        </p:tgtEl>
                                        <p:attrNameLst>
                                          <p:attrName>ppt_w</p:attrName>
                                        </p:attrNameLst>
                                      </p:cBhvr>
                                      <p:tavLst>
                                        <p:tav tm="0">
                                          <p:val>
                                            <p:fltVal val="0"/>
                                          </p:val>
                                        </p:tav>
                                        <p:tav tm="100000">
                                          <p:val>
                                            <p:strVal val="#ppt_w"/>
                                          </p:val>
                                        </p:tav>
                                      </p:tavLst>
                                    </p:anim>
                                    <p:anim calcmode="lin" valueType="num">
                                      <p:cBhvr>
                                        <p:cTn id="23" dur="1000" fill="hold"/>
                                        <p:tgtEl>
                                          <p:spTgt spid="83"/>
                                        </p:tgtEl>
                                        <p:attrNameLst>
                                          <p:attrName>ppt_h</p:attrName>
                                        </p:attrNameLst>
                                      </p:cBhvr>
                                      <p:tavLst>
                                        <p:tav tm="0">
                                          <p:val>
                                            <p:fltVal val="0"/>
                                          </p:val>
                                        </p:tav>
                                        <p:tav tm="100000">
                                          <p:val>
                                            <p:strVal val="#ppt_h"/>
                                          </p:val>
                                        </p:tav>
                                      </p:tavLst>
                                    </p:anim>
                                    <p:anim calcmode="lin" valueType="num">
                                      <p:cBhvr>
                                        <p:cTn id="24" dur="1000" fill="hold"/>
                                        <p:tgtEl>
                                          <p:spTgt spid="83"/>
                                        </p:tgtEl>
                                        <p:attrNameLst>
                                          <p:attrName>style.rotation</p:attrName>
                                        </p:attrNameLst>
                                      </p:cBhvr>
                                      <p:tavLst>
                                        <p:tav tm="0">
                                          <p:val>
                                            <p:fltVal val="90"/>
                                          </p:val>
                                        </p:tav>
                                        <p:tav tm="100000">
                                          <p:val>
                                            <p:fltVal val="0"/>
                                          </p:val>
                                        </p:tav>
                                      </p:tavLst>
                                    </p:anim>
                                    <p:animEffect transition="in" filter="fade">
                                      <p:cBhvr>
                                        <p:cTn id="25" dur="1000"/>
                                        <p:tgtEl>
                                          <p:spTgt spid="83"/>
                                        </p:tgtEl>
                                      </p:cBhvr>
                                    </p:animEffect>
                                  </p:childTnLst>
                                </p:cTn>
                              </p:par>
                              <p:par>
                                <p:cTn id="26" presetID="31" presetClass="entr" presetSubtype="0" fill="hold" grpId="0" nodeType="withEffect">
                                  <p:stCondLst>
                                    <p:cond delay="0"/>
                                  </p:stCondLst>
                                  <p:childTnLst>
                                    <p:set>
                                      <p:cBhvr>
                                        <p:cTn id="27" dur="1" fill="hold">
                                          <p:stCondLst>
                                            <p:cond delay="0"/>
                                          </p:stCondLst>
                                        </p:cTn>
                                        <p:tgtEl>
                                          <p:spTgt spid="85"/>
                                        </p:tgtEl>
                                        <p:attrNameLst>
                                          <p:attrName>style.visibility</p:attrName>
                                        </p:attrNameLst>
                                      </p:cBhvr>
                                      <p:to>
                                        <p:strVal val="visible"/>
                                      </p:to>
                                    </p:set>
                                    <p:anim calcmode="lin" valueType="num">
                                      <p:cBhvr>
                                        <p:cTn id="28" dur="1000" fill="hold"/>
                                        <p:tgtEl>
                                          <p:spTgt spid="85"/>
                                        </p:tgtEl>
                                        <p:attrNameLst>
                                          <p:attrName>ppt_w</p:attrName>
                                        </p:attrNameLst>
                                      </p:cBhvr>
                                      <p:tavLst>
                                        <p:tav tm="0">
                                          <p:val>
                                            <p:fltVal val="0"/>
                                          </p:val>
                                        </p:tav>
                                        <p:tav tm="100000">
                                          <p:val>
                                            <p:strVal val="#ppt_w"/>
                                          </p:val>
                                        </p:tav>
                                      </p:tavLst>
                                    </p:anim>
                                    <p:anim calcmode="lin" valueType="num">
                                      <p:cBhvr>
                                        <p:cTn id="29" dur="1000" fill="hold"/>
                                        <p:tgtEl>
                                          <p:spTgt spid="85"/>
                                        </p:tgtEl>
                                        <p:attrNameLst>
                                          <p:attrName>ppt_h</p:attrName>
                                        </p:attrNameLst>
                                      </p:cBhvr>
                                      <p:tavLst>
                                        <p:tav tm="0">
                                          <p:val>
                                            <p:fltVal val="0"/>
                                          </p:val>
                                        </p:tav>
                                        <p:tav tm="100000">
                                          <p:val>
                                            <p:strVal val="#ppt_h"/>
                                          </p:val>
                                        </p:tav>
                                      </p:tavLst>
                                    </p:anim>
                                    <p:anim calcmode="lin" valueType="num">
                                      <p:cBhvr>
                                        <p:cTn id="30" dur="1000" fill="hold"/>
                                        <p:tgtEl>
                                          <p:spTgt spid="85"/>
                                        </p:tgtEl>
                                        <p:attrNameLst>
                                          <p:attrName>style.rotation</p:attrName>
                                        </p:attrNameLst>
                                      </p:cBhvr>
                                      <p:tavLst>
                                        <p:tav tm="0">
                                          <p:val>
                                            <p:fltVal val="90"/>
                                          </p:val>
                                        </p:tav>
                                        <p:tav tm="100000">
                                          <p:val>
                                            <p:fltVal val="0"/>
                                          </p:val>
                                        </p:tav>
                                      </p:tavLst>
                                    </p:anim>
                                    <p:animEffect transition="in" filter="fade">
                                      <p:cBhvr>
                                        <p:cTn id="31" dur="1000"/>
                                        <p:tgtEl>
                                          <p:spTgt spid="85"/>
                                        </p:tgtEl>
                                      </p:cBhvr>
                                    </p:animEffect>
                                  </p:childTnLst>
                                </p:cTn>
                              </p:par>
                              <p:par>
                                <p:cTn id="32" presetID="31" presetClass="entr" presetSubtype="0" fill="hold" grpId="0" nodeType="withEffect">
                                  <p:stCondLst>
                                    <p:cond delay="0"/>
                                  </p:stCondLst>
                                  <p:childTnLst>
                                    <p:set>
                                      <p:cBhvr>
                                        <p:cTn id="33" dur="1" fill="hold">
                                          <p:stCondLst>
                                            <p:cond delay="0"/>
                                          </p:stCondLst>
                                        </p:cTn>
                                        <p:tgtEl>
                                          <p:spTgt spid="86"/>
                                        </p:tgtEl>
                                        <p:attrNameLst>
                                          <p:attrName>style.visibility</p:attrName>
                                        </p:attrNameLst>
                                      </p:cBhvr>
                                      <p:to>
                                        <p:strVal val="visible"/>
                                      </p:to>
                                    </p:set>
                                    <p:anim calcmode="lin" valueType="num">
                                      <p:cBhvr>
                                        <p:cTn id="34" dur="1000" fill="hold"/>
                                        <p:tgtEl>
                                          <p:spTgt spid="86"/>
                                        </p:tgtEl>
                                        <p:attrNameLst>
                                          <p:attrName>ppt_w</p:attrName>
                                        </p:attrNameLst>
                                      </p:cBhvr>
                                      <p:tavLst>
                                        <p:tav tm="0">
                                          <p:val>
                                            <p:fltVal val="0"/>
                                          </p:val>
                                        </p:tav>
                                        <p:tav tm="100000">
                                          <p:val>
                                            <p:strVal val="#ppt_w"/>
                                          </p:val>
                                        </p:tav>
                                      </p:tavLst>
                                    </p:anim>
                                    <p:anim calcmode="lin" valueType="num">
                                      <p:cBhvr>
                                        <p:cTn id="35" dur="1000" fill="hold"/>
                                        <p:tgtEl>
                                          <p:spTgt spid="86"/>
                                        </p:tgtEl>
                                        <p:attrNameLst>
                                          <p:attrName>ppt_h</p:attrName>
                                        </p:attrNameLst>
                                      </p:cBhvr>
                                      <p:tavLst>
                                        <p:tav tm="0">
                                          <p:val>
                                            <p:fltVal val="0"/>
                                          </p:val>
                                        </p:tav>
                                        <p:tav tm="100000">
                                          <p:val>
                                            <p:strVal val="#ppt_h"/>
                                          </p:val>
                                        </p:tav>
                                      </p:tavLst>
                                    </p:anim>
                                    <p:anim calcmode="lin" valueType="num">
                                      <p:cBhvr>
                                        <p:cTn id="36" dur="1000" fill="hold"/>
                                        <p:tgtEl>
                                          <p:spTgt spid="86"/>
                                        </p:tgtEl>
                                        <p:attrNameLst>
                                          <p:attrName>style.rotation</p:attrName>
                                        </p:attrNameLst>
                                      </p:cBhvr>
                                      <p:tavLst>
                                        <p:tav tm="0">
                                          <p:val>
                                            <p:fltVal val="90"/>
                                          </p:val>
                                        </p:tav>
                                        <p:tav tm="100000">
                                          <p:val>
                                            <p:fltVal val="0"/>
                                          </p:val>
                                        </p:tav>
                                      </p:tavLst>
                                    </p:anim>
                                    <p:animEffect transition="in" filter="fade">
                                      <p:cBhvr>
                                        <p:cTn id="37" dur="1000"/>
                                        <p:tgtEl>
                                          <p:spTgt spid="86"/>
                                        </p:tgtEl>
                                      </p:cBhvr>
                                    </p:animEffect>
                                  </p:childTnLst>
                                </p:cTn>
                              </p:par>
                              <p:par>
                                <p:cTn id="38" presetID="31" presetClass="entr" presetSubtype="0" fill="hold" grpId="0" nodeType="withEffect">
                                  <p:stCondLst>
                                    <p:cond delay="0"/>
                                  </p:stCondLst>
                                  <p:childTnLst>
                                    <p:set>
                                      <p:cBhvr>
                                        <p:cTn id="39" dur="1" fill="hold">
                                          <p:stCondLst>
                                            <p:cond delay="0"/>
                                          </p:stCondLst>
                                        </p:cTn>
                                        <p:tgtEl>
                                          <p:spTgt spid="87"/>
                                        </p:tgtEl>
                                        <p:attrNameLst>
                                          <p:attrName>style.visibility</p:attrName>
                                        </p:attrNameLst>
                                      </p:cBhvr>
                                      <p:to>
                                        <p:strVal val="visible"/>
                                      </p:to>
                                    </p:set>
                                    <p:anim calcmode="lin" valueType="num">
                                      <p:cBhvr>
                                        <p:cTn id="40" dur="1000" fill="hold"/>
                                        <p:tgtEl>
                                          <p:spTgt spid="87"/>
                                        </p:tgtEl>
                                        <p:attrNameLst>
                                          <p:attrName>ppt_w</p:attrName>
                                        </p:attrNameLst>
                                      </p:cBhvr>
                                      <p:tavLst>
                                        <p:tav tm="0">
                                          <p:val>
                                            <p:fltVal val="0"/>
                                          </p:val>
                                        </p:tav>
                                        <p:tav tm="100000">
                                          <p:val>
                                            <p:strVal val="#ppt_w"/>
                                          </p:val>
                                        </p:tav>
                                      </p:tavLst>
                                    </p:anim>
                                    <p:anim calcmode="lin" valueType="num">
                                      <p:cBhvr>
                                        <p:cTn id="41" dur="1000" fill="hold"/>
                                        <p:tgtEl>
                                          <p:spTgt spid="87"/>
                                        </p:tgtEl>
                                        <p:attrNameLst>
                                          <p:attrName>ppt_h</p:attrName>
                                        </p:attrNameLst>
                                      </p:cBhvr>
                                      <p:tavLst>
                                        <p:tav tm="0">
                                          <p:val>
                                            <p:fltVal val="0"/>
                                          </p:val>
                                        </p:tav>
                                        <p:tav tm="100000">
                                          <p:val>
                                            <p:strVal val="#ppt_h"/>
                                          </p:val>
                                        </p:tav>
                                      </p:tavLst>
                                    </p:anim>
                                    <p:anim calcmode="lin" valueType="num">
                                      <p:cBhvr>
                                        <p:cTn id="42" dur="1000" fill="hold"/>
                                        <p:tgtEl>
                                          <p:spTgt spid="87"/>
                                        </p:tgtEl>
                                        <p:attrNameLst>
                                          <p:attrName>style.rotation</p:attrName>
                                        </p:attrNameLst>
                                      </p:cBhvr>
                                      <p:tavLst>
                                        <p:tav tm="0">
                                          <p:val>
                                            <p:fltVal val="90"/>
                                          </p:val>
                                        </p:tav>
                                        <p:tav tm="100000">
                                          <p:val>
                                            <p:fltVal val="0"/>
                                          </p:val>
                                        </p:tav>
                                      </p:tavLst>
                                    </p:anim>
                                    <p:animEffect transition="in" filter="fade">
                                      <p:cBhvr>
                                        <p:cTn id="43" dur="1000"/>
                                        <p:tgtEl>
                                          <p:spTgt spid="87"/>
                                        </p:tgtEl>
                                      </p:cBhvr>
                                    </p:animEffect>
                                  </p:childTnLst>
                                </p:cTn>
                              </p:par>
                              <p:par>
                                <p:cTn id="44" presetID="31" presetClass="entr" presetSubtype="0" fill="hold" grpId="0" nodeType="withEffect">
                                  <p:stCondLst>
                                    <p:cond delay="0"/>
                                  </p:stCondLst>
                                  <p:childTnLst>
                                    <p:set>
                                      <p:cBhvr>
                                        <p:cTn id="45" dur="1" fill="hold">
                                          <p:stCondLst>
                                            <p:cond delay="0"/>
                                          </p:stCondLst>
                                        </p:cTn>
                                        <p:tgtEl>
                                          <p:spTgt spid="84"/>
                                        </p:tgtEl>
                                        <p:attrNameLst>
                                          <p:attrName>style.visibility</p:attrName>
                                        </p:attrNameLst>
                                      </p:cBhvr>
                                      <p:to>
                                        <p:strVal val="visible"/>
                                      </p:to>
                                    </p:set>
                                    <p:anim calcmode="lin" valueType="num">
                                      <p:cBhvr>
                                        <p:cTn id="46" dur="1000" fill="hold"/>
                                        <p:tgtEl>
                                          <p:spTgt spid="84"/>
                                        </p:tgtEl>
                                        <p:attrNameLst>
                                          <p:attrName>ppt_w</p:attrName>
                                        </p:attrNameLst>
                                      </p:cBhvr>
                                      <p:tavLst>
                                        <p:tav tm="0">
                                          <p:val>
                                            <p:fltVal val="0"/>
                                          </p:val>
                                        </p:tav>
                                        <p:tav tm="100000">
                                          <p:val>
                                            <p:strVal val="#ppt_w"/>
                                          </p:val>
                                        </p:tav>
                                      </p:tavLst>
                                    </p:anim>
                                    <p:anim calcmode="lin" valueType="num">
                                      <p:cBhvr>
                                        <p:cTn id="47" dur="1000" fill="hold"/>
                                        <p:tgtEl>
                                          <p:spTgt spid="84"/>
                                        </p:tgtEl>
                                        <p:attrNameLst>
                                          <p:attrName>ppt_h</p:attrName>
                                        </p:attrNameLst>
                                      </p:cBhvr>
                                      <p:tavLst>
                                        <p:tav tm="0">
                                          <p:val>
                                            <p:fltVal val="0"/>
                                          </p:val>
                                        </p:tav>
                                        <p:tav tm="100000">
                                          <p:val>
                                            <p:strVal val="#ppt_h"/>
                                          </p:val>
                                        </p:tav>
                                      </p:tavLst>
                                    </p:anim>
                                    <p:anim calcmode="lin" valueType="num">
                                      <p:cBhvr>
                                        <p:cTn id="48" dur="1000" fill="hold"/>
                                        <p:tgtEl>
                                          <p:spTgt spid="84"/>
                                        </p:tgtEl>
                                        <p:attrNameLst>
                                          <p:attrName>style.rotation</p:attrName>
                                        </p:attrNameLst>
                                      </p:cBhvr>
                                      <p:tavLst>
                                        <p:tav tm="0">
                                          <p:val>
                                            <p:fltVal val="90"/>
                                          </p:val>
                                        </p:tav>
                                        <p:tav tm="100000">
                                          <p:val>
                                            <p:fltVal val="0"/>
                                          </p:val>
                                        </p:tav>
                                      </p:tavLst>
                                    </p:anim>
                                    <p:animEffect transition="in" filter="fade">
                                      <p:cBhvr>
                                        <p:cTn id="49" dur="1000"/>
                                        <p:tgtEl>
                                          <p:spTgt spid="84"/>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1" fill="hold" grpId="0" nodeType="clickEffect">
                                  <p:stCondLst>
                                    <p:cond delay="0"/>
                                  </p:stCondLst>
                                  <p:childTnLst>
                                    <p:set>
                                      <p:cBhvr>
                                        <p:cTn id="53" dur="1" fill="hold">
                                          <p:stCondLst>
                                            <p:cond delay="0"/>
                                          </p:stCondLst>
                                        </p:cTn>
                                        <p:tgtEl>
                                          <p:spTgt spid="104">
                                            <p:txEl>
                                              <p:pRg st="1" end="1"/>
                                            </p:txEl>
                                          </p:spTgt>
                                        </p:tgtEl>
                                        <p:attrNameLst>
                                          <p:attrName>style.visibility</p:attrName>
                                        </p:attrNameLst>
                                      </p:cBhvr>
                                      <p:to>
                                        <p:strVal val="visible"/>
                                      </p:to>
                                    </p:set>
                                    <p:animEffect transition="in" filter="wipe(up)">
                                      <p:cBhvr>
                                        <p:cTn id="54" dur="500"/>
                                        <p:tgtEl>
                                          <p:spTgt spid="104">
                                            <p:txEl>
                                              <p:pRg st="1" end="1"/>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4" fill="hold" nodeType="clickEffect">
                                  <p:stCondLst>
                                    <p:cond delay="0"/>
                                  </p:stCondLst>
                                  <p:childTnLst>
                                    <p:set>
                                      <p:cBhvr>
                                        <p:cTn id="58" dur="1" fill="hold">
                                          <p:stCondLst>
                                            <p:cond delay="0"/>
                                          </p:stCondLst>
                                        </p:cTn>
                                        <p:tgtEl>
                                          <p:spTgt spid="79"/>
                                        </p:tgtEl>
                                        <p:attrNameLst>
                                          <p:attrName>style.visibility</p:attrName>
                                        </p:attrNameLst>
                                      </p:cBhvr>
                                      <p:to>
                                        <p:strVal val="visible"/>
                                      </p:to>
                                    </p:set>
                                    <p:animEffect transition="in" filter="wipe(down)">
                                      <p:cBhvr>
                                        <p:cTn id="59" dur="1500"/>
                                        <p:tgtEl>
                                          <p:spTgt spid="79"/>
                                        </p:tgtEl>
                                      </p:cBhvr>
                                    </p:animEffect>
                                  </p:childTnLst>
                                </p:cTn>
                              </p:par>
                              <p:par>
                                <p:cTn id="60" presetID="22" presetClass="entr" presetSubtype="4" fill="hold" nodeType="withEffect">
                                  <p:stCondLst>
                                    <p:cond delay="0"/>
                                  </p:stCondLst>
                                  <p:childTnLst>
                                    <p:set>
                                      <p:cBhvr>
                                        <p:cTn id="61" dur="1" fill="hold">
                                          <p:stCondLst>
                                            <p:cond delay="0"/>
                                          </p:stCondLst>
                                        </p:cTn>
                                        <p:tgtEl>
                                          <p:spTgt spid="81"/>
                                        </p:tgtEl>
                                        <p:attrNameLst>
                                          <p:attrName>style.visibility</p:attrName>
                                        </p:attrNameLst>
                                      </p:cBhvr>
                                      <p:to>
                                        <p:strVal val="visible"/>
                                      </p:to>
                                    </p:set>
                                    <p:animEffect transition="in" filter="wipe(down)">
                                      <p:cBhvr>
                                        <p:cTn id="62" dur="1500"/>
                                        <p:tgtEl>
                                          <p:spTgt spid="81"/>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grpId="0" nodeType="clickEffect">
                                  <p:stCondLst>
                                    <p:cond delay="0"/>
                                  </p:stCondLst>
                                  <p:childTnLst>
                                    <p:set>
                                      <p:cBhvr>
                                        <p:cTn id="66" dur="1" fill="hold">
                                          <p:stCondLst>
                                            <p:cond delay="0"/>
                                          </p:stCondLst>
                                        </p:cTn>
                                        <p:tgtEl>
                                          <p:spTgt spid="104">
                                            <p:txEl>
                                              <p:pRg st="2" end="2"/>
                                            </p:txEl>
                                          </p:spTgt>
                                        </p:tgtEl>
                                        <p:attrNameLst>
                                          <p:attrName>style.visibility</p:attrName>
                                        </p:attrNameLst>
                                      </p:cBhvr>
                                      <p:to>
                                        <p:strVal val="visible"/>
                                      </p:to>
                                    </p:set>
                                    <p:animEffect transition="in" filter="wipe(up)">
                                      <p:cBhvr>
                                        <p:cTn id="67" dur="500"/>
                                        <p:tgtEl>
                                          <p:spTgt spid="104">
                                            <p:txEl>
                                              <p:pRg st="2" end="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92"/>
                                        </p:tgtEl>
                                        <p:attrNameLst>
                                          <p:attrName>style.visibility</p:attrName>
                                        </p:attrNameLst>
                                      </p:cBhvr>
                                      <p:to>
                                        <p:strVal val="visible"/>
                                      </p:to>
                                    </p:set>
                                    <p:animEffect transition="in" filter="wipe(left)">
                                      <p:cBhvr>
                                        <p:cTn id="72" dur="500"/>
                                        <p:tgtEl>
                                          <p:spTgt spid="92"/>
                                        </p:tgtEl>
                                      </p:cBhvr>
                                    </p:animEffect>
                                  </p:childTnLst>
                                </p:cTn>
                              </p:par>
                            </p:childTnLst>
                          </p:cTn>
                        </p:par>
                        <p:par>
                          <p:cTn id="73" fill="hold">
                            <p:stCondLst>
                              <p:cond delay="500"/>
                            </p:stCondLst>
                            <p:childTnLst>
                              <p:par>
                                <p:cTn id="74" presetID="22" presetClass="entr" presetSubtype="8" fill="hold" grpId="0" nodeType="afterEffect">
                                  <p:stCondLst>
                                    <p:cond delay="0"/>
                                  </p:stCondLst>
                                  <p:childTnLst>
                                    <p:set>
                                      <p:cBhvr>
                                        <p:cTn id="75" dur="1" fill="hold">
                                          <p:stCondLst>
                                            <p:cond delay="0"/>
                                          </p:stCondLst>
                                        </p:cTn>
                                        <p:tgtEl>
                                          <p:spTgt spid="96"/>
                                        </p:tgtEl>
                                        <p:attrNameLst>
                                          <p:attrName>style.visibility</p:attrName>
                                        </p:attrNameLst>
                                      </p:cBhvr>
                                      <p:to>
                                        <p:strVal val="visible"/>
                                      </p:to>
                                    </p:set>
                                    <p:animEffect transition="in" filter="wipe(left)">
                                      <p:cBhvr>
                                        <p:cTn id="76" dur="500"/>
                                        <p:tgtEl>
                                          <p:spTgt spid="96"/>
                                        </p:tgtEl>
                                      </p:cBhvr>
                                    </p:animEffect>
                                  </p:childTnLst>
                                </p:cTn>
                              </p:par>
                            </p:childTnLst>
                          </p:cTn>
                        </p:par>
                        <p:par>
                          <p:cTn id="77" fill="hold">
                            <p:stCondLst>
                              <p:cond delay="1000"/>
                            </p:stCondLst>
                            <p:childTnLst>
                              <p:par>
                                <p:cTn id="78" presetID="22" presetClass="entr" presetSubtype="8" fill="hold" grpId="0" nodeType="afterEffect">
                                  <p:stCondLst>
                                    <p:cond delay="0"/>
                                  </p:stCondLst>
                                  <p:childTnLst>
                                    <p:set>
                                      <p:cBhvr>
                                        <p:cTn id="79" dur="1" fill="hold">
                                          <p:stCondLst>
                                            <p:cond delay="0"/>
                                          </p:stCondLst>
                                        </p:cTn>
                                        <p:tgtEl>
                                          <p:spTgt spid="97"/>
                                        </p:tgtEl>
                                        <p:attrNameLst>
                                          <p:attrName>style.visibility</p:attrName>
                                        </p:attrNameLst>
                                      </p:cBhvr>
                                      <p:to>
                                        <p:strVal val="visible"/>
                                      </p:to>
                                    </p:set>
                                    <p:animEffect transition="in" filter="wipe(left)">
                                      <p:cBhvr>
                                        <p:cTn id="80" dur="500"/>
                                        <p:tgtEl>
                                          <p:spTgt spid="97"/>
                                        </p:tgtEl>
                                      </p:cBhvr>
                                    </p:animEffect>
                                  </p:childTnLst>
                                </p:cTn>
                              </p:par>
                            </p:childTnLst>
                          </p:cTn>
                        </p:par>
                        <p:par>
                          <p:cTn id="81" fill="hold">
                            <p:stCondLst>
                              <p:cond delay="1500"/>
                            </p:stCondLst>
                            <p:childTnLst>
                              <p:par>
                                <p:cTn id="82" presetID="22" presetClass="entr" presetSubtype="8" fill="hold" grpId="0" nodeType="afterEffect">
                                  <p:stCondLst>
                                    <p:cond delay="0"/>
                                  </p:stCondLst>
                                  <p:childTnLst>
                                    <p:set>
                                      <p:cBhvr>
                                        <p:cTn id="83" dur="1" fill="hold">
                                          <p:stCondLst>
                                            <p:cond delay="0"/>
                                          </p:stCondLst>
                                        </p:cTn>
                                        <p:tgtEl>
                                          <p:spTgt spid="90"/>
                                        </p:tgtEl>
                                        <p:attrNameLst>
                                          <p:attrName>style.visibility</p:attrName>
                                        </p:attrNameLst>
                                      </p:cBhvr>
                                      <p:to>
                                        <p:strVal val="visible"/>
                                      </p:to>
                                    </p:set>
                                    <p:animEffect transition="in" filter="wipe(left)">
                                      <p:cBhvr>
                                        <p:cTn id="84" dur="500"/>
                                        <p:tgtEl>
                                          <p:spTgt spid="90"/>
                                        </p:tgtEl>
                                      </p:cBhvr>
                                    </p:animEffect>
                                  </p:childTnLst>
                                </p:cTn>
                              </p:par>
                            </p:childTnLst>
                          </p:cTn>
                        </p:par>
                        <p:par>
                          <p:cTn id="85" fill="hold">
                            <p:stCondLst>
                              <p:cond delay="2000"/>
                            </p:stCondLst>
                            <p:childTnLst>
                              <p:par>
                                <p:cTn id="86" presetID="22" presetClass="entr" presetSubtype="8" fill="hold" grpId="0" nodeType="afterEffect">
                                  <p:stCondLst>
                                    <p:cond delay="0"/>
                                  </p:stCondLst>
                                  <p:childTnLst>
                                    <p:set>
                                      <p:cBhvr>
                                        <p:cTn id="87" dur="1" fill="hold">
                                          <p:stCondLst>
                                            <p:cond delay="0"/>
                                          </p:stCondLst>
                                        </p:cTn>
                                        <p:tgtEl>
                                          <p:spTgt spid="95"/>
                                        </p:tgtEl>
                                        <p:attrNameLst>
                                          <p:attrName>style.visibility</p:attrName>
                                        </p:attrNameLst>
                                      </p:cBhvr>
                                      <p:to>
                                        <p:strVal val="visible"/>
                                      </p:to>
                                    </p:set>
                                    <p:animEffect transition="in" filter="wipe(left)">
                                      <p:cBhvr>
                                        <p:cTn id="88" dur="500"/>
                                        <p:tgtEl>
                                          <p:spTgt spid="95"/>
                                        </p:tgtEl>
                                      </p:cBhvr>
                                    </p:animEffect>
                                  </p:childTnLst>
                                </p:cTn>
                              </p:par>
                            </p:childTnLst>
                          </p:cTn>
                        </p:par>
                        <p:par>
                          <p:cTn id="89" fill="hold">
                            <p:stCondLst>
                              <p:cond delay="2500"/>
                            </p:stCondLst>
                            <p:childTnLst>
                              <p:par>
                                <p:cTn id="90" presetID="22" presetClass="entr" presetSubtype="8" fill="hold" grpId="0" nodeType="afterEffect">
                                  <p:stCondLst>
                                    <p:cond delay="0"/>
                                  </p:stCondLst>
                                  <p:childTnLst>
                                    <p:set>
                                      <p:cBhvr>
                                        <p:cTn id="91" dur="1" fill="hold">
                                          <p:stCondLst>
                                            <p:cond delay="0"/>
                                          </p:stCondLst>
                                        </p:cTn>
                                        <p:tgtEl>
                                          <p:spTgt spid="94"/>
                                        </p:tgtEl>
                                        <p:attrNameLst>
                                          <p:attrName>style.visibility</p:attrName>
                                        </p:attrNameLst>
                                      </p:cBhvr>
                                      <p:to>
                                        <p:strVal val="visible"/>
                                      </p:to>
                                    </p:set>
                                    <p:animEffect transition="in" filter="wipe(left)">
                                      <p:cBhvr>
                                        <p:cTn id="92" dur="500"/>
                                        <p:tgtEl>
                                          <p:spTgt spid="94"/>
                                        </p:tgtEl>
                                      </p:cBhvr>
                                    </p:animEffect>
                                  </p:childTnLst>
                                </p:cTn>
                              </p:par>
                            </p:childTnLst>
                          </p:cTn>
                        </p:par>
                        <p:par>
                          <p:cTn id="93" fill="hold">
                            <p:stCondLst>
                              <p:cond delay="3000"/>
                            </p:stCondLst>
                            <p:childTnLst>
                              <p:par>
                                <p:cTn id="94" presetID="22" presetClass="entr" presetSubtype="8" fill="hold" grpId="0" nodeType="afterEffect">
                                  <p:stCondLst>
                                    <p:cond delay="0"/>
                                  </p:stCondLst>
                                  <p:childTnLst>
                                    <p:set>
                                      <p:cBhvr>
                                        <p:cTn id="95" dur="1" fill="hold">
                                          <p:stCondLst>
                                            <p:cond delay="0"/>
                                          </p:stCondLst>
                                        </p:cTn>
                                        <p:tgtEl>
                                          <p:spTgt spid="102"/>
                                        </p:tgtEl>
                                        <p:attrNameLst>
                                          <p:attrName>style.visibility</p:attrName>
                                        </p:attrNameLst>
                                      </p:cBhvr>
                                      <p:to>
                                        <p:strVal val="visible"/>
                                      </p:to>
                                    </p:set>
                                    <p:animEffect transition="in" filter="wipe(left)">
                                      <p:cBhvr>
                                        <p:cTn id="96" dur="500"/>
                                        <p:tgtEl>
                                          <p:spTgt spid="102"/>
                                        </p:tgtEl>
                                      </p:cBhvr>
                                    </p:animEffect>
                                  </p:childTnLst>
                                </p:cTn>
                              </p:par>
                            </p:childTnLst>
                          </p:cTn>
                        </p:par>
                        <p:par>
                          <p:cTn id="97" fill="hold">
                            <p:stCondLst>
                              <p:cond delay="3500"/>
                            </p:stCondLst>
                            <p:childTnLst>
                              <p:par>
                                <p:cTn id="98" presetID="22" presetClass="entr" presetSubtype="8" fill="hold" grpId="0" nodeType="afterEffect">
                                  <p:stCondLst>
                                    <p:cond delay="0"/>
                                  </p:stCondLst>
                                  <p:childTnLst>
                                    <p:set>
                                      <p:cBhvr>
                                        <p:cTn id="99" dur="1" fill="hold">
                                          <p:stCondLst>
                                            <p:cond delay="0"/>
                                          </p:stCondLst>
                                        </p:cTn>
                                        <p:tgtEl>
                                          <p:spTgt spid="93"/>
                                        </p:tgtEl>
                                        <p:attrNameLst>
                                          <p:attrName>style.visibility</p:attrName>
                                        </p:attrNameLst>
                                      </p:cBhvr>
                                      <p:to>
                                        <p:strVal val="visible"/>
                                      </p:to>
                                    </p:set>
                                    <p:animEffect transition="in" filter="wipe(left)">
                                      <p:cBhvr>
                                        <p:cTn id="100" dur="500"/>
                                        <p:tgtEl>
                                          <p:spTgt spid="93"/>
                                        </p:tgtEl>
                                      </p:cBhvr>
                                    </p:animEffect>
                                  </p:childTnLst>
                                </p:cTn>
                              </p:par>
                            </p:childTnLst>
                          </p:cTn>
                        </p:par>
                        <p:par>
                          <p:cTn id="101" fill="hold">
                            <p:stCondLst>
                              <p:cond delay="4000"/>
                            </p:stCondLst>
                            <p:childTnLst>
                              <p:par>
                                <p:cTn id="102" presetID="22" presetClass="entr" presetSubtype="8" fill="hold" grpId="0" nodeType="afterEffect">
                                  <p:stCondLst>
                                    <p:cond delay="0"/>
                                  </p:stCondLst>
                                  <p:childTnLst>
                                    <p:set>
                                      <p:cBhvr>
                                        <p:cTn id="103" dur="1" fill="hold">
                                          <p:stCondLst>
                                            <p:cond delay="0"/>
                                          </p:stCondLst>
                                        </p:cTn>
                                        <p:tgtEl>
                                          <p:spTgt spid="91"/>
                                        </p:tgtEl>
                                        <p:attrNameLst>
                                          <p:attrName>style.visibility</p:attrName>
                                        </p:attrNameLst>
                                      </p:cBhvr>
                                      <p:to>
                                        <p:strVal val="visible"/>
                                      </p:to>
                                    </p:set>
                                    <p:animEffect transition="in" filter="wipe(left)">
                                      <p:cBhvr>
                                        <p:cTn id="104" dur="500"/>
                                        <p:tgtEl>
                                          <p:spTgt spid="91"/>
                                        </p:tgtEl>
                                      </p:cBhvr>
                                    </p:animEffect>
                                  </p:childTnLst>
                                </p:cTn>
                              </p:par>
                              <p:par>
                                <p:cTn id="105" presetID="22" presetClass="entr" presetSubtype="8" fill="hold" grpId="0" nodeType="withEffect">
                                  <p:stCondLst>
                                    <p:cond delay="0"/>
                                  </p:stCondLst>
                                  <p:childTnLst>
                                    <p:set>
                                      <p:cBhvr>
                                        <p:cTn id="106" dur="1" fill="hold">
                                          <p:stCondLst>
                                            <p:cond delay="0"/>
                                          </p:stCondLst>
                                        </p:cTn>
                                        <p:tgtEl>
                                          <p:spTgt spid="98"/>
                                        </p:tgtEl>
                                        <p:attrNameLst>
                                          <p:attrName>style.visibility</p:attrName>
                                        </p:attrNameLst>
                                      </p:cBhvr>
                                      <p:to>
                                        <p:strVal val="visible"/>
                                      </p:to>
                                    </p:set>
                                    <p:animEffect transition="in" filter="wipe(left)">
                                      <p:cBhvr>
                                        <p:cTn id="107" dur="500"/>
                                        <p:tgtEl>
                                          <p:spTgt spid="98"/>
                                        </p:tgtEl>
                                      </p:cBhvr>
                                    </p:animEffect>
                                  </p:childTnLst>
                                </p:cTn>
                              </p:par>
                              <p:par>
                                <p:cTn id="108" presetID="22" presetClass="entr" presetSubtype="8" fill="hold" grpId="0" nodeType="withEffect">
                                  <p:stCondLst>
                                    <p:cond delay="0"/>
                                  </p:stCondLst>
                                  <p:childTnLst>
                                    <p:set>
                                      <p:cBhvr>
                                        <p:cTn id="109" dur="1" fill="hold">
                                          <p:stCondLst>
                                            <p:cond delay="0"/>
                                          </p:stCondLst>
                                        </p:cTn>
                                        <p:tgtEl>
                                          <p:spTgt spid="99"/>
                                        </p:tgtEl>
                                        <p:attrNameLst>
                                          <p:attrName>style.visibility</p:attrName>
                                        </p:attrNameLst>
                                      </p:cBhvr>
                                      <p:to>
                                        <p:strVal val="visible"/>
                                      </p:to>
                                    </p:set>
                                    <p:animEffect transition="in" filter="wipe(left)">
                                      <p:cBhvr>
                                        <p:cTn id="110" dur="500"/>
                                        <p:tgtEl>
                                          <p:spTgt spid="99"/>
                                        </p:tgtEl>
                                      </p:cBhvr>
                                    </p:animEffect>
                                  </p:childTnLst>
                                </p:cTn>
                              </p:par>
                              <p:par>
                                <p:cTn id="111" presetID="22" presetClass="entr" presetSubtype="8" fill="hold" grpId="0" nodeType="withEffect">
                                  <p:stCondLst>
                                    <p:cond delay="0"/>
                                  </p:stCondLst>
                                  <p:childTnLst>
                                    <p:set>
                                      <p:cBhvr>
                                        <p:cTn id="112" dur="1" fill="hold">
                                          <p:stCondLst>
                                            <p:cond delay="0"/>
                                          </p:stCondLst>
                                        </p:cTn>
                                        <p:tgtEl>
                                          <p:spTgt spid="100"/>
                                        </p:tgtEl>
                                        <p:attrNameLst>
                                          <p:attrName>style.visibility</p:attrName>
                                        </p:attrNameLst>
                                      </p:cBhvr>
                                      <p:to>
                                        <p:strVal val="visible"/>
                                      </p:to>
                                    </p:set>
                                    <p:animEffect transition="in" filter="wipe(left)">
                                      <p:cBhvr>
                                        <p:cTn id="113" dur="500"/>
                                        <p:tgtEl>
                                          <p:spTgt spid="100"/>
                                        </p:tgtEl>
                                      </p:cBhvr>
                                    </p:animEffect>
                                  </p:childTnLst>
                                </p:cTn>
                              </p:par>
                              <p:par>
                                <p:cTn id="114" presetID="22" presetClass="entr" presetSubtype="8" fill="hold" grpId="0" nodeType="withEffect">
                                  <p:stCondLst>
                                    <p:cond delay="0"/>
                                  </p:stCondLst>
                                  <p:childTnLst>
                                    <p:set>
                                      <p:cBhvr>
                                        <p:cTn id="115" dur="1" fill="hold">
                                          <p:stCondLst>
                                            <p:cond delay="0"/>
                                          </p:stCondLst>
                                        </p:cTn>
                                        <p:tgtEl>
                                          <p:spTgt spid="101"/>
                                        </p:tgtEl>
                                        <p:attrNameLst>
                                          <p:attrName>style.visibility</p:attrName>
                                        </p:attrNameLst>
                                      </p:cBhvr>
                                      <p:to>
                                        <p:strVal val="visible"/>
                                      </p:to>
                                    </p:set>
                                    <p:animEffect transition="in" filter="wipe(left)">
                                      <p:cBhvr>
                                        <p:cTn id="116" dur="500"/>
                                        <p:tgtEl>
                                          <p:spTgt spid="101"/>
                                        </p:tgtEl>
                                      </p:cBhvr>
                                    </p:animEffect>
                                  </p:childTnLst>
                                </p:cTn>
                              </p:par>
                              <p:par>
                                <p:cTn id="117" presetID="22" presetClass="entr" presetSubtype="1" fill="hold" grpId="0" nodeType="withEffect">
                                  <p:stCondLst>
                                    <p:cond delay="0"/>
                                  </p:stCondLst>
                                  <p:childTnLst>
                                    <p:set>
                                      <p:cBhvr>
                                        <p:cTn id="118" dur="1" fill="hold">
                                          <p:stCondLst>
                                            <p:cond delay="0"/>
                                          </p:stCondLst>
                                        </p:cTn>
                                        <p:tgtEl>
                                          <p:spTgt spid="104">
                                            <p:txEl>
                                              <p:pRg st="3" end="3"/>
                                            </p:txEl>
                                          </p:spTgt>
                                        </p:tgtEl>
                                        <p:attrNameLst>
                                          <p:attrName>style.visibility</p:attrName>
                                        </p:attrNameLst>
                                      </p:cBhvr>
                                      <p:to>
                                        <p:strVal val="visible"/>
                                      </p:to>
                                    </p:set>
                                    <p:animEffect transition="in" filter="wipe(up)">
                                      <p:cBhvr>
                                        <p:cTn id="119" dur="500"/>
                                        <p:tgtEl>
                                          <p:spTgt spid="104">
                                            <p:txEl>
                                              <p:pRg st="3" end="3"/>
                                            </p:txEl>
                                          </p:spTgt>
                                        </p:tgtEl>
                                      </p:cBhvr>
                                    </p:animEffect>
                                  </p:childTnLst>
                                </p:cTn>
                              </p:par>
                            </p:childTnLst>
                          </p:cTn>
                        </p:par>
                      </p:childTnLst>
                    </p:cTn>
                  </p:par>
                  <p:par>
                    <p:cTn id="120" fill="hold">
                      <p:stCondLst>
                        <p:cond delay="indefinite"/>
                      </p:stCondLst>
                      <p:childTnLst>
                        <p:par>
                          <p:cTn id="121" fill="hold">
                            <p:stCondLst>
                              <p:cond delay="0"/>
                            </p:stCondLst>
                            <p:childTnLst>
                              <p:par>
                                <p:cTn id="122" presetID="22" presetClass="entr" presetSubtype="1" fill="hold" grpId="0" nodeType="clickEffect">
                                  <p:stCondLst>
                                    <p:cond delay="0"/>
                                  </p:stCondLst>
                                  <p:childTnLst>
                                    <p:set>
                                      <p:cBhvr>
                                        <p:cTn id="123" dur="1" fill="hold">
                                          <p:stCondLst>
                                            <p:cond delay="0"/>
                                          </p:stCondLst>
                                        </p:cTn>
                                        <p:tgtEl>
                                          <p:spTgt spid="104">
                                            <p:txEl>
                                              <p:pRg st="4" end="4"/>
                                            </p:txEl>
                                          </p:spTgt>
                                        </p:tgtEl>
                                        <p:attrNameLst>
                                          <p:attrName>style.visibility</p:attrName>
                                        </p:attrNameLst>
                                      </p:cBhvr>
                                      <p:to>
                                        <p:strVal val="visible"/>
                                      </p:to>
                                    </p:set>
                                    <p:animEffect transition="in" filter="wipe(up)">
                                      <p:cBhvr>
                                        <p:cTn id="124" dur="500"/>
                                        <p:tgtEl>
                                          <p:spTgt spid="104">
                                            <p:txEl>
                                              <p:pRg st="4" end="4"/>
                                            </p:txEl>
                                          </p:spTgt>
                                        </p:tgtEl>
                                      </p:cBhvr>
                                    </p:animEffect>
                                  </p:childTnLst>
                                </p:cTn>
                              </p:par>
                            </p:childTnLst>
                          </p:cTn>
                        </p:par>
                      </p:childTnLst>
                    </p:cTn>
                  </p:par>
                  <p:par>
                    <p:cTn id="125" fill="hold">
                      <p:stCondLst>
                        <p:cond delay="indefinite"/>
                      </p:stCondLst>
                      <p:childTnLst>
                        <p:par>
                          <p:cTn id="126" fill="hold">
                            <p:stCondLst>
                              <p:cond delay="0"/>
                            </p:stCondLst>
                            <p:childTnLst>
                              <p:par>
                                <p:cTn id="127" presetID="22" presetClass="entr" presetSubtype="4" fill="hold" grpId="0" nodeType="clickEffect">
                                  <p:stCondLst>
                                    <p:cond delay="0"/>
                                  </p:stCondLst>
                                  <p:childTnLst>
                                    <p:set>
                                      <p:cBhvr>
                                        <p:cTn id="128" dur="1" fill="hold">
                                          <p:stCondLst>
                                            <p:cond delay="0"/>
                                          </p:stCondLst>
                                        </p:cTn>
                                        <p:tgtEl>
                                          <p:spTgt spid="110"/>
                                        </p:tgtEl>
                                        <p:attrNameLst>
                                          <p:attrName>style.visibility</p:attrName>
                                        </p:attrNameLst>
                                      </p:cBhvr>
                                      <p:to>
                                        <p:strVal val="visible"/>
                                      </p:to>
                                    </p:set>
                                    <p:animEffect transition="in" filter="wipe(down)">
                                      <p:cBhvr>
                                        <p:cTn id="129" dur="1000"/>
                                        <p:tgtEl>
                                          <p:spTgt spid="110"/>
                                        </p:tgtEl>
                                      </p:cBhvr>
                                    </p:animEffect>
                                  </p:childTnLst>
                                </p:cTn>
                              </p:par>
                            </p:childTnLst>
                          </p:cTn>
                        </p:par>
                        <p:par>
                          <p:cTn id="130" fill="hold">
                            <p:stCondLst>
                              <p:cond delay="1000"/>
                            </p:stCondLst>
                            <p:childTnLst>
                              <p:par>
                                <p:cTn id="131" presetID="22" presetClass="entr" presetSubtype="4" fill="hold" grpId="0" nodeType="afterEffect">
                                  <p:stCondLst>
                                    <p:cond delay="0"/>
                                  </p:stCondLst>
                                  <p:childTnLst>
                                    <p:set>
                                      <p:cBhvr>
                                        <p:cTn id="132" dur="1" fill="hold">
                                          <p:stCondLst>
                                            <p:cond delay="0"/>
                                          </p:stCondLst>
                                        </p:cTn>
                                        <p:tgtEl>
                                          <p:spTgt spid="114"/>
                                        </p:tgtEl>
                                        <p:attrNameLst>
                                          <p:attrName>style.visibility</p:attrName>
                                        </p:attrNameLst>
                                      </p:cBhvr>
                                      <p:to>
                                        <p:strVal val="visible"/>
                                      </p:to>
                                    </p:set>
                                    <p:animEffect transition="in" filter="wipe(down)">
                                      <p:cBhvr>
                                        <p:cTn id="133" dur="1000"/>
                                        <p:tgtEl>
                                          <p:spTgt spid="114"/>
                                        </p:tgtEl>
                                      </p:cBhvr>
                                    </p:animEffect>
                                  </p:childTnLst>
                                </p:cTn>
                              </p:par>
                            </p:childTnLst>
                          </p:cTn>
                        </p:par>
                      </p:childTnLst>
                    </p:cTn>
                  </p:par>
                  <p:par>
                    <p:cTn id="134" fill="hold">
                      <p:stCondLst>
                        <p:cond delay="indefinite"/>
                      </p:stCondLst>
                      <p:childTnLst>
                        <p:par>
                          <p:cTn id="135" fill="hold">
                            <p:stCondLst>
                              <p:cond delay="0"/>
                            </p:stCondLst>
                            <p:childTnLst>
                              <p:par>
                                <p:cTn id="136" presetID="22" presetClass="entr" presetSubtype="2" fill="hold" grpId="0" nodeType="clickEffect">
                                  <p:stCondLst>
                                    <p:cond delay="0"/>
                                  </p:stCondLst>
                                  <p:childTnLst>
                                    <p:set>
                                      <p:cBhvr>
                                        <p:cTn id="137" dur="1" fill="hold">
                                          <p:stCondLst>
                                            <p:cond delay="0"/>
                                          </p:stCondLst>
                                        </p:cTn>
                                        <p:tgtEl>
                                          <p:spTgt spid="146"/>
                                        </p:tgtEl>
                                        <p:attrNameLst>
                                          <p:attrName>style.visibility</p:attrName>
                                        </p:attrNameLst>
                                      </p:cBhvr>
                                      <p:to>
                                        <p:strVal val="visible"/>
                                      </p:to>
                                    </p:set>
                                    <p:animEffect transition="in" filter="wipe(right)">
                                      <p:cBhvr>
                                        <p:cTn id="138" dur="1000"/>
                                        <p:tgtEl>
                                          <p:spTgt spid="146"/>
                                        </p:tgtEl>
                                      </p:cBhvr>
                                    </p:animEffect>
                                  </p:childTnLst>
                                </p:cTn>
                              </p:par>
                            </p:childTnLst>
                          </p:cTn>
                        </p:par>
                        <p:par>
                          <p:cTn id="139" fill="hold">
                            <p:stCondLst>
                              <p:cond delay="1000"/>
                            </p:stCondLst>
                            <p:childTnLst>
                              <p:par>
                                <p:cTn id="140" presetID="22" presetClass="entr" presetSubtype="4" fill="hold" grpId="0" nodeType="afterEffect">
                                  <p:stCondLst>
                                    <p:cond delay="0"/>
                                  </p:stCondLst>
                                  <p:childTnLst>
                                    <p:set>
                                      <p:cBhvr>
                                        <p:cTn id="141" dur="1" fill="hold">
                                          <p:stCondLst>
                                            <p:cond delay="0"/>
                                          </p:stCondLst>
                                        </p:cTn>
                                        <p:tgtEl>
                                          <p:spTgt spid="132"/>
                                        </p:tgtEl>
                                        <p:attrNameLst>
                                          <p:attrName>style.visibility</p:attrName>
                                        </p:attrNameLst>
                                      </p:cBhvr>
                                      <p:to>
                                        <p:strVal val="visible"/>
                                      </p:to>
                                    </p:set>
                                    <p:animEffect transition="in" filter="wipe(down)">
                                      <p:cBhvr>
                                        <p:cTn id="142" dur="1000"/>
                                        <p:tgtEl>
                                          <p:spTgt spid="132"/>
                                        </p:tgtEl>
                                      </p:cBhvr>
                                    </p:animEffect>
                                  </p:childTnLst>
                                </p:cTn>
                              </p:par>
                            </p:childTnLst>
                          </p:cTn>
                        </p:par>
                      </p:childTnLst>
                    </p:cTn>
                  </p:par>
                  <p:par>
                    <p:cTn id="143" fill="hold">
                      <p:stCondLst>
                        <p:cond delay="indefinite"/>
                      </p:stCondLst>
                      <p:childTnLst>
                        <p:par>
                          <p:cTn id="144" fill="hold">
                            <p:stCondLst>
                              <p:cond delay="0"/>
                            </p:stCondLst>
                            <p:childTnLst>
                              <p:par>
                                <p:cTn id="145" presetID="22" presetClass="entr" presetSubtype="1" fill="hold" grpId="0" nodeType="clickEffect">
                                  <p:stCondLst>
                                    <p:cond delay="0"/>
                                  </p:stCondLst>
                                  <p:childTnLst>
                                    <p:set>
                                      <p:cBhvr>
                                        <p:cTn id="146" dur="1" fill="hold">
                                          <p:stCondLst>
                                            <p:cond delay="0"/>
                                          </p:stCondLst>
                                        </p:cTn>
                                        <p:tgtEl>
                                          <p:spTgt spid="104">
                                            <p:txEl>
                                              <p:pRg st="5" end="5"/>
                                            </p:txEl>
                                          </p:spTgt>
                                        </p:tgtEl>
                                        <p:attrNameLst>
                                          <p:attrName>style.visibility</p:attrName>
                                        </p:attrNameLst>
                                      </p:cBhvr>
                                      <p:to>
                                        <p:strVal val="visible"/>
                                      </p:to>
                                    </p:set>
                                    <p:animEffect transition="in" filter="wipe(up)">
                                      <p:cBhvr>
                                        <p:cTn id="147" dur="500"/>
                                        <p:tgtEl>
                                          <p:spTgt spid="104">
                                            <p:txEl>
                                              <p:pRg st="5" end="5"/>
                                            </p:txEl>
                                          </p:spTgt>
                                        </p:tgtEl>
                                      </p:cBhvr>
                                    </p:animEffect>
                                  </p:childTnLst>
                                </p:cTn>
                              </p:par>
                            </p:childTnLst>
                          </p:cTn>
                        </p:par>
                      </p:childTnLst>
                    </p:cTn>
                  </p:par>
                  <p:par>
                    <p:cTn id="148" fill="hold">
                      <p:stCondLst>
                        <p:cond delay="indefinite"/>
                      </p:stCondLst>
                      <p:childTnLst>
                        <p:par>
                          <p:cTn id="149" fill="hold">
                            <p:stCondLst>
                              <p:cond delay="0"/>
                            </p:stCondLst>
                            <p:childTnLst>
                              <p:par>
                                <p:cTn id="150" presetID="22" presetClass="entr" presetSubtype="1" fill="hold" grpId="0" nodeType="clickEffect">
                                  <p:stCondLst>
                                    <p:cond delay="0"/>
                                  </p:stCondLst>
                                  <p:childTnLst>
                                    <p:set>
                                      <p:cBhvr>
                                        <p:cTn id="151" dur="1" fill="hold">
                                          <p:stCondLst>
                                            <p:cond delay="0"/>
                                          </p:stCondLst>
                                        </p:cTn>
                                        <p:tgtEl>
                                          <p:spTgt spid="118">
                                            <p:bg/>
                                          </p:spTgt>
                                        </p:tgtEl>
                                        <p:attrNameLst>
                                          <p:attrName>style.visibility</p:attrName>
                                        </p:attrNameLst>
                                      </p:cBhvr>
                                      <p:to>
                                        <p:strVal val="visible"/>
                                      </p:to>
                                    </p:set>
                                    <p:animEffect transition="in" filter="wipe(up)">
                                      <p:cBhvr>
                                        <p:cTn id="152" dur="500"/>
                                        <p:tgtEl>
                                          <p:spTgt spid="118">
                                            <p:bg/>
                                          </p:spTgt>
                                        </p:tgtEl>
                                      </p:cBhvr>
                                    </p:animEffect>
                                  </p:childTnLst>
                                </p:cTn>
                              </p:par>
                              <p:par>
                                <p:cTn id="153" presetID="22" presetClass="entr" presetSubtype="1" fill="hold" grpId="0" nodeType="withEffect">
                                  <p:stCondLst>
                                    <p:cond delay="0"/>
                                  </p:stCondLst>
                                  <p:childTnLst>
                                    <p:set>
                                      <p:cBhvr>
                                        <p:cTn id="154" dur="1" fill="hold">
                                          <p:stCondLst>
                                            <p:cond delay="0"/>
                                          </p:stCondLst>
                                        </p:cTn>
                                        <p:tgtEl>
                                          <p:spTgt spid="118">
                                            <p:txEl>
                                              <p:pRg st="0" end="0"/>
                                            </p:txEl>
                                          </p:spTgt>
                                        </p:tgtEl>
                                        <p:attrNameLst>
                                          <p:attrName>style.visibility</p:attrName>
                                        </p:attrNameLst>
                                      </p:cBhvr>
                                      <p:to>
                                        <p:strVal val="visible"/>
                                      </p:to>
                                    </p:set>
                                    <p:animEffect transition="in" filter="wipe(up)">
                                      <p:cBhvr>
                                        <p:cTn id="155" dur="500"/>
                                        <p:tgtEl>
                                          <p:spTgt spid="118">
                                            <p:txEl>
                                              <p:pRg st="0" end="0"/>
                                            </p:txEl>
                                          </p:spTgt>
                                        </p:tgtEl>
                                      </p:cBhvr>
                                    </p:animEffect>
                                  </p:childTnLst>
                                </p:cTn>
                              </p:par>
                              <p:par>
                                <p:cTn id="156" presetID="22" presetClass="entr" presetSubtype="1" fill="hold" grpId="0" nodeType="withEffect">
                                  <p:stCondLst>
                                    <p:cond delay="0"/>
                                  </p:stCondLst>
                                  <p:childTnLst>
                                    <p:set>
                                      <p:cBhvr>
                                        <p:cTn id="157" dur="1" fill="hold">
                                          <p:stCondLst>
                                            <p:cond delay="0"/>
                                          </p:stCondLst>
                                        </p:cTn>
                                        <p:tgtEl>
                                          <p:spTgt spid="118">
                                            <p:txEl>
                                              <p:pRg st="1" end="1"/>
                                            </p:txEl>
                                          </p:spTgt>
                                        </p:tgtEl>
                                        <p:attrNameLst>
                                          <p:attrName>style.visibility</p:attrName>
                                        </p:attrNameLst>
                                      </p:cBhvr>
                                      <p:to>
                                        <p:strVal val="visible"/>
                                      </p:to>
                                    </p:set>
                                    <p:animEffect transition="in" filter="wipe(up)">
                                      <p:cBhvr>
                                        <p:cTn id="158" dur="500"/>
                                        <p:tgtEl>
                                          <p:spTgt spid="118">
                                            <p:txEl>
                                              <p:pRg st="1" end="1"/>
                                            </p:txEl>
                                          </p:spTgt>
                                        </p:tgtEl>
                                      </p:cBhvr>
                                    </p:animEffect>
                                  </p:childTnLst>
                                </p:cTn>
                              </p:par>
                            </p:childTnLst>
                          </p:cTn>
                        </p:par>
                      </p:childTnLst>
                    </p:cTn>
                  </p:par>
                  <p:par>
                    <p:cTn id="159" fill="hold">
                      <p:stCondLst>
                        <p:cond delay="indefinite"/>
                      </p:stCondLst>
                      <p:childTnLst>
                        <p:par>
                          <p:cTn id="160" fill="hold">
                            <p:stCondLst>
                              <p:cond delay="0"/>
                            </p:stCondLst>
                            <p:childTnLst>
                              <p:par>
                                <p:cTn id="161" presetID="8" presetClass="emph" presetSubtype="0" fill="hold" grpId="1" nodeType="clickEffect">
                                  <p:stCondLst>
                                    <p:cond delay="0"/>
                                  </p:stCondLst>
                                  <p:childTnLst>
                                    <p:animRot by="21600000">
                                      <p:cBhvr>
                                        <p:cTn id="162" dur="500" fill="hold"/>
                                        <p:tgtEl>
                                          <p:spTgt spid="92"/>
                                        </p:tgtEl>
                                        <p:attrNameLst>
                                          <p:attrName>r</p:attrName>
                                        </p:attrNameLst>
                                      </p:cBhvr>
                                    </p:animRot>
                                  </p:childTnLst>
                                </p:cTn>
                              </p:par>
                              <p:par>
                                <p:cTn id="163" presetID="31" presetClass="entr" presetSubtype="0" fill="hold" grpId="0" nodeType="withEffect">
                                  <p:stCondLst>
                                    <p:cond delay="0"/>
                                  </p:stCondLst>
                                  <p:childTnLst>
                                    <p:set>
                                      <p:cBhvr>
                                        <p:cTn id="164" dur="1" fill="hold">
                                          <p:stCondLst>
                                            <p:cond delay="0"/>
                                          </p:stCondLst>
                                        </p:cTn>
                                        <p:tgtEl>
                                          <p:spTgt spid="4"/>
                                        </p:tgtEl>
                                        <p:attrNameLst>
                                          <p:attrName>style.visibility</p:attrName>
                                        </p:attrNameLst>
                                      </p:cBhvr>
                                      <p:to>
                                        <p:strVal val="visible"/>
                                      </p:to>
                                    </p:set>
                                    <p:anim calcmode="lin" valueType="num">
                                      <p:cBhvr>
                                        <p:cTn id="165" dur="1000" fill="hold"/>
                                        <p:tgtEl>
                                          <p:spTgt spid="4"/>
                                        </p:tgtEl>
                                        <p:attrNameLst>
                                          <p:attrName>ppt_w</p:attrName>
                                        </p:attrNameLst>
                                      </p:cBhvr>
                                      <p:tavLst>
                                        <p:tav tm="0">
                                          <p:val>
                                            <p:fltVal val="0"/>
                                          </p:val>
                                        </p:tav>
                                        <p:tav tm="100000">
                                          <p:val>
                                            <p:strVal val="#ppt_w"/>
                                          </p:val>
                                        </p:tav>
                                      </p:tavLst>
                                    </p:anim>
                                    <p:anim calcmode="lin" valueType="num">
                                      <p:cBhvr>
                                        <p:cTn id="166" dur="1000" fill="hold"/>
                                        <p:tgtEl>
                                          <p:spTgt spid="4"/>
                                        </p:tgtEl>
                                        <p:attrNameLst>
                                          <p:attrName>ppt_h</p:attrName>
                                        </p:attrNameLst>
                                      </p:cBhvr>
                                      <p:tavLst>
                                        <p:tav tm="0">
                                          <p:val>
                                            <p:fltVal val="0"/>
                                          </p:val>
                                        </p:tav>
                                        <p:tav tm="100000">
                                          <p:val>
                                            <p:strVal val="#ppt_h"/>
                                          </p:val>
                                        </p:tav>
                                      </p:tavLst>
                                    </p:anim>
                                    <p:anim calcmode="lin" valueType="num">
                                      <p:cBhvr>
                                        <p:cTn id="167" dur="1000" fill="hold"/>
                                        <p:tgtEl>
                                          <p:spTgt spid="4"/>
                                        </p:tgtEl>
                                        <p:attrNameLst>
                                          <p:attrName>style.rotation</p:attrName>
                                        </p:attrNameLst>
                                      </p:cBhvr>
                                      <p:tavLst>
                                        <p:tav tm="0">
                                          <p:val>
                                            <p:fltVal val="90"/>
                                          </p:val>
                                        </p:tav>
                                        <p:tav tm="100000">
                                          <p:val>
                                            <p:fltVal val="0"/>
                                          </p:val>
                                        </p:tav>
                                      </p:tavLst>
                                    </p:anim>
                                    <p:animEffect transition="in" filter="fade">
                                      <p:cBhvr>
                                        <p:cTn id="168" dur="1000"/>
                                        <p:tgtEl>
                                          <p:spTgt spid="4"/>
                                        </p:tgtEl>
                                      </p:cBhvr>
                                    </p:animEffect>
                                  </p:childTnLst>
                                </p:cTn>
                              </p:par>
                            </p:childTnLst>
                          </p:cTn>
                        </p:par>
                        <p:par>
                          <p:cTn id="169" fill="hold">
                            <p:stCondLst>
                              <p:cond delay="1000"/>
                            </p:stCondLst>
                            <p:childTnLst>
                              <p:par>
                                <p:cTn id="170" presetID="8" presetClass="emph" presetSubtype="0" fill="hold" grpId="1" nodeType="afterEffect">
                                  <p:stCondLst>
                                    <p:cond delay="0"/>
                                  </p:stCondLst>
                                  <p:childTnLst>
                                    <p:animRot by="21600000">
                                      <p:cBhvr>
                                        <p:cTn id="171" dur="500" fill="hold"/>
                                        <p:tgtEl>
                                          <p:spTgt spid="96"/>
                                        </p:tgtEl>
                                        <p:attrNameLst>
                                          <p:attrName>r</p:attrName>
                                        </p:attrNameLst>
                                      </p:cBhvr>
                                    </p:animRot>
                                  </p:childTnLst>
                                </p:cTn>
                              </p:par>
                              <p:par>
                                <p:cTn id="172" presetID="31" presetClass="entr" presetSubtype="0" fill="hold" grpId="0" nodeType="withEffect">
                                  <p:stCondLst>
                                    <p:cond delay="0"/>
                                  </p:stCondLst>
                                  <p:childTnLst>
                                    <p:set>
                                      <p:cBhvr>
                                        <p:cTn id="173" dur="1" fill="hold">
                                          <p:stCondLst>
                                            <p:cond delay="0"/>
                                          </p:stCondLst>
                                        </p:cTn>
                                        <p:tgtEl>
                                          <p:spTgt spid="5"/>
                                        </p:tgtEl>
                                        <p:attrNameLst>
                                          <p:attrName>style.visibility</p:attrName>
                                        </p:attrNameLst>
                                      </p:cBhvr>
                                      <p:to>
                                        <p:strVal val="visible"/>
                                      </p:to>
                                    </p:set>
                                    <p:anim calcmode="lin" valueType="num">
                                      <p:cBhvr>
                                        <p:cTn id="174" dur="1000" fill="hold"/>
                                        <p:tgtEl>
                                          <p:spTgt spid="5"/>
                                        </p:tgtEl>
                                        <p:attrNameLst>
                                          <p:attrName>ppt_w</p:attrName>
                                        </p:attrNameLst>
                                      </p:cBhvr>
                                      <p:tavLst>
                                        <p:tav tm="0">
                                          <p:val>
                                            <p:fltVal val="0"/>
                                          </p:val>
                                        </p:tav>
                                        <p:tav tm="100000">
                                          <p:val>
                                            <p:strVal val="#ppt_w"/>
                                          </p:val>
                                        </p:tav>
                                      </p:tavLst>
                                    </p:anim>
                                    <p:anim calcmode="lin" valueType="num">
                                      <p:cBhvr>
                                        <p:cTn id="175" dur="1000" fill="hold"/>
                                        <p:tgtEl>
                                          <p:spTgt spid="5"/>
                                        </p:tgtEl>
                                        <p:attrNameLst>
                                          <p:attrName>ppt_h</p:attrName>
                                        </p:attrNameLst>
                                      </p:cBhvr>
                                      <p:tavLst>
                                        <p:tav tm="0">
                                          <p:val>
                                            <p:fltVal val="0"/>
                                          </p:val>
                                        </p:tav>
                                        <p:tav tm="100000">
                                          <p:val>
                                            <p:strVal val="#ppt_h"/>
                                          </p:val>
                                        </p:tav>
                                      </p:tavLst>
                                    </p:anim>
                                    <p:anim calcmode="lin" valueType="num">
                                      <p:cBhvr>
                                        <p:cTn id="176" dur="1000" fill="hold"/>
                                        <p:tgtEl>
                                          <p:spTgt spid="5"/>
                                        </p:tgtEl>
                                        <p:attrNameLst>
                                          <p:attrName>style.rotation</p:attrName>
                                        </p:attrNameLst>
                                      </p:cBhvr>
                                      <p:tavLst>
                                        <p:tav tm="0">
                                          <p:val>
                                            <p:fltVal val="90"/>
                                          </p:val>
                                        </p:tav>
                                        <p:tav tm="100000">
                                          <p:val>
                                            <p:fltVal val="0"/>
                                          </p:val>
                                        </p:tav>
                                      </p:tavLst>
                                    </p:anim>
                                    <p:animEffect transition="in" filter="fade">
                                      <p:cBhvr>
                                        <p:cTn id="177" dur="1000"/>
                                        <p:tgtEl>
                                          <p:spTgt spid="5"/>
                                        </p:tgtEl>
                                      </p:cBhvr>
                                    </p:animEffect>
                                  </p:childTnLst>
                                </p:cTn>
                              </p:par>
                            </p:childTnLst>
                          </p:cTn>
                        </p:par>
                        <p:par>
                          <p:cTn id="178" fill="hold">
                            <p:stCondLst>
                              <p:cond delay="2000"/>
                            </p:stCondLst>
                            <p:childTnLst>
                              <p:par>
                                <p:cTn id="179" presetID="8" presetClass="emph" presetSubtype="0" fill="hold" grpId="1" nodeType="afterEffect">
                                  <p:stCondLst>
                                    <p:cond delay="0"/>
                                  </p:stCondLst>
                                  <p:childTnLst>
                                    <p:animRot by="21600000">
                                      <p:cBhvr>
                                        <p:cTn id="180" dur="500" fill="hold"/>
                                        <p:tgtEl>
                                          <p:spTgt spid="97"/>
                                        </p:tgtEl>
                                        <p:attrNameLst>
                                          <p:attrName>r</p:attrName>
                                        </p:attrNameLst>
                                      </p:cBhvr>
                                    </p:animRot>
                                  </p:childTnLst>
                                </p:cTn>
                              </p:par>
                              <p:par>
                                <p:cTn id="181" presetID="31" presetClass="entr" presetSubtype="0" fill="hold" grpId="0" nodeType="withEffect">
                                  <p:stCondLst>
                                    <p:cond delay="0"/>
                                  </p:stCondLst>
                                  <p:childTnLst>
                                    <p:set>
                                      <p:cBhvr>
                                        <p:cTn id="182" dur="1" fill="hold">
                                          <p:stCondLst>
                                            <p:cond delay="0"/>
                                          </p:stCondLst>
                                        </p:cTn>
                                        <p:tgtEl>
                                          <p:spTgt spid="6"/>
                                        </p:tgtEl>
                                        <p:attrNameLst>
                                          <p:attrName>style.visibility</p:attrName>
                                        </p:attrNameLst>
                                      </p:cBhvr>
                                      <p:to>
                                        <p:strVal val="visible"/>
                                      </p:to>
                                    </p:set>
                                    <p:anim calcmode="lin" valueType="num">
                                      <p:cBhvr>
                                        <p:cTn id="183" dur="1000" fill="hold"/>
                                        <p:tgtEl>
                                          <p:spTgt spid="6"/>
                                        </p:tgtEl>
                                        <p:attrNameLst>
                                          <p:attrName>ppt_w</p:attrName>
                                        </p:attrNameLst>
                                      </p:cBhvr>
                                      <p:tavLst>
                                        <p:tav tm="0">
                                          <p:val>
                                            <p:fltVal val="0"/>
                                          </p:val>
                                        </p:tav>
                                        <p:tav tm="100000">
                                          <p:val>
                                            <p:strVal val="#ppt_w"/>
                                          </p:val>
                                        </p:tav>
                                      </p:tavLst>
                                    </p:anim>
                                    <p:anim calcmode="lin" valueType="num">
                                      <p:cBhvr>
                                        <p:cTn id="184" dur="1000" fill="hold"/>
                                        <p:tgtEl>
                                          <p:spTgt spid="6"/>
                                        </p:tgtEl>
                                        <p:attrNameLst>
                                          <p:attrName>ppt_h</p:attrName>
                                        </p:attrNameLst>
                                      </p:cBhvr>
                                      <p:tavLst>
                                        <p:tav tm="0">
                                          <p:val>
                                            <p:fltVal val="0"/>
                                          </p:val>
                                        </p:tav>
                                        <p:tav tm="100000">
                                          <p:val>
                                            <p:strVal val="#ppt_h"/>
                                          </p:val>
                                        </p:tav>
                                      </p:tavLst>
                                    </p:anim>
                                    <p:anim calcmode="lin" valueType="num">
                                      <p:cBhvr>
                                        <p:cTn id="185" dur="1000" fill="hold"/>
                                        <p:tgtEl>
                                          <p:spTgt spid="6"/>
                                        </p:tgtEl>
                                        <p:attrNameLst>
                                          <p:attrName>style.rotation</p:attrName>
                                        </p:attrNameLst>
                                      </p:cBhvr>
                                      <p:tavLst>
                                        <p:tav tm="0">
                                          <p:val>
                                            <p:fltVal val="90"/>
                                          </p:val>
                                        </p:tav>
                                        <p:tav tm="100000">
                                          <p:val>
                                            <p:fltVal val="0"/>
                                          </p:val>
                                        </p:tav>
                                      </p:tavLst>
                                    </p:anim>
                                    <p:animEffect transition="in" filter="fade">
                                      <p:cBhvr>
                                        <p:cTn id="186" dur="1000"/>
                                        <p:tgtEl>
                                          <p:spTgt spid="6"/>
                                        </p:tgtEl>
                                      </p:cBhvr>
                                    </p:animEffect>
                                  </p:childTnLst>
                                </p:cTn>
                              </p:par>
                            </p:childTnLst>
                          </p:cTn>
                        </p:par>
                        <p:par>
                          <p:cTn id="187" fill="hold">
                            <p:stCondLst>
                              <p:cond delay="3000"/>
                            </p:stCondLst>
                            <p:childTnLst>
                              <p:par>
                                <p:cTn id="188" presetID="8" presetClass="emph" presetSubtype="0" fill="hold" grpId="1" nodeType="afterEffect">
                                  <p:stCondLst>
                                    <p:cond delay="0"/>
                                  </p:stCondLst>
                                  <p:childTnLst>
                                    <p:animRot by="21600000">
                                      <p:cBhvr>
                                        <p:cTn id="189" dur="500" fill="hold"/>
                                        <p:tgtEl>
                                          <p:spTgt spid="95"/>
                                        </p:tgtEl>
                                        <p:attrNameLst>
                                          <p:attrName>r</p:attrName>
                                        </p:attrNameLst>
                                      </p:cBhvr>
                                    </p:animRot>
                                  </p:childTnLst>
                                </p:cTn>
                              </p:par>
                              <p:par>
                                <p:cTn id="190" presetID="31" presetClass="entr" presetSubtype="0" fill="hold" grpId="0" nodeType="withEffect">
                                  <p:stCondLst>
                                    <p:cond delay="0"/>
                                  </p:stCondLst>
                                  <p:childTnLst>
                                    <p:set>
                                      <p:cBhvr>
                                        <p:cTn id="191" dur="1" fill="hold">
                                          <p:stCondLst>
                                            <p:cond delay="0"/>
                                          </p:stCondLst>
                                        </p:cTn>
                                        <p:tgtEl>
                                          <p:spTgt spid="7"/>
                                        </p:tgtEl>
                                        <p:attrNameLst>
                                          <p:attrName>style.visibility</p:attrName>
                                        </p:attrNameLst>
                                      </p:cBhvr>
                                      <p:to>
                                        <p:strVal val="visible"/>
                                      </p:to>
                                    </p:set>
                                    <p:anim calcmode="lin" valueType="num">
                                      <p:cBhvr>
                                        <p:cTn id="192" dur="1000" fill="hold"/>
                                        <p:tgtEl>
                                          <p:spTgt spid="7"/>
                                        </p:tgtEl>
                                        <p:attrNameLst>
                                          <p:attrName>ppt_w</p:attrName>
                                        </p:attrNameLst>
                                      </p:cBhvr>
                                      <p:tavLst>
                                        <p:tav tm="0">
                                          <p:val>
                                            <p:fltVal val="0"/>
                                          </p:val>
                                        </p:tav>
                                        <p:tav tm="100000">
                                          <p:val>
                                            <p:strVal val="#ppt_w"/>
                                          </p:val>
                                        </p:tav>
                                      </p:tavLst>
                                    </p:anim>
                                    <p:anim calcmode="lin" valueType="num">
                                      <p:cBhvr>
                                        <p:cTn id="193" dur="1000" fill="hold"/>
                                        <p:tgtEl>
                                          <p:spTgt spid="7"/>
                                        </p:tgtEl>
                                        <p:attrNameLst>
                                          <p:attrName>ppt_h</p:attrName>
                                        </p:attrNameLst>
                                      </p:cBhvr>
                                      <p:tavLst>
                                        <p:tav tm="0">
                                          <p:val>
                                            <p:fltVal val="0"/>
                                          </p:val>
                                        </p:tav>
                                        <p:tav tm="100000">
                                          <p:val>
                                            <p:strVal val="#ppt_h"/>
                                          </p:val>
                                        </p:tav>
                                      </p:tavLst>
                                    </p:anim>
                                    <p:anim calcmode="lin" valueType="num">
                                      <p:cBhvr>
                                        <p:cTn id="194" dur="1000" fill="hold"/>
                                        <p:tgtEl>
                                          <p:spTgt spid="7"/>
                                        </p:tgtEl>
                                        <p:attrNameLst>
                                          <p:attrName>style.rotation</p:attrName>
                                        </p:attrNameLst>
                                      </p:cBhvr>
                                      <p:tavLst>
                                        <p:tav tm="0">
                                          <p:val>
                                            <p:fltVal val="90"/>
                                          </p:val>
                                        </p:tav>
                                        <p:tav tm="100000">
                                          <p:val>
                                            <p:fltVal val="0"/>
                                          </p:val>
                                        </p:tav>
                                      </p:tavLst>
                                    </p:anim>
                                    <p:animEffect transition="in" filter="fade">
                                      <p:cBhvr>
                                        <p:cTn id="195" dur="1000"/>
                                        <p:tgtEl>
                                          <p:spTgt spid="7"/>
                                        </p:tgtEl>
                                      </p:cBhvr>
                                    </p:animEffect>
                                  </p:childTnLst>
                                </p:cTn>
                              </p:par>
                            </p:childTnLst>
                          </p:cTn>
                        </p:par>
                        <p:par>
                          <p:cTn id="196" fill="hold">
                            <p:stCondLst>
                              <p:cond delay="4000"/>
                            </p:stCondLst>
                            <p:childTnLst>
                              <p:par>
                                <p:cTn id="197" presetID="8" presetClass="emph" presetSubtype="0" fill="hold" grpId="1" nodeType="afterEffect">
                                  <p:stCondLst>
                                    <p:cond delay="0"/>
                                  </p:stCondLst>
                                  <p:childTnLst>
                                    <p:animRot by="21600000">
                                      <p:cBhvr>
                                        <p:cTn id="198" dur="500" fill="hold"/>
                                        <p:tgtEl>
                                          <p:spTgt spid="90"/>
                                        </p:tgtEl>
                                        <p:attrNameLst>
                                          <p:attrName>r</p:attrName>
                                        </p:attrNameLst>
                                      </p:cBhvr>
                                    </p:animRot>
                                  </p:childTnLst>
                                </p:cTn>
                              </p:par>
                              <p:par>
                                <p:cTn id="199" presetID="31" presetClass="entr" presetSubtype="0" fill="hold" grpId="0" nodeType="withEffect">
                                  <p:stCondLst>
                                    <p:cond delay="0"/>
                                  </p:stCondLst>
                                  <p:childTnLst>
                                    <p:set>
                                      <p:cBhvr>
                                        <p:cTn id="200" dur="1" fill="hold">
                                          <p:stCondLst>
                                            <p:cond delay="0"/>
                                          </p:stCondLst>
                                        </p:cTn>
                                        <p:tgtEl>
                                          <p:spTgt spid="10"/>
                                        </p:tgtEl>
                                        <p:attrNameLst>
                                          <p:attrName>style.visibility</p:attrName>
                                        </p:attrNameLst>
                                      </p:cBhvr>
                                      <p:to>
                                        <p:strVal val="visible"/>
                                      </p:to>
                                    </p:set>
                                    <p:anim calcmode="lin" valueType="num">
                                      <p:cBhvr>
                                        <p:cTn id="201" dur="1000" fill="hold"/>
                                        <p:tgtEl>
                                          <p:spTgt spid="10"/>
                                        </p:tgtEl>
                                        <p:attrNameLst>
                                          <p:attrName>ppt_w</p:attrName>
                                        </p:attrNameLst>
                                      </p:cBhvr>
                                      <p:tavLst>
                                        <p:tav tm="0">
                                          <p:val>
                                            <p:fltVal val="0"/>
                                          </p:val>
                                        </p:tav>
                                        <p:tav tm="100000">
                                          <p:val>
                                            <p:strVal val="#ppt_w"/>
                                          </p:val>
                                        </p:tav>
                                      </p:tavLst>
                                    </p:anim>
                                    <p:anim calcmode="lin" valueType="num">
                                      <p:cBhvr>
                                        <p:cTn id="202" dur="1000" fill="hold"/>
                                        <p:tgtEl>
                                          <p:spTgt spid="10"/>
                                        </p:tgtEl>
                                        <p:attrNameLst>
                                          <p:attrName>ppt_h</p:attrName>
                                        </p:attrNameLst>
                                      </p:cBhvr>
                                      <p:tavLst>
                                        <p:tav tm="0">
                                          <p:val>
                                            <p:fltVal val="0"/>
                                          </p:val>
                                        </p:tav>
                                        <p:tav tm="100000">
                                          <p:val>
                                            <p:strVal val="#ppt_h"/>
                                          </p:val>
                                        </p:tav>
                                      </p:tavLst>
                                    </p:anim>
                                    <p:anim calcmode="lin" valueType="num">
                                      <p:cBhvr>
                                        <p:cTn id="203" dur="1000" fill="hold"/>
                                        <p:tgtEl>
                                          <p:spTgt spid="10"/>
                                        </p:tgtEl>
                                        <p:attrNameLst>
                                          <p:attrName>style.rotation</p:attrName>
                                        </p:attrNameLst>
                                      </p:cBhvr>
                                      <p:tavLst>
                                        <p:tav tm="0">
                                          <p:val>
                                            <p:fltVal val="90"/>
                                          </p:val>
                                        </p:tav>
                                        <p:tav tm="100000">
                                          <p:val>
                                            <p:fltVal val="0"/>
                                          </p:val>
                                        </p:tav>
                                      </p:tavLst>
                                    </p:anim>
                                    <p:animEffect transition="in" filter="fade">
                                      <p:cBhvr>
                                        <p:cTn id="204" dur="1000"/>
                                        <p:tgtEl>
                                          <p:spTgt spid="10"/>
                                        </p:tgtEl>
                                      </p:cBhvr>
                                    </p:animEffect>
                                  </p:childTnLst>
                                </p:cTn>
                              </p:par>
                            </p:childTnLst>
                          </p:cTn>
                        </p:par>
                        <p:par>
                          <p:cTn id="205" fill="hold">
                            <p:stCondLst>
                              <p:cond delay="5000"/>
                            </p:stCondLst>
                            <p:childTnLst>
                              <p:par>
                                <p:cTn id="206" presetID="8" presetClass="emph" presetSubtype="0" fill="hold" grpId="1" nodeType="afterEffect">
                                  <p:stCondLst>
                                    <p:cond delay="0"/>
                                  </p:stCondLst>
                                  <p:childTnLst>
                                    <p:animRot by="21600000">
                                      <p:cBhvr>
                                        <p:cTn id="207" dur="500" fill="hold"/>
                                        <p:tgtEl>
                                          <p:spTgt spid="94"/>
                                        </p:tgtEl>
                                        <p:attrNameLst>
                                          <p:attrName>r</p:attrName>
                                        </p:attrNameLst>
                                      </p:cBhvr>
                                    </p:animRot>
                                  </p:childTnLst>
                                </p:cTn>
                              </p:par>
                              <p:par>
                                <p:cTn id="208" presetID="31" presetClass="entr" presetSubtype="0" fill="hold" grpId="0" nodeType="withEffect">
                                  <p:stCondLst>
                                    <p:cond delay="0"/>
                                  </p:stCondLst>
                                  <p:childTnLst>
                                    <p:set>
                                      <p:cBhvr>
                                        <p:cTn id="209" dur="1" fill="hold">
                                          <p:stCondLst>
                                            <p:cond delay="0"/>
                                          </p:stCondLst>
                                        </p:cTn>
                                        <p:tgtEl>
                                          <p:spTgt spid="11"/>
                                        </p:tgtEl>
                                        <p:attrNameLst>
                                          <p:attrName>style.visibility</p:attrName>
                                        </p:attrNameLst>
                                      </p:cBhvr>
                                      <p:to>
                                        <p:strVal val="visible"/>
                                      </p:to>
                                    </p:set>
                                    <p:anim calcmode="lin" valueType="num">
                                      <p:cBhvr>
                                        <p:cTn id="210" dur="500" fill="hold"/>
                                        <p:tgtEl>
                                          <p:spTgt spid="11"/>
                                        </p:tgtEl>
                                        <p:attrNameLst>
                                          <p:attrName>ppt_w</p:attrName>
                                        </p:attrNameLst>
                                      </p:cBhvr>
                                      <p:tavLst>
                                        <p:tav tm="0">
                                          <p:val>
                                            <p:fltVal val="0"/>
                                          </p:val>
                                        </p:tav>
                                        <p:tav tm="100000">
                                          <p:val>
                                            <p:strVal val="#ppt_w"/>
                                          </p:val>
                                        </p:tav>
                                      </p:tavLst>
                                    </p:anim>
                                    <p:anim calcmode="lin" valueType="num">
                                      <p:cBhvr>
                                        <p:cTn id="211" dur="500" fill="hold"/>
                                        <p:tgtEl>
                                          <p:spTgt spid="11"/>
                                        </p:tgtEl>
                                        <p:attrNameLst>
                                          <p:attrName>ppt_h</p:attrName>
                                        </p:attrNameLst>
                                      </p:cBhvr>
                                      <p:tavLst>
                                        <p:tav tm="0">
                                          <p:val>
                                            <p:fltVal val="0"/>
                                          </p:val>
                                        </p:tav>
                                        <p:tav tm="100000">
                                          <p:val>
                                            <p:strVal val="#ppt_h"/>
                                          </p:val>
                                        </p:tav>
                                      </p:tavLst>
                                    </p:anim>
                                    <p:anim calcmode="lin" valueType="num">
                                      <p:cBhvr>
                                        <p:cTn id="212" dur="500" fill="hold"/>
                                        <p:tgtEl>
                                          <p:spTgt spid="11"/>
                                        </p:tgtEl>
                                        <p:attrNameLst>
                                          <p:attrName>style.rotation</p:attrName>
                                        </p:attrNameLst>
                                      </p:cBhvr>
                                      <p:tavLst>
                                        <p:tav tm="0">
                                          <p:val>
                                            <p:fltVal val="90"/>
                                          </p:val>
                                        </p:tav>
                                        <p:tav tm="100000">
                                          <p:val>
                                            <p:fltVal val="0"/>
                                          </p:val>
                                        </p:tav>
                                      </p:tavLst>
                                    </p:anim>
                                    <p:animEffect transition="in" filter="fade">
                                      <p:cBhvr>
                                        <p:cTn id="213" dur="500"/>
                                        <p:tgtEl>
                                          <p:spTgt spid="11"/>
                                        </p:tgtEl>
                                      </p:cBhvr>
                                    </p:animEffect>
                                  </p:childTnLst>
                                </p:cTn>
                              </p:par>
                            </p:childTnLst>
                          </p:cTn>
                        </p:par>
                        <p:par>
                          <p:cTn id="214" fill="hold">
                            <p:stCondLst>
                              <p:cond delay="5500"/>
                            </p:stCondLst>
                            <p:childTnLst>
                              <p:par>
                                <p:cTn id="215" presetID="8" presetClass="emph" presetSubtype="0" fill="hold" grpId="1" nodeType="afterEffect">
                                  <p:stCondLst>
                                    <p:cond delay="0"/>
                                  </p:stCondLst>
                                  <p:childTnLst>
                                    <p:animRot by="21600000">
                                      <p:cBhvr>
                                        <p:cTn id="216" dur="500" fill="hold"/>
                                        <p:tgtEl>
                                          <p:spTgt spid="91"/>
                                        </p:tgtEl>
                                        <p:attrNameLst>
                                          <p:attrName>r</p:attrName>
                                        </p:attrNameLst>
                                      </p:cBhvr>
                                    </p:animRot>
                                  </p:childTnLst>
                                </p:cTn>
                              </p:par>
                              <p:par>
                                <p:cTn id="217" presetID="31" presetClass="entr" presetSubtype="0" fill="hold" grpId="0" nodeType="withEffect">
                                  <p:stCondLst>
                                    <p:cond delay="0"/>
                                  </p:stCondLst>
                                  <p:childTnLst>
                                    <p:set>
                                      <p:cBhvr>
                                        <p:cTn id="218" dur="1" fill="hold">
                                          <p:stCondLst>
                                            <p:cond delay="0"/>
                                          </p:stCondLst>
                                        </p:cTn>
                                        <p:tgtEl>
                                          <p:spTgt spid="13"/>
                                        </p:tgtEl>
                                        <p:attrNameLst>
                                          <p:attrName>style.visibility</p:attrName>
                                        </p:attrNameLst>
                                      </p:cBhvr>
                                      <p:to>
                                        <p:strVal val="visible"/>
                                      </p:to>
                                    </p:set>
                                    <p:anim calcmode="lin" valueType="num">
                                      <p:cBhvr>
                                        <p:cTn id="219" dur="500" fill="hold"/>
                                        <p:tgtEl>
                                          <p:spTgt spid="13"/>
                                        </p:tgtEl>
                                        <p:attrNameLst>
                                          <p:attrName>ppt_w</p:attrName>
                                        </p:attrNameLst>
                                      </p:cBhvr>
                                      <p:tavLst>
                                        <p:tav tm="0">
                                          <p:val>
                                            <p:fltVal val="0"/>
                                          </p:val>
                                        </p:tav>
                                        <p:tav tm="100000">
                                          <p:val>
                                            <p:strVal val="#ppt_w"/>
                                          </p:val>
                                        </p:tav>
                                      </p:tavLst>
                                    </p:anim>
                                    <p:anim calcmode="lin" valueType="num">
                                      <p:cBhvr>
                                        <p:cTn id="220" dur="500" fill="hold"/>
                                        <p:tgtEl>
                                          <p:spTgt spid="13"/>
                                        </p:tgtEl>
                                        <p:attrNameLst>
                                          <p:attrName>ppt_h</p:attrName>
                                        </p:attrNameLst>
                                      </p:cBhvr>
                                      <p:tavLst>
                                        <p:tav tm="0">
                                          <p:val>
                                            <p:fltVal val="0"/>
                                          </p:val>
                                        </p:tav>
                                        <p:tav tm="100000">
                                          <p:val>
                                            <p:strVal val="#ppt_h"/>
                                          </p:val>
                                        </p:tav>
                                      </p:tavLst>
                                    </p:anim>
                                    <p:anim calcmode="lin" valueType="num">
                                      <p:cBhvr>
                                        <p:cTn id="221" dur="500" fill="hold"/>
                                        <p:tgtEl>
                                          <p:spTgt spid="13"/>
                                        </p:tgtEl>
                                        <p:attrNameLst>
                                          <p:attrName>style.rotation</p:attrName>
                                        </p:attrNameLst>
                                      </p:cBhvr>
                                      <p:tavLst>
                                        <p:tav tm="0">
                                          <p:val>
                                            <p:fltVal val="90"/>
                                          </p:val>
                                        </p:tav>
                                        <p:tav tm="100000">
                                          <p:val>
                                            <p:fltVal val="0"/>
                                          </p:val>
                                        </p:tav>
                                      </p:tavLst>
                                    </p:anim>
                                    <p:animEffect transition="in" filter="fade">
                                      <p:cBhvr>
                                        <p:cTn id="222" dur="500"/>
                                        <p:tgtEl>
                                          <p:spTgt spid="13"/>
                                        </p:tgtEl>
                                      </p:cBhvr>
                                    </p:animEffect>
                                  </p:childTnLst>
                                </p:cTn>
                              </p:par>
                            </p:childTnLst>
                          </p:cTn>
                        </p:par>
                        <p:par>
                          <p:cTn id="223" fill="hold">
                            <p:stCondLst>
                              <p:cond delay="6000"/>
                            </p:stCondLst>
                            <p:childTnLst>
                              <p:par>
                                <p:cTn id="224" presetID="8" presetClass="emph" presetSubtype="0" fill="hold" grpId="1" nodeType="afterEffect">
                                  <p:stCondLst>
                                    <p:cond delay="0"/>
                                  </p:stCondLst>
                                  <p:childTnLst>
                                    <p:animRot by="21600000">
                                      <p:cBhvr>
                                        <p:cTn id="225" dur="500" fill="hold"/>
                                        <p:tgtEl>
                                          <p:spTgt spid="93"/>
                                        </p:tgtEl>
                                        <p:attrNameLst>
                                          <p:attrName>r</p:attrName>
                                        </p:attrNameLst>
                                      </p:cBhvr>
                                    </p:animRot>
                                  </p:childTnLst>
                                </p:cTn>
                              </p:par>
                              <p:par>
                                <p:cTn id="226" presetID="31" presetClass="entr" presetSubtype="0" fill="hold" grpId="0" nodeType="withEffect">
                                  <p:stCondLst>
                                    <p:cond delay="0"/>
                                  </p:stCondLst>
                                  <p:childTnLst>
                                    <p:set>
                                      <p:cBhvr>
                                        <p:cTn id="227" dur="1" fill="hold">
                                          <p:stCondLst>
                                            <p:cond delay="0"/>
                                          </p:stCondLst>
                                        </p:cTn>
                                        <p:tgtEl>
                                          <p:spTgt spid="14"/>
                                        </p:tgtEl>
                                        <p:attrNameLst>
                                          <p:attrName>style.visibility</p:attrName>
                                        </p:attrNameLst>
                                      </p:cBhvr>
                                      <p:to>
                                        <p:strVal val="visible"/>
                                      </p:to>
                                    </p:set>
                                    <p:anim calcmode="lin" valueType="num">
                                      <p:cBhvr>
                                        <p:cTn id="228" dur="500" fill="hold"/>
                                        <p:tgtEl>
                                          <p:spTgt spid="14"/>
                                        </p:tgtEl>
                                        <p:attrNameLst>
                                          <p:attrName>ppt_w</p:attrName>
                                        </p:attrNameLst>
                                      </p:cBhvr>
                                      <p:tavLst>
                                        <p:tav tm="0">
                                          <p:val>
                                            <p:fltVal val="0"/>
                                          </p:val>
                                        </p:tav>
                                        <p:tav tm="100000">
                                          <p:val>
                                            <p:strVal val="#ppt_w"/>
                                          </p:val>
                                        </p:tav>
                                      </p:tavLst>
                                    </p:anim>
                                    <p:anim calcmode="lin" valueType="num">
                                      <p:cBhvr>
                                        <p:cTn id="229" dur="500" fill="hold"/>
                                        <p:tgtEl>
                                          <p:spTgt spid="14"/>
                                        </p:tgtEl>
                                        <p:attrNameLst>
                                          <p:attrName>ppt_h</p:attrName>
                                        </p:attrNameLst>
                                      </p:cBhvr>
                                      <p:tavLst>
                                        <p:tav tm="0">
                                          <p:val>
                                            <p:fltVal val="0"/>
                                          </p:val>
                                        </p:tav>
                                        <p:tav tm="100000">
                                          <p:val>
                                            <p:strVal val="#ppt_h"/>
                                          </p:val>
                                        </p:tav>
                                      </p:tavLst>
                                    </p:anim>
                                    <p:anim calcmode="lin" valueType="num">
                                      <p:cBhvr>
                                        <p:cTn id="230" dur="500" fill="hold"/>
                                        <p:tgtEl>
                                          <p:spTgt spid="14"/>
                                        </p:tgtEl>
                                        <p:attrNameLst>
                                          <p:attrName>style.rotation</p:attrName>
                                        </p:attrNameLst>
                                      </p:cBhvr>
                                      <p:tavLst>
                                        <p:tav tm="0">
                                          <p:val>
                                            <p:fltVal val="90"/>
                                          </p:val>
                                        </p:tav>
                                        <p:tav tm="100000">
                                          <p:val>
                                            <p:fltVal val="0"/>
                                          </p:val>
                                        </p:tav>
                                      </p:tavLst>
                                    </p:anim>
                                    <p:animEffect transition="in" filter="fade">
                                      <p:cBhvr>
                                        <p:cTn id="231" dur="500"/>
                                        <p:tgtEl>
                                          <p:spTgt spid="14"/>
                                        </p:tgtEl>
                                      </p:cBhvr>
                                    </p:animEffect>
                                  </p:childTnLst>
                                </p:cTn>
                              </p:par>
                            </p:childTnLst>
                          </p:cTn>
                        </p:par>
                        <p:par>
                          <p:cTn id="232" fill="hold">
                            <p:stCondLst>
                              <p:cond delay="6500"/>
                            </p:stCondLst>
                            <p:childTnLst>
                              <p:par>
                                <p:cTn id="233" presetID="8" presetClass="emph" presetSubtype="0" fill="hold" grpId="1" nodeType="afterEffect">
                                  <p:stCondLst>
                                    <p:cond delay="0"/>
                                  </p:stCondLst>
                                  <p:childTnLst>
                                    <p:animRot by="21600000">
                                      <p:cBhvr>
                                        <p:cTn id="234" dur="500" fill="hold"/>
                                        <p:tgtEl>
                                          <p:spTgt spid="102"/>
                                        </p:tgtEl>
                                        <p:attrNameLst>
                                          <p:attrName>r</p:attrName>
                                        </p:attrNameLst>
                                      </p:cBhvr>
                                    </p:animRot>
                                  </p:childTnLst>
                                </p:cTn>
                              </p:par>
                              <p:par>
                                <p:cTn id="235" presetID="31" presetClass="entr" presetSubtype="0" fill="hold" grpId="0" nodeType="withEffect">
                                  <p:stCondLst>
                                    <p:cond delay="0"/>
                                  </p:stCondLst>
                                  <p:childTnLst>
                                    <p:set>
                                      <p:cBhvr>
                                        <p:cTn id="236" dur="1" fill="hold">
                                          <p:stCondLst>
                                            <p:cond delay="0"/>
                                          </p:stCondLst>
                                        </p:cTn>
                                        <p:tgtEl>
                                          <p:spTgt spid="8"/>
                                        </p:tgtEl>
                                        <p:attrNameLst>
                                          <p:attrName>style.visibility</p:attrName>
                                        </p:attrNameLst>
                                      </p:cBhvr>
                                      <p:to>
                                        <p:strVal val="visible"/>
                                      </p:to>
                                    </p:set>
                                    <p:anim calcmode="lin" valueType="num">
                                      <p:cBhvr>
                                        <p:cTn id="237" dur="500" fill="hold"/>
                                        <p:tgtEl>
                                          <p:spTgt spid="8"/>
                                        </p:tgtEl>
                                        <p:attrNameLst>
                                          <p:attrName>ppt_w</p:attrName>
                                        </p:attrNameLst>
                                      </p:cBhvr>
                                      <p:tavLst>
                                        <p:tav tm="0">
                                          <p:val>
                                            <p:fltVal val="0"/>
                                          </p:val>
                                        </p:tav>
                                        <p:tav tm="100000">
                                          <p:val>
                                            <p:strVal val="#ppt_w"/>
                                          </p:val>
                                        </p:tav>
                                      </p:tavLst>
                                    </p:anim>
                                    <p:anim calcmode="lin" valueType="num">
                                      <p:cBhvr>
                                        <p:cTn id="238" dur="500" fill="hold"/>
                                        <p:tgtEl>
                                          <p:spTgt spid="8"/>
                                        </p:tgtEl>
                                        <p:attrNameLst>
                                          <p:attrName>ppt_h</p:attrName>
                                        </p:attrNameLst>
                                      </p:cBhvr>
                                      <p:tavLst>
                                        <p:tav tm="0">
                                          <p:val>
                                            <p:fltVal val="0"/>
                                          </p:val>
                                        </p:tav>
                                        <p:tav tm="100000">
                                          <p:val>
                                            <p:strVal val="#ppt_h"/>
                                          </p:val>
                                        </p:tav>
                                      </p:tavLst>
                                    </p:anim>
                                    <p:anim calcmode="lin" valueType="num">
                                      <p:cBhvr>
                                        <p:cTn id="239" dur="500" fill="hold"/>
                                        <p:tgtEl>
                                          <p:spTgt spid="8"/>
                                        </p:tgtEl>
                                        <p:attrNameLst>
                                          <p:attrName>style.rotation</p:attrName>
                                        </p:attrNameLst>
                                      </p:cBhvr>
                                      <p:tavLst>
                                        <p:tav tm="0">
                                          <p:val>
                                            <p:fltVal val="90"/>
                                          </p:val>
                                        </p:tav>
                                        <p:tav tm="100000">
                                          <p:val>
                                            <p:fltVal val="0"/>
                                          </p:val>
                                        </p:tav>
                                      </p:tavLst>
                                    </p:anim>
                                    <p:animEffect transition="in" filter="fade">
                                      <p:cBhvr>
                                        <p:cTn id="240" dur="500"/>
                                        <p:tgtEl>
                                          <p:spTgt spid="8"/>
                                        </p:tgtEl>
                                      </p:cBhvr>
                                    </p:animEffect>
                                  </p:childTnLst>
                                </p:cTn>
                              </p:par>
                            </p:childTnLst>
                          </p:cTn>
                        </p:par>
                        <p:par>
                          <p:cTn id="241" fill="hold">
                            <p:stCondLst>
                              <p:cond delay="7000"/>
                            </p:stCondLst>
                            <p:childTnLst>
                              <p:par>
                                <p:cTn id="242" presetID="8" presetClass="emph" presetSubtype="0" fill="hold" grpId="1" nodeType="afterEffect">
                                  <p:stCondLst>
                                    <p:cond delay="0"/>
                                  </p:stCondLst>
                                  <p:childTnLst>
                                    <p:animRot by="21600000">
                                      <p:cBhvr>
                                        <p:cTn id="243" dur="500" fill="hold"/>
                                        <p:tgtEl>
                                          <p:spTgt spid="98"/>
                                        </p:tgtEl>
                                        <p:attrNameLst>
                                          <p:attrName>r</p:attrName>
                                        </p:attrNameLst>
                                      </p:cBhvr>
                                    </p:animRot>
                                  </p:childTnLst>
                                </p:cTn>
                              </p:par>
                              <p:par>
                                <p:cTn id="244" presetID="31" presetClass="entr" presetSubtype="0" fill="hold" grpId="0" nodeType="withEffect">
                                  <p:stCondLst>
                                    <p:cond delay="0"/>
                                  </p:stCondLst>
                                  <p:childTnLst>
                                    <p:set>
                                      <p:cBhvr>
                                        <p:cTn id="245" dur="1" fill="hold">
                                          <p:stCondLst>
                                            <p:cond delay="0"/>
                                          </p:stCondLst>
                                        </p:cTn>
                                        <p:tgtEl>
                                          <p:spTgt spid="12"/>
                                        </p:tgtEl>
                                        <p:attrNameLst>
                                          <p:attrName>style.visibility</p:attrName>
                                        </p:attrNameLst>
                                      </p:cBhvr>
                                      <p:to>
                                        <p:strVal val="visible"/>
                                      </p:to>
                                    </p:set>
                                    <p:anim calcmode="lin" valueType="num">
                                      <p:cBhvr>
                                        <p:cTn id="246" dur="500" fill="hold"/>
                                        <p:tgtEl>
                                          <p:spTgt spid="12"/>
                                        </p:tgtEl>
                                        <p:attrNameLst>
                                          <p:attrName>ppt_w</p:attrName>
                                        </p:attrNameLst>
                                      </p:cBhvr>
                                      <p:tavLst>
                                        <p:tav tm="0">
                                          <p:val>
                                            <p:fltVal val="0"/>
                                          </p:val>
                                        </p:tav>
                                        <p:tav tm="100000">
                                          <p:val>
                                            <p:strVal val="#ppt_w"/>
                                          </p:val>
                                        </p:tav>
                                      </p:tavLst>
                                    </p:anim>
                                    <p:anim calcmode="lin" valueType="num">
                                      <p:cBhvr>
                                        <p:cTn id="247" dur="500" fill="hold"/>
                                        <p:tgtEl>
                                          <p:spTgt spid="12"/>
                                        </p:tgtEl>
                                        <p:attrNameLst>
                                          <p:attrName>ppt_h</p:attrName>
                                        </p:attrNameLst>
                                      </p:cBhvr>
                                      <p:tavLst>
                                        <p:tav tm="0">
                                          <p:val>
                                            <p:fltVal val="0"/>
                                          </p:val>
                                        </p:tav>
                                        <p:tav tm="100000">
                                          <p:val>
                                            <p:strVal val="#ppt_h"/>
                                          </p:val>
                                        </p:tav>
                                      </p:tavLst>
                                    </p:anim>
                                    <p:anim calcmode="lin" valueType="num">
                                      <p:cBhvr>
                                        <p:cTn id="248" dur="500" fill="hold"/>
                                        <p:tgtEl>
                                          <p:spTgt spid="12"/>
                                        </p:tgtEl>
                                        <p:attrNameLst>
                                          <p:attrName>style.rotation</p:attrName>
                                        </p:attrNameLst>
                                      </p:cBhvr>
                                      <p:tavLst>
                                        <p:tav tm="0">
                                          <p:val>
                                            <p:fltVal val="90"/>
                                          </p:val>
                                        </p:tav>
                                        <p:tav tm="100000">
                                          <p:val>
                                            <p:fltVal val="0"/>
                                          </p:val>
                                        </p:tav>
                                      </p:tavLst>
                                    </p:anim>
                                    <p:animEffect transition="in" filter="fade">
                                      <p:cBhvr>
                                        <p:cTn id="249" dur="500"/>
                                        <p:tgtEl>
                                          <p:spTgt spid="12"/>
                                        </p:tgtEl>
                                      </p:cBhvr>
                                    </p:animEffect>
                                  </p:childTnLst>
                                </p:cTn>
                              </p:par>
                              <p:par>
                                <p:cTn id="250" presetID="8" presetClass="emph" presetSubtype="0" fill="hold" grpId="1" nodeType="withEffect">
                                  <p:stCondLst>
                                    <p:cond delay="0"/>
                                  </p:stCondLst>
                                  <p:childTnLst>
                                    <p:animRot by="21600000">
                                      <p:cBhvr>
                                        <p:cTn id="251" dur="500" fill="hold"/>
                                        <p:tgtEl>
                                          <p:spTgt spid="99"/>
                                        </p:tgtEl>
                                        <p:attrNameLst>
                                          <p:attrName>r</p:attrName>
                                        </p:attrNameLst>
                                      </p:cBhvr>
                                    </p:animRot>
                                  </p:childTnLst>
                                </p:cTn>
                              </p:par>
                              <p:par>
                                <p:cTn id="252" presetID="31" presetClass="entr" presetSubtype="0" fill="hold" grpId="0" nodeType="withEffect">
                                  <p:stCondLst>
                                    <p:cond delay="0"/>
                                  </p:stCondLst>
                                  <p:childTnLst>
                                    <p:set>
                                      <p:cBhvr>
                                        <p:cTn id="253" dur="1" fill="hold">
                                          <p:stCondLst>
                                            <p:cond delay="0"/>
                                          </p:stCondLst>
                                        </p:cTn>
                                        <p:tgtEl>
                                          <p:spTgt spid="15"/>
                                        </p:tgtEl>
                                        <p:attrNameLst>
                                          <p:attrName>style.visibility</p:attrName>
                                        </p:attrNameLst>
                                      </p:cBhvr>
                                      <p:to>
                                        <p:strVal val="visible"/>
                                      </p:to>
                                    </p:set>
                                    <p:anim calcmode="lin" valueType="num">
                                      <p:cBhvr>
                                        <p:cTn id="254" dur="500" fill="hold"/>
                                        <p:tgtEl>
                                          <p:spTgt spid="15"/>
                                        </p:tgtEl>
                                        <p:attrNameLst>
                                          <p:attrName>ppt_w</p:attrName>
                                        </p:attrNameLst>
                                      </p:cBhvr>
                                      <p:tavLst>
                                        <p:tav tm="0">
                                          <p:val>
                                            <p:fltVal val="0"/>
                                          </p:val>
                                        </p:tav>
                                        <p:tav tm="100000">
                                          <p:val>
                                            <p:strVal val="#ppt_w"/>
                                          </p:val>
                                        </p:tav>
                                      </p:tavLst>
                                    </p:anim>
                                    <p:anim calcmode="lin" valueType="num">
                                      <p:cBhvr>
                                        <p:cTn id="255" dur="500" fill="hold"/>
                                        <p:tgtEl>
                                          <p:spTgt spid="15"/>
                                        </p:tgtEl>
                                        <p:attrNameLst>
                                          <p:attrName>ppt_h</p:attrName>
                                        </p:attrNameLst>
                                      </p:cBhvr>
                                      <p:tavLst>
                                        <p:tav tm="0">
                                          <p:val>
                                            <p:fltVal val="0"/>
                                          </p:val>
                                        </p:tav>
                                        <p:tav tm="100000">
                                          <p:val>
                                            <p:strVal val="#ppt_h"/>
                                          </p:val>
                                        </p:tav>
                                      </p:tavLst>
                                    </p:anim>
                                    <p:anim calcmode="lin" valueType="num">
                                      <p:cBhvr>
                                        <p:cTn id="256" dur="500" fill="hold"/>
                                        <p:tgtEl>
                                          <p:spTgt spid="15"/>
                                        </p:tgtEl>
                                        <p:attrNameLst>
                                          <p:attrName>style.rotation</p:attrName>
                                        </p:attrNameLst>
                                      </p:cBhvr>
                                      <p:tavLst>
                                        <p:tav tm="0">
                                          <p:val>
                                            <p:fltVal val="90"/>
                                          </p:val>
                                        </p:tav>
                                        <p:tav tm="100000">
                                          <p:val>
                                            <p:fltVal val="0"/>
                                          </p:val>
                                        </p:tav>
                                      </p:tavLst>
                                    </p:anim>
                                    <p:animEffect transition="in" filter="fade">
                                      <p:cBhvr>
                                        <p:cTn id="257" dur="500"/>
                                        <p:tgtEl>
                                          <p:spTgt spid="15"/>
                                        </p:tgtEl>
                                      </p:cBhvr>
                                    </p:animEffect>
                                  </p:childTnLst>
                                </p:cTn>
                              </p:par>
                              <p:par>
                                <p:cTn id="258" presetID="8" presetClass="emph" presetSubtype="0" fill="hold" grpId="1" nodeType="withEffect">
                                  <p:stCondLst>
                                    <p:cond delay="0"/>
                                  </p:stCondLst>
                                  <p:childTnLst>
                                    <p:animRot by="21600000">
                                      <p:cBhvr>
                                        <p:cTn id="259" dur="500" fill="hold"/>
                                        <p:tgtEl>
                                          <p:spTgt spid="100"/>
                                        </p:tgtEl>
                                        <p:attrNameLst>
                                          <p:attrName>r</p:attrName>
                                        </p:attrNameLst>
                                      </p:cBhvr>
                                    </p:animRot>
                                  </p:childTnLst>
                                </p:cTn>
                              </p:par>
                              <p:par>
                                <p:cTn id="260" presetID="31" presetClass="entr" presetSubtype="0" fill="hold" grpId="0" nodeType="withEffect">
                                  <p:stCondLst>
                                    <p:cond delay="0"/>
                                  </p:stCondLst>
                                  <p:childTnLst>
                                    <p:set>
                                      <p:cBhvr>
                                        <p:cTn id="261" dur="1" fill="hold">
                                          <p:stCondLst>
                                            <p:cond delay="0"/>
                                          </p:stCondLst>
                                        </p:cTn>
                                        <p:tgtEl>
                                          <p:spTgt spid="16"/>
                                        </p:tgtEl>
                                        <p:attrNameLst>
                                          <p:attrName>style.visibility</p:attrName>
                                        </p:attrNameLst>
                                      </p:cBhvr>
                                      <p:to>
                                        <p:strVal val="visible"/>
                                      </p:to>
                                    </p:set>
                                    <p:anim calcmode="lin" valueType="num">
                                      <p:cBhvr>
                                        <p:cTn id="262" dur="500" fill="hold"/>
                                        <p:tgtEl>
                                          <p:spTgt spid="16"/>
                                        </p:tgtEl>
                                        <p:attrNameLst>
                                          <p:attrName>ppt_w</p:attrName>
                                        </p:attrNameLst>
                                      </p:cBhvr>
                                      <p:tavLst>
                                        <p:tav tm="0">
                                          <p:val>
                                            <p:fltVal val="0"/>
                                          </p:val>
                                        </p:tav>
                                        <p:tav tm="100000">
                                          <p:val>
                                            <p:strVal val="#ppt_w"/>
                                          </p:val>
                                        </p:tav>
                                      </p:tavLst>
                                    </p:anim>
                                    <p:anim calcmode="lin" valueType="num">
                                      <p:cBhvr>
                                        <p:cTn id="263" dur="500" fill="hold"/>
                                        <p:tgtEl>
                                          <p:spTgt spid="16"/>
                                        </p:tgtEl>
                                        <p:attrNameLst>
                                          <p:attrName>ppt_h</p:attrName>
                                        </p:attrNameLst>
                                      </p:cBhvr>
                                      <p:tavLst>
                                        <p:tav tm="0">
                                          <p:val>
                                            <p:fltVal val="0"/>
                                          </p:val>
                                        </p:tav>
                                        <p:tav tm="100000">
                                          <p:val>
                                            <p:strVal val="#ppt_h"/>
                                          </p:val>
                                        </p:tav>
                                      </p:tavLst>
                                    </p:anim>
                                    <p:anim calcmode="lin" valueType="num">
                                      <p:cBhvr>
                                        <p:cTn id="264" dur="500" fill="hold"/>
                                        <p:tgtEl>
                                          <p:spTgt spid="16"/>
                                        </p:tgtEl>
                                        <p:attrNameLst>
                                          <p:attrName>style.rotation</p:attrName>
                                        </p:attrNameLst>
                                      </p:cBhvr>
                                      <p:tavLst>
                                        <p:tav tm="0">
                                          <p:val>
                                            <p:fltVal val="90"/>
                                          </p:val>
                                        </p:tav>
                                        <p:tav tm="100000">
                                          <p:val>
                                            <p:fltVal val="0"/>
                                          </p:val>
                                        </p:tav>
                                      </p:tavLst>
                                    </p:anim>
                                    <p:animEffect transition="in" filter="fade">
                                      <p:cBhvr>
                                        <p:cTn id="265" dur="500"/>
                                        <p:tgtEl>
                                          <p:spTgt spid="16"/>
                                        </p:tgtEl>
                                      </p:cBhvr>
                                    </p:animEffect>
                                  </p:childTnLst>
                                </p:cTn>
                              </p:par>
                              <p:par>
                                <p:cTn id="266" presetID="8" presetClass="emph" presetSubtype="0" fill="hold" grpId="1" nodeType="withEffect">
                                  <p:stCondLst>
                                    <p:cond delay="0"/>
                                  </p:stCondLst>
                                  <p:childTnLst>
                                    <p:animRot by="21600000">
                                      <p:cBhvr>
                                        <p:cTn id="267" dur="500" fill="hold"/>
                                        <p:tgtEl>
                                          <p:spTgt spid="101"/>
                                        </p:tgtEl>
                                        <p:attrNameLst>
                                          <p:attrName>r</p:attrName>
                                        </p:attrNameLst>
                                      </p:cBhvr>
                                    </p:animRot>
                                  </p:childTnLst>
                                </p:cTn>
                              </p:par>
                              <p:par>
                                <p:cTn id="268" presetID="31" presetClass="entr" presetSubtype="0" fill="hold" grpId="0" nodeType="withEffect">
                                  <p:stCondLst>
                                    <p:cond delay="0"/>
                                  </p:stCondLst>
                                  <p:childTnLst>
                                    <p:set>
                                      <p:cBhvr>
                                        <p:cTn id="269" dur="1" fill="hold">
                                          <p:stCondLst>
                                            <p:cond delay="0"/>
                                          </p:stCondLst>
                                        </p:cTn>
                                        <p:tgtEl>
                                          <p:spTgt spid="9"/>
                                        </p:tgtEl>
                                        <p:attrNameLst>
                                          <p:attrName>style.visibility</p:attrName>
                                        </p:attrNameLst>
                                      </p:cBhvr>
                                      <p:to>
                                        <p:strVal val="visible"/>
                                      </p:to>
                                    </p:set>
                                    <p:anim calcmode="lin" valueType="num">
                                      <p:cBhvr>
                                        <p:cTn id="270" dur="500" fill="hold"/>
                                        <p:tgtEl>
                                          <p:spTgt spid="9"/>
                                        </p:tgtEl>
                                        <p:attrNameLst>
                                          <p:attrName>ppt_w</p:attrName>
                                        </p:attrNameLst>
                                      </p:cBhvr>
                                      <p:tavLst>
                                        <p:tav tm="0">
                                          <p:val>
                                            <p:fltVal val="0"/>
                                          </p:val>
                                        </p:tav>
                                        <p:tav tm="100000">
                                          <p:val>
                                            <p:strVal val="#ppt_w"/>
                                          </p:val>
                                        </p:tav>
                                      </p:tavLst>
                                    </p:anim>
                                    <p:anim calcmode="lin" valueType="num">
                                      <p:cBhvr>
                                        <p:cTn id="271" dur="500" fill="hold"/>
                                        <p:tgtEl>
                                          <p:spTgt spid="9"/>
                                        </p:tgtEl>
                                        <p:attrNameLst>
                                          <p:attrName>ppt_h</p:attrName>
                                        </p:attrNameLst>
                                      </p:cBhvr>
                                      <p:tavLst>
                                        <p:tav tm="0">
                                          <p:val>
                                            <p:fltVal val="0"/>
                                          </p:val>
                                        </p:tav>
                                        <p:tav tm="100000">
                                          <p:val>
                                            <p:strVal val="#ppt_h"/>
                                          </p:val>
                                        </p:tav>
                                      </p:tavLst>
                                    </p:anim>
                                    <p:anim calcmode="lin" valueType="num">
                                      <p:cBhvr>
                                        <p:cTn id="272" dur="500" fill="hold"/>
                                        <p:tgtEl>
                                          <p:spTgt spid="9"/>
                                        </p:tgtEl>
                                        <p:attrNameLst>
                                          <p:attrName>style.rotation</p:attrName>
                                        </p:attrNameLst>
                                      </p:cBhvr>
                                      <p:tavLst>
                                        <p:tav tm="0">
                                          <p:val>
                                            <p:fltVal val="90"/>
                                          </p:val>
                                        </p:tav>
                                        <p:tav tm="100000">
                                          <p:val>
                                            <p:fltVal val="0"/>
                                          </p:val>
                                        </p:tav>
                                      </p:tavLst>
                                    </p:anim>
                                    <p:animEffect transition="in" filter="fade">
                                      <p:cBhvr>
                                        <p:cTn id="273" dur="500"/>
                                        <p:tgtEl>
                                          <p:spTgt spid="9"/>
                                        </p:tgtEl>
                                      </p:cBhvr>
                                    </p:animEffect>
                                  </p:childTnLst>
                                </p:cTn>
                              </p:par>
                              <p:par>
                                <p:cTn id="274" presetID="22" presetClass="entr" presetSubtype="1" fill="hold" grpId="0" nodeType="withEffect">
                                  <p:stCondLst>
                                    <p:cond delay="0"/>
                                  </p:stCondLst>
                                  <p:childTnLst>
                                    <p:set>
                                      <p:cBhvr>
                                        <p:cTn id="275" dur="1" fill="hold">
                                          <p:stCondLst>
                                            <p:cond delay="0"/>
                                          </p:stCondLst>
                                        </p:cTn>
                                        <p:tgtEl>
                                          <p:spTgt spid="118">
                                            <p:txEl>
                                              <p:pRg st="2" end="2"/>
                                            </p:txEl>
                                          </p:spTgt>
                                        </p:tgtEl>
                                        <p:attrNameLst>
                                          <p:attrName>style.visibility</p:attrName>
                                        </p:attrNameLst>
                                      </p:cBhvr>
                                      <p:to>
                                        <p:strVal val="visible"/>
                                      </p:to>
                                    </p:set>
                                    <p:animEffect transition="in" filter="wipe(up)">
                                      <p:cBhvr>
                                        <p:cTn id="276" dur="500"/>
                                        <p:tgtEl>
                                          <p:spTgt spid="118">
                                            <p:txEl>
                                              <p:pRg st="2" end="2"/>
                                            </p:txEl>
                                          </p:spTgt>
                                        </p:tgtEl>
                                      </p:cBhvr>
                                    </p:animEffect>
                                  </p:childTnLst>
                                </p:cTn>
                              </p:par>
                              <p:par>
                                <p:cTn id="277" presetID="22" presetClass="entr" presetSubtype="1" fill="hold" grpId="0" nodeType="withEffect">
                                  <p:stCondLst>
                                    <p:cond delay="0"/>
                                  </p:stCondLst>
                                  <p:childTnLst>
                                    <p:set>
                                      <p:cBhvr>
                                        <p:cTn id="278" dur="1" fill="hold">
                                          <p:stCondLst>
                                            <p:cond delay="0"/>
                                          </p:stCondLst>
                                        </p:cTn>
                                        <p:tgtEl>
                                          <p:spTgt spid="118">
                                            <p:txEl>
                                              <p:pRg st="3" end="3"/>
                                            </p:txEl>
                                          </p:spTgt>
                                        </p:tgtEl>
                                        <p:attrNameLst>
                                          <p:attrName>style.visibility</p:attrName>
                                        </p:attrNameLst>
                                      </p:cBhvr>
                                      <p:to>
                                        <p:strVal val="visible"/>
                                      </p:to>
                                    </p:set>
                                    <p:animEffect transition="in" filter="wipe(up)">
                                      <p:cBhvr>
                                        <p:cTn id="279" dur="500"/>
                                        <p:tgtEl>
                                          <p:spTgt spid="118">
                                            <p:txEl>
                                              <p:pRg st="3" end="3"/>
                                            </p:txEl>
                                          </p:spTgt>
                                        </p:tgtEl>
                                      </p:cBhvr>
                                    </p:animEffect>
                                  </p:childTnLst>
                                </p:cTn>
                              </p:par>
                            </p:childTnLst>
                          </p:cTn>
                        </p:par>
                      </p:childTnLst>
                    </p:cTn>
                  </p:par>
                  <p:par>
                    <p:cTn id="280" fill="hold">
                      <p:stCondLst>
                        <p:cond delay="indefinite"/>
                      </p:stCondLst>
                      <p:childTnLst>
                        <p:par>
                          <p:cTn id="281" fill="hold">
                            <p:stCondLst>
                              <p:cond delay="0"/>
                            </p:stCondLst>
                            <p:childTnLst>
                              <p:par>
                                <p:cTn id="282" presetID="32" presetClass="emph" presetSubtype="0" fill="hold" grpId="2" nodeType="clickEffect">
                                  <p:stCondLst>
                                    <p:cond delay="0"/>
                                  </p:stCondLst>
                                  <p:childTnLst>
                                    <p:animRot by="120000">
                                      <p:cBhvr>
                                        <p:cTn id="283" dur="100" fill="hold">
                                          <p:stCondLst>
                                            <p:cond delay="0"/>
                                          </p:stCondLst>
                                        </p:cTn>
                                        <p:tgtEl>
                                          <p:spTgt spid="132"/>
                                        </p:tgtEl>
                                        <p:attrNameLst>
                                          <p:attrName>r</p:attrName>
                                        </p:attrNameLst>
                                      </p:cBhvr>
                                    </p:animRot>
                                    <p:animRot by="-240000">
                                      <p:cBhvr>
                                        <p:cTn id="284" dur="200" fill="hold">
                                          <p:stCondLst>
                                            <p:cond delay="200"/>
                                          </p:stCondLst>
                                        </p:cTn>
                                        <p:tgtEl>
                                          <p:spTgt spid="132"/>
                                        </p:tgtEl>
                                        <p:attrNameLst>
                                          <p:attrName>r</p:attrName>
                                        </p:attrNameLst>
                                      </p:cBhvr>
                                    </p:animRot>
                                    <p:animRot by="240000">
                                      <p:cBhvr>
                                        <p:cTn id="285" dur="200" fill="hold">
                                          <p:stCondLst>
                                            <p:cond delay="400"/>
                                          </p:stCondLst>
                                        </p:cTn>
                                        <p:tgtEl>
                                          <p:spTgt spid="132"/>
                                        </p:tgtEl>
                                        <p:attrNameLst>
                                          <p:attrName>r</p:attrName>
                                        </p:attrNameLst>
                                      </p:cBhvr>
                                    </p:animRot>
                                    <p:animRot by="-240000">
                                      <p:cBhvr>
                                        <p:cTn id="286" dur="200" fill="hold">
                                          <p:stCondLst>
                                            <p:cond delay="600"/>
                                          </p:stCondLst>
                                        </p:cTn>
                                        <p:tgtEl>
                                          <p:spTgt spid="132"/>
                                        </p:tgtEl>
                                        <p:attrNameLst>
                                          <p:attrName>r</p:attrName>
                                        </p:attrNameLst>
                                      </p:cBhvr>
                                    </p:animRot>
                                    <p:animRot by="120000">
                                      <p:cBhvr>
                                        <p:cTn id="287" dur="200" fill="hold">
                                          <p:stCondLst>
                                            <p:cond delay="800"/>
                                          </p:stCondLst>
                                        </p:cTn>
                                        <p:tgtEl>
                                          <p:spTgt spid="132"/>
                                        </p:tgtEl>
                                        <p:attrNameLst>
                                          <p:attrName>r</p:attrName>
                                        </p:attrNameLst>
                                      </p:cBhvr>
                                    </p:animRot>
                                  </p:childTnLst>
                                </p:cTn>
                              </p:par>
                            </p:childTnLst>
                          </p:cTn>
                        </p:par>
                        <p:par>
                          <p:cTn id="288" fill="hold">
                            <p:stCondLst>
                              <p:cond delay="1000"/>
                            </p:stCondLst>
                            <p:childTnLst>
                              <p:par>
                                <p:cTn id="289" presetID="32" presetClass="emph" presetSubtype="0" fill="hold" grpId="1" nodeType="afterEffect">
                                  <p:stCondLst>
                                    <p:cond delay="0"/>
                                  </p:stCondLst>
                                  <p:childTnLst>
                                    <p:animRot by="120000">
                                      <p:cBhvr>
                                        <p:cTn id="290" dur="100" fill="hold">
                                          <p:stCondLst>
                                            <p:cond delay="0"/>
                                          </p:stCondLst>
                                        </p:cTn>
                                        <p:tgtEl>
                                          <p:spTgt spid="114"/>
                                        </p:tgtEl>
                                        <p:attrNameLst>
                                          <p:attrName>r</p:attrName>
                                        </p:attrNameLst>
                                      </p:cBhvr>
                                    </p:animRot>
                                    <p:animRot by="-240000">
                                      <p:cBhvr>
                                        <p:cTn id="291" dur="200" fill="hold">
                                          <p:stCondLst>
                                            <p:cond delay="200"/>
                                          </p:stCondLst>
                                        </p:cTn>
                                        <p:tgtEl>
                                          <p:spTgt spid="114"/>
                                        </p:tgtEl>
                                        <p:attrNameLst>
                                          <p:attrName>r</p:attrName>
                                        </p:attrNameLst>
                                      </p:cBhvr>
                                    </p:animRot>
                                    <p:animRot by="240000">
                                      <p:cBhvr>
                                        <p:cTn id="292" dur="200" fill="hold">
                                          <p:stCondLst>
                                            <p:cond delay="400"/>
                                          </p:stCondLst>
                                        </p:cTn>
                                        <p:tgtEl>
                                          <p:spTgt spid="114"/>
                                        </p:tgtEl>
                                        <p:attrNameLst>
                                          <p:attrName>r</p:attrName>
                                        </p:attrNameLst>
                                      </p:cBhvr>
                                    </p:animRot>
                                    <p:animRot by="-240000">
                                      <p:cBhvr>
                                        <p:cTn id="293" dur="200" fill="hold">
                                          <p:stCondLst>
                                            <p:cond delay="600"/>
                                          </p:stCondLst>
                                        </p:cTn>
                                        <p:tgtEl>
                                          <p:spTgt spid="114"/>
                                        </p:tgtEl>
                                        <p:attrNameLst>
                                          <p:attrName>r</p:attrName>
                                        </p:attrNameLst>
                                      </p:cBhvr>
                                    </p:animRot>
                                    <p:animRot by="120000">
                                      <p:cBhvr>
                                        <p:cTn id="294" dur="200" fill="hold">
                                          <p:stCondLst>
                                            <p:cond delay="800"/>
                                          </p:stCondLst>
                                        </p:cTn>
                                        <p:tgtEl>
                                          <p:spTgt spid="114"/>
                                        </p:tgtEl>
                                        <p:attrNameLst>
                                          <p:attrName>r</p:attrName>
                                        </p:attrNameLst>
                                      </p:cBhvr>
                                    </p:animRot>
                                  </p:childTnLst>
                                </p:cTn>
                              </p:par>
                            </p:childTnLst>
                          </p:cTn>
                        </p:par>
                      </p:childTnLst>
                    </p:cTn>
                  </p:par>
                  <p:par>
                    <p:cTn id="295" fill="hold">
                      <p:stCondLst>
                        <p:cond delay="indefinite"/>
                      </p:stCondLst>
                      <p:childTnLst>
                        <p:par>
                          <p:cTn id="296" fill="hold">
                            <p:stCondLst>
                              <p:cond delay="0"/>
                            </p:stCondLst>
                            <p:childTnLst>
                              <p:par>
                                <p:cTn id="297" presetID="27" presetClass="emph" presetSubtype="0" fill="remove" grpId="1" nodeType="clickEffect">
                                  <p:stCondLst>
                                    <p:cond delay="0"/>
                                  </p:stCondLst>
                                  <p:childTnLst>
                                    <p:animClr clrSpc="rgb" dir="cw">
                                      <p:cBhvr override="childStyle">
                                        <p:cTn id="298" dur="500" autoRev="1" fill="remove"/>
                                        <p:tgtEl>
                                          <p:spTgt spid="6"/>
                                        </p:tgtEl>
                                        <p:attrNameLst>
                                          <p:attrName>style.color</p:attrName>
                                        </p:attrNameLst>
                                      </p:cBhvr>
                                      <p:to>
                                        <a:srgbClr val="FF0000"/>
                                      </p:to>
                                    </p:animClr>
                                    <p:animClr clrSpc="rgb" dir="cw">
                                      <p:cBhvr>
                                        <p:cTn id="299" dur="500" autoRev="1" fill="remove"/>
                                        <p:tgtEl>
                                          <p:spTgt spid="6"/>
                                        </p:tgtEl>
                                        <p:attrNameLst>
                                          <p:attrName>fillcolor</p:attrName>
                                        </p:attrNameLst>
                                      </p:cBhvr>
                                      <p:to>
                                        <a:srgbClr val="FF0000"/>
                                      </p:to>
                                    </p:animClr>
                                    <p:set>
                                      <p:cBhvr>
                                        <p:cTn id="300" dur="500" autoRev="1" fill="remove"/>
                                        <p:tgtEl>
                                          <p:spTgt spid="6"/>
                                        </p:tgtEl>
                                        <p:attrNameLst>
                                          <p:attrName>fill.type</p:attrName>
                                        </p:attrNameLst>
                                      </p:cBhvr>
                                      <p:to>
                                        <p:strVal val="solid"/>
                                      </p:to>
                                    </p:set>
                                    <p:set>
                                      <p:cBhvr>
                                        <p:cTn id="301" dur="500" autoRev="1" fill="remove"/>
                                        <p:tgtEl>
                                          <p:spTgt spid="6"/>
                                        </p:tgtEl>
                                        <p:attrNameLst>
                                          <p:attrName>fill.on</p:attrName>
                                        </p:attrNameLst>
                                      </p:cBhvr>
                                      <p:to>
                                        <p:strVal val="true"/>
                                      </p:to>
                                    </p:set>
                                  </p:childTnLst>
                                </p:cTn>
                              </p:par>
                              <p:par>
                                <p:cTn id="302" presetID="27" presetClass="emph" presetSubtype="0" fill="remove" grpId="1" nodeType="withEffect">
                                  <p:stCondLst>
                                    <p:cond delay="0"/>
                                  </p:stCondLst>
                                  <p:childTnLst>
                                    <p:animClr clrSpc="rgb" dir="cw">
                                      <p:cBhvr override="childStyle">
                                        <p:cTn id="303" dur="500" autoRev="1" fill="remove"/>
                                        <p:tgtEl>
                                          <p:spTgt spid="16"/>
                                        </p:tgtEl>
                                        <p:attrNameLst>
                                          <p:attrName>style.color</p:attrName>
                                        </p:attrNameLst>
                                      </p:cBhvr>
                                      <p:to>
                                        <a:srgbClr val="FF0000"/>
                                      </p:to>
                                    </p:animClr>
                                    <p:animClr clrSpc="rgb" dir="cw">
                                      <p:cBhvr>
                                        <p:cTn id="304" dur="500" autoRev="1" fill="remove"/>
                                        <p:tgtEl>
                                          <p:spTgt spid="16"/>
                                        </p:tgtEl>
                                        <p:attrNameLst>
                                          <p:attrName>fillcolor</p:attrName>
                                        </p:attrNameLst>
                                      </p:cBhvr>
                                      <p:to>
                                        <a:srgbClr val="FF0000"/>
                                      </p:to>
                                    </p:animClr>
                                    <p:set>
                                      <p:cBhvr>
                                        <p:cTn id="305" dur="500" autoRev="1" fill="remove"/>
                                        <p:tgtEl>
                                          <p:spTgt spid="16"/>
                                        </p:tgtEl>
                                        <p:attrNameLst>
                                          <p:attrName>fill.type</p:attrName>
                                        </p:attrNameLst>
                                      </p:cBhvr>
                                      <p:to>
                                        <p:strVal val="solid"/>
                                      </p:to>
                                    </p:set>
                                    <p:set>
                                      <p:cBhvr>
                                        <p:cTn id="306" dur="500" autoRev="1" fill="remove"/>
                                        <p:tgtEl>
                                          <p:spTgt spid="16"/>
                                        </p:tgtEl>
                                        <p:attrNameLst>
                                          <p:attrName>fill.on</p:attrName>
                                        </p:attrNameLst>
                                      </p:cBhvr>
                                      <p:to>
                                        <p:strVal val="true"/>
                                      </p:to>
                                    </p:set>
                                  </p:childTnLst>
                                </p:cTn>
                              </p:par>
                              <p:par>
                                <p:cTn id="307" presetID="22" presetClass="entr" presetSubtype="1" fill="hold" nodeType="withEffect">
                                  <p:stCondLst>
                                    <p:cond delay="500"/>
                                  </p:stCondLst>
                                  <p:childTnLst>
                                    <p:set>
                                      <p:cBhvr>
                                        <p:cTn id="308" dur="1" fill="hold">
                                          <p:stCondLst>
                                            <p:cond delay="0"/>
                                          </p:stCondLst>
                                        </p:cTn>
                                        <p:tgtEl>
                                          <p:spTgt spid="39"/>
                                        </p:tgtEl>
                                        <p:attrNameLst>
                                          <p:attrName>style.visibility</p:attrName>
                                        </p:attrNameLst>
                                      </p:cBhvr>
                                      <p:to>
                                        <p:strVal val="visible"/>
                                      </p:to>
                                    </p:set>
                                    <p:animEffect transition="in" filter="wipe(up)">
                                      <p:cBhvr>
                                        <p:cTn id="309" dur="1000"/>
                                        <p:tgtEl>
                                          <p:spTgt spid="39"/>
                                        </p:tgtEl>
                                      </p:cBhvr>
                                    </p:animEffect>
                                  </p:childTnLst>
                                </p:cTn>
                              </p:par>
                              <p:par>
                                <p:cTn id="310" presetID="22" presetClass="entr" presetSubtype="1" fill="hold" grpId="0" nodeType="withEffect">
                                  <p:stCondLst>
                                    <p:cond delay="0"/>
                                  </p:stCondLst>
                                  <p:childTnLst>
                                    <p:set>
                                      <p:cBhvr>
                                        <p:cTn id="311" dur="1" fill="hold">
                                          <p:stCondLst>
                                            <p:cond delay="0"/>
                                          </p:stCondLst>
                                        </p:cTn>
                                        <p:tgtEl>
                                          <p:spTgt spid="118">
                                            <p:txEl>
                                              <p:pRg st="4" end="4"/>
                                            </p:txEl>
                                          </p:spTgt>
                                        </p:tgtEl>
                                        <p:attrNameLst>
                                          <p:attrName>style.visibility</p:attrName>
                                        </p:attrNameLst>
                                      </p:cBhvr>
                                      <p:to>
                                        <p:strVal val="visible"/>
                                      </p:to>
                                    </p:set>
                                    <p:animEffect transition="in" filter="wipe(up)">
                                      <p:cBhvr>
                                        <p:cTn id="312" dur="500"/>
                                        <p:tgtEl>
                                          <p:spTgt spid="118">
                                            <p:txEl>
                                              <p:pRg st="4" end="4"/>
                                            </p:txEl>
                                          </p:spTgt>
                                        </p:tgtEl>
                                      </p:cBhvr>
                                    </p:animEffect>
                                  </p:childTnLst>
                                </p:cTn>
                              </p:par>
                            </p:childTnLst>
                          </p:cTn>
                        </p:par>
                      </p:childTnLst>
                    </p:cTn>
                  </p:par>
                  <p:par>
                    <p:cTn id="313" fill="hold">
                      <p:stCondLst>
                        <p:cond delay="indefinite"/>
                      </p:stCondLst>
                      <p:childTnLst>
                        <p:par>
                          <p:cTn id="314" fill="hold">
                            <p:stCondLst>
                              <p:cond delay="0"/>
                            </p:stCondLst>
                            <p:childTnLst>
                              <p:par>
                                <p:cTn id="315" presetID="32" presetClass="emph" presetSubtype="0" fill="hold" grpId="1" nodeType="clickEffect">
                                  <p:stCondLst>
                                    <p:cond delay="0"/>
                                  </p:stCondLst>
                                  <p:childTnLst>
                                    <p:animRot by="120000">
                                      <p:cBhvr>
                                        <p:cTn id="316" dur="100" fill="hold">
                                          <p:stCondLst>
                                            <p:cond delay="0"/>
                                          </p:stCondLst>
                                        </p:cTn>
                                        <p:tgtEl>
                                          <p:spTgt spid="132"/>
                                        </p:tgtEl>
                                        <p:attrNameLst>
                                          <p:attrName>r</p:attrName>
                                        </p:attrNameLst>
                                      </p:cBhvr>
                                    </p:animRot>
                                    <p:animRot by="-240000">
                                      <p:cBhvr>
                                        <p:cTn id="317" dur="200" fill="hold">
                                          <p:stCondLst>
                                            <p:cond delay="200"/>
                                          </p:stCondLst>
                                        </p:cTn>
                                        <p:tgtEl>
                                          <p:spTgt spid="132"/>
                                        </p:tgtEl>
                                        <p:attrNameLst>
                                          <p:attrName>r</p:attrName>
                                        </p:attrNameLst>
                                      </p:cBhvr>
                                    </p:animRot>
                                    <p:animRot by="240000">
                                      <p:cBhvr>
                                        <p:cTn id="318" dur="200" fill="hold">
                                          <p:stCondLst>
                                            <p:cond delay="400"/>
                                          </p:stCondLst>
                                        </p:cTn>
                                        <p:tgtEl>
                                          <p:spTgt spid="132"/>
                                        </p:tgtEl>
                                        <p:attrNameLst>
                                          <p:attrName>r</p:attrName>
                                        </p:attrNameLst>
                                      </p:cBhvr>
                                    </p:animRot>
                                    <p:animRot by="-240000">
                                      <p:cBhvr>
                                        <p:cTn id="319" dur="200" fill="hold">
                                          <p:stCondLst>
                                            <p:cond delay="600"/>
                                          </p:stCondLst>
                                        </p:cTn>
                                        <p:tgtEl>
                                          <p:spTgt spid="132"/>
                                        </p:tgtEl>
                                        <p:attrNameLst>
                                          <p:attrName>r</p:attrName>
                                        </p:attrNameLst>
                                      </p:cBhvr>
                                    </p:animRot>
                                    <p:animRot by="120000">
                                      <p:cBhvr>
                                        <p:cTn id="320" dur="200" fill="hold">
                                          <p:stCondLst>
                                            <p:cond delay="800"/>
                                          </p:stCondLst>
                                        </p:cTn>
                                        <p:tgtEl>
                                          <p:spTgt spid="132"/>
                                        </p:tgtEl>
                                        <p:attrNameLst>
                                          <p:attrName>r</p:attrName>
                                        </p:attrNameLst>
                                      </p:cBhvr>
                                    </p:animRot>
                                  </p:childTnLst>
                                </p:cTn>
                              </p:par>
                            </p:childTnLst>
                          </p:cTn>
                        </p:par>
                        <p:par>
                          <p:cTn id="321" fill="hold">
                            <p:stCondLst>
                              <p:cond delay="1000"/>
                            </p:stCondLst>
                            <p:childTnLst>
                              <p:par>
                                <p:cTn id="322" presetID="22" presetClass="entr" presetSubtype="2" fill="hold" grpId="0" nodeType="afterEffect">
                                  <p:stCondLst>
                                    <p:cond delay="0"/>
                                  </p:stCondLst>
                                  <p:childTnLst>
                                    <p:set>
                                      <p:cBhvr>
                                        <p:cTn id="323" dur="1" fill="hold">
                                          <p:stCondLst>
                                            <p:cond delay="0"/>
                                          </p:stCondLst>
                                        </p:cTn>
                                        <p:tgtEl>
                                          <p:spTgt spid="134"/>
                                        </p:tgtEl>
                                        <p:attrNameLst>
                                          <p:attrName>style.visibility</p:attrName>
                                        </p:attrNameLst>
                                      </p:cBhvr>
                                      <p:to>
                                        <p:strVal val="visible"/>
                                      </p:to>
                                    </p:set>
                                    <p:animEffect transition="in" filter="wipe(right)">
                                      <p:cBhvr>
                                        <p:cTn id="324" dur="1000"/>
                                        <p:tgtEl>
                                          <p:spTgt spid="134"/>
                                        </p:tgtEl>
                                      </p:cBhvr>
                                    </p:animEffect>
                                  </p:childTnLst>
                                </p:cTn>
                              </p:par>
                            </p:childTnLst>
                          </p:cTn>
                        </p:par>
                      </p:childTnLst>
                    </p:cTn>
                  </p:par>
                  <p:par>
                    <p:cTn id="325" fill="hold">
                      <p:stCondLst>
                        <p:cond delay="indefinite"/>
                      </p:stCondLst>
                      <p:childTnLst>
                        <p:par>
                          <p:cTn id="326" fill="hold">
                            <p:stCondLst>
                              <p:cond delay="0"/>
                            </p:stCondLst>
                            <p:childTnLst>
                              <p:par>
                                <p:cTn id="327" presetID="27" presetClass="emph" presetSubtype="0" fill="remove" grpId="2" nodeType="clickEffect">
                                  <p:stCondLst>
                                    <p:cond delay="0"/>
                                  </p:stCondLst>
                                  <p:childTnLst>
                                    <p:animClr clrSpc="rgb" dir="cw">
                                      <p:cBhvr override="childStyle">
                                        <p:cTn id="328" dur="500" autoRev="1" fill="remove"/>
                                        <p:tgtEl>
                                          <p:spTgt spid="6"/>
                                        </p:tgtEl>
                                        <p:attrNameLst>
                                          <p:attrName>style.color</p:attrName>
                                        </p:attrNameLst>
                                      </p:cBhvr>
                                      <p:to>
                                        <a:srgbClr val="FF0000"/>
                                      </p:to>
                                    </p:animClr>
                                    <p:animClr clrSpc="rgb" dir="cw">
                                      <p:cBhvr>
                                        <p:cTn id="329" dur="500" autoRev="1" fill="remove"/>
                                        <p:tgtEl>
                                          <p:spTgt spid="6"/>
                                        </p:tgtEl>
                                        <p:attrNameLst>
                                          <p:attrName>fillcolor</p:attrName>
                                        </p:attrNameLst>
                                      </p:cBhvr>
                                      <p:to>
                                        <a:srgbClr val="FF0000"/>
                                      </p:to>
                                    </p:animClr>
                                    <p:set>
                                      <p:cBhvr>
                                        <p:cTn id="330" dur="500" autoRev="1" fill="remove"/>
                                        <p:tgtEl>
                                          <p:spTgt spid="6"/>
                                        </p:tgtEl>
                                        <p:attrNameLst>
                                          <p:attrName>fill.type</p:attrName>
                                        </p:attrNameLst>
                                      </p:cBhvr>
                                      <p:to>
                                        <p:strVal val="solid"/>
                                      </p:to>
                                    </p:set>
                                    <p:set>
                                      <p:cBhvr>
                                        <p:cTn id="331" dur="500" autoRev="1" fill="remove"/>
                                        <p:tgtEl>
                                          <p:spTgt spid="6"/>
                                        </p:tgtEl>
                                        <p:attrNameLst>
                                          <p:attrName>fill.on</p:attrName>
                                        </p:attrNameLst>
                                      </p:cBhvr>
                                      <p:to>
                                        <p:strVal val="true"/>
                                      </p:to>
                                    </p:set>
                                  </p:childTnLst>
                                </p:cTn>
                              </p:par>
                              <p:par>
                                <p:cTn id="332" presetID="27" presetClass="emph" presetSubtype="0" fill="remove" grpId="1" nodeType="withEffect">
                                  <p:stCondLst>
                                    <p:cond delay="0"/>
                                  </p:stCondLst>
                                  <p:childTnLst>
                                    <p:animClr clrSpc="rgb" dir="cw">
                                      <p:cBhvr override="childStyle">
                                        <p:cTn id="333" dur="500" autoRev="1" fill="remove"/>
                                        <p:tgtEl>
                                          <p:spTgt spid="12"/>
                                        </p:tgtEl>
                                        <p:attrNameLst>
                                          <p:attrName>style.color</p:attrName>
                                        </p:attrNameLst>
                                      </p:cBhvr>
                                      <p:to>
                                        <a:srgbClr val="FF0000"/>
                                      </p:to>
                                    </p:animClr>
                                    <p:animClr clrSpc="rgb" dir="cw">
                                      <p:cBhvr>
                                        <p:cTn id="334" dur="500" autoRev="1" fill="remove"/>
                                        <p:tgtEl>
                                          <p:spTgt spid="12"/>
                                        </p:tgtEl>
                                        <p:attrNameLst>
                                          <p:attrName>fillcolor</p:attrName>
                                        </p:attrNameLst>
                                      </p:cBhvr>
                                      <p:to>
                                        <a:srgbClr val="FF0000"/>
                                      </p:to>
                                    </p:animClr>
                                    <p:set>
                                      <p:cBhvr>
                                        <p:cTn id="335" dur="500" autoRev="1" fill="remove"/>
                                        <p:tgtEl>
                                          <p:spTgt spid="12"/>
                                        </p:tgtEl>
                                        <p:attrNameLst>
                                          <p:attrName>fill.type</p:attrName>
                                        </p:attrNameLst>
                                      </p:cBhvr>
                                      <p:to>
                                        <p:strVal val="solid"/>
                                      </p:to>
                                    </p:set>
                                    <p:set>
                                      <p:cBhvr>
                                        <p:cTn id="336" dur="500" autoRev="1" fill="remove"/>
                                        <p:tgtEl>
                                          <p:spTgt spid="12"/>
                                        </p:tgtEl>
                                        <p:attrNameLst>
                                          <p:attrName>fill.on</p:attrName>
                                        </p:attrNameLst>
                                      </p:cBhvr>
                                      <p:to>
                                        <p:strVal val="true"/>
                                      </p:to>
                                    </p:set>
                                  </p:childTnLst>
                                </p:cTn>
                              </p:par>
                              <p:par>
                                <p:cTn id="337" presetID="22" presetClass="entr" presetSubtype="2" fill="hold" grpId="0" nodeType="withEffect">
                                  <p:stCondLst>
                                    <p:cond delay="500"/>
                                  </p:stCondLst>
                                  <p:childTnLst>
                                    <p:set>
                                      <p:cBhvr>
                                        <p:cTn id="338" dur="1" fill="hold">
                                          <p:stCondLst>
                                            <p:cond delay="0"/>
                                          </p:stCondLst>
                                        </p:cTn>
                                        <p:tgtEl>
                                          <p:spTgt spid="58"/>
                                        </p:tgtEl>
                                        <p:attrNameLst>
                                          <p:attrName>style.visibility</p:attrName>
                                        </p:attrNameLst>
                                      </p:cBhvr>
                                      <p:to>
                                        <p:strVal val="visible"/>
                                      </p:to>
                                    </p:set>
                                    <p:animEffect transition="in" filter="wipe(right)">
                                      <p:cBhvr>
                                        <p:cTn id="339" dur="1000"/>
                                        <p:tgtEl>
                                          <p:spTgt spid="58"/>
                                        </p:tgtEl>
                                      </p:cBhvr>
                                    </p:animEffect>
                                  </p:childTnLst>
                                </p:cTn>
                              </p:par>
                              <p:par>
                                <p:cTn id="340" presetID="22" presetClass="entr" presetSubtype="1" fill="hold" grpId="0" nodeType="withEffect">
                                  <p:stCondLst>
                                    <p:cond delay="0"/>
                                  </p:stCondLst>
                                  <p:childTnLst>
                                    <p:set>
                                      <p:cBhvr>
                                        <p:cTn id="341" dur="1" fill="hold">
                                          <p:stCondLst>
                                            <p:cond delay="0"/>
                                          </p:stCondLst>
                                        </p:cTn>
                                        <p:tgtEl>
                                          <p:spTgt spid="118">
                                            <p:txEl>
                                              <p:pRg st="5" end="5"/>
                                            </p:txEl>
                                          </p:spTgt>
                                        </p:tgtEl>
                                        <p:attrNameLst>
                                          <p:attrName>style.visibility</p:attrName>
                                        </p:attrNameLst>
                                      </p:cBhvr>
                                      <p:to>
                                        <p:strVal val="visible"/>
                                      </p:to>
                                    </p:set>
                                    <p:animEffect transition="in" filter="wipe(up)">
                                      <p:cBhvr>
                                        <p:cTn id="342" dur="500"/>
                                        <p:tgtEl>
                                          <p:spTgt spid="118">
                                            <p:txEl>
                                              <p:pRg st="5" end="5"/>
                                            </p:txEl>
                                          </p:spTgt>
                                        </p:tgtEl>
                                      </p:cBhvr>
                                    </p:animEffect>
                                  </p:childTnLst>
                                </p:cTn>
                              </p:par>
                            </p:childTnLst>
                          </p:cTn>
                        </p:par>
                      </p:childTnLst>
                    </p:cTn>
                  </p:par>
                  <p:par>
                    <p:cTn id="343" fill="hold">
                      <p:stCondLst>
                        <p:cond delay="indefinite"/>
                      </p:stCondLst>
                      <p:childTnLst>
                        <p:par>
                          <p:cTn id="344" fill="hold">
                            <p:stCondLst>
                              <p:cond delay="0"/>
                            </p:stCondLst>
                            <p:childTnLst>
                              <p:par>
                                <p:cTn id="345" presetID="32" presetClass="emph" presetSubtype="0" fill="hold" grpId="1" nodeType="clickEffect">
                                  <p:stCondLst>
                                    <p:cond delay="0"/>
                                  </p:stCondLst>
                                  <p:childTnLst>
                                    <p:animRot by="120000">
                                      <p:cBhvr>
                                        <p:cTn id="346" dur="100" fill="hold">
                                          <p:stCondLst>
                                            <p:cond delay="0"/>
                                          </p:stCondLst>
                                        </p:cTn>
                                        <p:tgtEl>
                                          <p:spTgt spid="134"/>
                                        </p:tgtEl>
                                        <p:attrNameLst>
                                          <p:attrName>r</p:attrName>
                                        </p:attrNameLst>
                                      </p:cBhvr>
                                    </p:animRot>
                                    <p:animRot by="-240000">
                                      <p:cBhvr>
                                        <p:cTn id="347" dur="200" fill="hold">
                                          <p:stCondLst>
                                            <p:cond delay="200"/>
                                          </p:stCondLst>
                                        </p:cTn>
                                        <p:tgtEl>
                                          <p:spTgt spid="134"/>
                                        </p:tgtEl>
                                        <p:attrNameLst>
                                          <p:attrName>r</p:attrName>
                                        </p:attrNameLst>
                                      </p:cBhvr>
                                    </p:animRot>
                                    <p:animRot by="240000">
                                      <p:cBhvr>
                                        <p:cTn id="348" dur="200" fill="hold">
                                          <p:stCondLst>
                                            <p:cond delay="400"/>
                                          </p:stCondLst>
                                        </p:cTn>
                                        <p:tgtEl>
                                          <p:spTgt spid="134"/>
                                        </p:tgtEl>
                                        <p:attrNameLst>
                                          <p:attrName>r</p:attrName>
                                        </p:attrNameLst>
                                      </p:cBhvr>
                                    </p:animRot>
                                    <p:animRot by="-240000">
                                      <p:cBhvr>
                                        <p:cTn id="349" dur="200" fill="hold">
                                          <p:stCondLst>
                                            <p:cond delay="600"/>
                                          </p:stCondLst>
                                        </p:cTn>
                                        <p:tgtEl>
                                          <p:spTgt spid="134"/>
                                        </p:tgtEl>
                                        <p:attrNameLst>
                                          <p:attrName>r</p:attrName>
                                        </p:attrNameLst>
                                      </p:cBhvr>
                                    </p:animRot>
                                    <p:animRot by="120000">
                                      <p:cBhvr>
                                        <p:cTn id="350" dur="200" fill="hold">
                                          <p:stCondLst>
                                            <p:cond delay="800"/>
                                          </p:stCondLst>
                                        </p:cTn>
                                        <p:tgtEl>
                                          <p:spTgt spid="134"/>
                                        </p:tgtEl>
                                        <p:attrNameLst>
                                          <p:attrName>r</p:attrName>
                                        </p:attrNameLst>
                                      </p:cBhvr>
                                    </p:animRot>
                                  </p:childTnLst>
                                </p:cTn>
                              </p:par>
                            </p:childTnLst>
                          </p:cTn>
                        </p:par>
                        <p:par>
                          <p:cTn id="351" fill="hold">
                            <p:stCondLst>
                              <p:cond delay="1000"/>
                            </p:stCondLst>
                            <p:childTnLst>
                              <p:par>
                                <p:cTn id="352" presetID="32" presetClass="emph" presetSubtype="0" fill="hold" grpId="1" nodeType="afterEffect">
                                  <p:stCondLst>
                                    <p:cond delay="0"/>
                                  </p:stCondLst>
                                  <p:childTnLst>
                                    <p:animRot by="120000">
                                      <p:cBhvr>
                                        <p:cTn id="353" dur="100" fill="hold">
                                          <p:stCondLst>
                                            <p:cond delay="0"/>
                                          </p:stCondLst>
                                        </p:cTn>
                                        <p:tgtEl>
                                          <p:spTgt spid="110"/>
                                        </p:tgtEl>
                                        <p:attrNameLst>
                                          <p:attrName>r</p:attrName>
                                        </p:attrNameLst>
                                      </p:cBhvr>
                                    </p:animRot>
                                    <p:animRot by="-240000">
                                      <p:cBhvr>
                                        <p:cTn id="354" dur="200" fill="hold">
                                          <p:stCondLst>
                                            <p:cond delay="200"/>
                                          </p:stCondLst>
                                        </p:cTn>
                                        <p:tgtEl>
                                          <p:spTgt spid="110"/>
                                        </p:tgtEl>
                                        <p:attrNameLst>
                                          <p:attrName>r</p:attrName>
                                        </p:attrNameLst>
                                      </p:cBhvr>
                                    </p:animRot>
                                    <p:animRot by="240000">
                                      <p:cBhvr>
                                        <p:cTn id="355" dur="200" fill="hold">
                                          <p:stCondLst>
                                            <p:cond delay="400"/>
                                          </p:stCondLst>
                                        </p:cTn>
                                        <p:tgtEl>
                                          <p:spTgt spid="110"/>
                                        </p:tgtEl>
                                        <p:attrNameLst>
                                          <p:attrName>r</p:attrName>
                                        </p:attrNameLst>
                                      </p:cBhvr>
                                    </p:animRot>
                                    <p:animRot by="-240000">
                                      <p:cBhvr>
                                        <p:cTn id="356" dur="200" fill="hold">
                                          <p:stCondLst>
                                            <p:cond delay="600"/>
                                          </p:stCondLst>
                                        </p:cTn>
                                        <p:tgtEl>
                                          <p:spTgt spid="110"/>
                                        </p:tgtEl>
                                        <p:attrNameLst>
                                          <p:attrName>r</p:attrName>
                                        </p:attrNameLst>
                                      </p:cBhvr>
                                    </p:animRot>
                                    <p:animRot by="120000">
                                      <p:cBhvr>
                                        <p:cTn id="357" dur="200" fill="hold">
                                          <p:stCondLst>
                                            <p:cond delay="800"/>
                                          </p:stCondLst>
                                        </p:cTn>
                                        <p:tgtEl>
                                          <p:spTgt spid="110"/>
                                        </p:tgtEl>
                                        <p:attrNameLst>
                                          <p:attrName>r</p:attrName>
                                        </p:attrNameLst>
                                      </p:cBhvr>
                                    </p:animRot>
                                  </p:childTnLst>
                                </p:cTn>
                              </p:par>
                            </p:childTnLst>
                          </p:cTn>
                        </p:par>
                      </p:childTnLst>
                    </p:cTn>
                  </p:par>
                  <p:par>
                    <p:cTn id="358" fill="hold">
                      <p:stCondLst>
                        <p:cond delay="indefinite"/>
                      </p:stCondLst>
                      <p:childTnLst>
                        <p:par>
                          <p:cTn id="359" fill="hold">
                            <p:stCondLst>
                              <p:cond delay="0"/>
                            </p:stCondLst>
                            <p:childTnLst>
                              <p:par>
                                <p:cTn id="360" presetID="27" presetClass="emph" presetSubtype="0" fill="remove" grpId="2" nodeType="clickEffect">
                                  <p:stCondLst>
                                    <p:cond delay="0"/>
                                  </p:stCondLst>
                                  <p:childTnLst>
                                    <p:animClr clrSpc="rgb" dir="cw">
                                      <p:cBhvr override="childStyle">
                                        <p:cTn id="361" dur="500" autoRev="1" fill="remove"/>
                                        <p:tgtEl>
                                          <p:spTgt spid="12"/>
                                        </p:tgtEl>
                                        <p:attrNameLst>
                                          <p:attrName>style.color</p:attrName>
                                        </p:attrNameLst>
                                      </p:cBhvr>
                                      <p:to>
                                        <a:srgbClr val="FF0000"/>
                                      </p:to>
                                    </p:animClr>
                                    <p:animClr clrSpc="rgb" dir="cw">
                                      <p:cBhvr>
                                        <p:cTn id="362" dur="500" autoRev="1" fill="remove"/>
                                        <p:tgtEl>
                                          <p:spTgt spid="12"/>
                                        </p:tgtEl>
                                        <p:attrNameLst>
                                          <p:attrName>fillcolor</p:attrName>
                                        </p:attrNameLst>
                                      </p:cBhvr>
                                      <p:to>
                                        <a:srgbClr val="FF0000"/>
                                      </p:to>
                                    </p:animClr>
                                    <p:set>
                                      <p:cBhvr>
                                        <p:cTn id="363" dur="500" autoRev="1" fill="remove"/>
                                        <p:tgtEl>
                                          <p:spTgt spid="12"/>
                                        </p:tgtEl>
                                        <p:attrNameLst>
                                          <p:attrName>fill.type</p:attrName>
                                        </p:attrNameLst>
                                      </p:cBhvr>
                                      <p:to>
                                        <p:strVal val="solid"/>
                                      </p:to>
                                    </p:set>
                                    <p:set>
                                      <p:cBhvr>
                                        <p:cTn id="364" dur="500" autoRev="1" fill="remove"/>
                                        <p:tgtEl>
                                          <p:spTgt spid="12"/>
                                        </p:tgtEl>
                                        <p:attrNameLst>
                                          <p:attrName>fill.on</p:attrName>
                                        </p:attrNameLst>
                                      </p:cBhvr>
                                      <p:to>
                                        <p:strVal val="true"/>
                                      </p:to>
                                    </p:set>
                                  </p:childTnLst>
                                </p:cTn>
                              </p:par>
                              <p:par>
                                <p:cTn id="365" presetID="27" presetClass="emph" presetSubtype="0" fill="remove" grpId="1" nodeType="withEffect">
                                  <p:stCondLst>
                                    <p:cond delay="0"/>
                                  </p:stCondLst>
                                  <p:childTnLst>
                                    <p:animClr clrSpc="rgb" dir="cw">
                                      <p:cBhvr override="childStyle">
                                        <p:cTn id="366" dur="500" autoRev="1" fill="remove"/>
                                        <p:tgtEl>
                                          <p:spTgt spid="4"/>
                                        </p:tgtEl>
                                        <p:attrNameLst>
                                          <p:attrName>style.color</p:attrName>
                                        </p:attrNameLst>
                                      </p:cBhvr>
                                      <p:to>
                                        <a:srgbClr val="FF0000"/>
                                      </p:to>
                                    </p:animClr>
                                    <p:animClr clrSpc="rgb" dir="cw">
                                      <p:cBhvr>
                                        <p:cTn id="367" dur="500" autoRev="1" fill="remove"/>
                                        <p:tgtEl>
                                          <p:spTgt spid="4"/>
                                        </p:tgtEl>
                                        <p:attrNameLst>
                                          <p:attrName>fillcolor</p:attrName>
                                        </p:attrNameLst>
                                      </p:cBhvr>
                                      <p:to>
                                        <a:srgbClr val="FF0000"/>
                                      </p:to>
                                    </p:animClr>
                                    <p:set>
                                      <p:cBhvr>
                                        <p:cTn id="368" dur="500" autoRev="1" fill="remove"/>
                                        <p:tgtEl>
                                          <p:spTgt spid="4"/>
                                        </p:tgtEl>
                                        <p:attrNameLst>
                                          <p:attrName>fill.type</p:attrName>
                                        </p:attrNameLst>
                                      </p:cBhvr>
                                      <p:to>
                                        <p:strVal val="solid"/>
                                      </p:to>
                                    </p:set>
                                    <p:set>
                                      <p:cBhvr>
                                        <p:cTn id="369" dur="500" autoRev="1" fill="remove"/>
                                        <p:tgtEl>
                                          <p:spTgt spid="4"/>
                                        </p:tgtEl>
                                        <p:attrNameLst>
                                          <p:attrName>fill.on</p:attrName>
                                        </p:attrNameLst>
                                      </p:cBhvr>
                                      <p:to>
                                        <p:strVal val="true"/>
                                      </p:to>
                                    </p:set>
                                  </p:childTnLst>
                                </p:cTn>
                              </p:par>
                              <p:par>
                                <p:cTn id="370" presetID="22" presetClass="entr" presetSubtype="4" fill="hold" nodeType="withEffect">
                                  <p:stCondLst>
                                    <p:cond delay="500"/>
                                  </p:stCondLst>
                                  <p:childTnLst>
                                    <p:set>
                                      <p:cBhvr>
                                        <p:cTn id="371" dur="1" fill="hold">
                                          <p:stCondLst>
                                            <p:cond delay="0"/>
                                          </p:stCondLst>
                                        </p:cTn>
                                        <p:tgtEl>
                                          <p:spTgt spid="35"/>
                                        </p:tgtEl>
                                        <p:attrNameLst>
                                          <p:attrName>style.visibility</p:attrName>
                                        </p:attrNameLst>
                                      </p:cBhvr>
                                      <p:to>
                                        <p:strVal val="visible"/>
                                      </p:to>
                                    </p:set>
                                    <p:animEffect transition="in" filter="wipe(down)">
                                      <p:cBhvr>
                                        <p:cTn id="372" dur="1000"/>
                                        <p:tgtEl>
                                          <p:spTgt spid="35"/>
                                        </p:tgtEl>
                                      </p:cBhvr>
                                    </p:animEffect>
                                  </p:childTnLst>
                                </p:cTn>
                              </p:par>
                              <p:par>
                                <p:cTn id="373" presetID="22" presetClass="entr" presetSubtype="1" fill="hold" grpId="0" nodeType="withEffect">
                                  <p:stCondLst>
                                    <p:cond delay="0"/>
                                  </p:stCondLst>
                                  <p:childTnLst>
                                    <p:set>
                                      <p:cBhvr>
                                        <p:cTn id="374" dur="1" fill="hold">
                                          <p:stCondLst>
                                            <p:cond delay="0"/>
                                          </p:stCondLst>
                                        </p:cTn>
                                        <p:tgtEl>
                                          <p:spTgt spid="118">
                                            <p:txEl>
                                              <p:pRg st="6" end="6"/>
                                            </p:txEl>
                                          </p:spTgt>
                                        </p:tgtEl>
                                        <p:attrNameLst>
                                          <p:attrName>style.visibility</p:attrName>
                                        </p:attrNameLst>
                                      </p:cBhvr>
                                      <p:to>
                                        <p:strVal val="visible"/>
                                      </p:to>
                                    </p:set>
                                    <p:animEffect transition="in" filter="wipe(up)">
                                      <p:cBhvr>
                                        <p:cTn id="375" dur="500"/>
                                        <p:tgtEl>
                                          <p:spTgt spid="118">
                                            <p:txEl>
                                              <p:pRg st="6" end="6"/>
                                            </p:txEl>
                                          </p:spTgt>
                                        </p:tgtEl>
                                      </p:cBhvr>
                                    </p:animEffect>
                                  </p:childTnLst>
                                </p:cTn>
                              </p:par>
                              <p:par>
                                <p:cTn id="376" presetID="22" presetClass="entr" presetSubtype="1" fill="hold" grpId="0" nodeType="withEffect">
                                  <p:stCondLst>
                                    <p:cond delay="0"/>
                                  </p:stCondLst>
                                  <p:childTnLst>
                                    <p:set>
                                      <p:cBhvr>
                                        <p:cTn id="377" dur="1" fill="hold">
                                          <p:stCondLst>
                                            <p:cond delay="0"/>
                                          </p:stCondLst>
                                        </p:cTn>
                                        <p:tgtEl>
                                          <p:spTgt spid="118">
                                            <p:txEl>
                                              <p:pRg st="7" end="7"/>
                                            </p:txEl>
                                          </p:spTgt>
                                        </p:tgtEl>
                                        <p:attrNameLst>
                                          <p:attrName>style.visibility</p:attrName>
                                        </p:attrNameLst>
                                      </p:cBhvr>
                                      <p:to>
                                        <p:strVal val="visible"/>
                                      </p:to>
                                    </p:set>
                                    <p:animEffect transition="in" filter="wipe(up)">
                                      <p:cBhvr>
                                        <p:cTn id="378" dur="500"/>
                                        <p:tgtEl>
                                          <p:spTgt spid="118">
                                            <p:txEl>
                                              <p:pRg st="7" end="7"/>
                                            </p:txEl>
                                          </p:spTgt>
                                        </p:tgtEl>
                                      </p:cBhvr>
                                    </p:animEffect>
                                  </p:childTnLst>
                                </p:cTn>
                              </p:par>
                            </p:childTnLst>
                          </p:cTn>
                        </p:par>
                      </p:childTnLst>
                    </p:cTn>
                  </p:par>
                  <p:par>
                    <p:cTn id="379" fill="hold">
                      <p:stCondLst>
                        <p:cond delay="indefinite"/>
                      </p:stCondLst>
                      <p:childTnLst>
                        <p:par>
                          <p:cTn id="380" fill="hold">
                            <p:stCondLst>
                              <p:cond delay="0"/>
                            </p:stCondLst>
                            <p:childTnLst>
                              <p:par>
                                <p:cTn id="381" presetID="22" presetClass="entr" presetSubtype="4" fill="hold" nodeType="clickEffect">
                                  <p:stCondLst>
                                    <p:cond delay="0"/>
                                  </p:stCondLst>
                                  <p:childTnLst>
                                    <p:set>
                                      <p:cBhvr>
                                        <p:cTn id="382" dur="1" fill="hold">
                                          <p:stCondLst>
                                            <p:cond delay="0"/>
                                          </p:stCondLst>
                                        </p:cTn>
                                        <p:tgtEl>
                                          <p:spTgt spid="135"/>
                                        </p:tgtEl>
                                        <p:attrNameLst>
                                          <p:attrName>style.visibility</p:attrName>
                                        </p:attrNameLst>
                                      </p:cBhvr>
                                      <p:to>
                                        <p:strVal val="visible"/>
                                      </p:to>
                                    </p:set>
                                    <p:animEffect transition="in" filter="wipe(down)">
                                      <p:cBhvr>
                                        <p:cTn id="383" dur="1500"/>
                                        <p:tgtEl>
                                          <p:spTgt spid="135"/>
                                        </p:tgtEl>
                                      </p:cBhvr>
                                    </p:animEffect>
                                  </p:childTnLst>
                                </p:cTn>
                              </p:par>
                              <p:par>
                                <p:cTn id="384" presetID="22" presetClass="entr" presetSubtype="4" fill="hold" nodeType="withEffect">
                                  <p:stCondLst>
                                    <p:cond delay="0"/>
                                  </p:stCondLst>
                                  <p:childTnLst>
                                    <p:set>
                                      <p:cBhvr>
                                        <p:cTn id="385" dur="1" fill="hold">
                                          <p:stCondLst>
                                            <p:cond delay="0"/>
                                          </p:stCondLst>
                                        </p:cTn>
                                        <p:tgtEl>
                                          <p:spTgt spid="136"/>
                                        </p:tgtEl>
                                        <p:attrNameLst>
                                          <p:attrName>style.visibility</p:attrName>
                                        </p:attrNameLst>
                                      </p:cBhvr>
                                      <p:to>
                                        <p:strVal val="visible"/>
                                      </p:to>
                                    </p:set>
                                    <p:animEffect transition="in" filter="wipe(down)">
                                      <p:cBhvr>
                                        <p:cTn id="386" dur="1500"/>
                                        <p:tgtEl>
                                          <p:spTgt spid="136"/>
                                        </p:tgtEl>
                                      </p:cBhvr>
                                    </p:animEffect>
                                  </p:childTnLst>
                                </p:cTn>
                              </p:par>
                              <p:par>
                                <p:cTn id="387" presetID="22" presetClass="entr" presetSubtype="4" fill="hold" nodeType="withEffect">
                                  <p:stCondLst>
                                    <p:cond delay="0"/>
                                  </p:stCondLst>
                                  <p:childTnLst>
                                    <p:set>
                                      <p:cBhvr>
                                        <p:cTn id="388" dur="1" fill="hold">
                                          <p:stCondLst>
                                            <p:cond delay="0"/>
                                          </p:stCondLst>
                                        </p:cTn>
                                        <p:tgtEl>
                                          <p:spTgt spid="20"/>
                                        </p:tgtEl>
                                        <p:attrNameLst>
                                          <p:attrName>style.visibility</p:attrName>
                                        </p:attrNameLst>
                                      </p:cBhvr>
                                      <p:to>
                                        <p:strVal val="visible"/>
                                      </p:to>
                                    </p:set>
                                    <p:animEffect transition="in" filter="wipe(down)">
                                      <p:cBhvr>
                                        <p:cTn id="389" dur="1500"/>
                                        <p:tgtEl>
                                          <p:spTgt spid="20"/>
                                        </p:tgtEl>
                                      </p:cBhvr>
                                    </p:animEffect>
                                  </p:childTnLst>
                                </p:cTn>
                              </p:par>
                              <p:par>
                                <p:cTn id="390" presetID="22" presetClass="entr" presetSubtype="4" fill="hold" grpId="0" nodeType="withEffect">
                                  <p:stCondLst>
                                    <p:cond delay="0"/>
                                  </p:stCondLst>
                                  <p:childTnLst>
                                    <p:set>
                                      <p:cBhvr>
                                        <p:cTn id="391" dur="1" fill="hold">
                                          <p:stCondLst>
                                            <p:cond delay="0"/>
                                          </p:stCondLst>
                                        </p:cTn>
                                        <p:tgtEl>
                                          <p:spTgt spid="53"/>
                                        </p:tgtEl>
                                        <p:attrNameLst>
                                          <p:attrName>style.visibility</p:attrName>
                                        </p:attrNameLst>
                                      </p:cBhvr>
                                      <p:to>
                                        <p:strVal val="visible"/>
                                      </p:to>
                                    </p:set>
                                    <p:animEffect transition="in" filter="wipe(down)">
                                      <p:cBhvr>
                                        <p:cTn id="392" dur="1500"/>
                                        <p:tgtEl>
                                          <p:spTgt spid="53"/>
                                        </p:tgtEl>
                                      </p:cBhvr>
                                    </p:animEffect>
                                  </p:childTnLst>
                                </p:cTn>
                              </p:par>
                              <p:par>
                                <p:cTn id="393" presetID="22" presetClass="entr" presetSubtype="4" fill="hold" nodeType="withEffect">
                                  <p:stCondLst>
                                    <p:cond delay="0"/>
                                  </p:stCondLst>
                                  <p:childTnLst>
                                    <p:set>
                                      <p:cBhvr>
                                        <p:cTn id="394" dur="1" fill="hold">
                                          <p:stCondLst>
                                            <p:cond delay="0"/>
                                          </p:stCondLst>
                                        </p:cTn>
                                        <p:tgtEl>
                                          <p:spTgt spid="47"/>
                                        </p:tgtEl>
                                        <p:attrNameLst>
                                          <p:attrName>style.visibility</p:attrName>
                                        </p:attrNameLst>
                                      </p:cBhvr>
                                      <p:to>
                                        <p:strVal val="visible"/>
                                      </p:to>
                                    </p:set>
                                    <p:animEffect transition="in" filter="wipe(down)">
                                      <p:cBhvr>
                                        <p:cTn id="395" dur="1500"/>
                                        <p:tgtEl>
                                          <p:spTgt spid="47"/>
                                        </p:tgtEl>
                                      </p:cBhvr>
                                    </p:animEffect>
                                  </p:childTnLst>
                                </p:cTn>
                              </p:par>
                              <p:par>
                                <p:cTn id="396" presetID="22" presetClass="entr" presetSubtype="4" fill="hold" nodeType="withEffect">
                                  <p:stCondLst>
                                    <p:cond delay="0"/>
                                  </p:stCondLst>
                                  <p:childTnLst>
                                    <p:set>
                                      <p:cBhvr>
                                        <p:cTn id="397" dur="1" fill="hold">
                                          <p:stCondLst>
                                            <p:cond delay="0"/>
                                          </p:stCondLst>
                                        </p:cTn>
                                        <p:tgtEl>
                                          <p:spTgt spid="45"/>
                                        </p:tgtEl>
                                        <p:attrNameLst>
                                          <p:attrName>style.visibility</p:attrName>
                                        </p:attrNameLst>
                                      </p:cBhvr>
                                      <p:to>
                                        <p:strVal val="visible"/>
                                      </p:to>
                                    </p:set>
                                    <p:animEffect transition="in" filter="wipe(down)">
                                      <p:cBhvr>
                                        <p:cTn id="398" dur="1500"/>
                                        <p:tgtEl>
                                          <p:spTgt spid="45"/>
                                        </p:tgtEl>
                                      </p:cBhvr>
                                    </p:animEffect>
                                  </p:childTnLst>
                                </p:cTn>
                              </p:par>
                            </p:childTnLst>
                          </p:cTn>
                        </p:par>
                      </p:childTnLst>
                    </p:cTn>
                  </p:par>
                  <p:par>
                    <p:cTn id="399" fill="hold">
                      <p:stCondLst>
                        <p:cond delay="indefinite"/>
                      </p:stCondLst>
                      <p:childTnLst>
                        <p:par>
                          <p:cTn id="400" fill="hold">
                            <p:stCondLst>
                              <p:cond delay="0"/>
                            </p:stCondLst>
                            <p:childTnLst>
                              <p:par>
                                <p:cTn id="401" presetID="22" presetClass="entr" presetSubtype="4" fill="hold" nodeType="clickEffect">
                                  <p:stCondLst>
                                    <p:cond delay="0"/>
                                  </p:stCondLst>
                                  <p:childTnLst>
                                    <p:set>
                                      <p:cBhvr>
                                        <p:cTn id="402" dur="1" fill="hold">
                                          <p:stCondLst>
                                            <p:cond delay="0"/>
                                          </p:stCondLst>
                                        </p:cTn>
                                        <p:tgtEl>
                                          <p:spTgt spid="49"/>
                                        </p:tgtEl>
                                        <p:attrNameLst>
                                          <p:attrName>style.visibility</p:attrName>
                                        </p:attrNameLst>
                                      </p:cBhvr>
                                      <p:to>
                                        <p:strVal val="visible"/>
                                      </p:to>
                                    </p:set>
                                    <p:animEffect transition="in" filter="wipe(down)">
                                      <p:cBhvr>
                                        <p:cTn id="403" dur="1000"/>
                                        <p:tgtEl>
                                          <p:spTgt spid="49"/>
                                        </p:tgtEl>
                                      </p:cBhvr>
                                    </p:animEffect>
                                  </p:childTnLst>
                                </p:cTn>
                              </p:par>
                              <p:par>
                                <p:cTn id="404" presetID="22" presetClass="entr" presetSubtype="4" fill="hold" nodeType="withEffect">
                                  <p:stCondLst>
                                    <p:cond delay="0"/>
                                  </p:stCondLst>
                                  <p:childTnLst>
                                    <p:set>
                                      <p:cBhvr>
                                        <p:cTn id="405" dur="1" fill="hold">
                                          <p:stCondLst>
                                            <p:cond delay="0"/>
                                          </p:stCondLst>
                                        </p:cTn>
                                        <p:tgtEl>
                                          <p:spTgt spid="23"/>
                                        </p:tgtEl>
                                        <p:attrNameLst>
                                          <p:attrName>style.visibility</p:attrName>
                                        </p:attrNameLst>
                                      </p:cBhvr>
                                      <p:to>
                                        <p:strVal val="visible"/>
                                      </p:to>
                                    </p:set>
                                    <p:animEffect transition="in" filter="wipe(down)">
                                      <p:cBhvr>
                                        <p:cTn id="406" dur="1000"/>
                                        <p:tgtEl>
                                          <p:spTgt spid="23"/>
                                        </p:tgtEl>
                                      </p:cBhvr>
                                    </p:animEffect>
                                  </p:childTnLst>
                                </p:cTn>
                              </p:par>
                              <p:par>
                                <p:cTn id="407" presetID="22" presetClass="entr" presetSubtype="4" fill="hold" nodeType="withEffect">
                                  <p:stCondLst>
                                    <p:cond delay="0"/>
                                  </p:stCondLst>
                                  <p:childTnLst>
                                    <p:set>
                                      <p:cBhvr>
                                        <p:cTn id="408" dur="1" fill="hold">
                                          <p:stCondLst>
                                            <p:cond delay="0"/>
                                          </p:stCondLst>
                                        </p:cTn>
                                        <p:tgtEl>
                                          <p:spTgt spid="32"/>
                                        </p:tgtEl>
                                        <p:attrNameLst>
                                          <p:attrName>style.visibility</p:attrName>
                                        </p:attrNameLst>
                                      </p:cBhvr>
                                      <p:to>
                                        <p:strVal val="visible"/>
                                      </p:to>
                                    </p:set>
                                    <p:animEffect transition="in" filter="wipe(down)">
                                      <p:cBhvr>
                                        <p:cTn id="409" dur="1000"/>
                                        <p:tgtEl>
                                          <p:spTgt spid="32"/>
                                        </p:tgtEl>
                                      </p:cBhvr>
                                    </p:animEffect>
                                  </p:childTnLst>
                                </p:cTn>
                              </p:par>
                              <p:par>
                                <p:cTn id="410" presetID="22" presetClass="entr" presetSubtype="4" fill="hold" grpId="0" nodeType="withEffect">
                                  <p:stCondLst>
                                    <p:cond delay="0"/>
                                  </p:stCondLst>
                                  <p:childTnLst>
                                    <p:set>
                                      <p:cBhvr>
                                        <p:cTn id="411" dur="1" fill="hold">
                                          <p:stCondLst>
                                            <p:cond delay="0"/>
                                          </p:stCondLst>
                                        </p:cTn>
                                        <p:tgtEl>
                                          <p:spTgt spid="54"/>
                                        </p:tgtEl>
                                        <p:attrNameLst>
                                          <p:attrName>style.visibility</p:attrName>
                                        </p:attrNameLst>
                                      </p:cBhvr>
                                      <p:to>
                                        <p:strVal val="visible"/>
                                      </p:to>
                                    </p:set>
                                    <p:animEffect transition="in" filter="wipe(down)">
                                      <p:cBhvr>
                                        <p:cTn id="412" dur="1000"/>
                                        <p:tgtEl>
                                          <p:spTgt spid="54"/>
                                        </p:tgtEl>
                                      </p:cBhvr>
                                    </p:animEffect>
                                  </p:childTnLst>
                                </p:cTn>
                              </p:par>
                            </p:childTnLst>
                          </p:cTn>
                        </p:par>
                        <p:par>
                          <p:cTn id="413" fill="hold">
                            <p:stCondLst>
                              <p:cond delay="1000"/>
                            </p:stCondLst>
                            <p:childTnLst>
                              <p:par>
                                <p:cTn id="414" presetID="22" presetClass="entr" presetSubtype="4" fill="hold" grpId="0" nodeType="afterEffect">
                                  <p:stCondLst>
                                    <p:cond delay="0"/>
                                  </p:stCondLst>
                                  <p:childTnLst>
                                    <p:set>
                                      <p:cBhvr>
                                        <p:cTn id="415" dur="1" fill="hold">
                                          <p:stCondLst>
                                            <p:cond delay="0"/>
                                          </p:stCondLst>
                                        </p:cTn>
                                        <p:tgtEl>
                                          <p:spTgt spid="22"/>
                                        </p:tgtEl>
                                        <p:attrNameLst>
                                          <p:attrName>style.visibility</p:attrName>
                                        </p:attrNameLst>
                                      </p:cBhvr>
                                      <p:to>
                                        <p:strVal val="visible"/>
                                      </p:to>
                                    </p:set>
                                    <p:animEffect transition="in" filter="wipe(down)">
                                      <p:cBhvr>
                                        <p:cTn id="416" dur="500"/>
                                        <p:tgtEl>
                                          <p:spTgt spid="22"/>
                                        </p:tgtEl>
                                      </p:cBhvr>
                                    </p:animEffect>
                                  </p:childTnLst>
                                </p:cTn>
                              </p:par>
                              <p:par>
                                <p:cTn id="417" presetID="22" presetClass="entr" presetSubtype="8" fill="hold" nodeType="withEffect">
                                  <p:stCondLst>
                                    <p:cond delay="0"/>
                                  </p:stCondLst>
                                  <p:childTnLst>
                                    <p:set>
                                      <p:cBhvr>
                                        <p:cTn id="418" dur="1" fill="hold">
                                          <p:stCondLst>
                                            <p:cond delay="0"/>
                                          </p:stCondLst>
                                        </p:cTn>
                                        <p:tgtEl>
                                          <p:spTgt spid="28"/>
                                        </p:tgtEl>
                                        <p:attrNameLst>
                                          <p:attrName>style.visibility</p:attrName>
                                        </p:attrNameLst>
                                      </p:cBhvr>
                                      <p:to>
                                        <p:strVal val="visible"/>
                                      </p:to>
                                    </p:set>
                                    <p:animEffect transition="in" filter="wipe(left)">
                                      <p:cBhvr>
                                        <p:cTn id="419" dur="500"/>
                                        <p:tgtEl>
                                          <p:spTgt spid="28"/>
                                        </p:tgtEl>
                                      </p:cBhvr>
                                    </p:animEffect>
                                  </p:childTnLst>
                                </p:cTn>
                              </p:par>
                              <p:par>
                                <p:cTn id="420" presetID="22" presetClass="entr" presetSubtype="1" fill="hold" nodeType="withEffect">
                                  <p:stCondLst>
                                    <p:cond delay="0"/>
                                  </p:stCondLst>
                                  <p:childTnLst>
                                    <p:set>
                                      <p:cBhvr>
                                        <p:cTn id="421" dur="1" fill="hold">
                                          <p:stCondLst>
                                            <p:cond delay="0"/>
                                          </p:stCondLst>
                                        </p:cTn>
                                        <p:tgtEl>
                                          <p:spTgt spid="18"/>
                                        </p:tgtEl>
                                        <p:attrNameLst>
                                          <p:attrName>style.visibility</p:attrName>
                                        </p:attrNameLst>
                                      </p:cBhvr>
                                      <p:to>
                                        <p:strVal val="visible"/>
                                      </p:to>
                                    </p:set>
                                    <p:animEffect transition="in" filter="wipe(up)">
                                      <p:cBhvr>
                                        <p:cTn id="422" dur="500"/>
                                        <p:tgtEl>
                                          <p:spTgt spid="18"/>
                                        </p:tgtEl>
                                      </p:cBhvr>
                                    </p:animEffect>
                                  </p:childTnLst>
                                </p:cTn>
                              </p:par>
                              <p:par>
                                <p:cTn id="423" presetID="22" presetClass="entr" presetSubtype="4" fill="hold" nodeType="withEffect">
                                  <p:stCondLst>
                                    <p:cond delay="0"/>
                                  </p:stCondLst>
                                  <p:childTnLst>
                                    <p:set>
                                      <p:cBhvr>
                                        <p:cTn id="424" dur="1" fill="hold">
                                          <p:stCondLst>
                                            <p:cond delay="0"/>
                                          </p:stCondLst>
                                        </p:cTn>
                                        <p:tgtEl>
                                          <p:spTgt spid="25"/>
                                        </p:tgtEl>
                                        <p:attrNameLst>
                                          <p:attrName>style.visibility</p:attrName>
                                        </p:attrNameLst>
                                      </p:cBhvr>
                                      <p:to>
                                        <p:strVal val="visible"/>
                                      </p:to>
                                    </p:set>
                                    <p:animEffect transition="in" filter="wipe(down)">
                                      <p:cBhvr>
                                        <p:cTn id="425" dur="500"/>
                                        <p:tgtEl>
                                          <p:spTgt spid="25"/>
                                        </p:tgtEl>
                                      </p:cBhvr>
                                    </p:animEffect>
                                  </p:childTnLst>
                                </p:cTn>
                              </p:par>
                              <p:par>
                                <p:cTn id="426" presetID="22" presetClass="entr" presetSubtype="4" fill="hold" nodeType="withEffect">
                                  <p:stCondLst>
                                    <p:cond delay="0"/>
                                  </p:stCondLst>
                                  <p:childTnLst>
                                    <p:set>
                                      <p:cBhvr>
                                        <p:cTn id="427" dur="1" fill="hold">
                                          <p:stCondLst>
                                            <p:cond delay="0"/>
                                          </p:stCondLst>
                                        </p:cTn>
                                        <p:tgtEl>
                                          <p:spTgt spid="40"/>
                                        </p:tgtEl>
                                        <p:attrNameLst>
                                          <p:attrName>style.visibility</p:attrName>
                                        </p:attrNameLst>
                                      </p:cBhvr>
                                      <p:to>
                                        <p:strVal val="visible"/>
                                      </p:to>
                                    </p:set>
                                    <p:animEffect transition="in" filter="wipe(down)">
                                      <p:cBhvr>
                                        <p:cTn id="428" dur="500"/>
                                        <p:tgtEl>
                                          <p:spTgt spid="40"/>
                                        </p:tgtEl>
                                      </p:cBhvr>
                                    </p:animEffect>
                                  </p:childTnLst>
                                </p:cTn>
                              </p:par>
                              <p:par>
                                <p:cTn id="429" presetID="22" presetClass="entr" presetSubtype="4" fill="hold" nodeType="withEffect">
                                  <p:stCondLst>
                                    <p:cond delay="0"/>
                                  </p:stCondLst>
                                  <p:childTnLst>
                                    <p:set>
                                      <p:cBhvr>
                                        <p:cTn id="430" dur="1" fill="hold">
                                          <p:stCondLst>
                                            <p:cond delay="0"/>
                                          </p:stCondLst>
                                        </p:cTn>
                                        <p:tgtEl>
                                          <p:spTgt spid="24"/>
                                        </p:tgtEl>
                                        <p:attrNameLst>
                                          <p:attrName>style.visibility</p:attrName>
                                        </p:attrNameLst>
                                      </p:cBhvr>
                                      <p:to>
                                        <p:strVal val="visible"/>
                                      </p:to>
                                    </p:set>
                                    <p:animEffect transition="in" filter="wipe(down)">
                                      <p:cBhvr>
                                        <p:cTn id="431" dur="500"/>
                                        <p:tgtEl>
                                          <p:spTgt spid="24"/>
                                        </p:tgtEl>
                                      </p:cBhvr>
                                    </p:animEffect>
                                  </p:childTnLst>
                                </p:cTn>
                              </p:par>
                            </p:childTnLst>
                          </p:cTn>
                        </p:par>
                      </p:childTnLst>
                    </p:cTn>
                  </p:par>
                  <p:par>
                    <p:cTn id="432" fill="hold">
                      <p:stCondLst>
                        <p:cond delay="indefinite"/>
                      </p:stCondLst>
                      <p:childTnLst>
                        <p:par>
                          <p:cTn id="433" fill="hold">
                            <p:stCondLst>
                              <p:cond delay="0"/>
                            </p:stCondLst>
                            <p:childTnLst>
                              <p:par>
                                <p:cTn id="434" presetID="22" presetClass="entr" presetSubtype="4" fill="hold" grpId="0" nodeType="clickEffect">
                                  <p:stCondLst>
                                    <p:cond delay="0"/>
                                  </p:stCondLst>
                                  <p:childTnLst>
                                    <p:set>
                                      <p:cBhvr>
                                        <p:cTn id="435" dur="1" fill="hold">
                                          <p:stCondLst>
                                            <p:cond delay="0"/>
                                          </p:stCondLst>
                                        </p:cTn>
                                        <p:tgtEl>
                                          <p:spTgt spid="57"/>
                                        </p:tgtEl>
                                        <p:attrNameLst>
                                          <p:attrName>style.visibility</p:attrName>
                                        </p:attrNameLst>
                                      </p:cBhvr>
                                      <p:to>
                                        <p:strVal val="visible"/>
                                      </p:to>
                                    </p:set>
                                    <p:animEffect transition="in" filter="wipe(down)">
                                      <p:cBhvr>
                                        <p:cTn id="436" dur="1000"/>
                                        <p:tgtEl>
                                          <p:spTgt spid="57"/>
                                        </p:tgtEl>
                                      </p:cBhvr>
                                    </p:animEffect>
                                  </p:childTnLst>
                                </p:cTn>
                              </p:par>
                            </p:childTnLst>
                          </p:cTn>
                        </p:par>
                      </p:childTnLst>
                    </p:cTn>
                  </p:par>
                  <p:par>
                    <p:cTn id="437" fill="hold">
                      <p:stCondLst>
                        <p:cond delay="indefinite"/>
                      </p:stCondLst>
                      <p:childTnLst>
                        <p:par>
                          <p:cTn id="438" fill="hold">
                            <p:stCondLst>
                              <p:cond delay="0"/>
                            </p:stCondLst>
                            <p:childTnLst>
                              <p:par>
                                <p:cTn id="439" presetID="22" presetClass="entr" presetSubtype="1" fill="hold" grpId="0" nodeType="clickEffect">
                                  <p:stCondLst>
                                    <p:cond delay="0"/>
                                  </p:stCondLst>
                                  <p:childTnLst>
                                    <p:set>
                                      <p:cBhvr>
                                        <p:cTn id="440" dur="1" fill="hold">
                                          <p:stCondLst>
                                            <p:cond delay="0"/>
                                          </p:stCondLst>
                                        </p:cTn>
                                        <p:tgtEl>
                                          <p:spTgt spid="137">
                                            <p:bg/>
                                          </p:spTgt>
                                        </p:tgtEl>
                                        <p:attrNameLst>
                                          <p:attrName>style.visibility</p:attrName>
                                        </p:attrNameLst>
                                      </p:cBhvr>
                                      <p:to>
                                        <p:strVal val="visible"/>
                                      </p:to>
                                    </p:set>
                                    <p:animEffect transition="in" filter="wipe(up)">
                                      <p:cBhvr>
                                        <p:cTn id="441" dur="500"/>
                                        <p:tgtEl>
                                          <p:spTgt spid="137">
                                            <p:bg/>
                                          </p:spTgt>
                                        </p:tgtEl>
                                      </p:cBhvr>
                                    </p:animEffect>
                                  </p:childTnLst>
                                </p:cTn>
                              </p:par>
                              <p:par>
                                <p:cTn id="442" presetID="22" presetClass="entr" presetSubtype="1" fill="hold" grpId="0" nodeType="withEffect">
                                  <p:stCondLst>
                                    <p:cond delay="0"/>
                                  </p:stCondLst>
                                  <p:childTnLst>
                                    <p:set>
                                      <p:cBhvr>
                                        <p:cTn id="443" dur="1" fill="hold">
                                          <p:stCondLst>
                                            <p:cond delay="0"/>
                                          </p:stCondLst>
                                        </p:cTn>
                                        <p:tgtEl>
                                          <p:spTgt spid="137">
                                            <p:txEl>
                                              <p:pRg st="0" end="0"/>
                                            </p:txEl>
                                          </p:spTgt>
                                        </p:tgtEl>
                                        <p:attrNameLst>
                                          <p:attrName>style.visibility</p:attrName>
                                        </p:attrNameLst>
                                      </p:cBhvr>
                                      <p:to>
                                        <p:strVal val="visible"/>
                                      </p:to>
                                    </p:set>
                                    <p:animEffect transition="in" filter="wipe(up)">
                                      <p:cBhvr>
                                        <p:cTn id="444" dur="500"/>
                                        <p:tgtEl>
                                          <p:spTgt spid="137">
                                            <p:txEl>
                                              <p:pRg st="0" end="0"/>
                                            </p:txEl>
                                          </p:spTgt>
                                        </p:tgtEl>
                                      </p:cBhvr>
                                    </p:animEffect>
                                  </p:childTnLst>
                                </p:cTn>
                              </p:par>
                            </p:childTnLst>
                          </p:cTn>
                        </p:par>
                      </p:childTnLst>
                    </p:cTn>
                  </p:par>
                  <p:par>
                    <p:cTn id="445" fill="hold">
                      <p:stCondLst>
                        <p:cond delay="indefinite"/>
                      </p:stCondLst>
                      <p:childTnLst>
                        <p:par>
                          <p:cTn id="446" fill="hold">
                            <p:stCondLst>
                              <p:cond delay="0"/>
                            </p:stCondLst>
                            <p:childTnLst>
                              <p:par>
                                <p:cTn id="447" presetID="22" presetClass="entr" presetSubtype="1" fill="hold" grpId="0" nodeType="clickEffect">
                                  <p:stCondLst>
                                    <p:cond delay="0"/>
                                  </p:stCondLst>
                                  <p:childTnLst>
                                    <p:set>
                                      <p:cBhvr>
                                        <p:cTn id="448" dur="1" fill="hold">
                                          <p:stCondLst>
                                            <p:cond delay="0"/>
                                          </p:stCondLst>
                                        </p:cTn>
                                        <p:tgtEl>
                                          <p:spTgt spid="137">
                                            <p:txEl>
                                              <p:pRg st="1" end="1"/>
                                            </p:txEl>
                                          </p:spTgt>
                                        </p:tgtEl>
                                        <p:attrNameLst>
                                          <p:attrName>style.visibility</p:attrName>
                                        </p:attrNameLst>
                                      </p:cBhvr>
                                      <p:to>
                                        <p:strVal val="visible"/>
                                      </p:to>
                                    </p:set>
                                    <p:animEffect transition="in" filter="wipe(up)">
                                      <p:cBhvr>
                                        <p:cTn id="449" dur="500"/>
                                        <p:tgtEl>
                                          <p:spTgt spid="137">
                                            <p:txEl>
                                              <p:pRg st="1" end="1"/>
                                            </p:txEl>
                                          </p:spTgt>
                                        </p:tgtEl>
                                      </p:cBhvr>
                                    </p:animEffect>
                                  </p:childTnLst>
                                </p:cTn>
                              </p:par>
                            </p:childTnLst>
                          </p:cTn>
                        </p:par>
                      </p:childTnLst>
                    </p:cTn>
                  </p:par>
                  <p:par>
                    <p:cTn id="450" fill="hold">
                      <p:stCondLst>
                        <p:cond delay="indefinite"/>
                      </p:stCondLst>
                      <p:childTnLst>
                        <p:par>
                          <p:cTn id="451" fill="hold">
                            <p:stCondLst>
                              <p:cond delay="0"/>
                            </p:stCondLst>
                            <p:childTnLst>
                              <p:par>
                                <p:cTn id="452" presetID="22" presetClass="entr" presetSubtype="1" fill="hold" grpId="0" nodeType="clickEffect">
                                  <p:stCondLst>
                                    <p:cond delay="0"/>
                                  </p:stCondLst>
                                  <p:childTnLst>
                                    <p:set>
                                      <p:cBhvr>
                                        <p:cTn id="453" dur="1" fill="hold">
                                          <p:stCondLst>
                                            <p:cond delay="0"/>
                                          </p:stCondLst>
                                        </p:cTn>
                                        <p:tgtEl>
                                          <p:spTgt spid="137">
                                            <p:txEl>
                                              <p:pRg st="2" end="2"/>
                                            </p:txEl>
                                          </p:spTgt>
                                        </p:tgtEl>
                                        <p:attrNameLst>
                                          <p:attrName>style.visibility</p:attrName>
                                        </p:attrNameLst>
                                      </p:cBhvr>
                                      <p:to>
                                        <p:strVal val="visible"/>
                                      </p:to>
                                    </p:set>
                                    <p:animEffect transition="in" filter="wipe(up)">
                                      <p:cBhvr>
                                        <p:cTn id="454" dur="500"/>
                                        <p:tgtEl>
                                          <p:spTgt spid="137">
                                            <p:txEl>
                                              <p:pRg st="2" end="2"/>
                                            </p:txEl>
                                          </p:spTgt>
                                        </p:tgtEl>
                                      </p:cBhvr>
                                    </p:animEffect>
                                  </p:childTnLst>
                                </p:cTn>
                              </p:par>
                            </p:childTnLst>
                          </p:cTn>
                        </p:par>
                      </p:childTnLst>
                    </p:cTn>
                  </p:par>
                  <p:par>
                    <p:cTn id="455" fill="hold">
                      <p:stCondLst>
                        <p:cond delay="indefinite"/>
                      </p:stCondLst>
                      <p:childTnLst>
                        <p:par>
                          <p:cTn id="456" fill="hold">
                            <p:stCondLst>
                              <p:cond delay="0"/>
                            </p:stCondLst>
                            <p:childTnLst>
                              <p:par>
                                <p:cTn id="457" presetID="22" presetClass="entr" presetSubtype="1" fill="hold" grpId="0" nodeType="clickEffect">
                                  <p:stCondLst>
                                    <p:cond delay="0"/>
                                  </p:stCondLst>
                                  <p:childTnLst>
                                    <p:set>
                                      <p:cBhvr>
                                        <p:cTn id="458" dur="1" fill="hold">
                                          <p:stCondLst>
                                            <p:cond delay="0"/>
                                          </p:stCondLst>
                                        </p:cTn>
                                        <p:tgtEl>
                                          <p:spTgt spid="137">
                                            <p:txEl>
                                              <p:pRg st="3" end="3"/>
                                            </p:txEl>
                                          </p:spTgt>
                                        </p:tgtEl>
                                        <p:attrNameLst>
                                          <p:attrName>style.visibility</p:attrName>
                                        </p:attrNameLst>
                                      </p:cBhvr>
                                      <p:to>
                                        <p:strVal val="visible"/>
                                      </p:to>
                                    </p:set>
                                    <p:animEffect transition="in" filter="wipe(up)">
                                      <p:cBhvr>
                                        <p:cTn id="459" dur="500"/>
                                        <p:tgtEl>
                                          <p:spTgt spid="137">
                                            <p:txEl>
                                              <p:pRg st="3" end="3"/>
                                            </p:txEl>
                                          </p:spTgt>
                                        </p:tgtEl>
                                      </p:cBhvr>
                                    </p:animEffect>
                                  </p:childTnLst>
                                </p:cTn>
                              </p:par>
                            </p:childTnLst>
                          </p:cTn>
                        </p:par>
                      </p:childTnLst>
                    </p:cTn>
                  </p:par>
                  <p:par>
                    <p:cTn id="460" fill="hold">
                      <p:stCondLst>
                        <p:cond delay="indefinite"/>
                      </p:stCondLst>
                      <p:childTnLst>
                        <p:par>
                          <p:cTn id="461" fill="hold">
                            <p:stCondLst>
                              <p:cond delay="0"/>
                            </p:stCondLst>
                            <p:childTnLst>
                              <p:par>
                                <p:cTn id="462" presetID="22" presetClass="entr" presetSubtype="1" fill="hold" grpId="0" nodeType="clickEffect">
                                  <p:stCondLst>
                                    <p:cond delay="0"/>
                                  </p:stCondLst>
                                  <p:childTnLst>
                                    <p:set>
                                      <p:cBhvr>
                                        <p:cTn id="463" dur="1" fill="hold">
                                          <p:stCondLst>
                                            <p:cond delay="0"/>
                                          </p:stCondLst>
                                        </p:cTn>
                                        <p:tgtEl>
                                          <p:spTgt spid="137">
                                            <p:txEl>
                                              <p:pRg st="4" end="4"/>
                                            </p:txEl>
                                          </p:spTgt>
                                        </p:tgtEl>
                                        <p:attrNameLst>
                                          <p:attrName>style.visibility</p:attrName>
                                        </p:attrNameLst>
                                      </p:cBhvr>
                                      <p:to>
                                        <p:strVal val="visible"/>
                                      </p:to>
                                    </p:set>
                                    <p:animEffect transition="in" filter="wipe(up)">
                                      <p:cBhvr>
                                        <p:cTn id="464" dur="500"/>
                                        <p:tgtEl>
                                          <p:spTgt spid="137">
                                            <p:txEl>
                                              <p:pRg st="4" end="4"/>
                                            </p:txEl>
                                          </p:spTgt>
                                        </p:tgtEl>
                                      </p:cBhvr>
                                    </p:animEffect>
                                  </p:childTnLst>
                                </p:cTn>
                              </p:par>
                            </p:childTnLst>
                          </p:cTn>
                        </p:par>
                      </p:childTnLst>
                    </p:cTn>
                  </p:par>
                  <p:par>
                    <p:cTn id="465" fill="hold">
                      <p:stCondLst>
                        <p:cond delay="indefinite"/>
                      </p:stCondLst>
                      <p:childTnLst>
                        <p:par>
                          <p:cTn id="466" fill="hold">
                            <p:stCondLst>
                              <p:cond delay="0"/>
                            </p:stCondLst>
                            <p:childTnLst>
                              <p:par>
                                <p:cTn id="467" presetID="1" presetClass="emph" presetSubtype="2" fill="hold" nodeType="clickEffect">
                                  <p:stCondLst>
                                    <p:cond delay="0"/>
                                  </p:stCondLst>
                                  <p:childTnLst>
                                    <p:animClr clrSpc="rgb" dir="cw">
                                      <p:cBhvr>
                                        <p:cTn id="468" dur="1000" fill="hold"/>
                                        <p:tgtEl>
                                          <p:spTgt spid="7"/>
                                        </p:tgtEl>
                                        <p:attrNameLst>
                                          <p:attrName>fillcolor</p:attrName>
                                        </p:attrNameLst>
                                      </p:cBhvr>
                                      <p:to>
                                        <a:srgbClr val="E2EFD9"/>
                                      </p:to>
                                    </p:animClr>
                                    <p:set>
                                      <p:cBhvr>
                                        <p:cTn id="469" dur="1000" fill="hold"/>
                                        <p:tgtEl>
                                          <p:spTgt spid="7"/>
                                        </p:tgtEl>
                                        <p:attrNameLst>
                                          <p:attrName>fill.type</p:attrName>
                                        </p:attrNameLst>
                                      </p:cBhvr>
                                      <p:to>
                                        <p:strVal val="solid"/>
                                      </p:to>
                                    </p:set>
                                    <p:set>
                                      <p:cBhvr>
                                        <p:cTn id="470" dur="1000" fill="hold"/>
                                        <p:tgtEl>
                                          <p:spTgt spid="7"/>
                                        </p:tgtEl>
                                        <p:attrNameLst>
                                          <p:attrName>fill.on</p:attrName>
                                        </p:attrNameLst>
                                      </p:cBhvr>
                                      <p:to>
                                        <p:strVal val="true"/>
                                      </p:to>
                                    </p:set>
                                  </p:childTnLst>
                                </p:cTn>
                              </p:par>
                            </p:childTnLst>
                          </p:cTn>
                        </p:par>
                        <p:par>
                          <p:cTn id="471" fill="hold">
                            <p:stCondLst>
                              <p:cond delay="1000"/>
                            </p:stCondLst>
                            <p:childTnLst>
                              <p:par>
                                <p:cTn id="472" presetID="1" presetClass="emph" presetSubtype="2" fill="hold" nodeType="afterEffect">
                                  <p:stCondLst>
                                    <p:cond delay="0"/>
                                  </p:stCondLst>
                                  <p:childTnLst>
                                    <p:animClr clrSpc="rgb" dir="cw">
                                      <p:cBhvr>
                                        <p:cTn id="473" dur="1000" fill="hold"/>
                                        <p:tgtEl>
                                          <p:spTgt spid="8"/>
                                        </p:tgtEl>
                                        <p:attrNameLst>
                                          <p:attrName>fillcolor</p:attrName>
                                        </p:attrNameLst>
                                      </p:cBhvr>
                                      <p:to>
                                        <a:srgbClr val="E2EFD9"/>
                                      </p:to>
                                    </p:animClr>
                                    <p:set>
                                      <p:cBhvr>
                                        <p:cTn id="474" dur="1000" fill="hold"/>
                                        <p:tgtEl>
                                          <p:spTgt spid="8"/>
                                        </p:tgtEl>
                                        <p:attrNameLst>
                                          <p:attrName>fill.type</p:attrName>
                                        </p:attrNameLst>
                                      </p:cBhvr>
                                      <p:to>
                                        <p:strVal val="solid"/>
                                      </p:to>
                                    </p:set>
                                    <p:set>
                                      <p:cBhvr>
                                        <p:cTn id="475" dur="1000" fill="hold"/>
                                        <p:tgtEl>
                                          <p:spTgt spid="8"/>
                                        </p:tgtEl>
                                        <p:attrNameLst>
                                          <p:attrName>fill.on</p:attrName>
                                        </p:attrNameLst>
                                      </p:cBhvr>
                                      <p:to>
                                        <p:strVal val="true"/>
                                      </p:to>
                                    </p:set>
                                  </p:childTnLst>
                                </p:cTn>
                              </p:par>
                            </p:childTnLst>
                          </p:cTn>
                        </p:par>
                        <p:par>
                          <p:cTn id="476" fill="hold">
                            <p:stCondLst>
                              <p:cond delay="2000"/>
                            </p:stCondLst>
                            <p:childTnLst>
                              <p:par>
                                <p:cTn id="477" presetID="1" presetClass="emph" presetSubtype="2" fill="hold" nodeType="afterEffect">
                                  <p:stCondLst>
                                    <p:cond delay="0"/>
                                  </p:stCondLst>
                                  <p:childTnLst>
                                    <p:animClr clrSpc="rgb" dir="cw">
                                      <p:cBhvr>
                                        <p:cTn id="478" dur="1000" fill="hold"/>
                                        <p:tgtEl>
                                          <p:spTgt spid="9"/>
                                        </p:tgtEl>
                                        <p:attrNameLst>
                                          <p:attrName>fillcolor</p:attrName>
                                        </p:attrNameLst>
                                      </p:cBhvr>
                                      <p:to>
                                        <a:srgbClr val="E2EFD9"/>
                                      </p:to>
                                    </p:animClr>
                                    <p:set>
                                      <p:cBhvr>
                                        <p:cTn id="479" dur="1000" fill="hold"/>
                                        <p:tgtEl>
                                          <p:spTgt spid="9"/>
                                        </p:tgtEl>
                                        <p:attrNameLst>
                                          <p:attrName>fill.type</p:attrName>
                                        </p:attrNameLst>
                                      </p:cBhvr>
                                      <p:to>
                                        <p:strVal val="solid"/>
                                      </p:to>
                                    </p:set>
                                    <p:set>
                                      <p:cBhvr>
                                        <p:cTn id="480" dur="1000" fill="hold"/>
                                        <p:tgtEl>
                                          <p:spTgt spid="9"/>
                                        </p:tgtEl>
                                        <p:attrNameLst>
                                          <p:attrName>fill.on</p:attrName>
                                        </p:attrNameLst>
                                      </p:cBhvr>
                                      <p:to>
                                        <p:strVal val="true"/>
                                      </p:to>
                                    </p:set>
                                  </p:childTnLst>
                                </p:cTn>
                              </p:par>
                            </p:childTnLst>
                          </p:cTn>
                        </p:par>
                      </p:childTnLst>
                    </p:cTn>
                  </p:par>
                  <p:par>
                    <p:cTn id="481" fill="hold">
                      <p:stCondLst>
                        <p:cond delay="indefinite"/>
                      </p:stCondLst>
                      <p:childTnLst>
                        <p:par>
                          <p:cTn id="482" fill="hold">
                            <p:stCondLst>
                              <p:cond delay="0"/>
                            </p:stCondLst>
                            <p:childTnLst>
                              <p:par>
                                <p:cTn id="483" presetID="1" presetClass="emph" presetSubtype="2" fill="hold" nodeType="clickEffect">
                                  <p:stCondLst>
                                    <p:cond delay="0"/>
                                  </p:stCondLst>
                                  <p:childTnLst>
                                    <p:animClr clrSpc="rgb" dir="cw">
                                      <p:cBhvr>
                                        <p:cTn id="484" dur="1000" fill="hold"/>
                                        <p:tgtEl>
                                          <p:spTgt spid="4"/>
                                        </p:tgtEl>
                                        <p:attrNameLst>
                                          <p:attrName>fillcolor</p:attrName>
                                        </p:attrNameLst>
                                      </p:cBhvr>
                                      <p:to>
                                        <a:srgbClr val="E2EFD9"/>
                                      </p:to>
                                    </p:animClr>
                                    <p:set>
                                      <p:cBhvr>
                                        <p:cTn id="485" dur="1000" fill="hold"/>
                                        <p:tgtEl>
                                          <p:spTgt spid="4"/>
                                        </p:tgtEl>
                                        <p:attrNameLst>
                                          <p:attrName>fill.type</p:attrName>
                                        </p:attrNameLst>
                                      </p:cBhvr>
                                      <p:to>
                                        <p:strVal val="solid"/>
                                      </p:to>
                                    </p:set>
                                    <p:set>
                                      <p:cBhvr>
                                        <p:cTn id="486" dur="1000" fill="hold"/>
                                        <p:tgtEl>
                                          <p:spTgt spid="4"/>
                                        </p:tgtEl>
                                        <p:attrNameLst>
                                          <p:attrName>fill.on</p:attrName>
                                        </p:attrNameLst>
                                      </p:cBhvr>
                                      <p:to>
                                        <p:strVal val="true"/>
                                      </p:to>
                                    </p:set>
                                  </p:childTnLst>
                                </p:cTn>
                              </p:par>
                            </p:childTnLst>
                          </p:cTn>
                        </p:par>
                        <p:par>
                          <p:cTn id="487" fill="hold">
                            <p:stCondLst>
                              <p:cond delay="1000"/>
                            </p:stCondLst>
                            <p:childTnLst>
                              <p:par>
                                <p:cTn id="488" presetID="1" presetClass="emph" presetSubtype="2" fill="hold" nodeType="afterEffect">
                                  <p:stCondLst>
                                    <p:cond delay="0"/>
                                  </p:stCondLst>
                                  <p:childTnLst>
                                    <p:animClr clrSpc="rgb" dir="cw">
                                      <p:cBhvr>
                                        <p:cTn id="489" dur="1000" fill="hold"/>
                                        <p:tgtEl>
                                          <p:spTgt spid="5"/>
                                        </p:tgtEl>
                                        <p:attrNameLst>
                                          <p:attrName>fillcolor</p:attrName>
                                        </p:attrNameLst>
                                      </p:cBhvr>
                                      <p:to>
                                        <a:srgbClr val="E2EFD9"/>
                                      </p:to>
                                    </p:animClr>
                                    <p:set>
                                      <p:cBhvr>
                                        <p:cTn id="490" dur="1000" fill="hold"/>
                                        <p:tgtEl>
                                          <p:spTgt spid="5"/>
                                        </p:tgtEl>
                                        <p:attrNameLst>
                                          <p:attrName>fill.type</p:attrName>
                                        </p:attrNameLst>
                                      </p:cBhvr>
                                      <p:to>
                                        <p:strVal val="solid"/>
                                      </p:to>
                                    </p:set>
                                    <p:set>
                                      <p:cBhvr>
                                        <p:cTn id="491" dur="1000" fill="hold"/>
                                        <p:tgtEl>
                                          <p:spTgt spid="5"/>
                                        </p:tgtEl>
                                        <p:attrNameLst>
                                          <p:attrName>fill.on</p:attrName>
                                        </p:attrNameLst>
                                      </p:cBhvr>
                                      <p:to>
                                        <p:strVal val="true"/>
                                      </p:to>
                                    </p:set>
                                  </p:childTnLst>
                                </p:cTn>
                              </p:par>
                            </p:childTnLst>
                          </p:cTn>
                        </p:par>
                      </p:childTnLst>
                    </p:cTn>
                  </p:par>
                  <p:par>
                    <p:cTn id="492" fill="hold">
                      <p:stCondLst>
                        <p:cond delay="indefinite"/>
                      </p:stCondLst>
                      <p:childTnLst>
                        <p:par>
                          <p:cTn id="493" fill="hold">
                            <p:stCondLst>
                              <p:cond delay="0"/>
                            </p:stCondLst>
                            <p:childTnLst>
                              <p:par>
                                <p:cTn id="494" presetID="1" presetClass="emph" presetSubtype="2" fill="hold" nodeType="clickEffect">
                                  <p:stCondLst>
                                    <p:cond delay="0"/>
                                  </p:stCondLst>
                                  <p:childTnLst>
                                    <p:animClr clrSpc="rgb" dir="cw">
                                      <p:cBhvr>
                                        <p:cTn id="495" dur="1000" fill="hold"/>
                                        <p:tgtEl>
                                          <p:spTgt spid="6"/>
                                        </p:tgtEl>
                                        <p:attrNameLst>
                                          <p:attrName>fillcolor</p:attrName>
                                        </p:attrNameLst>
                                      </p:cBhvr>
                                      <p:to>
                                        <a:srgbClr val="E2EFD9"/>
                                      </p:to>
                                    </p:animClr>
                                    <p:set>
                                      <p:cBhvr>
                                        <p:cTn id="496" dur="1000" fill="hold"/>
                                        <p:tgtEl>
                                          <p:spTgt spid="6"/>
                                        </p:tgtEl>
                                        <p:attrNameLst>
                                          <p:attrName>fill.type</p:attrName>
                                        </p:attrNameLst>
                                      </p:cBhvr>
                                      <p:to>
                                        <p:strVal val="solid"/>
                                      </p:to>
                                    </p:set>
                                    <p:set>
                                      <p:cBhvr>
                                        <p:cTn id="497" dur="1000" fill="hold"/>
                                        <p:tgtEl>
                                          <p:spTgt spid="6"/>
                                        </p:tgtEl>
                                        <p:attrNameLst>
                                          <p:attrName>fill.on</p:attrName>
                                        </p:attrNameLst>
                                      </p:cBhvr>
                                      <p:to>
                                        <p:strVal val="true"/>
                                      </p:to>
                                    </p:set>
                                  </p:childTnLst>
                                </p:cTn>
                              </p:par>
                            </p:childTnLst>
                          </p:cTn>
                        </p:par>
                      </p:childTnLst>
                    </p:cTn>
                  </p:par>
                  <p:par>
                    <p:cTn id="498" fill="hold">
                      <p:stCondLst>
                        <p:cond delay="indefinite"/>
                      </p:stCondLst>
                      <p:childTnLst>
                        <p:par>
                          <p:cTn id="499" fill="hold">
                            <p:stCondLst>
                              <p:cond delay="0"/>
                            </p:stCondLst>
                            <p:childTnLst>
                              <p:par>
                                <p:cTn id="500" presetID="1" presetClass="emph" presetSubtype="2" fill="hold" nodeType="clickEffect">
                                  <p:stCondLst>
                                    <p:cond delay="0"/>
                                  </p:stCondLst>
                                  <p:childTnLst>
                                    <p:animClr clrSpc="rgb" dir="cw">
                                      <p:cBhvr>
                                        <p:cTn id="501" dur="1000" fill="hold"/>
                                        <p:tgtEl>
                                          <p:spTgt spid="10"/>
                                        </p:tgtEl>
                                        <p:attrNameLst>
                                          <p:attrName>fillcolor</p:attrName>
                                        </p:attrNameLst>
                                      </p:cBhvr>
                                      <p:to>
                                        <a:srgbClr val="BDD7EE"/>
                                      </p:to>
                                    </p:animClr>
                                    <p:set>
                                      <p:cBhvr>
                                        <p:cTn id="502" dur="1000" fill="hold"/>
                                        <p:tgtEl>
                                          <p:spTgt spid="10"/>
                                        </p:tgtEl>
                                        <p:attrNameLst>
                                          <p:attrName>fill.type</p:attrName>
                                        </p:attrNameLst>
                                      </p:cBhvr>
                                      <p:to>
                                        <p:strVal val="solid"/>
                                      </p:to>
                                    </p:set>
                                    <p:set>
                                      <p:cBhvr>
                                        <p:cTn id="503" dur="1000" fill="hold"/>
                                        <p:tgtEl>
                                          <p:spTgt spid="10"/>
                                        </p:tgtEl>
                                        <p:attrNameLst>
                                          <p:attrName>fill.on</p:attrName>
                                        </p:attrNameLst>
                                      </p:cBhvr>
                                      <p:to>
                                        <p:strVal val="true"/>
                                      </p:to>
                                    </p:set>
                                  </p:childTnLst>
                                </p:cTn>
                              </p:par>
                            </p:childTnLst>
                          </p:cTn>
                        </p:par>
                      </p:childTnLst>
                    </p:cTn>
                  </p:par>
                  <p:par>
                    <p:cTn id="504" fill="hold">
                      <p:stCondLst>
                        <p:cond delay="indefinite"/>
                      </p:stCondLst>
                      <p:childTnLst>
                        <p:par>
                          <p:cTn id="505" fill="hold">
                            <p:stCondLst>
                              <p:cond delay="0"/>
                            </p:stCondLst>
                            <p:childTnLst>
                              <p:par>
                                <p:cTn id="506" presetID="1" presetClass="emph" presetSubtype="2" fill="hold" nodeType="clickEffect">
                                  <p:stCondLst>
                                    <p:cond delay="0"/>
                                  </p:stCondLst>
                                  <p:childTnLst>
                                    <p:animClr clrSpc="rgb" dir="cw">
                                      <p:cBhvr>
                                        <p:cTn id="507" dur="1000" fill="hold"/>
                                        <p:tgtEl>
                                          <p:spTgt spid="11"/>
                                        </p:tgtEl>
                                        <p:attrNameLst>
                                          <p:attrName>fillcolor</p:attrName>
                                        </p:attrNameLst>
                                      </p:cBhvr>
                                      <p:to>
                                        <a:srgbClr val="BDD7EE"/>
                                      </p:to>
                                    </p:animClr>
                                    <p:set>
                                      <p:cBhvr>
                                        <p:cTn id="508" dur="1000" fill="hold"/>
                                        <p:tgtEl>
                                          <p:spTgt spid="11"/>
                                        </p:tgtEl>
                                        <p:attrNameLst>
                                          <p:attrName>fill.type</p:attrName>
                                        </p:attrNameLst>
                                      </p:cBhvr>
                                      <p:to>
                                        <p:strVal val="solid"/>
                                      </p:to>
                                    </p:set>
                                    <p:set>
                                      <p:cBhvr>
                                        <p:cTn id="509" dur="1000" fill="hold"/>
                                        <p:tgtEl>
                                          <p:spTgt spid="11"/>
                                        </p:tgtEl>
                                        <p:attrNameLst>
                                          <p:attrName>fill.on</p:attrName>
                                        </p:attrNameLst>
                                      </p:cBhvr>
                                      <p:to>
                                        <p:strVal val="true"/>
                                      </p:to>
                                    </p:set>
                                  </p:childTnLst>
                                </p:cTn>
                              </p:par>
                            </p:childTnLst>
                          </p:cTn>
                        </p:par>
                      </p:childTnLst>
                    </p:cTn>
                  </p:par>
                  <p:par>
                    <p:cTn id="510" fill="hold">
                      <p:stCondLst>
                        <p:cond delay="indefinite"/>
                      </p:stCondLst>
                      <p:childTnLst>
                        <p:par>
                          <p:cTn id="511" fill="hold">
                            <p:stCondLst>
                              <p:cond delay="0"/>
                            </p:stCondLst>
                            <p:childTnLst>
                              <p:par>
                                <p:cTn id="512" presetID="1" presetClass="emph" presetSubtype="2" fill="hold" nodeType="clickEffect">
                                  <p:stCondLst>
                                    <p:cond delay="0"/>
                                  </p:stCondLst>
                                  <p:childTnLst>
                                    <p:animClr clrSpc="rgb" dir="cw">
                                      <p:cBhvr>
                                        <p:cTn id="513" dur="1000" fill="hold"/>
                                        <p:tgtEl>
                                          <p:spTgt spid="12"/>
                                        </p:tgtEl>
                                        <p:attrNameLst>
                                          <p:attrName>fillcolor</p:attrName>
                                        </p:attrNameLst>
                                      </p:cBhvr>
                                      <p:to>
                                        <a:srgbClr val="BDD7EE"/>
                                      </p:to>
                                    </p:animClr>
                                    <p:set>
                                      <p:cBhvr>
                                        <p:cTn id="514" dur="1000" fill="hold"/>
                                        <p:tgtEl>
                                          <p:spTgt spid="12"/>
                                        </p:tgtEl>
                                        <p:attrNameLst>
                                          <p:attrName>fill.type</p:attrName>
                                        </p:attrNameLst>
                                      </p:cBhvr>
                                      <p:to>
                                        <p:strVal val="solid"/>
                                      </p:to>
                                    </p:set>
                                    <p:set>
                                      <p:cBhvr>
                                        <p:cTn id="515" dur="1000" fill="hold"/>
                                        <p:tgtEl>
                                          <p:spTgt spid="12"/>
                                        </p:tgtEl>
                                        <p:attrNameLst>
                                          <p:attrName>fill.on</p:attrName>
                                        </p:attrNameLst>
                                      </p:cBhvr>
                                      <p:to>
                                        <p:strVal val="true"/>
                                      </p:to>
                                    </p:set>
                                  </p:childTnLst>
                                </p:cTn>
                              </p:par>
                            </p:childTnLst>
                          </p:cTn>
                        </p:par>
                      </p:childTnLst>
                    </p:cTn>
                  </p:par>
                  <p:par>
                    <p:cTn id="516" fill="hold">
                      <p:stCondLst>
                        <p:cond delay="indefinite"/>
                      </p:stCondLst>
                      <p:childTnLst>
                        <p:par>
                          <p:cTn id="517" fill="hold">
                            <p:stCondLst>
                              <p:cond delay="0"/>
                            </p:stCondLst>
                            <p:childTnLst>
                              <p:par>
                                <p:cTn id="518" presetID="1" presetClass="emph" presetSubtype="2" fill="hold" nodeType="clickEffect">
                                  <p:stCondLst>
                                    <p:cond delay="0"/>
                                  </p:stCondLst>
                                  <p:childTnLst>
                                    <p:animClr clrSpc="rgb" dir="cw">
                                      <p:cBhvr>
                                        <p:cTn id="519" dur="1000" fill="hold"/>
                                        <p:tgtEl>
                                          <p:spTgt spid="13"/>
                                        </p:tgtEl>
                                        <p:attrNameLst>
                                          <p:attrName>fillcolor</p:attrName>
                                        </p:attrNameLst>
                                      </p:cBhvr>
                                      <p:to>
                                        <a:srgbClr val="FFC000"/>
                                      </p:to>
                                    </p:animClr>
                                    <p:set>
                                      <p:cBhvr>
                                        <p:cTn id="520" dur="1000" fill="hold"/>
                                        <p:tgtEl>
                                          <p:spTgt spid="13"/>
                                        </p:tgtEl>
                                        <p:attrNameLst>
                                          <p:attrName>fill.type</p:attrName>
                                        </p:attrNameLst>
                                      </p:cBhvr>
                                      <p:to>
                                        <p:strVal val="solid"/>
                                      </p:to>
                                    </p:set>
                                    <p:set>
                                      <p:cBhvr>
                                        <p:cTn id="521" dur="1000" fill="hold"/>
                                        <p:tgtEl>
                                          <p:spTgt spid="13"/>
                                        </p:tgtEl>
                                        <p:attrNameLst>
                                          <p:attrName>fill.on</p:attrName>
                                        </p:attrNameLst>
                                      </p:cBhvr>
                                      <p:to>
                                        <p:strVal val="true"/>
                                      </p:to>
                                    </p:set>
                                  </p:childTnLst>
                                </p:cTn>
                              </p:par>
                            </p:childTnLst>
                          </p:cTn>
                        </p:par>
                        <p:par>
                          <p:cTn id="522" fill="hold">
                            <p:stCondLst>
                              <p:cond delay="1000"/>
                            </p:stCondLst>
                            <p:childTnLst>
                              <p:par>
                                <p:cTn id="523" presetID="1" presetClass="emph" presetSubtype="2" fill="hold" nodeType="afterEffect">
                                  <p:stCondLst>
                                    <p:cond delay="0"/>
                                  </p:stCondLst>
                                  <p:childTnLst>
                                    <p:animClr clrSpc="rgb" dir="cw">
                                      <p:cBhvr>
                                        <p:cTn id="524" dur="1000" fill="hold"/>
                                        <p:tgtEl>
                                          <p:spTgt spid="14"/>
                                        </p:tgtEl>
                                        <p:attrNameLst>
                                          <p:attrName>fillcolor</p:attrName>
                                        </p:attrNameLst>
                                      </p:cBhvr>
                                      <p:to>
                                        <a:srgbClr val="FFC000"/>
                                      </p:to>
                                    </p:animClr>
                                    <p:set>
                                      <p:cBhvr>
                                        <p:cTn id="525" dur="1000" fill="hold"/>
                                        <p:tgtEl>
                                          <p:spTgt spid="14"/>
                                        </p:tgtEl>
                                        <p:attrNameLst>
                                          <p:attrName>fill.type</p:attrName>
                                        </p:attrNameLst>
                                      </p:cBhvr>
                                      <p:to>
                                        <p:strVal val="solid"/>
                                      </p:to>
                                    </p:set>
                                    <p:set>
                                      <p:cBhvr>
                                        <p:cTn id="526" dur="1000" fill="hold"/>
                                        <p:tgtEl>
                                          <p:spTgt spid="14"/>
                                        </p:tgtEl>
                                        <p:attrNameLst>
                                          <p:attrName>fill.on</p:attrName>
                                        </p:attrNameLst>
                                      </p:cBhvr>
                                      <p:to>
                                        <p:strVal val="true"/>
                                      </p:to>
                                    </p:set>
                                  </p:childTnLst>
                                </p:cTn>
                              </p:par>
                            </p:childTnLst>
                          </p:cTn>
                        </p:par>
                      </p:childTnLst>
                    </p:cTn>
                  </p:par>
                  <p:par>
                    <p:cTn id="527" fill="hold">
                      <p:stCondLst>
                        <p:cond delay="indefinite"/>
                      </p:stCondLst>
                      <p:childTnLst>
                        <p:par>
                          <p:cTn id="528" fill="hold">
                            <p:stCondLst>
                              <p:cond delay="0"/>
                            </p:stCondLst>
                            <p:childTnLst>
                              <p:par>
                                <p:cTn id="529" presetID="1" presetClass="emph" presetSubtype="2" fill="hold" nodeType="clickEffect">
                                  <p:stCondLst>
                                    <p:cond delay="0"/>
                                  </p:stCondLst>
                                  <p:childTnLst>
                                    <p:animClr clrSpc="rgb" dir="cw">
                                      <p:cBhvr>
                                        <p:cTn id="530" dur="1000" fill="hold"/>
                                        <p:tgtEl>
                                          <p:spTgt spid="15"/>
                                        </p:tgtEl>
                                        <p:attrNameLst>
                                          <p:attrName>fillcolor</p:attrName>
                                        </p:attrNameLst>
                                      </p:cBhvr>
                                      <p:to>
                                        <a:srgbClr val="BF9000"/>
                                      </p:to>
                                    </p:animClr>
                                    <p:set>
                                      <p:cBhvr>
                                        <p:cTn id="531" dur="1000" fill="hold"/>
                                        <p:tgtEl>
                                          <p:spTgt spid="15"/>
                                        </p:tgtEl>
                                        <p:attrNameLst>
                                          <p:attrName>fill.type</p:attrName>
                                        </p:attrNameLst>
                                      </p:cBhvr>
                                      <p:to>
                                        <p:strVal val="solid"/>
                                      </p:to>
                                    </p:set>
                                    <p:set>
                                      <p:cBhvr>
                                        <p:cTn id="532" dur="1000" fill="hold"/>
                                        <p:tgtEl>
                                          <p:spTgt spid="15"/>
                                        </p:tgtEl>
                                        <p:attrNameLst>
                                          <p:attrName>fill.on</p:attrName>
                                        </p:attrNameLst>
                                      </p:cBhvr>
                                      <p:to>
                                        <p:strVal val="true"/>
                                      </p:to>
                                    </p:set>
                                  </p:childTnLst>
                                </p:cTn>
                              </p:par>
                            </p:childTnLst>
                          </p:cTn>
                        </p:par>
                        <p:par>
                          <p:cTn id="533" fill="hold">
                            <p:stCondLst>
                              <p:cond delay="1000"/>
                            </p:stCondLst>
                            <p:childTnLst>
                              <p:par>
                                <p:cTn id="534" presetID="1" presetClass="emph" presetSubtype="2" fill="hold" nodeType="afterEffect">
                                  <p:stCondLst>
                                    <p:cond delay="0"/>
                                  </p:stCondLst>
                                  <p:childTnLst>
                                    <p:animClr clrSpc="rgb" dir="cw">
                                      <p:cBhvr>
                                        <p:cTn id="535" dur="1000" fill="hold"/>
                                        <p:tgtEl>
                                          <p:spTgt spid="16"/>
                                        </p:tgtEl>
                                        <p:attrNameLst>
                                          <p:attrName>fillcolor</p:attrName>
                                        </p:attrNameLst>
                                      </p:cBhvr>
                                      <p:to>
                                        <a:srgbClr val="BF9000"/>
                                      </p:to>
                                    </p:animClr>
                                    <p:set>
                                      <p:cBhvr>
                                        <p:cTn id="536" dur="1000" fill="hold"/>
                                        <p:tgtEl>
                                          <p:spTgt spid="16"/>
                                        </p:tgtEl>
                                        <p:attrNameLst>
                                          <p:attrName>fill.type</p:attrName>
                                        </p:attrNameLst>
                                      </p:cBhvr>
                                      <p:to>
                                        <p:strVal val="solid"/>
                                      </p:to>
                                    </p:set>
                                    <p:set>
                                      <p:cBhvr>
                                        <p:cTn id="537" dur="1000" fill="hold"/>
                                        <p:tgtEl>
                                          <p:spTgt spid="16"/>
                                        </p:tgtEl>
                                        <p:attrNameLst>
                                          <p:attrName>fill.on</p:attrName>
                                        </p:attrNameLst>
                                      </p:cBhvr>
                                      <p:to>
                                        <p:strVal val="true"/>
                                      </p:to>
                                    </p:set>
                                  </p:childTnLst>
                                </p:cTn>
                              </p:par>
                            </p:childTnLst>
                          </p:cTn>
                        </p:par>
                      </p:childTnLst>
                    </p:cTn>
                  </p:par>
                  <p:par>
                    <p:cTn id="538" fill="hold">
                      <p:stCondLst>
                        <p:cond delay="indefinite"/>
                      </p:stCondLst>
                      <p:childTnLst>
                        <p:par>
                          <p:cTn id="539" fill="hold">
                            <p:stCondLst>
                              <p:cond delay="0"/>
                            </p:stCondLst>
                            <p:childTnLst>
                              <p:par>
                                <p:cTn id="540" presetID="22" presetClass="entr" presetSubtype="1" fill="hold" grpId="0" nodeType="clickEffect">
                                  <p:stCondLst>
                                    <p:cond delay="0"/>
                                  </p:stCondLst>
                                  <p:childTnLst>
                                    <p:set>
                                      <p:cBhvr>
                                        <p:cTn id="541" dur="1" fill="hold">
                                          <p:stCondLst>
                                            <p:cond delay="0"/>
                                          </p:stCondLst>
                                        </p:cTn>
                                        <p:tgtEl>
                                          <p:spTgt spid="137">
                                            <p:txEl>
                                              <p:pRg st="5" end="5"/>
                                            </p:txEl>
                                          </p:spTgt>
                                        </p:tgtEl>
                                        <p:attrNameLst>
                                          <p:attrName>style.visibility</p:attrName>
                                        </p:attrNameLst>
                                      </p:cBhvr>
                                      <p:to>
                                        <p:strVal val="visible"/>
                                      </p:to>
                                    </p:set>
                                    <p:animEffect transition="in" filter="wipe(up)">
                                      <p:cBhvr>
                                        <p:cTn id="542" dur="500"/>
                                        <p:tgtEl>
                                          <p:spTgt spid="137">
                                            <p:txEl>
                                              <p:pRg st="5" end="5"/>
                                            </p:txEl>
                                          </p:spTgt>
                                        </p:tgtEl>
                                      </p:cBhvr>
                                    </p:animEffect>
                                  </p:childTnLst>
                                </p:cTn>
                              </p:par>
                            </p:childTnLst>
                          </p:cTn>
                        </p:par>
                      </p:childTnLst>
                    </p:cTn>
                  </p:par>
                  <p:par>
                    <p:cTn id="543" fill="hold">
                      <p:stCondLst>
                        <p:cond delay="indefinite"/>
                      </p:stCondLst>
                      <p:childTnLst>
                        <p:par>
                          <p:cTn id="544" fill="hold">
                            <p:stCondLst>
                              <p:cond delay="0"/>
                            </p:stCondLst>
                            <p:childTnLst>
                              <p:par>
                                <p:cTn id="545" presetID="22" presetClass="entr" presetSubtype="1" fill="hold" grpId="0" nodeType="clickEffect">
                                  <p:stCondLst>
                                    <p:cond delay="0"/>
                                  </p:stCondLst>
                                  <p:childTnLst>
                                    <p:set>
                                      <p:cBhvr>
                                        <p:cTn id="546" dur="1" fill="hold">
                                          <p:stCondLst>
                                            <p:cond delay="0"/>
                                          </p:stCondLst>
                                        </p:cTn>
                                        <p:tgtEl>
                                          <p:spTgt spid="137">
                                            <p:txEl>
                                              <p:pRg st="6" end="6"/>
                                            </p:txEl>
                                          </p:spTgt>
                                        </p:tgtEl>
                                        <p:attrNameLst>
                                          <p:attrName>style.visibility</p:attrName>
                                        </p:attrNameLst>
                                      </p:cBhvr>
                                      <p:to>
                                        <p:strVal val="visible"/>
                                      </p:to>
                                    </p:set>
                                    <p:animEffect transition="in" filter="wipe(up)">
                                      <p:cBhvr>
                                        <p:cTn id="547" dur="500"/>
                                        <p:tgtEl>
                                          <p:spTgt spid="137">
                                            <p:txEl>
                                              <p:pRg st="6" end="6"/>
                                            </p:txEl>
                                          </p:spTgt>
                                        </p:tgtEl>
                                      </p:cBhvr>
                                    </p:animEffect>
                                  </p:childTnLst>
                                </p:cTn>
                              </p:par>
                            </p:childTnLst>
                          </p:cTn>
                        </p:par>
                      </p:childTnLst>
                    </p:cTn>
                  </p:par>
                  <p:par>
                    <p:cTn id="548" fill="hold">
                      <p:stCondLst>
                        <p:cond delay="indefinite"/>
                      </p:stCondLst>
                      <p:childTnLst>
                        <p:par>
                          <p:cTn id="549" fill="hold">
                            <p:stCondLst>
                              <p:cond delay="0"/>
                            </p:stCondLst>
                            <p:childTnLst>
                              <p:par>
                                <p:cTn id="550" presetID="22" presetClass="entr" presetSubtype="1" fill="hold" grpId="0" nodeType="clickEffect">
                                  <p:stCondLst>
                                    <p:cond delay="0"/>
                                  </p:stCondLst>
                                  <p:childTnLst>
                                    <p:set>
                                      <p:cBhvr>
                                        <p:cTn id="551" dur="1" fill="hold">
                                          <p:stCondLst>
                                            <p:cond delay="0"/>
                                          </p:stCondLst>
                                        </p:cTn>
                                        <p:tgtEl>
                                          <p:spTgt spid="137">
                                            <p:txEl>
                                              <p:pRg st="7" end="7"/>
                                            </p:txEl>
                                          </p:spTgt>
                                        </p:tgtEl>
                                        <p:attrNameLst>
                                          <p:attrName>style.visibility</p:attrName>
                                        </p:attrNameLst>
                                      </p:cBhvr>
                                      <p:to>
                                        <p:strVal val="visible"/>
                                      </p:to>
                                    </p:set>
                                    <p:animEffect transition="in" filter="wipe(up)">
                                      <p:cBhvr>
                                        <p:cTn id="552" dur="500"/>
                                        <p:tgtEl>
                                          <p:spTgt spid="137">
                                            <p:txEl>
                                              <p:pRg st="7" end="7"/>
                                            </p:txEl>
                                          </p:spTgt>
                                        </p:tgtEl>
                                      </p:cBhvr>
                                    </p:animEffect>
                                  </p:childTnLst>
                                </p:cTn>
                              </p:par>
                            </p:childTnLst>
                          </p:cTn>
                        </p:par>
                      </p:childTnLst>
                    </p:cTn>
                  </p:par>
                  <p:par>
                    <p:cTn id="553" fill="hold">
                      <p:stCondLst>
                        <p:cond delay="indefinite"/>
                      </p:stCondLst>
                      <p:childTnLst>
                        <p:par>
                          <p:cTn id="554" fill="hold">
                            <p:stCondLst>
                              <p:cond delay="0"/>
                            </p:stCondLst>
                            <p:childTnLst>
                              <p:par>
                                <p:cTn id="555" presetID="31" presetClass="entr" presetSubtype="0" fill="hold" grpId="0" nodeType="clickEffect">
                                  <p:stCondLst>
                                    <p:cond delay="0"/>
                                  </p:stCondLst>
                                  <p:childTnLst>
                                    <p:set>
                                      <p:cBhvr>
                                        <p:cTn id="556" dur="1" fill="hold">
                                          <p:stCondLst>
                                            <p:cond delay="0"/>
                                          </p:stCondLst>
                                        </p:cTn>
                                        <p:tgtEl>
                                          <p:spTgt spid="119"/>
                                        </p:tgtEl>
                                        <p:attrNameLst>
                                          <p:attrName>style.visibility</p:attrName>
                                        </p:attrNameLst>
                                      </p:cBhvr>
                                      <p:to>
                                        <p:strVal val="visible"/>
                                      </p:to>
                                    </p:set>
                                    <p:anim calcmode="lin" valueType="num">
                                      <p:cBhvr>
                                        <p:cTn id="557" dur="500" fill="hold"/>
                                        <p:tgtEl>
                                          <p:spTgt spid="119"/>
                                        </p:tgtEl>
                                        <p:attrNameLst>
                                          <p:attrName>ppt_w</p:attrName>
                                        </p:attrNameLst>
                                      </p:cBhvr>
                                      <p:tavLst>
                                        <p:tav tm="0">
                                          <p:val>
                                            <p:fltVal val="0"/>
                                          </p:val>
                                        </p:tav>
                                        <p:tav tm="100000">
                                          <p:val>
                                            <p:strVal val="#ppt_w"/>
                                          </p:val>
                                        </p:tav>
                                      </p:tavLst>
                                    </p:anim>
                                    <p:anim calcmode="lin" valueType="num">
                                      <p:cBhvr>
                                        <p:cTn id="558" dur="500" fill="hold"/>
                                        <p:tgtEl>
                                          <p:spTgt spid="119"/>
                                        </p:tgtEl>
                                        <p:attrNameLst>
                                          <p:attrName>ppt_h</p:attrName>
                                        </p:attrNameLst>
                                      </p:cBhvr>
                                      <p:tavLst>
                                        <p:tav tm="0">
                                          <p:val>
                                            <p:fltVal val="0"/>
                                          </p:val>
                                        </p:tav>
                                        <p:tav tm="100000">
                                          <p:val>
                                            <p:strVal val="#ppt_h"/>
                                          </p:val>
                                        </p:tav>
                                      </p:tavLst>
                                    </p:anim>
                                    <p:anim calcmode="lin" valueType="num">
                                      <p:cBhvr>
                                        <p:cTn id="559" dur="500" fill="hold"/>
                                        <p:tgtEl>
                                          <p:spTgt spid="119"/>
                                        </p:tgtEl>
                                        <p:attrNameLst>
                                          <p:attrName>style.rotation</p:attrName>
                                        </p:attrNameLst>
                                      </p:cBhvr>
                                      <p:tavLst>
                                        <p:tav tm="0">
                                          <p:val>
                                            <p:fltVal val="90"/>
                                          </p:val>
                                        </p:tav>
                                        <p:tav tm="100000">
                                          <p:val>
                                            <p:fltVal val="0"/>
                                          </p:val>
                                        </p:tav>
                                      </p:tavLst>
                                    </p:anim>
                                    <p:animEffect transition="in" filter="fade">
                                      <p:cBhvr>
                                        <p:cTn id="560" dur="500"/>
                                        <p:tgtEl>
                                          <p:spTgt spid="119"/>
                                        </p:tgtEl>
                                      </p:cBhvr>
                                    </p:animEffect>
                                  </p:childTnLst>
                                </p:cTn>
                              </p:par>
                            </p:childTnLst>
                          </p:cTn>
                        </p:par>
                        <p:par>
                          <p:cTn id="561" fill="hold">
                            <p:stCondLst>
                              <p:cond delay="500"/>
                            </p:stCondLst>
                            <p:childTnLst>
                              <p:par>
                                <p:cTn id="562" presetID="31" presetClass="entr" presetSubtype="0" fill="hold" grpId="0" nodeType="afterEffect">
                                  <p:stCondLst>
                                    <p:cond delay="0"/>
                                  </p:stCondLst>
                                  <p:childTnLst>
                                    <p:set>
                                      <p:cBhvr>
                                        <p:cTn id="563" dur="1" fill="hold">
                                          <p:stCondLst>
                                            <p:cond delay="0"/>
                                          </p:stCondLst>
                                        </p:cTn>
                                        <p:tgtEl>
                                          <p:spTgt spid="120"/>
                                        </p:tgtEl>
                                        <p:attrNameLst>
                                          <p:attrName>style.visibility</p:attrName>
                                        </p:attrNameLst>
                                      </p:cBhvr>
                                      <p:to>
                                        <p:strVal val="visible"/>
                                      </p:to>
                                    </p:set>
                                    <p:anim calcmode="lin" valueType="num">
                                      <p:cBhvr>
                                        <p:cTn id="564" dur="500" fill="hold"/>
                                        <p:tgtEl>
                                          <p:spTgt spid="120"/>
                                        </p:tgtEl>
                                        <p:attrNameLst>
                                          <p:attrName>ppt_w</p:attrName>
                                        </p:attrNameLst>
                                      </p:cBhvr>
                                      <p:tavLst>
                                        <p:tav tm="0">
                                          <p:val>
                                            <p:fltVal val="0"/>
                                          </p:val>
                                        </p:tav>
                                        <p:tav tm="100000">
                                          <p:val>
                                            <p:strVal val="#ppt_w"/>
                                          </p:val>
                                        </p:tav>
                                      </p:tavLst>
                                    </p:anim>
                                    <p:anim calcmode="lin" valueType="num">
                                      <p:cBhvr>
                                        <p:cTn id="565" dur="500" fill="hold"/>
                                        <p:tgtEl>
                                          <p:spTgt spid="120"/>
                                        </p:tgtEl>
                                        <p:attrNameLst>
                                          <p:attrName>ppt_h</p:attrName>
                                        </p:attrNameLst>
                                      </p:cBhvr>
                                      <p:tavLst>
                                        <p:tav tm="0">
                                          <p:val>
                                            <p:fltVal val="0"/>
                                          </p:val>
                                        </p:tav>
                                        <p:tav tm="100000">
                                          <p:val>
                                            <p:strVal val="#ppt_h"/>
                                          </p:val>
                                        </p:tav>
                                      </p:tavLst>
                                    </p:anim>
                                    <p:anim calcmode="lin" valueType="num">
                                      <p:cBhvr>
                                        <p:cTn id="566" dur="500" fill="hold"/>
                                        <p:tgtEl>
                                          <p:spTgt spid="120"/>
                                        </p:tgtEl>
                                        <p:attrNameLst>
                                          <p:attrName>style.rotation</p:attrName>
                                        </p:attrNameLst>
                                      </p:cBhvr>
                                      <p:tavLst>
                                        <p:tav tm="0">
                                          <p:val>
                                            <p:fltVal val="90"/>
                                          </p:val>
                                        </p:tav>
                                        <p:tav tm="100000">
                                          <p:val>
                                            <p:fltVal val="0"/>
                                          </p:val>
                                        </p:tav>
                                      </p:tavLst>
                                    </p:anim>
                                    <p:animEffect transition="in" filter="fade">
                                      <p:cBhvr>
                                        <p:cTn id="567" dur="500"/>
                                        <p:tgtEl>
                                          <p:spTgt spid="120"/>
                                        </p:tgtEl>
                                      </p:cBhvr>
                                    </p:animEffect>
                                  </p:childTnLst>
                                </p:cTn>
                              </p:par>
                            </p:childTnLst>
                          </p:cTn>
                        </p:par>
                        <p:par>
                          <p:cTn id="568" fill="hold">
                            <p:stCondLst>
                              <p:cond delay="1000"/>
                            </p:stCondLst>
                            <p:childTnLst>
                              <p:par>
                                <p:cTn id="569" presetID="31" presetClass="entr" presetSubtype="0" fill="hold" grpId="0" nodeType="afterEffect">
                                  <p:stCondLst>
                                    <p:cond delay="0"/>
                                  </p:stCondLst>
                                  <p:childTnLst>
                                    <p:set>
                                      <p:cBhvr>
                                        <p:cTn id="570" dur="1" fill="hold">
                                          <p:stCondLst>
                                            <p:cond delay="0"/>
                                          </p:stCondLst>
                                        </p:cTn>
                                        <p:tgtEl>
                                          <p:spTgt spid="121"/>
                                        </p:tgtEl>
                                        <p:attrNameLst>
                                          <p:attrName>style.visibility</p:attrName>
                                        </p:attrNameLst>
                                      </p:cBhvr>
                                      <p:to>
                                        <p:strVal val="visible"/>
                                      </p:to>
                                    </p:set>
                                    <p:anim calcmode="lin" valueType="num">
                                      <p:cBhvr>
                                        <p:cTn id="571" dur="500" fill="hold"/>
                                        <p:tgtEl>
                                          <p:spTgt spid="121"/>
                                        </p:tgtEl>
                                        <p:attrNameLst>
                                          <p:attrName>ppt_w</p:attrName>
                                        </p:attrNameLst>
                                      </p:cBhvr>
                                      <p:tavLst>
                                        <p:tav tm="0">
                                          <p:val>
                                            <p:fltVal val="0"/>
                                          </p:val>
                                        </p:tav>
                                        <p:tav tm="100000">
                                          <p:val>
                                            <p:strVal val="#ppt_w"/>
                                          </p:val>
                                        </p:tav>
                                      </p:tavLst>
                                    </p:anim>
                                    <p:anim calcmode="lin" valueType="num">
                                      <p:cBhvr>
                                        <p:cTn id="572" dur="500" fill="hold"/>
                                        <p:tgtEl>
                                          <p:spTgt spid="121"/>
                                        </p:tgtEl>
                                        <p:attrNameLst>
                                          <p:attrName>ppt_h</p:attrName>
                                        </p:attrNameLst>
                                      </p:cBhvr>
                                      <p:tavLst>
                                        <p:tav tm="0">
                                          <p:val>
                                            <p:fltVal val="0"/>
                                          </p:val>
                                        </p:tav>
                                        <p:tav tm="100000">
                                          <p:val>
                                            <p:strVal val="#ppt_h"/>
                                          </p:val>
                                        </p:tav>
                                      </p:tavLst>
                                    </p:anim>
                                    <p:anim calcmode="lin" valueType="num">
                                      <p:cBhvr>
                                        <p:cTn id="573" dur="500" fill="hold"/>
                                        <p:tgtEl>
                                          <p:spTgt spid="121"/>
                                        </p:tgtEl>
                                        <p:attrNameLst>
                                          <p:attrName>style.rotation</p:attrName>
                                        </p:attrNameLst>
                                      </p:cBhvr>
                                      <p:tavLst>
                                        <p:tav tm="0">
                                          <p:val>
                                            <p:fltVal val="90"/>
                                          </p:val>
                                        </p:tav>
                                        <p:tav tm="100000">
                                          <p:val>
                                            <p:fltVal val="0"/>
                                          </p:val>
                                        </p:tav>
                                      </p:tavLst>
                                    </p:anim>
                                    <p:animEffect transition="in" filter="fade">
                                      <p:cBhvr>
                                        <p:cTn id="574" dur="500"/>
                                        <p:tgtEl>
                                          <p:spTgt spid="121"/>
                                        </p:tgtEl>
                                      </p:cBhvr>
                                    </p:animEffect>
                                  </p:childTnLst>
                                </p:cTn>
                              </p:par>
                            </p:childTnLst>
                          </p:cTn>
                        </p:par>
                        <p:par>
                          <p:cTn id="575" fill="hold">
                            <p:stCondLst>
                              <p:cond delay="1500"/>
                            </p:stCondLst>
                            <p:childTnLst>
                              <p:par>
                                <p:cTn id="576" presetID="31" presetClass="entr" presetSubtype="0" fill="hold" grpId="0" nodeType="afterEffect">
                                  <p:stCondLst>
                                    <p:cond delay="0"/>
                                  </p:stCondLst>
                                  <p:childTnLst>
                                    <p:set>
                                      <p:cBhvr>
                                        <p:cTn id="577" dur="1" fill="hold">
                                          <p:stCondLst>
                                            <p:cond delay="0"/>
                                          </p:stCondLst>
                                        </p:cTn>
                                        <p:tgtEl>
                                          <p:spTgt spid="122"/>
                                        </p:tgtEl>
                                        <p:attrNameLst>
                                          <p:attrName>style.visibility</p:attrName>
                                        </p:attrNameLst>
                                      </p:cBhvr>
                                      <p:to>
                                        <p:strVal val="visible"/>
                                      </p:to>
                                    </p:set>
                                    <p:anim calcmode="lin" valueType="num">
                                      <p:cBhvr>
                                        <p:cTn id="578" dur="500" fill="hold"/>
                                        <p:tgtEl>
                                          <p:spTgt spid="122"/>
                                        </p:tgtEl>
                                        <p:attrNameLst>
                                          <p:attrName>ppt_w</p:attrName>
                                        </p:attrNameLst>
                                      </p:cBhvr>
                                      <p:tavLst>
                                        <p:tav tm="0">
                                          <p:val>
                                            <p:fltVal val="0"/>
                                          </p:val>
                                        </p:tav>
                                        <p:tav tm="100000">
                                          <p:val>
                                            <p:strVal val="#ppt_w"/>
                                          </p:val>
                                        </p:tav>
                                      </p:tavLst>
                                    </p:anim>
                                    <p:anim calcmode="lin" valueType="num">
                                      <p:cBhvr>
                                        <p:cTn id="579" dur="500" fill="hold"/>
                                        <p:tgtEl>
                                          <p:spTgt spid="122"/>
                                        </p:tgtEl>
                                        <p:attrNameLst>
                                          <p:attrName>ppt_h</p:attrName>
                                        </p:attrNameLst>
                                      </p:cBhvr>
                                      <p:tavLst>
                                        <p:tav tm="0">
                                          <p:val>
                                            <p:fltVal val="0"/>
                                          </p:val>
                                        </p:tav>
                                        <p:tav tm="100000">
                                          <p:val>
                                            <p:strVal val="#ppt_h"/>
                                          </p:val>
                                        </p:tav>
                                      </p:tavLst>
                                    </p:anim>
                                    <p:anim calcmode="lin" valueType="num">
                                      <p:cBhvr>
                                        <p:cTn id="580" dur="500" fill="hold"/>
                                        <p:tgtEl>
                                          <p:spTgt spid="122"/>
                                        </p:tgtEl>
                                        <p:attrNameLst>
                                          <p:attrName>style.rotation</p:attrName>
                                        </p:attrNameLst>
                                      </p:cBhvr>
                                      <p:tavLst>
                                        <p:tav tm="0">
                                          <p:val>
                                            <p:fltVal val="90"/>
                                          </p:val>
                                        </p:tav>
                                        <p:tav tm="100000">
                                          <p:val>
                                            <p:fltVal val="0"/>
                                          </p:val>
                                        </p:tav>
                                      </p:tavLst>
                                    </p:anim>
                                    <p:animEffect transition="in" filter="fade">
                                      <p:cBhvr>
                                        <p:cTn id="581" dur="500"/>
                                        <p:tgtEl>
                                          <p:spTgt spid="122"/>
                                        </p:tgtEl>
                                      </p:cBhvr>
                                    </p:animEffect>
                                  </p:childTnLst>
                                </p:cTn>
                              </p:par>
                            </p:childTnLst>
                          </p:cTn>
                        </p:par>
                        <p:par>
                          <p:cTn id="582" fill="hold">
                            <p:stCondLst>
                              <p:cond delay="2000"/>
                            </p:stCondLst>
                            <p:childTnLst>
                              <p:par>
                                <p:cTn id="583" presetID="31" presetClass="entr" presetSubtype="0" fill="hold" grpId="0" nodeType="afterEffect">
                                  <p:stCondLst>
                                    <p:cond delay="0"/>
                                  </p:stCondLst>
                                  <p:childTnLst>
                                    <p:set>
                                      <p:cBhvr>
                                        <p:cTn id="584" dur="1" fill="hold">
                                          <p:stCondLst>
                                            <p:cond delay="0"/>
                                          </p:stCondLst>
                                        </p:cTn>
                                        <p:tgtEl>
                                          <p:spTgt spid="123"/>
                                        </p:tgtEl>
                                        <p:attrNameLst>
                                          <p:attrName>style.visibility</p:attrName>
                                        </p:attrNameLst>
                                      </p:cBhvr>
                                      <p:to>
                                        <p:strVal val="visible"/>
                                      </p:to>
                                    </p:set>
                                    <p:anim calcmode="lin" valueType="num">
                                      <p:cBhvr>
                                        <p:cTn id="585" dur="500" fill="hold"/>
                                        <p:tgtEl>
                                          <p:spTgt spid="123"/>
                                        </p:tgtEl>
                                        <p:attrNameLst>
                                          <p:attrName>ppt_w</p:attrName>
                                        </p:attrNameLst>
                                      </p:cBhvr>
                                      <p:tavLst>
                                        <p:tav tm="0">
                                          <p:val>
                                            <p:fltVal val="0"/>
                                          </p:val>
                                        </p:tav>
                                        <p:tav tm="100000">
                                          <p:val>
                                            <p:strVal val="#ppt_w"/>
                                          </p:val>
                                        </p:tav>
                                      </p:tavLst>
                                    </p:anim>
                                    <p:anim calcmode="lin" valueType="num">
                                      <p:cBhvr>
                                        <p:cTn id="586" dur="500" fill="hold"/>
                                        <p:tgtEl>
                                          <p:spTgt spid="123"/>
                                        </p:tgtEl>
                                        <p:attrNameLst>
                                          <p:attrName>ppt_h</p:attrName>
                                        </p:attrNameLst>
                                      </p:cBhvr>
                                      <p:tavLst>
                                        <p:tav tm="0">
                                          <p:val>
                                            <p:fltVal val="0"/>
                                          </p:val>
                                        </p:tav>
                                        <p:tav tm="100000">
                                          <p:val>
                                            <p:strVal val="#ppt_h"/>
                                          </p:val>
                                        </p:tav>
                                      </p:tavLst>
                                    </p:anim>
                                    <p:anim calcmode="lin" valueType="num">
                                      <p:cBhvr>
                                        <p:cTn id="587" dur="500" fill="hold"/>
                                        <p:tgtEl>
                                          <p:spTgt spid="123"/>
                                        </p:tgtEl>
                                        <p:attrNameLst>
                                          <p:attrName>style.rotation</p:attrName>
                                        </p:attrNameLst>
                                      </p:cBhvr>
                                      <p:tavLst>
                                        <p:tav tm="0">
                                          <p:val>
                                            <p:fltVal val="90"/>
                                          </p:val>
                                        </p:tav>
                                        <p:tav tm="100000">
                                          <p:val>
                                            <p:fltVal val="0"/>
                                          </p:val>
                                        </p:tav>
                                      </p:tavLst>
                                    </p:anim>
                                    <p:animEffect transition="in" filter="fade">
                                      <p:cBhvr>
                                        <p:cTn id="588" dur="500"/>
                                        <p:tgtEl>
                                          <p:spTgt spid="123"/>
                                        </p:tgtEl>
                                      </p:cBhvr>
                                    </p:animEffect>
                                  </p:childTnLst>
                                </p:cTn>
                              </p:par>
                            </p:childTnLst>
                          </p:cTn>
                        </p:par>
                        <p:par>
                          <p:cTn id="589" fill="hold">
                            <p:stCondLst>
                              <p:cond delay="2500"/>
                            </p:stCondLst>
                            <p:childTnLst>
                              <p:par>
                                <p:cTn id="590" presetID="31" presetClass="entr" presetSubtype="0" fill="hold" grpId="0" nodeType="afterEffect">
                                  <p:stCondLst>
                                    <p:cond delay="0"/>
                                  </p:stCondLst>
                                  <p:childTnLst>
                                    <p:set>
                                      <p:cBhvr>
                                        <p:cTn id="591" dur="1" fill="hold">
                                          <p:stCondLst>
                                            <p:cond delay="0"/>
                                          </p:stCondLst>
                                        </p:cTn>
                                        <p:tgtEl>
                                          <p:spTgt spid="124"/>
                                        </p:tgtEl>
                                        <p:attrNameLst>
                                          <p:attrName>style.visibility</p:attrName>
                                        </p:attrNameLst>
                                      </p:cBhvr>
                                      <p:to>
                                        <p:strVal val="visible"/>
                                      </p:to>
                                    </p:set>
                                    <p:anim calcmode="lin" valueType="num">
                                      <p:cBhvr>
                                        <p:cTn id="592" dur="500" fill="hold"/>
                                        <p:tgtEl>
                                          <p:spTgt spid="124"/>
                                        </p:tgtEl>
                                        <p:attrNameLst>
                                          <p:attrName>ppt_w</p:attrName>
                                        </p:attrNameLst>
                                      </p:cBhvr>
                                      <p:tavLst>
                                        <p:tav tm="0">
                                          <p:val>
                                            <p:fltVal val="0"/>
                                          </p:val>
                                        </p:tav>
                                        <p:tav tm="100000">
                                          <p:val>
                                            <p:strVal val="#ppt_w"/>
                                          </p:val>
                                        </p:tav>
                                      </p:tavLst>
                                    </p:anim>
                                    <p:anim calcmode="lin" valueType="num">
                                      <p:cBhvr>
                                        <p:cTn id="593" dur="500" fill="hold"/>
                                        <p:tgtEl>
                                          <p:spTgt spid="124"/>
                                        </p:tgtEl>
                                        <p:attrNameLst>
                                          <p:attrName>ppt_h</p:attrName>
                                        </p:attrNameLst>
                                      </p:cBhvr>
                                      <p:tavLst>
                                        <p:tav tm="0">
                                          <p:val>
                                            <p:fltVal val="0"/>
                                          </p:val>
                                        </p:tav>
                                        <p:tav tm="100000">
                                          <p:val>
                                            <p:strVal val="#ppt_h"/>
                                          </p:val>
                                        </p:tav>
                                      </p:tavLst>
                                    </p:anim>
                                    <p:anim calcmode="lin" valueType="num">
                                      <p:cBhvr>
                                        <p:cTn id="594" dur="500" fill="hold"/>
                                        <p:tgtEl>
                                          <p:spTgt spid="124"/>
                                        </p:tgtEl>
                                        <p:attrNameLst>
                                          <p:attrName>style.rotation</p:attrName>
                                        </p:attrNameLst>
                                      </p:cBhvr>
                                      <p:tavLst>
                                        <p:tav tm="0">
                                          <p:val>
                                            <p:fltVal val="90"/>
                                          </p:val>
                                        </p:tav>
                                        <p:tav tm="100000">
                                          <p:val>
                                            <p:fltVal val="0"/>
                                          </p:val>
                                        </p:tav>
                                      </p:tavLst>
                                    </p:anim>
                                    <p:animEffect transition="in" filter="fade">
                                      <p:cBhvr>
                                        <p:cTn id="595" dur="500"/>
                                        <p:tgtEl>
                                          <p:spTgt spid="124"/>
                                        </p:tgtEl>
                                      </p:cBhvr>
                                    </p:animEffect>
                                  </p:childTnLst>
                                </p:cTn>
                              </p:par>
                            </p:childTnLst>
                          </p:cTn>
                        </p:par>
                      </p:childTnLst>
                    </p:cTn>
                  </p:par>
                  <p:par>
                    <p:cTn id="596" fill="hold">
                      <p:stCondLst>
                        <p:cond delay="indefinite"/>
                      </p:stCondLst>
                      <p:childTnLst>
                        <p:par>
                          <p:cTn id="597" fill="hold">
                            <p:stCondLst>
                              <p:cond delay="0"/>
                            </p:stCondLst>
                            <p:childTnLst>
                              <p:par>
                                <p:cTn id="598" presetID="31" presetClass="entr" presetSubtype="0" fill="hold" grpId="0" nodeType="clickEffect">
                                  <p:stCondLst>
                                    <p:cond delay="0"/>
                                  </p:stCondLst>
                                  <p:childTnLst>
                                    <p:set>
                                      <p:cBhvr>
                                        <p:cTn id="599" dur="1" fill="hold">
                                          <p:stCondLst>
                                            <p:cond delay="0"/>
                                          </p:stCondLst>
                                        </p:cTn>
                                        <p:tgtEl>
                                          <p:spTgt spid="125"/>
                                        </p:tgtEl>
                                        <p:attrNameLst>
                                          <p:attrName>style.visibility</p:attrName>
                                        </p:attrNameLst>
                                      </p:cBhvr>
                                      <p:to>
                                        <p:strVal val="visible"/>
                                      </p:to>
                                    </p:set>
                                    <p:anim calcmode="lin" valueType="num">
                                      <p:cBhvr>
                                        <p:cTn id="600" dur="500" fill="hold"/>
                                        <p:tgtEl>
                                          <p:spTgt spid="125"/>
                                        </p:tgtEl>
                                        <p:attrNameLst>
                                          <p:attrName>ppt_w</p:attrName>
                                        </p:attrNameLst>
                                      </p:cBhvr>
                                      <p:tavLst>
                                        <p:tav tm="0">
                                          <p:val>
                                            <p:fltVal val="0"/>
                                          </p:val>
                                        </p:tav>
                                        <p:tav tm="100000">
                                          <p:val>
                                            <p:strVal val="#ppt_w"/>
                                          </p:val>
                                        </p:tav>
                                      </p:tavLst>
                                    </p:anim>
                                    <p:anim calcmode="lin" valueType="num">
                                      <p:cBhvr>
                                        <p:cTn id="601" dur="500" fill="hold"/>
                                        <p:tgtEl>
                                          <p:spTgt spid="125"/>
                                        </p:tgtEl>
                                        <p:attrNameLst>
                                          <p:attrName>ppt_h</p:attrName>
                                        </p:attrNameLst>
                                      </p:cBhvr>
                                      <p:tavLst>
                                        <p:tav tm="0">
                                          <p:val>
                                            <p:fltVal val="0"/>
                                          </p:val>
                                        </p:tav>
                                        <p:tav tm="100000">
                                          <p:val>
                                            <p:strVal val="#ppt_h"/>
                                          </p:val>
                                        </p:tav>
                                      </p:tavLst>
                                    </p:anim>
                                    <p:anim calcmode="lin" valueType="num">
                                      <p:cBhvr>
                                        <p:cTn id="602" dur="500" fill="hold"/>
                                        <p:tgtEl>
                                          <p:spTgt spid="125"/>
                                        </p:tgtEl>
                                        <p:attrNameLst>
                                          <p:attrName>style.rotation</p:attrName>
                                        </p:attrNameLst>
                                      </p:cBhvr>
                                      <p:tavLst>
                                        <p:tav tm="0">
                                          <p:val>
                                            <p:fltVal val="90"/>
                                          </p:val>
                                        </p:tav>
                                        <p:tav tm="100000">
                                          <p:val>
                                            <p:fltVal val="0"/>
                                          </p:val>
                                        </p:tav>
                                      </p:tavLst>
                                    </p:anim>
                                    <p:animEffect transition="in" filter="fade">
                                      <p:cBhvr>
                                        <p:cTn id="603" dur="500"/>
                                        <p:tgtEl>
                                          <p:spTgt spid="125"/>
                                        </p:tgtEl>
                                      </p:cBhvr>
                                    </p:animEffect>
                                  </p:childTnLst>
                                </p:cTn>
                              </p:par>
                            </p:childTnLst>
                          </p:cTn>
                        </p:par>
                        <p:par>
                          <p:cTn id="604" fill="hold">
                            <p:stCondLst>
                              <p:cond delay="500"/>
                            </p:stCondLst>
                            <p:childTnLst>
                              <p:par>
                                <p:cTn id="605" presetID="31" presetClass="entr" presetSubtype="0" fill="hold" grpId="0" nodeType="afterEffect">
                                  <p:stCondLst>
                                    <p:cond delay="0"/>
                                  </p:stCondLst>
                                  <p:childTnLst>
                                    <p:set>
                                      <p:cBhvr>
                                        <p:cTn id="606" dur="1" fill="hold">
                                          <p:stCondLst>
                                            <p:cond delay="0"/>
                                          </p:stCondLst>
                                        </p:cTn>
                                        <p:tgtEl>
                                          <p:spTgt spid="126"/>
                                        </p:tgtEl>
                                        <p:attrNameLst>
                                          <p:attrName>style.visibility</p:attrName>
                                        </p:attrNameLst>
                                      </p:cBhvr>
                                      <p:to>
                                        <p:strVal val="visible"/>
                                      </p:to>
                                    </p:set>
                                    <p:anim calcmode="lin" valueType="num">
                                      <p:cBhvr>
                                        <p:cTn id="607" dur="500" fill="hold"/>
                                        <p:tgtEl>
                                          <p:spTgt spid="126"/>
                                        </p:tgtEl>
                                        <p:attrNameLst>
                                          <p:attrName>ppt_w</p:attrName>
                                        </p:attrNameLst>
                                      </p:cBhvr>
                                      <p:tavLst>
                                        <p:tav tm="0">
                                          <p:val>
                                            <p:fltVal val="0"/>
                                          </p:val>
                                        </p:tav>
                                        <p:tav tm="100000">
                                          <p:val>
                                            <p:strVal val="#ppt_w"/>
                                          </p:val>
                                        </p:tav>
                                      </p:tavLst>
                                    </p:anim>
                                    <p:anim calcmode="lin" valueType="num">
                                      <p:cBhvr>
                                        <p:cTn id="608" dur="500" fill="hold"/>
                                        <p:tgtEl>
                                          <p:spTgt spid="126"/>
                                        </p:tgtEl>
                                        <p:attrNameLst>
                                          <p:attrName>ppt_h</p:attrName>
                                        </p:attrNameLst>
                                      </p:cBhvr>
                                      <p:tavLst>
                                        <p:tav tm="0">
                                          <p:val>
                                            <p:fltVal val="0"/>
                                          </p:val>
                                        </p:tav>
                                        <p:tav tm="100000">
                                          <p:val>
                                            <p:strVal val="#ppt_h"/>
                                          </p:val>
                                        </p:tav>
                                      </p:tavLst>
                                    </p:anim>
                                    <p:anim calcmode="lin" valueType="num">
                                      <p:cBhvr>
                                        <p:cTn id="609" dur="500" fill="hold"/>
                                        <p:tgtEl>
                                          <p:spTgt spid="126"/>
                                        </p:tgtEl>
                                        <p:attrNameLst>
                                          <p:attrName>style.rotation</p:attrName>
                                        </p:attrNameLst>
                                      </p:cBhvr>
                                      <p:tavLst>
                                        <p:tav tm="0">
                                          <p:val>
                                            <p:fltVal val="90"/>
                                          </p:val>
                                        </p:tav>
                                        <p:tav tm="100000">
                                          <p:val>
                                            <p:fltVal val="0"/>
                                          </p:val>
                                        </p:tav>
                                      </p:tavLst>
                                    </p:anim>
                                    <p:animEffect transition="in" filter="fade">
                                      <p:cBhvr>
                                        <p:cTn id="610" dur="500"/>
                                        <p:tgtEl>
                                          <p:spTgt spid="126"/>
                                        </p:tgtEl>
                                      </p:cBhvr>
                                    </p:animEffect>
                                  </p:childTnLst>
                                </p:cTn>
                              </p:par>
                            </p:childTnLst>
                          </p:cTn>
                        </p:par>
                        <p:par>
                          <p:cTn id="611" fill="hold">
                            <p:stCondLst>
                              <p:cond delay="1000"/>
                            </p:stCondLst>
                            <p:childTnLst>
                              <p:par>
                                <p:cTn id="612" presetID="31" presetClass="entr" presetSubtype="0" fill="hold" grpId="0" nodeType="afterEffect">
                                  <p:stCondLst>
                                    <p:cond delay="0"/>
                                  </p:stCondLst>
                                  <p:childTnLst>
                                    <p:set>
                                      <p:cBhvr>
                                        <p:cTn id="613" dur="1" fill="hold">
                                          <p:stCondLst>
                                            <p:cond delay="0"/>
                                          </p:stCondLst>
                                        </p:cTn>
                                        <p:tgtEl>
                                          <p:spTgt spid="127"/>
                                        </p:tgtEl>
                                        <p:attrNameLst>
                                          <p:attrName>style.visibility</p:attrName>
                                        </p:attrNameLst>
                                      </p:cBhvr>
                                      <p:to>
                                        <p:strVal val="visible"/>
                                      </p:to>
                                    </p:set>
                                    <p:anim calcmode="lin" valueType="num">
                                      <p:cBhvr>
                                        <p:cTn id="614" dur="500" fill="hold"/>
                                        <p:tgtEl>
                                          <p:spTgt spid="127"/>
                                        </p:tgtEl>
                                        <p:attrNameLst>
                                          <p:attrName>ppt_w</p:attrName>
                                        </p:attrNameLst>
                                      </p:cBhvr>
                                      <p:tavLst>
                                        <p:tav tm="0">
                                          <p:val>
                                            <p:fltVal val="0"/>
                                          </p:val>
                                        </p:tav>
                                        <p:tav tm="100000">
                                          <p:val>
                                            <p:strVal val="#ppt_w"/>
                                          </p:val>
                                        </p:tav>
                                      </p:tavLst>
                                    </p:anim>
                                    <p:anim calcmode="lin" valueType="num">
                                      <p:cBhvr>
                                        <p:cTn id="615" dur="500" fill="hold"/>
                                        <p:tgtEl>
                                          <p:spTgt spid="127"/>
                                        </p:tgtEl>
                                        <p:attrNameLst>
                                          <p:attrName>ppt_h</p:attrName>
                                        </p:attrNameLst>
                                      </p:cBhvr>
                                      <p:tavLst>
                                        <p:tav tm="0">
                                          <p:val>
                                            <p:fltVal val="0"/>
                                          </p:val>
                                        </p:tav>
                                        <p:tav tm="100000">
                                          <p:val>
                                            <p:strVal val="#ppt_h"/>
                                          </p:val>
                                        </p:tav>
                                      </p:tavLst>
                                    </p:anim>
                                    <p:anim calcmode="lin" valueType="num">
                                      <p:cBhvr>
                                        <p:cTn id="616" dur="500" fill="hold"/>
                                        <p:tgtEl>
                                          <p:spTgt spid="127"/>
                                        </p:tgtEl>
                                        <p:attrNameLst>
                                          <p:attrName>style.rotation</p:attrName>
                                        </p:attrNameLst>
                                      </p:cBhvr>
                                      <p:tavLst>
                                        <p:tav tm="0">
                                          <p:val>
                                            <p:fltVal val="90"/>
                                          </p:val>
                                        </p:tav>
                                        <p:tav tm="100000">
                                          <p:val>
                                            <p:fltVal val="0"/>
                                          </p:val>
                                        </p:tav>
                                      </p:tavLst>
                                    </p:anim>
                                    <p:animEffect transition="in" filter="fade">
                                      <p:cBhvr>
                                        <p:cTn id="617" dur="500"/>
                                        <p:tgtEl>
                                          <p:spTgt spid="127"/>
                                        </p:tgtEl>
                                      </p:cBhvr>
                                    </p:animEffect>
                                  </p:childTnLst>
                                </p:cTn>
                              </p:par>
                            </p:childTnLst>
                          </p:cTn>
                        </p:par>
                      </p:childTnLst>
                    </p:cTn>
                  </p:par>
                  <p:par>
                    <p:cTn id="618" fill="hold">
                      <p:stCondLst>
                        <p:cond delay="indefinite"/>
                      </p:stCondLst>
                      <p:childTnLst>
                        <p:par>
                          <p:cTn id="619" fill="hold">
                            <p:stCondLst>
                              <p:cond delay="0"/>
                            </p:stCondLst>
                            <p:childTnLst>
                              <p:par>
                                <p:cTn id="620" presetID="31" presetClass="entr" presetSubtype="0" fill="hold" grpId="0" nodeType="clickEffect">
                                  <p:stCondLst>
                                    <p:cond delay="0"/>
                                  </p:stCondLst>
                                  <p:childTnLst>
                                    <p:set>
                                      <p:cBhvr>
                                        <p:cTn id="621" dur="1" fill="hold">
                                          <p:stCondLst>
                                            <p:cond delay="0"/>
                                          </p:stCondLst>
                                        </p:cTn>
                                        <p:tgtEl>
                                          <p:spTgt spid="128"/>
                                        </p:tgtEl>
                                        <p:attrNameLst>
                                          <p:attrName>style.visibility</p:attrName>
                                        </p:attrNameLst>
                                      </p:cBhvr>
                                      <p:to>
                                        <p:strVal val="visible"/>
                                      </p:to>
                                    </p:set>
                                    <p:anim calcmode="lin" valueType="num">
                                      <p:cBhvr>
                                        <p:cTn id="622" dur="500" fill="hold"/>
                                        <p:tgtEl>
                                          <p:spTgt spid="128"/>
                                        </p:tgtEl>
                                        <p:attrNameLst>
                                          <p:attrName>ppt_w</p:attrName>
                                        </p:attrNameLst>
                                      </p:cBhvr>
                                      <p:tavLst>
                                        <p:tav tm="0">
                                          <p:val>
                                            <p:fltVal val="0"/>
                                          </p:val>
                                        </p:tav>
                                        <p:tav tm="100000">
                                          <p:val>
                                            <p:strVal val="#ppt_w"/>
                                          </p:val>
                                        </p:tav>
                                      </p:tavLst>
                                    </p:anim>
                                    <p:anim calcmode="lin" valueType="num">
                                      <p:cBhvr>
                                        <p:cTn id="623" dur="500" fill="hold"/>
                                        <p:tgtEl>
                                          <p:spTgt spid="128"/>
                                        </p:tgtEl>
                                        <p:attrNameLst>
                                          <p:attrName>ppt_h</p:attrName>
                                        </p:attrNameLst>
                                      </p:cBhvr>
                                      <p:tavLst>
                                        <p:tav tm="0">
                                          <p:val>
                                            <p:fltVal val="0"/>
                                          </p:val>
                                        </p:tav>
                                        <p:tav tm="100000">
                                          <p:val>
                                            <p:strVal val="#ppt_h"/>
                                          </p:val>
                                        </p:tav>
                                      </p:tavLst>
                                    </p:anim>
                                    <p:anim calcmode="lin" valueType="num">
                                      <p:cBhvr>
                                        <p:cTn id="624" dur="500" fill="hold"/>
                                        <p:tgtEl>
                                          <p:spTgt spid="128"/>
                                        </p:tgtEl>
                                        <p:attrNameLst>
                                          <p:attrName>style.rotation</p:attrName>
                                        </p:attrNameLst>
                                      </p:cBhvr>
                                      <p:tavLst>
                                        <p:tav tm="0">
                                          <p:val>
                                            <p:fltVal val="90"/>
                                          </p:val>
                                        </p:tav>
                                        <p:tav tm="100000">
                                          <p:val>
                                            <p:fltVal val="0"/>
                                          </p:val>
                                        </p:tav>
                                      </p:tavLst>
                                    </p:anim>
                                    <p:animEffect transition="in" filter="fade">
                                      <p:cBhvr>
                                        <p:cTn id="625" dur="500"/>
                                        <p:tgtEl>
                                          <p:spTgt spid="128"/>
                                        </p:tgtEl>
                                      </p:cBhvr>
                                    </p:animEffect>
                                  </p:childTnLst>
                                </p:cTn>
                              </p:par>
                            </p:childTnLst>
                          </p:cTn>
                        </p:par>
                        <p:par>
                          <p:cTn id="626" fill="hold">
                            <p:stCondLst>
                              <p:cond delay="500"/>
                            </p:stCondLst>
                            <p:childTnLst>
                              <p:par>
                                <p:cTn id="627" presetID="31" presetClass="entr" presetSubtype="0" fill="hold" grpId="0" nodeType="afterEffect">
                                  <p:stCondLst>
                                    <p:cond delay="0"/>
                                  </p:stCondLst>
                                  <p:childTnLst>
                                    <p:set>
                                      <p:cBhvr>
                                        <p:cTn id="628" dur="1" fill="hold">
                                          <p:stCondLst>
                                            <p:cond delay="0"/>
                                          </p:stCondLst>
                                        </p:cTn>
                                        <p:tgtEl>
                                          <p:spTgt spid="129"/>
                                        </p:tgtEl>
                                        <p:attrNameLst>
                                          <p:attrName>style.visibility</p:attrName>
                                        </p:attrNameLst>
                                      </p:cBhvr>
                                      <p:to>
                                        <p:strVal val="visible"/>
                                      </p:to>
                                    </p:set>
                                    <p:anim calcmode="lin" valueType="num">
                                      <p:cBhvr>
                                        <p:cTn id="629" dur="500" fill="hold"/>
                                        <p:tgtEl>
                                          <p:spTgt spid="129"/>
                                        </p:tgtEl>
                                        <p:attrNameLst>
                                          <p:attrName>ppt_w</p:attrName>
                                        </p:attrNameLst>
                                      </p:cBhvr>
                                      <p:tavLst>
                                        <p:tav tm="0">
                                          <p:val>
                                            <p:fltVal val="0"/>
                                          </p:val>
                                        </p:tav>
                                        <p:tav tm="100000">
                                          <p:val>
                                            <p:strVal val="#ppt_w"/>
                                          </p:val>
                                        </p:tav>
                                      </p:tavLst>
                                    </p:anim>
                                    <p:anim calcmode="lin" valueType="num">
                                      <p:cBhvr>
                                        <p:cTn id="630" dur="500" fill="hold"/>
                                        <p:tgtEl>
                                          <p:spTgt spid="129"/>
                                        </p:tgtEl>
                                        <p:attrNameLst>
                                          <p:attrName>ppt_h</p:attrName>
                                        </p:attrNameLst>
                                      </p:cBhvr>
                                      <p:tavLst>
                                        <p:tav tm="0">
                                          <p:val>
                                            <p:fltVal val="0"/>
                                          </p:val>
                                        </p:tav>
                                        <p:tav tm="100000">
                                          <p:val>
                                            <p:strVal val="#ppt_h"/>
                                          </p:val>
                                        </p:tav>
                                      </p:tavLst>
                                    </p:anim>
                                    <p:anim calcmode="lin" valueType="num">
                                      <p:cBhvr>
                                        <p:cTn id="631" dur="500" fill="hold"/>
                                        <p:tgtEl>
                                          <p:spTgt spid="129"/>
                                        </p:tgtEl>
                                        <p:attrNameLst>
                                          <p:attrName>style.rotation</p:attrName>
                                        </p:attrNameLst>
                                      </p:cBhvr>
                                      <p:tavLst>
                                        <p:tav tm="0">
                                          <p:val>
                                            <p:fltVal val="90"/>
                                          </p:val>
                                        </p:tav>
                                        <p:tav tm="100000">
                                          <p:val>
                                            <p:fltVal val="0"/>
                                          </p:val>
                                        </p:tav>
                                      </p:tavLst>
                                    </p:anim>
                                    <p:animEffect transition="in" filter="fade">
                                      <p:cBhvr>
                                        <p:cTn id="632" dur="500"/>
                                        <p:tgtEl>
                                          <p:spTgt spid="129"/>
                                        </p:tgtEl>
                                      </p:cBhvr>
                                    </p:animEffect>
                                  </p:childTnLst>
                                </p:cTn>
                              </p:par>
                            </p:childTnLst>
                          </p:cTn>
                        </p:par>
                      </p:childTnLst>
                    </p:cTn>
                  </p:par>
                  <p:par>
                    <p:cTn id="633" fill="hold">
                      <p:stCondLst>
                        <p:cond delay="indefinite"/>
                      </p:stCondLst>
                      <p:childTnLst>
                        <p:par>
                          <p:cTn id="634" fill="hold">
                            <p:stCondLst>
                              <p:cond delay="0"/>
                            </p:stCondLst>
                            <p:childTnLst>
                              <p:par>
                                <p:cTn id="635" presetID="31" presetClass="entr" presetSubtype="0" fill="hold" grpId="0" nodeType="clickEffect">
                                  <p:stCondLst>
                                    <p:cond delay="0"/>
                                  </p:stCondLst>
                                  <p:childTnLst>
                                    <p:set>
                                      <p:cBhvr>
                                        <p:cTn id="636" dur="1" fill="hold">
                                          <p:stCondLst>
                                            <p:cond delay="0"/>
                                          </p:stCondLst>
                                        </p:cTn>
                                        <p:tgtEl>
                                          <p:spTgt spid="130"/>
                                        </p:tgtEl>
                                        <p:attrNameLst>
                                          <p:attrName>style.visibility</p:attrName>
                                        </p:attrNameLst>
                                      </p:cBhvr>
                                      <p:to>
                                        <p:strVal val="visible"/>
                                      </p:to>
                                    </p:set>
                                    <p:anim calcmode="lin" valueType="num">
                                      <p:cBhvr>
                                        <p:cTn id="637" dur="500" fill="hold"/>
                                        <p:tgtEl>
                                          <p:spTgt spid="130"/>
                                        </p:tgtEl>
                                        <p:attrNameLst>
                                          <p:attrName>ppt_w</p:attrName>
                                        </p:attrNameLst>
                                      </p:cBhvr>
                                      <p:tavLst>
                                        <p:tav tm="0">
                                          <p:val>
                                            <p:fltVal val="0"/>
                                          </p:val>
                                        </p:tav>
                                        <p:tav tm="100000">
                                          <p:val>
                                            <p:strVal val="#ppt_w"/>
                                          </p:val>
                                        </p:tav>
                                      </p:tavLst>
                                    </p:anim>
                                    <p:anim calcmode="lin" valueType="num">
                                      <p:cBhvr>
                                        <p:cTn id="638" dur="500" fill="hold"/>
                                        <p:tgtEl>
                                          <p:spTgt spid="130"/>
                                        </p:tgtEl>
                                        <p:attrNameLst>
                                          <p:attrName>ppt_h</p:attrName>
                                        </p:attrNameLst>
                                      </p:cBhvr>
                                      <p:tavLst>
                                        <p:tav tm="0">
                                          <p:val>
                                            <p:fltVal val="0"/>
                                          </p:val>
                                        </p:tav>
                                        <p:tav tm="100000">
                                          <p:val>
                                            <p:strVal val="#ppt_h"/>
                                          </p:val>
                                        </p:tav>
                                      </p:tavLst>
                                    </p:anim>
                                    <p:anim calcmode="lin" valueType="num">
                                      <p:cBhvr>
                                        <p:cTn id="639" dur="500" fill="hold"/>
                                        <p:tgtEl>
                                          <p:spTgt spid="130"/>
                                        </p:tgtEl>
                                        <p:attrNameLst>
                                          <p:attrName>style.rotation</p:attrName>
                                        </p:attrNameLst>
                                      </p:cBhvr>
                                      <p:tavLst>
                                        <p:tav tm="0">
                                          <p:val>
                                            <p:fltVal val="90"/>
                                          </p:val>
                                        </p:tav>
                                        <p:tav tm="100000">
                                          <p:val>
                                            <p:fltVal val="0"/>
                                          </p:val>
                                        </p:tav>
                                      </p:tavLst>
                                    </p:anim>
                                    <p:animEffect transition="in" filter="fade">
                                      <p:cBhvr>
                                        <p:cTn id="640" dur="500"/>
                                        <p:tgtEl>
                                          <p:spTgt spid="130"/>
                                        </p:tgtEl>
                                      </p:cBhvr>
                                    </p:animEffect>
                                  </p:childTnLst>
                                </p:cTn>
                              </p:par>
                            </p:childTnLst>
                          </p:cTn>
                        </p:par>
                        <p:par>
                          <p:cTn id="641" fill="hold">
                            <p:stCondLst>
                              <p:cond delay="500"/>
                            </p:stCondLst>
                            <p:childTnLst>
                              <p:par>
                                <p:cTn id="642" presetID="31" presetClass="entr" presetSubtype="0" fill="hold" grpId="0" nodeType="afterEffect">
                                  <p:stCondLst>
                                    <p:cond delay="0"/>
                                  </p:stCondLst>
                                  <p:childTnLst>
                                    <p:set>
                                      <p:cBhvr>
                                        <p:cTn id="643" dur="1" fill="hold">
                                          <p:stCondLst>
                                            <p:cond delay="0"/>
                                          </p:stCondLst>
                                        </p:cTn>
                                        <p:tgtEl>
                                          <p:spTgt spid="131"/>
                                        </p:tgtEl>
                                        <p:attrNameLst>
                                          <p:attrName>style.visibility</p:attrName>
                                        </p:attrNameLst>
                                      </p:cBhvr>
                                      <p:to>
                                        <p:strVal val="visible"/>
                                      </p:to>
                                    </p:set>
                                    <p:anim calcmode="lin" valueType="num">
                                      <p:cBhvr>
                                        <p:cTn id="644" dur="500" fill="hold"/>
                                        <p:tgtEl>
                                          <p:spTgt spid="131"/>
                                        </p:tgtEl>
                                        <p:attrNameLst>
                                          <p:attrName>ppt_w</p:attrName>
                                        </p:attrNameLst>
                                      </p:cBhvr>
                                      <p:tavLst>
                                        <p:tav tm="0">
                                          <p:val>
                                            <p:fltVal val="0"/>
                                          </p:val>
                                        </p:tav>
                                        <p:tav tm="100000">
                                          <p:val>
                                            <p:strVal val="#ppt_w"/>
                                          </p:val>
                                        </p:tav>
                                      </p:tavLst>
                                    </p:anim>
                                    <p:anim calcmode="lin" valueType="num">
                                      <p:cBhvr>
                                        <p:cTn id="645" dur="500" fill="hold"/>
                                        <p:tgtEl>
                                          <p:spTgt spid="131"/>
                                        </p:tgtEl>
                                        <p:attrNameLst>
                                          <p:attrName>ppt_h</p:attrName>
                                        </p:attrNameLst>
                                      </p:cBhvr>
                                      <p:tavLst>
                                        <p:tav tm="0">
                                          <p:val>
                                            <p:fltVal val="0"/>
                                          </p:val>
                                        </p:tav>
                                        <p:tav tm="100000">
                                          <p:val>
                                            <p:strVal val="#ppt_h"/>
                                          </p:val>
                                        </p:tav>
                                      </p:tavLst>
                                    </p:anim>
                                    <p:anim calcmode="lin" valueType="num">
                                      <p:cBhvr>
                                        <p:cTn id="646" dur="500" fill="hold"/>
                                        <p:tgtEl>
                                          <p:spTgt spid="131"/>
                                        </p:tgtEl>
                                        <p:attrNameLst>
                                          <p:attrName>style.rotation</p:attrName>
                                        </p:attrNameLst>
                                      </p:cBhvr>
                                      <p:tavLst>
                                        <p:tav tm="0">
                                          <p:val>
                                            <p:fltVal val="90"/>
                                          </p:val>
                                        </p:tav>
                                        <p:tav tm="100000">
                                          <p:val>
                                            <p:fltVal val="0"/>
                                          </p:val>
                                        </p:tav>
                                      </p:tavLst>
                                    </p:anim>
                                    <p:animEffect transition="in" filter="fade">
                                      <p:cBhvr>
                                        <p:cTn id="647" dur="500"/>
                                        <p:tgtEl>
                                          <p:spTgt spid="131"/>
                                        </p:tgtEl>
                                      </p:cBhvr>
                                    </p:animEffect>
                                  </p:childTnLst>
                                </p:cTn>
                              </p:par>
                            </p:childTnLst>
                          </p:cTn>
                        </p:par>
                      </p:childTnLst>
                    </p:cTn>
                  </p:par>
                  <p:par>
                    <p:cTn id="648" fill="hold">
                      <p:stCondLst>
                        <p:cond delay="indefinite"/>
                      </p:stCondLst>
                      <p:childTnLst>
                        <p:par>
                          <p:cTn id="649" fill="hold">
                            <p:stCondLst>
                              <p:cond delay="0"/>
                            </p:stCondLst>
                            <p:childTnLst>
                              <p:par>
                                <p:cTn id="650" presetID="7" presetClass="emph" presetSubtype="2" fill="hold" nodeType="clickEffect">
                                  <p:stCondLst>
                                    <p:cond delay="0"/>
                                  </p:stCondLst>
                                  <p:childTnLst>
                                    <p:animClr clrSpc="rgb" dir="cw">
                                      <p:cBhvr>
                                        <p:cTn id="651" dur="500" fill="hold"/>
                                        <p:tgtEl>
                                          <p:spTgt spid="132"/>
                                        </p:tgtEl>
                                        <p:attrNameLst>
                                          <p:attrName>stroke.color</p:attrName>
                                        </p:attrNameLst>
                                      </p:cBhvr>
                                      <p:to>
                                        <a:srgbClr val="F2F2F2"/>
                                      </p:to>
                                    </p:animClr>
                                    <p:set>
                                      <p:cBhvr>
                                        <p:cTn id="652" dur="500" fill="hold"/>
                                        <p:tgtEl>
                                          <p:spTgt spid="132"/>
                                        </p:tgtEl>
                                        <p:attrNameLst>
                                          <p:attrName>stroke.on</p:attrName>
                                        </p:attrNameLst>
                                      </p:cBhvr>
                                      <p:to>
                                        <p:strVal val="true"/>
                                      </p:to>
                                    </p:set>
                                  </p:childTnLst>
                                </p:cTn>
                              </p:par>
                              <p:par>
                                <p:cTn id="653" presetID="7" presetClass="emph" presetSubtype="2" fill="hold" nodeType="withEffect">
                                  <p:stCondLst>
                                    <p:cond delay="0"/>
                                  </p:stCondLst>
                                  <p:childTnLst>
                                    <p:animClr clrSpc="rgb" dir="cw">
                                      <p:cBhvr>
                                        <p:cTn id="654" dur="500" fill="hold"/>
                                        <p:tgtEl>
                                          <p:spTgt spid="134"/>
                                        </p:tgtEl>
                                        <p:attrNameLst>
                                          <p:attrName>stroke.color</p:attrName>
                                        </p:attrNameLst>
                                      </p:cBhvr>
                                      <p:to>
                                        <a:srgbClr val="F2F2F2"/>
                                      </p:to>
                                    </p:animClr>
                                    <p:set>
                                      <p:cBhvr>
                                        <p:cTn id="655" dur="500" fill="hold"/>
                                        <p:tgtEl>
                                          <p:spTgt spid="134"/>
                                        </p:tgtEl>
                                        <p:attrNameLst>
                                          <p:attrName>stroke.on</p:attrName>
                                        </p:attrNameLst>
                                      </p:cBhvr>
                                      <p:to>
                                        <p:strVal val="true"/>
                                      </p:to>
                                    </p:set>
                                  </p:childTnLst>
                                </p:cTn>
                              </p:par>
                              <p:par>
                                <p:cTn id="656" presetID="7" presetClass="emph" presetSubtype="2" fill="hold" nodeType="withEffect">
                                  <p:stCondLst>
                                    <p:cond delay="0"/>
                                  </p:stCondLst>
                                  <p:childTnLst>
                                    <p:animClr clrSpc="rgb" dir="cw">
                                      <p:cBhvr>
                                        <p:cTn id="657" dur="500" fill="hold"/>
                                        <p:tgtEl>
                                          <p:spTgt spid="114"/>
                                        </p:tgtEl>
                                        <p:attrNameLst>
                                          <p:attrName>stroke.color</p:attrName>
                                        </p:attrNameLst>
                                      </p:cBhvr>
                                      <p:to>
                                        <a:srgbClr val="F2F2F2"/>
                                      </p:to>
                                    </p:animClr>
                                    <p:set>
                                      <p:cBhvr>
                                        <p:cTn id="658" dur="500" fill="hold"/>
                                        <p:tgtEl>
                                          <p:spTgt spid="114"/>
                                        </p:tgtEl>
                                        <p:attrNameLst>
                                          <p:attrName>stroke.on</p:attrName>
                                        </p:attrNameLst>
                                      </p:cBhvr>
                                      <p:to>
                                        <p:strVal val="true"/>
                                      </p:to>
                                    </p:set>
                                  </p:childTnLst>
                                </p:cTn>
                              </p:par>
                              <p:par>
                                <p:cTn id="659" presetID="7" presetClass="emph" presetSubtype="2" fill="hold" nodeType="withEffect">
                                  <p:stCondLst>
                                    <p:cond delay="0"/>
                                  </p:stCondLst>
                                  <p:childTnLst>
                                    <p:animClr clrSpc="rgb" dir="cw">
                                      <p:cBhvr>
                                        <p:cTn id="660" dur="500" fill="hold"/>
                                        <p:tgtEl>
                                          <p:spTgt spid="110"/>
                                        </p:tgtEl>
                                        <p:attrNameLst>
                                          <p:attrName>stroke.color</p:attrName>
                                        </p:attrNameLst>
                                      </p:cBhvr>
                                      <p:to>
                                        <a:srgbClr val="F2F2F2"/>
                                      </p:to>
                                    </p:animClr>
                                    <p:set>
                                      <p:cBhvr>
                                        <p:cTn id="661" dur="500" fill="hold"/>
                                        <p:tgtEl>
                                          <p:spTgt spid="110"/>
                                        </p:tgtEl>
                                        <p:attrNameLst>
                                          <p:attrName>stroke.on</p:attrName>
                                        </p:attrNameLst>
                                      </p:cBhvr>
                                      <p:to>
                                        <p:strVal val="true"/>
                                      </p:to>
                                    </p:set>
                                  </p:childTnLst>
                                </p:cTn>
                              </p:par>
                            </p:childTnLst>
                          </p:cTn>
                        </p:par>
                      </p:childTnLst>
                    </p:cTn>
                  </p:par>
                  <p:par>
                    <p:cTn id="662" fill="hold">
                      <p:stCondLst>
                        <p:cond delay="indefinite"/>
                      </p:stCondLst>
                      <p:childTnLst>
                        <p:par>
                          <p:cTn id="663" fill="hold">
                            <p:stCondLst>
                              <p:cond delay="0"/>
                            </p:stCondLst>
                            <p:childTnLst>
                              <p:par>
                                <p:cTn id="664" presetID="16" presetClass="entr" presetSubtype="21" fill="hold" grpId="0" nodeType="clickEffect">
                                  <p:stCondLst>
                                    <p:cond delay="0"/>
                                  </p:stCondLst>
                                  <p:childTnLst>
                                    <p:set>
                                      <p:cBhvr>
                                        <p:cTn id="665" dur="1" fill="hold">
                                          <p:stCondLst>
                                            <p:cond delay="0"/>
                                          </p:stCondLst>
                                        </p:cTn>
                                        <p:tgtEl>
                                          <p:spTgt spid="145"/>
                                        </p:tgtEl>
                                        <p:attrNameLst>
                                          <p:attrName>style.visibility</p:attrName>
                                        </p:attrNameLst>
                                      </p:cBhvr>
                                      <p:to>
                                        <p:strVal val="visible"/>
                                      </p:to>
                                    </p:set>
                                    <p:animEffect transition="in" filter="barn(inVertical)">
                                      <p:cBhvr>
                                        <p:cTn id="666" dur="500"/>
                                        <p:tgtEl>
                                          <p:spTgt spid="145"/>
                                        </p:tgtEl>
                                      </p:cBhvr>
                                    </p:animEffect>
                                  </p:childTnLst>
                                </p:cTn>
                              </p:par>
                            </p:childTnLst>
                          </p:cTn>
                        </p:par>
                        <p:par>
                          <p:cTn id="667" fill="hold">
                            <p:stCondLst>
                              <p:cond delay="500"/>
                            </p:stCondLst>
                            <p:childTnLst>
                              <p:par>
                                <p:cTn id="668" presetID="27" presetClass="emph" presetSubtype="0" fill="remove" grpId="1" nodeType="afterEffect">
                                  <p:stCondLst>
                                    <p:cond delay="0"/>
                                  </p:stCondLst>
                                  <p:childTnLst>
                                    <p:animClr clrSpc="rgb" dir="cw">
                                      <p:cBhvr override="childStyle">
                                        <p:cTn id="669" dur="250" autoRev="1" fill="remove"/>
                                        <p:tgtEl>
                                          <p:spTgt spid="145"/>
                                        </p:tgtEl>
                                        <p:attrNameLst>
                                          <p:attrName>style.color</p:attrName>
                                        </p:attrNameLst>
                                      </p:cBhvr>
                                      <p:to>
                                        <a:schemeClr val="bg1"/>
                                      </p:to>
                                    </p:animClr>
                                    <p:animClr clrSpc="rgb" dir="cw">
                                      <p:cBhvr>
                                        <p:cTn id="670" dur="250" autoRev="1" fill="remove"/>
                                        <p:tgtEl>
                                          <p:spTgt spid="145"/>
                                        </p:tgtEl>
                                        <p:attrNameLst>
                                          <p:attrName>fillcolor</p:attrName>
                                        </p:attrNameLst>
                                      </p:cBhvr>
                                      <p:to>
                                        <a:schemeClr val="bg1"/>
                                      </p:to>
                                    </p:animClr>
                                    <p:set>
                                      <p:cBhvr>
                                        <p:cTn id="671" dur="250" autoRev="1" fill="remove"/>
                                        <p:tgtEl>
                                          <p:spTgt spid="145"/>
                                        </p:tgtEl>
                                        <p:attrNameLst>
                                          <p:attrName>fill.type</p:attrName>
                                        </p:attrNameLst>
                                      </p:cBhvr>
                                      <p:to>
                                        <p:strVal val="solid"/>
                                      </p:to>
                                    </p:set>
                                    <p:set>
                                      <p:cBhvr>
                                        <p:cTn id="672" dur="250" autoRev="1" fill="remove"/>
                                        <p:tgtEl>
                                          <p:spTgt spid="145"/>
                                        </p:tgtEl>
                                        <p:attrNameLst>
                                          <p:attrName>fill.on</p:attrName>
                                        </p:attrNameLst>
                                      </p:cBhvr>
                                      <p:to>
                                        <p:strVal val="true"/>
                                      </p:to>
                                    </p:set>
                                  </p:childTnLst>
                                </p:cTn>
                              </p:par>
                            </p:childTnLst>
                          </p:cTn>
                        </p:par>
                      </p:childTnLst>
                    </p:cTn>
                  </p:par>
                  <p:par>
                    <p:cTn id="673" fill="hold">
                      <p:stCondLst>
                        <p:cond delay="indefinite"/>
                      </p:stCondLst>
                      <p:childTnLst>
                        <p:par>
                          <p:cTn id="674" fill="hold">
                            <p:stCondLst>
                              <p:cond delay="0"/>
                            </p:stCondLst>
                            <p:childTnLst>
                              <p:par>
                                <p:cTn id="675" presetID="22" presetClass="entr" presetSubtype="4" fill="hold" grpId="0" nodeType="clickEffect">
                                  <p:stCondLst>
                                    <p:cond delay="0"/>
                                  </p:stCondLst>
                                  <p:childTnLst>
                                    <p:set>
                                      <p:cBhvr>
                                        <p:cTn id="676" dur="1" fill="hold">
                                          <p:stCondLst>
                                            <p:cond delay="0"/>
                                          </p:stCondLst>
                                        </p:cTn>
                                        <p:tgtEl>
                                          <p:spTgt spid="140"/>
                                        </p:tgtEl>
                                        <p:attrNameLst>
                                          <p:attrName>style.visibility</p:attrName>
                                        </p:attrNameLst>
                                      </p:cBhvr>
                                      <p:to>
                                        <p:strVal val="visible"/>
                                      </p:to>
                                    </p:set>
                                    <p:animEffect transition="in" filter="wipe(down)">
                                      <p:cBhvr>
                                        <p:cTn id="677" dur="500"/>
                                        <p:tgtEl>
                                          <p:spTgt spid="140"/>
                                        </p:tgtEl>
                                      </p:cBhvr>
                                    </p:animEffect>
                                  </p:childTnLst>
                                </p:cTn>
                              </p:par>
                            </p:childTnLst>
                          </p:cTn>
                        </p:par>
                        <p:par>
                          <p:cTn id="678" fill="hold">
                            <p:stCondLst>
                              <p:cond delay="500"/>
                            </p:stCondLst>
                            <p:childTnLst>
                              <p:par>
                                <p:cTn id="679" presetID="27" presetClass="emph" presetSubtype="0" fill="remove" grpId="2" nodeType="afterEffect">
                                  <p:stCondLst>
                                    <p:cond delay="0"/>
                                  </p:stCondLst>
                                  <p:childTnLst>
                                    <p:animClr clrSpc="rgb" dir="cw">
                                      <p:cBhvr override="childStyle">
                                        <p:cTn id="680" dur="250" autoRev="1" fill="remove"/>
                                        <p:tgtEl>
                                          <p:spTgt spid="145"/>
                                        </p:tgtEl>
                                        <p:attrNameLst>
                                          <p:attrName>style.color</p:attrName>
                                        </p:attrNameLst>
                                      </p:cBhvr>
                                      <p:to>
                                        <a:schemeClr val="bg1"/>
                                      </p:to>
                                    </p:animClr>
                                    <p:animClr clrSpc="rgb" dir="cw">
                                      <p:cBhvr>
                                        <p:cTn id="681" dur="250" autoRev="1" fill="remove"/>
                                        <p:tgtEl>
                                          <p:spTgt spid="145"/>
                                        </p:tgtEl>
                                        <p:attrNameLst>
                                          <p:attrName>fillcolor</p:attrName>
                                        </p:attrNameLst>
                                      </p:cBhvr>
                                      <p:to>
                                        <a:schemeClr val="bg1"/>
                                      </p:to>
                                    </p:animClr>
                                    <p:set>
                                      <p:cBhvr>
                                        <p:cTn id="682" dur="250" autoRev="1" fill="remove"/>
                                        <p:tgtEl>
                                          <p:spTgt spid="145"/>
                                        </p:tgtEl>
                                        <p:attrNameLst>
                                          <p:attrName>fill.type</p:attrName>
                                        </p:attrNameLst>
                                      </p:cBhvr>
                                      <p:to>
                                        <p:strVal val="solid"/>
                                      </p:to>
                                    </p:set>
                                    <p:set>
                                      <p:cBhvr>
                                        <p:cTn id="683" dur="250" autoRev="1" fill="remove"/>
                                        <p:tgtEl>
                                          <p:spTgt spid="145"/>
                                        </p:tgtEl>
                                        <p:attrNameLst>
                                          <p:attrName>fill.on</p:attrName>
                                        </p:attrNameLst>
                                      </p:cBhvr>
                                      <p:to>
                                        <p:strVal val="true"/>
                                      </p:to>
                                    </p:set>
                                  </p:childTnLst>
                                </p:cTn>
                              </p:par>
                            </p:childTnLst>
                          </p:cTn>
                        </p:par>
                      </p:childTnLst>
                    </p:cTn>
                  </p:par>
                  <p:par>
                    <p:cTn id="684" fill="hold">
                      <p:stCondLst>
                        <p:cond delay="indefinite"/>
                      </p:stCondLst>
                      <p:childTnLst>
                        <p:par>
                          <p:cTn id="685" fill="hold">
                            <p:stCondLst>
                              <p:cond delay="0"/>
                            </p:stCondLst>
                            <p:childTnLst>
                              <p:par>
                                <p:cTn id="686" presetID="22" presetClass="entr" presetSubtype="2" fill="hold" grpId="0" nodeType="clickEffect">
                                  <p:stCondLst>
                                    <p:cond delay="0"/>
                                  </p:stCondLst>
                                  <p:childTnLst>
                                    <p:set>
                                      <p:cBhvr>
                                        <p:cTn id="687" dur="1" fill="hold">
                                          <p:stCondLst>
                                            <p:cond delay="0"/>
                                          </p:stCondLst>
                                        </p:cTn>
                                        <p:tgtEl>
                                          <p:spTgt spid="139"/>
                                        </p:tgtEl>
                                        <p:attrNameLst>
                                          <p:attrName>style.visibility</p:attrName>
                                        </p:attrNameLst>
                                      </p:cBhvr>
                                      <p:to>
                                        <p:strVal val="visible"/>
                                      </p:to>
                                    </p:set>
                                    <p:animEffect transition="in" filter="wipe(right)">
                                      <p:cBhvr>
                                        <p:cTn id="688" dur="500"/>
                                        <p:tgtEl>
                                          <p:spTgt spid="139"/>
                                        </p:tgtEl>
                                      </p:cBhvr>
                                    </p:animEffect>
                                  </p:childTnLst>
                                </p:cTn>
                              </p:par>
                            </p:childTnLst>
                          </p:cTn>
                        </p:par>
                        <p:par>
                          <p:cTn id="689" fill="hold">
                            <p:stCondLst>
                              <p:cond delay="500"/>
                            </p:stCondLst>
                            <p:childTnLst>
                              <p:par>
                                <p:cTn id="690" presetID="27" presetClass="emph" presetSubtype="0" fill="remove" grpId="3" nodeType="afterEffect">
                                  <p:stCondLst>
                                    <p:cond delay="0"/>
                                  </p:stCondLst>
                                  <p:childTnLst>
                                    <p:animClr clrSpc="rgb" dir="cw">
                                      <p:cBhvr override="childStyle">
                                        <p:cTn id="691" dur="250" autoRev="1" fill="remove"/>
                                        <p:tgtEl>
                                          <p:spTgt spid="145"/>
                                        </p:tgtEl>
                                        <p:attrNameLst>
                                          <p:attrName>style.color</p:attrName>
                                        </p:attrNameLst>
                                      </p:cBhvr>
                                      <p:to>
                                        <a:schemeClr val="bg1"/>
                                      </p:to>
                                    </p:animClr>
                                    <p:animClr clrSpc="rgb" dir="cw">
                                      <p:cBhvr>
                                        <p:cTn id="692" dur="250" autoRev="1" fill="remove"/>
                                        <p:tgtEl>
                                          <p:spTgt spid="145"/>
                                        </p:tgtEl>
                                        <p:attrNameLst>
                                          <p:attrName>fillcolor</p:attrName>
                                        </p:attrNameLst>
                                      </p:cBhvr>
                                      <p:to>
                                        <a:schemeClr val="bg1"/>
                                      </p:to>
                                    </p:animClr>
                                    <p:set>
                                      <p:cBhvr>
                                        <p:cTn id="693" dur="250" autoRev="1" fill="remove"/>
                                        <p:tgtEl>
                                          <p:spTgt spid="145"/>
                                        </p:tgtEl>
                                        <p:attrNameLst>
                                          <p:attrName>fill.type</p:attrName>
                                        </p:attrNameLst>
                                      </p:cBhvr>
                                      <p:to>
                                        <p:strVal val="solid"/>
                                      </p:to>
                                    </p:set>
                                    <p:set>
                                      <p:cBhvr>
                                        <p:cTn id="694" dur="250" autoRev="1" fill="remove"/>
                                        <p:tgtEl>
                                          <p:spTgt spid="145"/>
                                        </p:tgtEl>
                                        <p:attrNameLst>
                                          <p:attrName>fill.on</p:attrName>
                                        </p:attrNameLst>
                                      </p:cBhvr>
                                      <p:to>
                                        <p:strVal val="true"/>
                                      </p:to>
                                    </p:set>
                                  </p:childTnLst>
                                </p:cTn>
                              </p:par>
                            </p:childTnLst>
                          </p:cTn>
                        </p:par>
                      </p:childTnLst>
                    </p:cTn>
                  </p:par>
                  <p:par>
                    <p:cTn id="695" fill="hold">
                      <p:stCondLst>
                        <p:cond delay="indefinite"/>
                      </p:stCondLst>
                      <p:childTnLst>
                        <p:par>
                          <p:cTn id="696" fill="hold">
                            <p:stCondLst>
                              <p:cond delay="0"/>
                            </p:stCondLst>
                            <p:childTnLst>
                              <p:par>
                                <p:cTn id="697" presetID="7" presetClass="emph" presetSubtype="2" fill="hold" nodeType="clickEffect">
                                  <p:stCondLst>
                                    <p:cond delay="0"/>
                                  </p:stCondLst>
                                  <p:childTnLst>
                                    <p:animClr clrSpc="rgb" dir="cw">
                                      <p:cBhvr>
                                        <p:cTn id="698" dur="500" fill="hold"/>
                                        <p:tgtEl>
                                          <p:spTgt spid="132"/>
                                        </p:tgtEl>
                                        <p:attrNameLst>
                                          <p:attrName>stroke.color</p:attrName>
                                        </p:attrNameLst>
                                      </p:cBhvr>
                                      <p:to>
                                        <a:srgbClr val="00B050"/>
                                      </p:to>
                                    </p:animClr>
                                    <p:set>
                                      <p:cBhvr>
                                        <p:cTn id="699" dur="500" fill="hold"/>
                                        <p:tgtEl>
                                          <p:spTgt spid="132"/>
                                        </p:tgtEl>
                                        <p:attrNameLst>
                                          <p:attrName>stroke.on</p:attrName>
                                        </p:attrNameLst>
                                      </p:cBhvr>
                                      <p:to>
                                        <p:strVal val="true"/>
                                      </p:to>
                                    </p:set>
                                  </p:childTnLst>
                                </p:cTn>
                              </p:par>
                            </p:childTnLst>
                          </p:cTn>
                        </p:par>
                        <p:par>
                          <p:cTn id="700" fill="hold">
                            <p:stCondLst>
                              <p:cond delay="500"/>
                            </p:stCondLst>
                            <p:childTnLst>
                              <p:par>
                                <p:cTn id="701" presetID="27" presetClass="emph" presetSubtype="0" fill="remove" grpId="4" nodeType="afterEffect">
                                  <p:stCondLst>
                                    <p:cond delay="0"/>
                                  </p:stCondLst>
                                  <p:childTnLst>
                                    <p:animClr clrSpc="rgb" dir="cw">
                                      <p:cBhvr override="childStyle">
                                        <p:cTn id="702" dur="250" autoRev="1" fill="remove"/>
                                        <p:tgtEl>
                                          <p:spTgt spid="145"/>
                                        </p:tgtEl>
                                        <p:attrNameLst>
                                          <p:attrName>style.color</p:attrName>
                                        </p:attrNameLst>
                                      </p:cBhvr>
                                      <p:to>
                                        <a:schemeClr val="bg1"/>
                                      </p:to>
                                    </p:animClr>
                                    <p:animClr clrSpc="rgb" dir="cw">
                                      <p:cBhvr>
                                        <p:cTn id="703" dur="250" autoRev="1" fill="remove"/>
                                        <p:tgtEl>
                                          <p:spTgt spid="145"/>
                                        </p:tgtEl>
                                        <p:attrNameLst>
                                          <p:attrName>fillcolor</p:attrName>
                                        </p:attrNameLst>
                                      </p:cBhvr>
                                      <p:to>
                                        <a:schemeClr val="bg1"/>
                                      </p:to>
                                    </p:animClr>
                                    <p:set>
                                      <p:cBhvr>
                                        <p:cTn id="704" dur="250" autoRev="1" fill="remove"/>
                                        <p:tgtEl>
                                          <p:spTgt spid="145"/>
                                        </p:tgtEl>
                                        <p:attrNameLst>
                                          <p:attrName>fill.type</p:attrName>
                                        </p:attrNameLst>
                                      </p:cBhvr>
                                      <p:to>
                                        <p:strVal val="solid"/>
                                      </p:to>
                                    </p:set>
                                    <p:set>
                                      <p:cBhvr>
                                        <p:cTn id="705" dur="250" autoRev="1" fill="remove"/>
                                        <p:tgtEl>
                                          <p:spTgt spid="145"/>
                                        </p:tgtEl>
                                        <p:attrNameLst>
                                          <p:attrName>fill.on</p:attrName>
                                        </p:attrNameLst>
                                      </p:cBhvr>
                                      <p:to>
                                        <p:strVal val="true"/>
                                      </p:to>
                                    </p:set>
                                  </p:childTnLst>
                                </p:cTn>
                              </p:par>
                            </p:childTnLst>
                          </p:cTn>
                        </p:par>
                      </p:childTnLst>
                    </p:cTn>
                  </p:par>
                  <p:par>
                    <p:cTn id="706" fill="hold">
                      <p:stCondLst>
                        <p:cond delay="indefinite"/>
                      </p:stCondLst>
                      <p:childTnLst>
                        <p:par>
                          <p:cTn id="707" fill="hold">
                            <p:stCondLst>
                              <p:cond delay="0"/>
                            </p:stCondLst>
                            <p:childTnLst>
                              <p:par>
                                <p:cTn id="708" presetID="22" presetClass="entr" presetSubtype="4" fill="hold" grpId="0" nodeType="clickEffect">
                                  <p:stCondLst>
                                    <p:cond delay="0"/>
                                  </p:stCondLst>
                                  <p:childTnLst>
                                    <p:set>
                                      <p:cBhvr>
                                        <p:cTn id="709" dur="1" fill="hold">
                                          <p:stCondLst>
                                            <p:cond delay="0"/>
                                          </p:stCondLst>
                                        </p:cTn>
                                        <p:tgtEl>
                                          <p:spTgt spid="142"/>
                                        </p:tgtEl>
                                        <p:attrNameLst>
                                          <p:attrName>style.visibility</p:attrName>
                                        </p:attrNameLst>
                                      </p:cBhvr>
                                      <p:to>
                                        <p:strVal val="visible"/>
                                      </p:to>
                                    </p:set>
                                    <p:animEffect transition="in" filter="wipe(down)">
                                      <p:cBhvr>
                                        <p:cTn id="710" dur="500"/>
                                        <p:tgtEl>
                                          <p:spTgt spid="142"/>
                                        </p:tgtEl>
                                      </p:cBhvr>
                                    </p:animEffect>
                                  </p:childTnLst>
                                </p:cTn>
                              </p:par>
                            </p:childTnLst>
                          </p:cTn>
                        </p:par>
                        <p:par>
                          <p:cTn id="711" fill="hold">
                            <p:stCondLst>
                              <p:cond delay="500"/>
                            </p:stCondLst>
                            <p:childTnLst>
                              <p:par>
                                <p:cTn id="712" presetID="27" presetClass="emph" presetSubtype="0" fill="remove" grpId="5" nodeType="afterEffect">
                                  <p:stCondLst>
                                    <p:cond delay="0"/>
                                  </p:stCondLst>
                                  <p:childTnLst>
                                    <p:animClr clrSpc="rgb" dir="cw">
                                      <p:cBhvr override="childStyle">
                                        <p:cTn id="713" dur="250" autoRev="1" fill="remove"/>
                                        <p:tgtEl>
                                          <p:spTgt spid="145"/>
                                        </p:tgtEl>
                                        <p:attrNameLst>
                                          <p:attrName>style.color</p:attrName>
                                        </p:attrNameLst>
                                      </p:cBhvr>
                                      <p:to>
                                        <a:schemeClr val="bg1"/>
                                      </p:to>
                                    </p:animClr>
                                    <p:animClr clrSpc="rgb" dir="cw">
                                      <p:cBhvr>
                                        <p:cTn id="714" dur="250" autoRev="1" fill="remove"/>
                                        <p:tgtEl>
                                          <p:spTgt spid="145"/>
                                        </p:tgtEl>
                                        <p:attrNameLst>
                                          <p:attrName>fillcolor</p:attrName>
                                        </p:attrNameLst>
                                      </p:cBhvr>
                                      <p:to>
                                        <a:schemeClr val="bg1"/>
                                      </p:to>
                                    </p:animClr>
                                    <p:set>
                                      <p:cBhvr>
                                        <p:cTn id="715" dur="250" autoRev="1" fill="remove"/>
                                        <p:tgtEl>
                                          <p:spTgt spid="145"/>
                                        </p:tgtEl>
                                        <p:attrNameLst>
                                          <p:attrName>fill.type</p:attrName>
                                        </p:attrNameLst>
                                      </p:cBhvr>
                                      <p:to>
                                        <p:strVal val="solid"/>
                                      </p:to>
                                    </p:set>
                                    <p:set>
                                      <p:cBhvr>
                                        <p:cTn id="716" dur="250" autoRev="1" fill="remove"/>
                                        <p:tgtEl>
                                          <p:spTgt spid="145"/>
                                        </p:tgtEl>
                                        <p:attrNameLst>
                                          <p:attrName>fill.on</p:attrName>
                                        </p:attrNameLst>
                                      </p:cBhvr>
                                      <p:to>
                                        <p:strVal val="true"/>
                                      </p:to>
                                    </p:set>
                                  </p:childTnLst>
                                </p:cTn>
                              </p:par>
                            </p:childTnLst>
                          </p:cTn>
                        </p:par>
                      </p:childTnLst>
                    </p:cTn>
                  </p:par>
                  <p:par>
                    <p:cTn id="717" fill="hold">
                      <p:stCondLst>
                        <p:cond delay="indefinite"/>
                      </p:stCondLst>
                      <p:childTnLst>
                        <p:par>
                          <p:cTn id="718" fill="hold">
                            <p:stCondLst>
                              <p:cond delay="0"/>
                            </p:stCondLst>
                            <p:childTnLst>
                              <p:par>
                                <p:cTn id="719" presetID="7" presetClass="emph" presetSubtype="2" fill="hold" nodeType="clickEffect">
                                  <p:stCondLst>
                                    <p:cond delay="0"/>
                                  </p:stCondLst>
                                  <p:childTnLst>
                                    <p:animClr clrSpc="rgb" dir="cw">
                                      <p:cBhvr>
                                        <p:cTn id="720" dur="500" fill="hold"/>
                                        <p:tgtEl>
                                          <p:spTgt spid="110"/>
                                        </p:tgtEl>
                                        <p:attrNameLst>
                                          <p:attrName>stroke.color</p:attrName>
                                        </p:attrNameLst>
                                      </p:cBhvr>
                                      <p:to>
                                        <a:srgbClr val="00B050"/>
                                      </p:to>
                                    </p:animClr>
                                    <p:set>
                                      <p:cBhvr>
                                        <p:cTn id="721" dur="500" fill="hold"/>
                                        <p:tgtEl>
                                          <p:spTgt spid="110"/>
                                        </p:tgtEl>
                                        <p:attrNameLst>
                                          <p:attrName>stroke.on</p:attrName>
                                        </p:attrNameLst>
                                      </p:cBhvr>
                                      <p:to>
                                        <p:strVal val="true"/>
                                      </p:to>
                                    </p:set>
                                  </p:childTnLst>
                                </p:cTn>
                              </p:par>
                            </p:childTnLst>
                          </p:cTn>
                        </p:par>
                        <p:par>
                          <p:cTn id="722" fill="hold">
                            <p:stCondLst>
                              <p:cond delay="500"/>
                            </p:stCondLst>
                            <p:childTnLst>
                              <p:par>
                                <p:cTn id="723" presetID="27" presetClass="emph" presetSubtype="0" fill="remove" grpId="6" nodeType="afterEffect">
                                  <p:stCondLst>
                                    <p:cond delay="0"/>
                                  </p:stCondLst>
                                  <p:childTnLst>
                                    <p:animClr clrSpc="rgb" dir="cw">
                                      <p:cBhvr override="childStyle">
                                        <p:cTn id="724" dur="250" autoRev="1" fill="remove"/>
                                        <p:tgtEl>
                                          <p:spTgt spid="145"/>
                                        </p:tgtEl>
                                        <p:attrNameLst>
                                          <p:attrName>style.color</p:attrName>
                                        </p:attrNameLst>
                                      </p:cBhvr>
                                      <p:to>
                                        <a:schemeClr val="bg1"/>
                                      </p:to>
                                    </p:animClr>
                                    <p:animClr clrSpc="rgb" dir="cw">
                                      <p:cBhvr>
                                        <p:cTn id="725" dur="250" autoRev="1" fill="remove"/>
                                        <p:tgtEl>
                                          <p:spTgt spid="145"/>
                                        </p:tgtEl>
                                        <p:attrNameLst>
                                          <p:attrName>fillcolor</p:attrName>
                                        </p:attrNameLst>
                                      </p:cBhvr>
                                      <p:to>
                                        <a:schemeClr val="bg1"/>
                                      </p:to>
                                    </p:animClr>
                                    <p:set>
                                      <p:cBhvr>
                                        <p:cTn id="726" dur="250" autoRev="1" fill="remove"/>
                                        <p:tgtEl>
                                          <p:spTgt spid="145"/>
                                        </p:tgtEl>
                                        <p:attrNameLst>
                                          <p:attrName>fill.type</p:attrName>
                                        </p:attrNameLst>
                                      </p:cBhvr>
                                      <p:to>
                                        <p:strVal val="solid"/>
                                      </p:to>
                                    </p:set>
                                    <p:set>
                                      <p:cBhvr>
                                        <p:cTn id="727" dur="250" autoRev="1" fill="remove"/>
                                        <p:tgtEl>
                                          <p:spTgt spid="145"/>
                                        </p:tgtEl>
                                        <p:attrNameLst>
                                          <p:attrName>fill.on</p:attrName>
                                        </p:attrNameLst>
                                      </p:cBhvr>
                                      <p:to>
                                        <p:strVal val="true"/>
                                      </p:to>
                                    </p:set>
                                  </p:childTnLst>
                                </p:cTn>
                              </p:par>
                            </p:childTnLst>
                          </p:cTn>
                        </p:par>
                      </p:childTnLst>
                    </p:cTn>
                  </p:par>
                  <p:par>
                    <p:cTn id="728" fill="hold">
                      <p:stCondLst>
                        <p:cond delay="indefinite"/>
                      </p:stCondLst>
                      <p:childTnLst>
                        <p:par>
                          <p:cTn id="729" fill="hold">
                            <p:stCondLst>
                              <p:cond delay="0"/>
                            </p:stCondLst>
                            <p:childTnLst>
                              <p:par>
                                <p:cTn id="730" presetID="22" presetClass="entr" presetSubtype="8" fill="hold" grpId="0" nodeType="clickEffect">
                                  <p:stCondLst>
                                    <p:cond delay="0"/>
                                  </p:stCondLst>
                                  <p:childTnLst>
                                    <p:set>
                                      <p:cBhvr>
                                        <p:cTn id="731" dur="1" fill="hold">
                                          <p:stCondLst>
                                            <p:cond delay="0"/>
                                          </p:stCondLst>
                                        </p:cTn>
                                        <p:tgtEl>
                                          <p:spTgt spid="144"/>
                                        </p:tgtEl>
                                        <p:attrNameLst>
                                          <p:attrName>style.visibility</p:attrName>
                                        </p:attrNameLst>
                                      </p:cBhvr>
                                      <p:to>
                                        <p:strVal val="visible"/>
                                      </p:to>
                                    </p:set>
                                    <p:animEffect transition="in" filter="wipe(left)">
                                      <p:cBhvr>
                                        <p:cTn id="732" dur="500"/>
                                        <p:tgtEl>
                                          <p:spTgt spid="1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P spid="57" grpId="0" animBg="1"/>
      <p:bldP spid="54" grpId="0" animBg="1"/>
      <p:bldP spid="7" grpId="0" animBg="1"/>
      <p:bldP spid="8" grpId="0" animBg="1"/>
      <p:bldP spid="9" grpId="0" animBg="1"/>
      <p:bldP spid="53" grpId="0" animBg="1"/>
      <p:bldP spid="4" grpId="0" animBg="1"/>
      <p:bldP spid="4" grpId="1" animBg="1"/>
      <p:bldP spid="5" grpId="0" animBg="1"/>
      <p:bldP spid="6" grpId="0" animBg="1"/>
      <p:bldP spid="6" grpId="1" animBg="1"/>
      <p:bldP spid="6" grpId="2" animBg="1"/>
      <p:bldP spid="10" grpId="0" animBg="1"/>
      <p:bldP spid="11" grpId="0" animBg="1"/>
      <p:bldP spid="12" grpId="0" animBg="1"/>
      <p:bldP spid="12" grpId="1" animBg="1"/>
      <p:bldP spid="12" grpId="2" animBg="1"/>
      <p:bldP spid="13" grpId="0" animBg="1"/>
      <p:bldP spid="14" grpId="0" animBg="1"/>
      <p:bldP spid="15" grpId="0" animBg="1"/>
      <p:bldP spid="16" grpId="0" animBg="1"/>
      <p:bldP spid="16" grpId="1" animBg="1"/>
      <p:bldP spid="83" grpId="0" uiExpand="1"/>
      <p:bldP spid="84" grpId="0" uiExpand="1"/>
      <p:bldP spid="85" grpId="0" uiExpand="1"/>
      <p:bldP spid="86" grpId="0" uiExpand="1"/>
      <p:bldP spid="87" grpId="0" uiExpand="1"/>
      <p:bldP spid="90" grpId="0" uiExpand="1"/>
      <p:bldP spid="90" grpId="1"/>
      <p:bldP spid="91" grpId="0" uiExpand="1"/>
      <p:bldP spid="91" grpId="1"/>
      <p:bldP spid="92" grpId="0" uiExpand="1"/>
      <p:bldP spid="92" grpId="1"/>
      <p:bldP spid="93" grpId="0" uiExpand="1"/>
      <p:bldP spid="93" grpId="1"/>
      <p:bldP spid="94" grpId="0" uiExpand="1"/>
      <p:bldP spid="94" grpId="1"/>
      <p:bldP spid="95" grpId="0" uiExpand="1"/>
      <p:bldP spid="95" grpId="1"/>
      <p:bldP spid="96" grpId="0" uiExpand="1"/>
      <p:bldP spid="96" grpId="1"/>
      <p:bldP spid="97" grpId="0" uiExpand="1"/>
      <p:bldP spid="97" grpId="1"/>
      <p:bldP spid="98" grpId="0" uiExpand="1"/>
      <p:bldP spid="98" grpId="1"/>
      <p:bldP spid="99" grpId="0" uiExpand="1"/>
      <p:bldP spid="99" grpId="1"/>
      <p:bldP spid="100" grpId="0" uiExpand="1"/>
      <p:bldP spid="100" grpId="1"/>
      <p:bldP spid="101" grpId="0" uiExpand="1"/>
      <p:bldP spid="101" grpId="1"/>
      <p:bldP spid="102" grpId="0" uiExpand="1"/>
      <p:bldP spid="102" grpId="1"/>
      <p:bldP spid="104" grpId="0" uiExpand="1" build="allAtOnce" animBg="1"/>
      <p:bldP spid="110" grpId="0" uiExpand="1" animBg="1"/>
      <p:bldP spid="110" grpId="1" animBg="1"/>
      <p:bldP spid="114" grpId="0" uiExpand="1" animBg="1"/>
      <p:bldP spid="114" grpId="1" animBg="1"/>
      <p:bldP spid="118" grpId="0" uiExpand="1" build="allAtOnce" animBg="1"/>
      <p:bldP spid="119" grpId="0"/>
      <p:bldP spid="120" grpId="0"/>
      <p:bldP spid="121" grpId="0"/>
      <p:bldP spid="122" grpId="0"/>
      <p:bldP spid="123" grpId="0"/>
      <p:bldP spid="124" grpId="0"/>
      <p:bldP spid="125" grpId="0"/>
      <p:bldP spid="126" grpId="0"/>
      <p:bldP spid="127" grpId="0"/>
      <p:bldP spid="128" grpId="0"/>
      <p:bldP spid="129" grpId="0"/>
      <p:bldP spid="130" grpId="0"/>
      <p:bldP spid="131" grpId="0"/>
      <p:bldP spid="132" grpId="0" animBg="1"/>
      <p:bldP spid="132" grpId="1" animBg="1"/>
      <p:bldP spid="132" grpId="2" animBg="1"/>
      <p:bldP spid="134" grpId="0" animBg="1"/>
      <p:bldP spid="134" grpId="1" animBg="1"/>
      <p:bldP spid="137" grpId="0" uiExpand="1" build="p" animBg="1"/>
      <p:bldP spid="139" grpId="0" animBg="1"/>
      <p:bldP spid="140" grpId="0" animBg="1"/>
      <p:bldP spid="142" grpId="0" animBg="1"/>
      <p:bldP spid="144" grpId="0" animBg="1"/>
      <p:bldP spid="145" grpId="0" animBg="1"/>
      <p:bldP spid="145" grpId="1" animBg="1"/>
      <p:bldP spid="145" grpId="2" animBg="1"/>
      <p:bldP spid="145" grpId="3" animBg="1"/>
      <p:bldP spid="145" grpId="4" animBg="1"/>
      <p:bldP spid="145" grpId="5" animBg="1"/>
      <p:bldP spid="145" grpId="6" animBg="1"/>
      <p:bldP spid="146" grpId="0" animBg="1"/>
      <p:bldP spid="2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弧形 71">
            <a:extLst>
              <a:ext uri="{FF2B5EF4-FFF2-40B4-BE49-F238E27FC236}">
                <a16:creationId xmlns:a16="http://schemas.microsoft.com/office/drawing/2014/main" id="{9CB6B9F5-B842-4344-88FC-6B9DAD002E2F}"/>
              </a:ext>
            </a:extLst>
          </p:cNvPr>
          <p:cNvSpPr/>
          <p:nvPr/>
        </p:nvSpPr>
        <p:spPr>
          <a:xfrm rot="16010691">
            <a:off x="8449134" y="3664036"/>
            <a:ext cx="3389974" cy="2794482"/>
          </a:xfrm>
          <a:prstGeom prst="arc">
            <a:avLst>
              <a:gd name="adj1" fmla="val 16535543"/>
              <a:gd name="adj2" fmla="val 21275608"/>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cxnSp>
        <p:nvCxnSpPr>
          <p:cNvPr id="2" name="直接连接符 1">
            <a:extLst>
              <a:ext uri="{FF2B5EF4-FFF2-40B4-BE49-F238E27FC236}">
                <a16:creationId xmlns:a16="http://schemas.microsoft.com/office/drawing/2014/main" id="{1EA0291F-1405-47BC-98F0-C9040267EE45}"/>
              </a:ext>
            </a:extLst>
          </p:cNvPr>
          <p:cNvCxnSpPr>
            <a:cxnSpLocks/>
          </p:cNvCxnSpPr>
          <p:nvPr/>
        </p:nvCxnSpPr>
        <p:spPr>
          <a:xfrm>
            <a:off x="8653016" y="3423408"/>
            <a:ext cx="603085" cy="902752"/>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 name="直接连接符 2">
            <a:extLst>
              <a:ext uri="{FF2B5EF4-FFF2-40B4-BE49-F238E27FC236}">
                <a16:creationId xmlns:a16="http://schemas.microsoft.com/office/drawing/2014/main" id="{9B978398-5F1E-416F-84AD-83E0E5737C5B}"/>
              </a:ext>
            </a:extLst>
          </p:cNvPr>
          <p:cNvCxnSpPr>
            <a:cxnSpLocks/>
          </p:cNvCxnSpPr>
          <p:nvPr/>
        </p:nvCxnSpPr>
        <p:spPr>
          <a:xfrm>
            <a:off x="8660755" y="3448437"/>
            <a:ext cx="13838" cy="1743303"/>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4" name="任意多边形: 形状 3">
            <a:extLst>
              <a:ext uri="{FF2B5EF4-FFF2-40B4-BE49-F238E27FC236}">
                <a16:creationId xmlns:a16="http://schemas.microsoft.com/office/drawing/2014/main" id="{0588E137-6D47-4FF9-B7E8-E30BA4E3F2C2}"/>
              </a:ext>
            </a:extLst>
          </p:cNvPr>
          <p:cNvSpPr/>
          <p:nvPr/>
        </p:nvSpPr>
        <p:spPr>
          <a:xfrm>
            <a:off x="7276705" y="2772866"/>
            <a:ext cx="3833439" cy="3193544"/>
          </a:xfrm>
          <a:custGeom>
            <a:avLst/>
            <a:gdLst>
              <a:gd name="connsiteX0" fmla="*/ 2669040 w 2669040"/>
              <a:gd name="connsiteY0" fmla="*/ 364539 h 2309249"/>
              <a:gd name="connsiteX1" fmla="*/ 859558 w 2669040"/>
              <a:gd name="connsiteY1" fmla="*/ 29688 h 2309249"/>
              <a:gd name="connsiteX2" fmla="*/ 35310 w 2669040"/>
              <a:gd name="connsiteY2" fmla="*/ 1034240 h 2309249"/>
              <a:gd name="connsiteX3" fmla="*/ 228493 w 2669040"/>
              <a:gd name="connsiteY3" fmla="*/ 2309249 h 2309249"/>
            </a:gdLst>
            <a:ahLst/>
            <a:cxnLst>
              <a:cxn ang="0">
                <a:pos x="connsiteX0" y="connsiteY0"/>
              </a:cxn>
              <a:cxn ang="0">
                <a:pos x="connsiteX1" y="connsiteY1"/>
              </a:cxn>
              <a:cxn ang="0">
                <a:pos x="connsiteX2" y="connsiteY2"/>
              </a:cxn>
              <a:cxn ang="0">
                <a:pos x="connsiteX3" y="connsiteY3"/>
              </a:cxn>
            </a:cxnLst>
            <a:rect l="l" t="t" r="r" b="b"/>
            <a:pathLst>
              <a:path w="2669040" h="2309249">
                <a:moveTo>
                  <a:pt x="2669040" y="364539"/>
                </a:moveTo>
                <a:cubicBezTo>
                  <a:pt x="1983776" y="141305"/>
                  <a:pt x="1298513" y="-81929"/>
                  <a:pt x="859558" y="29688"/>
                </a:cubicBezTo>
                <a:cubicBezTo>
                  <a:pt x="420603" y="141305"/>
                  <a:pt x="140487" y="654313"/>
                  <a:pt x="35310" y="1034240"/>
                </a:cubicBezTo>
                <a:cubicBezTo>
                  <a:pt x="-69867" y="1414167"/>
                  <a:pt x="79313" y="1861708"/>
                  <a:pt x="228493" y="2309249"/>
                </a:cubicBezTo>
              </a:path>
            </a:pathLst>
          </a:custGeom>
          <a:no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5" name="任意多边形: 形状 4">
            <a:extLst>
              <a:ext uri="{FF2B5EF4-FFF2-40B4-BE49-F238E27FC236}">
                <a16:creationId xmlns:a16="http://schemas.microsoft.com/office/drawing/2014/main" id="{3F2B982F-AC89-472D-AFC0-390CEFFD8EF9}"/>
              </a:ext>
            </a:extLst>
          </p:cNvPr>
          <p:cNvSpPr/>
          <p:nvPr/>
        </p:nvSpPr>
        <p:spPr>
          <a:xfrm>
            <a:off x="7485085" y="2978818"/>
            <a:ext cx="2293244" cy="2791674"/>
          </a:xfrm>
          <a:custGeom>
            <a:avLst/>
            <a:gdLst>
              <a:gd name="connsiteX0" fmla="*/ 1596676 w 1596676"/>
              <a:gd name="connsiteY0" fmla="*/ 228494 h 2018657"/>
              <a:gd name="connsiteX1" fmla="*/ 624321 w 1596676"/>
              <a:gd name="connsiteY1" fmla="*/ 35310 h 2018657"/>
              <a:gd name="connsiteX2" fmla="*/ 25453 w 1596676"/>
              <a:gd name="connsiteY2" fmla="*/ 859558 h 2018657"/>
              <a:gd name="connsiteX3" fmla="*/ 167121 w 1596676"/>
              <a:gd name="connsiteY3" fmla="*/ 2018657 h 2018657"/>
            </a:gdLst>
            <a:ahLst/>
            <a:cxnLst>
              <a:cxn ang="0">
                <a:pos x="connsiteX0" y="connsiteY0"/>
              </a:cxn>
              <a:cxn ang="0">
                <a:pos x="connsiteX1" y="connsiteY1"/>
              </a:cxn>
              <a:cxn ang="0">
                <a:pos x="connsiteX2" y="connsiteY2"/>
              </a:cxn>
              <a:cxn ang="0">
                <a:pos x="connsiteX3" y="connsiteY3"/>
              </a:cxn>
            </a:cxnLst>
            <a:rect l="l" t="t" r="r" b="b"/>
            <a:pathLst>
              <a:path w="1596676" h="2018657">
                <a:moveTo>
                  <a:pt x="1596676" y="228494"/>
                </a:moveTo>
                <a:cubicBezTo>
                  <a:pt x="1241433" y="79313"/>
                  <a:pt x="886191" y="-69867"/>
                  <a:pt x="624321" y="35310"/>
                </a:cubicBezTo>
                <a:cubicBezTo>
                  <a:pt x="362450" y="140487"/>
                  <a:pt x="101653" y="529000"/>
                  <a:pt x="25453" y="859558"/>
                </a:cubicBezTo>
                <a:cubicBezTo>
                  <a:pt x="-50747" y="1190116"/>
                  <a:pt x="58187" y="1604386"/>
                  <a:pt x="167121" y="2018657"/>
                </a:cubicBezTo>
              </a:path>
            </a:pathLst>
          </a:custGeom>
          <a:no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6" name="弧形 5">
            <a:extLst>
              <a:ext uri="{FF2B5EF4-FFF2-40B4-BE49-F238E27FC236}">
                <a16:creationId xmlns:a16="http://schemas.microsoft.com/office/drawing/2014/main" id="{60713141-71B6-43A9-BD9F-C4D5E23351C9}"/>
              </a:ext>
            </a:extLst>
          </p:cNvPr>
          <p:cNvSpPr/>
          <p:nvPr/>
        </p:nvSpPr>
        <p:spPr>
          <a:xfrm rot="5142392">
            <a:off x="7262564" y="3071875"/>
            <a:ext cx="3349943" cy="2794482"/>
          </a:xfrm>
          <a:prstGeom prst="arc">
            <a:avLst>
              <a:gd name="adj1" fmla="val 16535543"/>
              <a:gd name="adj2" fmla="val 21275608"/>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cxnSp>
        <p:nvCxnSpPr>
          <p:cNvPr id="7" name="直接连接符 6">
            <a:extLst>
              <a:ext uri="{FF2B5EF4-FFF2-40B4-BE49-F238E27FC236}">
                <a16:creationId xmlns:a16="http://schemas.microsoft.com/office/drawing/2014/main" id="{71AB0697-2C8A-4CFB-9501-A76375FB9562}"/>
              </a:ext>
            </a:extLst>
          </p:cNvPr>
          <p:cNvCxnSpPr>
            <a:cxnSpLocks/>
          </p:cNvCxnSpPr>
          <p:nvPr/>
        </p:nvCxnSpPr>
        <p:spPr>
          <a:xfrm>
            <a:off x="8684650" y="3412409"/>
            <a:ext cx="1754441" cy="902752"/>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5019A54A-C71E-4B64-95A2-AA085F6E2803}"/>
              </a:ext>
            </a:extLst>
          </p:cNvPr>
          <p:cNvCxnSpPr>
            <a:cxnSpLocks/>
          </p:cNvCxnSpPr>
          <p:nvPr/>
        </p:nvCxnSpPr>
        <p:spPr>
          <a:xfrm>
            <a:off x="9250084" y="4315161"/>
            <a:ext cx="603085" cy="902752"/>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3599B01F-5160-40D2-8883-234F23F5C1D5}"/>
              </a:ext>
            </a:extLst>
          </p:cNvPr>
          <p:cNvCxnSpPr>
            <a:cxnSpLocks/>
          </p:cNvCxnSpPr>
          <p:nvPr/>
        </p:nvCxnSpPr>
        <p:spPr>
          <a:xfrm>
            <a:off x="9836006" y="5190057"/>
            <a:ext cx="603085" cy="902752"/>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10C3CEDC-D110-4058-A42E-3BE7247BA764}"/>
              </a:ext>
            </a:extLst>
          </p:cNvPr>
          <p:cNvCxnSpPr>
            <a:cxnSpLocks/>
          </p:cNvCxnSpPr>
          <p:nvPr/>
        </p:nvCxnSpPr>
        <p:spPr>
          <a:xfrm>
            <a:off x="9856495" y="3412409"/>
            <a:ext cx="603085" cy="902752"/>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CEBE7922-D127-48FC-B286-B5E81F06E293}"/>
              </a:ext>
            </a:extLst>
          </p:cNvPr>
          <p:cNvCxnSpPr>
            <a:cxnSpLocks/>
          </p:cNvCxnSpPr>
          <p:nvPr/>
        </p:nvCxnSpPr>
        <p:spPr>
          <a:xfrm flipH="1">
            <a:off x="10425740" y="4316921"/>
            <a:ext cx="10025" cy="1783068"/>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2B19B2EB-8F44-46A1-993B-0EB11C855726}"/>
              </a:ext>
            </a:extLst>
          </p:cNvPr>
          <p:cNvCxnSpPr>
            <a:cxnSpLocks/>
          </p:cNvCxnSpPr>
          <p:nvPr/>
        </p:nvCxnSpPr>
        <p:spPr>
          <a:xfrm>
            <a:off x="8671032" y="5142861"/>
            <a:ext cx="1744112" cy="970715"/>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4E7A3A20-1F08-4270-9130-3BD9E97AF0E4}"/>
              </a:ext>
            </a:extLst>
          </p:cNvPr>
          <p:cNvCxnSpPr>
            <a:cxnSpLocks/>
          </p:cNvCxnSpPr>
          <p:nvPr/>
        </p:nvCxnSpPr>
        <p:spPr>
          <a:xfrm flipV="1">
            <a:off x="8671032" y="4335924"/>
            <a:ext cx="1788548" cy="814027"/>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E0D3677C-D6E6-4286-B6D3-2F91C213DD2C}"/>
              </a:ext>
            </a:extLst>
          </p:cNvPr>
          <p:cNvCxnSpPr>
            <a:cxnSpLocks/>
          </p:cNvCxnSpPr>
          <p:nvPr/>
        </p:nvCxnSpPr>
        <p:spPr>
          <a:xfrm flipH="1">
            <a:off x="7815705" y="3442695"/>
            <a:ext cx="868945" cy="2568241"/>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D81D0BB5-57D4-4CA3-AEF0-2891DB3652DF}"/>
              </a:ext>
            </a:extLst>
          </p:cNvPr>
          <p:cNvCxnSpPr>
            <a:cxnSpLocks/>
          </p:cNvCxnSpPr>
          <p:nvPr/>
        </p:nvCxnSpPr>
        <p:spPr>
          <a:xfrm flipH="1">
            <a:off x="10456253" y="3412409"/>
            <a:ext cx="769397" cy="2708255"/>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7CDF7273-D154-48DF-B809-CEA4AC2CB4CB}"/>
              </a:ext>
            </a:extLst>
          </p:cNvPr>
          <p:cNvCxnSpPr>
            <a:cxnSpLocks/>
          </p:cNvCxnSpPr>
          <p:nvPr/>
        </p:nvCxnSpPr>
        <p:spPr>
          <a:xfrm>
            <a:off x="8673384" y="5168954"/>
            <a:ext cx="532191" cy="923855"/>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89EDF542-BA09-46DF-8EE7-3140CBD96491}"/>
              </a:ext>
            </a:extLst>
          </p:cNvPr>
          <p:cNvCxnSpPr>
            <a:cxnSpLocks/>
          </p:cNvCxnSpPr>
          <p:nvPr/>
        </p:nvCxnSpPr>
        <p:spPr>
          <a:xfrm flipH="1">
            <a:off x="9832680" y="3431412"/>
            <a:ext cx="37650" cy="1751465"/>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1308B55E-F9F4-4760-9342-65D5B65E6B6C}"/>
              </a:ext>
            </a:extLst>
          </p:cNvPr>
          <p:cNvCxnSpPr>
            <a:cxnSpLocks/>
          </p:cNvCxnSpPr>
          <p:nvPr/>
        </p:nvCxnSpPr>
        <p:spPr>
          <a:xfrm flipH="1">
            <a:off x="9250084" y="3400690"/>
            <a:ext cx="603085" cy="2559677"/>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20F4C57C-C3D2-4DB0-84A0-8029814E517E}"/>
              </a:ext>
            </a:extLst>
          </p:cNvPr>
          <p:cNvCxnSpPr>
            <a:cxnSpLocks/>
          </p:cNvCxnSpPr>
          <p:nvPr/>
        </p:nvCxnSpPr>
        <p:spPr>
          <a:xfrm flipH="1">
            <a:off x="9160497" y="4326618"/>
            <a:ext cx="110075" cy="1633748"/>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nvGrpSpPr>
          <p:cNvPr id="65" name="组合 64">
            <a:extLst>
              <a:ext uri="{FF2B5EF4-FFF2-40B4-BE49-F238E27FC236}">
                <a16:creationId xmlns:a16="http://schemas.microsoft.com/office/drawing/2014/main" id="{D258C7E1-CF71-4965-B68E-7599458606CE}"/>
              </a:ext>
            </a:extLst>
          </p:cNvPr>
          <p:cNvGrpSpPr/>
          <p:nvPr/>
        </p:nvGrpSpPr>
        <p:grpSpPr>
          <a:xfrm>
            <a:off x="7512806" y="5709462"/>
            <a:ext cx="1014935" cy="547643"/>
            <a:chOff x="7512806" y="5709462"/>
            <a:chExt cx="1014935" cy="547643"/>
          </a:xfrm>
        </p:grpSpPr>
        <p:sp>
          <p:nvSpPr>
            <p:cNvPr id="28" name="椭圆 27">
              <a:extLst>
                <a:ext uri="{FF2B5EF4-FFF2-40B4-BE49-F238E27FC236}">
                  <a16:creationId xmlns:a16="http://schemas.microsoft.com/office/drawing/2014/main" id="{3213D9F7-4139-416A-A504-237C04F3662E}"/>
                </a:ext>
              </a:extLst>
            </p:cNvPr>
            <p:cNvSpPr/>
            <p:nvPr/>
          </p:nvSpPr>
          <p:spPr>
            <a:xfrm>
              <a:off x="7512806" y="5709462"/>
              <a:ext cx="568759" cy="547643"/>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dirty="0">
                <a:ln>
                  <a:noFill/>
                </a:ln>
                <a:solidFill>
                  <a:srgbClr val="70AD47">
                    <a:lumMod val="50000"/>
                  </a:srgbClr>
                </a:solidFill>
                <a:effectLst/>
                <a:uLnTx/>
                <a:uFillTx/>
                <a:latin typeface="等线" panose="020F0502020204030204"/>
                <a:ea typeface="等线" panose="02010600030101010101" pitchFamily="2" charset="-122"/>
                <a:cs typeface="+mn-cs"/>
              </a:endParaRPr>
            </a:p>
          </p:txBody>
        </p:sp>
        <p:sp>
          <p:nvSpPr>
            <p:cNvPr id="41" name="文本框 40">
              <a:extLst>
                <a:ext uri="{FF2B5EF4-FFF2-40B4-BE49-F238E27FC236}">
                  <a16:creationId xmlns:a16="http://schemas.microsoft.com/office/drawing/2014/main" id="{D21C2912-2E4C-4BA2-862D-452B57B6F2C5}"/>
                </a:ext>
              </a:extLst>
            </p:cNvPr>
            <p:cNvSpPr txBox="1"/>
            <p:nvPr/>
          </p:nvSpPr>
          <p:spPr>
            <a:xfrm>
              <a:off x="8008047" y="5769085"/>
              <a:ext cx="519694"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EA</a:t>
              </a:r>
              <a:endParaRPr kumimoji="0" lang="zh-CN" altLang="en-US" sz="2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60" name="组合 59">
            <a:extLst>
              <a:ext uri="{FF2B5EF4-FFF2-40B4-BE49-F238E27FC236}">
                <a16:creationId xmlns:a16="http://schemas.microsoft.com/office/drawing/2014/main" id="{37357D85-71E9-41BA-93EA-77745C36ABCC}"/>
              </a:ext>
            </a:extLst>
          </p:cNvPr>
          <p:cNvGrpSpPr/>
          <p:nvPr/>
        </p:nvGrpSpPr>
        <p:grpSpPr>
          <a:xfrm>
            <a:off x="7927946" y="3147113"/>
            <a:ext cx="1041084" cy="547643"/>
            <a:chOff x="7927946" y="3147113"/>
            <a:chExt cx="1041084" cy="547643"/>
          </a:xfrm>
        </p:grpSpPr>
        <p:sp>
          <p:nvSpPr>
            <p:cNvPr id="23" name="椭圆 22">
              <a:extLst>
                <a:ext uri="{FF2B5EF4-FFF2-40B4-BE49-F238E27FC236}">
                  <a16:creationId xmlns:a16="http://schemas.microsoft.com/office/drawing/2014/main" id="{75F97812-62C9-4FA2-A08D-089CEA047A53}"/>
                </a:ext>
              </a:extLst>
            </p:cNvPr>
            <p:cNvSpPr/>
            <p:nvPr/>
          </p:nvSpPr>
          <p:spPr>
            <a:xfrm>
              <a:off x="8400271" y="3147113"/>
              <a:ext cx="568759" cy="547643"/>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dirty="0">
                <a:ln>
                  <a:noFill/>
                </a:ln>
                <a:solidFill>
                  <a:srgbClr val="70AD47">
                    <a:lumMod val="50000"/>
                  </a:srgbClr>
                </a:solidFill>
                <a:effectLst/>
                <a:uLnTx/>
                <a:uFillTx/>
                <a:latin typeface="等线" panose="020F0502020204030204"/>
                <a:ea typeface="等线" panose="02010600030101010101" pitchFamily="2" charset="-122"/>
                <a:cs typeface="+mn-cs"/>
              </a:endParaRPr>
            </a:p>
          </p:txBody>
        </p:sp>
        <p:sp>
          <p:nvSpPr>
            <p:cNvPr id="35" name="文本框 34">
              <a:extLst>
                <a:ext uri="{FF2B5EF4-FFF2-40B4-BE49-F238E27FC236}">
                  <a16:creationId xmlns:a16="http://schemas.microsoft.com/office/drawing/2014/main" id="{35ACB850-F52B-4132-9849-6BB429B265BA}"/>
                </a:ext>
              </a:extLst>
            </p:cNvPr>
            <p:cNvSpPr txBox="1"/>
            <p:nvPr/>
          </p:nvSpPr>
          <p:spPr>
            <a:xfrm>
              <a:off x="7927946" y="3212494"/>
              <a:ext cx="543739"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AB</a:t>
              </a:r>
              <a:endParaRPr kumimoji="0" lang="zh-CN" altLang="en-US" sz="2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46" name="文本框 45">
              <a:extLst>
                <a:ext uri="{FF2B5EF4-FFF2-40B4-BE49-F238E27FC236}">
                  <a16:creationId xmlns:a16="http://schemas.microsoft.com/office/drawing/2014/main" id="{37DF6744-EB5F-4DA0-B413-FD038130ABE2}"/>
                </a:ext>
              </a:extLst>
            </p:cNvPr>
            <p:cNvSpPr txBox="1"/>
            <p:nvPr/>
          </p:nvSpPr>
          <p:spPr>
            <a:xfrm>
              <a:off x="8507288" y="3186393"/>
              <a:ext cx="35618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1</a:t>
              </a:r>
              <a:endParaRPr kumimoji="0" lang="zh-CN" altLang="en-US" sz="24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61" name="组合 60">
            <a:extLst>
              <a:ext uri="{FF2B5EF4-FFF2-40B4-BE49-F238E27FC236}">
                <a16:creationId xmlns:a16="http://schemas.microsoft.com/office/drawing/2014/main" id="{333B7914-D182-426A-83AC-91A05A403A1F}"/>
              </a:ext>
            </a:extLst>
          </p:cNvPr>
          <p:cNvGrpSpPr/>
          <p:nvPr/>
        </p:nvGrpSpPr>
        <p:grpSpPr>
          <a:xfrm>
            <a:off x="9572115" y="3147113"/>
            <a:ext cx="1044235" cy="547643"/>
            <a:chOff x="9572115" y="3147113"/>
            <a:chExt cx="1044235" cy="547643"/>
          </a:xfrm>
        </p:grpSpPr>
        <p:sp>
          <p:nvSpPr>
            <p:cNvPr id="24" name="椭圆 23">
              <a:extLst>
                <a:ext uri="{FF2B5EF4-FFF2-40B4-BE49-F238E27FC236}">
                  <a16:creationId xmlns:a16="http://schemas.microsoft.com/office/drawing/2014/main" id="{581896E2-D89A-4E71-8D63-516EBD392F20}"/>
                </a:ext>
              </a:extLst>
            </p:cNvPr>
            <p:cNvSpPr/>
            <p:nvPr/>
          </p:nvSpPr>
          <p:spPr>
            <a:xfrm>
              <a:off x="9572115" y="3147113"/>
              <a:ext cx="568759" cy="547643"/>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dirty="0">
                <a:ln>
                  <a:noFill/>
                </a:ln>
                <a:solidFill>
                  <a:srgbClr val="70AD47">
                    <a:lumMod val="50000"/>
                  </a:srgbClr>
                </a:solidFill>
                <a:effectLst/>
                <a:uLnTx/>
                <a:uFillTx/>
                <a:latin typeface="等线" panose="020F0502020204030204"/>
                <a:ea typeface="等线" panose="02010600030101010101" pitchFamily="2" charset="-122"/>
                <a:cs typeface="+mn-cs"/>
              </a:endParaRPr>
            </a:p>
          </p:txBody>
        </p:sp>
        <p:sp>
          <p:nvSpPr>
            <p:cNvPr id="39" name="文本框 38">
              <a:extLst>
                <a:ext uri="{FF2B5EF4-FFF2-40B4-BE49-F238E27FC236}">
                  <a16:creationId xmlns:a16="http://schemas.microsoft.com/office/drawing/2014/main" id="{14BE0B49-75BA-4C6B-A7E3-376BDF006D0D}"/>
                </a:ext>
              </a:extLst>
            </p:cNvPr>
            <p:cNvSpPr txBox="1"/>
            <p:nvPr/>
          </p:nvSpPr>
          <p:spPr>
            <a:xfrm>
              <a:off x="10067802" y="3181861"/>
              <a:ext cx="548548"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AC</a:t>
              </a:r>
              <a:endParaRPr kumimoji="0" lang="zh-CN" altLang="en-US" sz="2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47" name="文本框 46">
              <a:extLst>
                <a:ext uri="{FF2B5EF4-FFF2-40B4-BE49-F238E27FC236}">
                  <a16:creationId xmlns:a16="http://schemas.microsoft.com/office/drawing/2014/main" id="{E2A524F6-8A89-4C18-AEBD-B1450BAD443C}"/>
                </a:ext>
              </a:extLst>
            </p:cNvPr>
            <p:cNvSpPr txBox="1"/>
            <p:nvPr/>
          </p:nvSpPr>
          <p:spPr>
            <a:xfrm>
              <a:off x="9689358" y="3193399"/>
              <a:ext cx="35618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1</a:t>
              </a:r>
              <a:endParaRPr kumimoji="0" lang="zh-CN" altLang="en-US" sz="24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62" name="组合 61">
            <a:extLst>
              <a:ext uri="{FF2B5EF4-FFF2-40B4-BE49-F238E27FC236}">
                <a16:creationId xmlns:a16="http://schemas.microsoft.com/office/drawing/2014/main" id="{3869A7FE-4881-49A6-B596-C10D2C6AEBEC}"/>
              </a:ext>
            </a:extLst>
          </p:cNvPr>
          <p:cNvGrpSpPr/>
          <p:nvPr/>
        </p:nvGrpSpPr>
        <p:grpSpPr>
          <a:xfrm>
            <a:off x="10930027" y="2804342"/>
            <a:ext cx="575799" cy="890414"/>
            <a:chOff x="10930027" y="2804342"/>
            <a:chExt cx="575799" cy="890414"/>
          </a:xfrm>
        </p:grpSpPr>
        <p:sp>
          <p:nvSpPr>
            <p:cNvPr id="25" name="椭圆 24">
              <a:extLst>
                <a:ext uri="{FF2B5EF4-FFF2-40B4-BE49-F238E27FC236}">
                  <a16:creationId xmlns:a16="http://schemas.microsoft.com/office/drawing/2014/main" id="{8DD86B96-D7E0-429D-8F6C-1EC0C7C6434E}"/>
                </a:ext>
              </a:extLst>
            </p:cNvPr>
            <p:cNvSpPr/>
            <p:nvPr/>
          </p:nvSpPr>
          <p:spPr>
            <a:xfrm>
              <a:off x="10930759" y="3147113"/>
              <a:ext cx="568759" cy="547643"/>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dirty="0">
                <a:ln>
                  <a:noFill/>
                </a:ln>
                <a:solidFill>
                  <a:srgbClr val="70AD47">
                    <a:lumMod val="50000"/>
                  </a:srgbClr>
                </a:solidFill>
                <a:effectLst/>
                <a:uLnTx/>
                <a:uFillTx/>
                <a:latin typeface="等线" panose="020F0502020204030204"/>
                <a:ea typeface="等线" panose="02010600030101010101" pitchFamily="2" charset="-122"/>
                <a:cs typeface="+mn-cs"/>
              </a:endParaRPr>
            </a:p>
          </p:txBody>
        </p:sp>
        <p:sp>
          <p:nvSpPr>
            <p:cNvPr id="40" name="文本框 39">
              <a:extLst>
                <a:ext uri="{FF2B5EF4-FFF2-40B4-BE49-F238E27FC236}">
                  <a16:creationId xmlns:a16="http://schemas.microsoft.com/office/drawing/2014/main" id="{9EE756BF-F108-4335-B4B9-2E47CFE09E0E}"/>
                </a:ext>
              </a:extLst>
            </p:cNvPr>
            <p:cNvSpPr txBox="1"/>
            <p:nvPr/>
          </p:nvSpPr>
          <p:spPr>
            <a:xfrm>
              <a:off x="10930027" y="2804342"/>
              <a:ext cx="575799"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AD</a:t>
              </a:r>
              <a:endParaRPr kumimoji="0" lang="zh-CN" altLang="en-US" sz="2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48" name="文本框 47">
              <a:extLst>
                <a:ext uri="{FF2B5EF4-FFF2-40B4-BE49-F238E27FC236}">
                  <a16:creationId xmlns:a16="http://schemas.microsoft.com/office/drawing/2014/main" id="{D2002B6B-C2F9-4DF4-9A6C-0CAF49D8FF8B}"/>
                </a:ext>
              </a:extLst>
            </p:cNvPr>
            <p:cNvSpPr txBox="1"/>
            <p:nvPr/>
          </p:nvSpPr>
          <p:spPr>
            <a:xfrm>
              <a:off x="11046359" y="3193399"/>
              <a:ext cx="35618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1</a:t>
              </a:r>
              <a:endParaRPr kumimoji="0" lang="zh-CN" altLang="en-US" sz="24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59" name="组合 58">
            <a:extLst>
              <a:ext uri="{FF2B5EF4-FFF2-40B4-BE49-F238E27FC236}">
                <a16:creationId xmlns:a16="http://schemas.microsoft.com/office/drawing/2014/main" id="{3EDD75D1-3C86-4BBB-A762-96F529CD9712}"/>
              </a:ext>
            </a:extLst>
          </p:cNvPr>
          <p:cNvGrpSpPr/>
          <p:nvPr/>
        </p:nvGrpSpPr>
        <p:grpSpPr>
          <a:xfrm>
            <a:off x="7696851" y="3704148"/>
            <a:ext cx="568759" cy="892681"/>
            <a:chOff x="7696851" y="3704148"/>
            <a:chExt cx="568759" cy="892681"/>
          </a:xfrm>
        </p:grpSpPr>
        <p:sp>
          <p:nvSpPr>
            <p:cNvPr id="11" name="椭圆 10">
              <a:extLst>
                <a:ext uri="{FF2B5EF4-FFF2-40B4-BE49-F238E27FC236}">
                  <a16:creationId xmlns:a16="http://schemas.microsoft.com/office/drawing/2014/main" id="{981214DE-CC94-4FC6-9CD1-13EBE05650A4}"/>
                </a:ext>
              </a:extLst>
            </p:cNvPr>
            <p:cNvSpPr/>
            <p:nvPr/>
          </p:nvSpPr>
          <p:spPr>
            <a:xfrm>
              <a:off x="7696851" y="4049186"/>
              <a:ext cx="568759" cy="547643"/>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dirty="0">
                <a:ln>
                  <a:noFill/>
                </a:ln>
                <a:solidFill>
                  <a:srgbClr val="70AD47">
                    <a:lumMod val="50000"/>
                  </a:srgbClr>
                </a:solidFill>
                <a:effectLst/>
                <a:uLnTx/>
                <a:uFillTx/>
                <a:latin typeface="等线" panose="020F0502020204030204"/>
                <a:ea typeface="等线" panose="02010600030101010101" pitchFamily="2" charset="-122"/>
                <a:cs typeface="+mn-cs"/>
              </a:endParaRPr>
            </a:p>
          </p:txBody>
        </p:sp>
        <p:sp>
          <p:nvSpPr>
            <p:cNvPr id="38" name="文本框 37">
              <a:extLst>
                <a:ext uri="{FF2B5EF4-FFF2-40B4-BE49-F238E27FC236}">
                  <a16:creationId xmlns:a16="http://schemas.microsoft.com/office/drawing/2014/main" id="{F07F7C10-2DA6-424D-9A76-DEA2E83EE255}"/>
                </a:ext>
              </a:extLst>
            </p:cNvPr>
            <p:cNvSpPr txBox="1"/>
            <p:nvPr/>
          </p:nvSpPr>
          <p:spPr>
            <a:xfrm>
              <a:off x="7717362" y="3704148"/>
              <a:ext cx="543739"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BA</a:t>
              </a:r>
              <a:endParaRPr kumimoji="0" lang="zh-CN" altLang="en-US" sz="2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49" name="文本框 48">
              <a:extLst>
                <a:ext uri="{FF2B5EF4-FFF2-40B4-BE49-F238E27FC236}">
                  <a16:creationId xmlns:a16="http://schemas.microsoft.com/office/drawing/2014/main" id="{EE5CA893-107D-4CEB-9CEC-79573D7ABBE9}"/>
                </a:ext>
              </a:extLst>
            </p:cNvPr>
            <p:cNvSpPr txBox="1"/>
            <p:nvPr/>
          </p:nvSpPr>
          <p:spPr>
            <a:xfrm>
              <a:off x="7782805" y="4092176"/>
              <a:ext cx="40427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0B050"/>
                  </a:solidFill>
                  <a:effectLst/>
                  <a:uLnTx/>
                  <a:uFillTx/>
                  <a:latin typeface="等线" panose="020F0502020204030204"/>
                  <a:ea typeface="等线" panose="02010600030101010101" pitchFamily="2" charset="-122"/>
                  <a:cs typeface="+mn-cs"/>
                  <a:sym typeface="Symbol" panose="05050102010706020507" pitchFamily="18" charset="2"/>
                </a:rPr>
                <a:t></a:t>
              </a:r>
              <a:endParaRPr kumimoji="0" lang="zh-CN" altLang="en-US" sz="2400" b="1" i="0" u="none" strike="noStrike" kern="1200" cap="none" spc="0" normalizeH="0" baseline="0" noProof="0" dirty="0">
                <a:ln>
                  <a:noFill/>
                </a:ln>
                <a:solidFill>
                  <a:srgbClr val="00B050"/>
                </a:solidFill>
                <a:effectLst/>
                <a:uLnTx/>
                <a:uFillTx/>
                <a:latin typeface="等线" panose="020F0502020204030204"/>
                <a:ea typeface="等线" panose="02010600030101010101" pitchFamily="2" charset="-122"/>
                <a:cs typeface="+mn-cs"/>
              </a:endParaRPr>
            </a:p>
          </p:txBody>
        </p:sp>
      </p:grpSp>
      <p:grpSp>
        <p:nvGrpSpPr>
          <p:cNvPr id="63" name="组合 62">
            <a:extLst>
              <a:ext uri="{FF2B5EF4-FFF2-40B4-BE49-F238E27FC236}">
                <a16:creationId xmlns:a16="http://schemas.microsoft.com/office/drawing/2014/main" id="{635E9E52-09ED-4128-BDE9-9E41F66AA0A0}"/>
              </a:ext>
            </a:extLst>
          </p:cNvPr>
          <p:cNvGrpSpPr/>
          <p:nvPr/>
        </p:nvGrpSpPr>
        <p:grpSpPr>
          <a:xfrm>
            <a:off x="11082755" y="4090940"/>
            <a:ext cx="568759" cy="925819"/>
            <a:chOff x="11082755" y="4090940"/>
            <a:chExt cx="568759" cy="925819"/>
          </a:xfrm>
        </p:grpSpPr>
        <p:sp>
          <p:nvSpPr>
            <p:cNvPr id="12" name="椭圆 11">
              <a:extLst>
                <a:ext uri="{FF2B5EF4-FFF2-40B4-BE49-F238E27FC236}">
                  <a16:creationId xmlns:a16="http://schemas.microsoft.com/office/drawing/2014/main" id="{C8D791AB-79FC-4C28-86CE-B475EE34221D}"/>
                </a:ext>
              </a:extLst>
            </p:cNvPr>
            <p:cNvSpPr/>
            <p:nvPr/>
          </p:nvSpPr>
          <p:spPr>
            <a:xfrm>
              <a:off x="11082755" y="4469116"/>
              <a:ext cx="568759" cy="547643"/>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dirty="0">
                <a:ln>
                  <a:noFill/>
                </a:ln>
                <a:solidFill>
                  <a:srgbClr val="70AD47">
                    <a:lumMod val="50000"/>
                  </a:srgbClr>
                </a:solidFill>
                <a:effectLst/>
                <a:uLnTx/>
                <a:uFillTx/>
                <a:latin typeface="等线" panose="020F0502020204030204"/>
                <a:ea typeface="等线" panose="02010600030101010101" pitchFamily="2" charset="-122"/>
                <a:cs typeface="+mn-cs"/>
              </a:endParaRPr>
            </a:p>
          </p:txBody>
        </p:sp>
        <p:sp>
          <p:nvSpPr>
            <p:cNvPr id="45" name="文本框 44">
              <a:extLst>
                <a:ext uri="{FF2B5EF4-FFF2-40B4-BE49-F238E27FC236}">
                  <a16:creationId xmlns:a16="http://schemas.microsoft.com/office/drawing/2014/main" id="{C3A0648A-4D9E-48A0-8B35-C76DA9976A34}"/>
                </a:ext>
              </a:extLst>
            </p:cNvPr>
            <p:cNvSpPr txBox="1"/>
            <p:nvPr/>
          </p:nvSpPr>
          <p:spPr>
            <a:xfrm>
              <a:off x="11084469" y="4090940"/>
              <a:ext cx="561372"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DC</a:t>
              </a:r>
              <a:endParaRPr kumimoji="0" lang="zh-CN" altLang="en-US" sz="2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50" name="文本框 49">
              <a:extLst>
                <a:ext uri="{FF2B5EF4-FFF2-40B4-BE49-F238E27FC236}">
                  <a16:creationId xmlns:a16="http://schemas.microsoft.com/office/drawing/2014/main" id="{C3A63E73-87D0-4772-83EC-F2606672C3E0}"/>
                </a:ext>
              </a:extLst>
            </p:cNvPr>
            <p:cNvSpPr txBox="1"/>
            <p:nvPr/>
          </p:nvSpPr>
          <p:spPr>
            <a:xfrm>
              <a:off x="11169504" y="4521827"/>
              <a:ext cx="40427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0B050"/>
                  </a:solidFill>
                  <a:effectLst/>
                  <a:uLnTx/>
                  <a:uFillTx/>
                  <a:latin typeface="等线" panose="020F0502020204030204"/>
                  <a:ea typeface="等线" panose="02010600030101010101" pitchFamily="2" charset="-122"/>
                  <a:cs typeface="+mn-cs"/>
                  <a:sym typeface="Symbol" panose="05050102010706020507" pitchFamily="18" charset="2"/>
                </a:rPr>
                <a:t></a:t>
              </a:r>
              <a:endParaRPr kumimoji="0" lang="zh-CN" altLang="en-US" sz="2400" b="1" i="0" u="none" strike="noStrike" kern="1200" cap="none" spc="0" normalizeH="0" baseline="0" noProof="0" dirty="0">
                <a:ln>
                  <a:noFill/>
                </a:ln>
                <a:solidFill>
                  <a:srgbClr val="00B050"/>
                </a:solidFill>
                <a:effectLst/>
                <a:uLnTx/>
                <a:uFillTx/>
                <a:latin typeface="等线" panose="020F0502020204030204"/>
                <a:ea typeface="等线" panose="02010600030101010101" pitchFamily="2" charset="-122"/>
                <a:cs typeface="+mn-cs"/>
              </a:endParaRPr>
            </a:p>
          </p:txBody>
        </p:sp>
      </p:grpSp>
      <p:grpSp>
        <p:nvGrpSpPr>
          <p:cNvPr id="64" name="组合 63">
            <a:extLst>
              <a:ext uri="{FF2B5EF4-FFF2-40B4-BE49-F238E27FC236}">
                <a16:creationId xmlns:a16="http://schemas.microsoft.com/office/drawing/2014/main" id="{20073225-89E0-46FB-98CA-5B5D7F2E9DB1}"/>
              </a:ext>
            </a:extLst>
          </p:cNvPr>
          <p:cNvGrpSpPr/>
          <p:nvPr/>
        </p:nvGrpSpPr>
        <p:grpSpPr>
          <a:xfrm>
            <a:off x="10937943" y="5260886"/>
            <a:ext cx="568759" cy="907928"/>
            <a:chOff x="10937943" y="5260886"/>
            <a:chExt cx="568759" cy="907928"/>
          </a:xfrm>
        </p:grpSpPr>
        <p:sp>
          <p:nvSpPr>
            <p:cNvPr id="13" name="椭圆 12">
              <a:extLst>
                <a:ext uri="{FF2B5EF4-FFF2-40B4-BE49-F238E27FC236}">
                  <a16:creationId xmlns:a16="http://schemas.microsoft.com/office/drawing/2014/main" id="{56885CC6-DDEA-45B5-970E-D02A7680435C}"/>
                </a:ext>
              </a:extLst>
            </p:cNvPr>
            <p:cNvSpPr/>
            <p:nvPr/>
          </p:nvSpPr>
          <p:spPr>
            <a:xfrm>
              <a:off x="10937943" y="5260886"/>
              <a:ext cx="568759" cy="547643"/>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dirty="0">
                <a:ln>
                  <a:noFill/>
                </a:ln>
                <a:solidFill>
                  <a:srgbClr val="70AD47">
                    <a:lumMod val="50000"/>
                  </a:srgbClr>
                </a:solidFill>
                <a:effectLst/>
                <a:uLnTx/>
                <a:uFillTx/>
                <a:latin typeface="等线" panose="020F0502020204030204"/>
                <a:ea typeface="等线" panose="02010600030101010101" pitchFamily="2" charset="-122"/>
                <a:cs typeface="+mn-cs"/>
              </a:endParaRPr>
            </a:p>
          </p:txBody>
        </p:sp>
        <p:sp>
          <p:nvSpPr>
            <p:cNvPr id="44" name="文本框 43">
              <a:extLst>
                <a:ext uri="{FF2B5EF4-FFF2-40B4-BE49-F238E27FC236}">
                  <a16:creationId xmlns:a16="http://schemas.microsoft.com/office/drawing/2014/main" id="{0CAE30CA-26C8-4F13-B4E9-879AC87CF492}"/>
                </a:ext>
              </a:extLst>
            </p:cNvPr>
            <p:cNvSpPr txBox="1"/>
            <p:nvPr/>
          </p:nvSpPr>
          <p:spPr>
            <a:xfrm>
              <a:off x="10950209" y="5737927"/>
              <a:ext cx="532518"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ED</a:t>
              </a:r>
              <a:endParaRPr kumimoji="0" lang="zh-CN" altLang="en-US" sz="2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51" name="文本框 50">
              <a:extLst>
                <a:ext uri="{FF2B5EF4-FFF2-40B4-BE49-F238E27FC236}">
                  <a16:creationId xmlns:a16="http://schemas.microsoft.com/office/drawing/2014/main" id="{C1A24BAE-F732-405B-95DE-852EA390D5AE}"/>
                </a:ext>
              </a:extLst>
            </p:cNvPr>
            <p:cNvSpPr txBox="1"/>
            <p:nvPr/>
          </p:nvSpPr>
          <p:spPr>
            <a:xfrm>
              <a:off x="11020231" y="5330015"/>
              <a:ext cx="40427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0B050"/>
                  </a:solidFill>
                  <a:effectLst/>
                  <a:uLnTx/>
                  <a:uFillTx/>
                  <a:latin typeface="等线" panose="020F0502020204030204"/>
                  <a:ea typeface="等线" panose="02010600030101010101" pitchFamily="2" charset="-122"/>
                  <a:cs typeface="+mn-cs"/>
                  <a:sym typeface="Symbol" panose="05050102010706020507" pitchFamily="18" charset="2"/>
                </a:rPr>
                <a:t></a:t>
              </a:r>
              <a:endParaRPr kumimoji="0" lang="zh-CN" altLang="en-US" sz="2400" b="1" i="0" u="none" strike="noStrike" kern="1200" cap="none" spc="0" normalizeH="0" baseline="0" noProof="0" dirty="0">
                <a:ln>
                  <a:noFill/>
                </a:ln>
                <a:solidFill>
                  <a:srgbClr val="00B050"/>
                </a:solidFill>
                <a:effectLst/>
                <a:uLnTx/>
                <a:uFillTx/>
                <a:latin typeface="等线" panose="020F0502020204030204"/>
                <a:ea typeface="等线" panose="02010600030101010101" pitchFamily="2" charset="-122"/>
                <a:cs typeface="+mn-cs"/>
              </a:endParaRPr>
            </a:p>
          </p:txBody>
        </p:sp>
      </p:grpSp>
      <p:grpSp>
        <p:nvGrpSpPr>
          <p:cNvPr id="66" name="组合 65">
            <a:extLst>
              <a:ext uri="{FF2B5EF4-FFF2-40B4-BE49-F238E27FC236}">
                <a16:creationId xmlns:a16="http://schemas.microsoft.com/office/drawing/2014/main" id="{ACA677D1-7801-4681-821A-0915A81EABFC}"/>
              </a:ext>
            </a:extLst>
          </p:cNvPr>
          <p:cNvGrpSpPr/>
          <p:nvPr/>
        </p:nvGrpSpPr>
        <p:grpSpPr>
          <a:xfrm>
            <a:off x="8982867" y="3721097"/>
            <a:ext cx="615309" cy="867885"/>
            <a:chOff x="8982867" y="3721097"/>
            <a:chExt cx="615309" cy="867885"/>
          </a:xfrm>
        </p:grpSpPr>
        <p:sp>
          <p:nvSpPr>
            <p:cNvPr id="26" name="椭圆 25">
              <a:extLst>
                <a:ext uri="{FF2B5EF4-FFF2-40B4-BE49-F238E27FC236}">
                  <a16:creationId xmlns:a16="http://schemas.microsoft.com/office/drawing/2014/main" id="{5ED6B91D-F6F1-4CD4-A083-4695567B0506}"/>
                </a:ext>
              </a:extLst>
            </p:cNvPr>
            <p:cNvSpPr/>
            <p:nvPr/>
          </p:nvSpPr>
          <p:spPr>
            <a:xfrm>
              <a:off x="8982867" y="4041339"/>
              <a:ext cx="568759" cy="547643"/>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dirty="0">
                <a:ln>
                  <a:noFill/>
                </a:ln>
                <a:solidFill>
                  <a:srgbClr val="70AD47">
                    <a:lumMod val="50000"/>
                  </a:srgbClr>
                </a:solidFill>
                <a:effectLst/>
                <a:uLnTx/>
                <a:uFillTx/>
                <a:latin typeface="等线" panose="020F0502020204030204"/>
                <a:ea typeface="等线" panose="02010600030101010101" pitchFamily="2" charset="-122"/>
                <a:cs typeface="+mn-cs"/>
              </a:endParaRPr>
            </a:p>
          </p:txBody>
        </p:sp>
        <p:sp>
          <p:nvSpPr>
            <p:cNvPr id="33" name="文本框 32">
              <a:extLst>
                <a:ext uri="{FF2B5EF4-FFF2-40B4-BE49-F238E27FC236}">
                  <a16:creationId xmlns:a16="http://schemas.microsoft.com/office/drawing/2014/main" id="{9561D18E-80F3-4207-BAF6-3E03D0E94FB9}"/>
                </a:ext>
              </a:extLst>
            </p:cNvPr>
            <p:cNvSpPr txBox="1"/>
            <p:nvPr/>
          </p:nvSpPr>
          <p:spPr>
            <a:xfrm>
              <a:off x="9068864" y="3721097"/>
              <a:ext cx="529312"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BC</a:t>
              </a:r>
              <a:endParaRPr kumimoji="0" lang="zh-CN" altLang="en-US" sz="2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52" name="文本框 51">
              <a:extLst>
                <a:ext uri="{FF2B5EF4-FFF2-40B4-BE49-F238E27FC236}">
                  <a16:creationId xmlns:a16="http://schemas.microsoft.com/office/drawing/2014/main" id="{49B5AC36-3313-401D-97AF-ED7CB0208956}"/>
                </a:ext>
              </a:extLst>
            </p:cNvPr>
            <p:cNvSpPr txBox="1"/>
            <p:nvPr/>
          </p:nvSpPr>
          <p:spPr>
            <a:xfrm>
              <a:off x="9095604" y="4056947"/>
              <a:ext cx="35618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2</a:t>
              </a:r>
              <a:endParaRPr kumimoji="0" lang="zh-CN" altLang="en-US" sz="24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67" name="组合 66">
            <a:extLst>
              <a:ext uri="{FF2B5EF4-FFF2-40B4-BE49-F238E27FC236}">
                <a16:creationId xmlns:a16="http://schemas.microsoft.com/office/drawing/2014/main" id="{D95AD825-8B19-4375-8646-46059D9348DC}"/>
              </a:ext>
            </a:extLst>
          </p:cNvPr>
          <p:cNvGrpSpPr/>
          <p:nvPr/>
        </p:nvGrpSpPr>
        <p:grpSpPr>
          <a:xfrm>
            <a:off x="10175200" y="3710771"/>
            <a:ext cx="582357" cy="878211"/>
            <a:chOff x="10175200" y="3710771"/>
            <a:chExt cx="582357" cy="878211"/>
          </a:xfrm>
        </p:grpSpPr>
        <p:sp>
          <p:nvSpPr>
            <p:cNvPr id="27" name="椭圆 26">
              <a:extLst>
                <a:ext uri="{FF2B5EF4-FFF2-40B4-BE49-F238E27FC236}">
                  <a16:creationId xmlns:a16="http://schemas.microsoft.com/office/drawing/2014/main" id="{9CA11154-4658-4550-A073-CC921CDECE58}"/>
                </a:ext>
              </a:extLst>
            </p:cNvPr>
            <p:cNvSpPr/>
            <p:nvPr/>
          </p:nvSpPr>
          <p:spPr>
            <a:xfrm>
              <a:off x="10175200" y="4041339"/>
              <a:ext cx="568759" cy="547643"/>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dirty="0">
                <a:ln>
                  <a:noFill/>
                </a:ln>
                <a:solidFill>
                  <a:srgbClr val="70AD47">
                    <a:lumMod val="50000"/>
                  </a:srgbClr>
                </a:solidFill>
                <a:effectLst/>
                <a:uLnTx/>
                <a:uFillTx/>
                <a:latin typeface="等线" panose="020F0502020204030204"/>
                <a:ea typeface="等线" panose="02010600030101010101" pitchFamily="2" charset="-122"/>
                <a:cs typeface="+mn-cs"/>
              </a:endParaRPr>
            </a:p>
          </p:txBody>
        </p:sp>
        <p:sp>
          <p:nvSpPr>
            <p:cNvPr id="37" name="文本框 36">
              <a:extLst>
                <a:ext uri="{FF2B5EF4-FFF2-40B4-BE49-F238E27FC236}">
                  <a16:creationId xmlns:a16="http://schemas.microsoft.com/office/drawing/2014/main" id="{AC728207-9892-4524-B7FA-DD425A45040E}"/>
                </a:ext>
              </a:extLst>
            </p:cNvPr>
            <p:cNvSpPr txBox="1"/>
            <p:nvPr/>
          </p:nvSpPr>
          <p:spPr>
            <a:xfrm>
              <a:off x="10200994" y="3710771"/>
              <a:ext cx="556563"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BD</a:t>
              </a:r>
              <a:endParaRPr kumimoji="0" lang="zh-CN" altLang="en-US" sz="2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53" name="文本框 52">
              <a:extLst>
                <a:ext uri="{FF2B5EF4-FFF2-40B4-BE49-F238E27FC236}">
                  <a16:creationId xmlns:a16="http://schemas.microsoft.com/office/drawing/2014/main" id="{4D375B7F-89CE-46BD-976F-90E6CA07EF4C}"/>
                </a:ext>
              </a:extLst>
            </p:cNvPr>
            <p:cNvSpPr txBox="1"/>
            <p:nvPr/>
          </p:nvSpPr>
          <p:spPr>
            <a:xfrm>
              <a:off x="10294859" y="4083587"/>
              <a:ext cx="35618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2</a:t>
              </a:r>
              <a:endParaRPr kumimoji="0" lang="zh-CN" altLang="en-US" sz="24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68" name="组合 67">
            <a:extLst>
              <a:ext uri="{FF2B5EF4-FFF2-40B4-BE49-F238E27FC236}">
                <a16:creationId xmlns:a16="http://schemas.microsoft.com/office/drawing/2014/main" id="{AA0B3D3D-5669-4F37-A092-7716C7E7C76A}"/>
              </a:ext>
            </a:extLst>
          </p:cNvPr>
          <p:cNvGrpSpPr/>
          <p:nvPr/>
        </p:nvGrpSpPr>
        <p:grpSpPr>
          <a:xfrm>
            <a:off x="8182386" y="4532268"/>
            <a:ext cx="786644" cy="870791"/>
            <a:chOff x="8182386" y="4532268"/>
            <a:chExt cx="786644" cy="870791"/>
          </a:xfrm>
        </p:grpSpPr>
        <p:sp>
          <p:nvSpPr>
            <p:cNvPr id="29" name="椭圆 28">
              <a:extLst>
                <a:ext uri="{FF2B5EF4-FFF2-40B4-BE49-F238E27FC236}">
                  <a16:creationId xmlns:a16="http://schemas.microsoft.com/office/drawing/2014/main" id="{59A1A6EB-D5E7-4D88-99DE-34F7C75DB98F}"/>
                </a:ext>
              </a:extLst>
            </p:cNvPr>
            <p:cNvSpPr/>
            <p:nvPr/>
          </p:nvSpPr>
          <p:spPr>
            <a:xfrm>
              <a:off x="8400271" y="4855416"/>
              <a:ext cx="568759" cy="547643"/>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dirty="0">
                <a:ln>
                  <a:noFill/>
                </a:ln>
                <a:solidFill>
                  <a:srgbClr val="70AD47">
                    <a:lumMod val="50000"/>
                  </a:srgbClr>
                </a:solidFill>
                <a:effectLst/>
                <a:uLnTx/>
                <a:uFillTx/>
                <a:latin typeface="等线" panose="020F0502020204030204"/>
                <a:ea typeface="等线" panose="02010600030101010101" pitchFamily="2" charset="-122"/>
                <a:cs typeface="+mn-cs"/>
              </a:endParaRPr>
            </a:p>
          </p:txBody>
        </p:sp>
        <p:sp>
          <p:nvSpPr>
            <p:cNvPr id="34" name="文本框 33">
              <a:extLst>
                <a:ext uri="{FF2B5EF4-FFF2-40B4-BE49-F238E27FC236}">
                  <a16:creationId xmlns:a16="http://schemas.microsoft.com/office/drawing/2014/main" id="{9F826453-2DA4-4921-9FD5-E9C33A114D34}"/>
                </a:ext>
              </a:extLst>
            </p:cNvPr>
            <p:cNvSpPr txBox="1"/>
            <p:nvPr/>
          </p:nvSpPr>
          <p:spPr>
            <a:xfrm>
              <a:off x="8182386" y="4532268"/>
              <a:ext cx="575799"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DA</a:t>
              </a:r>
              <a:endParaRPr kumimoji="0" lang="zh-CN" altLang="en-US" sz="2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55" name="文本框 54">
              <a:extLst>
                <a:ext uri="{FF2B5EF4-FFF2-40B4-BE49-F238E27FC236}">
                  <a16:creationId xmlns:a16="http://schemas.microsoft.com/office/drawing/2014/main" id="{1E35D09E-E6D7-4D09-B991-2000C6654425}"/>
                </a:ext>
              </a:extLst>
            </p:cNvPr>
            <p:cNvSpPr txBox="1"/>
            <p:nvPr/>
          </p:nvSpPr>
          <p:spPr>
            <a:xfrm>
              <a:off x="8515564" y="4898305"/>
              <a:ext cx="35618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3</a:t>
              </a:r>
              <a:endParaRPr kumimoji="0" lang="zh-CN" altLang="en-US" sz="24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69" name="组合 68">
            <a:extLst>
              <a:ext uri="{FF2B5EF4-FFF2-40B4-BE49-F238E27FC236}">
                <a16:creationId xmlns:a16="http://schemas.microsoft.com/office/drawing/2014/main" id="{EC57B735-0693-4C1F-B3F6-2F1F0625681B}"/>
              </a:ext>
            </a:extLst>
          </p:cNvPr>
          <p:cNvGrpSpPr/>
          <p:nvPr/>
        </p:nvGrpSpPr>
        <p:grpSpPr>
          <a:xfrm>
            <a:off x="9551625" y="4603938"/>
            <a:ext cx="795564" cy="859941"/>
            <a:chOff x="9551625" y="4603938"/>
            <a:chExt cx="795564" cy="859941"/>
          </a:xfrm>
        </p:grpSpPr>
        <p:sp>
          <p:nvSpPr>
            <p:cNvPr id="30" name="椭圆 29">
              <a:extLst>
                <a:ext uri="{FF2B5EF4-FFF2-40B4-BE49-F238E27FC236}">
                  <a16:creationId xmlns:a16="http://schemas.microsoft.com/office/drawing/2014/main" id="{56E406B8-3649-4166-AAF6-3726CCB317C2}"/>
                </a:ext>
              </a:extLst>
            </p:cNvPr>
            <p:cNvSpPr/>
            <p:nvPr/>
          </p:nvSpPr>
          <p:spPr>
            <a:xfrm>
              <a:off x="9551625" y="4916236"/>
              <a:ext cx="568759" cy="547643"/>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dirty="0">
                <a:ln>
                  <a:noFill/>
                </a:ln>
                <a:solidFill>
                  <a:srgbClr val="70AD47">
                    <a:lumMod val="50000"/>
                  </a:srgbClr>
                </a:solidFill>
                <a:effectLst/>
                <a:uLnTx/>
                <a:uFillTx/>
                <a:latin typeface="等线" panose="020F0502020204030204"/>
                <a:ea typeface="等线" panose="02010600030101010101" pitchFamily="2" charset="-122"/>
                <a:cs typeface="+mn-cs"/>
              </a:endParaRPr>
            </a:p>
          </p:txBody>
        </p:sp>
        <p:sp>
          <p:nvSpPr>
            <p:cNvPr id="36" name="文本框 35">
              <a:extLst>
                <a:ext uri="{FF2B5EF4-FFF2-40B4-BE49-F238E27FC236}">
                  <a16:creationId xmlns:a16="http://schemas.microsoft.com/office/drawing/2014/main" id="{EB2AA688-0360-4ABC-A452-BC76EA94B0C6}"/>
                </a:ext>
              </a:extLst>
            </p:cNvPr>
            <p:cNvSpPr txBox="1"/>
            <p:nvPr/>
          </p:nvSpPr>
          <p:spPr>
            <a:xfrm>
              <a:off x="9790626" y="4603938"/>
              <a:ext cx="556563"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DB</a:t>
              </a:r>
              <a:endParaRPr kumimoji="0" lang="zh-CN" altLang="en-US" sz="2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56" name="文本框 55">
              <a:extLst>
                <a:ext uri="{FF2B5EF4-FFF2-40B4-BE49-F238E27FC236}">
                  <a16:creationId xmlns:a16="http://schemas.microsoft.com/office/drawing/2014/main" id="{40DDCA6B-B473-43B0-BA43-5E5D162569C5}"/>
                </a:ext>
              </a:extLst>
            </p:cNvPr>
            <p:cNvSpPr txBox="1"/>
            <p:nvPr/>
          </p:nvSpPr>
          <p:spPr>
            <a:xfrm>
              <a:off x="9663886" y="4963297"/>
              <a:ext cx="35618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3</a:t>
              </a:r>
              <a:endParaRPr kumimoji="0" lang="zh-CN" altLang="en-US" sz="24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70" name="组合 69">
            <a:extLst>
              <a:ext uri="{FF2B5EF4-FFF2-40B4-BE49-F238E27FC236}">
                <a16:creationId xmlns:a16="http://schemas.microsoft.com/office/drawing/2014/main" id="{DCAB7F13-0C95-43BC-9C47-EE4FEE08F488}"/>
              </a:ext>
            </a:extLst>
          </p:cNvPr>
          <p:cNvGrpSpPr/>
          <p:nvPr/>
        </p:nvGrpSpPr>
        <p:grpSpPr>
          <a:xfrm>
            <a:off x="8945149" y="5818636"/>
            <a:ext cx="568759" cy="917223"/>
            <a:chOff x="8945149" y="5818636"/>
            <a:chExt cx="568759" cy="917223"/>
          </a:xfrm>
        </p:grpSpPr>
        <p:sp>
          <p:nvSpPr>
            <p:cNvPr id="31" name="椭圆 30">
              <a:extLst>
                <a:ext uri="{FF2B5EF4-FFF2-40B4-BE49-F238E27FC236}">
                  <a16:creationId xmlns:a16="http://schemas.microsoft.com/office/drawing/2014/main" id="{1DDFF65D-30B6-41C5-9D57-6DF5960D67B7}"/>
                </a:ext>
              </a:extLst>
            </p:cNvPr>
            <p:cNvSpPr/>
            <p:nvPr/>
          </p:nvSpPr>
          <p:spPr>
            <a:xfrm>
              <a:off x="8945149" y="5818636"/>
              <a:ext cx="568759" cy="547643"/>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dirty="0">
                <a:ln>
                  <a:noFill/>
                </a:ln>
                <a:solidFill>
                  <a:srgbClr val="70AD47">
                    <a:lumMod val="50000"/>
                  </a:srgbClr>
                </a:solidFill>
                <a:effectLst/>
                <a:uLnTx/>
                <a:uFillTx/>
                <a:latin typeface="等线" panose="020F0502020204030204"/>
                <a:ea typeface="等线" panose="02010600030101010101" pitchFamily="2" charset="-122"/>
                <a:cs typeface="+mn-cs"/>
              </a:endParaRPr>
            </a:p>
          </p:txBody>
        </p:sp>
        <p:sp>
          <p:nvSpPr>
            <p:cNvPr id="42" name="文本框 41">
              <a:extLst>
                <a:ext uri="{FF2B5EF4-FFF2-40B4-BE49-F238E27FC236}">
                  <a16:creationId xmlns:a16="http://schemas.microsoft.com/office/drawing/2014/main" id="{8920AF49-0087-463E-99EE-8378E6DBB24E}"/>
                </a:ext>
              </a:extLst>
            </p:cNvPr>
            <p:cNvSpPr txBox="1"/>
            <p:nvPr/>
          </p:nvSpPr>
          <p:spPr>
            <a:xfrm>
              <a:off x="8948473" y="6304972"/>
              <a:ext cx="500458"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EB</a:t>
              </a:r>
              <a:endParaRPr kumimoji="0" lang="zh-CN" altLang="en-US" sz="2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57" name="文本框 56">
              <a:extLst>
                <a:ext uri="{FF2B5EF4-FFF2-40B4-BE49-F238E27FC236}">
                  <a16:creationId xmlns:a16="http://schemas.microsoft.com/office/drawing/2014/main" id="{EEA145AB-76BB-46E5-B565-822AEB5DA0A9}"/>
                </a:ext>
              </a:extLst>
            </p:cNvPr>
            <p:cNvSpPr txBox="1"/>
            <p:nvPr/>
          </p:nvSpPr>
          <p:spPr>
            <a:xfrm>
              <a:off x="9055549" y="5863834"/>
              <a:ext cx="35618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4</a:t>
              </a:r>
              <a:endParaRPr kumimoji="0" lang="zh-CN" altLang="en-US" sz="24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71" name="组合 70">
            <a:extLst>
              <a:ext uri="{FF2B5EF4-FFF2-40B4-BE49-F238E27FC236}">
                <a16:creationId xmlns:a16="http://schemas.microsoft.com/office/drawing/2014/main" id="{1E6C4F01-DF14-4485-A892-A0C99E5D4A46}"/>
              </a:ext>
            </a:extLst>
          </p:cNvPr>
          <p:cNvGrpSpPr/>
          <p:nvPr/>
        </p:nvGrpSpPr>
        <p:grpSpPr>
          <a:xfrm>
            <a:off x="10136020" y="5806355"/>
            <a:ext cx="568759" cy="907928"/>
            <a:chOff x="10136020" y="5806355"/>
            <a:chExt cx="568759" cy="907928"/>
          </a:xfrm>
        </p:grpSpPr>
        <p:sp>
          <p:nvSpPr>
            <p:cNvPr id="32" name="椭圆 31">
              <a:extLst>
                <a:ext uri="{FF2B5EF4-FFF2-40B4-BE49-F238E27FC236}">
                  <a16:creationId xmlns:a16="http://schemas.microsoft.com/office/drawing/2014/main" id="{16563C65-792B-40CA-932F-71C66D6B7854}"/>
                </a:ext>
              </a:extLst>
            </p:cNvPr>
            <p:cNvSpPr/>
            <p:nvPr/>
          </p:nvSpPr>
          <p:spPr>
            <a:xfrm>
              <a:off x="10136020" y="5806355"/>
              <a:ext cx="568759" cy="547643"/>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dirty="0">
                <a:ln>
                  <a:noFill/>
                </a:ln>
                <a:solidFill>
                  <a:srgbClr val="70AD47">
                    <a:lumMod val="50000"/>
                  </a:srgbClr>
                </a:solidFill>
                <a:effectLst/>
                <a:uLnTx/>
                <a:uFillTx/>
                <a:latin typeface="等线" panose="020F0502020204030204"/>
                <a:ea typeface="等线" panose="02010600030101010101" pitchFamily="2" charset="-122"/>
                <a:cs typeface="+mn-cs"/>
              </a:endParaRPr>
            </a:p>
          </p:txBody>
        </p:sp>
        <p:sp>
          <p:nvSpPr>
            <p:cNvPr id="43" name="文本框 42">
              <a:extLst>
                <a:ext uri="{FF2B5EF4-FFF2-40B4-BE49-F238E27FC236}">
                  <a16:creationId xmlns:a16="http://schemas.microsoft.com/office/drawing/2014/main" id="{C03EA096-4653-49AA-84C3-63638DA19B33}"/>
                </a:ext>
              </a:extLst>
            </p:cNvPr>
            <p:cNvSpPr txBox="1"/>
            <p:nvPr/>
          </p:nvSpPr>
          <p:spPr>
            <a:xfrm>
              <a:off x="10170167" y="6283396"/>
              <a:ext cx="505267"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EC</a:t>
              </a:r>
              <a:endParaRPr kumimoji="0" lang="zh-CN" altLang="en-US" sz="2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58" name="文本框 57">
              <a:extLst>
                <a:ext uri="{FF2B5EF4-FFF2-40B4-BE49-F238E27FC236}">
                  <a16:creationId xmlns:a16="http://schemas.microsoft.com/office/drawing/2014/main" id="{2466AC10-8AE6-4792-84B7-B57118E345DC}"/>
                </a:ext>
              </a:extLst>
            </p:cNvPr>
            <p:cNvSpPr txBox="1"/>
            <p:nvPr/>
          </p:nvSpPr>
          <p:spPr>
            <a:xfrm>
              <a:off x="10244706" y="5848731"/>
              <a:ext cx="35618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4</a:t>
              </a:r>
              <a:endParaRPr kumimoji="0" lang="zh-CN" altLang="en-US" sz="24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grpSp>
      <p:sp>
        <p:nvSpPr>
          <p:cNvPr id="54" name="文本框 53">
            <a:extLst>
              <a:ext uri="{FF2B5EF4-FFF2-40B4-BE49-F238E27FC236}">
                <a16:creationId xmlns:a16="http://schemas.microsoft.com/office/drawing/2014/main" id="{CCDC323A-7458-49FC-A1F3-DED67BCC587A}"/>
              </a:ext>
            </a:extLst>
          </p:cNvPr>
          <p:cNvSpPr txBox="1"/>
          <p:nvPr/>
        </p:nvSpPr>
        <p:spPr>
          <a:xfrm>
            <a:off x="732947" y="321855"/>
            <a:ext cx="9918100" cy="2065309"/>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五叉路口交通线路通行分组操作：</a:t>
            </a:r>
            <a:endPar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p>
            <a:pPr marL="342900" marR="0" lvl="0" indent="-342900" algn="l" defTabSz="914400" rtl="0" eaLnBrk="1" fontAlgn="auto" latinLnBrk="0" hangingPunct="1">
              <a:lnSpc>
                <a:spcPct val="120000"/>
              </a:lnSpc>
              <a:spcBef>
                <a:spcPts val="0"/>
              </a:spcBef>
              <a:spcAft>
                <a:spcPts val="0"/>
              </a:spcAft>
              <a:buClrTx/>
              <a:buSzTx/>
              <a:buFontTx/>
              <a:buAutoNum type="arabicPeriod"/>
              <a:tabLst/>
              <a:defRPr/>
            </a:pP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三个孤立顶点（右转线路）不受灯控限制，确认后移除</a:t>
            </a:r>
            <a:endPar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p>
            <a:pPr marL="342900" marR="0" lvl="0" indent="-342900" algn="l" defTabSz="914400" rtl="0" eaLnBrk="1" fontAlgn="auto" latinLnBrk="0" hangingPunct="1">
              <a:lnSpc>
                <a:spcPct val="120000"/>
              </a:lnSpc>
              <a:spcBef>
                <a:spcPts val="0"/>
              </a:spcBef>
              <a:spcAft>
                <a:spcPts val="0"/>
              </a:spcAft>
              <a:buClrTx/>
              <a:buSzTx/>
              <a:buFontTx/>
              <a:buAutoNum type="arabicPeriod"/>
              <a:tabLst/>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AB</a:t>
            </a: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AC</a:t>
            </a: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AD3</a:t>
            </a: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个顶点染颜色</a:t>
            </a: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1</a:t>
            </a: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，被移除及其相关边</a:t>
            </a:r>
            <a:endPar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p>
            <a:pPr marL="342900" marR="0" lvl="0" indent="-342900" algn="l" defTabSz="914400" rtl="0" eaLnBrk="1" fontAlgn="auto" latinLnBrk="0" hangingPunct="1">
              <a:lnSpc>
                <a:spcPct val="120000"/>
              </a:lnSpc>
              <a:spcBef>
                <a:spcPts val="0"/>
              </a:spcBef>
              <a:spcAft>
                <a:spcPts val="0"/>
              </a:spcAft>
              <a:buClrTx/>
              <a:buSzTx/>
              <a:buFontTx/>
              <a:buAutoNum type="arabicPeriod"/>
              <a:tabLst/>
              <a:defRPr/>
            </a:pP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现在</a:t>
            </a: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EA</a:t>
            </a: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成为孤立点，即它除了颜色</a:t>
            </a: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1</a:t>
            </a: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组外，与其他线路不冲突，在其他灯色时可通行，移除；</a:t>
            </a:r>
            <a:endPar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p>
            <a:pPr marL="342900" marR="0" lvl="0" indent="-342900" algn="l" defTabSz="914400" rtl="0" eaLnBrk="1" fontAlgn="auto" latinLnBrk="0" hangingPunct="1">
              <a:lnSpc>
                <a:spcPct val="120000"/>
              </a:lnSpc>
              <a:spcBef>
                <a:spcPts val="0"/>
              </a:spcBef>
              <a:spcAft>
                <a:spcPts val="0"/>
              </a:spcAft>
              <a:buClrTx/>
              <a:buSzTx/>
              <a:buFontTx/>
              <a:buAutoNum type="arabicPeriod"/>
              <a:tabLst/>
              <a:defRPr/>
            </a:pP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余下</a:t>
            </a: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6</a:t>
            </a: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个顶点可两两一组，划分为</a:t>
            </a: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3</a:t>
            </a: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组，对应颜色</a:t>
            </a: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2</a:t>
            </a: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3</a:t>
            </a: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和</a:t>
            </a: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4</a:t>
            </a: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endPar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交通灯颜色及对应可通行线路如下图：</a:t>
            </a:r>
            <a:endPar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73" name="右大括号 72">
            <a:extLst>
              <a:ext uri="{FF2B5EF4-FFF2-40B4-BE49-F238E27FC236}">
                <a16:creationId xmlns:a16="http://schemas.microsoft.com/office/drawing/2014/main" id="{0ACF9B23-0220-45F0-8363-F1F5ACBFD547}"/>
              </a:ext>
            </a:extLst>
          </p:cNvPr>
          <p:cNvSpPr/>
          <p:nvPr/>
        </p:nvSpPr>
        <p:spPr>
          <a:xfrm flipH="1">
            <a:off x="2016785" y="2794937"/>
            <a:ext cx="555410" cy="3500630"/>
          </a:xfrm>
          <a:prstGeom prst="rightBrace">
            <a:avLst>
              <a:gd name="adj1" fmla="val 8333"/>
              <a:gd name="adj2" fmla="val 50960"/>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74" name="右大括号 73">
            <a:extLst>
              <a:ext uri="{FF2B5EF4-FFF2-40B4-BE49-F238E27FC236}">
                <a16:creationId xmlns:a16="http://schemas.microsoft.com/office/drawing/2014/main" id="{FAFC70DF-0732-4CA2-98A4-AB1467229BE5}"/>
              </a:ext>
            </a:extLst>
          </p:cNvPr>
          <p:cNvSpPr/>
          <p:nvPr/>
        </p:nvSpPr>
        <p:spPr>
          <a:xfrm>
            <a:off x="5235213" y="3765782"/>
            <a:ext cx="410136" cy="265249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75" name="任意多边形: 形状 74">
            <a:extLst>
              <a:ext uri="{FF2B5EF4-FFF2-40B4-BE49-F238E27FC236}">
                <a16:creationId xmlns:a16="http://schemas.microsoft.com/office/drawing/2014/main" id="{D8851D39-D0BF-581D-F476-30A556521F66}"/>
              </a:ext>
            </a:extLst>
          </p:cNvPr>
          <p:cNvSpPr/>
          <p:nvPr/>
        </p:nvSpPr>
        <p:spPr>
          <a:xfrm>
            <a:off x="9522542" y="3647768"/>
            <a:ext cx="1538748" cy="2433484"/>
          </a:xfrm>
          <a:custGeom>
            <a:avLst/>
            <a:gdLst>
              <a:gd name="connsiteX0" fmla="*/ 1538748 w 1538748"/>
              <a:gd name="connsiteY0" fmla="*/ 0 h 2433484"/>
              <a:gd name="connsiteX1" fmla="*/ 1268361 w 1538748"/>
              <a:gd name="connsiteY1" fmla="*/ 943897 h 2433484"/>
              <a:gd name="connsiteX2" fmla="*/ 1012723 w 1538748"/>
              <a:gd name="connsiteY2" fmla="*/ 1538748 h 2433484"/>
              <a:gd name="connsiteX3" fmla="*/ 693174 w 1538748"/>
              <a:gd name="connsiteY3" fmla="*/ 1966451 h 2433484"/>
              <a:gd name="connsiteX4" fmla="*/ 0 w 1538748"/>
              <a:gd name="connsiteY4" fmla="*/ 2433484 h 2433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8748" h="2433484">
                <a:moveTo>
                  <a:pt x="1538748" y="0"/>
                </a:moveTo>
                <a:cubicBezTo>
                  <a:pt x="1447390" y="343719"/>
                  <a:pt x="1356032" y="687439"/>
                  <a:pt x="1268361" y="943897"/>
                </a:cubicBezTo>
                <a:cubicBezTo>
                  <a:pt x="1180690" y="1200355"/>
                  <a:pt x="1108587" y="1368322"/>
                  <a:pt x="1012723" y="1538748"/>
                </a:cubicBezTo>
                <a:cubicBezTo>
                  <a:pt x="916859" y="1709174"/>
                  <a:pt x="861961" y="1817328"/>
                  <a:pt x="693174" y="1966451"/>
                </a:cubicBezTo>
                <a:cubicBezTo>
                  <a:pt x="524387" y="2115574"/>
                  <a:pt x="262193" y="2274529"/>
                  <a:pt x="0" y="2433484"/>
                </a:cubicBezTo>
              </a:path>
            </a:pathLst>
          </a:custGeom>
          <a:noFill/>
          <a:ln w="28575">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76" name="灯片编号占位符 75">
            <a:extLst>
              <a:ext uri="{FF2B5EF4-FFF2-40B4-BE49-F238E27FC236}">
                <a16:creationId xmlns:a16="http://schemas.microsoft.com/office/drawing/2014/main" id="{B1A494C4-4DB4-917B-77E8-781AC2C45DE5}"/>
              </a:ext>
            </a:extLst>
          </p:cNvPr>
          <p:cNvSpPr>
            <a:spLocks noGrp="1"/>
          </p:cNvSpPr>
          <p:nvPr>
            <p:ph type="sldNum" sz="quarter" idx="12"/>
          </p:nvPr>
        </p:nvSpPr>
        <p:spPr/>
        <p:txBody>
          <a:bodyPr/>
          <a:lstStyle/>
          <a:p>
            <a:fld id="{D7C0FE0B-717B-41AE-9FA2-CA4BF851D1C3}" type="slidenum">
              <a:rPr lang="zh-CN" altLang="en-US" smtClean="0"/>
              <a:t>28</a:t>
            </a:fld>
            <a:endParaRPr lang="zh-CN" altLang="en-US"/>
          </a:p>
        </p:txBody>
      </p:sp>
    </p:spTree>
    <p:extLst>
      <p:ext uri="{BB962C8B-B14F-4D97-AF65-F5344CB8AC3E}">
        <p14:creationId xmlns:p14="http://schemas.microsoft.com/office/powerpoint/2010/main" val="1983019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1"/>
                                        </p:tgtEl>
                                        <p:attrNameLst>
                                          <p:attrName>style.visibility</p:attrName>
                                        </p:attrNameLst>
                                      </p:cBhvr>
                                      <p:to>
                                        <p:strVal val="visible"/>
                                      </p:to>
                                    </p:set>
                                  </p:childTnLst>
                                </p:cTn>
                              </p:par>
                            </p:childTnLst>
                          </p:cTn>
                        </p:par>
                        <p:par>
                          <p:cTn id="31" fill="hold">
                            <p:stCondLst>
                              <p:cond delay="0"/>
                            </p:stCondLst>
                            <p:childTnLst>
                              <p:par>
                                <p:cTn id="32" presetID="22" presetClass="entr" presetSubtype="4" fill="hold" grpId="0" nodeType="afterEffect">
                                  <p:stCondLst>
                                    <p:cond delay="0"/>
                                  </p:stCondLst>
                                  <p:childTnLst>
                                    <p:set>
                                      <p:cBhvr>
                                        <p:cTn id="33" dur="1" fill="hold">
                                          <p:stCondLst>
                                            <p:cond delay="0"/>
                                          </p:stCondLst>
                                        </p:cTn>
                                        <p:tgtEl>
                                          <p:spTgt spid="75"/>
                                        </p:tgtEl>
                                        <p:attrNameLst>
                                          <p:attrName>style.visibility</p:attrName>
                                        </p:attrNameLst>
                                      </p:cBhvr>
                                      <p:to>
                                        <p:strVal val="visible"/>
                                      </p:to>
                                    </p:set>
                                    <p:animEffect transition="in" filter="wipe(down)">
                                      <p:cBhvr>
                                        <p:cTn id="34" dur="500"/>
                                        <p:tgtEl>
                                          <p:spTgt spid="75"/>
                                        </p:tgtEl>
                                      </p:cBhvr>
                                    </p:animEffect>
                                  </p:childTnLst>
                                </p:cTn>
                              </p:par>
                              <p:par>
                                <p:cTn id="35" presetID="22" presetClass="entr" presetSubtype="4" fill="hold" nodeType="with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wipe(down)">
                                      <p:cBhvr>
                                        <p:cTn id="37" dur="1000"/>
                                        <p:tgtEl>
                                          <p:spTgt spid="17"/>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wipe(down)">
                                      <p:cBhvr>
                                        <p:cTn id="40" dur="1000"/>
                                        <p:tgtEl>
                                          <p:spTgt spid="5"/>
                                        </p:tgtEl>
                                      </p:cBhvr>
                                    </p:animEffect>
                                  </p:childTnLst>
                                </p:cTn>
                              </p:par>
                              <p:par>
                                <p:cTn id="41" presetID="22" presetClass="entr" presetSubtype="2" fill="hold" grpId="0" nodeType="withEffect">
                                  <p:stCondLst>
                                    <p:cond delay="0"/>
                                  </p:stCondLst>
                                  <p:childTnLst>
                                    <p:set>
                                      <p:cBhvr>
                                        <p:cTn id="42" dur="1" fill="hold">
                                          <p:stCondLst>
                                            <p:cond delay="0"/>
                                          </p:stCondLst>
                                        </p:cTn>
                                        <p:tgtEl>
                                          <p:spTgt spid="4"/>
                                        </p:tgtEl>
                                        <p:attrNameLst>
                                          <p:attrName>style.visibility</p:attrName>
                                        </p:attrNameLst>
                                      </p:cBhvr>
                                      <p:to>
                                        <p:strVal val="visible"/>
                                      </p:to>
                                    </p:set>
                                    <p:animEffect transition="in" filter="wipe(right)">
                                      <p:cBhvr>
                                        <p:cTn id="43" dur="1000"/>
                                        <p:tgtEl>
                                          <p:spTgt spid="4"/>
                                        </p:tgtEl>
                                      </p:cBhvr>
                                    </p:animEffect>
                                  </p:childTnLst>
                                </p:cTn>
                              </p:par>
                              <p:par>
                                <p:cTn id="44" presetID="22" presetClass="entr" presetSubtype="4" fill="hold" nodeType="with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wipe(down)">
                                      <p:cBhvr>
                                        <p:cTn id="46" dur="1500"/>
                                        <p:tgtEl>
                                          <p:spTgt spid="3"/>
                                        </p:tgtEl>
                                      </p:cBhvr>
                                    </p:animEffect>
                                  </p:childTnLst>
                                </p:cTn>
                              </p:par>
                              <p:par>
                                <p:cTn id="47" presetID="22" presetClass="entr" presetSubtype="4" fill="hold" nodeType="withEffect">
                                  <p:stCondLst>
                                    <p:cond delay="0"/>
                                  </p:stCondLst>
                                  <p:childTnLst>
                                    <p:set>
                                      <p:cBhvr>
                                        <p:cTn id="48" dur="1" fill="hold">
                                          <p:stCondLst>
                                            <p:cond delay="0"/>
                                          </p:stCondLst>
                                        </p:cTn>
                                        <p:tgtEl>
                                          <p:spTgt spid="2"/>
                                        </p:tgtEl>
                                        <p:attrNameLst>
                                          <p:attrName>style.visibility</p:attrName>
                                        </p:attrNameLst>
                                      </p:cBhvr>
                                      <p:to>
                                        <p:strVal val="visible"/>
                                      </p:to>
                                    </p:set>
                                    <p:animEffect transition="in" filter="wipe(down)">
                                      <p:cBhvr>
                                        <p:cTn id="49" dur="1500"/>
                                        <p:tgtEl>
                                          <p:spTgt spid="2"/>
                                        </p:tgtEl>
                                      </p:cBhvr>
                                    </p:animEffect>
                                  </p:childTnLst>
                                </p:cTn>
                              </p:par>
                              <p:par>
                                <p:cTn id="50" presetID="22" presetClass="entr" presetSubtype="4" fill="hold" nodeType="withEffect">
                                  <p:stCondLst>
                                    <p:cond delay="0"/>
                                  </p:stCondLst>
                                  <p:childTnLst>
                                    <p:set>
                                      <p:cBhvr>
                                        <p:cTn id="51" dur="1" fill="hold">
                                          <p:stCondLst>
                                            <p:cond delay="0"/>
                                          </p:stCondLst>
                                        </p:cTn>
                                        <p:tgtEl>
                                          <p:spTgt spid="7"/>
                                        </p:tgtEl>
                                        <p:attrNameLst>
                                          <p:attrName>style.visibility</p:attrName>
                                        </p:attrNameLst>
                                      </p:cBhvr>
                                      <p:to>
                                        <p:strVal val="visible"/>
                                      </p:to>
                                    </p:set>
                                    <p:animEffect transition="in" filter="wipe(down)">
                                      <p:cBhvr>
                                        <p:cTn id="52" dur="1500"/>
                                        <p:tgtEl>
                                          <p:spTgt spid="7"/>
                                        </p:tgtEl>
                                      </p:cBhvr>
                                    </p:animEffect>
                                  </p:childTnLst>
                                </p:cTn>
                              </p:par>
                              <p:par>
                                <p:cTn id="53" presetID="22" presetClass="entr" presetSubtype="4" fill="hold" grpId="0" nodeType="withEffect">
                                  <p:stCondLst>
                                    <p:cond delay="0"/>
                                  </p:stCondLst>
                                  <p:childTnLst>
                                    <p:set>
                                      <p:cBhvr>
                                        <p:cTn id="54" dur="1" fill="hold">
                                          <p:stCondLst>
                                            <p:cond delay="0"/>
                                          </p:stCondLst>
                                        </p:cTn>
                                        <p:tgtEl>
                                          <p:spTgt spid="72"/>
                                        </p:tgtEl>
                                        <p:attrNameLst>
                                          <p:attrName>style.visibility</p:attrName>
                                        </p:attrNameLst>
                                      </p:cBhvr>
                                      <p:to>
                                        <p:strVal val="visible"/>
                                      </p:to>
                                    </p:set>
                                    <p:animEffect transition="in" filter="wipe(down)">
                                      <p:cBhvr>
                                        <p:cTn id="55" dur="1500"/>
                                        <p:tgtEl>
                                          <p:spTgt spid="72"/>
                                        </p:tgtEl>
                                      </p:cBhvr>
                                    </p:animEffect>
                                  </p:childTnLst>
                                </p:cTn>
                              </p:par>
                              <p:par>
                                <p:cTn id="56" presetID="22" presetClass="entr" presetSubtype="4" fill="hold"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down)">
                                      <p:cBhvr>
                                        <p:cTn id="58" dur="1500"/>
                                        <p:tgtEl>
                                          <p:spTgt spid="21"/>
                                        </p:tgtEl>
                                      </p:cBhvr>
                                    </p:animEffect>
                                  </p:childTnLst>
                                </p:cTn>
                              </p:par>
                              <p:par>
                                <p:cTn id="59" presetID="22" presetClass="entr" presetSubtype="4" fill="hold" nodeType="with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wipe(down)">
                                      <p:cBhvr>
                                        <p:cTn id="61" dur="1500"/>
                                        <p:tgtEl>
                                          <p:spTgt spid="20"/>
                                        </p:tgtEl>
                                      </p:cBhvr>
                                    </p:animEffect>
                                  </p:childTnLst>
                                </p:cTn>
                              </p:par>
                              <p:par>
                                <p:cTn id="62" presetID="22" presetClass="entr" presetSubtype="1" fill="hold" nodeType="withEffect">
                                  <p:stCondLst>
                                    <p:cond delay="0"/>
                                  </p:stCondLst>
                                  <p:childTnLst>
                                    <p:set>
                                      <p:cBhvr>
                                        <p:cTn id="63" dur="1" fill="hold">
                                          <p:stCondLst>
                                            <p:cond delay="0"/>
                                          </p:stCondLst>
                                        </p:cTn>
                                        <p:tgtEl>
                                          <p:spTgt spid="10"/>
                                        </p:tgtEl>
                                        <p:attrNameLst>
                                          <p:attrName>style.visibility</p:attrName>
                                        </p:attrNameLst>
                                      </p:cBhvr>
                                      <p:to>
                                        <p:strVal val="visible"/>
                                      </p:to>
                                    </p:set>
                                    <p:animEffect transition="in" filter="wipe(up)">
                                      <p:cBhvr>
                                        <p:cTn id="64" dur="500"/>
                                        <p:tgtEl>
                                          <p:spTgt spid="10"/>
                                        </p:tgtEl>
                                      </p:cBhvr>
                                    </p:animEffect>
                                  </p:childTnLst>
                                </p:cTn>
                              </p:par>
                              <p:par>
                                <p:cTn id="65" presetID="22" presetClass="entr" presetSubtype="1" fill="hold" nodeType="with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wipe(up)">
                                      <p:cBhvr>
                                        <p:cTn id="67" dur="1000"/>
                                        <p:tgtEl>
                                          <p:spTgt spid="18"/>
                                        </p:tgtEl>
                                      </p:cBhvr>
                                    </p:animEffect>
                                  </p:childTnLst>
                                </p:cTn>
                              </p:par>
                              <p:par>
                                <p:cTn id="68" presetID="22" presetClass="entr" presetSubtype="4" fill="hold" nodeType="withEffect">
                                  <p:stCondLst>
                                    <p:cond delay="0"/>
                                  </p:stCondLst>
                                  <p:childTnLst>
                                    <p:set>
                                      <p:cBhvr>
                                        <p:cTn id="69" dur="1" fill="hold">
                                          <p:stCondLst>
                                            <p:cond delay="0"/>
                                          </p:stCondLst>
                                        </p:cTn>
                                        <p:tgtEl>
                                          <p:spTgt spid="22"/>
                                        </p:tgtEl>
                                        <p:attrNameLst>
                                          <p:attrName>style.visibility</p:attrName>
                                        </p:attrNameLst>
                                      </p:cBhvr>
                                      <p:to>
                                        <p:strVal val="visible"/>
                                      </p:to>
                                    </p:set>
                                    <p:animEffect transition="in" filter="wipe(down)">
                                      <p:cBhvr>
                                        <p:cTn id="70" dur="1000"/>
                                        <p:tgtEl>
                                          <p:spTgt spid="22"/>
                                        </p:tgtEl>
                                      </p:cBhvr>
                                    </p:animEffect>
                                  </p:childTnLst>
                                </p:cTn>
                              </p:par>
                              <p:par>
                                <p:cTn id="71" presetID="22" presetClass="entr" presetSubtype="4" fill="hold" nodeType="withEffect">
                                  <p:stCondLst>
                                    <p:cond delay="0"/>
                                  </p:stCondLst>
                                  <p:childTnLst>
                                    <p:set>
                                      <p:cBhvr>
                                        <p:cTn id="72" dur="1" fill="hold">
                                          <p:stCondLst>
                                            <p:cond delay="0"/>
                                          </p:stCondLst>
                                        </p:cTn>
                                        <p:tgtEl>
                                          <p:spTgt spid="8"/>
                                        </p:tgtEl>
                                        <p:attrNameLst>
                                          <p:attrName>style.visibility</p:attrName>
                                        </p:attrNameLst>
                                      </p:cBhvr>
                                      <p:to>
                                        <p:strVal val="visible"/>
                                      </p:to>
                                    </p:set>
                                    <p:animEffect transition="in" filter="wipe(down)">
                                      <p:cBhvr>
                                        <p:cTn id="73" dur="1000"/>
                                        <p:tgtEl>
                                          <p:spTgt spid="8"/>
                                        </p:tgtEl>
                                      </p:cBhvr>
                                    </p:animEffect>
                                  </p:childTnLst>
                                </p:cTn>
                              </p:par>
                              <p:par>
                                <p:cTn id="74" presetID="22" presetClass="entr" presetSubtype="4" fill="hold" nodeType="withEffect">
                                  <p:stCondLst>
                                    <p:cond delay="0"/>
                                  </p:stCondLst>
                                  <p:childTnLst>
                                    <p:set>
                                      <p:cBhvr>
                                        <p:cTn id="75" dur="1" fill="hold">
                                          <p:stCondLst>
                                            <p:cond delay="0"/>
                                          </p:stCondLst>
                                        </p:cTn>
                                        <p:tgtEl>
                                          <p:spTgt spid="16"/>
                                        </p:tgtEl>
                                        <p:attrNameLst>
                                          <p:attrName>style.visibility</p:attrName>
                                        </p:attrNameLst>
                                      </p:cBhvr>
                                      <p:to>
                                        <p:strVal val="visible"/>
                                      </p:to>
                                    </p:set>
                                    <p:animEffect transition="in" filter="wipe(down)">
                                      <p:cBhvr>
                                        <p:cTn id="76" dur="1000"/>
                                        <p:tgtEl>
                                          <p:spTgt spid="16"/>
                                        </p:tgtEl>
                                      </p:cBhvr>
                                    </p:animEffect>
                                  </p:childTnLst>
                                </p:cTn>
                              </p:par>
                              <p:par>
                                <p:cTn id="77" presetID="22" presetClass="entr" presetSubtype="4" fill="hold" grpId="0" nodeType="withEffect">
                                  <p:stCondLst>
                                    <p:cond delay="0"/>
                                  </p:stCondLst>
                                  <p:childTnLst>
                                    <p:set>
                                      <p:cBhvr>
                                        <p:cTn id="78" dur="1" fill="hold">
                                          <p:stCondLst>
                                            <p:cond delay="0"/>
                                          </p:stCondLst>
                                        </p:cTn>
                                        <p:tgtEl>
                                          <p:spTgt spid="6"/>
                                        </p:tgtEl>
                                        <p:attrNameLst>
                                          <p:attrName>style.visibility</p:attrName>
                                        </p:attrNameLst>
                                      </p:cBhvr>
                                      <p:to>
                                        <p:strVal val="visible"/>
                                      </p:to>
                                    </p:set>
                                    <p:animEffect transition="in" filter="wipe(down)">
                                      <p:cBhvr>
                                        <p:cTn id="79" dur="1500"/>
                                        <p:tgtEl>
                                          <p:spTgt spid="6"/>
                                        </p:tgtEl>
                                      </p:cBhvr>
                                    </p:animEffect>
                                  </p:childTnLst>
                                </p:cTn>
                              </p:par>
                              <p:par>
                                <p:cTn id="80" presetID="22" presetClass="entr" presetSubtype="4" fill="hold" nodeType="withEffect">
                                  <p:stCondLst>
                                    <p:cond delay="0"/>
                                  </p:stCondLst>
                                  <p:childTnLst>
                                    <p:set>
                                      <p:cBhvr>
                                        <p:cTn id="81" dur="1" fill="hold">
                                          <p:stCondLst>
                                            <p:cond delay="0"/>
                                          </p:stCondLst>
                                        </p:cTn>
                                        <p:tgtEl>
                                          <p:spTgt spid="14"/>
                                        </p:tgtEl>
                                        <p:attrNameLst>
                                          <p:attrName>style.visibility</p:attrName>
                                        </p:attrNameLst>
                                      </p:cBhvr>
                                      <p:to>
                                        <p:strVal val="visible"/>
                                      </p:to>
                                    </p:set>
                                    <p:animEffect transition="in" filter="wipe(down)">
                                      <p:cBhvr>
                                        <p:cTn id="82" dur="500"/>
                                        <p:tgtEl>
                                          <p:spTgt spid="14"/>
                                        </p:tgtEl>
                                      </p:cBhvr>
                                    </p:animEffect>
                                  </p:childTnLst>
                                </p:cTn>
                              </p:par>
                              <p:par>
                                <p:cTn id="83" presetID="22" presetClass="entr" presetSubtype="4" fill="hold" nodeType="withEffect">
                                  <p:stCondLst>
                                    <p:cond delay="0"/>
                                  </p:stCondLst>
                                  <p:childTnLst>
                                    <p:set>
                                      <p:cBhvr>
                                        <p:cTn id="84" dur="1" fill="hold">
                                          <p:stCondLst>
                                            <p:cond delay="0"/>
                                          </p:stCondLst>
                                        </p:cTn>
                                        <p:tgtEl>
                                          <p:spTgt spid="19"/>
                                        </p:tgtEl>
                                        <p:attrNameLst>
                                          <p:attrName>style.visibility</p:attrName>
                                        </p:attrNameLst>
                                      </p:cBhvr>
                                      <p:to>
                                        <p:strVal val="visible"/>
                                      </p:to>
                                    </p:set>
                                    <p:animEffect transition="in" filter="wipe(down)">
                                      <p:cBhvr>
                                        <p:cTn id="85" dur="500"/>
                                        <p:tgtEl>
                                          <p:spTgt spid="19"/>
                                        </p:tgtEl>
                                      </p:cBhvr>
                                    </p:animEffect>
                                  </p:childTnLst>
                                </p:cTn>
                              </p:par>
                              <p:par>
                                <p:cTn id="86" presetID="22" presetClass="entr" presetSubtype="8" fill="hold" nodeType="withEffect">
                                  <p:stCondLst>
                                    <p:cond delay="0"/>
                                  </p:stCondLst>
                                  <p:childTnLst>
                                    <p:set>
                                      <p:cBhvr>
                                        <p:cTn id="87" dur="1" fill="hold">
                                          <p:stCondLst>
                                            <p:cond delay="0"/>
                                          </p:stCondLst>
                                        </p:cTn>
                                        <p:tgtEl>
                                          <p:spTgt spid="15"/>
                                        </p:tgtEl>
                                        <p:attrNameLst>
                                          <p:attrName>style.visibility</p:attrName>
                                        </p:attrNameLst>
                                      </p:cBhvr>
                                      <p:to>
                                        <p:strVal val="visible"/>
                                      </p:to>
                                    </p:set>
                                    <p:animEffect transition="in" filter="wipe(left)">
                                      <p:cBhvr>
                                        <p:cTn id="88" dur="500"/>
                                        <p:tgtEl>
                                          <p:spTgt spid="15"/>
                                        </p:tgtEl>
                                      </p:cBhvr>
                                    </p:animEffect>
                                  </p:childTnLst>
                                </p:cTn>
                              </p:par>
                              <p:par>
                                <p:cTn id="89" presetID="22" presetClass="entr" presetSubtype="4" fill="hold" nodeType="withEffect">
                                  <p:stCondLst>
                                    <p:cond delay="0"/>
                                  </p:stCondLst>
                                  <p:childTnLst>
                                    <p:set>
                                      <p:cBhvr>
                                        <p:cTn id="90" dur="1" fill="hold">
                                          <p:stCondLst>
                                            <p:cond delay="0"/>
                                          </p:stCondLst>
                                        </p:cTn>
                                        <p:tgtEl>
                                          <p:spTgt spid="9"/>
                                        </p:tgtEl>
                                        <p:attrNameLst>
                                          <p:attrName>style.visibility</p:attrName>
                                        </p:attrNameLst>
                                      </p:cBhvr>
                                      <p:to>
                                        <p:strVal val="visible"/>
                                      </p:to>
                                    </p:set>
                                    <p:animEffect transition="in" filter="wipe(down)">
                                      <p:cBhvr>
                                        <p:cTn id="91" dur="500"/>
                                        <p:tgtEl>
                                          <p:spTgt spid="9"/>
                                        </p:tgtEl>
                                      </p:cBhvr>
                                    </p:animEffect>
                                  </p:childTnLst>
                                </p:cTn>
                              </p:par>
                            </p:childTnLst>
                          </p:cTn>
                        </p:par>
                      </p:childTnLst>
                    </p:cTn>
                  </p:par>
                  <p:par>
                    <p:cTn id="92" fill="hold">
                      <p:stCondLst>
                        <p:cond delay="indefinite"/>
                      </p:stCondLst>
                      <p:childTnLst>
                        <p:par>
                          <p:cTn id="93" fill="hold">
                            <p:stCondLst>
                              <p:cond delay="0"/>
                            </p:stCondLst>
                            <p:childTnLst>
                              <p:par>
                                <p:cTn id="94" presetID="35" presetClass="path" presetSubtype="0" accel="50000" decel="50000" fill="hold" nodeType="clickEffect">
                                  <p:stCondLst>
                                    <p:cond delay="0"/>
                                  </p:stCondLst>
                                  <p:childTnLst>
                                    <p:animMotion origin="layout" path="M 2.70833E-6 -2.59259E-6 L -0.54076 -0.13935 " pathEditMode="relative" rAng="0" ptsTypes="AA">
                                      <p:cBhvr>
                                        <p:cTn id="95" dur="2000" fill="hold"/>
                                        <p:tgtEl>
                                          <p:spTgt spid="59"/>
                                        </p:tgtEl>
                                        <p:attrNameLst>
                                          <p:attrName>ppt_x</p:attrName>
                                          <p:attrName>ppt_y</p:attrName>
                                        </p:attrNameLst>
                                      </p:cBhvr>
                                      <p:rCtr x="-27044" y="-6968"/>
                                    </p:animMotion>
                                  </p:childTnLst>
                                </p:cTn>
                              </p:par>
                            </p:childTnLst>
                          </p:cTn>
                        </p:par>
                      </p:childTnLst>
                    </p:cTn>
                  </p:par>
                  <p:par>
                    <p:cTn id="96" fill="hold">
                      <p:stCondLst>
                        <p:cond delay="indefinite"/>
                      </p:stCondLst>
                      <p:childTnLst>
                        <p:par>
                          <p:cTn id="97" fill="hold">
                            <p:stCondLst>
                              <p:cond delay="0"/>
                            </p:stCondLst>
                            <p:childTnLst>
                              <p:par>
                                <p:cTn id="98" presetID="35" presetClass="path" presetSubtype="0" accel="50000" decel="50000" fill="hold" nodeType="clickEffect">
                                  <p:stCondLst>
                                    <p:cond delay="0"/>
                                  </p:stCondLst>
                                  <p:childTnLst>
                                    <p:animMotion origin="layout" path="M -1.66667E-6 1.11111E-6 L -0.81458 -0.0632 " pathEditMode="relative" rAng="0" ptsTypes="AA">
                                      <p:cBhvr>
                                        <p:cTn id="99" dur="2000" fill="hold"/>
                                        <p:tgtEl>
                                          <p:spTgt spid="63"/>
                                        </p:tgtEl>
                                        <p:attrNameLst>
                                          <p:attrName>ppt_x</p:attrName>
                                          <p:attrName>ppt_y</p:attrName>
                                        </p:attrNameLst>
                                      </p:cBhvr>
                                      <p:rCtr x="-40729" y="-3171"/>
                                    </p:animMotion>
                                  </p:childTnLst>
                                </p:cTn>
                              </p:par>
                            </p:childTnLst>
                          </p:cTn>
                        </p:par>
                      </p:childTnLst>
                    </p:cTn>
                  </p:par>
                  <p:par>
                    <p:cTn id="100" fill="hold">
                      <p:stCondLst>
                        <p:cond delay="indefinite"/>
                      </p:stCondLst>
                      <p:childTnLst>
                        <p:par>
                          <p:cTn id="101" fill="hold">
                            <p:stCondLst>
                              <p:cond delay="0"/>
                            </p:stCondLst>
                            <p:childTnLst>
                              <p:par>
                                <p:cTn id="102" presetID="35" presetClass="path" presetSubtype="0" accel="50000" decel="50000" fill="hold" nodeType="clickEffect">
                                  <p:stCondLst>
                                    <p:cond delay="0"/>
                                  </p:stCondLst>
                                  <p:childTnLst>
                                    <p:animMotion origin="layout" path="M -2.70833E-6 -3.33333E-6 L -0.79791 -0.08634 " pathEditMode="relative" rAng="0" ptsTypes="AA">
                                      <p:cBhvr>
                                        <p:cTn id="103" dur="2000" fill="hold"/>
                                        <p:tgtEl>
                                          <p:spTgt spid="64"/>
                                        </p:tgtEl>
                                        <p:attrNameLst>
                                          <p:attrName>ppt_x</p:attrName>
                                          <p:attrName>ppt_y</p:attrName>
                                        </p:attrNameLst>
                                      </p:cBhvr>
                                      <p:rCtr x="-39896" y="-4329"/>
                                    </p:animMotion>
                                  </p:childTnLst>
                                </p:cTn>
                              </p:par>
                            </p:childTnLst>
                          </p:cTn>
                        </p:par>
                      </p:childTnLst>
                    </p:cTn>
                  </p:par>
                  <p:par>
                    <p:cTn id="104" fill="hold">
                      <p:stCondLst>
                        <p:cond delay="indefinite"/>
                      </p:stCondLst>
                      <p:childTnLst>
                        <p:par>
                          <p:cTn id="105" fill="hold">
                            <p:stCondLst>
                              <p:cond delay="0"/>
                            </p:stCondLst>
                            <p:childTnLst>
                              <p:par>
                                <p:cTn id="106" presetID="35" presetClass="path" presetSubtype="0" accel="50000" decel="50000" fill="hold" nodeType="clickEffect">
                                  <p:stCondLst>
                                    <p:cond delay="0"/>
                                  </p:stCondLst>
                                  <p:childTnLst>
                                    <p:animMotion origin="layout" path="M 1.25E-6 -1.11111E-6 L -0.44531 -0.09421 " pathEditMode="relative" rAng="0" ptsTypes="AA">
                                      <p:cBhvr>
                                        <p:cTn id="107" dur="2000" fill="hold"/>
                                        <p:tgtEl>
                                          <p:spTgt spid="60"/>
                                        </p:tgtEl>
                                        <p:attrNameLst>
                                          <p:attrName>ppt_x</p:attrName>
                                          <p:attrName>ppt_y</p:attrName>
                                        </p:attrNameLst>
                                      </p:cBhvr>
                                      <p:rCtr x="-22266" y="-4722"/>
                                    </p:animMotion>
                                  </p:childTnLst>
                                </p:cTn>
                              </p:par>
                            </p:childTnLst>
                          </p:cTn>
                        </p:par>
                      </p:childTnLst>
                    </p:cTn>
                  </p:par>
                  <p:par>
                    <p:cTn id="108" fill="hold">
                      <p:stCondLst>
                        <p:cond delay="indefinite"/>
                      </p:stCondLst>
                      <p:childTnLst>
                        <p:par>
                          <p:cTn id="109" fill="hold">
                            <p:stCondLst>
                              <p:cond delay="0"/>
                            </p:stCondLst>
                            <p:childTnLst>
                              <p:par>
                                <p:cTn id="110" presetID="35" presetClass="path" presetSubtype="0" accel="50000" decel="50000" fill="hold" nodeType="clickEffect">
                                  <p:stCondLst>
                                    <p:cond delay="0"/>
                                  </p:stCondLst>
                                  <p:childTnLst>
                                    <p:animMotion origin="layout" path="M -4.58333E-6 -1.11111E-6 L -0.47122 -0.0919 " pathEditMode="relative" rAng="0" ptsTypes="AA">
                                      <p:cBhvr>
                                        <p:cTn id="111" dur="2000" fill="hold"/>
                                        <p:tgtEl>
                                          <p:spTgt spid="61"/>
                                        </p:tgtEl>
                                        <p:attrNameLst>
                                          <p:attrName>ppt_x</p:attrName>
                                          <p:attrName>ppt_y</p:attrName>
                                        </p:attrNameLst>
                                      </p:cBhvr>
                                      <p:rCtr x="-23568" y="-4606"/>
                                    </p:animMotion>
                                  </p:childTnLst>
                                </p:cTn>
                              </p:par>
                            </p:childTnLst>
                          </p:cTn>
                        </p:par>
                      </p:childTnLst>
                    </p:cTn>
                  </p:par>
                  <p:par>
                    <p:cTn id="112" fill="hold">
                      <p:stCondLst>
                        <p:cond delay="indefinite"/>
                      </p:stCondLst>
                      <p:childTnLst>
                        <p:par>
                          <p:cTn id="113" fill="hold">
                            <p:stCondLst>
                              <p:cond delay="0"/>
                            </p:stCondLst>
                            <p:childTnLst>
                              <p:par>
                                <p:cTn id="114" presetID="35" presetClass="path" presetSubtype="0" accel="50000" decel="50000" fill="hold" nodeType="clickEffect">
                                  <p:stCondLst>
                                    <p:cond delay="0"/>
                                  </p:stCondLst>
                                  <p:childTnLst>
                                    <p:animMotion origin="layout" path="M -2.08333E-6 -2.59259E-6 L -0.47995 -0.08217 " pathEditMode="relative" rAng="0" ptsTypes="AA">
                                      <p:cBhvr>
                                        <p:cTn id="115" dur="2000" fill="hold"/>
                                        <p:tgtEl>
                                          <p:spTgt spid="62"/>
                                        </p:tgtEl>
                                        <p:attrNameLst>
                                          <p:attrName>ppt_x</p:attrName>
                                          <p:attrName>ppt_y</p:attrName>
                                        </p:attrNameLst>
                                      </p:cBhvr>
                                      <p:rCtr x="-23997" y="-4120"/>
                                    </p:animMotion>
                                  </p:childTnLst>
                                </p:cTn>
                              </p:par>
                            </p:childTnLst>
                          </p:cTn>
                        </p:par>
                      </p:childTnLst>
                    </p:cTn>
                  </p:par>
                  <p:par>
                    <p:cTn id="116" fill="hold">
                      <p:stCondLst>
                        <p:cond delay="indefinite"/>
                      </p:stCondLst>
                      <p:childTnLst>
                        <p:par>
                          <p:cTn id="117" fill="hold">
                            <p:stCondLst>
                              <p:cond delay="0"/>
                            </p:stCondLst>
                            <p:childTnLst>
                              <p:par>
                                <p:cTn id="118" presetID="10" presetClass="exit" presetSubtype="0" fill="hold" grpId="1" nodeType="clickEffect">
                                  <p:stCondLst>
                                    <p:cond delay="0"/>
                                  </p:stCondLst>
                                  <p:childTnLst>
                                    <p:animEffect transition="out" filter="fade">
                                      <p:cBhvr>
                                        <p:cTn id="119" dur="500"/>
                                        <p:tgtEl>
                                          <p:spTgt spid="4"/>
                                        </p:tgtEl>
                                      </p:cBhvr>
                                    </p:animEffect>
                                    <p:set>
                                      <p:cBhvr>
                                        <p:cTn id="120" dur="1" fill="hold">
                                          <p:stCondLst>
                                            <p:cond delay="499"/>
                                          </p:stCondLst>
                                        </p:cTn>
                                        <p:tgtEl>
                                          <p:spTgt spid="4"/>
                                        </p:tgtEl>
                                        <p:attrNameLst>
                                          <p:attrName>style.visibility</p:attrName>
                                        </p:attrNameLst>
                                      </p:cBhvr>
                                      <p:to>
                                        <p:strVal val="hidden"/>
                                      </p:to>
                                    </p:set>
                                  </p:childTnLst>
                                </p:cTn>
                              </p:par>
                            </p:childTnLst>
                          </p:cTn>
                        </p:par>
                      </p:childTnLst>
                    </p:cTn>
                  </p:par>
                  <p:par>
                    <p:cTn id="121" fill="hold">
                      <p:stCondLst>
                        <p:cond delay="indefinite"/>
                      </p:stCondLst>
                      <p:childTnLst>
                        <p:par>
                          <p:cTn id="122" fill="hold">
                            <p:stCondLst>
                              <p:cond delay="0"/>
                            </p:stCondLst>
                            <p:childTnLst>
                              <p:par>
                                <p:cTn id="123" presetID="10" presetClass="exit" presetSubtype="0" fill="hold" grpId="1" nodeType="clickEffect">
                                  <p:stCondLst>
                                    <p:cond delay="0"/>
                                  </p:stCondLst>
                                  <p:childTnLst>
                                    <p:animEffect transition="out" filter="fade">
                                      <p:cBhvr>
                                        <p:cTn id="124" dur="500"/>
                                        <p:tgtEl>
                                          <p:spTgt spid="5"/>
                                        </p:tgtEl>
                                      </p:cBhvr>
                                    </p:animEffect>
                                    <p:set>
                                      <p:cBhvr>
                                        <p:cTn id="125" dur="1" fill="hold">
                                          <p:stCondLst>
                                            <p:cond delay="499"/>
                                          </p:stCondLst>
                                        </p:cTn>
                                        <p:tgtEl>
                                          <p:spTgt spid="5"/>
                                        </p:tgtEl>
                                        <p:attrNameLst>
                                          <p:attrName>style.visibility</p:attrName>
                                        </p:attrNameLst>
                                      </p:cBhvr>
                                      <p:to>
                                        <p:strVal val="hidden"/>
                                      </p:to>
                                    </p:set>
                                  </p:childTnLst>
                                </p:cTn>
                              </p:par>
                            </p:childTnLst>
                          </p:cTn>
                        </p:par>
                      </p:childTnLst>
                    </p:cTn>
                  </p:par>
                  <p:par>
                    <p:cTn id="126" fill="hold">
                      <p:stCondLst>
                        <p:cond delay="indefinite"/>
                      </p:stCondLst>
                      <p:childTnLst>
                        <p:par>
                          <p:cTn id="127" fill="hold">
                            <p:stCondLst>
                              <p:cond delay="0"/>
                            </p:stCondLst>
                            <p:childTnLst>
                              <p:par>
                                <p:cTn id="128" presetID="10" presetClass="exit" presetSubtype="0" fill="hold" nodeType="clickEffect">
                                  <p:stCondLst>
                                    <p:cond delay="0"/>
                                  </p:stCondLst>
                                  <p:childTnLst>
                                    <p:animEffect transition="out" filter="fade">
                                      <p:cBhvr>
                                        <p:cTn id="129" dur="500"/>
                                        <p:tgtEl>
                                          <p:spTgt spid="17"/>
                                        </p:tgtEl>
                                      </p:cBhvr>
                                    </p:animEffect>
                                    <p:set>
                                      <p:cBhvr>
                                        <p:cTn id="130" dur="1" fill="hold">
                                          <p:stCondLst>
                                            <p:cond delay="499"/>
                                          </p:stCondLst>
                                        </p:cTn>
                                        <p:tgtEl>
                                          <p:spTgt spid="17"/>
                                        </p:tgtEl>
                                        <p:attrNameLst>
                                          <p:attrName>style.visibility</p:attrName>
                                        </p:attrNameLst>
                                      </p:cBhvr>
                                      <p:to>
                                        <p:strVal val="hidden"/>
                                      </p:to>
                                    </p:set>
                                  </p:childTnLst>
                                </p:cTn>
                              </p:par>
                            </p:childTnLst>
                          </p:cTn>
                        </p:par>
                      </p:childTnLst>
                    </p:cTn>
                  </p:par>
                  <p:par>
                    <p:cTn id="131" fill="hold">
                      <p:stCondLst>
                        <p:cond delay="indefinite"/>
                      </p:stCondLst>
                      <p:childTnLst>
                        <p:par>
                          <p:cTn id="132" fill="hold">
                            <p:stCondLst>
                              <p:cond delay="0"/>
                            </p:stCondLst>
                            <p:childTnLst>
                              <p:par>
                                <p:cTn id="133" presetID="10" presetClass="exit" presetSubtype="0" fill="hold" nodeType="clickEffect">
                                  <p:stCondLst>
                                    <p:cond delay="0"/>
                                  </p:stCondLst>
                                  <p:childTnLst>
                                    <p:animEffect transition="out" filter="fade">
                                      <p:cBhvr>
                                        <p:cTn id="134" dur="500"/>
                                        <p:tgtEl>
                                          <p:spTgt spid="3"/>
                                        </p:tgtEl>
                                      </p:cBhvr>
                                    </p:animEffect>
                                    <p:set>
                                      <p:cBhvr>
                                        <p:cTn id="135" dur="1" fill="hold">
                                          <p:stCondLst>
                                            <p:cond delay="499"/>
                                          </p:stCondLst>
                                        </p:cTn>
                                        <p:tgtEl>
                                          <p:spTgt spid="3"/>
                                        </p:tgtEl>
                                        <p:attrNameLst>
                                          <p:attrName>style.visibility</p:attrName>
                                        </p:attrNameLst>
                                      </p:cBhvr>
                                      <p:to>
                                        <p:strVal val="hidden"/>
                                      </p:to>
                                    </p:set>
                                  </p:childTnLst>
                                </p:cTn>
                              </p:par>
                            </p:childTnLst>
                          </p:cTn>
                        </p:par>
                      </p:childTnLst>
                    </p:cTn>
                  </p:par>
                  <p:par>
                    <p:cTn id="136" fill="hold">
                      <p:stCondLst>
                        <p:cond delay="indefinite"/>
                      </p:stCondLst>
                      <p:childTnLst>
                        <p:par>
                          <p:cTn id="137" fill="hold">
                            <p:stCondLst>
                              <p:cond delay="0"/>
                            </p:stCondLst>
                            <p:childTnLst>
                              <p:par>
                                <p:cTn id="138" presetID="10" presetClass="exit" presetSubtype="0" fill="hold" nodeType="clickEffect">
                                  <p:stCondLst>
                                    <p:cond delay="0"/>
                                  </p:stCondLst>
                                  <p:childTnLst>
                                    <p:animEffect transition="out" filter="fade">
                                      <p:cBhvr>
                                        <p:cTn id="139" dur="500"/>
                                        <p:tgtEl>
                                          <p:spTgt spid="2"/>
                                        </p:tgtEl>
                                      </p:cBhvr>
                                    </p:animEffect>
                                    <p:set>
                                      <p:cBhvr>
                                        <p:cTn id="140" dur="1" fill="hold">
                                          <p:stCondLst>
                                            <p:cond delay="499"/>
                                          </p:stCondLst>
                                        </p:cTn>
                                        <p:tgtEl>
                                          <p:spTgt spid="2"/>
                                        </p:tgtEl>
                                        <p:attrNameLst>
                                          <p:attrName>style.visibility</p:attrName>
                                        </p:attrNameLst>
                                      </p:cBhvr>
                                      <p:to>
                                        <p:strVal val="hidden"/>
                                      </p:to>
                                    </p:set>
                                  </p:childTnLst>
                                </p:cTn>
                              </p:par>
                            </p:childTnLst>
                          </p:cTn>
                        </p:par>
                      </p:childTnLst>
                    </p:cTn>
                  </p:par>
                  <p:par>
                    <p:cTn id="141" fill="hold">
                      <p:stCondLst>
                        <p:cond delay="indefinite"/>
                      </p:stCondLst>
                      <p:childTnLst>
                        <p:par>
                          <p:cTn id="142" fill="hold">
                            <p:stCondLst>
                              <p:cond delay="0"/>
                            </p:stCondLst>
                            <p:childTnLst>
                              <p:par>
                                <p:cTn id="143" presetID="10" presetClass="exit" presetSubtype="0" fill="hold" nodeType="clickEffect">
                                  <p:stCondLst>
                                    <p:cond delay="0"/>
                                  </p:stCondLst>
                                  <p:childTnLst>
                                    <p:animEffect transition="out" filter="fade">
                                      <p:cBhvr>
                                        <p:cTn id="144" dur="500"/>
                                        <p:tgtEl>
                                          <p:spTgt spid="7"/>
                                        </p:tgtEl>
                                      </p:cBhvr>
                                    </p:animEffect>
                                    <p:set>
                                      <p:cBhvr>
                                        <p:cTn id="145" dur="1" fill="hold">
                                          <p:stCondLst>
                                            <p:cond delay="499"/>
                                          </p:stCondLst>
                                        </p:cTn>
                                        <p:tgtEl>
                                          <p:spTgt spid="7"/>
                                        </p:tgtEl>
                                        <p:attrNameLst>
                                          <p:attrName>style.visibility</p:attrName>
                                        </p:attrNameLst>
                                      </p:cBhvr>
                                      <p:to>
                                        <p:strVal val="hidden"/>
                                      </p:to>
                                    </p:set>
                                  </p:childTnLst>
                                </p:cTn>
                              </p:par>
                            </p:childTnLst>
                          </p:cTn>
                        </p:par>
                      </p:childTnLst>
                    </p:cTn>
                  </p:par>
                  <p:par>
                    <p:cTn id="146" fill="hold">
                      <p:stCondLst>
                        <p:cond delay="indefinite"/>
                      </p:stCondLst>
                      <p:childTnLst>
                        <p:par>
                          <p:cTn id="147" fill="hold">
                            <p:stCondLst>
                              <p:cond delay="0"/>
                            </p:stCondLst>
                            <p:childTnLst>
                              <p:par>
                                <p:cTn id="148" presetID="10" presetClass="exit" presetSubtype="0" fill="hold" grpId="1" nodeType="clickEffect">
                                  <p:stCondLst>
                                    <p:cond delay="0"/>
                                  </p:stCondLst>
                                  <p:childTnLst>
                                    <p:animEffect transition="out" filter="fade">
                                      <p:cBhvr>
                                        <p:cTn id="149" dur="500"/>
                                        <p:tgtEl>
                                          <p:spTgt spid="72"/>
                                        </p:tgtEl>
                                      </p:cBhvr>
                                    </p:animEffect>
                                    <p:set>
                                      <p:cBhvr>
                                        <p:cTn id="150" dur="1" fill="hold">
                                          <p:stCondLst>
                                            <p:cond delay="499"/>
                                          </p:stCondLst>
                                        </p:cTn>
                                        <p:tgtEl>
                                          <p:spTgt spid="72"/>
                                        </p:tgtEl>
                                        <p:attrNameLst>
                                          <p:attrName>style.visibility</p:attrName>
                                        </p:attrNameLst>
                                      </p:cBhvr>
                                      <p:to>
                                        <p:strVal val="hidden"/>
                                      </p:to>
                                    </p:set>
                                  </p:childTnLst>
                                </p:cTn>
                              </p:par>
                            </p:childTnLst>
                          </p:cTn>
                        </p:par>
                      </p:childTnLst>
                    </p:cTn>
                  </p:par>
                  <p:par>
                    <p:cTn id="151" fill="hold">
                      <p:stCondLst>
                        <p:cond delay="indefinite"/>
                      </p:stCondLst>
                      <p:childTnLst>
                        <p:par>
                          <p:cTn id="152" fill="hold">
                            <p:stCondLst>
                              <p:cond delay="0"/>
                            </p:stCondLst>
                            <p:childTnLst>
                              <p:par>
                                <p:cTn id="153" presetID="10" presetClass="exit" presetSubtype="0" fill="hold" nodeType="clickEffect">
                                  <p:stCondLst>
                                    <p:cond delay="0"/>
                                  </p:stCondLst>
                                  <p:childTnLst>
                                    <p:animEffect transition="out" filter="fade">
                                      <p:cBhvr>
                                        <p:cTn id="154" dur="500"/>
                                        <p:tgtEl>
                                          <p:spTgt spid="21"/>
                                        </p:tgtEl>
                                      </p:cBhvr>
                                    </p:animEffect>
                                    <p:set>
                                      <p:cBhvr>
                                        <p:cTn id="155" dur="1" fill="hold">
                                          <p:stCondLst>
                                            <p:cond delay="499"/>
                                          </p:stCondLst>
                                        </p:cTn>
                                        <p:tgtEl>
                                          <p:spTgt spid="21"/>
                                        </p:tgtEl>
                                        <p:attrNameLst>
                                          <p:attrName>style.visibility</p:attrName>
                                        </p:attrNameLst>
                                      </p:cBhvr>
                                      <p:to>
                                        <p:strVal val="hidden"/>
                                      </p:to>
                                    </p:set>
                                  </p:childTnLst>
                                </p:cTn>
                              </p:par>
                            </p:childTnLst>
                          </p:cTn>
                        </p:par>
                      </p:childTnLst>
                    </p:cTn>
                  </p:par>
                  <p:par>
                    <p:cTn id="156" fill="hold">
                      <p:stCondLst>
                        <p:cond delay="indefinite"/>
                      </p:stCondLst>
                      <p:childTnLst>
                        <p:par>
                          <p:cTn id="157" fill="hold">
                            <p:stCondLst>
                              <p:cond delay="0"/>
                            </p:stCondLst>
                            <p:childTnLst>
                              <p:par>
                                <p:cTn id="158" presetID="10" presetClass="exit" presetSubtype="0" fill="hold" nodeType="clickEffect">
                                  <p:stCondLst>
                                    <p:cond delay="0"/>
                                  </p:stCondLst>
                                  <p:childTnLst>
                                    <p:animEffect transition="out" filter="fade">
                                      <p:cBhvr>
                                        <p:cTn id="159" dur="500"/>
                                        <p:tgtEl>
                                          <p:spTgt spid="20"/>
                                        </p:tgtEl>
                                      </p:cBhvr>
                                    </p:animEffect>
                                    <p:set>
                                      <p:cBhvr>
                                        <p:cTn id="160" dur="1" fill="hold">
                                          <p:stCondLst>
                                            <p:cond delay="499"/>
                                          </p:stCondLst>
                                        </p:cTn>
                                        <p:tgtEl>
                                          <p:spTgt spid="20"/>
                                        </p:tgtEl>
                                        <p:attrNameLst>
                                          <p:attrName>style.visibility</p:attrName>
                                        </p:attrNameLst>
                                      </p:cBhvr>
                                      <p:to>
                                        <p:strVal val="hidden"/>
                                      </p:to>
                                    </p:set>
                                  </p:childTnLst>
                                </p:cTn>
                              </p:par>
                            </p:childTnLst>
                          </p:cTn>
                        </p:par>
                      </p:childTnLst>
                    </p:cTn>
                  </p:par>
                  <p:par>
                    <p:cTn id="161" fill="hold">
                      <p:stCondLst>
                        <p:cond delay="indefinite"/>
                      </p:stCondLst>
                      <p:childTnLst>
                        <p:par>
                          <p:cTn id="162" fill="hold">
                            <p:stCondLst>
                              <p:cond delay="0"/>
                            </p:stCondLst>
                            <p:childTnLst>
                              <p:par>
                                <p:cTn id="163" presetID="10" presetClass="exit" presetSubtype="0" fill="hold" nodeType="clickEffect">
                                  <p:stCondLst>
                                    <p:cond delay="0"/>
                                  </p:stCondLst>
                                  <p:childTnLst>
                                    <p:animEffect transition="out" filter="fade">
                                      <p:cBhvr>
                                        <p:cTn id="164" dur="500"/>
                                        <p:tgtEl>
                                          <p:spTgt spid="10"/>
                                        </p:tgtEl>
                                      </p:cBhvr>
                                    </p:animEffect>
                                    <p:set>
                                      <p:cBhvr>
                                        <p:cTn id="165" dur="1" fill="hold">
                                          <p:stCondLst>
                                            <p:cond delay="499"/>
                                          </p:stCondLst>
                                        </p:cTn>
                                        <p:tgtEl>
                                          <p:spTgt spid="10"/>
                                        </p:tgtEl>
                                        <p:attrNameLst>
                                          <p:attrName>style.visibility</p:attrName>
                                        </p:attrNameLst>
                                      </p:cBhvr>
                                      <p:to>
                                        <p:strVal val="hidden"/>
                                      </p:to>
                                    </p:set>
                                  </p:childTnLst>
                                </p:cTn>
                              </p:par>
                            </p:childTnLst>
                          </p:cTn>
                        </p:par>
                      </p:childTnLst>
                    </p:cTn>
                  </p:par>
                  <p:par>
                    <p:cTn id="166" fill="hold">
                      <p:stCondLst>
                        <p:cond delay="indefinite"/>
                      </p:stCondLst>
                      <p:childTnLst>
                        <p:par>
                          <p:cTn id="167" fill="hold">
                            <p:stCondLst>
                              <p:cond delay="0"/>
                            </p:stCondLst>
                            <p:childTnLst>
                              <p:par>
                                <p:cTn id="168" presetID="10" presetClass="exit" presetSubtype="0" fill="hold" grpId="1" nodeType="clickEffect">
                                  <p:stCondLst>
                                    <p:cond delay="0"/>
                                  </p:stCondLst>
                                  <p:childTnLst>
                                    <p:animEffect transition="out" filter="fade">
                                      <p:cBhvr>
                                        <p:cTn id="169" dur="500"/>
                                        <p:tgtEl>
                                          <p:spTgt spid="75"/>
                                        </p:tgtEl>
                                      </p:cBhvr>
                                    </p:animEffect>
                                    <p:set>
                                      <p:cBhvr>
                                        <p:cTn id="170" dur="1" fill="hold">
                                          <p:stCondLst>
                                            <p:cond delay="499"/>
                                          </p:stCondLst>
                                        </p:cTn>
                                        <p:tgtEl>
                                          <p:spTgt spid="75"/>
                                        </p:tgtEl>
                                        <p:attrNameLst>
                                          <p:attrName>style.visibility</p:attrName>
                                        </p:attrNameLst>
                                      </p:cBhvr>
                                      <p:to>
                                        <p:strVal val="hidden"/>
                                      </p:to>
                                    </p:set>
                                  </p:childTnLst>
                                </p:cTn>
                              </p:par>
                            </p:childTnLst>
                          </p:cTn>
                        </p:par>
                      </p:childTnLst>
                    </p:cTn>
                  </p:par>
                  <p:par>
                    <p:cTn id="171" fill="hold">
                      <p:stCondLst>
                        <p:cond delay="indefinite"/>
                      </p:stCondLst>
                      <p:childTnLst>
                        <p:par>
                          <p:cTn id="172" fill="hold">
                            <p:stCondLst>
                              <p:cond delay="0"/>
                            </p:stCondLst>
                            <p:childTnLst>
                              <p:par>
                                <p:cTn id="173" presetID="10" presetClass="exit" presetSubtype="0" fill="hold" nodeType="clickEffect">
                                  <p:stCondLst>
                                    <p:cond delay="0"/>
                                  </p:stCondLst>
                                  <p:childTnLst>
                                    <p:animEffect transition="out" filter="fade">
                                      <p:cBhvr>
                                        <p:cTn id="174" dur="500"/>
                                        <p:tgtEl>
                                          <p:spTgt spid="18"/>
                                        </p:tgtEl>
                                      </p:cBhvr>
                                    </p:animEffect>
                                    <p:set>
                                      <p:cBhvr>
                                        <p:cTn id="175" dur="1" fill="hold">
                                          <p:stCondLst>
                                            <p:cond delay="499"/>
                                          </p:stCondLst>
                                        </p:cTn>
                                        <p:tgtEl>
                                          <p:spTgt spid="18"/>
                                        </p:tgtEl>
                                        <p:attrNameLst>
                                          <p:attrName>style.visibility</p:attrName>
                                        </p:attrNameLst>
                                      </p:cBhvr>
                                      <p:to>
                                        <p:strVal val="hidden"/>
                                      </p:to>
                                    </p:set>
                                  </p:childTnLst>
                                </p:cTn>
                              </p:par>
                            </p:childTnLst>
                          </p:cTn>
                        </p:par>
                      </p:childTnLst>
                    </p:cTn>
                  </p:par>
                  <p:par>
                    <p:cTn id="176" fill="hold">
                      <p:stCondLst>
                        <p:cond delay="indefinite"/>
                      </p:stCondLst>
                      <p:childTnLst>
                        <p:par>
                          <p:cTn id="177" fill="hold">
                            <p:stCondLst>
                              <p:cond delay="0"/>
                            </p:stCondLst>
                            <p:childTnLst>
                              <p:par>
                                <p:cTn id="178" presetID="35" presetClass="path" presetSubtype="0" accel="50000" decel="50000" fill="hold" nodeType="clickEffect">
                                  <p:stCondLst>
                                    <p:cond delay="0"/>
                                  </p:stCondLst>
                                  <p:childTnLst>
                                    <p:animMotion origin="layout" path="M -2.5E-6 -3.7037E-6 L -0.13984 -0.12245 " pathEditMode="relative" rAng="0" ptsTypes="AA">
                                      <p:cBhvr>
                                        <p:cTn id="179" dur="2000" fill="hold"/>
                                        <p:tgtEl>
                                          <p:spTgt spid="65"/>
                                        </p:tgtEl>
                                        <p:attrNameLst>
                                          <p:attrName>ppt_x</p:attrName>
                                          <p:attrName>ppt_y</p:attrName>
                                        </p:attrNameLst>
                                      </p:cBhvr>
                                      <p:rCtr x="-6992" y="-6134"/>
                                    </p:animMotion>
                                  </p:childTnLst>
                                </p:cTn>
                              </p:par>
                            </p:childTnLst>
                          </p:cTn>
                        </p:par>
                      </p:childTnLst>
                    </p:cTn>
                  </p:par>
                  <p:par>
                    <p:cTn id="180" fill="hold">
                      <p:stCondLst>
                        <p:cond delay="indefinite"/>
                      </p:stCondLst>
                      <p:childTnLst>
                        <p:par>
                          <p:cTn id="181" fill="hold">
                            <p:stCondLst>
                              <p:cond delay="0"/>
                            </p:stCondLst>
                            <p:childTnLst>
                              <p:par>
                                <p:cTn id="182" presetID="35" presetClass="path" presetSubtype="0" accel="50000" decel="50000" fill="hold" nodeType="clickEffect">
                                  <p:stCondLst>
                                    <p:cond delay="0"/>
                                  </p:stCondLst>
                                  <p:childTnLst>
                                    <p:animMotion origin="layout" path="M 8.33333E-7 2.96296E-6 L -0.51497 -0.05047 " pathEditMode="relative" rAng="0" ptsTypes="AA">
                                      <p:cBhvr>
                                        <p:cTn id="183" dur="2000" fill="hold"/>
                                        <p:tgtEl>
                                          <p:spTgt spid="66"/>
                                        </p:tgtEl>
                                        <p:attrNameLst>
                                          <p:attrName>ppt_x</p:attrName>
                                          <p:attrName>ppt_y</p:attrName>
                                        </p:attrNameLst>
                                      </p:cBhvr>
                                      <p:rCtr x="-25755" y="-2523"/>
                                    </p:animMotion>
                                  </p:childTnLst>
                                </p:cTn>
                              </p:par>
                            </p:childTnLst>
                          </p:cTn>
                        </p:par>
                      </p:childTnLst>
                    </p:cTn>
                  </p:par>
                  <p:par>
                    <p:cTn id="184" fill="hold">
                      <p:stCondLst>
                        <p:cond delay="indefinite"/>
                      </p:stCondLst>
                      <p:childTnLst>
                        <p:par>
                          <p:cTn id="185" fill="hold">
                            <p:stCondLst>
                              <p:cond delay="0"/>
                            </p:stCondLst>
                            <p:childTnLst>
                              <p:par>
                                <p:cTn id="186" presetID="35" presetClass="path" presetSubtype="0" accel="50000" decel="50000" fill="hold" nodeType="clickEffect">
                                  <p:stCondLst>
                                    <p:cond delay="0"/>
                                  </p:stCondLst>
                                  <p:childTnLst>
                                    <p:animMotion origin="layout" path="M -3.54167E-6 -2.59259E-6 L -0.5039 -0.0412 " pathEditMode="relative" rAng="0" ptsTypes="AA">
                                      <p:cBhvr>
                                        <p:cTn id="187" dur="2000" fill="hold"/>
                                        <p:tgtEl>
                                          <p:spTgt spid="67"/>
                                        </p:tgtEl>
                                        <p:attrNameLst>
                                          <p:attrName>ppt_x</p:attrName>
                                          <p:attrName>ppt_y</p:attrName>
                                        </p:attrNameLst>
                                      </p:cBhvr>
                                      <p:rCtr x="-25195" y="-2060"/>
                                    </p:animMotion>
                                  </p:childTnLst>
                                </p:cTn>
                              </p:par>
                            </p:childTnLst>
                          </p:cTn>
                        </p:par>
                      </p:childTnLst>
                    </p:cTn>
                  </p:par>
                  <p:par>
                    <p:cTn id="188" fill="hold">
                      <p:stCondLst>
                        <p:cond delay="indefinite"/>
                      </p:stCondLst>
                      <p:childTnLst>
                        <p:par>
                          <p:cTn id="189" fill="hold">
                            <p:stCondLst>
                              <p:cond delay="0"/>
                            </p:stCondLst>
                            <p:childTnLst>
                              <p:par>
                                <p:cTn id="190" presetID="10" presetClass="exit" presetSubtype="0" fill="hold" nodeType="clickEffect">
                                  <p:stCondLst>
                                    <p:cond delay="0"/>
                                  </p:stCondLst>
                                  <p:childTnLst>
                                    <p:animEffect transition="out" filter="fade">
                                      <p:cBhvr>
                                        <p:cTn id="191" dur="500"/>
                                        <p:tgtEl>
                                          <p:spTgt spid="22"/>
                                        </p:tgtEl>
                                      </p:cBhvr>
                                    </p:animEffect>
                                    <p:set>
                                      <p:cBhvr>
                                        <p:cTn id="192" dur="1" fill="hold">
                                          <p:stCondLst>
                                            <p:cond delay="499"/>
                                          </p:stCondLst>
                                        </p:cTn>
                                        <p:tgtEl>
                                          <p:spTgt spid="22"/>
                                        </p:tgtEl>
                                        <p:attrNameLst>
                                          <p:attrName>style.visibility</p:attrName>
                                        </p:attrNameLst>
                                      </p:cBhvr>
                                      <p:to>
                                        <p:strVal val="hidden"/>
                                      </p:to>
                                    </p:set>
                                  </p:childTnLst>
                                </p:cTn>
                              </p:par>
                            </p:childTnLst>
                          </p:cTn>
                        </p:par>
                      </p:childTnLst>
                    </p:cTn>
                  </p:par>
                  <p:par>
                    <p:cTn id="193" fill="hold">
                      <p:stCondLst>
                        <p:cond delay="indefinite"/>
                      </p:stCondLst>
                      <p:childTnLst>
                        <p:par>
                          <p:cTn id="194" fill="hold">
                            <p:stCondLst>
                              <p:cond delay="0"/>
                            </p:stCondLst>
                            <p:childTnLst>
                              <p:par>
                                <p:cTn id="195" presetID="10" presetClass="exit" presetSubtype="0" fill="hold" nodeType="clickEffect">
                                  <p:stCondLst>
                                    <p:cond delay="0"/>
                                  </p:stCondLst>
                                  <p:childTnLst>
                                    <p:animEffect transition="out" filter="fade">
                                      <p:cBhvr>
                                        <p:cTn id="196" dur="500"/>
                                        <p:tgtEl>
                                          <p:spTgt spid="8"/>
                                        </p:tgtEl>
                                      </p:cBhvr>
                                    </p:animEffect>
                                    <p:set>
                                      <p:cBhvr>
                                        <p:cTn id="197" dur="1" fill="hold">
                                          <p:stCondLst>
                                            <p:cond delay="499"/>
                                          </p:stCondLst>
                                        </p:cTn>
                                        <p:tgtEl>
                                          <p:spTgt spid="8"/>
                                        </p:tgtEl>
                                        <p:attrNameLst>
                                          <p:attrName>style.visibility</p:attrName>
                                        </p:attrNameLst>
                                      </p:cBhvr>
                                      <p:to>
                                        <p:strVal val="hidden"/>
                                      </p:to>
                                    </p:set>
                                  </p:childTnLst>
                                </p:cTn>
                              </p:par>
                            </p:childTnLst>
                          </p:cTn>
                        </p:par>
                      </p:childTnLst>
                    </p:cTn>
                  </p:par>
                  <p:par>
                    <p:cTn id="198" fill="hold">
                      <p:stCondLst>
                        <p:cond delay="indefinite"/>
                      </p:stCondLst>
                      <p:childTnLst>
                        <p:par>
                          <p:cTn id="199" fill="hold">
                            <p:stCondLst>
                              <p:cond delay="0"/>
                            </p:stCondLst>
                            <p:childTnLst>
                              <p:par>
                                <p:cTn id="200" presetID="10" presetClass="exit" presetSubtype="0" fill="hold" nodeType="clickEffect">
                                  <p:stCondLst>
                                    <p:cond delay="0"/>
                                  </p:stCondLst>
                                  <p:childTnLst>
                                    <p:animEffect transition="out" filter="fade">
                                      <p:cBhvr>
                                        <p:cTn id="201" dur="500"/>
                                        <p:tgtEl>
                                          <p:spTgt spid="16"/>
                                        </p:tgtEl>
                                      </p:cBhvr>
                                    </p:animEffect>
                                    <p:set>
                                      <p:cBhvr>
                                        <p:cTn id="202" dur="1" fill="hold">
                                          <p:stCondLst>
                                            <p:cond delay="499"/>
                                          </p:stCondLst>
                                        </p:cTn>
                                        <p:tgtEl>
                                          <p:spTgt spid="16"/>
                                        </p:tgtEl>
                                        <p:attrNameLst>
                                          <p:attrName>style.visibility</p:attrName>
                                        </p:attrNameLst>
                                      </p:cBhvr>
                                      <p:to>
                                        <p:strVal val="hidden"/>
                                      </p:to>
                                    </p:set>
                                  </p:childTnLst>
                                </p:cTn>
                              </p:par>
                            </p:childTnLst>
                          </p:cTn>
                        </p:par>
                      </p:childTnLst>
                    </p:cTn>
                  </p:par>
                  <p:par>
                    <p:cTn id="203" fill="hold">
                      <p:stCondLst>
                        <p:cond delay="indefinite"/>
                      </p:stCondLst>
                      <p:childTnLst>
                        <p:par>
                          <p:cTn id="204" fill="hold">
                            <p:stCondLst>
                              <p:cond delay="0"/>
                            </p:stCondLst>
                            <p:childTnLst>
                              <p:par>
                                <p:cTn id="205" presetID="10" presetClass="exit" presetSubtype="0" fill="hold" grpId="1" nodeType="clickEffect">
                                  <p:stCondLst>
                                    <p:cond delay="0"/>
                                  </p:stCondLst>
                                  <p:childTnLst>
                                    <p:animEffect transition="out" filter="fade">
                                      <p:cBhvr>
                                        <p:cTn id="206" dur="500"/>
                                        <p:tgtEl>
                                          <p:spTgt spid="6"/>
                                        </p:tgtEl>
                                      </p:cBhvr>
                                    </p:animEffect>
                                    <p:set>
                                      <p:cBhvr>
                                        <p:cTn id="207" dur="1" fill="hold">
                                          <p:stCondLst>
                                            <p:cond delay="499"/>
                                          </p:stCondLst>
                                        </p:cTn>
                                        <p:tgtEl>
                                          <p:spTgt spid="6"/>
                                        </p:tgtEl>
                                        <p:attrNameLst>
                                          <p:attrName>style.visibility</p:attrName>
                                        </p:attrNameLst>
                                      </p:cBhvr>
                                      <p:to>
                                        <p:strVal val="hidden"/>
                                      </p:to>
                                    </p:set>
                                  </p:childTnLst>
                                </p:cTn>
                              </p:par>
                            </p:childTnLst>
                          </p:cTn>
                        </p:par>
                      </p:childTnLst>
                    </p:cTn>
                  </p:par>
                  <p:par>
                    <p:cTn id="208" fill="hold">
                      <p:stCondLst>
                        <p:cond delay="indefinite"/>
                      </p:stCondLst>
                      <p:childTnLst>
                        <p:par>
                          <p:cTn id="209" fill="hold">
                            <p:stCondLst>
                              <p:cond delay="0"/>
                            </p:stCondLst>
                            <p:childTnLst>
                              <p:par>
                                <p:cTn id="210" presetID="10" presetClass="exit" presetSubtype="0" fill="hold" nodeType="clickEffect">
                                  <p:stCondLst>
                                    <p:cond delay="0"/>
                                  </p:stCondLst>
                                  <p:childTnLst>
                                    <p:animEffect transition="out" filter="fade">
                                      <p:cBhvr>
                                        <p:cTn id="211" dur="500"/>
                                        <p:tgtEl>
                                          <p:spTgt spid="14"/>
                                        </p:tgtEl>
                                      </p:cBhvr>
                                    </p:animEffect>
                                    <p:set>
                                      <p:cBhvr>
                                        <p:cTn id="212" dur="1" fill="hold">
                                          <p:stCondLst>
                                            <p:cond delay="499"/>
                                          </p:stCondLst>
                                        </p:cTn>
                                        <p:tgtEl>
                                          <p:spTgt spid="14"/>
                                        </p:tgtEl>
                                        <p:attrNameLst>
                                          <p:attrName>style.visibility</p:attrName>
                                        </p:attrNameLst>
                                      </p:cBhvr>
                                      <p:to>
                                        <p:strVal val="hidden"/>
                                      </p:to>
                                    </p:set>
                                  </p:childTnLst>
                                </p:cTn>
                              </p:par>
                            </p:childTnLst>
                          </p:cTn>
                        </p:par>
                      </p:childTnLst>
                    </p:cTn>
                  </p:par>
                  <p:par>
                    <p:cTn id="213" fill="hold">
                      <p:stCondLst>
                        <p:cond delay="indefinite"/>
                      </p:stCondLst>
                      <p:childTnLst>
                        <p:par>
                          <p:cTn id="214" fill="hold">
                            <p:stCondLst>
                              <p:cond delay="0"/>
                            </p:stCondLst>
                            <p:childTnLst>
                              <p:par>
                                <p:cTn id="215" presetID="35" presetClass="path" presetSubtype="0" accel="50000" decel="50000" fill="hold" nodeType="clickEffect">
                                  <p:stCondLst>
                                    <p:cond delay="0"/>
                                  </p:stCondLst>
                                  <p:childTnLst>
                                    <p:animMotion origin="layout" path="M 4.58333E-6 4.44444E-6 L -0.45691 -0.00232 " pathEditMode="relative" rAng="0" ptsTypes="AA">
                                      <p:cBhvr>
                                        <p:cTn id="216" dur="2000" fill="hold"/>
                                        <p:tgtEl>
                                          <p:spTgt spid="68"/>
                                        </p:tgtEl>
                                        <p:attrNameLst>
                                          <p:attrName>ppt_x</p:attrName>
                                          <p:attrName>ppt_y</p:attrName>
                                        </p:attrNameLst>
                                      </p:cBhvr>
                                      <p:rCtr x="-22852" y="-116"/>
                                    </p:animMotion>
                                  </p:childTnLst>
                                </p:cTn>
                              </p:par>
                            </p:childTnLst>
                          </p:cTn>
                        </p:par>
                      </p:childTnLst>
                    </p:cTn>
                  </p:par>
                  <p:par>
                    <p:cTn id="217" fill="hold">
                      <p:stCondLst>
                        <p:cond delay="indefinite"/>
                      </p:stCondLst>
                      <p:childTnLst>
                        <p:par>
                          <p:cTn id="218" fill="hold">
                            <p:stCondLst>
                              <p:cond delay="0"/>
                            </p:stCondLst>
                            <p:childTnLst>
                              <p:par>
                                <p:cTn id="219" presetID="35" presetClass="path" presetSubtype="0" accel="50000" decel="50000" fill="hold" nodeType="clickEffect">
                                  <p:stCondLst>
                                    <p:cond delay="0"/>
                                  </p:stCondLst>
                                  <p:childTnLst>
                                    <p:animMotion origin="layout" path="M 4.375E-6 2.22222E-6 L -0.47006 -0.0081 " pathEditMode="relative" rAng="0" ptsTypes="AA">
                                      <p:cBhvr>
                                        <p:cTn id="220" dur="2000" fill="hold"/>
                                        <p:tgtEl>
                                          <p:spTgt spid="69"/>
                                        </p:tgtEl>
                                        <p:attrNameLst>
                                          <p:attrName>ppt_x</p:attrName>
                                          <p:attrName>ppt_y</p:attrName>
                                        </p:attrNameLst>
                                      </p:cBhvr>
                                      <p:rCtr x="-23503" y="-417"/>
                                    </p:animMotion>
                                  </p:childTnLst>
                                </p:cTn>
                              </p:par>
                            </p:childTnLst>
                          </p:cTn>
                        </p:par>
                      </p:childTnLst>
                    </p:cTn>
                  </p:par>
                  <p:par>
                    <p:cTn id="221" fill="hold">
                      <p:stCondLst>
                        <p:cond delay="indefinite"/>
                      </p:stCondLst>
                      <p:childTnLst>
                        <p:par>
                          <p:cTn id="222" fill="hold">
                            <p:stCondLst>
                              <p:cond delay="0"/>
                            </p:stCondLst>
                            <p:childTnLst>
                              <p:par>
                                <p:cTn id="223" presetID="10" presetClass="exit" presetSubtype="0" fill="hold" nodeType="clickEffect">
                                  <p:stCondLst>
                                    <p:cond delay="0"/>
                                  </p:stCondLst>
                                  <p:childTnLst>
                                    <p:animEffect transition="out" filter="fade">
                                      <p:cBhvr>
                                        <p:cTn id="224" dur="500"/>
                                        <p:tgtEl>
                                          <p:spTgt spid="19"/>
                                        </p:tgtEl>
                                      </p:cBhvr>
                                    </p:animEffect>
                                    <p:set>
                                      <p:cBhvr>
                                        <p:cTn id="225" dur="1" fill="hold">
                                          <p:stCondLst>
                                            <p:cond delay="499"/>
                                          </p:stCondLst>
                                        </p:cTn>
                                        <p:tgtEl>
                                          <p:spTgt spid="19"/>
                                        </p:tgtEl>
                                        <p:attrNameLst>
                                          <p:attrName>style.visibility</p:attrName>
                                        </p:attrNameLst>
                                      </p:cBhvr>
                                      <p:to>
                                        <p:strVal val="hidden"/>
                                      </p:to>
                                    </p:set>
                                  </p:childTnLst>
                                </p:cTn>
                              </p:par>
                            </p:childTnLst>
                          </p:cTn>
                        </p:par>
                      </p:childTnLst>
                    </p:cTn>
                  </p:par>
                  <p:par>
                    <p:cTn id="226" fill="hold">
                      <p:stCondLst>
                        <p:cond delay="indefinite"/>
                      </p:stCondLst>
                      <p:childTnLst>
                        <p:par>
                          <p:cTn id="227" fill="hold">
                            <p:stCondLst>
                              <p:cond delay="0"/>
                            </p:stCondLst>
                            <p:childTnLst>
                              <p:par>
                                <p:cTn id="228" presetID="10" presetClass="exit" presetSubtype="0" fill="hold" nodeType="clickEffect">
                                  <p:stCondLst>
                                    <p:cond delay="0"/>
                                  </p:stCondLst>
                                  <p:childTnLst>
                                    <p:animEffect transition="out" filter="fade">
                                      <p:cBhvr>
                                        <p:cTn id="229" dur="500"/>
                                        <p:tgtEl>
                                          <p:spTgt spid="15"/>
                                        </p:tgtEl>
                                      </p:cBhvr>
                                    </p:animEffect>
                                    <p:set>
                                      <p:cBhvr>
                                        <p:cTn id="230" dur="1" fill="hold">
                                          <p:stCondLst>
                                            <p:cond delay="499"/>
                                          </p:stCondLst>
                                        </p:cTn>
                                        <p:tgtEl>
                                          <p:spTgt spid="15"/>
                                        </p:tgtEl>
                                        <p:attrNameLst>
                                          <p:attrName>style.visibility</p:attrName>
                                        </p:attrNameLst>
                                      </p:cBhvr>
                                      <p:to>
                                        <p:strVal val="hidden"/>
                                      </p:to>
                                    </p:set>
                                  </p:childTnLst>
                                </p:cTn>
                              </p:par>
                            </p:childTnLst>
                          </p:cTn>
                        </p:par>
                      </p:childTnLst>
                    </p:cTn>
                  </p:par>
                  <p:par>
                    <p:cTn id="231" fill="hold">
                      <p:stCondLst>
                        <p:cond delay="indefinite"/>
                      </p:stCondLst>
                      <p:childTnLst>
                        <p:par>
                          <p:cTn id="232" fill="hold">
                            <p:stCondLst>
                              <p:cond delay="0"/>
                            </p:stCondLst>
                            <p:childTnLst>
                              <p:par>
                                <p:cTn id="233" presetID="10" presetClass="exit" presetSubtype="0" fill="hold" nodeType="clickEffect">
                                  <p:stCondLst>
                                    <p:cond delay="0"/>
                                  </p:stCondLst>
                                  <p:childTnLst>
                                    <p:animEffect transition="out" filter="fade">
                                      <p:cBhvr>
                                        <p:cTn id="234" dur="500"/>
                                        <p:tgtEl>
                                          <p:spTgt spid="9"/>
                                        </p:tgtEl>
                                      </p:cBhvr>
                                    </p:animEffect>
                                    <p:set>
                                      <p:cBhvr>
                                        <p:cTn id="235" dur="1" fill="hold">
                                          <p:stCondLst>
                                            <p:cond delay="499"/>
                                          </p:stCondLst>
                                        </p:cTn>
                                        <p:tgtEl>
                                          <p:spTgt spid="9"/>
                                        </p:tgtEl>
                                        <p:attrNameLst>
                                          <p:attrName>style.visibility</p:attrName>
                                        </p:attrNameLst>
                                      </p:cBhvr>
                                      <p:to>
                                        <p:strVal val="hidden"/>
                                      </p:to>
                                    </p:set>
                                  </p:childTnLst>
                                </p:cTn>
                              </p:par>
                            </p:childTnLst>
                          </p:cTn>
                        </p:par>
                      </p:childTnLst>
                    </p:cTn>
                  </p:par>
                  <p:par>
                    <p:cTn id="236" fill="hold">
                      <p:stCondLst>
                        <p:cond delay="indefinite"/>
                      </p:stCondLst>
                      <p:childTnLst>
                        <p:par>
                          <p:cTn id="237" fill="hold">
                            <p:stCondLst>
                              <p:cond delay="0"/>
                            </p:stCondLst>
                            <p:childTnLst>
                              <p:par>
                                <p:cTn id="238" presetID="35" presetClass="path" presetSubtype="0" accel="50000" decel="50000" fill="hold" nodeType="clickEffect">
                                  <p:stCondLst>
                                    <p:cond delay="0"/>
                                  </p:stCondLst>
                                  <p:childTnLst>
                                    <p:animMotion origin="layout" path="M -1.25E-6 2.22222E-6 L -0.51002 -0.0132 " pathEditMode="relative" rAng="0" ptsTypes="AA">
                                      <p:cBhvr>
                                        <p:cTn id="239" dur="2000" fill="hold"/>
                                        <p:tgtEl>
                                          <p:spTgt spid="70"/>
                                        </p:tgtEl>
                                        <p:attrNameLst>
                                          <p:attrName>ppt_x</p:attrName>
                                          <p:attrName>ppt_y</p:attrName>
                                        </p:attrNameLst>
                                      </p:cBhvr>
                                      <p:rCtr x="-25508" y="-671"/>
                                    </p:animMotion>
                                  </p:childTnLst>
                                </p:cTn>
                              </p:par>
                            </p:childTnLst>
                          </p:cTn>
                        </p:par>
                      </p:childTnLst>
                    </p:cTn>
                  </p:par>
                  <p:par>
                    <p:cTn id="240" fill="hold">
                      <p:stCondLst>
                        <p:cond delay="indefinite"/>
                      </p:stCondLst>
                      <p:childTnLst>
                        <p:par>
                          <p:cTn id="241" fill="hold">
                            <p:stCondLst>
                              <p:cond delay="0"/>
                            </p:stCondLst>
                            <p:childTnLst>
                              <p:par>
                                <p:cTn id="242" presetID="35" presetClass="path" presetSubtype="0" accel="50000" decel="50000" fill="hold" nodeType="clickEffect">
                                  <p:stCondLst>
                                    <p:cond delay="0"/>
                                  </p:stCondLst>
                                  <p:childTnLst>
                                    <p:animMotion origin="layout" path="M 2.5E-6 -1.48148E-6 L -0.50013 0.00139 " pathEditMode="relative" rAng="0" ptsTypes="AA">
                                      <p:cBhvr>
                                        <p:cTn id="243" dur="2000" fill="hold"/>
                                        <p:tgtEl>
                                          <p:spTgt spid="71"/>
                                        </p:tgtEl>
                                        <p:attrNameLst>
                                          <p:attrName>ppt_x</p:attrName>
                                          <p:attrName>ppt_y</p:attrName>
                                        </p:attrNameLst>
                                      </p:cBhvr>
                                      <p:rCtr x="-25013" y="6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animBg="1"/>
      <p:bldP spid="72" grpId="1" animBg="1"/>
      <p:bldP spid="4" grpId="0" animBg="1"/>
      <p:bldP spid="4" grpId="1" animBg="1"/>
      <p:bldP spid="5" grpId="0" animBg="1"/>
      <p:bldP spid="5" grpId="1" animBg="1"/>
      <p:bldP spid="6" grpId="0" animBg="1"/>
      <p:bldP spid="6" grpId="1" animBg="1"/>
      <p:bldP spid="75" grpId="0" animBg="1"/>
      <p:bldP spid="75" grpId="1"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10242">
            <a:extLst>
              <a:ext uri="{FF2B5EF4-FFF2-40B4-BE49-F238E27FC236}">
                <a16:creationId xmlns:a16="http://schemas.microsoft.com/office/drawing/2014/main" id="{2A666A98-0536-7FBC-5DCB-C48CB80F61B5}"/>
              </a:ext>
            </a:extLst>
          </p:cNvPr>
          <p:cNvSpPr txBox="1"/>
          <p:nvPr/>
        </p:nvSpPr>
        <p:spPr>
          <a:xfrm>
            <a:off x="1489888" y="2016641"/>
            <a:ext cx="8332206" cy="1616981"/>
          </a:xfrm>
          <a:prstGeom prst="rect">
            <a:avLst/>
          </a:prstGeom>
          <a:solidFill>
            <a:schemeClr val="accent6">
              <a:lumMod val="20000"/>
              <a:lumOff val="80000"/>
            </a:schemeClr>
          </a:solidFill>
          <a:ln w="9525">
            <a:noFill/>
          </a:ln>
        </p:spPr>
        <p:txBody>
          <a:bodyPr wrap="square">
            <a:spAutoFit/>
          </a:bodyPr>
          <a:lstStyle>
            <a:defPPr>
              <a:defRPr lang="zh-CN"/>
            </a:defPPr>
            <a:lvl1pPr marL="0" lvl="0"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9pPr>
          </a:lstStyle>
          <a:p>
            <a:pPr algn="just" eaLnBrk="0" hangingPunct="0">
              <a:lnSpc>
                <a:spcPct val="145000"/>
              </a:lnSpc>
              <a:spcBef>
                <a:spcPct val="15000"/>
              </a:spcBef>
            </a:pPr>
            <a:r>
              <a:rPr lang="zh-CN" altLang="en-US" sz="2400" b="1" dirty="0">
                <a:solidFill>
                  <a:srgbClr val="660066"/>
                </a:solidFill>
                <a:latin typeface="+mn-ea"/>
                <a:ea typeface="+mn-ea"/>
              </a:rPr>
              <a:t>由此可概括地说，</a:t>
            </a:r>
            <a:r>
              <a:rPr lang="zh-CN" altLang="en-US" sz="2400" b="1" dirty="0">
                <a:solidFill>
                  <a:srgbClr val="FF0000"/>
                </a:solidFill>
                <a:effectLst>
                  <a:outerShdw blurRad="38100" dist="38100" dir="2700000">
                    <a:srgbClr val="000000"/>
                  </a:outerShdw>
                </a:effectLst>
                <a:latin typeface="+mn-ea"/>
                <a:ea typeface="+mn-ea"/>
              </a:rPr>
              <a:t>数据结构</a:t>
            </a:r>
            <a:r>
              <a:rPr lang="zh-CN" altLang="en-US" sz="2400" b="1" dirty="0">
                <a:solidFill>
                  <a:srgbClr val="000000"/>
                </a:solidFill>
                <a:latin typeface="+mn-ea"/>
                <a:ea typeface="+mn-ea"/>
              </a:rPr>
              <a:t>是讨论“现实世界各种事物的</a:t>
            </a:r>
            <a:r>
              <a:rPr lang="zh-CN" altLang="en-US" sz="2400" b="1" dirty="0">
                <a:solidFill>
                  <a:srgbClr val="FF0000"/>
                </a:solidFill>
                <a:effectLst>
                  <a:outerShdw blurRad="38100" dist="38100" dir="2700000">
                    <a:srgbClr val="000000"/>
                  </a:outerShdw>
                </a:effectLst>
                <a:latin typeface="+mn-ea"/>
                <a:ea typeface="+mn-ea"/>
              </a:rPr>
              <a:t>数学模型</a:t>
            </a:r>
            <a:r>
              <a:rPr lang="zh-CN" altLang="en-US" sz="2400" b="1" dirty="0">
                <a:latin typeface="+mn-ea"/>
                <a:ea typeface="+mn-ea"/>
              </a:rPr>
              <a:t>（</a:t>
            </a:r>
            <a:r>
              <a:rPr lang="zh-CN" altLang="en-US" sz="2400" b="1" dirty="0">
                <a:solidFill>
                  <a:srgbClr val="000000"/>
                </a:solidFill>
                <a:latin typeface="+mn-ea"/>
                <a:ea typeface="+mn-ea"/>
              </a:rPr>
              <a:t>非数值计算）以及其上的</a:t>
            </a:r>
            <a:r>
              <a:rPr lang="zh-CN" altLang="en-US" sz="2400" b="1" dirty="0">
                <a:solidFill>
                  <a:srgbClr val="FF0000"/>
                </a:solidFill>
                <a:effectLst>
                  <a:outerShdw blurRad="38100" dist="38100" dir="2700000">
                    <a:srgbClr val="000000"/>
                  </a:outerShdw>
                </a:effectLst>
                <a:latin typeface="+mn-ea"/>
                <a:ea typeface="+mn-ea"/>
              </a:rPr>
              <a:t>操作</a:t>
            </a:r>
            <a:r>
              <a:rPr lang="zh-CN" altLang="en-US" sz="2400" b="1" dirty="0">
                <a:solidFill>
                  <a:srgbClr val="000000"/>
                </a:solidFill>
                <a:latin typeface="+mn-ea"/>
                <a:ea typeface="+mn-ea"/>
              </a:rPr>
              <a:t>在计算机中如何</a:t>
            </a:r>
            <a:r>
              <a:rPr lang="zh-CN" altLang="en-US" sz="2400" b="1" dirty="0">
                <a:solidFill>
                  <a:srgbClr val="FF0000"/>
                </a:solidFill>
                <a:effectLst>
                  <a:outerShdw blurRad="38100" dist="38100" dir="2700000">
                    <a:srgbClr val="000000"/>
                  </a:outerShdw>
                </a:effectLst>
                <a:latin typeface="+mn-ea"/>
                <a:ea typeface="+mn-ea"/>
              </a:rPr>
              <a:t>表示</a:t>
            </a:r>
            <a:r>
              <a:rPr lang="zh-CN" altLang="en-US" sz="2400" b="1" dirty="0">
                <a:solidFill>
                  <a:srgbClr val="000000"/>
                </a:solidFill>
                <a:latin typeface="+mn-ea"/>
                <a:ea typeface="+mn-ea"/>
              </a:rPr>
              <a:t>和</a:t>
            </a:r>
            <a:r>
              <a:rPr lang="zh-CN" altLang="en-US" sz="2400" b="1" dirty="0">
                <a:solidFill>
                  <a:srgbClr val="FF0000"/>
                </a:solidFill>
                <a:effectLst>
                  <a:outerShdw blurRad="38100" dist="38100" dir="2700000">
                    <a:srgbClr val="000000"/>
                  </a:outerShdw>
                </a:effectLst>
                <a:latin typeface="+mn-ea"/>
                <a:ea typeface="+mn-ea"/>
              </a:rPr>
              <a:t>实现</a:t>
            </a:r>
            <a:r>
              <a:rPr lang="zh-CN" altLang="en-US" sz="2400" b="1" dirty="0">
                <a:solidFill>
                  <a:srgbClr val="000000"/>
                </a:solidFill>
                <a:latin typeface="+mn-ea"/>
                <a:ea typeface="+mn-ea"/>
              </a:rPr>
              <a:t>”的学科分支。</a:t>
            </a:r>
          </a:p>
        </p:txBody>
      </p:sp>
      <p:sp>
        <p:nvSpPr>
          <p:cNvPr id="5" name="文本框 4">
            <a:extLst>
              <a:ext uri="{FF2B5EF4-FFF2-40B4-BE49-F238E27FC236}">
                <a16:creationId xmlns:a16="http://schemas.microsoft.com/office/drawing/2014/main" id="{BA434F99-617F-E1BE-ADC4-7612A83724A2}"/>
              </a:ext>
            </a:extLst>
          </p:cNvPr>
          <p:cNvSpPr txBox="1"/>
          <p:nvPr/>
        </p:nvSpPr>
        <p:spPr>
          <a:xfrm>
            <a:off x="1413056" y="586891"/>
            <a:ext cx="8409037" cy="1130246"/>
          </a:xfrm>
          <a:prstGeom prst="rect">
            <a:avLst/>
          </a:prstGeom>
          <a:noFill/>
        </p:spPr>
        <p:txBody>
          <a:bodyPr wrap="square">
            <a:spAutoFit/>
          </a:bodyPr>
          <a:lstStyle/>
          <a:p>
            <a:pPr>
              <a:lnSpc>
                <a:spcPct val="150000"/>
              </a:lnSpc>
            </a:pPr>
            <a:r>
              <a:rPr lang="zh-CN" altLang="zh-CN" sz="2400" b="1" dirty="0">
                <a:effectLst/>
                <a:latin typeface="Times New Roman" panose="02020603050405020304" pitchFamily="18" charset="0"/>
                <a:ea typeface="宋体" panose="02010600030101010101" pitchFamily="2" charset="-122"/>
                <a:cs typeface="Times New Roman" panose="02020603050405020304" pitchFamily="18" charset="0"/>
              </a:rPr>
              <a:t>从这</a:t>
            </a:r>
            <a:r>
              <a:rPr lang="en-US" altLang="zh-CN" sz="2400" b="1" dirty="0">
                <a:effectLst/>
                <a:latin typeface="Times New Roman" panose="02020603050405020304" pitchFamily="18" charset="0"/>
                <a:ea typeface="宋体" panose="02010600030101010101" pitchFamily="2" charset="-122"/>
              </a:rPr>
              <a:t>3</a:t>
            </a:r>
            <a:r>
              <a:rPr lang="zh-CN" altLang="zh-CN" sz="2400" b="1" dirty="0">
                <a:effectLst/>
                <a:latin typeface="Times New Roman" panose="02020603050405020304" pitchFamily="18" charset="0"/>
                <a:ea typeface="宋体" panose="02010600030101010101" pitchFamily="2" charset="-122"/>
                <a:cs typeface="Times New Roman" panose="02020603050405020304" pitchFamily="18" charset="0"/>
              </a:rPr>
              <a:t>个例子可见，描述这类非数值计算问题的数学模型不再是数学方程，而是诸如表、树和图之类的数据结构。</a:t>
            </a:r>
            <a:endParaRPr lang="zh-CN" altLang="en-US" sz="2400" b="1" dirty="0"/>
          </a:p>
        </p:txBody>
      </p:sp>
      <p:sp>
        <p:nvSpPr>
          <p:cNvPr id="7" name="文本框 6">
            <a:extLst>
              <a:ext uri="{FF2B5EF4-FFF2-40B4-BE49-F238E27FC236}">
                <a16:creationId xmlns:a16="http://schemas.microsoft.com/office/drawing/2014/main" id="{A9AEAD55-7506-4082-DA16-5E9125BF70EA}"/>
              </a:ext>
            </a:extLst>
          </p:cNvPr>
          <p:cNvSpPr txBox="1"/>
          <p:nvPr/>
        </p:nvSpPr>
        <p:spPr>
          <a:xfrm>
            <a:off x="1489888" y="4032868"/>
            <a:ext cx="8332206" cy="2238241"/>
          </a:xfrm>
          <a:prstGeom prst="rect">
            <a:avLst/>
          </a:prstGeom>
          <a:solidFill>
            <a:schemeClr val="accent4">
              <a:lumMod val="20000"/>
              <a:lumOff val="80000"/>
            </a:schemeClr>
          </a:solidFill>
        </p:spPr>
        <p:txBody>
          <a:bodyPr wrap="square">
            <a:spAutoFit/>
          </a:bodyPr>
          <a:lstStyle/>
          <a:p>
            <a:pPr algn="just">
              <a:lnSpc>
                <a:spcPct val="150000"/>
              </a:lnSpc>
            </a:pPr>
            <a:r>
              <a:rPr lang="zh-CN" altLang="en-US" sz="2400" b="1" dirty="0">
                <a:effectLst/>
                <a:latin typeface="Times New Roman" panose="02020603050405020304" pitchFamily="18" charset="0"/>
                <a:ea typeface="宋体" panose="02010600030101010101" pitchFamily="2" charset="-122"/>
                <a:cs typeface="Times New Roman" panose="02020603050405020304" pitchFamily="18" charset="0"/>
              </a:rPr>
              <a:t>也可以表述为：</a:t>
            </a:r>
            <a:r>
              <a:rPr lang="zh-CN" altLang="zh-CN" sz="2400" b="1" dirty="0">
                <a:solidFill>
                  <a:srgbClr val="FF0000"/>
                </a:solidFill>
                <a:effectLst>
                  <a:outerShdw blurRad="38100" dist="38100" dir="2700000">
                    <a:srgbClr val="000000"/>
                  </a:outerShdw>
                </a:effectLst>
                <a:latin typeface="+mn-ea"/>
              </a:rPr>
              <a:t>数据结构</a:t>
            </a:r>
            <a:r>
              <a:rPr lang="zh-CN" altLang="zh-CN" sz="2400" b="1" dirty="0">
                <a:effectLst/>
                <a:latin typeface="Times New Roman" panose="02020603050405020304" pitchFamily="18" charset="0"/>
                <a:ea typeface="宋体" panose="02010600030101010101" pitchFamily="2" charset="-122"/>
                <a:cs typeface="Times New Roman" panose="02020603050405020304" pitchFamily="18" charset="0"/>
              </a:rPr>
              <a:t>是一门研究非数值计算的程序设计问题中计算机的处理对象及其之间的关系和操作等的学科。具体实现的各种数据结构是对程序设计语言描述和操纵数据功能的扩展。</a:t>
            </a:r>
            <a:endParaRPr lang="zh-CN" altLang="en-US" sz="2400" b="1" dirty="0"/>
          </a:p>
        </p:txBody>
      </p:sp>
      <p:sp>
        <p:nvSpPr>
          <p:cNvPr id="2" name="灯片编号占位符 1">
            <a:extLst>
              <a:ext uri="{FF2B5EF4-FFF2-40B4-BE49-F238E27FC236}">
                <a16:creationId xmlns:a16="http://schemas.microsoft.com/office/drawing/2014/main" id="{54EB4277-D001-5B22-0296-0B0FFC7ECB41}"/>
              </a:ext>
            </a:extLst>
          </p:cNvPr>
          <p:cNvSpPr>
            <a:spLocks noGrp="1"/>
          </p:cNvSpPr>
          <p:nvPr>
            <p:ph type="sldNum" sz="quarter" idx="12"/>
          </p:nvPr>
        </p:nvSpPr>
        <p:spPr/>
        <p:txBody>
          <a:bodyPr/>
          <a:lstStyle/>
          <a:p>
            <a:fld id="{D7C0FE0B-717B-41AE-9FA2-CA4BF851D1C3}" type="slidenum">
              <a:rPr lang="zh-CN" altLang="en-US" smtClean="0"/>
              <a:t>29</a:t>
            </a:fld>
            <a:endParaRPr lang="zh-CN" altLang="en-US"/>
          </a:p>
        </p:txBody>
      </p:sp>
    </p:spTree>
    <p:extLst>
      <p:ext uri="{BB962C8B-B14F-4D97-AF65-F5344CB8AC3E}">
        <p14:creationId xmlns:p14="http://schemas.microsoft.com/office/powerpoint/2010/main" val="3219943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P spid="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B053A6C9-0CC9-EE1D-54DF-4C541521F13F}"/>
              </a:ext>
            </a:extLst>
          </p:cNvPr>
          <p:cNvSpPr txBox="1"/>
          <p:nvPr/>
        </p:nvSpPr>
        <p:spPr>
          <a:xfrm>
            <a:off x="948749" y="1089409"/>
            <a:ext cx="5385721" cy="4461799"/>
          </a:xfrm>
          <a:prstGeom prst="rect">
            <a:avLst/>
          </a:prstGeom>
          <a:noFill/>
        </p:spPr>
        <p:txBody>
          <a:bodyPr wrap="square">
            <a:spAutoFit/>
          </a:bodyPr>
          <a:lstStyle/>
          <a:p>
            <a:pPr indent="266700" algn="just">
              <a:lnSpc>
                <a:spcPct val="150000"/>
              </a:lnSpc>
              <a:buNone/>
            </a:pP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4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数据结构</a:t>
            </a: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是介于数学、计算机硬件和计算机软件三者之间的一门核心课程（如图</a:t>
            </a: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1.4</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所示）。在计算机科学中，</a:t>
            </a: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数据结构</a:t>
            </a: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不仅是一般程序设计（特别是非数值计算的程序设计）的基础，而且是设计和实现编译程序、操作系统、数据库系统、大数据模型及其他系统程序和大型应用程序的重要基础。</a:t>
            </a:r>
            <a:endParaRPr lang="zh-CN" alt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Rectangle 2">
            <a:extLst>
              <a:ext uri="{FF2B5EF4-FFF2-40B4-BE49-F238E27FC236}">
                <a16:creationId xmlns:a16="http://schemas.microsoft.com/office/drawing/2014/main" id="{EA0BF470-84B5-C907-1890-53C64AB562CD}"/>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2049" name="图片 1">
            <a:extLst>
              <a:ext uri="{FF2B5EF4-FFF2-40B4-BE49-F238E27FC236}">
                <a16:creationId xmlns:a16="http://schemas.microsoft.com/office/drawing/2014/main" id="{1DC7ABB2-676B-81B0-56D7-442C67F665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9869" y="1283950"/>
            <a:ext cx="4327033" cy="4050839"/>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56E8FBBF-A1E3-99AE-7027-5036E46C40F8}"/>
              </a:ext>
            </a:extLst>
          </p:cNvPr>
          <p:cNvSpPr>
            <a:spLocks noChangeArrowheads="1"/>
          </p:cNvSpPr>
          <p:nvPr/>
        </p:nvSpPr>
        <p:spPr bwMode="auto">
          <a:xfrm>
            <a:off x="7086670" y="5452366"/>
            <a:ext cx="385342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图</a:t>
            </a: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1.4  </a:t>
            </a:r>
            <a:r>
              <a:rPr kumimoji="0" lang="en-US" altLang="zh-CN" sz="20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a:t>
            </a:r>
            <a:r>
              <a:rPr kumimoji="0" lang="zh-CN" altLang="en-US"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数据结构</a:t>
            </a:r>
            <a:r>
              <a:rPr kumimoji="0" lang="zh-CN" altLang="en-US" sz="20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a:t>
            </a:r>
            <a:r>
              <a:rPr kumimoji="0" lang="zh-CN" altLang="en-US"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所处的地位</a:t>
            </a:r>
            <a:endParaRPr kumimoji="0" lang="zh-CN" altLang="en-US" sz="2000" b="0" i="0" u="none" strike="noStrike" cap="none" normalizeH="0" baseline="0" dirty="0">
              <a:ln>
                <a:noFill/>
              </a:ln>
              <a:solidFill>
                <a:schemeClr val="tx1"/>
              </a:solidFill>
              <a:effectLst/>
              <a:latin typeface="Arial" panose="020B0604020202020204" pitchFamily="34" charset="0"/>
            </a:endParaRPr>
          </a:p>
        </p:txBody>
      </p:sp>
      <p:sp>
        <p:nvSpPr>
          <p:cNvPr id="2" name="灯片编号占位符 1">
            <a:extLst>
              <a:ext uri="{FF2B5EF4-FFF2-40B4-BE49-F238E27FC236}">
                <a16:creationId xmlns:a16="http://schemas.microsoft.com/office/drawing/2014/main" id="{3F886573-0E5D-591D-510B-217FBC30B222}"/>
              </a:ext>
            </a:extLst>
          </p:cNvPr>
          <p:cNvSpPr>
            <a:spLocks noGrp="1"/>
          </p:cNvSpPr>
          <p:nvPr>
            <p:ph type="sldNum" sz="quarter" idx="12"/>
          </p:nvPr>
        </p:nvSpPr>
        <p:spPr/>
        <p:txBody>
          <a:bodyPr/>
          <a:lstStyle/>
          <a:p>
            <a:fld id="{D7C0FE0B-717B-41AE-9FA2-CA4BF851D1C3}" type="slidenum">
              <a:rPr lang="zh-CN" altLang="en-US" smtClean="0"/>
              <a:t>30</a:t>
            </a:fld>
            <a:endParaRPr lang="zh-CN" altLang="en-US"/>
          </a:p>
        </p:txBody>
      </p:sp>
    </p:spTree>
    <p:extLst>
      <p:ext uri="{BB962C8B-B14F-4D97-AF65-F5344CB8AC3E}">
        <p14:creationId xmlns:p14="http://schemas.microsoft.com/office/powerpoint/2010/main" val="19021609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1272">
            <a:extLst>
              <a:ext uri="{FF2B5EF4-FFF2-40B4-BE49-F238E27FC236}">
                <a16:creationId xmlns:a16="http://schemas.microsoft.com/office/drawing/2014/main" id="{2A0A3105-F420-4D63-609C-837C3EA41E4B}"/>
              </a:ext>
            </a:extLst>
          </p:cNvPr>
          <p:cNvSpPr txBox="1">
            <a:spLocks noGrp="1"/>
          </p:cNvSpPr>
          <p:nvPr/>
        </p:nvSpPr>
        <p:spPr>
          <a:xfrm>
            <a:off x="1365742" y="135222"/>
            <a:ext cx="6930187" cy="919162"/>
          </a:xfrm>
          <a:prstGeom prst="rect">
            <a:avLst/>
          </a:prstGeom>
        </p:spPr>
        <p:txBody>
          <a:bodyPr vert="horz" lIns="91440" tIns="45720" rIns="91440" bIns="45720" rtlCol="0" anchor="ctr" anchorCtr="0">
            <a:normAutofit/>
          </a:bodyPr>
          <a:lstStyle>
            <a:defPPr>
              <a:defRPr lang="zh-CN"/>
            </a:defPPr>
            <a:lvl1pPr>
              <a:lnSpc>
                <a:spcPct val="90000"/>
              </a:lnSpc>
              <a:spcBef>
                <a:spcPct val="0"/>
              </a:spcBef>
              <a:buNone/>
              <a:defRPr sz="3200" b="1">
                <a:solidFill>
                  <a:srgbClr val="000099"/>
                </a:solidFill>
                <a:effectLst>
                  <a:outerShdw blurRad="38100" dist="38100" dir="2700000" algn="tl">
                    <a:srgbClr val="000000">
                      <a:alpha val="43137"/>
                    </a:srgbClr>
                  </a:outerShdw>
                </a:effectLst>
                <a:latin typeface="+mj-lt"/>
                <a:ea typeface="+mj-ea"/>
                <a:cs typeface="+mj-cs"/>
              </a:defRPr>
            </a:lvl1pPr>
          </a:lstStyle>
          <a:p>
            <a:r>
              <a:rPr lang="en-US" altLang="zh-CN" dirty="0"/>
              <a:t>1.2  </a:t>
            </a:r>
            <a:r>
              <a:rPr lang="zh-CN" altLang="en-US" dirty="0"/>
              <a:t>基本概念和术语</a:t>
            </a:r>
          </a:p>
        </p:txBody>
      </p:sp>
      <p:sp>
        <p:nvSpPr>
          <p:cNvPr id="3" name="文本框 11266">
            <a:extLst>
              <a:ext uri="{FF2B5EF4-FFF2-40B4-BE49-F238E27FC236}">
                <a16:creationId xmlns:a16="http://schemas.microsoft.com/office/drawing/2014/main" id="{21A623A4-FAEA-FE13-8C35-A4075EA1601F}"/>
              </a:ext>
            </a:extLst>
          </p:cNvPr>
          <p:cNvSpPr txBox="1"/>
          <p:nvPr/>
        </p:nvSpPr>
        <p:spPr>
          <a:xfrm>
            <a:off x="903693" y="1301359"/>
            <a:ext cx="3460490" cy="523220"/>
          </a:xfrm>
          <a:prstGeom prst="rect">
            <a:avLst/>
          </a:prstGeom>
          <a:noFill/>
          <a:ln w="9525">
            <a:noFill/>
          </a:ln>
        </p:spPr>
        <p:txBody>
          <a:bodyPr wrap="square">
            <a:spAutoFit/>
          </a:bodyPr>
          <a:lstStyle>
            <a:defPPr>
              <a:defRPr lang="zh-CN"/>
            </a:defPPr>
            <a:lvl1pPr marL="0" lvl="0"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9pPr>
          </a:lstStyle>
          <a:p>
            <a:r>
              <a:rPr lang="zh-CN" altLang="en-US" sz="2800" dirty="0">
                <a:solidFill>
                  <a:srgbClr val="660066"/>
                </a:solidFill>
                <a:effectLst>
                  <a:outerShdw blurRad="38100" dist="38100" dir="2700000" algn="tl">
                    <a:srgbClr val="000000">
                      <a:alpha val="43137"/>
                    </a:srgbClr>
                  </a:outerShdw>
                </a:effectLst>
                <a:latin typeface="楷体_GB2312" pitchFamily="49" charset="-122"/>
                <a:ea typeface="楷体_GB2312" pitchFamily="49" charset="-122"/>
              </a:rPr>
              <a:t>一</a:t>
            </a:r>
            <a:r>
              <a:rPr lang="en-US" altLang="zh-CN" sz="2800" dirty="0">
                <a:solidFill>
                  <a:srgbClr val="660066"/>
                </a:solidFill>
                <a:effectLst>
                  <a:outerShdw blurRad="38100" dist="38100" dir="2700000" algn="tl">
                    <a:srgbClr val="000000">
                      <a:alpha val="43137"/>
                    </a:srgbClr>
                  </a:outerShdw>
                </a:effectLst>
                <a:latin typeface="楷体_GB2312" pitchFamily="49" charset="-122"/>
                <a:ea typeface="楷体_GB2312" pitchFamily="49" charset="-122"/>
              </a:rPr>
              <a:t>. </a:t>
            </a:r>
            <a:r>
              <a:rPr lang="zh-CN" altLang="en-US" sz="2800" dirty="0">
                <a:solidFill>
                  <a:srgbClr val="660066"/>
                </a:solidFill>
                <a:effectLst>
                  <a:outerShdw blurRad="38100" dist="38100" dir="2700000" algn="tl">
                    <a:srgbClr val="000000">
                      <a:alpha val="43137"/>
                    </a:srgbClr>
                  </a:outerShdw>
                </a:effectLst>
                <a:latin typeface="楷体_GB2312" pitchFamily="49" charset="-122"/>
                <a:ea typeface="楷体_GB2312" pitchFamily="49" charset="-122"/>
              </a:rPr>
              <a:t>数据与数据结构</a:t>
            </a:r>
            <a:endParaRPr lang="zh-CN" altLang="en-US" sz="2800" dirty="0">
              <a:effectLst>
                <a:outerShdw blurRad="38100" dist="38100" dir="2700000" algn="tl">
                  <a:srgbClr val="000000">
                    <a:alpha val="43137"/>
                  </a:srgbClr>
                </a:outerShdw>
              </a:effectLst>
            </a:endParaRPr>
          </a:p>
        </p:txBody>
      </p:sp>
      <p:sp>
        <p:nvSpPr>
          <p:cNvPr id="4" name="文本框 11267">
            <a:extLst>
              <a:ext uri="{FF2B5EF4-FFF2-40B4-BE49-F238E27FC236}">
                <a16:creationId xmlns:a16="http://schemas.microsoft.com/office/drawing/2014/main" id="{364CD61F-B31D-734A-7D8F-29097CFE55C3}"/>
              </a:ext>
            </a:extLst>
          </p:cNvPr>
          <p:cNvSpPr txBox="1"/>
          <p:nvPr/>
        </p:nvSpPr>
        <p:spPr>
          <a:xfrm>
            <a:off x="2631155" y="2183385"/>
            <a:ext cx="8479041" cy="461665"/>
          </a:xfrm>
          <a:prstGeom prst="rect">
            <a:avLst/>
          </a:prstGeom>
          <a:noFill/>
          <a:ln w="9525">
            <a:noFill/>
          </a:ln>
        </p:spPr>
        <p:txBody>
          <a:bodyPr wrap="square">
            <a:spAutoFit/>
          </a:bodyPr>
          <a:lstStyle>
            <a:defPPr>
              <a:defRPr lang="zh-CN"/>
            </a:defPPr>
            <a:lvl1pPr marL="0" lvl="0"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9pPr>
          </a:lstStyle>
          <a:p>
            <a:pPr marL="342900" indent="-342900">
              <a:buFont typeface="Wingdings" panose="05000000000000000000" pitchFamily="2" charset="2"/>
              <a:buChar char="Ø"/>
            </a:pPr>
            <a:r>
              <a:rPr lang="zh-CN" altLang="en-US" sz="2400" dirty="0">
                <a:solidFill>
                  <a:srgbClr val="000000"/>
                </a:solidFill>
                <a:latin typeface="+mn-ea"/>
                <a:ea typeface="+mn-ea"/>
              </a:rPr>
              <a:t>所有能</a:t>
            </a:r>
            <a:r>
              <a:rPr lang="zh-CN" altLang="en-US" sz="2400" b="1" dirty="0">
                <a:solidFill>
                  <a:srgbClr val="000000"/>
                </a:solidFill>
                <a:latin typeface="+mn-ea"/>
                <a:ea typeface="+mn-ea"/>
              </a:rPr>
              <a:t>被输入</a:t>
            </a:r>
            <a:r>
              <a:rPr lang="zh-CN" altLang="en-US" sz="2400" dirty="0">
                <a:solidFill>
                  <a:srgbClr val="000000"/>
                </a:solidFill>
                <a:latin typeface="+mn-ea"/>
                <a:ea typeface="+mn-ea"/>
              </a:rPr>
              <a:t>到计算机中，且被计算机</a:t>
            </a:r>
            <a:r>
              <a:rPr lang="zh-CN" altLang="en-US" sz="2400" b="1" dirty="0">
                <a:solidFill>
                  <a:srgbClr val="000000"/>
                </a:solidFill>
                <a:latin typeface="+mn-ea"/>
                <a:ea typeface="+mn-ea"/>
              </a:rPr>
              <a:t>处理的符号</a:t>
            </a:r>
            <a:r>
              <a:rPr lang="zh-CN" altLang="en-US" sz="2400" dirty="0">
                <a:solidFill>
                  <a:srgbClr val="000000"/>
                </a:solidFill>
                <a:latin typeface="+mn-ea"/>
                <a:ea typeface="+mn-ea"/>
              </a:rPr>
              <a:t>的</a:t>
            </a:r>
            <a:r>
              <a:rPr lang="zh-CN" altLang="en-US" sz="2400" b="1" dirty="0">
                <a:solidFill>
                  <a:srgbClr val="000000"/>
                </a:solidFill>
                <a:effectLst>
                  <a:outerShdw blurRad="38100" dist="38100" dir="2700000" algn="tl">
                    <a:srgbClr val="000000">
                      <a:alpha val="43137"/>
                    </a:srgbClr>
                  </a:outerShdw>
                </a:effectLst>
                <a:latin typeface="+mn-ea"/>
                <a:ea typeface="+mn-ea"/>
              </a:rPr>
              <a:t>集合</a:t>
            </a:r>
            <a:r>
              <a:rPr lang="zh-CN" altLang="en-US" sz="2400" dirty="0">
                <a:solidFill>
                  <a:srgbClr val="000000"/>
                </a:solidFill>
                <a:latin typeface="+mn-ea"/>
                <a:ea typeface="+mn-ea"/>
              </a:rPr>
              <a:t>。</a:t>
            </a:r>
          </a:p>
        </p:txBody>
      </p:sp>
      <p:sp>
        <p:nvSpPr>
          <p:cNvPr id="5" name="文本框 11268">
            <a:extLst>
              <a:ext uri="{FF2B5EF4-FFF2-40B4-BE49-F238E27FC236}">
                <a16:creationId xmlns:a16="http://schemas.microsoft.com/office/drawing/2014/main" id="{C105994C-380A-EF58-6EFD-FE89136AE3D0}"/>
              </a:ext>
            </a:extLst>
          </p:cNvPr>
          <p:cNvSpPr txBox="1"/>
          <p:nvPr/>
        </p:nvSpPr>
        <p:spPr>
          <a:xfrm>
            <a:off x="1319882" y="2178622"/>
            <a:ext cx="958917" cy="461665"/>
          </a:xfrm>
          <a:prstGeom prst="rect">
            <a:avLst/>
          </a:prstGeom>
          <a:noFill/>
          <a:ln w="9525">
            <a:noFill/>
          </a:ln>
        </p:spPr>
        <p:txBody>
          <a:bodyPr wrap="none"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9pPr>
          </a:lstStyle>
          <a:p>
            <a:r>
              <a:rPr lang="zh-CN" altLang="en-US" sz="2400" b="1" dirty="0">
                <a:solidFill>
                  <a:srgbClr val="FF0000"/>
                </a:solidFill>
                <a:effectLst>
                  <a:outerShdw blurRad="38100" dist="38100" dir="2700000">
                    <a:srgbClr val="000000"/>
                  </a:outerShdw>
                </a:effectLst>
                <a:latin typeface="+mn-ea"/>
                <a:ea typeface="+mn-ea"/>
              </a:rPr>
              <a:t>数据</a:t>
            </a:r>
            <a:r>
              <a:rPr lang="en-US" altLang="zh-CN" sz="2400" b="1" dirty="0">
                <a:solidFill>
                  <a:srgbClr val="FF0000"/>
                </a:solidFill>
                <a:effectLst>
                  <a:outerShdw blurRad="38100" dist="38100" dir="2700000">
                    <a:srgbClr val="000000"/>
                  </a:outerShdw>
                </a:effectLst>
                <a:latin typeface="+mn-ea"/>
                <a:ea typeface="+mn-ea"/>
              </a:rPr>
              <a:t>:</a:t>
            </a:r>
          </a:p>
        </p:txBody>
      </p:sp>
      <p:sp>
        <p:nvSpPr>
          <p:cNvPr id="6" name="文本框 11269">
            <a:extLst>
              <a:ext uri="{FF2B5EF4-FFF2-40B4-BE49-F238E27FC236}">
                <a16:creationId xmlns:a16="http://schemas.microsoft.com/office/drawing/2014/main" id="{980B5831-4E9A-3904-4EEC-9CAAA98DDA90}"/>
              </a:ext>
            </a:extLst>
          </p:cNvPr>
          <p:cNvSpPr txBox="1"/>
          <p:nvPr/>
        </p:nvSpPr>
        <p:spPr>
          <a:xfrm>
            <a:off x="2595937" y="2829916"/>
            <a:ext cx="4984582" cy="461665"/>
          </a:xfrm>
          <a:prstGeom prst="rect">
            <a:avLst/>
          </a:prstGeom>
          <a:noFill/>
          <a:ln w="9525">
            <a:noFill/>
          </a:ln>
        </p:spPr>
        <p:txBody>
          <a:bodyPr wrap="square">
            <a:spAutoFit/>
          </a:bodyPr>
          <a:lstStyle>
            <a:defPPr>
              <a:defRPr lang="zh-CN"/>
            </a:defPPr>
            <a:lvl1pPr marL="0" lvl="0"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9pPr>
          </a:lstStyle>
          <a:p>
            <a:pPr marL="342900" indent="-342900">
              <a:buFont typeface="Wingdings" panose="05000000000000000000" pitchFamily="2" charset="2"/>
              <a:buChar char="Ø"/>
            </a:pPr>
            <a:r>
              <a:rPr lang="zh-CN" altLang="en-US" sz="2400" dirty="0">
                <a:solidFill>
                  <a:srgbClr val="000000"/>
                </a:solidFill>
                <a:latin typeface="+mn-ea"/>
                <a:ea typeface="+mn-ea"/>
              </a:rPr>
              <a:t>是</a:t>
            </a:r>
            <a:r>
              <a:rPr lang="zh-CN" altLang="en-US" sz="2400" b="1" dirty="0">
                <a:solidFill>
                  <a:srgbClr val="000000"/>
                </a:solidFill>
                <a:latin typeface="+mn-ea"/>
                <a:ea typeface="+mn-ea"/>
              </a:rPr>
              <a:t>计算机操作的对象</a:t>
            </a:r>
            <a:r>
              <a:rPr lang="zh-CN" altLang="en-US" sz="2400" dirty="0">
                <a:solidFill>
                  <a:srgbClr val="000000"/>
                </a:solidFill>
                <a:latin typeface="+mn-ea"/>
                <a:ea typeface="+mn-ea"/>
              </a:rPr>
              <a:t>的总称。</a:t>
            </a:r>
          </a:p>
        </p:txBody>
      </p:sp>
      <p:sp>
        <p:nvSpPr>
          <p:cNvPr id="7" name="文本框 11270">
            <a:extLst>
              <a:ext uri="{FF2B5EF4-FFF2-40B4-BE49-F238E27FC236}">
                <a16:creationId xmlns:a16="http://schemas.microsoft.com/office/drawing/2014/main" id="{5B4D6276-839D-F27D-5D8C-BC4207F7FB72}"/>
              </a:ext>
            </a:extLst>
          </p:cNvPr>
          <p:cNvSpPr txBox="1"/>
          <p:nvPr/>
        </p:nvSpPr>
        <p:spPr>
          <a:xfrm>
            <a:off x="2595936" y="3472204"/>
            <a:ext cx="7419824" cy="461665"/>
          </a:xfrm>
          <a:prstGeom prst="rect">
            <a:avLst/>
          </a:prstGeom>
          <a:noFill/>
          <a:ln w="9525">
            <a:noFill/>
          </a:ln>
        </p:spPr>
        <p:txBody>
          <a:bodyPr wrap="square">
            <a:spAutoFit/>
          </a:bodyPr>
          <a:lstStyle>
            <a:defPPr>
              <a:defRPr lang="zh-CN"/>
            </a:defPPr>
            <a:lvl1pPr marL="0" lvl="0"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9pPr>
          </a:lstStyle>
          <a:p>
            <a:pPr marL="342900" indent="-342900">
              <a:buFont typeface="Wingdings" panose="05000000000000000000" pitchFamily="2" charset="2"/>
              <a:buChar char="Ø"/>
            </a:pPr>
            <a:r>
              <a:rPr lang="zh-CN" altLang="en-US" sz="2400" dirty="0">
                <a:solidFill>
                  <a:srgbClr val="000000"/>
                </a:solidFill>
                <a:latin typeface="+mn-ea"/>
                <a:ea typeface="+mn-ea"/>
              </a:rPr>
              <a:t>是计算机处理的</a:t>
            </a:r>
            <a:r>
              <a:rPr lang="zh-CN" altLang="en-US" sz="2400" b="1" dirty="0">
                <a:solidFill>
                  <a:srgbClr val="FF0000"/>
                </a:solidFill>
                <a:effectLst>
                  <a:outerShdw blurRad="38100" dist="38100" dir="2700000">
                    <a:srgbClr val="000000"/>
                  </a:outerShdw>
                </a:effectLst>
                <a:latin typeface="+mn-ea"/>
                <a:ea typeface="+mn-ea"/>
              </a:rPr>
              <a:t>信息</a:t>
            </a:r>
            <a:r>
              <a:rPr lang="zh-CN" altLang="en-US" sz="2400" dirty="0">
                <a:solidFill>
                  <a:srgbClr val="000000"/>
                </a:solidFill>
                <a:latin typeface="+mn-ea"/>
                <a:ea typeface="+mn-ea"/>
              </a:rPr>
              <a:t>的某种特定的符号</a:t>
            </a:r>
            <a:r>
              <a:rPr lang="zh-CN" altLang="en-US" sz="2400" b="1" dirty="0">
                <a:solidFill>
                  <a:srgbClr val="000000"/>
                </a:solidFill>
                <a:latin typeface="+mn-ea"/>
                <a:ea typeface="+mn-ea"/>
              </a:rPr>
              <a:t>表示形式</a:t>
            </a:r>
            <a:r>
              <a:rPr lang="zh-CN" altLang="en-US" sz="2400" dirty="0">
                <a:solidFill>
                  <a:srgbClr val="000000"/>
                </a:solidFill>
                <a:latin typeface="+mn-ea"/>
                <a:ea typeface="+mn-ea"/>
              </a:rPr>
              <a:t>。</a:t>
            </a:r>
          </a:p>
        </p:txBody>
      </p:sp>
      <p:sp>
        <p:nvSpPr>
          <p:cNvPr id="8" name="标题 12293">
            <a:extLst>
              <a:ext uri="{FF2B5EF4-FFF2-40B4-BE49-F238E27FC236}">
                <a16:creationId xmlns:a16="http://schemas.microsoft.com/office/drawing/2014/main" id="{64A0C919-1B04-E4A6-575B-125AD11E3289}"/>
              </a:ext>
            </a:extLst>
          </p:cNvPr>
          <p:cNvSpPr txBox="1">
            <a:spLocks/>
          </p:cNvSpPr>
          <p:nvPr/>
        </p:nvSpPr>
        <p:spPr>
          <a:xfrm>
            <a:off x="683431" y="4091984"/>
            <a:ext cx="1628627" cy="523220"/>
          </a:xfrm>
          <a:prstGeom prst="rect">
            <a:avLst/>
          </a:prstGeom>
        </p:spPr>
        <p:txBody>
          <a:bodyPr vert="horz" wrap="square" lIns="91440" tIns="45720" rIns="91440" bIns="45720" anchor="b"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400" b="1" dirty="0">
                <a:solidFill>
                  <a:srgbClr val="FF0000"/>
                </a:solidFill>
                <a:effectLst>
                  <a:outerShdw blurRad="38100" dist="38100" dir="2700000">
                    <a:srgbClr val="000000"/>
                  </a:outerShdw>
                </a:effectLst>
                <a:latin typeface="+mn-ea"/>
                <a:ea typeface="+mn-ea"/>
              </a:rPr>
              <a:t>数据元素</a:t>
            </a:r>
            <a:r>
              <a:rPr lang="en-US" altLang="zh-CN" sz="2400" b="1" dirty="0">
                <a:solidFill>
                  <a:srgbClr val="FF0000"/>
                </a:solidFill>
                <a:effectLst>
                  <a:outerShdw blurRad="38100" dist="38100" dir="2700000">
                    <a:srgbClr val="000000"/>
                  </a:outerShdw>
                </a:effectLst>
                <a:latin typeface="+mn-ea"/>
                <a:ea typeface="+mn-ea"/>
              </a:rPr>
              <a:t>:</a:t>
            </a:r>
            <a:endParaRPr lang="en-US" altLang="zh-CN" sz="2400" b="1" dirty="0">
              <a:effectLst>
                <a:outerShdw blurRad="38100" dist="38100" dir="2700000">
                  <a:srgbClr val="000000"/>
                </a:outerShdw>
              </a:effectLst>
              <a:latin typeface="+mn-ea"/>
              <a:ea typeface="+mn-ea"/>
            </a:endParaRPr>
          </a:p>
        </p:txBody>
      </p:sp>
      <p:sp>
        <p:nvSpPr>
          <p:cNvPr id="9" name="文本框 8">
            <a:extLst>
              <a:ext uri="{FF2B5EF4-FFF2-40B4-BE49-F238E27FC236}">
                <a16:creationId xmlns:a16="http://schemas.microsoft.com/office/drawing/2014/main" id="{EE83D706-0010-FE8D-5FBB-FEE7A59B7951}"/>
              </a:ext>
            </a:extLst>
          </p:cNvPr>
          <p:cNvSpPr txBox="1"/>
          <p:nvPr/>
        </p:nvSpPr>
        <p:spPr>
          <a:xfrm>
            <a:off x="2595936" y="4207073"/>
            <a:ext cx="5117241" cy="461665"/>
          </a:xfrm>
          <a:prstGeom prst="rect">
            <a:avLst/>
          </a:prstGeom>
          <a:noFill/>
          <a:ln w="9525">
            <a:noFill/>
          </a:ln>
        </p:spPr>
        <p:txBody>
          <a:bodyPr wrap="square">
            <a:spAutoFit/>
          </a:bodyPr>
          <a:lstStyle/>
          <a:p>
            <a:pPr marL="342900" indent="-342900">
              <a:buFont typeface="Wingdings" panose="05000000000000000000" pitchFamily="2" charset="2"/>
              <a:buChar char="Ø"/>
            </a:pPr>
            <a:r>
              <a:rPr lang="zh-CN" altLang="en-US" sz="2400" b="1" dirty="0">
                <a:solidFill>
                  <a:srgbClr val="000000"/>
                </a:solidFill>
                <a:latin typeface="+mn-ea"/>
              </a:rPr>
              <a:t>数据（集合）</a:t>
            </a:r>
            <a:r>
              <a:rPr lang="zh-CN" altLang="en-US" sz="2400" dirty="0">
                <a:solidFill>
                  <a:srgbClr val="000000"/>
                </a:solidFill>
                <a:latin typeface="+mn-ea"/>
              </a:rPr>
              <a:t>中的一个</a:t>
            </a:r>
            <a:r>
              <a:rPr lang="zh-CN" altLang="en-US" sz="2400" b="1" dirty="0">
                <a:solidFill>
                  <a:srgbClr val="000000"/>
                </a:solidFill>
                <a:latin typeface="+mn-ea"/>
              </a:rPr>
              <a:t>“个体”</a:t>
            </a:r>
          </a:p>
        </p:txBody>
      </p:sp>
      <p:sp>
        <p:nvSpPr>
          <p:cNvPr id="10" name="文本框 9">
            <a:extLst>
              <a:ext uri="{FF2B5EF4-FFF2-40B4-BE49-F238E27FC236}">
                <a16:creationId xmlns:a16="http://schemas.microsoft.com/office/drawing/2014/main" id="{8A13CCFF-9893-5CAD-D3DA-DB9F38F7CB84}"/>
              </a:ext>
            </a:extLst>
          </p:cNvPr>
          <p:cNvSpPr txBox="1"/>
          <p:nvPr/>
        </p:nvSpPr>
        <p:spPr>
          <a:xfrm>
            <a:off x="2595937" y="4777783"/>
            <a:ext cx="4946680" cy="461665"/>
          </a:xfrm>
          <a:prstGeom prst="rect">
            <a:avLst/>
          </a:prstGeom>
          <a:noFill/>
          <a:ln w="9525">
            <a:noFill/>
          </a:ln>
        </p:spPr>
        <p:txBody>
          <a:bodyPr wrap="square">
            <a:spAutoFit/>
          </a:bodyPr>
          <a:lstStyle/>
          <a:p>
            <a:pPr marL="342900" indent="-342900">
              <a:buFont typeface="Wingdings" panose="05000000000000000000" pitchFamily="2" charset="2"/>
              <a:buChar char="Ø"/>
            </a:pPr>
            <a:r>
              <a:rPr lang="zh-CN" altLang="en-US" sz="2400" b="1" dirty="0">
                <a:solidFill>
                  <a:srgbClr val="000000"/>
                </a:solidFill>
                <a:latin typeface="+mn-ea"/>
              </a:rPr>
              <a:t>数据结构</a:t>
            </a:r>
            <a:r>
              <a:rPr lang="zh-CN" altLang="en-US" sz="2400" dirty="0">
                <a:solidFill>
                  <a:srgbClr val="000000"/>
                </a:solidFill>
                <a:latin typeface="+mn-ea"/>
              </a:rPr>
              <a:t>中讨论的</a:t>
            </a:r>
            <a:r>
              <a:rPr lang="zh-CN" altLang="en-US" sz="2400" b="1" dirty="0">
                <a:solidFill>
                  <a:srgbClr val="000000"/>
                </a:solidFill>
                <a:latin typeface="+mn-ea"/>
              </a:rPr>
              <a:t>基本单位</a:t>
            </a:r>
          </a:p>
        </p:txBody>
      </p:sp>
      <p:sp>
        <p:nvSpPr>
          <p:cNvPr id="11" name="灯片编号占位符 10">
            <a:extLst>
              <a:ext uri="{FF2B5EF4-FFF2-40B4-BE49-F238E27FC236}">
                <a16:creationId xmlns:a16="http://schemas.microsoft.com/office/drawing/2014/main" id="{4E247B52-0DDE-8BDA-E638-24F3CE11D09B}"/>
              </a:ext>
            </a:extLst>
          </p:cNvPr>
          <p:cNvSpPr>
            <a:spLocks noGrp="1"/>
          </p:cNvSpPr>
          <p:nvPr>
            <p:ph type="sldNum" sz="quarter" idx="12"/>
          </p:nvPr>
        </p:nvSpPr>
        <p:spPr/>
        <p:txBody>
          <a:bodyPr/>
          <a:lstStyle/>
          <a:p>
            <a:fld id="{D7C0FE0B-717B-41AE-9FA2-CA4BF851D1C3}" type="slidenum">
              <a:rPr lang="zh-CN" altLang="en-US" smtClean="0"/>
              <a:t>31</a:t>
            </a:fld>
            <a:endParaRPr lang="zh-CN" altLang="en-US"/>
          </a:p>
        </p:txBody>
      </p:sp>
    </p:spTree>
    <p:extLst>
      <p:ext uri="{BB962C8B-B14F-4D97-AF65-F5344CB8AC3E}">
        <p14:creationId xmlns:p14="http://schemas.microsoft.com/office/powerpoint/2010/main" val="1305671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1000"/>
                                        <p:tgtEl>
                                          <p:spTgt spid="7"/>
                                        </p:tgtEl>
                                      </p:cBhvr>
                                    </p:animEffect>
                                    <p:anim calcmode="lin" valueType="num">
                                      <p:cBhvr>
                                        <p:cTn id="23" dur="1000" fill="hold"/>
                                        <p:tgtEl>
                                          <p:spTgt spid="7"/>
                                        </p:tgtEl>
                                        <p:attrNameLst>
                                          <p:attrName>ppt_x</p:attrName>
                                        </p:attrNameLst>
                                      </p:cBhvr>
                                      <p:tavLst>
                                        <p:tav tm="0">
                                          <p:val>
                                            <p:strVal val="#ppt_x"/>
                                          </p:val>
                                        </p:tav>
                                        <p:tav tm="100000">
                                          <p:val>
                                            <p:strVal val="#ppt_x"/>
                                          </p:val>
                                        </p:tav>
                                      </p:tavLst>
                                    </p:anim>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1000"/>
                                        <p:tgtEl>
                                          <p:spTgt spid="8"/>
                                        </p:tgtEl>
                                      </p:cBhvr>
                                    </p:animEffect>
                                    <p:anim calcmode="lin" valueType="num">
                                      <p:cBhvr>
                                        <p:cTn id="30" dur="1000" fill="hold"/>
                                        <p:tgtEl>
                                          <p:spTgt spid="8"/>
                                        </p:tgtEl>
                                        <p:attrNameLst>
                                          <p:attrName>ppt_x</p:attrName>
                                        </p:attrNameLst>
                                      </p:cBhvr>
                                      <p:tavLst>
                                        <p:tav tm="0">
                                          <p:val>
                                            <p:strVal val="#ppt_x"/>
                                          </p:val>
                                        </p:tav>
                                        <p:tav tm="100000">
                                          <p:val>
                                            <p:strVal val="#ppt_x"/>
                                          </p:val>
                                        </p:tav>
                                      </p:tavLst>
                                    </p:anim>
                                    <p:anim calcmode="lin" valueType="num">
                                      <p:cBhvr>
                                        <p:cTn id="31" dur="1000" fill="hold"/>
                                        <p:tgtEl>
                                          <p:spTgt spid="8"/>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1000"/>
                                        <p:tgtEl>
                                          <p:spTgt spid="9"/>
                                        </p:tgtEl>
                                      </p:cBhvr>
                                    </p:animEffect>
                                    <p:anim calcmode="lin" valueType="num">
                                      <p:cBhvr>
                                        <p:cTn id="35" dur="1000" fill="hold"/>
                                        <p:tgtEl>
                                          <p:spTgt spid="9"/>
                                        </p:tgtEl>
                                        <p:attrNameLst>
                                          <p:attrName>ppt_x</p:attrName>
                                        </p:attrNameLst>
                                      </p:cBhvr>
                                      <p:tavLst>
                                        <p:tav tm="0">
                                          <p:val>
                                            <p:strVal val="#ppt_x"/>
                                          </p:val>
                                        </p:tav>
                                        <p:tav tm="100000">
                                          <p:val>
                                            <p:strVal val="#ppt_x"/>
                                          </p:val>
                                        </p:tav>
                                      </p:tavLst>
                                    </p:anim>
                                    <p:anim calcmode="lin" valueType="num">
                                      <p:cBhvr>
                                        <p:cTn id="36" dur="1000" fill="hold"/>
                                        <p:tgtEl>
                                          <p:spTgt spid="9"/>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1000"/>
                                        <p:tgtEl>
                                          <p:spTgt spid="10"/>
                                        </p:tgtEl>
                                      </p:cBhvr>
                                    </p:animEffect>
                                    <p:anim calcmode="lin" valueType="num">
                                      <p:cBhvr>
                                        <p:cTn id="40" dur="1000" fill="hold"/>
                                        <p:tgtEl>
                                          <p:spTgt spid="10"/>
                                        </p:tgtEl>
                                        <p:attrNameLst>
                                          <p:attrName>ppt_x</p:attrName>
                                        </p:attrNameLst>
                                      </p:cBhvr>
                                      <p:tavLst>
                                        <p:tav tm="0">
                                          <p:val>
                                            <p:strVal val="#ppt_x"/>
                                          </p:val>
                                        </p:tav>
                                        <p:tav tm="100000">
                                          <p:val>
                                            <p:strVal val="#ppt_x"/>
                                          </p:val>
                                        </p:tav>
                                      </p:tavLst>
                                    </p:anim>
                                    <p:anim calcmode="lin" valueType="num">
                                      <p:cBhvr>
                                        <p:cTn id="4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3327">
            <a:extLst>
              <a:ext uri="{FF2B5EF4-FFF2-40B4-BE49-F238E27FC236}">
                <a16:creationId xmlns:a16="http://schemas.microsoft.com/office/drawing/2014/main" id="{4442A7A4-8A14-3CCE-87FD-DAD74A3665FC}"/>
              </a:ext>
            </a:extLst>
          </p:cNvPr>
          <p:cNvSpPr txBox="1">
            <a:spLocks/>
          </p:cNvSpPr>
          <p:nvPr/>
        </p:nvSpPr>
        <p:spPr>
          <a:xfrm>
            <a:off x="918660" y="426459"/>
            <a:ext cx="1434375" cy="461666"/>
          </a:xfrm>
          <a:prstGeom prst="rect">
            <a:avLst/>
          </a:prstGeom>
        </p:spPr>
        <p:txBody>
          <a:bodyPr vert="horz" wrap="square" lIns="91440" tIns="45720" rIns="91440" bIns="45720" anchor="b"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400" b="1" dirty="0">
                <a:solidFill>
                  <a:srgbClr val="FF0000"/>
                </a:solidFill>
                <a:effectLst>
                  <a:outerShdw blurRad="38100" dist="38100" dir="2700000">
                    <a:srgbClr val="000000"/>
                  </a:outerShdw>
                </a:effectLst>
                <a:latin typeface="+mn-ea"/>
                <a:ea typeface="+mn-ea"/>
              </a:rPr>
              <a:t>数据项：</a:t>
            </a:r>
            <a:endParaRPr lang="zh-CN" altLang="en-US" sz="2400" b="1" dirty="0">
              <a:effectLst>
                <a:outerShdw blurRad="38100" dist="38100" dir="2700000">
                  <a:srgbClr val="000000"/>
                </a:outerShdw>
              </a:effectLst>
              <a:latin typeface="+mn-ea"/>
              <a:ea typeface="+mn-ea"/>
            </a:endParaRPr>
          </a:p>
        </p:txBody>
      </p:sp>
      <p:sp>
        <p:nvSpPr>
          <p:cNvPr id="4" name="文本框 3">
            <a:extLst>
              <a:ext uri="{FF2B5EF4-FFF2-40B4-BE49-F238E27FC236}">
                <a16:creationId xmlns:a16="http://schemas.microsoft.com/office/drawing/2014/main" id="{C8CFA7F5-205A-4A23-8628-47798A1E3858}"/>
              </a:ext>
            </a:extLst>
          </p:cNvPr>
          <p:cNvSpPr txBox="1"/>
          <p:nvPr/>
        </p:nvSpPr>
        <p:spPr>
          <a:xfrm>
            <a:off x="2140436" y="431414"/>
            <a:ext cx="5942013" cy="461665"/>
          </a:xfrm>
          <a:prstGeom prst="rect">
            <a:avLst/>
          </a:prstGeom>
          <a:noFill/>
          <a:ln w="9525">
            <a:noFill/>
          </a:ln>
        </p:spPr>
        <p:txBody>
          <a:bodyPr>
            <a:spAutoFit/>
          </a:bodyPr>
          <a:lstStyle/>
          <a:p>
            <a:r>
              <a:rPr lang="zh-CN" altLang="en-US" sz="2400" dirty="0">
                <a:solidFill>
                  <a:srgbClr val="000000"/>
                </a:solidFill>
                <a:latin typeface="+mn-ea"/>
              </a:rPr>
              <a:t>数据结构中讨论的</a:t>
            </a:r>
            <a:r>
              <a:rPr lang="zh-CN" altLang="en-US" sz="2400" b="1" dirty="0">
                <a:solidFill>
                  <a:srgbClr val="000000"/>
                </a:solidFill>
                <a:latin typeface="+mn-ea"/>
              </a:rPr>
              <a:t>最小单位</a:t>
            </a:r>
          </a:p>
        </p:txBody>
      </p:sp>
      <p:sp>
        <p:nvSpPr>
          <p:cNvPr id="5" name="文本框 4">
            <a:extLst>
              <a:ext uri="{FF2B5EF4-FFF2-40B4-BE49-F238E27FC236}">
                <a16:creationId xmlns:a16="http://schemas.microsoft.com/office/drawing/2014/main" id="{57D9A0EA-CC49-F76F-1BF1-EAAE5AFD8788}"/>
              </a:ext>
            </a:extLst>
          </p:cNvPr>
          <p:cNvSpPr txBox="1"/>
          <p:nvPr/>
        </p:nvSpPr>
        <p:spPr>
          <a:xfrm>
            <a:off x="2140436" y="902106"/>
            <a:ext cx="5741988" cy="461665"/>
          </a:xfrm>
          <a:prstGeom prst="rect">
            <a:avLst/>
          </a:prstGeom>
          <a:noFill/>
          <a:ln w="9525">
            <a:noFill/>
          </a:ln>
        </p:spPr>
        <p:txBody>
          <a:bodyPr>
            <a:spAutoFit/>
          </a:bodyPr>
          <a:lstStyle/>
          <a:p>
            <a:r>
              <a:rPr lang="zh-CN" altLang="en-US" sz="2400" b="1" dirty="0">
                <a:solidFill>
                  <a:srgbClr val="006600"/>
                </a:solidFill>
                <a:effectLst>
                  <a:outerShdw blurRad="38100" dist="38100" dir="2700000">
                    <a:srgbClr val="000000"/>
                  </a:outerShdw>
                </a:effectLst>
                <a:latin typeface="+mn-ea"/>
              </a:rPr>
              <a:t>数据元素</a:t>
            </a:r>
            <a:r>
              <a:rPr lang="zh-CN" altLang="en-US" sz="2400" dirty="0">
                <a:solidFill>
                  <a:srgbClr val="006600"/>
                </a:solidFill>
                <a:effectLst>
                  <a:outerShdw blurRad="38100" dist="38100" dir="2700000">
                    <a:srgbClr val="000000"/>
                  </a:outerShdw>
                </a:effectLst>
                <a:latin typeface="+mn-ea"/>
              </a:rPr>
              <a:t>是</a:t>
            </a:r>
            <a:r>
              <a:rPr lang="zh-CN" altLang="en-US" sz="2400" b="1" dirty="0">
                <a:solidFill>
                  <a:srgbClr val="006600"/>
                </a:solidFill>
                <a:effectLst>
                  <a:outerShdw blurRad="38100" dist="38100" dir="2700000">
                    <a:srgbClr val="000000"/>
                  </a:outerShdw>
                </a:effectLst>
                <a:latin typeface="+mn-ea"/>
              </a:rPr>
              <a:t>数据项</a:t>
            </a:r>
            <a:r>
              <a:rPr lang="zh-CN" altLang="en-US" sz="2400" dirty="0">
                <a:solidFill>
                  <a:srgbClr val="006600"/>
                </a:solidFill>
                <a:effectLst>
                  <a:outerShdw blurRad="38100" dist="38100" dir="2700000">
                    <a:srgbClr val="000000"/>
                  </a:outerShdw>
                </a:effectLst>
                <a:latin typeface="+mn-ea"/>
              </a:rPr>
              <a:t>的</a:t>
            </a:r>
            <a:r>
              <a:rPr lang="zh-CN" altLang="en-US" sz="2400" b="1" dirty="0">
                <a:solidFill>
                  <a:srgbClr val="006600"/>
                </a:solidFill>
                <a:effectLst>
                  <a:outerShdw blurRad="38100" dist="38100" dir="2700000">
                    <a:srgbClr val="000000"/>
                  </a:outerShdw>
                </a:effectLst>
                <a:latin typeface="+mn-ea"/>
              </a:rPr>
              <a:t>集合</a:t>
            </a:r>
            <a:endParaRPr lang="zh-CN" altLang="en-US" sz="2400" dirty="0">
              <a:effectLst>
                <a:outerShdw blurRad="38100" dist="38100" dir="2700000">
                  <a:srgbClr val="000000"/>
                </a:outerShdw>
              </a:effectLst>
              <a:latin typeface="+mn-ea"/>
            </a:endParaRPr>
          </a:p>
        </p:txBody>
      </p:sp>
      <p:sp>
        <p:nvSpPr>
          <p:cNvPr id="6" name="文本框 5">
            <a:extLst>
              <a:ext uri="{FF2B5EF4-FFF2-40B4-BE49-F238E27FC236}">
                <a16:creationId xmlns:a16="http://schemas.microsoft.com/office/drawing/2014/main" id="{8094F646-C6B4-AF46-9AB0-531E0F628CB8}"/>
              </a:ext>
            </a:extLst>
          </p:cNvPr>
          <p:cNvSpPr txBox="1"/>
          <p:nvPr/>
        </p:nvSpPr>
        <p:spPr>
          <a:xfrm>
            <a:off x="1203110" y="1481423"/>
            <a:ext cx="1107996" cy="461665"/>
          </a:xfrm>
          <a:prstGeom prst="rect">
            <a:avLst/>
          </a:prstGeom>
          <a:noFill/>
          <a:ln w="9525">
            <a:noFill/>
          </a:ln>
        </p:spPr>
        <p:txBody>
          <a:bodyPr wrap="none" anchor="t" anchorCtr="0">
            <a:spAutoFit/>
          </a:bodyPr>
          <a:lstStyle/>
          <a:p>
            <a:r>
              <a:rPr lang="zh-CN" altLang="en-US" sz="2400" b="1" dirty="0">
                <a:solidFill>
                  <a:srgbClr val="CC0000"/>
                </a:solidFill>
                <a:effectLst>
                  <a:outerShdw blurRad="38100" dist="38100" dir="2700000">
                    <a:srgbClr val="000000"/>
                  </a:outerShdw>
                </a:effectLst>
                <a:latin typeface="+mn-ea"/>
              </a:rPr>
              <a:t>例如：</a:t>
            </a:r>
          </a:p>
        </p:txBody>
      </p:sp>
      <p:sp>
        <p:nvSpPr>
          <p:cNvPr id="7" name="文本框 6">
            <a:extLst>
              <a:ext uri="{FF2B5EF4-FFF2-40B4-BE49-F238E27FC236}">
                <a16:creationId xmlns:a16="http://schemas.microsoft.com/office/drawing/2014/main" id="{34D565D0-A743-4647-97E2-3468A782A2EC}"/>
              </a:ext>
            </a:extLst>
          </p:cNvPr>
          <p:cNvSpPr txBox="1"/>
          <p:nvPr/>
        </p:nvSpPr>
        <p:spPr>
          <a:xfrm>
            <a:off x="2140436" y="1502854"/>
            <a:ext cx="2954655" cy="461665"/>
          </a:xfrm>
          <a:prstGeom prst="rect">
            <a:avLst/>
          </a:prstGeom>
          <a:noFill/>
          <a:ln w="9525">
            <a:noFill/>
          </a:ln>
        </p:spPr>
        <p:txBody>
          <a:bodyPr wrap="none" anchor="t" anchorCtr="0">
            <a:spAutoFit/>
          </a:bodyPr>
          <a:lstStyle/>
          <a:p>
            <a:r>
              <a:rPr lang="zh-CN" altLang="en-US" sz="2400" b="1" dirty="0">
                <a:solidFill>
                  <a:srgbClr val="000000"/>
                </a:solidFill>
                <a:latin typeface="+mn-ea"/>
              </a:rPr>
              <a:t>运动员（数据元素）</a:t>
            </a:r>
          </a:p>
        </p:txBody>
      </p:sp>
      <p:sp>
        <p:nvSpPr>
          <p:cNvPr id="8" name="文本框 7">
            <a:extLst>
              <a:ext uri="{FF2B5EF4-FFF2-40B4-BE49-F238E27FC236}">
                <a16:creationId xmlns:a16="http://schemas.microsoft.com/office/drawing/2014/main" id="{33007F45-F1EB-52AA-0030-E02F8A354289}"/>
              </a:ext>
            </a:extLst>
          </p:cNvPr>
          <p:cNvSpPr txBox="1"/>
          <p:nvPr/>
        </p:nvSpPr>
        <p:spPr>
          <a:xfrm>
            <a:off x="4513539" y="3056991"/>
            <a:ext cx="1261884" cy="461665"/>
          </a:xfrm>
          <a:prstGeom prst="rect">
            <a:avLst/>
          </a:prstGeom>
          <a:noFill/>
          <a:ln w="9525">
            <a:noFill/>
          </a:ln>
        </p:spPr>
        <p:txBody>
          <a:bodyPr wrap="none" anchor="t" anchorCtr="0">
            <a:spAutoFit/>
          </a:bodyPr>
          <a:lstStyle/>
          <a:p>
            <a:r>
              <a:rPr lang="zh-CN" altLang="en-US" sz="2400" dirty="0">
                <a:latin typeface="+mn-ea"/>
              </a:rPr>
              <a:t>组合项</a:t>
            </a:r>
            <a:r>
              <a:rPr lang="en-US" altLang="zh-CN" sz="2400" dirty="0">
                <a:latin typeface="+mn-ea"/>
              </a:rPr>
              <a:t>1</a:t>
            </a:r>
            <a:endParaRPr lang="zh-CN" altLang="en-US" sz="2400" dirty="0">
              <a:latin typeface="+mn-ea"/>
            </a:endParaRPr>
          </a:p>
        </p:txBody>
      </p:sp>
      <p:grpSp>
        <p:nvGrpSpPr>
          <p:cNvPr id="25" name="组合 24">
            <a:extLst>
              <a:ext uri="{FF2B5EF4-FFF2-40B4-BE49-F238E27FC236}">
                <a16:creationId xmlns:a16="http://schemas.microsoft.com/office/drawing/2014/main" id="{26EA55AC-B609-A6FE-048C-1623ED2E6169}"/>
              </a:ext>
            </a:extLst>
          </p:cNvPr>
          <p:cNvGrpSpPr/>
          <p:nvPr/>
        </p:nvGrpSpPr>
        <p:grpSpPr>
          <a:xfrm>
            <a:off x="1412854" y="2133659"/>
            <a:ext cx="9483190" cy="923332"/>
            <a:chOff x="1838276" y="2771624"/>
            <a:chExt cx="9483190" cy="923332"/>
          </a:xfrm>
        </p:grpSpPr>
        <p:sp>
          <p:nvSpPr>
            <p:cNvPr id="10" name="矩形 9">
              <a:extLst>
                <a:ext uri="{FF2B5EF4-FFF2-40B4-BE49-F238E27FC236}">
                  <a16:creationId xmlns:a16="http://schemas.microsoft.com/office/drawing/2014/main" id="{6C570936-10B7-C277-DC90-A94AE075C321}"/>
                </a:ext>
              </a:extLst>
            </p:cNvPr>
            <p:cNvSpPr/>
            <p:nvPr/>
          </p:nvSpPr>
          <p:spPr>
            <a:xfrm>
              <a:off x="1838276" y="2771627"/>
              <a:ext cx="890711" cy="461665"/>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rPr>
                <a:t>姓名</a:t>
              </a:r>
            </a:p>
          </p:txBody>
        </p:sp>
        <p:sp>
          <p:nvSpPr>
            <p:cNvPr id="11" name="矩形 10">
              <a:extLst>
                <a:ext uri="{FF2B5EF4-FFF2-40B4-BE49-F238E27FC236}">
                  <a16:creationId xmlns:a16="http://schemas.microsoft.com/office/drawing/2014/main" id="{A98C997E-872C-B42B-6EAA-C82AE41945A6}"/>
                </a:ext>
              </a:extLst>
            </p:cNvPr>
            <p:cNvSpPr/>
            <p:nvPr/>
          </p:nvSpPr>
          <p:spPr>
            <a:xfrm>
              <a:off x="2736528" y="2771627"/>
              <a:ext cx="1802307" cy="461665"/>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rPr>
                <a:t>俱乐部名称</a:t>
              </a:r>
            </a:p>
          </p:txBody>
        </p:sp>
        <p:sp>
          <p:nvSpPr>
            <p:cNvPr id="12" name="矩形 11">
              <a:extLst>
                <a:ext uri="{FF2B5EF4-FFF2-40B4-BE49-F238E27FC236}">
                  <a16:creationId xmlns:a16="http://schemas.microsoft.com/office/drawing/2014/main" id="{6C570936-10B7-C277-DC90-A94AE075C321}"/>
                </a:ext>
              </a:extLst>
            </p:cNvPr>
            <p:cNvSpPr/>
            <p:nvPr/>
          </p:nvSpPr>
          <p:spPr>
            <a:xfrm>
              <a:off x="4546376" y="2771626"/>
              <a:ext cx="1940574" cy="461665"/>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400" b="1" dirty="0">
                  <a:solidFill>
                    <a:schemeClr val="tx1"/>
                  </a:solidFill>
                </a:rPr>
                <a:t>出生日期</a:t>
              </a:r>
            </a:p>
          </p:txBody>
        </p:sp>
        <p:grpSp>
          <p:nvGrpSpPr>
            <p:cNvPr id="17" name="组合 16">
              <a:extLst>
                <a:ext uri="{FF2B5EF4-FFF2-40B4-BE49-F238E27FC236}">
                  <a16:creationId xmlns:a16="http://schemas.microsoft.com/office/drawing/2014/main" id="{159FE844-B720-458A-8741-FE5461BC0577}"/>
                </a:ext>
              </a:extLst>
            </p:cNvPr>
            <p:cNvGrpSpPr/>
            <p:nvPr/>
          </p:nvGrpSpPr>
          <p:grpSpPr>
            <a:xfrm>
              <a:off x="4538836" y="3233291"/>
              <a:ext cx="1948114" cy="461665"/>
              <a:chOff x="4538836" y="3233291"/>
              <a:chExt cx="1948114" cy="461665"/>
            </a:xfrm>
          </p:grpSpPr>
          <p:sp>
            <p:nvSpPr>
              <p:cNvPr id="13" name="矩形 12">
                <a:extLst>
                  <a:ext uri="{FF2B5EF4-FFF2-40B4-BE49-F238E27FC236}">
                    <a16:creationId xmlns:a16="http://schemas.microsoft.com/office/drawing/2014/main" id="{6C570936-10B7-C277-DC90-A94AE075C321}"/>
                  </a:ext>
                </a:extLst>
              </p:cNvPr>
              <p:cNvSpPr/>
              <p:nvPr/>
            </p:nvSpPr>
            <p:spPr>
              <a:xfrm>
                <a:off x="4538836" y="3233291"/>
                <a:ext cx="644344" cy="461665"/>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400" b="1" dirty="0">
                    <a:solidFill>
                      <a:schemeClr val="tx1"/>
                    </a:solidFill>
                  </a:rPr>
                  <a:t>年</a:t>
                </a:r>
              </a:p>
            </p:txBody>
          </p:sp>
          <p:sp>
            <p:nvSpPr>
              <p:cNvPr id="14" name="矩形 13">
                <a:extLst>
                  <a:ext uri="{FF2B5EF4-FFF2-40B4-BE49-F238E27FC236}">
                    <a16:creationId xmlns:a16="http://schemas.microsoft.com/office/drawing/2014/main" id="{F5F17842-8272-6EF9-A603-5F516F7459D5}"/>
                  </a:ext>
                </a:extLst>
              </p:cNvPr>
              <p:cNvSpPr/>
              <p:nvPr/>
            </p:nvSpPr>
            <p:spPr>
              <a:xfrm>
                <a:off x="5190721" y="3233291"/>
                <a:ext cx="644344" cy="461665"/>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400" b="1" dirty="0">
                    <a:solidFill>
                      <a:schemeClr val="tx1"/>
                    </a:solidFill>
                  </a:rPr>
                  <a:t>月</a:t>
                </a:r>
              </a:p>
            </p:txBody>
          </p:sp>
          <p:sp>
            <p:nvSpPr>
              <p:cNvPr id="15" name="矩形 14">
                <a:extLst>
                  <a:ext uri="{FF2B5EF4-FFF2-40B4-BE49-F238E27FC236}">
                    <a16:creationId xmlns:a16="http://schemas.microsoft.com/office/drawing/2014/main" id="{6C570936-10B7-C277-DC90-A94AE075C321}"/>
                  </a:ext>
                </a:extLst>
              </p:cNvPr>
              <p:cNvSpPr/>
              <p:nvPr/>
            </p:nvSpPr>
            <p:spPr>
              <a:xfrm>
                <a:off x="5842606" y="3233291"/>
                <a:ext cx="644344" cy="461665"/>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400" b="1" dirty="0">
                    <a:solidFill>
                      <a:schemeClr val="tx1"/>
                    </a:solidFill>
                  </a:rPr>
                  <a:t>日</a:t>
                </a:r>
              </a:p>
            </p:txBody>
          </p:sp>
        </p:grpSp>
        <p:sp>
          <p:nvSpPr>
            <p:cNvPr id="16" name="矩形 15">
              <a:extLst>
                <a:ext uri="{FF2B5EF4-FFF2-40B4-BE49-F238E27FC236}">
                  <a16:creationId xmlns:a16="http://schemas.microsoft.com/office/drawing/2014/main" id="{7306D5FF-97E6-7094-376F-4475A7C0D1C5}"/>
                </a:ext>
              </a:extLst>
            </p:cNvPr>
            <p:cNvSpPr/>
            <p:nvPr/>
          </p:nvSpPr>
          <p:spPr>
            <a:xfrm>
              <a:off x="6494490" y="2771625"/>
              <a:ext cx="1940574" cy="461665"/>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400" b="1" dirty="0">
                  <a:solidFill>
                    <a:schemeClr val="tx1"/>
                  </a:solidFill>
                </a:rPr>
                <a:t>加入日期</a:t>
              </a:r>
            </a:p>
          </p:txBody>
        </p:sp>
        <p:grpSp>
          <p:nvGrpSpPr>
            <p:cNvPr id="18" name="组合 17">
              <a:extLst>
                <a:ext uri="{FF2B5EF4-FFF2-40B4-BE49-F238E27FC236}">
                  <a16:creationId xmlns:a16="http://schemas.microsoft.com/office/drawing/2014/main" id="{0ADC4946-ECCD-CD4E-7BAA-FB1556E9BEBB}"/>
                </a:ext>
              </a:extLst>
            </p:cNvPr>
            <p:cNvGrpSpPr/>
            <p:nvPr/>
          </p:nvGrpSpPr>
          <p:grpSpPr>
            <a:xfrm>
              <a:off x="6486950" y="3233291"/>
              <a:ext cx="1948114" cy="461665"/>
              <a:chOff x="4538836" y="3233291"/>
              <a:chExt cx="1948114" cy="461665"/>
            </a:xfrm>
          </p:grpSpPr>
          <p:sp>
            <p:nvSpPr>
              <p:cNvPr id="19" name="矩形 18">
                <a:extLst>
                  <a:ext uri="{FF2B5EF4-FFF2-40B4-BE49-F238E27FC236}">
                    <a16:creationId xmlns:a16="http://schemas.microsoft.com/office/drawing/2014/main" id="{2423746A-D81A-F511-A931-49A125C42554}"/>
                  </a:ext>
                </a:extLst>
              </p:cNvPr>
              <p:cNvSpPr/>
              <p:nvPr/>
            </p:nvSpPr>
            <p:spPr>
              <a:xfrm>
                <a:off x="4538836" y="3233291"/>
                <a:ext cx="644344" cy="461665"/>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400" b="1" dirty="0">
                    <a:solidFill>
                      <a:schemeClr val="tx1"/>
                    </a:solidFill>
                  </a:rPr>
                  <a:t>年</a:t>
                </a:r>
              </a:p>
            </p:txBody>
          </p:sp>
          <p:sp>
            <p:nvSpPr>
              <p:cNvPr id="20" name="矩形 19">
                <a:extLst>
                  <a:ext uri="{FF2B5EF4-FFF2-40B4-BE49-F238E27FC236}">
                    <a16:creationId xmlns:a16="http://schemas.microsoft.com/office/drawing/2014/main" id="{C310E209-C1B5-C720-1F83-8948BD73CD56}"/>
                  </a:ext>
                </a:extLst>
              </p:cNvPr>
              <p:cNvSpPr/>
              <p:nvPr/>
            </p:nvSpPr>
            <p:spPr>
              <a:xfrm>
                <a:off x="5190721" y="3233291"/>
                <a:ext cx="644344" cy="461665"/>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400" b="1" dirty="0">
                    <a:solidFill>
                      <a:schemeClr val="tx1"/>
                    </a:solidFill>
                  </a:rPr>
                  <a:t>月</a:t>
                </a:r>
              </a:p>
            </p:txBody>
          </p:sp>
          <p:sp>
            <p:nvSpPr>
              <p:cNvPr id="21" name="矩形 20">
                <a:extLst>
                  <a:ext uri="{FF2B5EF4-FFF2-40B4-BE49-F238E27FC236}">
                    <a16:creationId xmlns:a16="http://schemas.microsoft.com/office/drawing/2014/main" id="{531C1BF6-3802-E17E-4E95-8F83F4AB0D0D}"/>
                  </a:ext>
                </a:extLst>
              </p:cNvPr>
              <p:cNvSpPr/>
              <p:nvPr/>
            </p:nvSpPr>
            <p:spPr>
              <a:xfrm>
                <a:off x="5842606" y="3233291"/>
                <a:ext cx="644344" cy="461665"/>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400" b="1" dirty="0">
                    <a:solidFill>
                      <a:schemeClr val="tx1"/>
                    </a:solidFill>
                  </a:rPr>
                  <a:t>日</a:t>
                </a:r>
              </a:p>
            </p:txBody>
          </p:sp>
        </p:grpSp>
        <p:sp>
          <p:nvSpPr>
            <p:cNvPr id="22" name="矩形 21">
              <a:extLst>
                <a:ext uri="{FF2B5EF4-FFF2-40B4-BE49-F238E27FC236}">
                  <a16:creationId xmlns:a16="http://schemas.microsoft.com/office/drawing/2014/main" id="{B462374D-D2FC-7A75-49DB-0EFC82CB7E20}"/>
                </a:ext>
              </a:extLst>
            </p:cNvPr>
            <p:cNvSpPr/>
            <p:nvPr/>
          </p:nvSpPr>
          <p:spPr>
            <a:xfrm>
              <a:off x="8442604" y="2771625"/>
              <a:ext cx="928812" cy="461665"/>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400" b="1" dirty="0">
                  <a:solidFill>
                    <a:schemeClr val="tx1"/>
                  </a:solidFill>
                </a:rPr>
                <a:t>位置</a:t>
              </a:r>
            </a:p>
          </p:txBody>
        </p:sp>
        <p:sp>
          <p:nvSpPr>
            <p:cNvPr id="23" name="矩形 22">
              <a:extLst>
                <a:ext uri="{FF2B5EF4-FFF2-40B4-BE49-F238E27FC236}">
                  <a16:creationId xmlns:a16="http://schemas.microsoft.com/office/drawing/2014/main" id="{7306D5FF-97E6-7094-376F-4475A7C0D1C5}"/>
                </a:ext>
              </a:extLst>
            </p:cNvPr>
            <p:cNvSpPr/>
            <p:nvPr/>
          </p:nvSpPr>
          <p:spPr>
            <a:xfrm>
              <a:off x="9380892" y="2771624"/>
              <a:ext cx="1940574" cy="461665"/>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400" b="1" dirty="0">
                  <a:solidFill>
                    <a:schemeClr val="tx1"/>
                  </a:solidFill>
                </a:rPr>
                <a:t>业绩</a:t>
              </a:r>
            </a:p>
          </p:txBody>
        </p:sp>
      </p:grpSp>
      <p:sp>
        <p:nvSpPr>
          <p:cNvPr id="24" name="文本框 23">
            <a:extLst>
              <a:ext uri="{FF2B5EF4-FFF2-40B4-BE49-F238E27FC236}">
                <a16:creationId xmlns:a16="http://schemas.microsoft.com/office/drawing/2014/main" id="{A8589A87-387E-BC61-C00E-04E39A8E5F13}"/>
              </a:ext>
            </a:extLst>
          </p:cNvPr>
          <p:cNvSpPr txBox="1"/>
          <p:nvPr/>
        </p:nvSpPr>
        <p:spPr>
          <a:xfrm>
            <a:off x="6399536" y="3056991"/>
            <a:ext cx="1261884" cy="461665"/>
          </a:xfrm>
          <a:prstGeom prst="rect">
            <a:avLst/>
          </a:prstGeom>
          <a:noFill/>
          <a:ln w="9525">
            <a:noFill/>
          </a:ln>
        </p:spPr>
        <p:txBody>
          <a:bodyPr wrap="none" anchor="t" anchorCtr="0">
            <a:spAutoFit/>
          </a:bodyPr>
          <a:lstStyle/>
          <a:p>
            <a:r>
              <a:rPr lang="zh-CN" altLang="en-US" sz="2400" dirty="0">
                <a:latin typeface="+mn-ea"/>
              </a:rPr>
              <a:t>组合项</a:t>
            </a:r>
            <a:r>
              <a:rPr lang="en-US" altLang="zh-CN" sz="2400" dirty="0">
                <a:latin typeface="+mn-ea"/>
              </a:rPr>
              <a:t>2</a:t>
            </a:r>
            <a:endParaRPr lang="zh-CN" altLang="en-US" sz="2400" dirty="0">
              <a:latin typeface="+mn-ea"/>
            </a:endParaRPr>
          </a:p>
        </p:txBody>
      </p:sp>
      <p:sp>
        <p:nvSpPr>
          <p:cNvPr id="27" name="文本框 26">
            <a:extLst>
              <a:ext uri="{FF2B5EF4-FFF2-40B4-BE49-F238E27FC236}">
                <a16:creationId xmlns:a16="http://schemas.microsoft.com/office/drawing/2014/main" id="{0A717CF2-FEF1-E687-D9EB-7C58247EDF40}"/>
              </a:ext>
            </a:extLst>
          </p:cNvPr>
          <p:cNvSpPr txBox="1"/>
          <p:nvPr/>
        </p:nvSpPr>
        <p:spPr>
          <a:xfrm>
            <a:off x="706485" y="3685109"/>
            <a:ext cx="10507943" cy="2862322"/>
          </a:xfrm>
          <a:prstGeom prst="rect">
            <a:avLst/>
          </a:prstGeom>
          <a:noFill/>
        </p:spPr>
        <p:txBody>
          <a:bodyPr wrap="square">
            <a:spAutoFit/>
          </a:bodyPr>
          <a:lstStyle/>
          <a:p>
            <a:pPr marL="342900" indent="-342900" algn="just">
              <a:spcBef>
                <a:spcPts val="600"/>
              </a:spcBef>
              <a:spcAft>
                <a:spcPts val="600"/>
              </a:spcAft>
              <a:buFont typeface="Wingdings" panose="05000000000000000000" pitchFamily="2" charset="2"/>
              <a:buChar char="Ø"/>
            </a:pPr>
            <a:r>
              <a:rPr lang="zh-CN" altLang="zh-CN" sz="2000" b="1" dirty="0">
                <a:solidFill>
                  <a:srgbClr val="FF0000"/>
                </a:solidFill>
                <a:effectLst>
                  <a:outerShdw blurRad="38100" dist="38100" dir="2700000">
                    <a:srgbClr val="000000"/>
                  </a:outerShdw>
                </a:effectLst>
                <a:latin typeface="+mn-ea"/>
                <a:cs typeface="+mj-cs"/>
              </a:rPr>
              <a:t>关键字</a:t>
            </a:r>
            <a:r>
              <a:rPr lang="zh-CN" altLang="zh-CN" sz="2000" dirty="0"/>
              <a:t>（</a:t>
            </a:r>
            <a:r>
              <a:rPr lang="en-US" altLang="zh-CN" sz="2000" dirty="0"/>
              <a:t>Key</a:t>
            </a:r>
            <a:r>
              <a:rPr lang="zh-CN" altLang="zh-CN" sz="2000" dirty="0"/>
              <a:t>），常简称</a:t>
            </a:r>
            <a:r>
              <a:rPr lang="zh-CN" altLang="zh-CN" sz="2000" b="1" dirty="0">
                <a:solidFill>
                  <a:srgbClr val="FF0000"/>
                </a:solidFill>
                <a:effectLst>
                  <a:outerShdw blurRad="38100" dist="38100" dir="2700000">
                    <a:srgbClr val="000000"/>
                  </a:outerShdw>
                </a:effectLst>
                <a:latin typeface="+mn-ea"/>
                <a:cs typeface="+mj-cs"/>
              </a:rPr>
              <a:t>键</a:t>
            </a:r>
            <a:r>
              <a:rPr lang="zh-CN" altLang="zh-CN" sz="2000" dirty="0"/>
              <a:t>，是数据元素（或记录）的关联值或其中某个数据项的值，用它可以标识（识别）一个数据元素（或记录）。</a:t>
            </a:r>
            <a:endParaRPr lang="en-US" altLang="zh-CN" sz="2000" dirty="0"/>
          </a:p>
          <a:p>
            <a:pPr marL="342900" indent="-342900" algn="just">
              <a:spcBef>
                <a:spcPts val="600"/>
              </a:spcBef>
              <a:spcAft>
                <a:spcPts val="600"/>
              </a:spcAft>
              <a:buClr>
                <a:srgbClr val="C00000"/>
              </a:buClr>
              <a:buFont typeface="Wingdings" panose="05000000000000000000" pitchFamily="2" charset="2"/>
              <a:buChar char="Ø"/>
            </a:pPr>
            <a:r>
              <a:rPr lang="zh-CN" altLang="zh-CN" sz="2000" dirty="0"/>
              <a:t>若此关键字可以唯一地标识一个记录，则称此关键字为</a:t>
            </a:r>
            <a:r>
              <a:rPr lang="zh-CN" altLang="zh-CN" sz="2000" b="1" dirty="0">
                <a:solidFill>
                  <a:srgbClr val="FF0000"/>
                </a:solidFill>
                <a:effectLst>
                  <a:outerShdw blurRad="38100" dist="38100" dir="2700000">
                    <a:srgbClr val="000000"/>
                  </a:outerShdw>
                </a:effectLst>
                <a:latin typeface="+mn-ea"/>
                <a:cs typeface="+mj-cs"/>
              </a:rPr>
              <a:t>主关键字</a:t>
            </a:r>
            <a:r>
              <a:rPr lang="en-US" altLang="zh-CN" sz="2000" dirty="0"/>
              <a:t>(Primary Key)</a:t>
            </a:r>
            <a:r>
              <a:rPr lang="zh-CN" altLang="zh-CN" sz="2000" dirty="0"/>
              <a:t>（对不同的记录，其主关键字均不同）。</a:t>
            </a:r>
            <a:endParaRPr lang="en-US" altLang="zh-CN" sz="2000" dirty="0"/>
          </a:p>
          <a:p>
            <a:pPr marL="342900" indent="-342900" algn="just">
              <a:spcBef>
                <a:spcPts val="600"/>
              </a:spcBef>
              <a:spcAft>
                <a:spcPts val="600"/>
              </a:spcAft>
              <a:buClr>
                <a:srgbClr val="C00000"/>
              </a:buClr>
              <a:buFont typeface="Wingdings" panose="05000000000000000000" pitchFamily="2" charset="2"/>
              <a:buChar char="Ø"/>
            </a:pPr>
            <a:r>
              <a:rPr lang="zh-CN" altLang="zh-CN" sz="2000" dirty="0"/>
              <a:t>反之，称用以识别若干记录的关键字为</a:t>
            </a:r>
            <a:r>
              <a:rPr lang="zh-CN" altLang="zh-CN" sz="2000" b="1" dirty="0">
                <a:solidFill>
                  <a:srgbClr val="FF0000"/>
                </a:solidFill>
                <a:effectLst>
                  <a:outerShdw blurRad="38100" dist="38100" dir="2700000">
                    <a:srgbClr val="000000"/>
                  </a:outerShdw>
                </a:effectLst>
                <a:latin typeface="+mn-ea"/>
                <a:cs typeface="+mj-cs"/>
              </a:rPr>
              <a:t>次关键字</a:t>
            </a:r>
            <a:r>
              <a:rPr lang="zh-CN" altLang="zh-CN" sz="2000" dirty="0"/>
              <a:t>（</a:t>
            </a:r>
            <a:r>
              <a:rPr lang="en-US" altLang="zh-CN" sz="2000" dirty="0"/>
              <a:t>Secondary Key)</a:t>
            </a:r>
            <a:r>
              <a:rPr lang="zh-CN" altLang="zh-CN" sz="2000" dirty="0"/>
              <a:t>。</a:t>
            </a:r>
            <a:endParaRPr lang="en-US" altLang="zh-CN" sz="2000" dirty="0"/>
          </a:p>
          <a:p>
            <a:pPr marL="342900" indent="-342900" algn="just">
              <a:spcBef>
                <a:spcPts val="600"/>
              </a:spcBef>
              <a:spcAft>
                <a:spcPts val="600"/>
              </a:spcAft>
              <a:buClr>
                <a:srgbClr val="C00000"/>
              </a:buClr>
              <a:buFont typeface="Wingdings" panose="05000000000000000000" pitchFamily="2" charset="2"/>
              <a:buChar char="Ø"/>
            </a:pPr>
            <a:r>
              <a:rPr lang="zh-CN" altLang="zh-CN" sz="2000" dirty="0"/>
              <a:t>当数据元素只有一个数据项时，其关键字即为该数据元素的</a:t>
            </a:r>
            <a:r>
              <a:rPr lang="zh-CN" altLang="zh-CN" sz="2000" b="1" dirty="0">
                <a:solidFill>
                  <a:srgbClr val="FF0000"/>
                </a:solidFill>
                <a:effectLst>
                  <a:outerShdw blurRad="38100" dist="38100" dir="2700000">
                    <a:srgbClr val="000000"/>
                  </a:outerShdw>
                </a:effectLst>
                <a:latin typeface="+mn-ea"/>
                <a:cs typeface="+mj-cs"/>
              </a:rPr>
              <a:t>值</a:t>
            </a:r>
            <a:r>
              <a:rPr lang="zh-CN" altLang="zh-CN" sz="2000" dirty="0"/>
              <a:t>。</a:t>
            </a:r>
            <a:endParaRPr lang="en-US" altLang="zh-CN" sz="2000" dirty="0"/>
          </a:p>
          <a:p>
            <a:pPr marL="342900" indent="-342900" algn="just">
              <a:spcBef>
                <a:spcPts val="600"/>
              </a:spcBef>
              <a:spcAft>
                <a:spcPts val="600"/>
              </a:spcAft>
              <a:buClr>
                <a:srgbClr val="C00000"/>
              </a:buClr>
              <a:buFont typeface="Wingdings" panose="05000000000000000000" pitchFamily="2" charset="2"/>
              <a:buChar char="Ø"/>
            </a:pPr>
            <a:r>
              <a:rPr lang="zh-CN" altLang="zh-CN" sz="2000" dirty="0"/>
              <a:t>除了主关键字之外的其他内容称为</a:t>
            </a:r>
            <a:r>
              <a:rPr lang="zh-CN" altLang="zh-CN" sz="2000" b="1" dirty="0">
                <a:solidFill>
                  <a:srgbClr val="FF0000"/>
                </a:solidFill>
                <a:effectLst>
                  <a:outerShdw blurRad="38100" dist="38100" dir="2700000">
                    <a:srgbClr val="000000"/>
                  </a:outerShdw>
                </a:effectLst>
                <a:latin typeface="+mn-ea"/>
                <a:cs typeface="+mj-cs"/>
              </a:rPr>
              <a:t>值</a:t>
            </a:r>
            <a:r>
              <a:rPr lang="zh-CN" altLang="zh-CN" sz="2000" dirty="0"/>
              <a:t>，一个记录也就被称为</a:t>
            </a:r>
            <a:r>
              <a:rPr lang="zh-CN" altLang="zh-CN" sz="2000" b="1" dirty="0">
                <a:solidFill>
                  <a:srgbClr val="FF0000"/>
                </a:solidFill>
                <a:effectLst>
                  <a:outerShdw blurRad="38100" dist="38100" dir="2700000">
                    <a:srgbClr val="000000"/>
                  </a:outerShdw>
                </a:effectLst>
                <a:latin typeface="+mn-ea"/>
                <a:cs typeface="+mj-cs"/>
              </a:rPr>
              <a:t>键</a:t>
            </a:r>
            <a:r>
              <a:rPr lang="en-US" altLang="zh-CN" sz="2000" b="1" dirty="0">
                <a:solidFill>
                  <a:srgbClr val="FF0000"/>
                </a:solidFill>
                <a:effectLst>
                  <a:outerShdw blurRad="38100" dist="38100" dir="2700000">
                    <a:srgbClr val="000000"/>
                  </a:outerShdw>
                </a:effectLst>
                <a:latin typeface="+mn-ea"/>
                <a:cs typeface="+mj-cs"/>
              </a:rPr>
              <a:t>-</a:t>
            </a:r>
            <a:r>
              <a:rPr lang="zh-CN" altLang="zh-CN" sz="2000" b="1" dirty="0">
                <a:solidFill>
                  <a:srgbClr val="FF0000"/>
                </a:solidFill>
                <a:effectLst>
                  <a:outerShdw blurRad="38100" dist="38100" dir="2700000">
                    <a:srgbClr val="000000"/>
                  </a:outerShdw>
                </a:effectLst>
                <a:latin typeface="+mn-ea"/>
                <a:cs typeface="+mj-cs"/>
              </a:rPr>
              <a:t>值对</a:t>
            </a:r>
            <a:r>
              <a:rPr lang="zh-CN" altLang="zh-CN" sz="2000" dirty="0"/>
              <a:t>。</a:t>
            </a:r>
          </a:p>
        </p:txBody>
      </p:sp>
      <p:sp>
        <p:nvSpPr>
          <p:cNvPr id="3" name="灯片编号占位符 2">
            <a:extLst>
              <a:ext uri="{FF2B5EF4-FFF2-40B4-BE49-F238E27FC236}">
                <a16:creationId xmlns:a16="http://schemas.microsoft.com/office/drawing/2014/main" id="{7426916F-E58B-5D8C-D893-8AE295EA98C0}"/>
              </a:ext>
            </a:extLst>
          </p:cNvPr>
          <p:cNvSpPr>
            <a:spLocks noGrp="1"/>
          </p:cNvSpPr>
          <p:nvPr>
            <p:ph type="sldNum" sz="quarter" idx="12"/>
          </p:nvPr>
        </p:nvSpPr>
        <p:spPr/>
        <p:txBody>
          <a:bodyPr/>
          <a:lstStyle/>
          <a:p>
            <a:fld id="{D7C0FE0B-717B-41AE-9FA2-CA4BF851D1C3}" type="slidenum">
              <a:rPr lang="zh-CN" altLang="en-US" smtClean="0"/>
              <a:t>32</a:t>
            </a:fld>
            <a:endParaRPr lang="zh-CN" altLang="en-US"/>
          </a:p>
        </p:txBody>
      </p:sp>
    </p:spTree>
    <p:extLst>
      <p:ext uri="{BB962C8B-B14F-4D97-AF65-F5344CB8AC3E}">
        <p14:creationId xmlns:p14="http://schemas.microsoft.com/office/powerpoint/2010/main" val="2186315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Right)">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500"/>
                                        <p:tgtEl>
                                          <p:spTgt spid="4"/>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16"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box(in)">
                                      <p:cBhvr>
                                        <p:cTn id="20" dur="500"/>
                                        <p:tgtEl>
                                          <p:spTgt spid="6"/>
                                        </p:tgtEl>
                                      </p:cBhvr>
                                    </p:animEffect>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left)">
                                      <p:cBhvr>
                                        <p:cTn id="24" dur="500"/>
                                        <p:tgtEl>
                                          <p:spTgt spid="7"/>
                                        </p:tgtEl>
                                      </p:cBhvr>
                                    </p:animEffect>
                                  </p:childTnLst>
                                </p:cTn>
                              </p:par>
                            </p:childTnLst>
                          </p:cTn>
                        </p:par>
                        <p:par>
                          <p:cTn id="25" fill="hold">
                            <p:stCondLst>
                              <p:cond delay="1000"/>
                            </p:stCondLst>
                            <p:childTnLst>
                              <p:par>
                                <p:cTn id="26" presetID="22" presetClass="entr" presetSubtype="1" fill="hold" nodeType="after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wipe(up)">
                                      <p:cBhvr>
                                        <p:cTn id="28" dur="500"/>
                                        <p:tgtEl>
                                          <p:spTgt spid="25"/>
                                        </p:tgtEl>
                                      </p:cBhvr>
                                    </p:animEffect>
                                  </p:childTnLst>
                                </p:cTn>
                              </p:par>
                            </p:childTnLst>
                          </p:cTn>
                        </p:par>
                        <p:par>
                          <p:cTn id="29" fill="hold">
                            <p:stCondLst>
                              <p:cond delay="1500"/>
                            </p:stCondLst>
                            <p:childTnLst>
                              <p:par>
                                <p:cTn id="30" presetID="22" presetClass="entr" presetSubtype="8" fill="hold" grpId="0" nodeType="after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childTnLst>
                          </p:cTn>
                        </p:par>
                        <p:par>
                          <p:cTn id="33" fill="hold">
                            <p:stCondLst>
                              <p:cond delay="2000"/>
                            </p:stCondLst>
                            <p:childTnLst>
                              <p:par>
                                <p:cTn id="34" presetID="22" presetClass="entr" presetSubtype="8" fill="hold" grpId="0" nodeType="after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wipe(left)">
                                      <p:cBhvr>
                                        <p:cTn id="36" dur="500"/>
                                        <p:tgtEl>
                                          <p:spTgt spid="24"/>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27"/>
                                        </p:tgtEl>
                                        <p:attrNameLst>
                                          <p:attrName>style.visibility</p:attrName>
                                        </p:attrNameLst>
                                      </p:cBhvr>
                                      <p:to>
                                        <p:strVal val="visible"/>
                                      </p:to>
                                    </p:set>
                                    <p:animEffect transition="in" filter="wipe(up)">
                                      <p:cBhvr>
                                        <p:cTn id="41"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6" grpId="0"/>
      <p:bldP spid="7" grpId="0"/>
      <p:bldP spid="8" grpId="0"/>
      <p:bldP spid="24" grpId="0"/>
      <p:bldP spid="2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文本框 49">
            <a:extLst>
              <a:ext uri="{FF2B5EF4-FFF2-40B4-BE49-F238E27FC236}">
                <a16:creationId xmlns:a16="http://schemas.microsoft.com/office/drawing/2014/main" id="{27EB8761-01FE-51DA-3F8B-04C867EBB64C}"/>
              </a:ext>
            </a:extLst>
          </p:cNvPr>
          <p:cNvSpPr txBox="1"/>
          <p:nvPr/>
        </p:nvSpPr>
        <p:spPr>
          <a:xfrm>
            <a:off x="977171" y="1073702"/>
            <a:ext cx="8905929" cy="1830309"/>
          </a:xfrm>
          <a:prstGeom prst="rect">
            <a:avLst/>
          </a:prstGeom>
          <a:noFill/>
        </p:spPr>
        <p:txBody>
          <a:bodyPr wrap="square">
            <a:spAutoFit/>
          </a:bodyPr>
          <a:lstStyle/>
          <a:p>
            <a:pPr algn="just">
              <a:lnSpc>
                <a:spcPct val="120000"/>
              </a:lnSpc>
              <a:buNone/>
            </a:pPr>
            <a:r>
              <a:rPr lang="zh-CN" altLang="zh-CN" sz="2400" b="1" dirty="0">
                <a:solidFill>
                  <a:srgbClr val="FF0000"/>
                </a:solidFill>
                <a:effectLst>
                  <a:outerShdw blurRad="38100" dist="38100" dir="2700000">
                    <a:srgbClr val="000000"/>
                  </a:outerShdw>
                </a:effectLst>
                <a:latin typeface="+mn-ea"/>
              </a:rPr>
              <a:t>数据对象</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data object</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）是性质相同的数据元素的集合，是数据的一个子集。</a:t>
            </a:r>
            <a:endPar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20000"/>
              </a:lnSpc>
              <a:buNone/>
            </a:pP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例如，整数数据对象是集合</a:t>
            </a:r>
            <a:r>
              <a:rPr lang="en-US"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N={0</a:t>
            </a: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2,…}</a:t>
            </a: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，字母字符数据对象是集合</a:t>
            </a:r>
            <a:r>
              <a:rPr lang="en-US"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C={'</a:t>
            </a:r>
            <a:r>
              <a:rPr lang="en-US" altLang="zh-CN" sz="2400" kern="100" dirty="0" err="1">
                <a:effectLst/>
                <a:latin typeface="Times New Roman" panose="02020603050405020304" pitchFamily="18" charset="0"/>
                <a:ea typeface="宋体" panose="02010600030101010101" pitchFamily="2" charset="-122"/>
                <a:cs typeface="Times New Roman" panose="02020603050405020304" pitchFamily="18" charset="0"/>
              </a:rPr>
              <a:t>A','B</a:t>
            </a:r>
            <a:r>
              <a:rPr lang="en-US"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',…,'Z')</a:t>
            </a: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p:txBody>
      </p:sp>
      <p:grpSp>
        <p:nvGrpSpPr>
          <p:cNvPr id="2" name="组合 1">
            <a:extLst>
              <a:ext uri="{FF2B5EF4-FFF2-40B4-BE49-F238E27FC236}">
                <a16:creationId xmlns:a16="http://schemas.microsoft.com/office/drawing/2014/main" id="{E7A48170-E810-5DBD-367A-5D0193FF5DBC}"/>
              </a:ext>
            </a:extLst>
          </p:cNvPr>
          <p:cNvGrpSpPr/>
          <p:nvPr/>
        </p:nvGrpSpPr>
        <p:grpSpPr>
          <a:xfrm>
            <a:off x="1016041" y="3315235"/>
            <a:ext cx="6093933" cy="1396146"/>
            <a:chOff x="1016041" y="3315235"/>
            <a:chExt cx="6093933" cy="1396146"/>
          </a:xfrm>
        </p:grpSpPr>
        <p:sp>
          <p:nvSpPr>
            <p:cNvPr id="47" name="文本框 46">
              <a:extLst>
                <a:ext uri="{FF2B5EF4-FFF2-40B4-BE49-F238E27FC236}">
                  <a16:creationId xmlns:a16="http://schemas.microsoft.com/office/drawing/2014/main" id="{C38E5EE2-8B0D-760C-59D9-9B6FD8D2F819}"/>
                </a:ext>
              </a:extLst>
            </p:cNvPr>
            <p:cNvSpPr txBox="1"/>
            <p:nvPr/>
          </p:nvSpPr>
          <p:spPr>
            <a:xfrm>
              <a:off x="1632371" y="4249716"/>
              <a:ext cx="4338267" cy="461665"/>
            </a:xfrm>
            <a:prstGeom prst="rect">
              <a:avLst/>
            </a:prstGeom>
            <a:noFill/>
            <a:ln w="9525">
              <a:noFill/>
            </a:ln>
          </p:spPr>
          <p:txBody>
            <a:bodyPr wrap="square">
              <a:spAutoFit/>
            </a:bodyPr>
            <a:lstStyle/>
            <a:p>
              <a:r>
                <a:rPr lang="zh-CN" altLang="en-US" sz="2400" b="1" dirty="0">
                  <a:latin typeface="+mn-ea"/>
                </a:rPr>
                <a:t>亦即带</a:t>
              </a:r>
              <a:r>
                <a:rPr lang="zh-CN" altLang="en-US" sz="2400" b="1" dirty="0">
                  <a:solidFill>
                    <a:srgbClr val="FF0000"/>
                  </a:solidFill>
                  <a:effectLst>
                    <a:outerShdw blurRad="38100" dist="38100" dir="2700000">
                      <a:srgbClr val="000000"/>
                    </a:outerShdw>
                  </a:effectLst>
                  <a:latin typeface="+mn-ea"/>
                </a:rPr>
                <a:t>结构</a:t>
              </a:r>
              <a:r>
                <a:rPr lang="zh-CN" altLang="en-US" sz="2400" b="1" dirty="0">
                  <a:latin typeface="+mn-ea"/>
                </a:rPr>
                <a:t>的数据元素的集合</a:t>
              </a:r>
            </a:p>
          </p:txBody>
        </p:sp>
        <p:sp>
          <p:nvSpPr>
            <p:cNvPr id="48" name="文本框 47">
              <a:extLst>
                <a:ext uri="{FF2B5EF4-FFF2-40B4-BE49-F238E27FC236}">
                  <a16:creationId xmlns:a16="http://schemas.microsoft.com/office/drawing/2014/main" id="{3D3E0B4E-00E9-B2E3-A754-971F49819D90}"/>
                </a:ext>
              </a:extLst>
            </p:cNvPr>
            <p:cNvSpPr txBox="1"/>
            <p:nvPr/>
          </p:nvSpPr>
          <p:spPr>
            <a:xfrm>
              <a:off x="1016041" y="3315235"/>
              <a:ext cx="1655367" cy="461665"/>
            </a:xfrm>
            <a:prstGeom prst="rect">
              <a:avLst/>
            </a:prstGeom>
            <a:noFill/>
            <a:ln w="9525">
              <a:noFill/>
            </a:ln>
          </p:spPr>
          <p:txBody>
            <a:bodyPr anchor="b" anchorCtr="0"/>
            <a:lstStyle>
              <a:lvl1pPr marL="0" lvl="0" indent="0" algn="l" defTabSz="914400" rtl="0" eaLnBrk="1" fontAlgn="base" latinLnBrk="0" hangingPunct="1">
                <a:lnSpc>
                  <a:spcPct val="100000"/>
                </a:lnSpc>
                <a:spcBef>
                  <a:spcPct val="0"/>
                </a:spcBef>
                <a:spcAft>
                  <a:spcPct val="0"/>
                </a:spcAft>
                <a:buNone/>
                <a:defRPr sz="4400" u="none" kern="1200" baseline="0">
                  <a:solidFill>
                    <a:schemeClr val="tx2"/>
                  </a:solidFill>
                  <a:latin typeface="Times New Roman" panose="02020603050405020304" pitchFamily="18" charset="0"/>
                  <a:ea typeface="宋体" panose="02010600030101010101" pitchFamily="2" charset="-122"/>
                </a:defRPr>
              </a:lvl1pPr>
            </a:lstStyle>
            <a:p>
              <a:pPr lvl="0"/>
              <a:r>
                <a:rPr lang="zh-CN" altLang="en-US" sz="2400" b="1" dirty="0">
                  <a:solidFill>
                    <a:srgbClr val="FF0000"/>
                  </a:solidFill>
                  <a:effectLst>
                    <a:outerShdw blurRad="38100" dist="38100" dir="2700000">
                      <a:srgbClr val="000000"/>
                    </a:outerShdw>
                  </a:effectLst>
                  <a:latin typeface="+mn-ea"/>
                  <a:ea typeface="+mn-ea"/>
                </a:rPr>
                <a:t>数据结构</a:t>
              </a:r>
              <a:r>
                <a:rPr lang="zh-CN" altLang="en-US" sz="2400" b="1" dirty="0">
                  <a:solidFill>
                    <a:srgbClr val="FF0000"/>
                  </a:solidFill>
                  <a:latin typeface="+mn-ea"/>
                  <a:ea typeface="+mn-ea"/>
                </a:rPr>
                <a:t>：</a:t>
              </a:r>
              <a:endParaRPr lang="zh-CN" altLang="en-US" sz="2400" b="1" dirty="0">
                <a:solidFill>
                  <a:schemeClr val="tx1"/>
                </a:solidFill>
                <a:latin typeface="+mn-ea"/>
                <a:ea typeface="+mn-ea"/>
              </a:endParaRPr>
            </a:p>
          </p:txBody>
        </p:sp>
        <p:sp>
          <p:nvSpPr>
            <p:cNvPr id="53" name="文本框 52">
              <a:extLst>
                <a:ext uri="{FF2B5EF4-FFF2-40B4-BE49-F238E27FC236}">
                  <a16:creationId xmlns:a16="http://schemas.microsoft.com/office/drawing/2014/main" id="{BE6D9BA9-0BDB-A80B-348E-D0D81D48F7A5}"/>
                </a:ext>
              </a:extLst>
            </p:cNvPr>
            <p:cNvSpPr txBox="1"/>
            <p:nvPr/>
          </p:nvSpPr>
          <p:spPr>
            <a:xfrm>
              <a:off x="2559486" y="3333556"/>
              <a:ext cx="4550488" cy="936347"/>
            </a:xfrm>
            <a:prstGeom prst="rect">
              <a:avLst/>
            </a:prstGeom>
            <a:noFill/>
          </p:spPr>
          <p:txBody>
            <a:bodyPr wrap="square">
              <a:spAutoFit/>
            </a:bodyPr>
            <a:lstStyle/>
            <a:p>
              <a:pPr>
                <a:lnSpc>
                  <a:spcPct val="120000"/>
                </a:lnSpc>
              </a:pPr>
              <a:r>
                <a:rPr lang="zh-CN" altLang="zh-CN" sz="2400" b="1" dirty="0">
                  <a:effectLst/>
                  <a:latin typeface="Times New Roman" panose="02020603050405020304" pitchFamily="18" charset="0"/>
                  <a:ea typeface="宋体" panose="02010600030101010101" pitchFamily="2" charset="-122"/>
                  <a:cs typeface="Times New Roman" panose="02020603050405020304" pitchFamily="18" charset="0"/>
                </a:rPr>
                <a:t>是相互之间存在一种或多种特定关系的数据元素的集合。</a:t>
              </a:r>
              <a:endParaRPr lang="zh-CN" altLang="en-US" sz="2400" b="1" dirty="0"/>
            </a:p>
          </p:txBody>
        </p:sp>
      </p:grpSp>
      <p:sp>
        <p:nvSpPr>
          <p:cNvPr id="3" name="灯片编号占位符 2">
            <a:extLst>
              <a:ext uri="{FF2B5EF4-FFF2-40B4-BE49-F238E27FC236}">
                <a16:creationId xmlns:a16="http://schemas.microsoft.com/office/drawing/2014/main" id="{90384AD2-1AC4-E2F9-A1DC-BDFB082D8A5F}"/>
              </a:ext>
            </a:extLst>
          </p:cNvPr>
          <p:cNvSpPr>
            <a:spLocks noGrp="1"/>
          </p:cNvSpPr>
          <p:nvPr>
            <p:ph type="sldNum" sz="quarter" idx="12"/>
          </p:nvPr>
        </p:nvSpPr>
        <p:spPr/>
        <p:txBody>
          <a:bodyPr/>
          <a:lstStyle/>
          <a:p>
            <a:fld id="{D7C0FE0B-717B-41AE-9FA2-CA4BF851D1C3}" type="slidenum">
              <a:rPr lang="zh-CN" altLang="en-US" smtClean="0"/>
              <a:t>33</a:t>
            </a:fld>
            <a:endParaRPr lang="zh-CN" altLang="en-US"/>
          </a:p>
        </p:txBody>
      </p:sp>
    </p:spTree>
    <p:extLst>
      <p:ext uri="{BB962C8B-B14F-4D97-AF65-F5344CB8AC3E}">
        <p14:creationId xmlns:p14="http://schemas.microsoft.com/office/powerpoint/2010/main" val="3178218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1000"/>
                                        <p:tgtEl>
                                          <p:spTgt spid="50"/>
                                        </p:tgtEl>
                                      </p:cBhvr>
                                    </p:animEffect>
                                    <p:anim calcmode="lin" valueType="num">
                                      <p:cBhvr>
                                        <p:cTn id="8" dur="1000" fill="hold"/>
                                        <p:tgtEl>
                                          <p:spTgt spid="50"/>
                                        </p:tgtEl>
                                        <p:attrNameLst>
                                          <p:attrName>ppt_x</p:attrName>
                                        </p:attrNameLst>
                                      </p:cBhvr>
                                      <p:tavLst>
                                        <p:tav tm="0">
                                          <p:val>
                                            <p:strVal val="#ppt_x"/>
                                          </p:val>
                                        </p:tav>
                                        <p:tav tm="100000">
                                          <p:val>
                                            <p:strVal val="#ppt_x"/>
                                          </p:val>
                                        </p:tav>
                                      </p:tavLst>
                                    </p:anim>
                                    <p:anim calcmode="lin" valueType="num">
                                      <p:cBhvr>
                                        <p:cTn id="9" dur="1000" fill="hold"/>
                                        <p:tgtEl>
                                          <p:spTgt spid="5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20484">
            <a:extLst>
              <a:ext uri="{FF2B5EF4-FFF2-40B4-BE49-F238E27FC236}">
                <a16:creationId xmlns:a16="http://schemas.microsoft.com/office/drawing/2014/main" id="{30780699-11C7-29A9-36B8-8FBA04A430D7}"/>
              </a:ext>
            </a:extLst>
          </p:cNvPr>
          <p:cNvSpPr txBox="1">
            <a:spLocks/>
          </p:cNvSpPr>
          <p:nvPr/>
        </p:nvSpPr>
        <p:spPr>
          <a:xfrm>
            <a:off x="1330289" y="301413"/>
            <a:ext cx="3381725" cy="493981"/>
          </a:xfrm>
          <a:prstGeom prst="rect">
            <a:avLst/>
          </a:prstGeom>
        </p:spPr>
        <p:txBody>
          <a:bodyPr vert="horz" wrap="square" lIns="91440" tIns="45720" rIns="91440" bIns="45720" anchor="b" anchorCtr="0"/>
          <a:lstStyle>
            <a:defPPr>
              <a:defRPr lang="zh-CN"/>
            </a:defPPr>
            <a:lvl1pPr marL="0" algn="l" defTabSz="914400" rtl="0" eaLnBrk="1" latinLnBrk="0" hangingPunct="1">
              <a:lnSpc>
                <a:spcPct val="90000"/>
              </a:lnSpc>
              <a:spcBef>
                <a:spcPct val="0"/>
              </a:spcBef>
              <a:buNone/>
              <a:defRPr sz="4400" kern="1200">
                <a:solidFill>
                  <a:schemeClr val="tx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3200" b="1" dirty="0">
                <a:solidFill>
                  <a:srgbClr val="C00000"/>
                </a:solidFill>
                <a:effectLst>
                  <a:outerShdw blurRad="38100" dist="38100" dir="2700000">
                    <a:srgbClr val="000000"/>
                  </a:outerShdw>
                </a:effectLst>
                <a:latin typeface="+mn-ea"/>
                <a:ea typeface="+mn-ea"/>
              </a:rPr>
              <a:t>数据</a:t>
            </a:r>
            <a:r>
              <a:rPr lang="zh-CN" altLang="en-US" sz="2800" dirty="0">
                <a:latin typeface="+mn-ea"/>
                <a:ea typeface="+mn-ea"/>
              </a:rPr>
              <a:t>的</a:t>
            </a:r>
            <a:r>
              <a:rPr lang="zh-CN" altLang="en-US" sz="3200" b="1" dirty="0">
                <a:solidFill>
                  <a:srgbClr val="000099"/>
                </a:solidFill>
                <a:effectLst>
                  <a:outerShdw blurRad="38100" dist="38100" dir="2700000">
                    <a:srgbClr val="000000"/>
                  </a:outerShdw>
                </a:effectLst>
                <a:latin typeface="+mn-ea"/>
                <a:ea typeface="+mn-ea"/>
              </a:rPr>
              <a:t>逻辑结构</a:t>
            </a:r>
            <a:r>
              <a:rPr lang="zh-CN" altLang="en-US" sz="3200" b="1" dirty="0">
                <a:solidFill>
                  <a:srgbClr val="000099"/>
                </a:solidFill>
                <a:latin typeface="+mn-ea"/>
                <a:ea typeface="+mn-ea"/>
              </a:rPr>
              <a:t> </a:t>
            </a:r>
          </a:p>
        </p:txBody>
      </p:sp>
      <p:sp>
        <p:nvSpPr>
          <p:cNvPr id="3" name="标题 18482">
            <a:extLst>
              <a:ext uri="{FF2B5EF4-FFF2-40B4-BE49-F238E27FC236}">
                <a16:creationId xmlns:a16="http://schemas.microsoft.com/office/drawing/2014/main" id="{7D58992C-C3F2-8B7E-57CE-F1A70E0D40E9}"/>
              </a:ext>
            </a:extLst>
          </p:cNvPr>
          <p:cNvSpPr txBox="1">
            <a:spLocks/>
          </p:cNvSpPr>
          <p:nvPr/>
        </p:nvSpPr>
        <p:spPr>
          <a:xfrm>
            <a:off x="7282037" y="824381"/>
            <a:ext cx="4246144" cy="542537"/>
          </a:xfrm>
          <a:prstGeom prst="rect">
            <a:avLst/>
          </a:prstGeom>
        </p:spPr>
        <p:txBody>
          <a:bodyPr vert="horz" wrap="square" lIns="91440" tIns="45720" rIns="91440" bIns="45720" anchor="b"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400" b="1" dirty="0">
                <a:latin typeface="+mn-ea"/>
                <a:ea typeface="+mn-ea"/>
              </a:rPr>
              <a:t>数据的</a:t>
            </a:r>
            <a:r>
              <a:rPr lang="zh-CN" altLang="en-US" sz="2400" b="1" dirty="0">
                <a:solidFill>
                  <a:srgbClr val="FF0000"/>
                </a:solidFill>
                <a:effectLst>
                  <a:outerShdw blurRad="38100" dist="38100" dir="2700000">
                    <a:srgbClr val="000000"/>
                  </a:outerShdw>
                </a:effectLst>
                <a:latin typeface="+mn-ea"/>
                <a:ea typeface="+mn-ea"/>
              </a:rPr>
              <a:t>逻辑结构</a:t>
            </a:r>
            <a:r>
              <a:rPr lang="zh-CN" altLang="en-US" sz="2400" b="1" dirty="0">
                <a:latin typeface="+mn-ea"/>
                <a:ea typeface="+mn-ea"/>
              </a:rPr>
              <a:t>可归结为</a:t>
            </a:r>
            <a:r>
              <a:rPr lang="zh-CN" altLang="en-US" sz="2400" b="1" dirty="0">
                <a:solidFill>
                  <a:srgbClr val="FF0000"/>
                </a:solidFill>
                <a:effectLst>
                  <a:outerShdw blurRad="38100" dist="38100" dir="2700000">
                    <a:srgbClr val="000000"/>
                  </a:outerShdw>
                </a:effectLst>
                <a:latin typeface="+mn-ea"/>
                <a:ea typeface="+mn-ea"/>
              </a:rPr>
              <a:t>四类</a:t>
            </a:r>
            <a:r>
              <a:rPr lang="en-US" altLang="zh-CN" sz="2400" b="1" dirty="0">
                <a:solidFill>
                  <a:srgbClr val="FF0000"/>
                </a:solidFill>
                <a:effectLst>
                  <a:outerShdw blurRad="38100" dist="38100" dir="2700000">
                    <a:srgbClr val="000000"/>
                  </a:outerShdw>
                </a:effectLst>
                <a:latin typeface="+mn-ea"/>
                <a:ea typeface="+mn-ea"/>
              </a:rPr>
              <a:t>:</a:t>
            </a:r>
          </a:p>
        </p:txBody>
      </p:sp>
      <p:pic>
        <p:nvPicPr>
          <p:cNvPr id="3074" name="Picture 2">
            <a:extLst>
              <a:ext uri="{FF2B5EF4-FFF2-40B4-BE49-F238E27FC236}">
                <a16:creationId xmlns:a16="http://schemas.microsoft.com/office/drawing/2014/main" id="{9788D1DD-99E7-49F5-0353-C42BE62950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78118" y="1647292"/>
            <a:ext cx="2895694" cy="46069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a:extLst>
              <a:ext uri="{FF2B5EF4-FFF2-40B4-BE49-F238E27FC236}">
                <a16:creationId xmlns:a16="http://schemas.microsoft.com/office/drawing/2014/main" id="{69907FA1-976B-F89C-4FC6-D2BF21D63639}"/>
              </a:ext>
            </a:extLst>
          </p:cNvPr>
          <p:cNvSpPr txBox="1"/>
          <p:nvPr/>
        </p:nvSpPr>
        <p:spPr>
          <a:xfrm>
            <a:off x="835042" y="5238848"/>
            <a:ext cx="6095210" cy="936347"/>
          </a:xfrm>
          <a:prstGeom prst="rect">
            <a:avLst/>
          </a:prstGeom>
          <a:noFill/>
        </p:spPr>
        <p:txBody>
          <a:bodyPr wrap="square">
            <a:spAutoFit/>
          </a:bodyPr>
          <a:lstStyle/>
          <a:p>
            <a:pPr>
              <a:lnSpc>
                <a:spcPct val="120000"/>
              </a:lnSpc>
            </a:pPr>
            <a:r>
              <a:rPr lang="zh-CN" altLang="zh-CN" sz="2400" b="1" dirty="0">
                <a:effectLst/>
                <a:latin typeface="Times New Roman" panose="02020603050405020304" pitchFamily="18" charset="0"/>
                <a:ea typeface="宋体" panose="02010600030101010101" pitchFamily="2" charset="-122"/>
                <a:cs typeface="Times New Roman" panose="02020603050405020304" pitchFamily="18" charset="0"/>
              </a:rPr>
              <a:t>结构定义中的</a:t>
            </a:r>
            <a:r>
              <a:rPr lang="en-US" altLang="zh-CN" sz="2400" b="1" dirty="0">
                <a:effectLst/>
                <a:latin typeface="Times New Roman" panose="02020603050405020304" pitchFamily="18" charset="0"/>
                <a:ea typeface="宋体" panose="02010600030101010101" pitchFamily="2" charset="-122"/>
              </a:rPr>
              <a:t>“</a:t>
            </a:r>
            <a:r>
              <a:rPr lang="zh-CN" altLang="zh-CN" sz="2400" b="1" dirty="0">
                <a:effectLst/>
                <a:latin typeface="Times New Roman" panose="02020603050405020304" pitchFamily="18" charset="0"/>
                <a:ea typeface="宋体" panose="02010600030101010101" pitchFamily="2" charset="-122"/>
                <a:cs typeface="Times New Roman" panose="02020603050405020304" pitchFamily="18" charset="0"/>
              </a:rPr>
              <a:t>关系</a:t>
            </a:r>
            <a:r>
              <a:rPr lang="en-US" altLang="zh-CN" sz="2400" b="1" dirty="0">
                <a:effectLst/>
                <a:latin typeface="Times New Roman" panose="02020603050405020304" pitchFamily="18" charset="0"/>
                <a:ea typeface="宋体" panose="02010600030101010101" pitchFamily="2" charset="-122"/>
              </a:rPr>
              <a:t>”</a:t>
            </a:r>
            <a:r>
              <a:rPr lang="zh-CN" altLang="zh-CN" sz="2400" b="1" dirty="0">
                <a:effectLst/>
                <a:latin typeface="Times New Roman" panose="02020603050405020304" pitchFamily="18" charset="0"/>
                <a:ea typeface="宋体" panose="02010600030101010101" pitchFamily="2" charset="-122"/>
                <a:cs typeface="Times New Roman" panose="02020603050405020304" pitchFamily="18" charset="0"/>
              </a:rPr>
              <a:t>描述的是数据元素之间的</a:t>
            </a:r>
            <a:r>
              <a:rPr lang="zh-CN" altLang="zh-CN" sz="2400" b="1"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逻辑关系</a:t>
            </a:r>
            <a:r>
              <a:rPr lang="zh-CN" altLang="zh-CN" sz="2400" b="1" dirty="0">
                <a:effectLst/>
                <a:latin typeface="Times New Roman" panose="02020603050405020304" pitchFamily="18" charset="0"/>
                <a:ea typeface="宋体" panose="02010600030101010101" pitchFamily="2" charset="-122"/>
                <a:cs typeface="Times New Roman" panose="02020603050405020304" pitchFamily="18" charset="0"/>
              </a:rPr>
              <a:t>，因此又称为数据的</a:t>
            </a:r>
            <a:r>
              <a:rPr lang="zh-CN" altLang="zh-CN" sz="2400" b="1" dirty="0">
                <a:solidFill>
                  <a:srgbClr val="C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逻辑结构</a:t>
            </a:r>
            <a:r>
              <a:rPr lang="zh-CN" altLang="zh-CN" sz="2400" b="1"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en-US" sz="2400" b="1" dirty="0"/>
          </a:p>
        </p:txBody>
      </p:sp>
      <p:sp>
        <p:nvSpPr>
          <p:cNvPr id="7" name="文本框 6">
            <a:extLst>
              <a:ext uri="{FF2B5EF4-FFF2-40B4-BE49-F238E27FC236}">
                <a16:creationId xmlns:a16="http://schemas.microsoft.com/office/drawing/2014/main" id="{009BAE9F-0EC5-006D-5DEC-C6DD01507276}"/>
              </a:ext>
            </a:extLst>
          </p:cNvPr>
          <p:cNvSpPr txBox="1"/>
          <p:nvPr/>
        </p:nvSpPr>
        <p:spPr>
          <a:xfrm>
            <a:off x="835042" y="3465129"/>
            <a:ext cx="6095210" cy="1379545"/>
          </a:xfrm>
          <a:prstGeom prst="rect">
            <a:avLst/>
          </a:prstGeom>
          <a:noFill/>
        </p:spPr>
        <p:txBody>
          <a:bodyPr wrap="square">
            <a:spAutoFit/>
          </a:bodyPr>
          <a:lstStyle/>
          <a:p>
            <a:pPr>
              <a:lnSpc>
                <a:spcPct val="120000"/>
              </a:lnSpc>
            </a:pPr>
            <a:r>
              <a:rPr lang="zh-CN" altLang="zh-CN" sz="2400" b="1" dirty="0">
                <a:effectLst/>
                <a:latin typeface="Times New Roman" panose="02020603050405020304" pitchFamily="18" charset="0"/>
                <a:ea typeface="宋体" panose="02010600030101010101" pitchFamily="2" charset="-122"/>
                <a:cs typeface="Times New Roman" panose="02020603050405020304" pitchFamily="18" charset="0"/>
              </a:rPr>
              <a:t>上述数据结构的定义仅是对操作对象的一种</a:t>
            </a:r>
            <a:r>
              <a:rPr lang="zh-CN" altLang="zh-CN" sz="2400" b="1"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数学描述</a:t>
            </a:r>
            <a:r>
              <a:rPr lang="zh-CN" altLang="zh-CN" sz="2400" b="1" dirty="0">
                <a:effectLst/>
                <a:latin typeface="Times New Roman" panose="02020603050405020304" pitchFamily="18" charset="0"/>
                <a:ea typeface="宋体" panose="02010600030101010101" pitchFamily="2" charset="-122"/>
                <a:cs typeface="Times New Roman" panose="02020603050405020304" pitchFamily="18" charset="0"/>
              </a:rPr>
              <a:t>，换句话说，是从操作对象</a:t>
            </a:r>
            <a:r>
              <a:rPr lang="zh-CN" altLang="zh-CN" sz="2400" b="1"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抽象</a:t>
            </a:r>
            <a:r>
              <a:rPr lang="zh-CN" altLang="zh-CN" sz="2400" b="1" dirty="0">
                <a:effectLst/>
                <a:latin typeface="Times New Roman" panose="02020603050405020304" pitchFamily="18" charset="0"/>
                <a:ea typeface="宋体" panose="02010600030101010101" pitchFamily="2" charset="-122"/>
                <a:cs typeface="Times New Roman" panose="02020603050405020304" pitchFamily="18" charset="0"/>
              </a:rPr>
              <a:t>出来的</a:t>
            </a:r>
            <a:r>
              <a:rPr lang="zh-CN" altLang="zh-CN" sz="2400" b="1"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数学模型</a:t>
            </a:r>
            <a:r>
              <a:rPr lang="zh-CN" altLang="zh-CN" sz="2400" b="1"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en-US" sz="2400" b="1" dirty="0"/>
          </a:p>
        </p:txBody>
      </p:sp>
      <p:sp>
        <p:nvSpPr>
          <p:cNvPr id="8" name="文本框 19458">
            <a:extLst>
              <a:ext uri="{FF2B5EF4-FFF2-40B4-BE49-F238E27FC236}">
                <a16:creationId xmlns:a16="http://schemas.microsoft.com/office/drawing/2014/main" id="{C3CAD9E0-06BA-6386-E4B4-20642F819252}"/>
              </a:ext>
            </a:extLst>
          </p:cNvPr>
          <p:cNvSpPr txBox="1"/>
          <p:nvPr/>
        </p:nvSpPr>
        <p:spPr>
          <a:xfrm>
            <a:off x="835042" y="1136085"/>
            <a:ext cx="4671472" cy="461665"/>
          </a:xfrm>
          <a:prstGeom prst="rect">
            <a:avLst/>
          </a:prstGeom>
          <a:noFill/>
          <a:ln w="9525">
            <a:noFill/>
          </a:ln>
        </p:spPr>
        <p:txBody>
          <a:bodyPr wrap="none"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9pPr>
          </a:lstStyle>
          <a:p>
            <a:r>
              <a:rPr lang="zh-CN" altLang="en-US" sz="2400" b="1" dirty="0">
                <a:solidFill>
                  <a:srgbClr val="000000"/>
                </a:solidFill>
                <a:latin typeface="+mn-ea"/>
                <a:ea typeface="+mn-ea"/>
              </a:rPr>
              <a:t>形式上，</a:t>
            </a:r>
            <a:r>
              <a:rPr lang="zh-CN" altLang="en-US" sz="2400" b="1" dirty="0">
                <a:solidFill>
                  <a:srgbClr val="000000"/>
                </a:solidFill>
                <a:effectLst>
                  <a:outerShdw blurRad="38100" dist="38100" dir="2700000" algn="tl">
                    <a:srgbClr val="000000">
                      <a:alpha val="43137"/>
                    </a:srgbClr>
                  </a:outerShdw>
                </a:effectLst>
                <a:latin typeface="+mn-ea"/>
                <a:ea typeface="+mn-ea"/>
              </a:rPr>
              <a:t>数据结构</a:t>
            </a:r>
            <a:r>
              <a:rPr lang="zh-CN" altLang="en-US" sz="2400" b="1" dirty="0">
                <a:solidFill>
                  <a:srgbClr val="000000"/>
                </a:solidFill>
                <a:latin typeface="+mn-ea"/>
                <a:ea typeface="+mn-ea"/>
              </a:rPr>
              <a:t>是一个</a:t>
            </a:r>
            <a:r>
              <a:rPr lang="zh-CN" altLang="en-US" sz="2400" b="1" dirty="0">
                <a:solidFill>
                  <a:srgbClr val="000000"/>
                </a:solidFill>
                <a:effectLst>
                  <a:outerShdw blurRad="38100" dist="38100" dir="2700000" algn="tl">
                    <a:srgbClr val="000000">
                      <a:alpha val="43137"/>
                    </a:srgbClr>
                  </a:outerShdw>
                </a:effectLst>
                <a:latin typeface="+mn-ea"/>
                <a:ea typeface="+mn-ea"/>
              </a:rPr>
              <a:t>二元组 </a:t>
            </a:r>
          </a:p>
        </p:txBody>
      </p:sp>
      <p:sp>
        <p:nvSpPr>
          <p:cNvPr id="9" name="文本框 19459">
            <a:extLst>
              <a:ext uri="{FF2B5EF4-FFF2-40B4-BE49-F238E27FC236}">
                <a16:creationId xmlns:a16="http://schemas.microsoft.com/office/drawing/2014/main" id="{586E79DD-13A1-C13D-F7C8-3A3D1B1CFE8A}"/>
              </a:ext>
            </a:extLst>
          </p:cNvPr>
          <p:cNvSpPr txBox="1"/>
          <p:nvPr/>
        </p:nvSpPr>
        <p:spPr>
          <a:xfrm>
            <a:off x="2418047" y="1618669"/>
            <a:ext cx="3433184" cy="461665"/>
          </a:xfrm>
          <a:prstGeom prst="rect">
            <a:avLst/>
          </a:prstGeom>
          <a:noFill/>
          <a:ln w="9525">
            <a:noFill/>
          </a:ln>
        </p:spPr>
        <p:txBody>
          <a:bodyPr wrap="none"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9pPr>
          </a:lstStyle>
          <a:p>
            <a:r>
              <a:rPr lang="en-US" altLang="zh-CN" sz="2400" b="1" dirty="0" err="1">
                <a:solidFill>
                  <a:srgbClr val="000000"/>
                </a:solidFill>
                <a:ea typeface="楷体_GB2312" pitchFamily="49" charset="-122"/>
              </a:rPr>
              <a:t>Data_Structures</a:t>
            </a:r>
            <a:r>
              <a:rPr lang="en-US" altLang="zh-CN" sz="2400" b="1" dirty="0">
                <a:solidFill>
                  <a:srgbClr val="000000"/>
                </a:solidFill>
                <a:ea typeface="楷体_GB2312" pitchFamily="49" charset="-122"/>
              </a:rPr>
              <a:t> = (D, S)</a:t>
            </a:r>
          </a:p>
        </p:txBody>
      </p:sp>
      <p:sp>
        <p:nvSpPr>
          <p:cNvPr id="10" name="文本框 19460">
            <a:extLst>
              <a:ext uri="{FF2B5EF4-FFF2-40B4-BE49-F238E27FC236}">
                <a16:creationId xmlns:a16="http://schemas.microsoft.com/office/drawing/2014/main" id="{461D3828-572A-1687-FAC0-F2DE1F01C78D}"/>
              </a:ext>
            </a:extLst>
          </p:cNvPr>
          <p:cNvSpPr txBox="1"/>
          <p:nvPr/>
        </p:nvSpPr>
        <p:spPr>
          <a:xfrm>
            <a:off x="835042" y="2129993"/>
            <a:ext cx="5754309" cy="940963"/>
          </a:xfrm>
          <a:prstGeom prst="rect">
            <a:avLst/>
          </a:prstGeom>
          <a:noFill/>
          <a:ln w="9525">
            <a:noFill/>
          </a:ln>
        </p:spPr>
        <p:txBody>
          <a:bodyPr wrap="square">
            <a:spAutoFit/>
          </a:bodyPr>
          <a:lstStyle>
            <a:defPPr>
              <a:defRPr lang="zh-CN"/>
            </a:defPPr>
            <a:lvl1pPr marL="0" lvl="0"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9pPr>
          </a:lstStyle>
          <a:p>
            <a:pPr>
              <a:lnSpc>
                <a:spcPct val="120000"/>
              </a:lnSpc>
            </a:pPr>
            <a:r>
              <a:rPr lang="zh-CN" altLang="en-US" sz="2400" b="1" dirty="0">
                <a:solidFill>
                  <a:srgbClr val="000000"/>
                </a:solidFill>
                <a:latin typeface="+mn-lt"/>
                <a:ea typeface="+mn-ea"/>
              </a:rPr>
              <a:t>其中</a:t>
            </a:r>
            <a:r>
              <a:rPr lang="en-US" altLang="zh-CN" sz="2400" b="1" dirty="0">
                <a:solidFill>
                  <a:srgbClr val="000000"/>
                </a:solidFill>
                <a:latin typeface="+mn-lt"/>
                <a:ea typeface="+mn-ea"/>
              </a:rPr>
              <a:t>:  D</a:t>
            </a:r>
            <a:r>
              <a:rPr lang="zh-CN" altLang="en-US" sz="2400" b="1" dirty="0">
                <a:solidFill>
                  <a:srgbClr val="000000"/>
                </a:solidFill>
                <a:latin typeface="+mn-lt"/>
                <a:ea typeface="+mn-ea"/>
              </a:rPr>
              <a:t>是</a:t>
            </a:r>
            <a:r>
              <a:rPr lang="zh-CN" altLang="en-US" sz="2400" b="1" dirty="0">
                <a:solidFill>
                  <a:srgbClr val="C00000"/>
                </a:solidFill>
                <a:effectLst>
                  <a:outerShdw blurRad="38100" dist="38100" dir="2700000" algn="tl">
                    <a:srgbClr val="000000">
                      <a:alpha val="43137"/>
                    </a:srgbClr>
                  </a:outerShdw>
                </a:effectLst>
                <a:latin typeface="+mn-lt"/>
                <a:ea typeface="+mn-ea"/>
              </a:rPr>
              <a:t>数据元素</a:t>
            </a:r>
            <a:r>
              <a:rPr lang="zh-CN" altLang="en-US" sz="2400" b="1" dirty="0">
                <a:latin typeface="+mn-lt"/>
                <a:ea typeface="+mn-ea"/>
              </a:rPr>
              <a:t>的</a:t>
            </a:r>
            <a:r>
              <a:rPr lang="zh-CN" altLang="en-US" sz="2400" b="1" dirty="0">
                <a:solidFill>
                  <a:srgbClr val="C00000"/>
                </a:solidFill>
                <a:latin typeface="+mn-lt"/>
                <a:ea typeface="+mn-ea"/>
              </a:rPr>
              <a:t>有限集</a:t>
            </a:r>
            <a:r>
              <a:rPr lang="zh-CN" altLang="en-US" sz="2400" b="1" dirty="0">
                <a:latin typeface="+mn-lt"/>
                <a:ea typeface="+mn-ea"/>
              </a:rPr>
              <a:t>，</a:t>
            </a:r>
          </a:p>
          <a:p>
            <a:pPr>
              <a:lnSpc>
                <a:spcPct val="120000"/>
              </a:lnSpc>
            </a:pPr>
            <a:r>
              <a:rPr lang="zh-CN" altLang="en-US" sz="2400" b="1" dirty="0">
                <a:latin typeface="+mn-lt"/>
                <a:ea typeface="+mn-ea"/>
              </a:rPr>
              <a:t>           </a:t>
            </a:r>
            <a:r>
              <a:rPr lang="en-US" altLang="zh-CN" sz="2400" b="1" dirty="0">
                <a:solidFill>
                  <a:srgbClr val="000000"/>
                </a:solidFill>
                <a:latin typeface="+mn-lt"/>
                <a:ea typeface="+mn-ea"/>
              </a:rPr>
              <a:t>S</a:t>
            </a:r>
            <a:r>
              <a:rPr lang="zh-CN" altLang="en-US" sz="2400" b="1" dirty="0">
                <a:solidFill>
                  <a:srgbClr val="000000"/>
                </a:solidFill>
                <a:latin typeface="+mn-lt"/>
                <a:ea typeface="+mn-ea"/>
              </a:rPr>
              <a:t>是</a:t>
            </a:r>
            <a:r>
              <a:rPr lang="en-US" altLang="zh-CN" sz="2400" b="1" dirty="0">
                <a:solidFill>
                  <a:srgbClr val="000000"/>
                </a:solidFill>
                <a:latin typeface="+mn-lt"/>
                <a:ea typeface="+mn-ea"/>
              </a:rPr>
              <a:t>D</a:t>
            </a:r>
            <a:r>
              <a:rPr lang="zh-CN" altLang="en-US" sz="2400" b="1" dirty="0">
                <a:solidFill>
                  <a:srgbClr val="000000"/>
                </a:solidFill>
                <a:latin typeface="+mn-lt"/>
                <a:ea typeface="+mn-ea"/>
              </a:rPr>
              <a:t>上</a:t>
            </a:r>
            <a:r>
              <a:rPr lang="zh-CN" altLang="en-US" sz="2400" b="1" dirty="0">
                <a:solidFill>
                  <a:srgbClr val="C00000"/>
                </a:solidFill>
                <a:effectLst>
                  <a:outerShdw blurRad="38100" dist="38100" dir="2700000" algn="tl">
                    <a:srgbClr val="000000">
                      <a:alpha val="43137"/>
                    </a:srgbClr>
                  </a:outerShdw>
                </a:effectLst>
                <a:latin typeface="+mn-lt"/>
                <a:ea typeface="+mn-ea"/>
              </a:rPr>
              <a:t>关系</a:t>
            </a:r>
            <a:r>
              <a:rPr lang="zh-CN" altLang="en-US" sz="2400" b="1" dirty="0">
                <a:latin typeface="+mn-lt"/>
                <a:ea typeface="+mn-ea"/>
              </a:rPr>
              <a:t>的</a:t>
            </a:r>
            <a:r>
              <a:rPr lang="zh-CN" altLang="en-US" sz="2400" b="1" dirty="0">
                <a:solidFill>
                  <a:srgbClr val="C00000"/>
                </a:solidFill>
                <a:latin typeface="+mn-lt"/>
                <a:ea typeface="+mn-ea"/>
              </a:rPr>
              <a:t>有限集</a:t>
            </a:r>
            <a:r>
              <a:rPr lang="zh-CN" altLang="en-US" sz="2400" b="1" dirty="0">
                <a:latin typeface="+mn-lt"/>
                <a:ea typeface="+mn-ea"/>
              </a:rPr>
              <a:t>。</a:t>
            </a:r>
          </a:p>
        </p:txBody>
      </p:sp>
      <p:sp>
        <p:nvSpPr>
          <p:cNvPr id="4" name="灯片编号占位符 3">
            <a:extLst>
              <a:ext uri="{FF2B5EF4-FFF2-40B4-BE49-F238E27FC236}">
                <a16:creationId xmlns:a16="http://schemas.microsoft.com/office/drawing/2014/main" id="{9E42FC3B-E80B-2A6E-DCCE-3A664D4F4432}"/>
              </a:ext>
            </a:extLst>
          </p:cNvPr>
          <p:cNvSpPr>
            <a:spLocks noGrp="1"/>
          </p:cNvSpPr>
          <p:nvPr>
            <p:ph type="sldNum" sz="quarter" idx="12"/>
          </p:nvPr>
        </p:nvSpPr>
        <p:spPr/>
        <p:txBody>
          <a:bodyPr/>
          <a:lstStyle/>
          <a:p>
            <a:fld id="{D7C0FE0B-717B-41AE-9FA2-CA4BF851D1C3}" type="slidenum">
              <a:rPr lang="zh-CN" altLang="en-US" smtClean="0"/>
              <a:t>34</a:t>
            </a:fld>
            <a:endParaRPr lang="zh-CN" altLang="en-US"/>
          </a:p>
        </p:txBody>
      </p:sp>
    </p:spTree>
    <p:extLst>
      <p:ext uri="{BB962C8B-B14F-4D97-AF65-F5344CB8AC3E}">
        <p14:creationId xmlns:p14="http://schemas.microsoft.com/office/powerpoint/2010/main" val="3279889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3074"/>
                                        </p:tgtEl>
                                        <p:attrNameLst>
                                          <p:attrName>style.visibility</p:attrName>
                                        </p:attrNameLst>
                                      </p:cBhvr>
                                      <p:to>
                                        <p:strVal val="visible"/>
                                      </p:to>
                                    </p:set>
                                    <p:animEffect transition="in" filter="fade">
                                      <p:cBhvr>
                                        <p:cTn id="26" dur="1000"/>
                                        <p:tgtEl>
                                          <p:spTgt spid="3074"/>
                                        </p:tgtEl>
                                      </p:cBhvr>
                                    </p:animEffect>
                                    <p:anim calcmode="lin" valueType="num">
                                      <p:cBhvr>
                                        <p:cTn id="27" dur="1000" fill="hold"/>
                                        <p:tgtEl>
                                          <p:spTgt spid="3074"/>
                                        </p:tgtEl>
                                        <p:attrNameLst>
                                          <p:attrName>ppt_x</p:attrName>
                                        </p:attrNameLst>
                                      </p:cBhvr>
                                      <p:tavLst>
                                        <p:tav tm="0">
                                          <p:val>
                                            <p:strVal val="#ppt_x"/>
                                          </p:val>
                                        </p:tav>
                                        <p:tav tm="100000">
                                          <p:val>
                                            <p:strVal val="#ppt_x"/>
                                          </p:val>
                                        </p:tav>
                                      </p:tavLst>
                                    </p:anim>
                                    <p:anim calcmode="lin" valueType="num">
                                      <p:cBhvr>
                                        <p:cTn id="28" dur="1000" fill="hold"/>
                                        <p:tgtEl>
                                          <p:spTgt spid="307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4FBFE176-F507-36FD-0BAE-05E9DCB4F8F3}"/>
              </a:ext>
            </a:extLst>
          </p:cNvPr>
          <p:cNvSpPr/>
          <p:nvPr/>
        </p:nvSpPr>
        <p:spPr>
          <a:xfrm>
            <a:off x="6604526" y="4598233"/>
            <a:ext cx="4808891" cy="1883110"/>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2" name="文本框 1">
            <a:extLst>
              <a:ext uri="{FF2B5EF4-FFF2-40B4-BE49-F238E27FC236}">
                <a16:creationId xmlns:a16="http://schemas.microsoft.com/office/drawing/2014/main" id="{59D590A9-8F6A-DCA8-DBC1-D3F8388AA6C3}"/>
              </a:ext>
            </a:extLst>
          </p:cNvPr>
          <p:cNvSpPr txBox="1"/>
          <p:nvPr/>
        </p:nvSpPr>
        <p:spPr>
          <a:xfrm>
            <a:off x="673854" y="4522428"/>
            <a:ext cx="4613557" cy="540725"/>
          </a:xfrm>
          <a:prstGeom prst="rect">
            <a:avLst/>
          </a:prstGeom>
          <a:noFill/>
          <a:ln w="9525">
            <a:noFill/>
          </a:ln>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2800" b="1" dirty="0">
                <a:latin typeface="+mn-ea"/>
              </a:rPr>
              <a:t>逻辑结构在存储器中的</a:t>
            </a:r>
            <a:r>
              <a:rPr lang="zh-CN" altLang="en-US" sz="2800" b="1" dirty="0">
                <a:solidFill>
                  <a:srgbClr val="CC0000"/>
                </a:solidFill>
                <a:effectLst>
                  <a:outerShdw blurRad="38100" dist="38100" dir="2700000">
                    <a:srgbClr val="000000"/>
                  </a:outerShdw>
                </a:effectLst>
                <a:latin typeface="+mn-ea"/>
              </a:rPr>
              <a:t>映象</a:t>
            </a:r>
          </a:p>
        </p:txBody>
      </p:sp>
      <p:sp>
        <p:nvSpPr>
          <p:cNvPr id="3" name="标题 20484">
            <a:extLst>
              <a:ext uri="{FF2B5EF4-FFF2-40B4-BE49-F238E27FC236}">
                <a16:creationId xmlns:a16="http://schemas.microsoft.com/office/drawing/2014/main" id="{30780699-11C7-29A9-36B8-8FBA04A430D7}"/>
              </a:ext>
            </a:extLst>
          </p:cNvPr>
          <p:cNvSpPr txBox="1">
            <a:spLocks/>
          </p:cNvSpPr>
          <p:nvPr/>
        </p:nvSpPr>
        <p:spPr>
          <a:xfrm>
            <a:off x="1356099" y="250021"/>
            <a:ext cx="3381725" cy="493981"/>
          </a:xfrm>
          <a:prstGeom prst="rect">
            <a:avLst/>
          </a:prstGeom>
        </p:spPr>
        <p:txBody>
          <a:bodyPr vert="horz" wrap="square" lIns="91440" tIns="45720" rIns="91440" bIns="45720" anchor="b" anchorCtr="0"/>
          <a:lstStyle>
            <a:defPPr>
              <a:defRPr lang="zh-CN"/>
            </a:defPPr>
            <a:lvl1pPr marL="0" algn="l" defTabSz="914400" rtl="0" eaLnBrk="1" latinLnBrk="0" hangingPunct="1">
              <a:lnSpc>
                <a:spcPct val="90000"/>
              </a:lnSpc>
              <a:spcBef>
                <a:spcPct val="0"/>
              </a:spcBef>
              <a:buNone/>
              <a:defRPr sz="4400" kern="1200">
                <a:solidFill>
                  <a:schemeClr val="tx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3200" b="1" dirty="0">
                <a:solidFill>
                  <a:srgbClr val="C00000"/>
                </a:solidFill>
                <a:effectLst>
                  <a:outerShdw blurRad="38100" dist="38100" dir="2700000">
                    <a:srgbClr val="000000"/>
                  </a:outerShdw>
                </a:effectLst>
                <a:latin typeface="+mn-ea"/>
                <a:ea typeface="+mn-ea"/>
              </a:rPr>
              <a:t>数据</a:t>
            </a:r>
            <a:r>
              <a:rPr lang="zh-CN" altLang="en-US" sz="2800" dirty="0">
                <a:latin typeface="+mn-ea"/>
                <a:ea typeface="+mn-ea"/>
              </a:rPr>
              <a:t>的</a:t>
            </a:r>
            <a:r>
              <a:rPr lang="zh-CN" altLang="en-US" sz="3200" b="1" dirty="0">
                <a:solidFill>
                  <a:srgbClr val="000099"/>
                </a:solidFill>
                <a:effectLst>
                  <a:outerShdw blurRad="38100" dist="38100" dir="2700000">
                    <a:srgbClr val="000000"/>
                  </a:outerShdw>
                </a:effectLst>
                <a:latin typeface="+mn-ea"/>
                <a:ea typeface="+mn-ea"/>
              </a:rPr>
              <a:t>存储结构</a:t>
            </a:r>
            <a:r>
              <a:rPr lang="zh-CN" altLang="en-US" sz="3200" b="1" dirty="0">
                <a:solidFill>
                  <a:srgbClr val="000099"/>
                </a:solidFill>
                <a:latin typeface="+mn-ea"/>
                <a:ea typeface="+mn-ea"/>
              </a:rPr>
              <a:t> </a:t>
            </a:r>
          </a:p>
        </p:txBody>
      </p:sp>
      <p:sp>
        <p:nvSpPr>
          <p:cNvPr id="4" name="标题 21510">
            <a:extLst>
              <a:ext uri="{FF2B5EF4-FFF2-40B4-BE49-F238E27FC236}">
                <a16:creationId xmlns:a16="http://schemas.microsoft.com/office/drawing/2014/main" id="{54E30741-1B83-2B37-7E72-AE247EBC4E5E}"/>
              </a:ext>
            </a:extLst>
          </p:cNvPr>
          <p:cNvSpPr txBox="1">
            <a:spLocks noGrp="1"/>
          </p:cNvSpPr>
          <p:nvPr/>
        </p:nvSpPr>
        <p:spPr>
          <a:xfrm>
            <a:off x="711855" y="5089333"/>
            <a:ext cx="3203361" cy="540725"/>
          </a:xfrm>
          <a:prstGeom prst="rect">
            <a:avLst/>
          </a:prstGeom>
        </p:spPr>
        <p:txBody>
          <a:bodyPr vert="horz" wrap="square" lIns="9144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400" b="1" dirty="0">
                <a:solidFill>
                  <a:srgbClr val="0070C0"/>
                </a:solidFill>
                <a:latin typeface="楷体_GB2312" pitchFamily="49" charset="-122"/>
                <a:ea typeface="楷体_GB2312" pitchFamily="49" charset="-122"/>
              </a:rPr>
              <a:t>数据元素的映象方法：</a:t>
            </a:r>
          </a:p>
        </p:txBody>
      </p:sp>
      <p:sp>
        <p:nvSpPr>
          <p:cNvPr id="5" name="灯片编号占位符 1">
            <a:extLst>
              <a:ext uri="{FF2B5EF4-FFF2-40B4-BE49-F238E27FC236}">
                <a16:creationId xmlns:a16="http://schemas.microsoft.com/office/drawing/2014/main" id="{2E42E2F7-C41E-CE2A-7C00-56D1203C9BDA}"/>
              </a:ext>
            </a:extLst>
          </p:cNvPr>
          <p:cNvSpPr>
            <a:spLocks noGrp="1"/>
          </p:cNvSpPr>
          <p:nvPr/>
        </p:nvSpPr>
        <p:spPr>
          <a:xfrm>
            <a:off x="7935263" y="7394489"/>
            <a:ext cx="2743200" cy="365125"/>
          </a:xfrm>
          <a:prstGeom prst="rect">
            <a:avLst/>
          </a:prstGeom>
        </p:spPr>
        <p:txBody>
          <a:bodyPr vert="horz" lIns="91440" tIns="45720" rIns="91440" bIns="45720" rtlCol="0" anchor="ctr"/>
          <a:lstStyle>
            <a:defPPr>
              <a:defRPr lang="zh-CN"/>
            </a:defPPr>
            <a:lvl1pPr marL="0" lvl="0" indent="0" algn="r" defTabSz="914400" rtl="0" eaLnBrk="1" fontAlgn="base" latinLnBrk="0" hangingPunct="1">
              <a:lnSpc>
                <a:spcPct val="100000"/>
              </a:lnSpc>
              <a:spcBef>
                <a:spcPct val="0"/>
              </a:spcBef>
              <a:spcAft>
                <a:spcPct val="0"/>
              </a:spcAft>
              <a:buNone/>
              <a:defRPr sz="1200" b="0" i="0" u="none" kern="1200" baseline="0">
                <a:solidFill>
                  <a:schemeClr val="tx1">
                    <a:tint val="75000"/>
                  </a:schemeClr>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9pPr>
          </a:lstStyle>
          <a:p>
            <a:pPr lvl="0">
              <a:spcBef>
                <a:spcPct val="50000"/>
              </a:spcBef>
            </a:pPr>
            <a:fld id="{9A0DB2DC-4C9A-4742-B13C-FB6460FD3503}" type="slidenum">
              <a:rPr lang="zh-CN" altLang="en-US" sz="2400" dirty="0">
                <a:latin typeface="Times New Roman" panose="02020603050405020304" pitchFamily="18" charset="0"/>
              </a:rPr>
              <a:pPr lvl="0">
                <a:spcBef>
                  <a:spcPct val="50000"/>
                </a:spcBef>
              </a:pPr>
              <a:t>35</a:t>
            </a:fld>
            <a:endParaRPr lang="zh-CN" altLang="en-US" sz="2400" dirty="0">
              <a:latin typeface="Times New Roman" panose="02020603050405020304" pitchFamily="18" charset="0"/>
            </a:endParaRPr>
          </a:p>
        </p:txBody>
      </p:sp>
      <p:sp>
        <p:nvSpPr>
          <p:cNvPr id="6" name="文本框 21506">
            <a:extLst>
              <a:ext uri="{FF2B5EF4-FFF2-40B4-BE49-F238E27FC236}">
                <a16:creationId xmlns:a16="http://schemas.microsoft.com/office/drawing/2014/main" id="{427D9ED0-14B7-B721-441F-A21C02E1DEED}"/>
              </a:ext>
            </a:extLst>
          </p:cNvPr>
          <p:cNvSpPr txBox="1"/>
          <p:nvPr/>
        </p:nvSpPr>
        <p:spPr>
          <a:xfrm>
            <a:off x="974427" y="5801267"/>
            <a:ext cx="5455801" cy="461665"/>
          </a:xfrm>
          <a:prstGeom prst="rect">
            <a:avLst/>
          </a:prstGeom>
          <a:noFill/>
          <a:ln w="9525">
            <a:noFill/>
          </a:ln>
        </p:spPr>
        <p:txBody>
          <a:bodyPr wrap="square">
            <a:spAutoFit/>
          </a:bodyPr>
          <a:lstStyle>
            <a:defPPr>
              <a:defRPr lang="zh-CN"/>
            </a:defPPr>
            <a:lvl1pPr marL="0" lvl="0"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9pPr>
          </a:lstStyle>
          <a:p>
            <a:r>
              <a:rPr lang="zh-CN" altLang="en-US" sz="2400" b="1" dirty="0">
                <a:solidFill>
                  <a:srgbClr val="000000"/>
                </a:solidFill>
                <a:latin typeface="+mn-ea"/>
                <a:ea typeface="+mn-ea"/>
              </a:rPr>
              <a:t>用二进制位</a:t>
            </a:r>
            <a:r>
              <a:rPr lang="en-US" altLang="zh-CN" sz="2400" b="1" dirty="0">
                <a:solidFill>
                  <a:srgbClr val="000000"/>
                </a:solidFill>
                <a:latin typeface="+mn-ea"/>
                <a:ea typeface="+mn-ea"/>
              </a:rPr>
              <a:t>(bit)</a:t>
            </a:r>
            <a:r>
              <a:rPr lang="zh-CN" altLang="en-US" sz="2400" b="1" dirty="0">
                <a:solidFill>
                  <a:srgbClr val="000000"/>
                </a:solidFill>
                <a:latin typeface="+mn-ea"/>
                <a:ea typeface="+mn-ea"/>
              </a:rPr>
              <a:t>的位串表示数据元素</a:t>
            </a:r>
          </a:p>
        </p:txBody>
      </p:sp>
      <p:sp>
        <p:nvSpPr>
          <p:cNvPr id="7" name="文本框 21507">
            <a:extLst>
              <a:ext uri="{FF2B5EF4-FFF2-40B4-BE49-F238E27FC236}">
                <a16:creationId xmlns:a16="http://schemas.microsoft.com/office/drawing/2014/main" id="{00263371-0C26-6D4A-7A10-8BD048407674}"/>
              </a:ext>
            </a:extLst>
          </p:cNvPr>
          <p:cNvSpPr txBox="1"/>
          <p:nvPr/>
        </p:nvSpPr>
        <p:spPr>
          <a:xfrm>
            <a:off x="6719815" y="5204667"/>
            <a:ext cx="4480714" cy="461665"/>
          </a:xfrm>
          <a:prstGeom prst="rect">
            <a:avLst/>
          </a:prstGeom>
          <a:noFill/>
          <a:ln w="9525">
            <a:noFill/>
          </a:ln>
        </p:spPr>
        <p:txBody>
          <a:bodyPr wrap="none"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9pPr>
          </a:lstStyle>
          <a:p>
            <a:r>
              <a:rPr lang="en-US" altLang="zh-CN" sz="2400">
                <a:solidFill>
                  <a:srgbClr val="000000"/>
                </a:solidFill>
                <a:ea typeface="楷体_GB2312" pitchFamily="49" charset="-122"/>
              </a:rPr>
              <a:t>(321)</a:t>
            </a:r>
            <a:r>
              <a:rPr lang="en-US" altLang="zh-CN" sz="2400" baseline="-25000">
                <a:solidFill>
                  <a:srgbClr val="000000"/>
                </a:solidFill>
                <a:ea typeface="楷体_GB2312" pitchFamily="49" charset="-122"/>
              </a:rPr>
              <a:t>10</a:t>
            </a:r>
            <a:r>
              <a:rPr lang="en-US" altLang="zh-CN" sz="2400">
                <a:solidFill>
                  <a:srgbClr val="000000"/>
                </a:solidFill>
                <a:ea typeface="楷体_GB2312" pitchFamily="49" charset="-122"/>
              </a:rPr>
              <a:t>  =  (501)</a:t>
            </a:r>
            <a:r>
              <a:rPr lang="en-US" altLang="zh-CN" sz="2400" baseline="-25000">
                <a:solidFill>
                  <a:srgbClr val="000000"/>
                </a:solidFill>
                <a:ea typeface="楷体_GB2312" pitchFamily="49" charset="-122"/>
              </a:rPr>
              <a:t>8</a:t>
            </a:r>
            <a:r>
              <a:rPr lang="en-US" altLang="zh-CN" sz="2400">
                <a:solidFill>
                  <a:srgbClr val="000000"/>
                </a:solidFill>
                <a:ea typeface="楷体_GB2312" pitchFamily="49" charset="-122"/>
              </a:rPr>
              <a:t>  =  (101000001)</a:t>
            </a:r>
            <a:r>
              <a:rPr lang="en-US" altLang="zh-CN" sz="2400" baseline="-25000">
                <a:solidFill>
                  <a:srgbClr val="000000"/>
                </a:solidFill>
                <a:ea typeface="楷体_GB2312" pitchFamily="49" charset="-122"/>
              </a:rPr>
              <a:t>2</a:t>
            </a:r>
            <a:endParaRPr lang="en-US" altLang="zh-CN" sz="2400">
              <a:solidFill>
                <a:srgbClr val="000000"/>
              </a:solidFill>
            </a:endParaRPr>
          </a:p>
        </p:txBody>
      </p:sp>
      <p:sp>
        <p:nvSpPr>
          <p:cNvPr id="8" name="文本框 21508">
            <a:extLst>
              <a:ext uri="{FF2B5EF4-FFF2-40B4-BE49-F238E27FC236}">
                <a16:creationId xmlns:a16="http://schemas.microsoft.com/office/drawing/2014/main" id="{3971245C-D89B-3DC9-C177-6C43BEC4E1D0}"/>
              </a:ext>
            </a:extLst>
          </p:cNvPr>
          <p:cNvSpPr txBox="1"/>
          <p:nvPr/>
        </p:nvSpPr>
        <p:spPr>
          <a:xfrm>
            <a:off x="7172182" y="5799053"/>
            <a:ext cx="4028347" cy="461665"/>
          </a:xfrm>
          <a:prstGeom prst="rect">
            <a:avLst/>
          </a:prstGeom>
          <a:noFill/>
          <a:ln w="9525">
            <a:noFill/>
          </a:ln>
        </p:spPr>
        <p:txBody>
          <a:bodyPr wrap="none"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9pPr>
          </a:lstStyle>
          <a:p>
            <a:r>
              <a:rPr lang="en-US" altLang="zh-CN" sz="2400" dirty="0">
                <a:solidFill>
                  <a:srgbClr val="000000"/>
                </a:solidFill>
                <a:ea typeface="楷体_GB2312" pitchFamily="49" charset="-122"/>
              </a:rPr>
              <a:t> A    =  (101)</a:t>
            </a:r>
            <a:r>
              <a:rPr lang="en-US" altLang="zh-CN" sz="2400" baseline="-25000" dirty="0">
                <a:solidFill>
                  <a:srgbClr val="000000"/>
                </a:solidFill>
                <a:ea typeface="楷体_GB2312" pitchFamily="49" charset="-122"/>
              </a:rPr>
              <a:t>8</a:t>
            </a:r>
            <a:r>
              <a:rPr lang="en-US" altLang="zh-CN" sz="2400" dirty="0">
                <a:solidFill>
                  <a:srgbClr val="000000"/>
                </a:solidFill>
                <a:ea typeface="楷体_GB2312" pitchFamily="49" charset="-122"/>
              </a:rPr>
              <a:t>  =  (001000001)</a:t>
            </a:r>
            <a:r>
              <a:rPr lang="en-US" altLang="zh-CN" sz="2400" baseline="-25000" dirty="0">
                <a:solidFill>
                  <a:srgbClr val="000000"/>
                </a:solidFill>
                <a:ea typeface="楷体_GB2312" pitchFamily="49" charset="-122"/>
              </a:rPr>
              <a:t>2</a:t>
            </a:r>
          </a:p>
        </p:txBody>
      </p:sp>
      <p:sp>
        <p:nvSpPr>
          <p:cNvPr id="9" name="标题 21510">
            <a:extLst>
              <a:ext uri="{FF2B5EF4-FFF2-40B4-BE49-F238E27FC236}">
                <a16:creationId xmlns:a16="http://schemas.microsoft.com/office/drawing/2014/main" id="{2503E928-AD2F-8871-BBDC-531D595A5440}"/>
              </a:ext>
            </a:extLst>
          </p:cNvPr>
          <p:cNvSpPr txBox="1">
            <a:spLocks noGrp="1"/>
          </p:cNvSpPr>
          <p:nvPr/>
        </p:nvSpPr>
        <p:spPr>
          <a:xfrm>
            <a:off x="6765967" y="4587180"/>
            <a:ext cx="1076323" cy="540725"/>
          </a:xfrm>
          <a:prstGeom prst="rect">
            <a:avLst/>
          </a:prstGeom>
        </p:spPr>
        <p:txBody>
          <a:bodyPr vert="horz" wrap="square" lIns="9144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400" b="1" dirty="0">
                <a:solidFill>
                  <a:srgbClr val="FF0000"/>
                </a:solidFill>
                <a:effectLst>
                  <a:outerShdw blurRad="38100" dist="38100" dir="2700000">
                    <a:srgbClr val="000000"/>
                  </a:outerShdw>
                </a:effectLst>
                <a:latin typeface="楷体_GB2312" pitchFamily="49" charset="-122"/>
                <a:ea typeface="楷体_GB2312" pitchFamily="49" charset="-122"/>
              </a:rPr>
              <a:t>例如：</a:t>
            </a:r>
            <a:endParaRPr lang="zh-CN" altLang="en-US" sz="2400" b="1" dirty="0">
              <a:solidFill>
                <a:schemeClr val="tx1"/>
              </a:solidFill>
              <a:effectLst>
                <a:outerShdw blurRad="38100" dist="38100" dir="2700000">
                  <a:srgbClr val="000000"/>
                </a:outerShdw>
              </a:effectLst>
              <a:latin typeface="楷体_GB2312" pitchFamily="49" charset="-122"/>
              <a:ea typeface="楷体_GB2312" pitchFamily="49" charset="-122"/>
            </a:endParaRPr>
          </a:p>
        </p:txBody>
      </p:sp>
      <p:sp>
        <p:nvSpPr>
          <p:cNvPr id="11" name="文本框 10">
            <a:extLst>
              <a:ext uri="{FF2B5EF4-FFF2-40B4-BE49-F238E27FC236}">
                <a16:creationId xmlns:a16="http://schemas.microsoft.com/office/drawing/2014/main" id="{5B5E0A7E-6503-6D17-8A4B-16FA78D83989}"/>
              </a:ext>
            </a:extLst>
          </p:cNvPr>
          <p:cNvSpPr txBox="1"/>
          <p:nvPr/>
        </p:nvSpPr>
        <p:spPr>
          <a:xfrm>
            <a:off x="711855" y="981779"/>
            <a:ext cx="10630495" cy="3459986"/>
          </a:xfrm>
          <a:prstGeom prst="rect">
            <a:avLst/>
          </a:prstGeom>
          <a:noFill/>
        </p:spPr>
        <p:txBody>
          <a:bodyPr wrap="square">
            <a:spAutoFit/>
          </a:bodyPr>
          <a:lstStyle/>
          <a:p>
            <a:pPr marL="342900" indent="-342900" algn="just">
              <a:lnSpc>
                <a:spcPct val="115000"/>
              </a:lnSpc>
              <a:buClr>
                <a:srgbClr val="00B0F0"/>
              </a:buClr>
              <a:buFont typeface="Wingdings" panose="05000000000000000000" pitchFamily="2" charset="2"/>
              <a:buChar char="Ø"/>
            </a:pP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数据结构在计算机中的表示（又称</a:t>
            </a:r>
            <a:r>
              <a:rPr lang="zh-CN" altLang="zh-CN" sz="24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映像</a:t>
            </a: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）称为数据的</a:t>
            </a:r>
            <a:r>
              <a:rPr lang="zh-CN" altLang="zh-CN" sz="2400" kern="100" dirty="0">
                <a:solidFill>
                  <a:srgbClr val="C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物理结构</a:t>
            </a: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，又称</a:t>
            </a:r>
            <a:r>
              <a:rPr lang="zh-CN" altLang="zh-CN" sz="2400" kern="100" dirty="0">
                <a:solidFill>
                  <a:srgbClr val="C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存储结构</a:t>
            </a: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，它包括数据元素的表示和关系的表示。</a:t>
            </a:r>
            <a:endParaRPr lang="en-US" altLang="zh-CN" sz="2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indent="-342900" algn="just">
              <a:lnSpc>
                <a:spcPct val="115000"/>
              </a:lnSpc>
              <a:buClr>
                <a:srgbClr val="00B0F0"/>
              </a:buClr>
              <a:buFont typeface="Wingdings" panose="05000000000000000000" pitchFamily="2" charset="2"/>
              <a:buChar char="Ø"/>
            </a:pP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表示信息的最小单位是二进制数的</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一位</a:t>
            </a: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，叫做</a:t>
            </a:r>
            <a:r>
              <a:rPr lang="zh-CN" altLang="zh-CN" sz="2400" kern="100" dirty="0">
                <a:solidFill>
                  <a:srgbClr val="C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位</a:t>
            </a: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bit)</a:t>
            </a: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indent="-342900" algn="just">
              <a:lnSpc>
                <a:spcPct val="115000"/>
              </a:lnSpc>
              <a:buClr>
                <a:srgbClr val="00B0F0"/>
              </a:buClr>
              <a:buFont typeface="Wingdings" panose="05000000000000000000" pitchFamily="2" charset="2"/>
              <a:buChar char="Ø"/>
            </a:pP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由若干位组合形成的</a:t>
            </a:r>
            <a:r>
              <a:rPr lang="zh-CN" altLang="zh-CN" sz="24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位串</a:t>
            </a: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表示一个数据元素（如用一个字长的位串表示一个整数，用</a:t>
            </a:r>
            <a:r>
              <a:rPr lang="en-US"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8</a:t>
            </a: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位二进制数表示一个字符等），通常称这个位串为</a:t>
            </a:r>
            <a:r>
              <a:rPr lang="zh-CN" altLang="zh-CN" sz="2400" kern="100" dirty="0">
                <a:solidFill>
                  <a:srgbClr val="C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元素</a:t>
            </a:r>
            <a:r>
              <a:rPr lang="zh-CN" altLang="zh-CN" sz="2400" kern="100" baseline="30000" dirty="0">
                <a:effectLst/>
                <a:latin typeface="等线" panose="02010600030101010101" pitchFamily="2" charset="-122"/>
                <a:ea typeface="宋体" panose="02010600030101010101" pitchFamily="2" charset="-122"/>
                <a:cs typeface="宋体" panose="02010600030101010101" pitchFamily="2" charset="-122"/>
              </a:rPr>
              <a:t>①</a:t>
            </a: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element</a:t>
            </a: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）或</a:t>
            </a:r>
            <a:r>
              <a:rPr lang="zh-CN" altLang="zh-CN" sz="2400" kern="100" dirty="0">
                <a:effectLst/>
                <a:latin typeface="Times New Roman" panose="02020603050405020304" pitchFamily="18" charset="0"/>
                <a:ea typeface="黑体" panose="02010609060101010101" pitchFamily="49" charset="-122"/>
                <a:cs typeface="Times New Roman" panose="02020603050405020304" pitchFamily="18" charset="0"/>
              </a:rPr>
              <a:t>结点</a:t>
            </a: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node)</a:t>
            </a: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indent="-342900" algn="just">
              <a:lnSpc>
                <a:spcPct val="115000"/>
              </a:lnSpc>
              <a:buClr>
                <a:srgbClr val="00B0F0"/>
              </a:buClr>
              <a:buFont typeface="Wingdings" panose="05000000000000000000" pitchFamily="2" charset="2"/>
              <a:buChar char="Ø"/>
            </a:pP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当数据元素由若干数据项组成时，位串中对应于各个数据项的子位串称为</a:t>
            </a:r>
            <a:r>
              <a:rPr lang="zh-CN" altLang="zh-CN" sz="2400" kern="100" dirty="0">
                <a:solidFill>
                  <a:srgbClr val="C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数据域</a:t>
            </a: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data field)</a:t>
            </a: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。因此，元素或结点可看成是数据元素在计算机中的</a:t>
            </a:r>
            <a:r>
              <a:rPr lang="zh-CN" altLang="zh-CN" sz="2400"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映像</a:t>
            </a: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0" name="灯片编号占位符 9">
            <a:extLst>
              <a:ext uri="{FF2B5EF4-FFF2-40B4-BE49-F238E27FC236}">
                <a16:creationId xmlns:a16="http://schemas.microsoft.com/office/drawing/2014/main" id="{8B3855C1-7BE3-02C2-7FDB-678325124F32}"/>
              </a:ext>
            </a:extLst>
          </p:cNvPr>
          <p:cNvSpPr>
            <a:spLocks noGrp="1"/>
          </p:cNvSpPr>
          <p:nvPr>
            <p:ph type="sldNum" sz="quarter" idx="12"/>
          </p:nvPr>
        </p:nvSpPr>
        <p:spPr/>
        <p:txBody>
          <a:bodyPr/>
          <a:lstStyle/>
          <a:p>
            <a:fld id="{D7C0FE0B-717B-41AE-9FA2-CA4BF851D1C3}" type="slidenum">
              <a:rPr lang="zh-CN" altLang="en-US" smtClean="0"/>
              <a:t>35</a:t>
            </a:fld>
            <a:endParaRPr lang="zh-CN" altLang="en-US"/>
          </a:p>
        </p:txBody>
      </p:sp>
    </p:spTree>
    <p:extLst>
      <p:ext uri="{BB962C8B-B14F-4D97-AF65-F5344CB8AC3E}">
        <p14:creationId xmlns:p14="http://schemas.microsoft.com/office/powerpoint/2010/main" val="1633335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1000"/>
                                        <p:tgtEl>
                                          <p:spTgt spid="11">
                                            <p:txEl>
                                              <p:pRg st="0" end="0"/>
                                            </p:txEl>
                                          </p:spTgt>
                                        </p:tgtEl>
                                      </p:cBhvr>
                                    </p:animEffect>
                                    <p:anim calcmode="lin" valueType="num">
                                      <p:cBhvr>
                                        <p:cTn id="8"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1">
                                            <p:txEl>
                                              <p:pRg st="1" end="1"/>
                                            </p:txEl>
                                          </p:spTgt>
                                        </p:tgtEl>
                                        <p:attrNameLst>
                                          <p:attrName>style.visibility</p:attrName>
                                        </p:attrNameLst>
                                      </p:cBhvr>
                                      <p:to>
                                        <p:strVal val="visible"/>
                                      </p:to>
                                    </p:set>
                                    <p:animEffect transition="in" filter="fade">
                                      <p:cBhvr>
                                        <p:cTn id="14" dur="1000"/>
                                        <p:tgtEl>
                                          <p:spTgt spid="11">
                                            <p:txEl>
                                              <p:pRg st="1" end="1"/>
                                            </p:txEl>
                                          </p:spTgt>
                                        </p:tgtEl>
                                      </p:cBhvr>
                                    </p:animEffect>
                                    <p:anim calcmode="lin" valueType="num">
                                      <p:cBhvr>
                                        <p:cTn id="15" dur="1000" fill="hold"/>
                                        <p:tgtEl>
                                          <p:spTgt spid="11">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1">
                                            <p:txEl>
                                              <p:pRg st="2" end="2"/>
                                            </p:txEl>
                                          </p:spTgt>
                                        </p:tgtEl>
                                        <p:attrNameLst>
                                          <p:attrName>style.visibility</p:attrName>
                                        </p:attrNameLst>
                                      </p:cBhvr>
                                      <p:to>
                                        <p:strVal val="visible"/>
                                      </p:to>
                                    </p:set>
                                    <p:animEffect transition="in" filter="fade">
                                      <p:cBhvr>
                                        <p:cTn id="21" dur="1000"/>
                                        <p:tgtEl>
                                          <p:spTgt spid="11">
                                            <p:txEl>
                                              <p:pRg st="2" end="2"/>
                                            </p:txEl>
                                          </p:spTgt>
                                        </p:tgtEl>
                                      </p:cBhvr>
                                    </p:animEffect>
                                    <p:anim calcmode="lin" valueType="num">
                                      <p:cBhvr>
                                        <p:cTn id="22" dur="1000" fill="hold"/>
                                        <p:tgtEl>
                                          <p:spTgt spid="11">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1">
                                            <p:txEl>
                                              <p:pRg st="3" end="3"/>
                                            </p:txEl>
                                          </p:spTgt>
                                        </p:tgtEl>
                                        <p:attrNameLst>
                                          <p:attrName>style.visibility</p:attrName>
                                        </p:attrNameLst>
                                      </p:cBhvr>
                                      <p:to>
                                        <p:strVal val="visible"/>
                                      </p:to>
                                    </p:set>
                                    <p:animEffect transition="in" filter="fade">
                                      <p:cBhvr>
                                        <p:cTn id="28" dur="1000"/>
                                        <p:tgtEl>
                                          <p:spTgt spid="11">
                                            <p:txEl>
                                              <p:pRg st="3" end="3"/>
                                            </p:txEl>
                                          </p:spTgt>
                                        </p:tgtEl>
                                      </p:cBhvr>
                                    </p:animEffect>
                                    <p:anim calcmode="lin" valueType="num">
                                      <p:cBhvr>
                                        <p:cTn id="29" dur="1000" fill="hold"/>
                                        <p:tgtEl>
                                          <p:spTgt spid="11">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1">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fade">
                                      <p:cBhvr>
                                        <p:cTn id="35" dur="1000"/>
                                        <p:tgtEl>
                                          <p:spTgt spid="2"/>
                                        </p:tgtEl>
                                      </p:cBhvr>
                                    </p:animEffect>
                                    <p:anim calcmode="lin" valueType="num">
                                      <p:cBhvr>
                                        <p:cTn id="36" dur="1000" fill="hold"/>
                                        <p:tgtEl>
                                          <p:spTgt spid="2"/>
                                        </p:tgtEl>
                                        <p:attrNameLst>
                                          <p:attrName>ppt_x</p:attrName>
                                        </p:attrNameLst>
                                      </p:cBhvr>
                                      <p:tavLst>
                                        <p:tav tm="0">
                                          <p:val>
                                            <p:strVal val="#ppt_x"/>
                                          </p:val>
                                        </p:tav>
                                        <p:tav tm="100000">
                                          <p:val>
                                            <p:strVal val="#ppt_x"/>
                                          </p:val>
                                        </p:tav>
                                      </p:tavLst>
                                    </p:anim>
                                    <p:anim calcmode="lin" valueType="num">
                                      <p:cBhvr>
                                        <p:cTn id="37" dur="1000" fill="hold"/>
                                        <p:tgtEl>
                                          <p:spTgt spid="2"/>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4"/>
                                        </p:tgtEl>
                                        <p:attrNameLst>
                                          <p:attrName>style.visibility</p:attrName>
                                        </p:attrNameLst>
                                      </p:cBhvr>
                                      <p:to>
                                        <p:strVal val="visible"/>
                                      </p:to>
                                    </p:set>
                                    <p:animEffect transition="in" filter="fade">
                                      <p:cBhvr>
                                        <p:cTn id="40" dur="1000"/>
                                        <p:tgtEl>
                                          <p:spTgt spid="4"/>
                                        </p:tgtEl>
                                      </p:cBhvr>
                                    </p:animEffect>
                                    <p:anim calcmode="lin" valueType="num">
                                      <p:cBhvr>
                                        <p:cTn id="41" dur="1000" fill="hold"/>
                                        <p:tgtEl>
                                          <p:spTgt spid="4"/>
                                        </p:tgtEl>
                                        <p:attrNameLst>
                                          <p:attrName>ppt_x</p:attrName>
                                        </p:attrNameLst>
                                      </p:cBhvr>
                                      <p:tavLst>
                                        <p:tav tm="0">
                                          <p:val>
                                            <p:strVal val="#ppt_x"/>
                                          </p:val>
                                        </p:tav>
                                        <p:tav tm="100000">
                                          <p:val>
                                            <p:strVal val="#ppt_x"/>
                                          </p:val>
                                        </p:tav>
                                      </p:tavLst>
                                    </p:anim>
                                    <p:anim calcmode="lin" valueType="num">
                                      <p:cBhvr>
                                        <p:cTn id="42" dur="1000" fill="hold"/>
                                        <p:tgtEl>
                                          <p:spTgt spid="4"/>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6"/>
                                        </p:tgtEl>
                                        <p:attrNameLst>
                                          <p:attrName>style.visibility</p:attrName>
                                        </p:attrNameLst>
                                      </p:cBhvr>
                                      <p:to>
                                        <p:strVal val="visible"/>
                                      </p:to>
                                    </p:set>
                                    <p:animEffect transition="in" filter="fade">
                                      <p:cBhvr>
                                        <p:cTn id="45" dur="1000"/>
                                        <p:tgtEl>
                                          <p:spTgt spid="6"/>
                                        </p:tgtEl>
                                      </p:cBhvr>
                                    </p:animEffect>
                                    <p:anim calcmode="lin" valueType="num">
                                      <p:cBhvr>
                                        <p:cTn id="46" dur="1000" fill="hold"/>
                                        <p:tgtEl>
                                          <p:spTgt spid="6"/>
                                        </p:tgtEl>
                                        <p:attrNameLst>
                                          <p:attrName>ppt_x</p:attrName>
                                        </p:attrNameLst>
                                      </p:cBhvr>
                                      <p:tavLst>
                                        <p:tav tm="0">
                                          <p:val>
                                            <p:strVal val="#ppt_x"/>
                                          </p:val>
                                        </p:tav>
                                        <p:tav tm="100000">
                                          <p:val>
                                            <p:strVal val="#ppt_x"/>
                                          </p:val>
                                        </p:tav>
                                      </p:tavLst>
                                    </p:anim>
                                    <p:anim calcmode="lin" valueType="num">
                                      <p:cBhvr>
                                        <p:cTn id="47"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grpId="0" nodeType="click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fade">
                                      <p:cBhvr>
                                        <p:cTn id="52" dur="1000"/>
                                        <p:tgtEl>
                                          <p:spTgt spid="12"/>
                                        </p:tgtEl>
                                      </p:cBhvr>
                                    </p:animEffect>
                                    <p:anim calcmode="lin" valueType="num">
                                      <p:cBhvr>
                                        <p:cTn id="53" dur="1000" fill="hold"/>
                                        <p:tgtEl>
                                          <p:spTgt spid="12"/>
                                        </p:tgtEl>
                                        <p:attrNameLst>
                                          <p:attrName>ppt_x</p:attrName>
                                        </p:attrNameLst>
                                      </p:cBhvr>
                                      <p:tavLst>
                                        <p:tav tm="0">
                                          <p:val>
                                            <p:strVal val="#ppt_x"/>
                                          </p:val>
                                        </p:tav>
                                        <p:tav tm="100000">
                                          <p:val>
                                            <p:strVal val="#ppt_x"/>
                                          </p:val>
                                        </p:tav>
                                      </p:tavLst>
                                    </p:anim>
                                    <p:anim calcmode="lin" valueType="num">
                                      <p:cBhvr>
                                        <p:cTn id="54" dur="1000" fill="hold"/>
                                        <p:tgtEl>
                                          <p:spTgt spid="12"/>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7"/>
                                        </p:tgtEl>
                                        <p:attrNameLst>
                                          <p:attrName>style.visibility</p:attrName>
                                        </p:attrNameLst>
                                      </p:cBhvr>
                                      <p:to>
                                        <p:strVal val="visible"/>
                                      </p:to>
                                    </p:set>
                                    <p:animEffect transition="in" filter="fade">
                                      <p:cBhvr>
                                        <p:cTn id="57" dur="1000"/>
                                        <p:tgtEl>
                                          <p:spTgt spid="7"/>
                                        </p:tgtEl>
                                      </p:cBhvr>
                                    </p:animEffect>
                                    <p:anim calcmode="lin" valueType="num">
                                      <p:cBhvr>
                                        <p:cTn id="58" dur="1000" fill="hold"/>
                                        <p:tgtEl>
                                          <p:spTgt spid="7"/>
                                        </p:tgtEl>
                                        <p:attrNameLst>
                                          <p:attrName>ppt_x</p:attrName>
                                        </p:attrNameLst>
                                      </p:cBhvr>
                                      <p:tavLst>
                                        <p:tav tm="0">
                                          <p:val>
                                            <p:strVal val="#ppt_x"/>
                                          </p:val>
                                        </p:tav>
                                        <p:tav tm="100000">
                                          <p:val>
                                            <p:strVal val="#ppt_x"/>
                                          </p:val>
                                        </p:tav>
                                      </p:tavLst>
                                    </p:anim>
                                    <p:anim calcmode="lin" valueType="num">
                                      <p:cBhvr>
                                        <p:cTn id="59" dur="1000" fill="hold"/>
                                        <p:tgtEl>
                                          <p:spTgt spid="7"/>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8"/>
                                        </p:tgtEl>
                                        <p:attrNameLst>
                                          <p:attrName>style.visibility</p:attrName>
                                        </p:attrNameLst>
                                      </p:cBhvr>
                                      <p:to>
                                        <p:strVal val="visible"/>
                                      </p:to>
                                    </p:set>
                                    <p:animEffect transition="in" filter="fade">
                                      <p:cBhvr>
                                        <p:cTn id="62" dur="1000"/>
                                        <p:tgtEl>
                                          <p:spTgt spid="8"/>
                                        </p:tgtEl>
                                      </p:cBhvr>
                                    </p:animEffect>
                                    <p:anim calcmode="lin" valueType="num">
                                      <p:cBhvr>
                                        <p:cTn id="63" dur="1000" fill="hold"/>
                                        <p:tgtEl>
                                          <p:spTgt spid="8"/>
                                        </p:tgtEl>
                                        <p:attrNameLst>
                                          <p:attrName>ppt_x</p:attrName>
                                        </p:attrNameLst>
                                      </p:cBhvr>
                                      <p:tavLst>
                                        <p:tav tm="0">
                                          <p:val>
                                            <p:strVal val="#ppt_x"/>
                                          </p:val>
                                        </p:tav>
                                        <p:tav tm="100000">
                                          <p:val>
                                            <p:strVal val="#ppt_x"/>
                                          </p:val>
                                        </p:tav>
                                      </p:tavLst>
                                    </p:anim>
                                    <p:anim calcmode="lin" valueType="num">
                                      <p:cBhvr>
                                        <p:cTn id="64" dur="1000" fill="hold"/>
                                        <p:tgtEl>
                                          <p:spTgt spid="8"/>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9"/>
                                        </p:tgtEl>
                                        <p:attrNameLst>
                                          <p:attrName>style.visibility</p:attrName>
                                        </p:attrNameLst>
                                      </p:cBhvr>
                                      <p:to>
                                        <p:strVal val="visible"/>
                                      </p:to>
                                    </p:set>
                                    <p:animEffect transition="in" filter="fade">
                                      <p:cBhvr>
                                        <p:cTn id="67" dur="1000"/>
                                        <p:tgtEl>
                                          <p:spTgt spid="9"/>
                                        </p:tgtEl>
                                      </p:cBhvr>
                                    </p:animEffect>
                                    <p:anim calcmode="lin" valueType="num">
                                      <p:cBhvr>
                                        <p:cTn id="68" dur="1000" fill="hold"/>
                                        <p:tgtEl>
                                          <p:spTgt spid="9"/>
                                        </p:tgtEl>
                                        <p:attrNameLst>
                                          <p:attrName>ppt_x</p:attrName>
                                        </p:attrNameLst>
                                      </p:cBhvr>
                                      <p:tavLst>
                                        <p:tav tm="0">
                                          <p:val>
                                            <p:strVal val="#ppt_x"/>
                                          </p:val>
                                        </p:tav>
                                        <p:tav tm="100000">
                                          <p:val>
                                            <p:strVal val="#ppt_x"/>
                                          </p:val>
                                        </p:tav>
                                      </p:tavLst>
                                    </p:anim>
                                    <p:anim calcmode="lin" valueType="num">
                                      <p:cBhvr>
                                        <p:cTn id="6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2" grpId="0"/>
      <p:bldP spid="4" grpId="0"/>
      <p:bldP spid="6" grpId="0"/>
      <p:bldP spid="7" grpId="0"/>
      <p:bldP spid="8" grpId="0"/>
      <p:bldP spid="9" grpId="0"/>
      <p:bldP spid="11"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a:extLst>
              <a:ext uri="{FF2B5EF4-FFF2-40B4-BE49-F238E27FC236}">
                <a16:creationId xmlns:a16="http://schemas.microsoft.com/office/drawing/2014/main" id="{674F2A4B-49D2-56A0-F393-01E26B99BD3C}"/>
              </a:ext>
            </a:extLst>
          </p:cNvPr>
          <p:cNvGrpSpPr/>
          <p:nvPr/>
        </p:nvGrpSpPr>
        <p:grpSpPr>
          <a:xfrm>
            <a:off x="1258007" y="97025"/>
            <a:ext cx="6971593" cy="736221"/>
            <a:chOff x="1698625" y="758867"/>
            <a:chExt cx="6971593" cy="736221"/>
          </a:xfrm>
        </p:grpSpPr>
        <p:sp>
          <p:nvSpPr>
            <p:cNvPr id="2" name="标题 22543">
              <a:extLst>
                <a:ext uri="{FF2B5EF4-FFF2-40B4-BE49-F238E27FC236}">
                  <a16:creationId xmlns:a16="http://schemas.microsoft.com/office/drawing/2014/main" id="{3135C90D-A196-83F8-BDFE-1237F0FB5AC2}"/>
                </a:ext>
              </a:extLst>
            </p:cNvPr>
            <p:cNvSpPr txBox="1">
              <a:spLocks/>
            </p:cNvSpPr>
            <p:nvPr/>
          </p:nvSpPr>
          <p:spPr>
            <a:xfrm>
              <a:off x="1698625" y="758867"/>
              <a:ext cx="3001296" cy="685800"/>
            </a:xfrm>
            <a:prstGeom prst="rect">
              <a:avLst/>
            </a:prstGeom>
          </p:spPr>
          <p:txBody>
            <a:bodyPr vert="horz" wrap="square" lIns="91440" tIns="45720" rIns="91440" bIns="45720" anchor="b" anchorCtr="0">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dirty="0">
                  <a:solidFill>
                    <a:srgbClr val="C00000"/>
                  </a:solidFill>
                  <a:effectLst>
                    <a:outerShdw blurRad="38100" dist="38100" dir="2700000">
                      <a:srgbClr val="000000"/>
                    </a:outerShdw>
                  </a:effectLst>
                  <a:latin typeface="+mn-ea"/>
                  <a:ea typeface="+mn-ea"/>
                </a:rPr>
                <a:t>关系</a:t>
              </a:r>
              <a:r>
                <a:rPr lang="zh-CN" altLang="en-US" sz="2900" b="1" dirty="0">
                  <a:latin typeface="+mn-ea"/>
                  <a:ea typeface="+mn-ea"/>
                </a:rPr>
                <a:t>的</a:t>
              </a:r>
              <a:r>
                <a:rPr lang="zh-CN" altLang="en-US" sz="3200" b="1" dirty="0">
                  <a:solidFill>
                    <a:srgbClr val="000099"/>
                  </a:solidFill>
                  <a:effectLst>
                    <a:outerShdw blurRad="38100" dist="38100" dir="2700000">
                      <a:srgbClr val="000000"/>
                    </a:outerShdw>
                  </a:effectLst>
                  <a:latin typeface="+mn-ea"/>
                  <a:ea typeface="+mn-ea"/>
                </a:rPr>
                <a:t>映象方法</a:t>
              </a:r>
            </a:p>
          </p:txBody>
        </p:sp>
        <p:sp>
          <p:nvSpPr>
            <p:cNvPr id="4" name="文本框 3">
              <a:extLst>
                <a:ext uri="{FF2B5EF4-FFF2-40B4-BE49-F238E27FC236}">
                  <a16:creationId xmlns:a16="http://schemas.microsoft.com/office/drawing/2014/main" id="{013ADDE5-EFB2-6ABD-3993-F2726A8C5F44}"/>
                </a:ext>
              </a:extLst>
            </p:cNvPr>
            <p:cNvSpPr txBox="1"/>
            <p:nvPr/>
          </p:nvSpPr>
          <p:spPr>
            <a:xfrm>
              <a:off x="4449762" y="910313"/>
              <a:ext cx="4220456" cy="584775"/>
            </a:xfrm>
            <a:prstGeom prst="rect">
              <a:avLst/>
            </a:prstGeom>
            <a:noFill/>
            <a:ln w="9525">
              <a:noFill/>
            </a:ln>
          </p:spPr>
          <p:txBody>
            <a:bodyPr wrap="square">
              <a:spAutoFit/>
            </a:bodyPr>
            <a:lstStyle/>
            <a:p>
              <a:r>
                <a:rPr lang="zh-CN" altLang="en-US" sz="3200" b="1" dirty="0">
                  <a:solidFill>
                    <a:srgbClr val="000000"/>
                  </a:solidFill>
                  <a:latin typeface="+mn-ea"/>
                </a:rPr>
                <a:t>（表示</a:t>
              </a:r>
              <a:r>
                <a:rPr lang="en-US" altLang="zh-CN" sz="3200" b="1" dirty="0">
                  <a:solidFill>
                    <a:srgbClr val="000000"/>
                  </a:solidFill>
                  <a:latin typeface="+mn-ea"/>
                  <a:sym typeface="Symbol" panose="05050102010706020507" pitchFamily="18" charset="2"/>
                </a:rPr>
                <a:t></a:t>
              </a:r>
              <a:r>
                <a:rPr lang="en-US" altLang="zh-CN" sz="3200" b="1" dirty="0" err="1">
                  <a:solidFill>
                    <a:srgbClr val="000000"/>
                  </a:solidFill>
                  <a:latin typeface="+mn-ea"/>
                </a:rPr>
                <a:t>x,y</a:t>
              </a:r>
              <a:r>
                <a:rPr lang="en-US" altLang="zh-CN" sz="3200" b="1" dirty="0">
                  <a:solidFill>
                    <a:srgbClr val="000000"/>
                  </a:solidFill>
                  <a:latin typeface="+mn-ea"/>
                  <a:sym typeface="Symbol" panose="05050102010706020507" pitchFamily="18" charset="2"/>
                </a:rPr>
                <a:t></a:t>
              </a:r>
              <a:r>
                <a:rPr lang="zh-CN" altLang="en-US" sz="3200" b="1" dirty="0">
                  <a:solidFill>
                    <a:srgbClr val="000000"/>
                  </a:solidFill>
                  <a:latin typeface="+mn-ea"/>
                </a:rPr>
                <a:t>的方法）</a:t>
              </a:r>
            </a:p>
          </p:txBody>
        </p:sp>
      </p:grpSp>
      <p:sp>
        <p:nvSpPr>
          <p:cNvPr id="5" name="文本框 4">
            <a:extLst>
              <a:ext uri="{FF2B5EF4-FFF2-40B4-BE49-F238E27FC236}">
                <a16:creationId xmlns:a16="http://schemas.microsoft.com/office/drawing/2014/main" id="{0E8F3F5C-4E57-1D1A-CFF3-C88DB9875975}"/>
              </a:ext>
            </a:extLst>
          </p:cNvPr>
          <p:cNvSpPr txBox="1"/>
          <p:nvPr/>
        </p:nvSpPr>
        <p:spPr>
          <a:xfrm>
            <a:off x="516030" y="945055"/>
            <a:ext cx="1808508" cy="523220"/>
          </a:xfrm>
          <a:prstGeom prst="rect">
            <a:avLst/>
          </a:prstGeom>
          <a:noFill/>
          <a:ln w="9525">
            <a:noFill/>
          </a:ln>
        </p:spPr>
        <p:txBody>
          <a:bodyPr wrap="none" anchor="t" anchorCtr="0">
            <a:spAutoFit/>
          </a:bodyPr>
          <a:lstStyle/>
          <a:p>
            <a:r>
              <a:rPr lang="zh-CN" altLang="en-US" sz="2800" b="1" dirty="0">
                <a:solidFill>
                  <a:srgbClr val="C00000"/>
                </a:solidFill>
                <a:effectLst>
                  <a:outerShdw blurRad="38100" dist="38100" dir="2700000" algn="tl">
                    <a:srgbClr val="000000">
                      <a:alpha val="43137"/>
                    </a:srgbClr>
                  </a:outerShdw>
                </a:effectLst>
                <a:latin typeface="+mn-ea"/>
              </a:rPr>
              <a:t>顺序映象 </a:t>
            </a:r>
          </a:p>
        </p:txBody>
      </p:sp>
      <p:sp>
        <p:nvSpPr>
          <p:cNvPr id="6" name="文本框 5">
            <a:extLst>
              <a:ext uri="{FF2B5EF4-FFF2-40B4-BE49-F238E27FC236}">
                <a16:creationId xmlns:a16="http://schemas.microsoft.com/office/drawing/2014/main" id="{3BEAC723-D6A0-BB90-6A52-FED08C8991A3}"/>
              </a:ext>
            </a:extLst>
          </p:cNvPr>
          <p:cNvSpPr txBox="1"/>
          <p:nvPr/>
        </p:nvSpPr>
        <p:spPr>
          <a:xfrm>
            <a:off x="930074" y="1477995"/>
            <a:ext cx="4654750" cy="461665"/>
          </a:xfrm>
          <a:prstGeom prst="rect">
            <a:avLst/>
          </a:prstGeom>
          <a:noFill/>
          <a:ln w="9525">
            <a:noFill/>
          </a:ln>
        </p:spPr>
        <p:txBody>
          <a:bodyPr wrap="square">
            <a:spAutoFit/>
          </a:bodyPr>
          <a:lstStyle/>
          <a:p>
            <a:r>
              <a:rPr lang="zh-CN" altLang="en-US" sz="2400" b="1" dirty="0">
                <a:solidFill>
                  <a:srgbClr val="000000"/>
                </a:solidFill>
                <a:latin typeface="+mn-ea"/>
              </a:rPr>
              <a:t>以相对的存储位置表示后继关系。</a:t>
            </a:r>
          </a:p>
        </p:txBody>
      </p:sp>
      <p:sp>
        <p:nvSpPr>
          <p:cNvPr id="7" name="文本框 6">
            <a:extLst>
              <a:ext uri="{FF2B5EF4-FFF2-40B4-BE49-F238E27FC236}">
                <a16:creationId xmlns:a16="http://schemas.microsoft.com/office/drawing/2014/main" id="{2676D249-5639-2B51-62BC-595182EDBD9B}"/>
              </a:ext>
            </a:extLst>
          </p:cNvPr>
          <p:cNvSpPr txBox="1"/>
          <p:nvPr/>
        </p:nvSpPr>
        <p:spPr>
          <a:xfrm>
            <a:off x="503472" y="2099849"/>
            <a:ext cx="5615900" cy="1363065"/>
          </a:xfrm>
          <a:prstGeom prst="rect">
            <a:avLst/>
          </a:prstGeom>
          <a:noFill/>
          <a:ln w="9525">
            <a:noFill/>
          </a:ln>
        </p:spPr>
        <p:txBody>
          <a:bodyPr wrap="square">
            <a:spAutoFit/>
          </a:bodyPr>
          <a:lstStyle/>
          <a:p>
            <a:pPr algn="just">
              <a:lnSpc>
                <a:spcPct val="120000"/>
              </a:lnSpc>
            </a:pPr>
            <a:r>
              <a:rPr lang="zh-CN" altLang="en-US" sz="2400" b="1" dirty="0">
                <a:solidFill>
                  <a:srgbClr val="C00000"/>
                </a:solidFill>
                <a:effectLst>
                  <a:outerShdw blurRad="38100" dist="38100" dir="2700000" algn="tl">
                    <a:srgbClr val="000000">
                      <a:alpha val="43137"/>
                    </a:srgbClr>
                  </a:outerShdw>
                </a:effectLst>
                <a:latin typeface="+mn-ea"/>
              </a:rPr>
              <a:t>例如</a:t>
            </a:r>
            <a:r>
              <a:rPr lang="en-US" altLang="zh-CN" sz="2400" b="1" dirty="0">
                <a:solidFill>
                  <a:srgbClr val="000000"/>
                </a:solidFill>
                <a:latin typeface="+mn-ea"/>
              </a:rPr>
              <a:t>:</a:t>
            </a:r>
            <a:r>
              <a:rPr lang="zh-CN" altLang="en-US" sz="2400" b="1" dirty="0">
                <a:solidFill>
                  <a:srgbClr val="000000"/>
                </a:solidFill>
                <a:latin typeface="+mn-ea"/>
              </a:rPr>
              <a:t>令 </a:t>
            </a:r>
            <a:r>
              <a:rPr lang="en-US" altLang="zh-CN" sz="2400" b="1" dirty="0">
                <a:solidFill>
                  <a:srgbClr val="000000"/>
                </a:solidFill>
                <a:latin typeface="+mn-ea"/>
              </a:rPr>
              <a:t>y </a:t>
            </a:r>
            <a:r>
              <a:rPr lang="zh-CN" altLang="en-US" sz="2400" b="1" dirty="0">
                <a:solidFill>
                  <a:srgbClr val="000000"/>
                </a:solidFill>
                <a:latin typeface="+mn-ea"/>
              </a:rPr>
              <a:t>的存储位置和 </a:t>
            </a:r>
            <a:r>
              <a:rPr lang="en-US" altLang="zh-CN" sz="2400" b="1" dirty="0">
                <a:solidFill>
                  <a:srgbClr val="000000"/>
                </a:solidFill>
                <a:latin typeface="+mn-ea"/>
              </a:rPr>
              <a:t>x </a:t>
            </a:r>
            <a:r>
              <a:rPr lang="zh-CN" altLang="en-US" sz="2400" b="1" dirty="0">
                <a:solidFill>
                  <a:srgbClr val="000000"/>
                </a:solidFill>
                <a:latin typeface="+mn-ea"/>
              </a:rPr>
              <a:t>的存储位置之间差一个常量</a:t>
            </a:r>
            <a:r>
              <a:rPr lang="en-US" altLang="zh-CN" sz="2400" b="1" dirty="0">
                <a:solidFill>
                  <a:srgbClr val="000000"/>
                </a:solidFill>
                <a:latin typeface="+mn-ea"/>
              </a:rPr>
              <a:t>C,</a:t>
            </a:r>
            <a:r>
              <a:rPr lang="zh-CN" altLang="en-US" sz="2400" b="1" dirty="0">
                <a:solidFill>
                  <a:srgbClr val="000000"/>
                </a:solidFill>
                <a:latin typeface="+mn-ea"/>
              </a:rPr>
              <a:t>而</a:t>
            </a:r>
            <a:r>
              <a:rPr lang="en-US" altLang="zh-CN" sz="2400" b="1" dirty="0">
                <a:solidFill>
                  <a:srgbClr val="000000"/>
                </a:solidFill>
                <a:latin typeface="+mn-ea"/>
              </a:rPr>
              <a:t>C</a:t>
            </a:r>
            <a:r>
              <a:rPr lang="zh-CN" altLang="en-US" sz="2400" b="1" dirty="0">
                <a:solidFill>
                  <a:srgbClr val="000000"/>
                </a:solidFill>
                <a:latin typeface="+mn-ea"/>
              </a:rPr>
              <a:t>是一个隐含值，</a:t>
            </a:r>
            <a:r>
              <a:rPr lang="zh-CN" altLang="en-US" sz="2400" b="1" dirty="0">
                <a:solidFill>
                  <a:srgbClr val="800000"/>
                </a:solidFill>
                <a:latin typeface="+mn-ea"/>
              </a:rPr>
              <a:t>整个存储结构中只含数据元素本身的信息。</a:t>
            </a:r>
          </a:p>
        </p:txBody>
      </p:sp>
      <p:sp>
        <p:nvSpPr>
          <p:cNvPr id="19" name="Rectangle 2">
            <a:extLst>
              <a:ext uri="{FF2B5EF4-FFF2-40B4-BE49-F238E27FC236}">
                <a16:creationId xmlns:a16="http://schemas.microsoft.com/office/drawing/2014/main" id="{3BD5169C-F2DC-1150-95A3-CB76CCF43553}"/>
              </a:ext>
            </a:extLst>
          </p:cNvPr>
          <p:cNvSpPr>
            <a:spLocks noChangeArrowheads="1"/>
          </p:cNvSpPr>
          <p:nvPr/>
        </p:nvSpPr>
        <p:spPr bwMode="auto">
          <a:xfrm>
            <a:off x="611180" y="2759076"/>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4097" name="Picture 1">
            <a:extLst>
              <a:ext uri="{FF2B5EF4-FFF2-40B4-BE49-F238E27FC236}">
                <a16:creationId xmlns:a16="http://schemas.microsoft.com/office/drawing/2014/main" id="{4FEEDA4D-5B60-45DE-3370-B09D66B7F604}"/>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6706214" y="1602731"/>
            <a:ext cx="4952704" cy="3752980"/>
          </a:xfrm>
          <a:prstGeom prst="rect">
            <a:avLst/>
          </a:prstGeom>
          <a:noFill/>
          <a:extLst>
            <a:ext uri="{909E8E84-426E-40DD-AFC4-6F175D3DCCD1}">
              <a14:hiddenFill xmlns:a14="http://schemas.microsoft.com/office/drawing/2010/main">
                <a:solidFill>
                  <a:srgbClr val="FFFFFF"/>
                </a:solidFill>
              </a14:hiddenFill>
            </a:ext>
          </a:extLst>
        </p:spPr>
      </p:pic>
      <p:sp>
        <p:nvSpPr>
          <p:cNvPr id="20" name="Rectangle 3">
            <a:extLst>
              <a:ext uri="{FF2B5EF4-FFF2-40B4-BE49-F238E27FC236}">
                <a16:creationId xmlns:a16="http://schemas.microsoft.com/office/drawing/2014/main" id="{324AD66A-92BE-C4C2-DFC3-E86905306A68}"/>
              </a:ext>
            </a:extLst>
          </p:cNvPr>
          <p:cNvSpPr>
            <a:spLocks noChangeArrowheads="1"/>
          </p:cNvSpPr>
          <p:nvPr/>
        </p:nvSpPr>
        <p:spPr bwMode="auto">
          <a:xfrm rot="10800000" flipV="1">
            <a:off x="6879983" y="5503152"/>
            <a:ext cx="4605166"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图</a:t>
            </a: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1.6  </a:t>
            </a:r>
            <a:r>
              <a:rPr kumimoji="0" lang="zh-CN" altLang="en-US"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复数存储结构示意图</a:t>
            </a:r>
            <a:endParaRPr kumimoji="0" lang="zh-CN" altLang="en-US" sz="20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a:t>
            </a:r>
            <a:r>
              <a:rPr kumimoji="0" lang="zh-CN" altLang="en-US"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顺序存储结构：</a:t>
            </a:r>
            <a:r>
              <a:rPr kumimoji="0" lang="en-US"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(b)</a:t>
            </a:r>
            <a:r>
              <a:rPr kumimoji="0" lang="zh-CN" altLang="en-US"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链式存储结构</a:t>
            </a:r>
            <a:endParaRPr kumimoji="0" lang="zh-CN" altLang="en-US" sz="2000" b="0" i="0" u="none" strike="noStrike" cap="none" normalizeH="0" baseline="0" dirty="0">
              <a:ln>
                <a:noFill/>
              </a:ln>
              <a:solidFill>
                <a:schemeClr val="tx1"/>
              </a:solidFill>
              <a:effectLst/>
              <a:latin typeface="Arial" panose="020B0604020202020204" pitchFamily="34" charset="0"/>
            </a:endParaRPr>
          </a:p>
        </p:txBody>
      </p:sp>
      <p:sp>
        <p:nvSpPr>
          <p:cNvPr id="21" name="标题 23572">
            <a:extLst>
              <a:ext uri="{FF2B5EF4-FFF2-40B4-BE49-F238E27FC236}">
                <a16:creationId xmlns:a16="http://schemas.microsoft.com/office/drawing/2014/main" id="{EF69A992-E336-30FA-BA7D-DB6B0D93A155}"/>
              </a:ext>
            </a:extLst>
          </p:cNvPr>
          <p:cNvSpPr txBox="1">
            <a:spLocks/>
          </p:cNvSpPr>
          <p:nvPr/>
        </p:nvSpPr>
        <p:spPr>
          <a:xfrm>
            <a:off x="503472" y="4634691"/>
            <a:ext cx="1627369" cy="523220"/>
          </a:xfrm>
          <a:prstGeom prst="rect">
            <a:avLst/>
          </a:prstGeom>
          <a:noFill/>
          <a:ln w="9525">
            <a:noFill/>
          </a:ln>
        </p:spPr>
        <p:txBody>
          <a:bodyPr wrap="none" anchor="t" anchorCtr="0">
            <a:spAutoFit/>
          </a:bodyPr>
          <a:lstStyle>
            <a:defPPr>
              <a:defRPr lang="zh-CN"/>
            </a:defPPr>
            <a:lvl1pPr>
              <a:defRPr sz="2800" b="1">
                <a:solidFill>
                  <a:srgbClr val="C00000"/>
                </a:solidFill>
                <a:effectLst>
                  <a:outerShdw blurRad="38100" dist="38100" dir="2700000" algn="tl">
                    <a:srgbClr val="000000">
                      <a:alpha val="43137"/>
                    </a:srgbClr>
                  </a:outerShdw>
                </a:effectLst>
                <a:latin typeface="+mn-ea"/>
              </a:defRPr>
            </a:lvl1pPr>
          </a:lstStyle>
          <a:p>
            <a:r>
              <a:rPr lang="zh-CN" altLang="en-US" dirty="0"/>
              <a:t>链式映象</a:t>
            </a:r>
          </a:p>
        </p:txBody>
      </p:sp>
      <p:sp>
        <p:nvSpPr>
          <p:cNvPr id="22" name="文本框 21">
            <a:extLst>
              <a:ext uri="{FF2B5EF4-FFF2-40B4-BE49-F238E27FC236}">
                <a16:creationId xmlns:a16="http://schemas.microsoft.com/office/drawing/2014/main" id="{0AD50A7C-A281-8344-6F1C-174401116437}"/>
              </a:ext>
            </a:extLst>
          </p:cNvPr>
          <p:cNvSpPr txBox="1"/>
          <p:nvPr/>
        </p:nvSpPr>
        <p:spPr>
          <a:xfrm>
            <a:off x="892172" y="5157911"/>
            <a:ext cx="5815008" cy="461665"/>
          </a:xfrm>
          <a:prstGeom prst="rect">
            <a:avLst/>
          </a:prstGeom>
          <a:noFill/>
          <a:ln w="9525">
            <a:noFill/>
          </a:ln>
        </p:spPr>
        <p:txBody>
          <a:bodyPr wrap="square">
            <a:spAutoFit/>
          </a:bodyPr>
          <a:lstStyle>
            <a:defPPr>
              <a:defRPr lang="zh-CN"/>
            </a:defPPr>
            <a:lvl1pPr>
              <a:defRPr sz="2400" b="1">
                <a:solidFill>
                  <a:srgbClr val="000000"/>
                </a:solidFill>
                <a:latin typeface="+mn-ea"/>
              </a:defRPr>
            </a:lvl1pPr>
          </a:lstStyle>
          <a:p>
            <a:r>
              <a:rPr lang="zh-CN" altLang="en-US" dirty="0"/>
              <a:t>以附加信息</a:t>
            </a:r>
            <a:r>
              <a:rPr lang="en-US" altLang="zh-CN" dirty="0"/>
              <a:t>(</a:t>
            </a:r>
            <a:r>
              <a:rPr lang="zh-CN" altLang="en-US" dirty="0"/>
              <a:t>指针</a:t>
            </a:r>
            <a:r>
              <a:rPr lang="en-US" altLang="zh-CN" dirty="0"/>
              <a:t>)</a:t>
            </a:r>
            <a:r>
              <a:rPr lang="zh-CN" altLang="en-US" dirty="0"/>
              <a:t>表示后继关系 </a:t>
            </a:r>
            <a:r>
              <a:rPr lang="en-US" altLang="zh-CN" dirty="0"/>
              <a:t>&lt;</a:t>
            </a:r>
            <a:r>
              <a:rPr lang="en-US" altLang="zh-CN" dirty="0" err="1"/>
              <a:t>x,y</a:t>
            </a:r>
            <a:r>
              <a:rPr lang="en-US" altLang="zh-CN" dirty="0"/>
              <a:t>&gt;</a:t>
            </a:r>
          </a:p>
        </p:txBody>
      </p:sp>
      <p:sp>
        <p:nvSpPr>
          <p:cNvPr id="23" name="文本框 22">
            <a:extLst>
              <a:ext uri="{FF2B5EF4-FFF2-40B4-BE49-F238E27FC236}">
                <a16:creationId xmlns:a16="http://schemas.microsoft.com/office/drawing/2014/main" id="{AC3B5FBA-9F00-73C4-77AE-71B7ABD94F85}"/>
              </a:ext>
            </a:extLst>
          </p:cNvPr>
          <p:cNvSpPr txBox="1"/>
          <p:nvPr/>
        </p:nvSpPr>
        <p:spPr>
          <a:xfrm>
            <a:off x="865800" y="5594047"/>
            <a:ext cx="5369176" cy="830997"/>
          </a:xfrm>
          <a:prstGeom prst="rect">
            <a:avLst/>
          </a:prstGeom>
          <a:noFill/>
          <a:ln w="9525">
            <a:noFill/>
          </a:ln>
        </p:spPr>
        <p:txBody>
          <a:bodyPr wrap="square">
            <a:spAutoFit/>
          </a:bodyPr>
          <a:lstStyle>
            <a:defPPr>
              <a:defRPr lang="zh-CN"/>
            </a:defPPr>
            <a:lvl1pPr>
              <a:defRPr sz="2400" b="1">
                <a:solidFill>
                  <a:srgbClr val="000000"/>
                </a:solidFill>
                <a:latin typeface="+mn-ea"/>
              </a:defRPr>
            </a:lvl1pPr>
          </a:lstStyle>
          <a:p>
            <a:pPr algn="just"/>
            <a:r>
              <a:rPr lang="zh-CN" altLang="en-US" dirty="0"/>
              <a:t>需要用一个和 </a:t>
            </a:r>
            <a:r>
              <a:rPr lang="en-US" altLang="zh-CN" dirty="0"/>
              <a:t>x </a:t>
            </a:r>
            <a:r>
              <a:rPr lang="zh-CN" altLang="en-US" dirty="0"/>
              <a:t>在一起的附加信息指示 </a:t>
            </a:r>
            <a:r>
              <a:rPr lang="en-US" altLang="zh-CN" dirty="0"/>
              <a:t>y </a:t>
            </a:r>
            <a:r>
              <a:rPr lang="zh-CN" altLang="en-US" dirty="0"/>
              <a:t>的存储位置。</a:t>
            </a:r>
          </a:p>
        </p:txBody>
      </p:sp>
      <p:sp>
        <p:nvSpPr>
          <p:cNvPr id="36" name="文本框 35">
            <a:extLst>
              <a:ext uri="{FF2B5EF4-FFF2-40B4-BE49-F238E27FC236}">
                <a16:creationId xmlns:a16="http://schemas.microsoft.com/office/drawing/2014/main" id="{DA0465A3-7114-76F7-23D6-AA0FCA965683}"/>
              </a:ext>
            </a:extLst>
          </p:cNvPr>
          <p:cNvSpPr txBox="1"/>
          <p:nvPr/>
        </p:nvSpPr>
        <p:spPr>
          <a:xfrm>
            <a:off x="533082" y="3588869"/>
            <a:ext cx="5562918" cy="919867"/>
          </a:xfrm>
          <a:prstGeom prst="rect">
            <a:avLst/>
          </a:prstGeom>
          <a:noFill/>
          <a:ln w="9525">
            <a:noFill/>
          </a:ln>
        </p:spPr>
        <p:txBody>
          <a:bodyPr wrap="square">
            <a:spAutoFit/>
          </a:bodyPr>
          <a:lstStyle>
            <a:defPPr>
              <a:defRPr lang="zh-CN"/>
            </a:defPPr>
            <a:lvl1pPr>
              <a:defRPr sz="2400" b="1">
                <a:solidFill>
                  <a:srgbClr val="000000"/>
                </a:solidFill>
                <a:latin typeface="+mn-ea"/>
              </a:defRPr>
            </a:lvl1pPr>
          </a:lstStyle>
          <a:p>
            <a:pPr algn="just">
              <a:lnSpc>
                <a:spcPct val="120000"/>
              </a:lnSpc>
            </a:pPr>
            <a:r>
              <a:rPr lang="zh-CN" altLang="zh-CN" dirty="0"/>
              <a:t>如图</a:t>
            </a:r>
            <a:r>
              <a:rPr lang="en-US" altLang="zh-CN" dirty="0"/>
              <a:t>1.6(a)</a:t>
            </a:r>
            <a:r>
              <a:rPr lang="zh-CN" altLang="zh-CN" dirty="0"/>
              <a:t>为表示复数</a:t>
            </a:r>
            <a:r>
              <a:rPr lang="en-US" altLang="zh-CN" dirty="0" err="1"/>
              <a:t>z1</a:t>
            </a:r>
            <a:r>
              <a:rPr lang="en-US" altLang="zh-CN" dirty="0"/>
              <a:t>=3.0-</a:t>
            </a:r>
            <a:r>
              <a:rPr lang="en-US" altLang="zh-CN" dirty="0" err="1"/>
              <a:t>2.3i</a:t>
            </a:r>
            <a:r>
              <a:rPr lang="zh-CN" altLang="zh-CN" dirty="0"/>
              <a:t>和</a:t>
            </a:r>
            <a:r>
              <a:rPr lang="en-US" altLang="zh-CN" dirty="0" err="1"/>
              <a:t>z2</a:t>
            </a:r>
            <a:r>
              <a:rPr lang="en-US" altLang="zh-CN" dirty="0"/>
              <a:t>=-</a:t>
            </a:r>
            <a:r>
              <a:rPr lang="en-US" altLang="zh-CN" dirty="0" err="1"/>
              <a:t>0.7+4.8i</a:t>
            </a:r>
            <a:r>
              <a:rPr lang="zh-CN" altLang="zh-CN" dirty="0"/>
              <a:t>的顺序存储结构。</a:t>
            </a:r>
            <a:endParaRPr lang="zh-CN" altLang="en-US" dirty="0"/>
          </a:p>
        </p:txBody>
      </p:sp>
      <p:sp>
        <p:nvSpPr>
          <p:cNvPr id="3" name="灯片编号占位符 2">
            <a:extLst>
              <a:ext uri="{FF2B5EF4-FFF2-40B4-BE49-F238E27FC236}">
                <a16:creationId xmlns:a16="http://schemas.microsoft.com/office/drawing/2014/main" id="{FF8C1204-F3F6-F59A-1068-59C3E9C69056}"/>
              </a:ext>
            </a:extLst>
          </p:cNvPr>
          <p:cNvSpPr>
            <a:spLocks noGrp="1"/>
          </p:cNvSpPr>
          <p:nvPr>
            <p:ph type="sldNum" sz="quarter" idx="12"/>
          </p:nvPr>
        </p:nvSpPr>
        <p:spPr/>
        <p:txBody>
          <a:bodyPr/>
          <a:lstStyle/>
          <a:p>
            <a:fld id="{D7C0FE0B-717B-41AE-9FA2-CA4BF851D1C3}" type="slidenum">
              <a:rPr lang="zh-CN" altLang="en-US" smtClean="0"/>
              <a:t>36</a:t>
            </a:fld>
            <a:endParaRPr lang="zh-CN" altLang="en-US"/>
          </a:p>
        </p:txBody>
      </p:sp>
    </p:spTree>
    <p:extLst>
      <p:ext uri="{BB962C8B-B14F-4D97-AF65-F5344CB8AC3E}">
        <p14:creationId xmlns:p14="http://schemas.microsoft.com/office/powerpoint/2010/main" val="2570457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lide(fromTop)">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up)">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wipe(up)">
                                      <p:cBhvr>
                                        <p:cTn id="22" dur="500"/>
                                        <p:tgtEl>
                                          <p:spTgt spid="36"/>
                                        </p:tgtEl>
                                      </p:cBhvr>
                                    </p:animEffect>
                                  </p:childTnLst>
                                </p:cTn>
                              </p:par>
                            </p:childTnLst>
                          </p:cTn>
                        </p:par>
                        <p:par>
                          <p:cTn id="23" fill="hold">
                            <p:stCondLst>
                              <p:cond delay="500"/>
                            </p:stCondLst>
                            <p:childTnLst>
                              <p:par>
                                <p:cTn id="24" presetID="42" presetClass="entr" presetSubtype="0" fill="hold" nodeType="afterEffect">
                                  <p:stCondLst>
                                    <p:cond delay="0"/>
                                  </p:stCondLst>
                                  <p:childTnLst>
                                    <p:set>
                                      <p:cBhvr>
                                        <p:cTn id="25" dur="1" fill="hold">
                                          <p:stCondLst>
                                            <p:cond delay="0"/>
                                          </p:stCondLst>
                                        </p:cTn>
                                        <p:tgtEl>
                                          <p:spTgt spid="4097"/>
                                        </p:tgtEl>
                                        <p:attrNameLst>
                                          <p:attrName>style.visibility</p:attrName>
                                        </p:attrNameLst>
                                      </p:cBhvr>
                                      <p:to>
                                        <p:strVal val="visible"/>
                                      </p:to>
                                    </p:set>
                                    <p:animEffect transition="in" filter="fade">
                                      <p:cBhvr>
                                        <p:cTn id="26" dur="1000"/>
                                        <p:tgtEl>
                                          <p:spTgt spid="4097"/>
                                        </p:tgtEl>
                                      </p:cBhvr>
                                    </p:animEffect>
                                    <p:anim calcmode="lin" valueType="num">
                                      <p:cBhvr>
                                        <p:cTn id="27" dur="1000" fill="hold"/>
                                        <p:tgtEl>
                                          <p:spTgt spid="4097"/>
                                        </p:tgtEl>
                                        <p:attrNameLst>
                                          <p:attrName>ppt_x</p:attrName>
                                        </p:attrNameLst>
                                      </p:cBhvr>
                                      <p:tavLst>
                                        <p:tav tm="0">
                                          <p:val>
                                            <p:strVal val="#ppt_x"/>
                                          </p:val>
                                        </p:tav>
                                        <p:tav tm="100000">
                                          <p:val>
                                            <p:strVal val="#ppt_x"/>
                                          </p:val>
                                        </p:tav>
                                      </p:tavLst>
                                    </p:anim>
                                    <p:anim calcmode="lin" valueType="num">
                                      <p:cBhvr>
                                        <p:cTn id="28" dur="1000" fill="hold"/>
                                        <p:tgtEl>
                                          <p:spTgt spid="4097"/>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1000"/>
                                        <p:tgtEl>
                                          <p:spTgt spid="20"/>
                                        </p:tgtEl>
                                      </p:cBhvr>
                                    </p:animEffect>
                                    <p:anim calcmode="lin" valueType="num">
                                      <p:cBhvr>
                                        <p:cTn id="32" dur="1000" fill="hold"/>
                                        <p:tgtEl>
                                          <p:spTgt spid="20"/>
                                        </p:tgtEl>
                                        <p:attrNameLst>
                                          <p:attrName>ppt_x</p:attrName>
                                        </p:attrNameLst>
                                      </p:cBhvr>
                                      <p:tavLst>
                                        <p:tav tm="0">
                                          <p:val>
                                            <p:strVal val="#ppt_x"/>
                                          </p:val>
                                        </p:tav>
                                        <p:tav tm="100000">
                                          <p:val>
                                            <p:strVal val="#ppt_x"/>
                                          </p:val>
                                        </p:tav>
                                      </p:tavLst>
                                    </p:anim>
                                    <p:anim calcmode="lin" valueType="num">
                                      <p:cBhvr>
                                        <p:cTn id="33"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12" presetClass="entr" presetSubtype="8"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slide(fromLeft)">
                                      <p:cBhvr>
                                        <p:cTn id="38" dur="500"/>
                                        <p:tgtEl>
                                          <p:spTgt spid="21"/>
                                        </p:tgtEl>
                                      </p:cBhvr>
                                    </p:animEffect>
                                  </p:childTnLst>
                                </p:cTn>
                              </p:par>
                            </p:childTnLst>
                          </p:cTn>
                        </p:par>
                        <p:par>
                          <p:cTn id="39" fill="hold">
                            <p:stCondLst>
                              <p:cond delay="500"/>
                            </p:stCondLst>
                            <p:childTnLst>
                              <p:par>
                                <p:cTn id="40" presetID="22" presetClass="entr" presetSubtype="8" fill="hold" grpId="0" nodeType="after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wipe(left)">
                                      <p:cBhvr>
                                        <p:cTn id="4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20" grpId="0"/>
      <p:bldP spid="21" grpId="0"/>
      <p:bldP spid="23" grpId="0"/>
      <p:bldP spid="3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26630">
            <a:extLst>
              <a:ext uri="{FF2B5EF4-FFF2-40B4-BE49-F238E27FC236}">
                <a16:creationId xmlns:a16="http://schemas.microsoft.com/office/drawing/2014/main" id="{28D8FD63-7820-5B93-A284-50320B184DFA}"/>
              </a:ext>
            </a:extLst>
          </p:cNvPr>
          <p:cNvSpPr txBox="1">
            <a:spLocks noGrp="1"/>
          </p:cNvSpPr>
          <p:nvPr/>
        </p:nvSpPr>
        <p:spPr>
          <a:xfrm>
            <a:off x="793416" y="1856309"/>
            <a:ext cx="2660683" cy="598701"/>
          </a:xfrm>
          <a:prstGeom prst="rect">
            <a:avLst/>
          </a:prstGeom>
        </p:spPr>
        <p:txBody>
          <a:bodyPr vert="horz" wrap="square" lIns="9144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b="1" dirty="0">
                <a:solidFill>
                  <a:srgbClr val="660066"/>
                </a:solidFill>
                <a:latin typeface="楷体_GB2312" pitchFamily="49" charset="-122"/>
                <a:ea typeface="楷体_GB2312" pitchFamily="49" charset="-122"/>
              </a:rPr>
              <a:t>二</a:t>
            </a:r>
            <a:r>
              <a:rPr lang="en-US" altLang="zh-CN" sz="2800" b="1" dirty="0">
                <a:solidFill>
                  <a:srgbClr val="660066"/>
                </a:solidFill>
                <a:latin typeface="楷体_GB2312" pitchFamily="49" charset="-122"/>
                <a:ea typeface="楷体_GB2312" pitchFamily="49" charset="-122"/>
              </a:rPr>
              <a:t>.  </a:t>
            </a:r>
            <a:r>
              <a:rPr lang="zh-CN" altLang="en-US" sz="2800" b="1" dirty="0">
                <a:solidFill>
                  <a:srgbClr val="660066"/>
                </a:solidFill>
                <a:latin typeface="楷体_GB2312" pitchFamily="49" charset="-122"/>
                <a:ea typeface="楷体_GB2312" pitchFamily="49" charset="-122"/>
              </a:rPr>
              <a:t>数据类型</a:t>
            </a:r>
            <a:endParaRPr lang="zh-CN" altLang="en-US" sz="2800" b="1" dirty="0">
              <a:solidFill>
                <a:schemeClr val="tx1"/>
              </a:solidFill>
              <a:latin typeface="楷体_GB2312" pitchFamily="49" charset="-122"/>
              <a:ea typeface="楷体_GB2312" pitchFamily="49" charset="-122"/>
            </a:endParaRPr>
          </a:p>
        </p:txBody>
      </p:sp>
      <p:sp>
        <p:nvSpPr>
          <p:cNvPr id="3" name="文本框 26627">
            <a:extLst>
              <a:ext uri="{FF2B5EF4-FFF2-40B4-BE49-F238E27FC236}">
                <a16:creationId xmlns:a16="http://schemas.microsoft.com/office/drawing/2014/main" id="{92069904-269C-5162-355F-160985BCED3C}"/>
              </a:ext>
            </a:extLst>
          </p:cNvPr>
          <p:cNvSpPr txBox="1"/>
          <p:nvPr/>
        </p:nvSpPr>
        <p:spPr>
          <a:xfrm>
            <a:off x="527251" y="2571652"/>
            <a:ext cx="8465364" cy="940963"/>
          </a:xfrm>
          <a:prstGeom prst="rect">
            <a:avLst/>
          </a:prstGeom>
          <a:noFill/>
          <a:ln w="9525">
            <a:noFill/>
          </a:ln>
        </p:spPr>
        <p:txBody>
          <a:bodyPr wrap="square">
            <a:spAutoFit/>
          </a:bodyPr>
          <a:lstStyle>
            <a:defPPr>
              <a:defRPr lang="zh-CN"/>
            </a:defPPr>
            <a:lvl1pPr marL="0" lvl="0"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9pPr>
          </a:lstStyle>
          <a:p>
            <a:pPr marL="381000" lvl="2" algn="just">
              <a:lnSpc>
                <a:spcPct val="120000"/>
              </a:lnSpc>
            </a:pPr>
            <a:r>
              <a:rPr lang="zh-CN" altLang="en-US" sz="2400" b="1" dirty="0">
                <a:solidFill>
                  <a:srgbClr val="000000"/>
                </a:solidFill>
                <a:latin typeface="+mn-ea"/>
                <a:ea typeface="+mn-ea"/>
              </a:rPr>
              <a:t>在用高级程序语言编写的程序中，必须对每个变量、常量或表达式，明确说明它们所属的</a:t>
            </a:r>
            <a:r>
              <a:rPr lang="zh-CN" altLang="en-US" sz="2400" b="1" dirty="0">
                <a:solidFill>
                  <a:srgbClr val="C00000"/>
                </a:solidFill>
                <a:effectLst>
                  <a:outerShdw blurRad="38100" dist="38100" dir="2700000" algn="tl">
                    <a:srgbClr val="000000">
                      <a:alpha val="43137"/>
                    </a:srgbClr>
                  </a:outerShdw>
                </a:effectLst>
                <a:latin typeface="+mn-ea"/>
                <a:ea typeface="+mn-ea"/>
              </a:rPr>
              <a:t>数据类型</a:t>
            </a:r>
            <a:r>
              <a:rPr lang="zh-CN" altLang="en-US" sz="2400" b="1" dirty="0">
                <a:solidFill>
                  <a:srgbClr val="000000"/>
                </a:solidFill>
                <a:latin typeface="+mn-ea"/>
                <a:ea typeface="+mn-ea"/>
              </a:rPr>
              <a:t>。</a:t>
            </a:r>
          </a:p>
        </p:txBody>
      </p:sp>
      <p:sp>
        <p:nvSpPr>
          <p:cNvPr id="4" name="文本框 26628">
            <a:extLst>
              <a:ext uri="{FF2B5EF4-FFF2-40B4-BE49-F238E27FC236}">
                <a16:creationId xmlns:a16="http://schemas.microsoft.com/office/drawing/2014/main" id="{3DD54917-4CA5-6BEF-8623-0FD26899A1D9}"/>
              </a:ext>
            </a:extLst>
          </p:cNvPr>
          <p:cNvSpPr txBox="1"/>
          <p:nvPr/>
        </p:nvSpPr>
        <p:spPr>
          <a:xfrm>
            <a:off x="895673" y="3598184"/>
            <a:ext cx="9802557" cy="462819"/>
          </a:xfrm>
          <a:prstGeom prst="rect">
            <a:avLst/>
          </a:prstGeom>
          <a:noFill/>
          <a:ln w="9525">
            <a:noFill/>
          </a:ln>
        </p:spPr>
        <p:txBody>
          <a:bodyPr wrap="square">
            <a:spAutoFit/>
          </a:bodyPr>
          <a:lstStyle>
            <a:defPPr>
              <a:defRPr lang="zh-CN"/>
            </a:defPPr>
            <a:lvl1pPr marL="0" lvl="0"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9pPr>
          </a:lstStyle>
          <a:p>
            <a:pPr algn="just">
              <a:lnSpc>
                <a:spcPct val="115000"/>
              </a:lnSpc>
            </a:pPr>
            <a:r>
              <a:rPr lang="zh-CN" altLang="en-US" sz="2400" b="1" dirty="0">
                <a:solidFill>
                  <a:srgbClr val="CC0000"/>
                </a:solidFill>
                <a:effectLst>
                  <a:outerShdw blurRad="38100" dist="38100" dir="2700000">
                    <a:srgbClr val="000000"/>
                  </a:outerShdw>
                </a:effectLst>
                <a:latin typeface="+mn-ea"/>
                <a:ea typeface="+mn-ea"/>
              </a:rPr>
              <a:t>数据类型</a:t>
            </a:r>
            <a:r>
              <a:rPr lang="zh-CN" altLang="en-US" sz="2400" b="1" dirty="0">
                <a:solidFill>
                  <a:srgbClr val="000000"/>
                </a:solidFill>
                <a:latin typeface="+mn-ea"/>
                <a:ea typeface="+mn-ea"/>
              </a:rPr>
              <a:t>是一个</a:t>
            </a:r>
            <a:r>
              <a:rPr lang="zh-CN" altLang="en-US" sz="2400" b="1" u="sng" dirty="0">
                <a:solidFill>
                  <a:srgbClr val="0070C0"/>
                </a:solidFill>
                <a:latin typeface="+mn-ea"/>
                <a:ea typeface="+mn-ea"/>
              </a:rPr>
              <a:t>值的集合</a:t>
            </a:r>
            <a:r>
              <a:rPr lang="zh-CN" altLang="en-US" sz="2400" b="1" dirty="0">
                <a:solidFill>
                  <a:srgbClr val="000000"/>
                </a:solidFill>
                <a:latin typeface="+mn-ea"/>
                <a:ea typeface="+mn-ea"/>
              </a:rPr>
              <a:t>和定义在此集合上的</a:t>
            </a:r>
            <a:r>
              <a:rPr lang="zh-CN" altLang="en-US" sz="2400" b="1" u="sng" dirty="0">
                <a:solidFill>
                  <a:srgbClr val="0070C0"/>
                </a:solidFill>
                <a:latin typeface="+mn-ea"/>
                <a:ea typeface="+mn-ea"/>
              </a:rPr>
              <a:t>一组操作</a:t>
            </a:r>
            <a:r>
              <a:rPr lang="zh-CN" altLang="en-US" sz="2400" b="1" dirty="0">
                <a:solidFill>
                  <a:srgbClr val="000000"/>
                </a:solidFill>
                <a:latin typeface="+mn-ea"/>
                <a:ea typeface="+mn-ea"/>
              </a:rPr>
              <a:t>的</a:t>
            </a:r>
            <a:r>
              <a:rPr lang="zh-CN" altLang="en-US" sz="2400" b="1" dirty="0">
                <a:solidFill>
                  <a:srgbClr val="C00000"/>
                </a:solidFill>
                <a:effectLst>
                  <a:outerShdw blurRad="38100" dist="38100" dir="2700000" algn="tl">
                    <a:srgbClr val="000000">
                      <a:alpha val="43137"/>
                    </a:srgbClr>
                  </a:outerShdw>
                </a:effectLst>
                <a:latin typeface="+mn-ea"/>
                <a:ea typeface="+mn-ea"/>
              </a:rPr>
              <a:t>总称</a:t>
            </a:r>
            <a:r>
              <a:rPr lang="zh-CN" altLang="en-US" sz="2400" b="1" dirty="0">
                <a:solidFill>
                  <a:srgbClr val="000000"/>
                </a:solidFill>
                <a:latin typeface="+mn-ea"/>
                <a:ea typeface="+mn-ea"/>
              </a:rPr>
              <a:t>。</a:t>
            </a:r>
          </a:p>
        </p:txBody>
      </p:sp>
      <p:sp>
        <p:nvSpPr>
          <p:cNvPr id="5" name="标题 11272">
            <a:extLst>
              <a:ext uri="{FF2B5EF4-FFF2-40B4-BE49-F238E27FC236}">
                <a16:creationId xmlns:a16="http://schemas.microsoft.com/office/drawing/2014/main" id="{2A0A3105-F420-4D63-609C-837C3EA41E4B}"/>
              </a:ext>
            </a:extLst>
          </p:cNvPr>
          <p:cNvSpPr txBox="1">
            <a:spLocks noGrp="1"/>
          </p:cNvSpPr>
          <p:nvPr/>
        </p:nvSpPr>
        <p:spPr>
          <a:xfrm>
            <a:off x="1294839" y="208433"/>
            <a:ext cx="6930187" cy="648662"/>
          </a:xfrm>
          <a:prstGeom prst="rect">
            <a:avLst/>
          </a:prstGeom>
        </p:spPr>
        <p:txBody>
          <a:bodyPr vert="horz" lIns="91440" tIns="45720" rIns="91440" bIns="45720" rtlCol="0" anchor="ctr" anchorCtr="0">
            <a:normAutofit/>
          </a:bodyPr>
          <a:lstStyle>
            <a:defPPr>
              <a:defRPr lang="zh-CN"/>
            </a:defPPr>
            <a:lvl1pPr marL="0" algn="l" defTabSz="914400" rtl="0" eaLnBrk="1" latinLnBrk="0" hangingPunct="1">
              <a:lnSpc>
                <a:spcPct val="90000"/>
              </a:lnSpc>
              <a:spcBef>
                <a:spcPct val="0"/>
              </a:spcBef>
              <a:buNone/>
              <a:defRPr sz="3200" b="1" kern="1200">
                <a:solidFill>
                  <a:srgbClr val="000099"/>
                </a:solidFill>
                <a:effectLst>
                  <a:outerShdw blurRad="38100" dist="38100" dir="2700000" algn="tl">
                    <a:srgbClr val="000000">
                      <a:alpha val="43137"/>
                    </a:srgbClr>
                  </a:outerShdw>
                </a:effectLst>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1.2  </a:t>
            </a:r>
            <a:r>
              <a:rPr lang="zh-CN" altLang="en-US" dirty="0"/>
              <a:t>基本概念和术语（续）</a:t>
            </a:r>
          </a:p>
        </p:txBody>
      </p:sp>
      <p:sp>
        <p:nvSpPr>
          <p:cNvPr id="6" name="文本框 5">
            <a:extLst>
              <a:ext uri="{FF2B5EF4-FFF2-40B4-BE49-F238E27FC236}">
                <a16:creationId xmlns:a16="http://schemas.microsoft.com/office/drawing/2014/main" id="{6D587775-1ED2-51F7-7E25-780BA84B20DF}"/>
              </a:ext>
            </a:extLst>
          </p:cNvPr>
          <p:cNvSpPr txBox="1"/>
          <p:nvPr/>
        </p:nvSpPr>
        <p:spPr>
          <a:xfrm>
            <a:off x="805431" y="915416"/>
            <a:ext cx="8465364" cy="461665"/>
          </a:xfrm>
          <a:prstGeom prst="rect">
            <a:avLst/>
          </a:prstGeom>
          <a:noFill/>
          <a:ln w="9525">
            <a:noFill/>
          </a:ln>
        </p:spPr>
        <p:txBody>
          <a:bodyPr wrap="square">
            <a:spAutoFit/>
          </a:bodyPr>
          <a:lstStyle/>
          <a:p>
            <a:r>
              <a:rPr lang="zh-CN" altLang="en-US" sz="2400" b="1" dirty="0">
                <a:latin typeface="+mn-ea"/>
              </a:rPr>
              <a:t>在不同的编程环境中，存储结构可有不同的描述方法。</a:t>
            </a:r>
          </a:p>
        </p:txBody>
      </p:sp>
      <p:sp>
        <p:nvSpPr>
          <p:cNvPr id="8" name="文本框 7">
            <a:extLst>
              <a:ext uri="{FF2B5EF4-FFF2-40B4-BE49-F238E27FC236}">
                <a16:creationId xmlns:a16="http://schemas.microsoft.com/office/drawing/2014/main" id="{E714DFE6-6613-2AB6-CA37-DEEFD06AA814}"/>
              </a:ext>
            </a:extLst>
          </p:cNvPr>
          <p:cNvSpPr txBox="1"/>
          <p:nvPr/>
        </p:nvSpPr>
        <p:spPr>
          <a:xfrm>
            <a:off x="805431" y="1307761"/>
            <a:ext cx="8760236" cy="548548"/>
          </a:xfrm>
          <a:prstGeom prst="rect">
            <a:avLst/>
          </a:prstGeom>
          <a:noFill/>
          <a:ln w="9525">
            <a:noFill/>
          </a:ln>
        </p:spPr>
        <p:txBody>
          <a:bodyPr wrap="square">
            <a:spAutoFit/>
          </a:bodyPr>
          <a:lstStyle/>
          <a:p>
            <a:pPr algn="just">
              <a:lnSpc>
                <a:spcPct val="140000"/>
              </a:lnSpc>
            </a:pPr>
            <a:r>
              <a:rPr lang="zh-CN" altLang="en-US" sz="2400" b="1" dirty="0">
                <a:solidFill>
                  <a:srgbClr val="000000"/>
                </a:solidFill>
              </a:rPr>
              <a:t>用高级程序设计语言编程，可用语言中提供的</a:t>
            </a:r>
            <a:r>
              <a:rPr lang="zh-CN" altLang="en-US" sz="2400" b="1" u="sng" dirty="0">
                <a:solidFill>
                  <a:srgbClr val="CC0000"/>
                </a:solidFill>
                <a:effectLst>
                  <a:outerShdw blurRad="38100" dist="38100" dir="2700000">
                    <a:srgbClr val="000000"/>
                  </a:outerShdw>
                </a:effectLst>
                <a:ea typeface="黑体" panose="02010609060101010101" pitchFamily="49" charset="-122"/>
              </a:rPr>
              <a:t>数据类型</a:t>
            </a:r>
            <a:r>
              <a:rPr lang="zh-CN" altLang="en-US" sz="2400" b="1" dirty="0">
                <a:solidFill>
                  <a:srgbClr val="000000"/>
                </a:solidFill>
              </a:rPr>
              <a:t>描述之。</a:t>
            </a:r>
          </a:p>
        </p:txBody>
      </p:sp>
      <p:grpSp>
        <p:nvGrpSpPr>
          <p:cNvPr id="9" name="组合 8">
            <a:extLst>
              <a:ext uri="{FF2B5EF4-FFF2-40B4-BE49-F238E27FC236}">
                <a16:creationId xmlns:a16="http://schemas.microsoft.com/office/drawing/2014/main" id="{42721A85-4B99-11C4-D9AF-13B411965272}"/>
              </a:ext>
            </a:extLst>
          </p:cNvPr>
          <p:cNvGrpSpPr/>
          <p:nvPr/>
        </p:nvGrpSpPr>
        <p:grpSpPr>
          <a:xfrm>
            <a:off x="597981" y="4146572"/>
            <a:ext cx="5333999" cy="2329634"/>
            <a:chOff x="597981" y="4146572"/>
            <a:chExt cx="5333999" cy="2329634"/>
          </a:xfrm>
        </p:grpSpPr>
        <p:sp>
          <p:nvSpPr>
            <p:cNvPr id="13" name="矩形 12">
              <a:extLst>
                <a:ext uri="{FF2B5EF4-FFF2-40B4-BE49-F238E27FC236}">
                  <a16:creationId xmlns:a16="http://schemas.microsoft.com/office/drawing/2014/main" id="{4FBFE176-F507-36FD-0BAE-05E9DCB4F8F3}"/>
                </a:ext>
              </a:extLst>
            </p:cNvPr>
            <p:cNvSpPr/>
            <p:nvPr/>
          </p:nvSpPr>
          <p:spPr>
            <a:xfrm>
              <a:off x="597981" y="4146572"/>
              <a:ext cx="5333999" cy="2329634"/>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dirty="0"/>
            </a:p>
          </p:txBody>
        </p:sp>
        <p:sp>
          <p:nvSpPr>
            <p:cNvPr id="10" name="文本框 9">
              <a:extLst>
                <a:ext uri="{FF2B5EF4-FFF2-40B4-BE49-F238E27FC236}">
                  <a16:creationId xmlns:a16="http://schemas.microsoft.com/office/drawing/2014/main" id="{A0007740-2AD0-4331-42B5-986BF8980176}"/>
                </a:ext>
              </a:extLst>
            </p:cNvPr>
            <p:cNvSpPr txBox="1"/>
            <p:nvPr/>
          </p:nvSpPr>
          <p:spPr>
            <a:xfrm>
              <a:off x="708529" y="4146572"/>
              <a:ext cx="5088422" cy="2265941"/>
            </a:xfrm>
            <a:prstGeom prst="rect">
              <a:avLst/>
            </a:prstGeom>
            <a:noFill/>
          </p:spPr>
          <p:txBody>
            <a:bodyPr wrap="square">
              <a:spAutoFit/>
            </a:bodyPr>
            <a:lstStyle/>
            <a:p>
              <a:pPr algn="just">
                <a:lnSpc>
                  <a:spcPct val="120000"/>
                </a:lnSpc>
              </a:pPr>
              <a:r>
                <a:rPr lang="zh-CN" altLang="zh-CN" sz="2400" b="1" dirty="0">
                  <a:effectLst/>
                  <a:latin typeface="黑体" panose="02010609060101010101" pitchFamily="49" charset="-122"/>
                  <a:ea typeface="黑体" panose="02010609060101010101" pitchFamily="49" charset="-122"/>
                  <a:cs typeface="Times New Roman" panose="02020603050405020304" pitchFamily="18" charset="0"/>
                </a:rPr>
                <a:t>例如</a:t>
              </a:r>
              <a:r>
                <a:rPr lang="zh-CN" altLang="zh-CN" sz="2400" b="1"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dirty="0">
                  <a:effectLst/>
                  <a:latin typeface="Times New Roman" panose="02020603050405020304" pitchFamily="18" charset="0"/>
                  <a:ea typeface="宋体" panose="02010600030101010101" pitchFamily="2" charset="-122"/>
                </a:rPr>
                <a:t>C</a:t>
              </a:r>
              <a:r>
                <a:rPr lang="zh-CN" altLang="zh-CN" sz="2400" b="1" dirty="0">
                  <a:effectLst/>
                  <a:latin typeface="Times New Roman" panose="02020603050405020304" pitchFamily="18" charset="0"/>
                  <a:ea typeface="宋体" panose="02010600030101010101" pitchFamily="2" charset="-122"/>
                  <a:cs typeface="Times New Roman" panose="02020603050405020304" pitchFamily="18" charset="0"/>
                </a:rPr>
                <a:t>语言中</a:t>
              </a:r>
              <a:r>
                <a:rPr lang="en-US" altLang="zh-CN" sz="2400" b="1" dirty="0">
                  <a:effectLst/>
                  <a:latin typeface="Times New Roman" panose="02020603050405020304" pitchFamily="18" charset="0"/>
                  <a:ea typeface="宋体" panose="02010600030101010101" pitchFamily="2" charset="-122"/>
                  <a:cs typeface="Times New Roman" panose="02020603050405020304" pitchFamily="18" charset="0"/>
                </a:rPr>
                <a:t> int </a:t>
              </a:r>
              <a:r>
                <a:rPr lang="zh-CN" altLang="en-US" sz="2400" b="1" dirty="0">
                  <a:effectLst/>
                  <a:latin typeface="Times New Roman" panose="02020603050405020304" pitchFamily="18" charset="0"/>
                  <a:ea typeface="宋体" panose="02010600030101010101" pitchFamily="2" charset="-122"/>
                  <a:cs typeface="Times New Roman" panose="02020603050405020304" pitchFamily="18" charset="0"/>
                </a:rPr>
                <a:t>类型的</a:t>
              </a:r>
              <a:r>
                <a:rPr lang="zh-CN" altLang="zh-CN" sz="2400" b="1" dirty="0">
                  <a:effectLst/>
                  <a:latin typeface="Times New Roman" panose="02020603050405020304" pitchFamily="18" charset="0"/>
                  <a:ea typeface="宋体" panose="02010600030101010101" pitchFamily="2" charset="-122"/>
                  <a:cs typeface="Times New Roman" panose="02020603050405020304" pitchFamily="18" charset="0"/>
                </a:rPr>
                <a:t>整型变量</a:t>
              </a:r>
              <a:endParaRPr lang="en-US" altLang="zh-CN" sz="2400" b="1"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indent="-342900" algn="just">
                <a:lnSpc>
                  <a:spcPct val="120000"/>
                </a:lnSpc>
                <a:buClr>
                  <a:srgbClr val="00B0F0"/>
                </a:buClr>
                <a:buFont typeface="Wingdings" panose="05000000000000000000" pitchFamily="2" charset="2"/>
                <a:buChar char="Ø"/>
              </a:pPr>
              <a:r>
                <a:rPr lang="zh-CN" altLang="zh-CN" sz="2400" b="1"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值集</a:t>
              </a:r>
              <a:r>
                <a:rPr lang="zh-CN" altLang="zh-CN" sz="2400" b="1" dirty="0">
                  <a:effectLst/>
                  <a:latin typeface="Times New Roman" panose="02020603050405020304" pitchFamily="18" charset="0"/>
                  <a:ea typeface="宋体" panose="02010600030101010101" pitchFamily="2" charset="-122"/>
                  <a:cs typeface="Times New Roman" panose="02020603050405020304" pitchFamily="18" charset="0"/>
                </a:rPr>
                <a:t>为某个区间上的整数（区间大小依赖于不同的机器），</a:t>
              </a:r>
              <a:endParaRPr lang="en-US" altLang="zh-CN" sz="2400" b="1"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indent="-342900" algn="just">
                <a:lnSpc>
                  <a:spcPct val="120000"/>
                </a:lnSpc>
                <a:buClr>
                  <a:srgbClr val="00B0F0"/>
                </a:buClr>
                <a:buFont typeface="Wingdings" panose="05000000000000000000" pitchFamily="2" charset="2"/>
                <a:buChar char="Ø"/>
              </a:pPr>
              <a:r>
                <a:rPr lang="zh-CN" altLang="zh-CN" sz="2400" b="1" dirty="0">
                  <a:effectLst/>
                  <a:latin typeface="Times New Roman" panose="02020603050405020304" pitchFamily="18" charset="0"/>
                  <a:ea typeface="宋体" panose="02010600030101010101" pitchFamily="2" charset="-122"/>
                  <a:cs typeface="Times New Roman" panose="02020603050405020304" pitchFamily="18" charset="0"/>
                </a:rPr>
                <a:t>定义在其上的</a:t>
              </a:r>
              <a:r>
                <a:rPr lang="zh-CN" altLang="zh-CN" sz="2400" b="1"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操作</a:t>
              </a:r>
              <a:r>
                <a:rPr lang="zh-CN" altLang="zh-CN" sz="2400" b="1" dirty="0">
                  <a:effectLst/>
                  <a:latin typeface="Times New Roman" panose="02020603050405020304" pitchFamily="18" charset="0"/>
                  <a:ea typeface="宋体" panose="02010600030101010101" pitchFamily="2" charset="-122"/>
                  <a:cs typeface="Times New Roman" panose="02020603050405020304" pitchFamily="18" charset="0"/>
                </a:rPr>
                <a:t>为加、减、乘、除和取模等算术运算。</a:t>
              </a:r>
              <a:endParaRPr lang="zh-CN" altLang="en-US" sz="2400" b="1" dirty="0"/>
            </a:p>
          </p:txBody>
        </p:sp>
      </p:grpSp>
      <p:grpSp>
        <p:nvGrpSpPr>
          <p:cNvPr id="7" name="组合 6">
            <a:extLst>
              <a:ext uri="{FF2B5EF4-FFF2-40B4-BE49-F238E27FC236}">
                <a16:creationId xmlns:a16="http://schemas.microsoft.com/office/drawing/2014/main" id="{BFFE9516-8195-7513-1461-938571764129}"/>
              </a:ext>
            </a:extLst>
          </p:cNvPr>
          <p:cNvGrpSpPr/>
          <p:nvPr/>
        </p:nvGrpSpPr>
        <p:grpSpPr>
          <a:xfrm>
            <a:off x="6268177" y="4146572"/>
            <a:ext cx="5333999" cy="2329634"/>
            <a:chOff x="6268177" y="4146572"/>
            <a:chExt cx="5333999" cy="2329634"/>
          </a:xfrm>
        </p:grpSpPr>
        <p:sp>
          <p:nvSpPr>
            <p:cNvPr id="14" name="矩形 13">
              <a:extLst>
                <a:ext uri="{FF2B5EF4-FFF2-40B4-BE49-F238E27FC236}">
                  <a16:creationId xmlns:a16="http://schemas.microsoft.com/office/drawing/2014/main" id="{63C1465D-33C2-8975-4E4E-CCD9892DFBA4}"/>
                </a:ext>
              </a:extLst>
            </p:cNvPr>
            <p:cNvSpPr/>
            <p:nvPr/>
          </p:nvSpPr>
          <p:spPr>
            <a:xfrm>
              <a:off x="6268177" y="4146572"/>
              <a:ext cx="5333999" cy="2329634"/>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dirty="0"/>
            </a:p>
          </p:txBody>
        </p:sp>
        <p:sp>
          <p:nvSpPr>
            <p:cNvPr id="11" name="文本框 10">
              <a:extLst>
                <a:ext uri="{FF2B5EF4-FFF2-40B4-BE49-F238E27FC236}">
                  <a16:creationId xmlns:a16="http://schemas.microsoft.com/office/drawing/2014/main" id="{3966C578-F3FA-DE8E-E40C-ADD77FBB55F0}"/>
                </a:ext>
              </a:extLst>
            </p:cNvPr>
            <p:cNvSpPr txBox="1"/>
            <p:nvPr/>
          </p:nvSpPr>
          <p:spPr>
            <a:xfrm>
              <a:off x="6390966" y="4151286"/>
              <a:ext cx="5088422" cy="1363065"/>
            </a:xfrm>
            <a:prstGeom prst="rect">
              <a:avLst/>
            </a:prstGeom>
            <a:noFill/>
            <a:ln w="9525">
              <a:noFill/>
            </a:ln>
          </p:spPr>
          <p:txBody>
            <a:bodyPr wrap="square">
              <a:spAutoFit/>
            </a:bodyPr>
            <a:lstStyle/>
            <a:p>
              <a:pPr algn="just">
                <a:lnSpc>
                  <a:spcPct val="120000"/>
                </a:lnSpc>
              </a:pPr>
              <a:r>
                <a:rPr lang="zh-CN" altLang="en-US" sz="2400" b="1" dirty="0">
                  <a:solidFill>
                    <a:srgbClr val="000000"/>
                  </a:solidFill>
                  <a:latin typeface="黑体" panose="02010609060101010101" pitchFamily="49" charset="-122"/>
                  <a:ea typeface="黑体" panose="02010609060101010101" pitchFamily="49" charset="-122"/>
                </a:rPr>
                <a:t>又如</a:t>
              </a:r>
              <a:r>
                <a:rPr lang="zh-CN" altLang="en-US" sz="2400" b="1" dirty="0">
                  <a:solidFill>
                    <a:srgbClr val="000000"/>
                  </a:solidFill>
                  <a:latin typeface="+mn-ea"/>
                </a:rPr>
                <a:t>，以三个带有次序关系的整数表示一个长整数时，可利用</a:t>
              </a:r>
              <a:r>
                <a:rPr lang="en-US" altLang="zh-CN" sz="2400" b="1" dirty="0">
                  <a:solidFill>
                    <a:srgbClr val="000000"/>
                  </a:solidFill>
                  <a:latin typeface="+mn-ea"/>
                </a:rPr>
                <a:t>C</a:t>
              </a:r>
              <a:r>
                <a:rPr lang="zh-CN" altLang="en-US" sz="2400" b="1" dirty="0">
                  <a:solidFill>
                    <a:srgbClr val="000000"/>
                  </a:solidFill>
                  <a:latin typeface="+mn-ea"/>
                </a:rPr>
                <a:t>语言中提供的整数数组类型，</a:t>
              </a:r>
              <a:r>
                <a:rPr lang="zh-CN" altLang="en-US" sz="2400" b="1" dirty="0">
                  <a:solidFill>
                    <a:srgbClr val="800000"/>
                  </a:solidFill>
                  <a:latin typeface="+mn-ea"/>
                </a:rPr>
                <a:t>定义</a:t>
              </a:r>
              <a:r>
                <a:rPr lang="zh-CN" altLang="en-US" sz="2400" b="1" dirty="0">
                  <a:solidFill>
                    <a:srgbClr val="800000"/>
                  </a:solidFill>
                  <a:effectLst>
                    <a:outerShdw blurRad="38100" dist="38100" dir="2700000" algn="tl">
                      <a:srgbClr val="000000">
                        <a:alpha val="43137"/>
                      </a:srgbClr>
                    </a:outerShdw>
                  </a:effectLst>
                  <a:latin typeface="+mn-ea"/>
                </a:rPr>
                <a:t>长整数</a:t>
              </a:r>
              <a:r>
                <a:rPr lang="zh-CN" altLang="en-US" sz="2400" b="1" dirty="0">
                  <a:solidFill>
                    <a:srgbClr val="000000"/>
                  </a:solidFill>
                  <a:latin typeface="+mn-ea"/>
                </a:rPr>
                <a:t>为</a:t>
              </a:r>
              <a:r>
                <a:rPr lang="en-US" altLang="zh-CN" sz="2400" b="1" dirty="0">
                  <a:solidFill>
                    <a:srgbClr val="000000"/>
                  </a:solidFill>
                  <a:latin typeface="+mn-ea"/>
                </a:rPr>
                <a:t>:</a:t>
              </a:r>
            </a:p>
          </p:txBody>
        </p:sp>
        <p:sp>
          <p:nvSpPr>
            <p:cNvPr id="12" name="文本框 11">
              <a:extLst>
                <a:ext uri="{FF2B5EF4-FFF2-40B4-BE49-F238E27FC236}">
                  <a16:creationId xmlns:a16="http://schemas.microsoft.com/office/drawing/2014/main" id="{479143F1-34C0-9F51-9A05-EE560AA8C3B5}"/>
                </a:ext>
              </a:extLst>
            </p:cNvPr>
            <p:cNvSpPr txBox="1"/>
            <p:nvPr/>
          </p:nvSpPr>
          <p:spPr>
            <a:xfrm>
              <a:off x="6998748" y="5604634"/>
              <a:ext cx="3474028" cy="461665"/>
            </a:xfrm>
            <a:prstGeom prst="rect">
              <a:avLst/>
            </a:prstGeom>
            <a:noFill/>
            <a:ln w="9525">
              <a:noFill/>
            </a:ln>
          </p:spPr>
          <p:txBody>
            <a:bodyPr wrap="none" anchor="t" anchorCtr="0">
              <a:spAutoFit/>
            </a:bodyPr>
            <a:lstStyle/>
            <a:p>
              <a:r>
                <a:rPr lang="en-US" altLang="zh-CN" sz="2400" b="1" dirty="0">
                  <a:ea typeface="楷体_GB2312" pitchFamily="49" charset="-122"/>
                </a:rPr>
                <a:t>typedef  int</a:t>
              </a:r>
              <a:r>
                <a:rPr lang="en-US" altLang="zh-CN" sz="2400" dirty="0">
                  <a:ea typeface="楷体_GB2312" pitchFamily="49" charset="-122"/>
                </a:rPr>
                <a:t>  </a:t>
              </a:r>
              <a:r>
                <a:rPr lang="en-US" altLang="zh-CN" sz="2400" dirty="0" err="1">
                  <a:ea typeface="楷体_GB2312" pitchFamily="49" charset="-122"/>
                </a:rPr>
                <a:t>Long_int</a:t>
              </a:r>
              <a:r>
                <a:rPr lang="en-US" altLang="zh-CN" sz="2400" dirty="0">
                  <a:ea typeface="楷体_GB2312" pitchFamily="49" charset="-122"/>
                </a:rPr>
                <a:t> [3];</a:t>
              </a:r>
            </a:p>
          </p:txBody>
        </p:sp>
      </p:grpSp>
      <p:sp>
        <p:nvSpPr>
          <p:cNvPr id="15" name="灯片编号占位符 14">
            <a:extLst>
              <a:ext uri="{FF2B5EF4-FFF2-40B4-BE49-F238E27FC236}">
                <a16:creationId xmlns:a16="http://schemas.microsoft.com/office/drawing/2014/main" id="{2A52A77A-6BB8-559A-FA92-202820188AD4}"/>
              </a:ext>
            </a:extLst>
          </p:cNvPr>
          <p:cNvSpPr>
            <a:spLocks noGrp="1"/>
          </p:cNvSpPr>
          <p:nvPr>
            <p:ph type="sldNum" sz="quarter" idx="12"/>
          </p:nvPr>
        </p:nvSpPr>
        <p:spPr/>
        <p:txBody>
          <a:bodyPr/>
          <a:lstStyle/>
          <a:p>
            <a:fld id="{D7C0FE0B-717B-41AE-9FA2-CA4BF851D1C3}" type="slidenum">
              <a:rPr lang="zh-CN" altLang="en-US" smtClean="0"/>
              <a:t>37</a:t>
            </a:fld>
            <a:endParaRPr lang="zh-CN" altLang="en-US"/>
          </a:p>
        </p:txBody>
      </p:sp>
    </p:spTree>
    <p:extLst>
      <p:ext uri="{BB962C8B-B14F-4D97-AF65-F5344CB8AC3E}">
        <p14:creationId xmlns:p14="http://schemas.microsoft.com/office/powerpoint/2010/main" val="3462281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1000"/>
                                        <p:tgtEl>
                                          <p:spTgt spid="9"/>
                                        </p:tgtEl>
                                      </p:cBhvr>
                                    </p:animEffect>
                                    <p:anim calcmode="lin" valueType="num">
                                      <p:cBhvr>
                                        <p:cTn id="27" dur="1000" fill="hold"/>
                                        <p:tgtEl>
                                          <p:spTgt spid="9"/>
                                        </p:tgtEl>
                                        <p:attrNameLst>
                                          <p:attrName>ppt_x</p:attrName>
                                        </p:attrNameLst>
                                      </p:cBhvr>
                                      <p:tavLst>
                                        <p:tav tm="0">
                                          <p:val>
                                            <p:strVal val="#ppt_x"/>
                                          </p:val>
                                        </p:tav>
                                        <p:tav tm="100000">
                                          <p:val>
                                            <p:strVal val="#ppt_x"/>
                                          </p:val>
                                        </p:tav>
                                      </p:tavLst>
                                    </p:anim>
                                    <p:anim calcmode="lin" valueType="num">
                                      <p:cBhvr>
                                        <p:cTn id="28"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1000"/>
                                        <p:tgtEl>
                                          <p:spTgt spid="7"/>
                                        </p:tgtEl>
                                      </p:cBhvr>
                                    </p:animEffect>
                                    <p:anim calcmode="lin" valueType="num">
                                      <p:cBhvr>
                                        <p:cTn id="34" dur="1000" fill="hold"/>
                                        <p:tgtEl>
                                          <p:spTgt spid="7"/>
                                        </p:tgtEl>
                                        <p:attrNameLst>
                                          <p:attrName>ppt_x</p:attrName>
                                        </p:attrNameLst>
                                      </p:cBhvr>
                                      <p:tavLst>
                                        <p:tav tm="0">
                                          <p:val>
                                            <p:strVal val="#ppt_x"/>
                                          </p:val>
                                        </p:tav>
                                        <p:tav tm="100000">
                                          <p:val>
                                            <p:strVal val="#ppt_x"/>
                                          </p:val>
                                        </p:tav>
                                      </p:tavLst>
                                    </p:anim>
                                    <p:anim calcmode="lin" valueType="num">
                                      <p:cBhvr>
                                        <p:cTn id="35"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1272">
            <a:extLst>
              <a:ext uri="{FF2B5EF4-FFF2-40B4-BE49-F238E27FC236}">
                <a16:creationId xmlns:a16="http://schemas.microsoft.com/office/drawing/2014/main" id="{2A0A3105-F420-4D63-609C-837C3EA41E4B}"/>
              </a:ext>
            </a:extLst>
          </p:cNvPr>
          <p:cNvSpPr txBox="1">
            <a:spLocks noGrp="1"/>
          </p:cNvSpPr>
          <p:nvPr/>
        </p:nvSpPr>
        <p:spPr>
          <a:xfrm>
            <a:off x="1299578" y="186170"/>
            <a:ext cx="6930187" cy="648662"/>
          </a:xfrm>
          <a:prstGeom prst="rect">
            <a:avLst/>
          </a:prstGeom>
        </p:spPr>
        <p:txBody>
          <a:bodyPr vert="horz" lIns="91440" tIns="45720" rIns="91440" bIns="45720" rtlCol="0" anchor="ctr" anchorCtr="0">
            <a:normAutofit/>
          </a:bodyPr>
          <a:lstStyle>
            <a:defPPr>
              <a:defRPr lang="zh-CN"/>
            </a:defPPr>
            <a:lvl1pPr marL="0" algn="l" defTabSz="914400" rtl="0" eaLnBrk="1" latinLnBrk="0" hangingPunct="1">
              <a:lnSpc>
                <a:spcPct val="90000"/>
              </a:lnSpc>
              <a:spcBef>
                <a:spcPct val="0"/>
              </a:spcBef>
              <a:buNone/>
              <a:defRPr sz="3200" b="1" kern="1200">
                <a:solidFill>
                  <a:srgbClr val="000099"/>
                </a:solidFill>
                <a:effectLst>
                  <a:outerShdw blurRad="38100" dist="38100" dir="2700000" algn="tl">
                    <a:srgbClr val="000000">
                      <a:alpha val="43137"/>
                    </a:srgbClr>
                  </a:outerShdw>
                </a:effectLst>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1.2  </a:t>
            </a:r>
            <a:r>
              <a:rPr lang="zh-CN" altLang="en-US" dirty="0"/>
              <a:t>基本概念和术语（续）</a:t>
            </a:r>
          </a:p>
        </p:txBody>
      </p:sp>
      <p:sp>
        <p:nvSpPr>
          <p:cNvPr id="3" name="标题 27651">
            <a:extLst>
              <a:ext uri="{FF2B5EF4-FFF2-40B4-BE49-F238E27FC236}">
                <a16:creationId xmlns:a16="http://schemas.microsoft.com/office/drawing/2014/main" id="{18EEB571-B96F-57EB-6119-CAE7AEC34D37}"/>
              </a:ext>
            </a:extLst>
          </p:cNvPr>
          <p:cNvSpPr txBox="1">
            <a:spLocks/>
          </p:cNvSpPr>
          <p:nvPr/>
        </p:nvSpPr>
        <p:spPr>
          <a:xfrm>
            <a:off x="774239" y="1003120"/>
            <a:ext cx="3290813" cy="461665"/>
          </a:xfrm>
          <a:prstGeom prst="rect">
            <a:avLst/>
          </a:prstGeom>
        </p:spPr>
        <p:txBody>
          <a:bodyPr anchor="b"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b="1" dirty="0">
                <a:solidFill>
                  <a:srgbClr val="660066"/>
                </a:solidFill>
                <a:latin typeface="黑体" panose="02010609060101010101" pitchFamily="49" charset="-122"/>
                <a:ea typeface="黑体" panose="02010609060101010101" pitchFamily="49" charset="-122"/>
              </a:rPr>
              <a:t>三</a:t>
            </a:r>
            <a:r>
              <a:rPr lang="en-US" altLang="zh-CN" sz="2800" b="1" dirty="0">
                <a:solidFill>
                  <a:srgbClr val="660066"/>
                </a:solidFill>
                <a:latin typeface="黑体" panose="02010609060101010101" pitchFamily="49" charset="-122"/>
                <a:ea typeface="黑体" panose="02010609060101010101" pitchFamily="49" charset="-122"/>
              </a:rPr>
              <a:t>. </a:t>
            </a:r>
            <a:r>
              <a:rPr lang="zh-CN" altLang="en-US" sz="2800" b="1" dirty="0">
                <a:solidFill>
                  <a:srgbClr val="660066"/>
                </a:solidFill>
                <a:latin typeface="黑体" panose="02010609060101010101" pitchFamily="49" charset="-122"/>
                <a:ea typeface="黑体" panose="02010609060101010101" pitchFamily="49" charset="-122"/>
              </a:rPr>
              <a:t>抽象数据类型</a:t>
            </a:r>
          </a:p>
        </p:txBody>
      </p:sp>
      <p:sp>
        <p:nvSpPr>
          <p:cNvPr id="4" name="文本框 3">
            <a:extLst>
              <a:ext uri="{FF2B5EF4-FFF2-40B4-BE49-F238E27FC236}">
                <a16:creationId xmlns:a16="http://schemas.microsoft.com/office/drawing/2014/main" id="{5712316B-794E-A8E6-8E49-EA39336DFBD0}"/>
              </a:ext>
            </a:extLst>
          </p:cNvPr>
          <p:cNvSpPr txBox="1"/>
          <p:nvPr/>
        </p:nvSpPr>
        <p:spPr>
          <a:xfrm>
            <a:off x="3421830" y="950247"/>
            <a:ext cx="5002022" cy="461665"/>
          </a:xfrm>
          <a:prstGeom prst="rect">
            <a:avLst/>
          </a:prstGeom>
          <a:noFill/>
          <a:ln w="9525">
            <a:noFill/>
          </a:ln>
        </p:spPr>
        <p:txBody>
          <a:bodyPr wrap="square">
            <a:spAutoFit/>
          </a:bodyPr>
          <a:lstStyle/>
          <a:p>
            <a:r>
              <a:rPr lang="en-US" altLang="zh-CN" sz="2400" b="1" dirty="0">
                <a:solidFill>
                  <a:srgbClr val="395B3B"/>
                </a:solidFill>
                <a:latin typeface="楷体_GB2312" pitchFamily="49" charset="-122"/>
                <a:ea typeface="楷体_GB2312" pitchFamily="49" charset="-122"/>
              </a:rPr>
              <a:t>    (</a:t>
            </a:r>
            <a:r>
              <a:rPr lang="en-US" altLang="zh-CN" sz="2400" b="1" dirty="0">
                <a:solidFill>
                  <a:srgbClr val="395B3B"/>
                </a:solidFill>
                <a:ea typeface="楷体_GB2312" pitchFamily="49" charset="-122"/>
              </a:rPr>
              <a:t>Abstract Data Type </a:t>
            </a:r>
            <a:r>
              <a:rPr lang="zh-CN" altLang="en-US" sz="2400" b="1" dirty="0">
                <a:solidFill>
                  <a:srgbClr val="395B3B"/>
                </a:solidFill>
                <a:latin typeface="+mn-ea"/>
              </a:rPr>
              <a:t>简称</a:t>
            </a:r>
            <a:r>
              <a:rPr lang="en-US" altLang="zh-CN" sz="2400" b="1" dirty="0">
                <a:solidFill>
                  <a:srgbClr val="CC0000"/>
                </a:solidFill>
                <a:effectLst>
                  <a:outerShdw blurRad="38100" dist="38100" dir="2700000" algn="tl">
                    <a:srgbClr val="000000">
                      <a:alpha val="43137"/>
                    </a:srgbClr>
                  </a:outerShdw>
                </a:effectLst>
                <a:ea typeface="楷体_GB2312" pitchFamily="49" charset="-122"/>
              </a:rPr>
              <a:t>ADT</a:t>
            </a:r>
            <a:r>
              <a:rPr lang="en-US" altLang="zh-CN" sz="2400" b="1" dirty="0">
                <a:solidFill>
                  <a:srgbClr val="395B3B"/>
                </a:solidFill>
                <a:latin typeface="楷体_GB2312" pitchFamily="49" charset="-122"/>
                <a:ea typeface="楷体_GB2312" pitchFamily="49" charset="-122"/>
              </a:rPr>
              <a:t>)</a:t>
            </a:r>
            <a:endParaRPr lang="en-US" altLang="zh-CN" sz="2400" b="1" dirty="0"/>
          </a:p>
        </p:txBody>
      </p:sp>
      <p:sp>
        <p:nvSpPr>
          <p:cNvPr id="5" name="文本框 4">
            <a:extLst>
              <a:ext uri="{FF2B5EF4-FFF2-40B4-BE49-F238E27FC236}">
                <a16:creationId xmlns:a16="http://schemas.microsoft.com/office/drawing/2014/main" id="{6DE7293A-024D-FF9E-A4BF-19033ED21D13}"/>
              </a:ext>
            </a:extLst>
          </p:cNvPr>
          <p:cNvSpPr txBox="1"/>
          <p:nvPr/>
        </p:nvSpPr>
        <p:spPr>
          <a:xfrm>
            <a:off x="1416609" y="1411912"/>
            <a:ext cx="8255133" cy="577081"/>
          </a:xfrm>
          <a:prstGeom prst="rect">
            <a:avLst/>
          </a:prstGeom>
          <a:noFill/>
          <a:ln w="9525">
            <a:noFill/>
          </a:ln>
        </p:spPr>
        <p:txBody>
          <a:bodyPr wrap="square">
            <a:spAutoFit/>
          </a:bodyPr>
          <a:lstStyle/>
          <a:p>
            <a:pPr algn="just">
              <a:lnSpc>
                <a:spcPct val="150000"/>
              </a:lnSpc>
            </a:pPr>
            <a:r>
              <a:rPr lang="zh-CN" altLang="en-US" sz="2400" b="1" dirty="0">
                <a:solidFill>
                  <a:srgbClr val="010000"/>
                </a:solidFill>
                <a:latin typeface="+mn-ea"/>
              </a:rPr>
              <a:t>是指一个</a:t>
            </a:r>
            <a:r>
              <a:rPr lang="zh-CN" altLang="en-US" sz="2400" b="1" dirty="0">
                <a:solidFill>
                  <a:srgbClr val="FF0000"/>
                </a:solidFill>
                <a:effectLst>
                  <a:outerShdw blurRad="38100" dist="38100" dir="2700000">
                    <a:srgbClr val="000000"/>
                  </a:outerShdw>
                </a:effectLst>
                <a:latin typeface="+mn-ea"/>
              </a:rPr>
              <a:t>数学模型</a:t>
            </a:r>
            <a:r>
              <a:rPr lang="zh-CN" altLang="en-US" sz="2400" b="1" dirty="0">
                <a:solidFill>
                  <a:srgbClr val="010000"/>
                </a:solidFill>
                <a:latin typeface="+mn-ea"/>
              </a:rPr>
              <a:t>以及定义在此数学模型上的一组</a:t>
            </a:r>
            <a:r>
              <a:rPr lang="zh-CN" altLang="en-US" sz="2400" b="1" dirty="0">
                <a:solidFill>
                  <a:srgbClr val="FF0000"/>
                </a:solidFill>
                <a:effectLst>
                  <a:outerShdw blurRad="38100" dist="38100" dir="2700000">
                    <a:srgbClr val="000000"/>
                  </a:outerShdw>
                </a:effectLst>
                <a:latin typeface="+mn-ea"/>
              </a:rPr>
              <a:t>操作</a:t>
            </a:r>
          </a:p>
        </p:txBody>
      </p:sp>
      <p:sp>
        <p:nvSpPr>
          <p:cNvPr id="6" name="标题 28680">
            <a:extLst>
              <a:ext uri="{FF2B5EF4-FFF2-40B4-BE49-F238E27FC236}">
                <a16:creationId xmlns:a16="http://schemas.microsoft.com/office/drawing/2014/main" id="{E680A74A-205F-3DC3-A61D-803FDE65B361}"/>
              </a:ext>
            </a:extLst>
          </p:cNvPr>
          <p:cNvSpPr txBox="1">
            <a:spLocks/>
          </p:cNvSpPr>
          <p:nvPr/>
        </p:nvSpPr>
        <p:spPr>
          <a:xfrm>
            <a:off x="1359755" y="2093871"/>
            <a:ext cx="3344904" cy="418183"/>
          </a:xfrm>
          <a:prstGeom prst="rect">
            <a:avLst/>
          </a:prstGeom>
        </p:spPr>
        <p:txBody>
          <a:bodyPr vert="horz" wrap="square" lIns="91440" tIns="45720" rIns="91440" bIns="45720" anchor="b"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400" b="1" dirty="0">
                <a:solidFill>
                  <a:srgbClr val="FF0000"/>
                </a:solidFill>
                <a:effectLst>
                  <a:outerShdw blurRad="38100" dist="38100" dir="2700000">
                    <a:srgbClr val="000000"/>
                  </a:outerShdw>
                </a:effectLst>
                <a:latin typeface="+mn-lt"/>
                <a:ea typeface="+mn-ea"/>
              </a:rPr>
              <a:t>ADT</a:t>
            </a:r>
            <a:r>
              <a:rPr lang="zh-CN" altLang="en-US" sz="2400" b="1" dirty="0">
                <a:latin typeface="+mn-lt"/>
                <a:ea typeface="+mn-ea"/>
              </a:rPr>
              <a:t>有两个重要特征</a:t>
            </a:r>
            <a:r>
              <a:rPr lang="en-US" altLang="zh-CN" sz="2400" b="1" dirty="0">
                <a:latin typeface="+mn-lt"/>
                <a:ea typeface="+mn-ea"/>
              </a:rPr>
              <a:t>:</a:t>
            </a:r>
          </a:p>
        </p:txBody>
      </p:sp>
      <p:sp>
        <p:nvSpPr>
          <p:cNvPr id="7" name="灯片编号占位符 1">
            <a:extLst>
              <a:ext uri="{FF2B5EF4-FFF2-40B4-BE49-F238E27FC236}">
                <a16:creationId xmlns:a16="http://schemas.microsoft.com/office/drawing/2014/main" id="{8BED9C6B-9893-044E-7495-3F0391C31BC3}"/>
              </a:ext>
            </a:extLst>
          </p:cNvPr>
          <p:cNvSpPr>
            <a:spLocks noGrp="1"/>
          </p:cNvSpPr>
          <p:nvPr>
            <p:ph type="sldNum" sz="quarter" idx="12"/>
          </p:nvPr>
        </p:nvSpPr>
        <p:spPr>
          <a:xfrm>
            <a:off x="8610600" y="6356350"/>
            <a:ext cx="2743200" cy="365125"/>
          </a:xfrm>
        </p:spPr>
        <p:txBody>
          <a:bodyPr/>
          <a:lstStyle/>
          <a:p>
            <a:pPr lvl="0">
              <a:spcBef>
                <a:spcPct val="50000"/>
              </a:spcBef>
            </a:pPr>
            <a:fld id="{9A0DB2DC-4C9A-4742-B13C-FB6460FD3503}" type="slidenum">
              <a:rPr lang="zh-CN" altLang="en-US" sz="2400" dirty="0">
                <a:latin typeface="+mn-ea"/>
              </a:rPr>
              <a:t>38</a:t>
            </a:fld>
            <a:endParaRPr lang="zh-CN" altLang="en-US" sz="2400" dirty="0">
              <a:latin typeface="+mn-ea"/>
            </a:endParaRPr>
          </a:p>
        </p:txBody>
      </p:sp>
      <p:sp>
        <p:nvSpPr>
          <p:cNvPr id="8" name="文本框 7">
            <a:extLst>
              <a:ext uri="{FF2B5EF4-FFF2-40B4-BE49-F238E27FC236}">
                <a16:creationId xmlns:a16="http://schemas.microsoft.com/office/drawing/2014/main" id="{E698019E-BE6C-FDED-C6D5-AAFE2184E750}"/>
              </a:ext>
            </a:extLst>
          </p:cNvPr>
          <p:cNvSpPr txBox="1"/>
          <p:nvPr/>
        </p:nvSpPr>
        <p:spPr>
          <a:xfrm>
            <a:off x="1450757" y="2651181"/>
            <a:ext cx="1440298" cy="461665"/>
          </a:xfrm>
          <a:prstGeom prst="rect">
            <a:avLst/>
          </a:prstGeom>
          <a:solidFill>
            <a:srgbClr val="F0C408"/>
          </a:solidFill>
          <a:ln w="9525">
            <a:noFill/>
          </a:ln>
        </p:spPr>
        <p:txBody>
          <a:bodyPr wrap="square">
            <a:spAutoFit/>
          </a:bodyPr>
          <a:lstStyle/>
          <a:p>
            <a:pPr algn="ctr"/>
            <a:r>
              <a:rPr lang="zh-CN" altLang="en-US" sz="2400" b="1" dirty="0">
                <a:solidFill>
                  <a:srgbClr val="000080"/>
                </a:solidFill>
                <a:effectLst>
                  <a:outerShdw blurRad="38100" dist="38100" dir="2700000">
                    <a:srgbClr val="000000"/>
                  </a:outerShdw>
                </a:effectLst>
                <a:latin typeface="+mn-ea"/>
              </a:rPr>
              <a:t>数据抽象</a:t>
            </a:r>
          </a:p>
        </p:txBody>
      </p:sp>
      <p:sp>
        <p:nvSpPr>
          <p:cNvPr id="9" name="文本框 8">
            <a:extLst>
              <a:ext uri="{FF2B5EF4-FFF2-40B4-BE49-F238E27FC236}">
                <a16:creationId xmlns:a16="http://schemas.microsoft.com/office/drawing/2014/main" id="{9B6736E6-0636-B970-495A-14D7E4691C77}"/>
              </a:ext>
            </a:extLst>
          </p:cNvPr>
          <p:cNvSpPr txBox="1"/>
          <p:nvPr/>
        </p:nvSpPr>
        <p:spPr>
          <a:xfrm>
            <a:off x="2028973" y="3251973"/>
            <a:ext cx="7850187" cy="1379545"/>
          </a:xfrm>
          <a:prstGeom prst="rect">
            <a:avLst/>
          </a:prstGeom>
          <a:noFill/>
          <a:ln w="9525">
            <a:noFill/>
          </a:ln>
        </p:spPr>
        <p:txBody>
          <a:bodyPr>
            <a:spAutoFit/>
          </a:bodyPr>
          <a:lstStyle/>
          <a:p>
            <a:pPr algn="just">
              <a:lnSpc>
                <a:spcPct val="120000"/>
              </a:lnSpc>
            </a:pPr>
            <a:r>
              <a:rPr lang="zh-CN" altLang="en-US" sz="2400" dirty="0">
                <a:solidFill>
                  <a:srgbClr val="010000"/>
                </a:solidFill>
              </a:rPr>
              <a:t>用</a:t>
            </a:r>
            <a:r>
              <a:rPr lang="en-US" altLang="zh-CN" sz="2400" dirty="0">
                <a:solidFill>
                  <a:srgbClr val="010000"/>
                </a:solidFill>
              </a:rPr>
              <a:t>ADT</a:t>
            </a:r>
            <a:r>
              <a:rPr lang="zh-CN" altLang="en-US" sz="2400" dirty="0">
                <a:solidFill>
                  <a:srgbClr val="010000"/>
                </a:solidFill>
              </a:rPr>
              <a:t>描述程序处理的实体时，强调的是其</a:t>
            </a:r>
            <a:r>
              <a:rPr lang="zh-CN" altLang="en-US" sz="2400" b="1" dirty="0">
                <a:solidFill>
                  <a:srgbClr val="010000"/>
                </a:solidFill>
              </a:rPr>
              <a:t>本质的特征</a:t>
            </a:r>
            <a:r>
              <a:rPr lang="zh-CN" altLang="en-US" sz="2400" dirty="0">
                <a:solidFill>
                  <a:srgbClr val="010000"/>
                </a:solidFill>
              </a:rPr>
              <a:t>、</a:t>
            </a:r>
            <a:r>
              <a:rPr lang="zh-CN" altLang="en-US" sz="2400" b="1" dirty="0">
                <a:solidFill>
                  <a:srgbClr val="010000"/>
                </a:solidFill>
              </a:rPr>
              <a:t>其所能完成的功能</a:t>
            </a:r>
            <a:r>
              <a:rPr lang="zh-CN" altLang="en-US" sz="2400" dirty="0">
                <a:solidFill>
                  <a:srgbClr val="010000"/>
                </a:solidFill>
              </a:rPr>
              <a:t>以及它和</a:t>
            </a:r>
            <a:r>
              <a:rPr lang="zh-CN" altLang="en-US" sz="2400" b="1" dirty="0">
                <a:solidFill>
                  <a:srgbClr val="010000"/>
                </a:solidFill>
              </a:rPr>
              <a:t>外部用户的接口</a:t>
            </a:r>
            <a:r>
              <a:rPr lang="zh-CN" altLang="en-US" sz="2400" dirty="0">
                <a:solidFill>
                  <a:srgbClr val="010000"/>
                </a:solidFill>
              </a:rPr>
              <a:t>（即</a:t>
            </a:r>
            <a:r>
              <a:rPr lang="zh-CN" altLang="en-US" sz="2400" b="1" dirty="0">
                <a:solidFill>
                  <a:srgbClr val="010000"/>
                </a:solidFill>
              </a:rPr>
              <a:t>外界使用它的方法</a:t>
            </a:r>
            <a:r>
              <a:rPr lang="zh-CN" altLang="en-US" sz="2400" dirty="0">
                <a:solidFill>
                  <a:srgbClr val="010000"/>
                </a:solidFill>
              </a:rPr>
              <a:t>）</a:t>
            </a:r>
          </a:p>
        </p:txBody>
      </p:sp>
      <p:sp>
        <p:nvSpPr>
          <p:cNvPr id="10" name="文本框 9">
            <a:extLst>
              <a:ext uri="{FF2B5EF4-FFF2-40B4-BE49-F238E27FC236}">
                <a16:creationId xmlns:a16="http://schemas.microsoft.com/office/drawing/2014/main" id="{D70DE726-BE02-A540-DBE4-2DDDBBEF76B9}"/>
              </a:ext>
            </a:extLst>
          </p:cNvPr>
          <p:cNvSpPr txBox="1"/>
          <p:nvPr/>
        </p:nvSpPr>
        <p:spPr>
          <a:xfrm>
            <a:off x="1416609" y="4808608"/>
            <a:ext cx="1440299" cy="461665"/>
          </a:xfrm>
          <a:prstGeom prst="rect">
            <a:avLst/>
          </a:prstGeom>
          <a:solidFill>
            <a:srgbClr val="F0C408"/>
          </a:solidFill>
          <a:ln w="9525">
            <a:noFill/>
          </a:ln>
        </p:spPr>
        <p:txBody>
          <a:bodyPr wrap="square">
            <a:spAutoFit/>
          </a:bodyPr>
          <a:lstStyle/>
          <a:p>
            <a:pPr algn="ctr"/>
            <a:r>
              <a:rPr lang="zh-CN" altLang="en-US" sz="2400" b="1" dirty="0">
                <a:solidFill>
                  <a:srgbClr val="000080"/>
                </a:solidFill>
                <a:effectLst>
                  <a:outerShdw blurRad="38100" dist="38100" dir="2700000">
                    <a:srgbClr val="000000"/>
                  </a:outerShdw>
                </a:effectLst>
                <a:latin typeface="+mn-ea"/>
              </a:rPr>
              <a:t>数据封装</a:t>
            </a:r>
          </a:p>
        </p:txBody>
      </p:sp>
      <p:sp>
        <p:nvSpPr>
          <p:cNvPr id="11" name="文本框 10">
            <a:extLst>
              <a:ext uri="{FF2B5EF4-FFF2-40B4-BE49-F238E27FC236}">
                <a16:creationId xmlns:a16="http://schemas.microsoft.com/office/drawing/2014/main" id="{9FCE326A-BA5F-27A7-6B55-8AC6830E0379}"/>
              </a:ext>
            </a:extLst>
          </p:cNvPr>
          <p:cNvSpPr txBox="1"/>
          <p:nvPr/>
        </p:nvSpPr>
        <p:spPr>
          <a:xfrm>
            <a:off x="2000546" y="5394946"/>
            <a:ext cx="8077200" cy="919867"/>
          </a:xfrm>
          <a:prstGeom prst="rect">
            <a:avLst/>
          </a:prstGeom>
          <a:noFill/>
          <a:ln w="9525">
            <a:noFill/>
          </a:ln>
        </p:spPr>
        <p:txBody>
          <a:bodyPr>
            <a:spAutoFit/>
          </a:bodyPr>
          <a:lstStyle/>
          <a:p>
            <a:pPr algn="just">
              <a:lnSpc>
                <a:spcPct val="120000"/>
              </a:lnSpc>
            </a:pPr>
            <a:r>
              <a:rPr lang="zh-CN" altLang="en-US" sz="2400" dirty="0">
                <a:solidFill>
                  <a:srgbClr val="010000"/>
                </a:solidFill>
                <a:latin typeface="+mn-ea"/>
              </a:rPr>
              <a:t>将实体的</a:t>
            </a:r>
            <a:r>
              <a:rPr lang="zh-CN" altLang="en-US" sz="2400" b="1" dirty="0">
                <a:solidFill>
                  <a:srgbClr val="010000"/>
                </a:solidFill>
                <a:latin typeface="+mn-ea"/>
              </a:rPr>
              <a:t>外部特性和其内部实现细节分离</a:t>
            </a:r>
            <a:r>
              <a:rPr lang="zh-CN" altLang="en-US" sz="2400" dirty="0">
                <a:solidFill>
                  <a:srgbClr val="010000"/>
                </a:solidFill>
                <a:latin typeface="+mn-ea"/>
              </a:rPr>
              <a:t>，并且</a:t>
            </a:r>
            <a:r>
              <a:rPr lang="zh-CN" altLang="en-US" sz="2400" b="1" dirty="0">
                <a:solidFill>
                  <a:srgbClr val="010000"/>
                </a:solidFill>
                <a:latin typeface="+mn-ea"/>
              </a:rPr>
              <a:t>对外部用户隐藏其内部实现细节</a:t>
            </a:r>
          </a:p>
        </p:txBody>
      </p:sp>
    </p:spTree>
    <p:extLst>
      <p:ext uri="{BB962C8B-B14F-4D97-AF65-F5344CB8AC3E}">
        <p14:creationId xmlns:p14="http://schemas.microsoft.com/office/powerpoint/2010/main" val="1553473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5"/>
                                        </p:tgtEl>
                                        <p:attrNameLst>
                                          <p:attrName>style.visibility</p:attrName>
                                        </p:attrNameLst>
                                      </p:cBhvr>
                                      <p:to>
                                        <p:strVal val="visible"/>
                                      </p:to>
                                    </p:set>
                                  </p:childTnLst>
                                </p:cTn>
                              </p:par>
                            </p:childTnLst>
                          </p:cTn>
                        </p:par>
                        <p:par>
                          <p:cTn id="10" fill="hold">
                            <p:stCondLst>
                              <p:cond delay="1000"/>
                            </p:stCondLst>
                            <p:childTnLst>
                              <p:par>
                                <p:cTn id="11" presetID="12" presetClass="entr" presetSubtype="1"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slide(fromTop)">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barn(inVertical)">
                                      <p:cBhvr>
                                        <p:cTn id="18" dur="500"/>
                                        <p:tgtEl>
                                          <p:spTgt spid="8"/>
                                        </p:tgtEl>
                                      </p:cBhvr>
                                    </p:animEffect>
                                  </p:childTnLst>
                                </p:cTn>
                              </p:par>
                            </p:childTnLst>
                          </p:cTn>
                        </p:par>
                        <p:par>
                          <p:cTn id="19" fill="hold">
                            <p:stCondLst>
                              <p:cond delay="500"/>
                            </p:stCondLst>
                            <p:childTnLst>
                              <p:par>
                                <p:cTn id="20" presetID="1" presetClass="entr" presetSubtype="0" fill="hold" grpId="0" nodeType="afterEffect">
                                  <p:stCondLst>
                                    <p:cond delay="0"/>
                                  </p:stCondLst>
                                  <p:childTnLst>
                                    <p:set>
                                      <p:cBhvr>
                                        <p:cTn id="21" dur="1" fill="hold">
                                          <p:stCondLst>
                                            <p:cond delay="499"/>
                                          </p:stCondLst>
                                        </p:cTn>
                                        <p:tgtEl>
                                          <p:spTgt spid="9"/>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barn(inVertical)">
                                      <p:cBhvr>
                                        <p:cTn id="26" dur="500"/>
                                        <p:tgtEl>
                                          <p:spTgt spid="10"/>
                                        </p:tgtEl>
                                      </p:cBhvr>
                                    </p:animEffect>
                                  </p:childTnLst>
                                </p:cTn>
                              </p:par>
                            </p:childTnLst>
                          </p:cTn>
                        </p:par>
                        <p:par>
                          <p:cTn id="27" fill="hold">
                            <p:stCondLst>
                              <p:cond delay="500"/>
                            </p:stCondLst>
                            <p:childTnLst>
                              <p:par>
                                <p:cTn id="28" presetID="1" presetClass="entr" presetSubtype="0" fill="hold" grpId="0" nodeType="afterEffect">
                                  <p:stCondLst>
                                    <p:cond delay="0"/>
                                  </p:stCondLst>
                                  <p:childTnLst>
                                    <p:set>
                                      <p:cBhvr>
                                        <p:cTn id="29" dur="1" fill="hold">
                                          <p:stCondLst>
                                            <p:cond delay="499"/>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8" grpId="0" animBg="1"/>
      <p:bldP spid="9" grpId="0"/>
      <p:bldP spid="10" grpId="0" animBg="1"/>
      <p:bldP spid="11"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32773">
            <a:extLst>
              <a:ext uri="{FF2B5EF4-FFF2-40B4-BE49-F238E27FC236}">
                <a16:creationId xmlns:a16="http://schemas.microsoft.com/office/drawing/2014/main" id="{FAB7E9C5-8B1D-2061-8927-B8980A0BDFAE}"/>
              </a:ext>
            </a:extLst>
          </p:cNvPr>
          <p:cNvSpPr txBox="1">
            <a:spLocks/>
          </p:cNvSpPr>
          <p:nvPr/>
        </p:nvSpPr>
        <p:spPr>
          <a:xfrm>
            <a:off x="1378312" y="211178"/>
            <a:ext cx="4774542" cy="572561"/>
          </a:xfrm>
          <a:prstGeom prst="rect">
            <a:avLst/>
          </a:prstGeom>
        </p:spPr>
        <p:txBody>
          <a:bodyPr vert="horz" wrap="square" lIns="91440" tIns="45720" rIns="91440" bIns="45720" anchor="b"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b="1" dirty="0">
                <a:solidFill>
                  <a:srgbClr val="0070C0"/>
                </a:solidFill>
                <a:effectLst>
                  <a:outerShdw blurRad="38100" dist="38100" dir="2700000">
                    <a:srgbClr val="000000"/>
                  </a:outerShdw>
                </a:effectLst>
                <a:latin typeface="楷体_GB2312" pitchFamily="49" charset="-122"/>
                <a:ea typeface="楷体_GB2312" pitchFamily="49" charset="-122"/>
              </a:rPr>
              <a:t>抽象数据类型的描述方法</a:t>
            </a:r>
          </a:p>
        </p:txBody>
      </p:sp>
      <p:sp>
        <p:nvSpPr>
          <p:cNvPr id="3" name="灯片编号占位符 1">
            <a:extLst>
              <a:ext uri="{FF2B5EF4-FFF2-40B4-BE49-F238E27FC236}">
                <a16:creationId xmlns:a16="http://schemas.microsoft.com/office/drawing/2014/main" id="{CDC0F48C-0706-9DD1-6EB8-6693C816FC0E}"/>
              </a:ext>
            </a:extLst>
          </p:cNvPr>
          <p:cNvSpPr>
            <a:spLocks noGrp="1"/>
          </p:cNvSpPr>
          <p:nvPr>
            <p:ph type="sldNum" sz="quarter" idx="12"/>
          </p:nvPr>
        </p:nvSpPr>
        <p:spPr>
          <a:xfrm>
            <a:off x="8610600" y="6356350"/>
            <a:ext cx="2743200" cy="365125"/>
          </a:xfrm>
        </p:spPr>
        <p:txBody>
          <a:bodyPr/>
          <a:lstStyle/>
          <a:p>
            <a:pPr lvl="0">
              <a:spcBef>
                <a:spcPct val="50000"/>
              </a:spcBef>
            </a:pPr>
            <a:fld id="{9A0DB2DC-4C9A-4742-B13C-FB6460FD3503}" type="slidenum">
              <a:rPr lang="zh-CN" altLang="en-US" dirty="0">
                <a:latin typeface="Times New Roman" panose="02020603050405020304" pitchFamily="18" charset="0"/>
              </a:rPr>
              <a:t>39</a:t>
            </a:fld>
            <a:endParaRPr lang="zh-CN" altLang="en-US" dirty="0">
              <a:latin typeface="Times New Roman" panose="02020603050405020304" pitchFamily="18" charset="0"/>
            </a:endParaRPr>
          </a:p>
        </p:txBody>
      </p:sp>
      <p:sp>
        <p:nvSpPr>
          <p:cNvPr id="4" name="文本框 3">
            <a:extLst>
              <a:ext uri="{FF2B5EF4-FFF2-40B4-BE49-F238E27FC236}">
                <a16:creationId xmlns:a16="http://schemas.microsoft.com/office/drawing/2014/main" id="{814F6D48-46D3-1B67-A0E1-0C2B15FC2E1A}"/>
              </a:ext>
            </a:extLst>
          </p:cNvPr>
          <p:cNvSpPr txBox="1"/>
          <p:nvPr/>
        </p:nvSpPr>
        <p:spPr>
          <a:xfrm>
            <a:off x="446935" y="965440"/>
            <a:ext cx="5622613" cy="1822743"/>
          </a:xfrm>
          <a:prstGeom prst="rect">
            <a:avLst/>
          </a:prstGeom>
          <a:noFill/>
          <a:ln w="9525">
            <a:noFill/>
          </a:ln>
        </p:spPr>
        <p:txBody>
          <a:bodyPr wrap="square">
            <a:spAutoFit/>
          </a:bodyPr>
          <a:lstStyle/>
          <a:p>
            <a:pPr>
              <a:spcBef>
                <a:spcPct val="20000"/>
              </a:spcBef>
            </a:pPr>
            <a:r>
              <a:rPr lang="zh-CN" altLang="en-US" sz="2400" b="1" dirty="0">
                <a:solidFill>
                  <a:srgbClr val="C00000"/>
                </a:solidFill>
                <a:effectLst>
                  <a:outerShdw blurRad="38100" dist="38100" dir="2700000" algn="tl">
                    <a:srgbClr val="000000">
                      <a:alpha val="43137"/>
                    </a:srgbClr>
                  </a:outerShdw>
                </a:effectLst>
              </a:rPr>
              <a:t>抽象数据类型</a:t>
            </a:r>
            <a:r>
              <a:rPr lang="zh-CN" altLang="en-US" sz="2400" b="1" dirty="0">
                <a:solidFill>
                  <a:srgbClr val="000000"/>
                </a:solidFill>
              </a:rPr>
              <a:t>可用（</a:t>
            </a:r>
            <a:r>
              <a:rPr lang="en-US" altLang="zh-CN" sz="2400" b="1" dirty="0">
                <a:solidFill>
                  <a:srgbClr val="000000"/>
                </a:solidFill>
              </a:rPr>
              <a:t>D</a:t>
            </a:r>
            <a:r>
              <a:rPr lang="zh-CN" altLang="en-US" sz="2400" b="1" dirty="0">
                <a:solidFill>
                  <a:srgbClr val="000000"/>
                </a:solidFill>
              </a:rPr>
              <a:t>，</a:t>
            </a:r>
            <a:r>
              <a:rPr lang="en-US" altLang="zh-CN" sz="2400" b="1" dirty="0">
                <a:solidFill>
                  <a:srgbClr val="000000"/>
                </a:solidFill>
              </a:rPr>
              <a:t>S</a:t>
            </a:r>
            <a:r>
              <a:rPr lang="zh-CN" altLang="en-US" sz="2400" b="1" dirty="0">
                <a:solidFill>
                  <a:srgbClr val="000000"/>
                </a:solidFill>
              </a:rPr>
              <a:t>，</a:t>
            </a:r>
            <a:r>
              <a:rPr lang="en-US" altLang="zh-CN" sz="2400" b="1" dirty="0">
                <a:solidFill>
                  <a:srgbClr val="000000"/>
                </a:solidFill>
              </a:rPr>
              <a:t>P</a:t>
            </a:r>
            <a:r>
              <a:rPr lang="zh-CN" altLang="en-US" sz="2400" b="1" dirty="0">
                <a:solidFill>
                  <a:srgbClr val="000000"/>
                </a:solidFill>
              </a:rPr>
              <a:t>）</a:t>
            </a:r>
            <a:r>
              <a:rPr lang="zh-CN" altLang="en-US" sz="2400" b="1" dirty="0">
                <a:solidFill>
                  <a:srgbClr val="C00000"/>
                </a:solidFill>
              </a:rPr>
              <a:t>三元组</a:t>
            </a:r>
            <a:r>
              <a:rPr lang="zh-CN" altLang="en-US" sz="2400" b="1" dirty="0">
                <a:solidFill>
                  <a:srgbClr val="000000"/>
                </a:solidFill>
              </a:rPr>
              <a:t>表示，其中，</a:t>
            </a:r>
            <a:r>
              <a:rPr lang="en-US" altLang="zh-CN" sz="2400" b="1" dirty="0">
                <a:solidFill>
                  <a:srgbClr val="000000"/>
                </a:solidFill>
              </a:rPr>
              <a:t>D </a:t>
            </a:r>
            <a:r>
              <a:rPr lang="zh-CN" altLang="en-US" sz="2400" b="1" dirty="0">
                <a:solidFill>
                  <a:srgbClr val="000000"/>
                </a:solidFill>
              </a:rPr>
              <a:t>是</a:t>
            </a:r>
            <a:r>
              <a:rPr lang="zh-CN" altLang="en-US" sz="2400" b="1" dirty="0">
                <a:solidFill>
                  <a:srgbClr val="C00000"/>
                </a:solidFill>
              </a:rPr>
              <a:t>数据对象</a:t>
            </a:r>
            <a:r>
              <a:rPr lang="zh-CN" altLang="en-US" sz="2400" b="1" dirty="0">
                <a:solidFill>
                  <a:srgbClr val="000000"/>
                </a:solidFill>
              </a:rPr>
              <a:t>；</a:t>
            </a:r>
          </a:p>
          <a:p>
            <a:pPr>
              <a:lnSpc>
                <a:spcPct val="120000"/>
              </a:lnSpc>
              <a:spcBef>
                <a:spcPct val="20000"/>
              </a:spcBef>
            </a:pPr>
            <a:r>
              <a:rPr lang="zh-CN" altLang="en-US" sz="2400" b="1" dirty="0">
                <a:solidFill>
                  <a:srgbClr val="000000"/>
                </a:solidFill>
              </a:rPr>
              <a:t>                        </a:t>
            </a:r>
            <a:r>
              <a:rPr lang="en-US" altLang="zh-CN" sz="2400" b="1" dirty="0">
                <a:solidFill>
                  <a:srgbClr val="000000"/>
                </a:solidFill>
              </a:rPr>
              <a:t>S </a:t>
            </a:r>
            <a:r>
              <a:rPr lang="zh-CN" altLang="en-US" sz="2400" b="1" dirty="0">
                <a:solidFill>
                  <a:srgbClr val="000000"/>
                </a:solidFill>
              </a:rPr>
              <a:t>是</a:t>
            </a:r>
            <a:r>
              <a:rPr lang="en-US" altLang="zh-CN" sz="2400" b="1" dirty="0">
                <a:solidFill>
                  <a:srgbClr val="000000"/>
                </a:solidFill>
              </a:rPr>
              <a:t>D</a:t>
            </a:r>
            <a:r>
              <a:rPr lang="zh-CN" altLang="en-US" sz="2400" b="1" dirty="0">
                <a:solidFill>
                  <a:srgbClr val="000000"/>
                </a:solidFill>
              </a:rPr>
              <a:t>上的</a:t>
            </a:r>
            <a:r>
              <a:rPr lang="zh-CN" altLang="en-US" sz="2400" b="1" dirty="0">
                <a:solidFill>
                  <a:srgbClr val="C00000"/>
                </a:solidFill>
              </a:rPr>
              <a:t>关系集</a:t>
            </a:r>
            <a:r>
              <a:rPr lang="zh-CN" altLang="en-US" sz="2400" b="1" dirty="0">
                <a:solidFill>
                  <a:srgbClr val="000000"/>
                </a:solidFill>
              </a:rPr>
              <a:t>；</a:t>
            </a:r>
          </a:p>
          <a:p>
            <a:pPr>
              <a:lnSpc>
                <a:spcPct val="120000"/>
              </a:lnSpc>
              <a:spcBef>
                <a:spcPct val="20000"/>
              </a:spcBef>
            </a:pPr>
            <a:r>
              <a:rPr lang="en-US" altLang="zh-CN" sz="2400" b="1" dirty="0">
                <a:solidFill>
                  <a:srgbClr val="000000"/>
                </a:solidFill>
              </a:rPr>
              <a:t>                        P </a:t>
            </a:r>
            <a:r>
              <a:rPr lang="zh-CN" altLang="en-US" sz="2400" b="1" dirty="0">
                <a:solidFill>
                  <a:srgbClr val="000000"/>
                </a:solidFill>
              </a:rPr>
              <a:t>是对</a:t>
            </a:r>
            <a:r>
              <a:rPr lang="en-US" altLang="zh-CN" sz="2400" b="1" dirty="0">
                <a:solidFill>
                  <a:srgbClr val="000000"/>
                </a:solidFill>
              </a:rPr>
              <a:t>D</a:t>
            </a:r>
            <a:r>
              <a:rPr lang="zh-CN" altLang="en-US" sz="2400" b="1" dirty="0">
                <a:solidFill>
                  <a:srgbClr val="000000"/>
                </a:solidFill>
              </a:rPr>
              <a:t>的</a:t>
            </a:r>
            <a:r>
              <a:rPr lang="zh-CN" altLang="en-US" sz="2400" b="1" dirty="0">
                <a:solidFill>
                  <a:srgbClr val="C00000"/>
                </a:solidFill>
              </a:rPr>
              <a:t>基本操作集</a:t>
            </a:r>
            <a:r>
              <a:rPr lang="zh-CN" altLang="en-US" sz="2400" b="1" dirty="0">
                <a:solidFill>
                  <a:srgbClr val="000000"/>
                </a:solidFill>
              </a:rPr>
              <a:t>。 </a:t>
            </a:r>
          </a:p>
        </p:txBody>
      </p:sp>
      <p:sp>
        <p:nvSpPr>
          <p:cNvPr id="6" name="文本框 5">
            <a:extLst>
              <a:ext uri="{FF2B5EF4-FFF2-40B4-BE49-F238E27FC236}">
                <a16:creationId xmlns:a16="http://schemas.microsoft.com/office/drawing/2014/main" id="{9816753D-5350-A521-7AF9-F02C451A59A9}"/>
              </a:ext>
            </a:extLst>
          </p:cNvPr>
          <p:cNvSpPr txBox="1"/>
          <p:nvPr/>
        </p:nvSpPr>
        <p:spPr>
          <a:xfrm>
            <a:off x="527479" y="2916403"/>
            <a:ext cx="5622613" cy="2265941"/>
          </a:xfrm>
          <a:prstGeom prst="rect">
            <a:avLst/>
          </a:prstGeom>
          <a:noFill/>
        </p:spPr>
        <p:txBody>
          <a:bodyPr wrap="square">
            <a:spAutoFit/>
          </a:bodyPr>
          <a:lstStyle/>
          <a:p>
            <a:pPr>
              <a:lnSpc>
                <a:spcPct val="120000"/>
              </a:lnSpc>
            </a:pPr>
            <a:r>
              <a:rPr lang="zh-CN" altLang="zh-CN" sz="2400" b="1" dirty="0">
                <a:effectLst/>
                <a:latin typeface="Times New Roman" panose="02020603050405020304" pitchFamily="18" charset="0"/>
                <a:ea typeface="宋体" panose="02010600030101010101" pitchFamily="2" charset="-122"/>
                <a:cs typeface="Times New Roman" panose="02020603050405020304" pitchFamily="18" charset="0"/>
              </a:rPr>
              <a:t>抽象数据类型的定义仅取决于它的一组逻辑特性，而与其在计算机内部如何表示和实现无关，即不论其内部结构如何变化，只要它的数学特性不变，都不影响其外部的使用。</a:t>
            </a:r>
            <a:endParaRPr lang="zh-CN" altLang="en-US" sz="2400" b="1" dirty="0"/>
          </a:p>
        </p:txBody>
      </p:sp>
      <p:sp>
        <p:nvSpPr>
          <p:cNvPr id="8" name="文本框 7">
            <a:extLst>
              <a:ext uri="{FF2B5EF4-FFF2-40B4-BE49-F238E27FC236}">
                <a16:creationId xmlns:a16="http://schemas.microsoft.com/office/drawing/2014/main" id="{C38644A1-BBE4-B915-6003-B3741F49A5CE}"/>
              </a:ext>
            </a:extLst>
          </p:cNvPr>
          <p:cNvSpPr txBox="1"/>
          <p:nvPr/>
        </p:nvSpPr>
        <p:spPr>
          <a:xfrm>
            <a:off x="570118" y="5387147"/>
            <a:ext cx="5308338" cy="911596"/>
          </a:xfrm>
          <a:prstGeom prst="rect">
            <a:avLst/>
          </a:prstGeom>
          <a:noFill/>
        </p:spPr>
        <p:txBody>
          <a:bodyPr wrap="square">
            <a:spAutoFit/>
          </a:bodyPr>
          <a:lstStyle/>
          <a:p>
            <a:pPr algn="just">
              <a:lnSpc>
                <a:spcPct val="115000"/>
              </a:lnSpc>
              <a:buNone/>
            </a:pP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一个含抽象数据类型的软件模块通常应包含</a:t>
            </a:r>
            <a:r>
              <a:rPr lang="zh-CN" altLang="zh-CN" sz="24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定义</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4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表示</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和</a:t>
            </a:r>
            <a:r>
              <a:rPr lang="zh-CN" altLang="zh-CN" sz="24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实现</a:t>
            </a: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3</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个部分。</a:t>
            </a:r>
            <a:endParaRPr lang="zh-CN" alt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0" name="文本框 9">
            <a:extLst>
              <a:ext uri="{FF2B5EF4-FFF2-40B4-BE49-F238E27FC236}">
                <a16:creationId xmlns:a16="http://schemas.microsoft.com/office/drawing/2014/main" id="{0CBE583E-E8AF-8EAC-104A-30991CB13566}"/>
              </a:ext>
            </a:extLst>
          </p:cNvPr>
          <p:cNvSpPr txBox="1"/>
          <p:nvPr/>
        </p:nvSpPr>
        <p:spPr>
          <a:xfrm>
            <a:off x="6443440" y="849598"/>
            <a:ext cx="5178442" cy="5689314"/>
          </a:xfrm>
          <a:prstGeom prst="rect">
            <a:avLst/>
          </a:prstGeom>
          <a:noFill/>
        </p:spPr>
        <p:txBody>
          <a:bodyPr wrap="square">
            <a:spAutoFit/>
          </a:bodyPr>
          <a:lstStyle/>
          <a:p>
            <a:pPr indent="266700" algn="just">
              <a:lnSpc>
                <a:spcPct val="120000"/>
              </a:lnSpc>
              <a:buNone/>
            </a:pPr>
            <a:r>
              <a:rPr lang="zh-CN" altLang="zh-CN" sz="2000" kern="100" dirty="0">
                <a:latin typeface="Times New Roman" panose="02020603050405020304" pitchFamily="18" charset="0"/>
                <a:ea typeface="宋体" panose="02010600030101010101" pitchFamily="2" charset="-122"/>
                <a:cs typeface="Times New Roman" panose="02020603050405020304" pitchFamily="18" charset="0"/>
              </a:rPr>
              <a:t>按值的不同特性，</a:t>
            </a:r>
            <a:r>
              <a:rPr lang="zh-CN" altLang="en-US" sz="2000" b="1" kern="100" dirty="0">
                <a:solidFill>
                  <a:schemeClr val="accent4">
                    <a:lumMod val="50000"/>
                  </a:schemeClr>
                </a:solidFill>
                <a:latin typeface="Times New Roman" panose="02020603050405020304" pitchFamily="18" charset="0"/>
                <a:ea typeface="宋体" panose="02010600030101010101" pitchFamily="2" charset="-122"/>
                <a:cs typeface="Times New Roman" panose="02020603050405020304" pitchFamily="18" charset="0"/>
              </a:rPr>
              <a:t>抽象数据类型</a:t>
            </a:r>
            <a:r>
              <a:rPr lang="zh-CN" altLang="zh-CN" sz="2000" kern="100" dirty="0">
                <a:latin typeface="Times New Roman" panose="02020603050405020304" pitchFamily="18" charset="0"/>
                <a:ea typeface="宋体" panose="02010600030101010101" pitchFamily="2" charset="-122"/>
                <a:cs typeface="Times New Roman" panose="02020603050405020304" pitchFamily="18" charset="0"/>
              </a:rPr>
              <a:t>可细分为下列</a:t>
            </a:r>
            <a:r>
              <a:rPr lang="en-US" altLang="zh-CN" sz="2000" kern="100" dirty="0">
                <a:latin typeface="Times New Roman" panose="02020603050405020304" pitchFamily="18" charset="0"/>
                <a:ea typeface="宋体" panose="02010600030101010101" pitchFamily="2" charset="-122"/>
                <a:cs typeface="Times New Roman" panose="02020603050405020304" pitchFamily="18" charset="0"/>
              </a:rPr>
              <a:t>3</a:t>
            </a:r>
            <a:r>
              <a:rPr lang="zh-CN" altLang="zh-CN" sz="2000" kern="100" dirty="0">
                <a:latin typeface="Times New Roman" panose="02020603050405020304" pitchFamily="18" charset="0"/>
                <a:ea typeface="宋体" panose="02010600030101010101" pitchFamily="2" charset="-122"/>
                <a:cs typeface="Times New Roman" panose="02020603050405020304" pitchFamily="18" charset="0"/>
              </a:rPr>
              <a:t>种类型：</a:t>
            </a:r>
            <a:endParaRPr lang="en-US" altLang="zh-CN" sz="2000" kern="100" dirty="0">
              <a:latin typeface="Times New Roman" panose="02020603050405020304" pitchFamily="18" charset="0"/>
              <a:ea typeface="宋体" panose="02010600030101010101" pitchFamily="2" charset="-122"/>
              <a:cs typeface="Times New Roman" panose="02020603050405020304" pitchFamily="18" charset="0"/>
            </a:endParaRPr>
          </a:p>
          <a:p>
            <a:pPr indent="266700" algn="just">
              <a:lnSpc>
                <a:spcPct val="120000"/>
              </a:lnSpc>
              <a:spcBef>
                <a:spcPts val="1200"/>
              </a:spcBef>
              <a:buNone/>
            </a:pPr>
            <a:r>
              <a:rPr lang="zh-CN" altLang="zh-CN" sz="2000" kern="100" dirty="0">
                <a:effectLst/>
                <a:latin typeface="Times New Roman" panose="02020603050405020304" pitchFamily="18" charset="0"/>
                <a:ea typeface="黑体" panose="02010609060101010101" pitchFamily="49" charset="-122"/>
                <a:cs typeface="Times New Roman" panose="02020603050405020304" pitchFamily="18" charset="0"/>
              </a:rPr>
              <a:t>原子类型</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atomic data type</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000" kern="100" dirty="0">
                <a:effectLst/>
                <a:latin typeface="等线" panose="02010600030101010101" pitchFamily="2" charset="-122"/>
                <a:ea typeface="Times New Roman" panose="02020603050405020304" pitchFamily="18" charset="0"/>
                <a:cs typeface="Times New Roman" panose="02020603050405020304" pitchFamily="18" charset="0"/>
              </a:rPr>
              <a:t> </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属原子类型的变量的值是不可分解的。这类抽象数据类型较少，因为一般情况下，已有的固有数据类型足以满足需求。但有时也有必要定义新的原子数据类型，例如数位为</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100</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的整数。</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20000"/>
              </a:lnSpc>
              <a:spcBef>
                <a:spcPts val="1200"/>
              </a:spcBef>
              <a:buNone/>
            </a:pPr>
            <a:r>
              <a:rPr lang="zh-CN" altLang="zh-CN" sz="2000" kern="100" dirty="0">
                <a:effectLst/>
                <a:latin typeface="Times New Roman" panose="02020603050405020304" pitchFamily="18" charset="0"/>
                <a:ea typeface="黑体" panose="02010609060101010101" pitchFamily="49" charset="-122"/>
                <a:cs typeface="Times New Roman" panose="02020603050405020304" pitchFamily="18" charset="0"/>
              </a:rPr>
              <a:t>固定聚合类型</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fixed-aggregate data type</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000" kern="100" dirty="0">
                <a:effectLst/>
                <a:latin typeface="等线" panose="02010600030101010101" pitchFamily="2" charset="-122"/>
                <a:ea typeface="Times New Roman" panose="02020603050405020304" pitchFamily="18" charset="0"/>
                <a:cs typeface="Times New Roman" panose="02020603050405020304" pitchFamily="18" charset="0"/>
              </a:rPr>
              <a:t> </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属该类型的变量的值由确定数目的成分按某种结构组成。例如，复数是由两个实数依确定的次序关系构成。</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20000"/>
              </a:lnSpc>
              <a:spcBef>
                <a:spcPts val="1200"/>
              </a:spcBef>
              <a:buNone/>
            </a:pPr>
            <a:r>
              <a:rPr lang="en-US" altLang="zh-CN" sz="2000" dirty="0">
                <a:effectLst/>
                <a:latin typeface="Times New Roman" panose="02020603050405020304" pitchFamily="18" charset="0"/>
                <a:ea typeface="黑体" panose="02010609060101010101" pitchFamily="49" charset="-122"/>
                <a:cs typeface="Times New Roman" panose="02020603050405020304" pitchFamily="18" charset="0"/>
              </a:rPr>
              <a:t>    </a:t>
            </a:r>
            <a:r>
              <a:rPr lang="zh-CN" altLang="zh-CN" sz="2000" dirty="0">
                <a:effectLst/>
                <a:latin typeface="Times New Roman" panose="02020603050405020304" pitchFamily="18" charset="0"/>
                <a:ea typeface="黑体" panose="02010609060101010101" pitchFamily="49" charset="-122"/>
                <a:cs typeface="Times New Roman" panose="02020603050405020304" pitchFamily="18" charset="0"/>
              </a:rPr>
              <a:t>可变聚合类型</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effectLst/>
                <a:latin typeface="Times New Roman" panose="02020603050405020304" pitchFamily="18" charset="0"/>
                <a:ea typeface="宋体" panose="02010600030101010101" pitchFamily="2" charset="-122"/>
              </a:rPr>
              <a:t>variable-aggregate data type</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000" dirty="0">
                <a:effectLst/>
                <a:ea typeface="Times New Roman" panose="02020603050405020304" pitchFamily="18" charset="0"/>
              </a:rPr>
              <a:t> </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和固定聚合类型相比较，构成可变聚合类型</a:t>
            </a:r>
            <a:r>
              <a:rPr lang="en-US" altLang="zh-CN" sz="2000" dirty="0">
                <a:effectLst/>
                <a:latin typeface="Times New Roman" panose="02020603050405020304" pitchFamily="18" charset="0"/>
                <a:ea typeface="宋体" panose="02010600030101010101" pitchFamily="2" charset="-122"/>
              </a:rPr>
              <a:t>“</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值</a:t>
            </a:r>
            <a:r>
              <a:rPr lang="en-US" altLang="zh-CN" sz="2000" dirty="0">
                <a:effectLst/>
                <a:latin typeface="Times New Roman" panose="02020603050405020304" pitchFamily="18" charset="0"/>
                <a:ea typeface="宋体" panose="02010600030101010101" pitchFamily="2" charset="-122"/>
              </a:rPr>
              <a:t>”</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的成分的数目不确定。</a:t>
            </a:r>
            <a:endParaRPr lang="zh-CN" altLang="en-US" sz="2000" dirty="0"/>
          </a:p>
        </p:txBody>
      </p:sp>
    </p:spTree>
    <p:extLst>
      <p:ext uri="{BB962C8B-B14F-4D97-AF65-F5344CB8AC3E}">
        <p14:creationId xmlns:p14="http://schemas.microsoft.com/office/powerpoint/2010/main" val="4225494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animEffect transition="in" filter="fade">
                                      <p:cBhvr>
                                        <p:cTn id="21" dur="1000"/>
                                        <p:tgtEl>
                                          <p:spTgt spid="10">
                                            <p:txEl>
                                              <p:pRg st="0" end="0"/>
                                            </p:txEl>
                                          </p:spTgt>
                                        </p:tgtEl>
                                      </p:cBhvr>
                                    </p:animEffect>
                                    <p:anim calcmode="lin" valueType="num">
                                      <p:cBhvr>
                                        <p:cTn id="22"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0" end="0"/>
                                            </p:txEl>
                                          </p:spTgt>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10">
                                            <p:txEl>
                                              <p:pRg st="1" end="1"/>
                                            </p:txEl>
                                          </p:spTgt>
                                        </p:tgtEl>
                                        <p:attrNameLst>
                                          <p:attrName>style.visibility</p:attrName>
                                        </p:attrNameLst>
                                      </p:cBhvr>
                                      <p:to>
                                        <p:strVal val="visible"/>
                                      </p:to>
                                    </p:set>
                                    <p:animEffect transition="in" filter="fade">
                                      <p:cBhvr>
                                        <p:cTn id="26" dur="1000"/>
                                        <p:tgtEl>
                                          <p:spTgt spid="10">
                                            <p:txEl>
                                              <p:pRg st="1" end="1"/>
                                            </p:txEl>
                                          </p:spTgt>
                                        </p:tgtEl>
                                      </p:cBhvr>
                                    </p:animEffect>
                                    <p:anim calcmode="lin" valueType="num">
                                      <p:cBhvr>
                                        <p:cTn id="27"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28"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10">
                                            <p:txEl>
                                              <p:pRg st="2" end="2"/>
                                            </p:txEl>
                                          </p:spTgt>
                                        </p:tgtEl>
                                        <p:attrNameLst>
                                          <p:attrName>style.visibility</p:attrName>
                                        </p:attrNameLst>
                                      </p:cBhvr>
                                      <p:to>
                                        <p:strVal val="visible"/>
                                      </p:to>
                                    </p:set>
                                    <p:animEffect transition="in" filter="fade">
                                      <p:cBhvr>
                                        <p:cTn id="33" dur="1000"/>
                                        <p:tgtEl>
                                          <p:spTgt spid="10">
                                            <p:txEl>
                                              <p:pRg st="2" end="2"/>
                                            </p:txEl>
                                          </p:spTgt>
                                        </p:tgtEl>
                                      </p:cBhvr>
                                    </p:animEffect>
                                    <p:anim calcmode="lin" valueType="num">
                                      <p:cBhvr>
                                        <p:cTn id="34"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35"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10">
                                            <p:txEl>
                                              <p:pRg st="3" end="3"/>
                                            </p:txEl>
                                          </p:spTgt>
                                        </p:tgtEl>
                                        <p:attrNameLst>
                                          <p:attrName>style.visibility</p:attrName>
                                        </p:attrNameLst>
                                      </p:cBhvr>
                                      <p:to>
                                        <p:strVal val="visible"/>
                                      </p:to>
                                    </p:set>
                                    <p:animEffect transition="in" filter="fade">
                                      <p:cBhvr>
                                        <p:cTn id="40" dur="1000"/>
                                        <p:tgtEl>
                                          <p:spTgt spid="10">
                                            <p:txEl>
                                              <p:pRg st="3" end="3"/>
                                            </p:txEl>
                                          </p:spTgt>
                                        </p:tgtEl>
                                      </p:cBhvr>
                                    </p:animEffect>
                                    <p:anim calcmode="lin" valueType="num">
                                      <p:cBhvr>
                                        <p:cTn id="41"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42"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0"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A6E10DD2-EB91-9BDE-E6C1-36A2769B2D12}"/>
              </a:ext>
            </a:extLst>
          </p:cNvPr>
          <p:cNvSpPr txBox="1"/>
          <p:nvPr/>
        </p:nvSpPr>
        <p:spPr>
          <a:xfrm>
            <a:off x="986652" y="505447"/>
            <a:ext cx="9952984" cy="4058290"/>
          </a:xfrm>
          <a:prstGeom prst="rect">
            <a:avLst/>
          </a:prstGeom>
          <a:noFill/>
        </p:spPr>
        <p:txBody>
          <a:bodyPr wrap="square">
            <a:spAutoFit/>
          </a:bodyPr>
          <a:lstStyle/>
          <a:p>
            <a:pPr algn="just">
              <a:lnSpc>
                <a:spcPct val="120000"/>
              </a:lnSpc>
              <a:buNone/>
            </a:pP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本书采用以下格式定义</a:t>
            </a:r>
            <a:r>
              <a:rPr lang="zh-CN" altLang="zh-CN" sz="24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抽象数据类型</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p>
            <a:pPr indent="228600" algn="just">
              <a:lnSpc>
                <a:spcPct val="120000"/>
              </a:lnSpc>
              <a:spcBef>
                <a:spcPts val="600"/>
              </a:spcBef>
              <a:buNone/>
            </a:pPr>
            <a:r>
              <a:rPr lang="en-US" altLang="zh-CN" sz="2000" kern="100" dirty="0">
                <a:effectLst/>
                <a:ea typeface="等线" panose="02010600030101010101" pitchFamily="2" charset="-122"/>
                <a:cs typeface="Times New Roman" panose="02020603050405020304" pitchFamily="18" charset="0"/>
              </a:rPr>
              <a:t>ADT</a:t>
            </a:r>
            <a:r>
              <a:rPr lang="zh-CN" altLang="zh-CN" sz="2000" kern="100" dirty="0">
                <a:effectLst/>
                <a:ea typeface="黑体" panose="02010609060101010101" pitchFamily="49" charset="-122"/>
                <a:cs typeface="Times New Roman" panose="02020603050405020304" pitchFamily="18" charset="0"/>
              </a:rPr>
              <a:t>抽象数据类型名</a:t>
            </a:r>
            <a:r>
              <a:rPr lang="en-US" altLang="zh-CN" sz="2000" kern="100" dirty="0">
                <a:effectLst/>
                <a:ea typeface="黑体" panose="02010609060101010101" pitchFamily="49" charset="-122"/>
                <a:cs typeface="Times New Roman" panose="02020603050405020304" pitchFamily="18" charset="0"/>
              </a:rPr>
              <a:t> {</a:t>
            </a:r>
            <a:endParaRPr lang="zh-CN" altLang="zh-CN" sz="2000" kern="100" dirty="0">
              <a:effectLst/>
              <a:ea typeface="等线" panose="02010600030101010101" pitchFamily="2" charset="-122"/>
              <a:cs typeface="Times New Roman" panose="02020603050405020304" pitchFamily="18" charset="0"/>
            </a:endParaRPr>
          </a:p>
          <a:p>
            <a:pPr indent="457200" algn="just">
              <a:lnSpc>
                <a:spcPct val="120000"/>
              </a:lnSpc>
              <a:buNone/>
            </a:pPr>
            <a:r>
              <a:rPr lang="zh-CN" altLang="zh-CN" sz="2000" kern="100" dirty="0">
                <a:effectLst/>
                <a:ea typeface="黑体" panose="02010609060101010101" pitchFamily="49" charset="-122"/>
                <a:cs typeface="Times New Roman" panose="02020603050405020304" pitchFamily="18" charset="0"/>
              </a:rPr>
              <a:t>数据对象</a:t>
            </a:r>
            <a:r>
              <a:rPr lang="zh-CN" altLang="zh-CN" sz="2000" kern="100" dirty="0">
                <a:effectLst/>
                <a:ea typeface="宋体" panose="02010600030101010101" pitchFamily="2" charset="-122"/>
                <a:cs typeface="Times New Roman" panose="02020603050405020304" pitchFamily="18" charset="0"/>
              </a:rPr>
              <a:t>：</a:t>
            </a:r>
            <a:r>
              <a:rPr lang="en-US" altLang="zh-CN" sz="2000" kern="100" dirty="0">
                <a:effectLst/>
                <a:ea typeface="宋体" panose="02010600030101010101" pitchFamily="2" charset="-122"/>
                <a:cs typeface="Times New Roman" panose="02020603050405020304" pitchFamily="18" charset="0"/>
              </a:rPr>
              <a:t>&lt;</a:t>
            </a:r>
            <a:r>
              <a:rPr lang="zh-CN" altLang="zh-CN" sz="2000" kern="100" dirty="0">
                <a:effectLst/>
                <a:ea typeface="宋体" panose="02010600030101010101" pitchFamily="2" charset="-122"/>
                <a:cs typeface="Times New Roman" panose="02020603050405020304" pitchFamily="18" charset="0"/>
              </a:rPr>
              <a:t>数据对象的定义</a:t>
            </a:r>
            <a:r>
              <a:rPr lang="en-US" altLang="zh-CN" sz="2000" kern="100" dirty="0">
                <a:effectLst/>
                <a:ea typeface="宋体" panose="02010600030101010101" pitchFamily="2" charset="-122"/>
                <a:cs typeface="Times New Roman" panose="02020603050405020304" pitchFamily="18" charset="0"/>
              </a:rPr>
              <a:t>&gt;</a:t>
            </a:r>
            <a:endParaRPr lang="zh-CN" altLang="zh-CN" sz="2000" kern="100" dirty="0">
              <a:effectLst/>
              <a:ea typeface="等线" panose="02010600030101010101" pitchFamily="2" charset="-122"/>
              <a:cs typeface="Times New Roman" panose="02020603050405020304" pitchFamily="18" charset="0"/>
            </a:endParaRPr>
          </a:p>
          <a:p>
            <a:pPr indent="457200" algn="just">
              <a:lnSpc>
                <a:spcPct val="120000"/>
              </a:lnSpc>
              <a:buNone/>
            </a:pPr>
            <a:r>
              <a:rPr lang="zh-CN" altLang="zh-CN" sz="2000" kern="100" dirty="0">
                <a:effectLst/>
                <a:ea typeface="黑体" panose="02010609060101010101" pitchFamily="49" charset="-122"/>
                <a:cs typeface="Times New Roman" panose="02020603050405020304" pitchFamily="18" charset="0"/>
              </a:rPr>
              <a:t>数据关系</a:t>
            </a:r>
            <a:r>
              <a:rPr lang="zh-CN" altLang="zh-CN" sz="2000" kern="100" dirty="0">
                <a:effectLst/>
                <a:ea typeface="宋体" panose="02010600030101010101" pitchFamily="2" charset="-122"/>
                <a:cs typeface="Times New Roman" panose="02020603050405020304" pitchFamily="18" charset="0"/>
              </a:rPr>
              <a:t>：</a:t>
            </a:r>
            <a:r>
              <a:rPr lang="en-US" altLang="zh-CN" sz="2000" kern="100" dirty="0">
                <a:effectLst/>
                <a:ea typeface="宋体" panose="02010600030101010101" pitchFamily="2" charset="-122"/>
                <a:cs typeface="Times New Roman" panose="02020603050405020304" pitchFamily="18" charset="0"/>
              </a:rPr>
              <a:t>&lt;</a:t>
            </a:r>
            <a:r>
              <a:rPr lang="zh-CN" altLang="zh-CN" sz="2000" kern="100" dirty="0">
                <a:effectLst/>
                <a:ea typeface="宋体" panose="02010600030101010101" pitchFamily="2" charset="-122"/>
                <a:cs typeface="Times New Roman" panose="02020603050405020304" pitchFamily="18" charset="0"/>
              </a:rPr>
              <a:t>数据关系的定义</a:t>
            </a:r>
            <a:r>
              <a:rPr lang="en-US" altLang="zh-CN" sz="2000" kern="100" dirty="0">
                <a:effectLst/>
                <a:ea typeface="宋体" panose="02010600030101010101" pitchFamily="2" charset="-122"/>
                <a:cs typeface="Times New Roman" panose="02020603050405020304" pitchFamily="18" charset="0"/>
              </a:rPr>
              <a:t>&gt;</a:t>
            </a:r>
            <a:endParaRPr lang="zh-CN" altLang="zh-CN" sz="2000" kern="100" dirty="0">
              <a:effectLst/>
              <a:ea typeface="等线" panose="02010600030101010101" pitchFamily="2" charset="-122"/>
              <a:cs typeface="Times New Roman" panose="02020603050405020304" pitchFamily="18" charset="0"/>
            </a:endParaRPr>
          </a:p>
          <a:p>
            <a:pPr indent="457200" algn="just">
              <a:lnSpc>
                <a:spcPct val="120000"/>
              </a:lnSpc>
              <a:buNone/>
            </a:pPr>
            <a:r>
              <a:rPr lang="zh-CN" altLang="zh-CN" sz="2000" kern="100" dirty="0">
                <a:effectLst/>
                <a:ea typeface="黑体" panose="02010609060101010101" pitchFamily="49" charset="-122"/>
                <a:cs typeface="Times New Roman" panose="02020603050405020304" pitchFamily="18" charset="0"/>
              </a:rPr>
              <a:t>基本操作</a:t>
            </a:r>
            <a:r>
              <a:rPr lang="zh-CN" altLang="zh-CN" sz="2000" kern="100" dirty="0">
                <a:effectLst/>
                <a:ea typeface="宋体" panose="02010600030101010101" pitchFamily="2" charset="-122"/>
                <a:cs typeface="Times New Roman" panose="02020603050405020304" pitchFamily="18" charset="0"/>
              </a:rPr>
              <a:t>：</a:t>
            </a:r>
            <a:r>
              <a:rPr lang="en-US" altLang="zh-CN" sz="2000" kern="100" dirty="0">
                <a:effectLst/>
                <a:ea typeface="宋体" panose="02010600030101010101" pitchFamily="2" charset="-122"/>
                <a:cs typeface="Times New Roman" panose="02020603050405020304" pitchFamily="18" charset="0"/>
              </a:rPr>
              <a:t>&lt;</a:t>
            </a:r>
            <a:r>
              <a:rPr lang="zh-CN" altLang="zh-CN" sz="2000" kern="100" dirty="0">
                <a:effectLst/>
                <a:ea typeface="宋体" panose="02010600030101010101" pitchFamily="2" charset="-122"/>
                <a:cs typeface="Times New Roman" panose="02020603050405020304" pitchFamily="18" charset="0"/>
              </a:rPr>
              <a:t>基本操作的定义</a:t>
            </a:r>
            <a:r>
              <a:rPr lang="en-US" altLang="zh-CN" sz="2000" kern="100" dirty="0">
                <a:effectLst/>
                <a:ea typeface="宋体" panose="02010600030101010101" pitchFamily="2" charset="-122"/>
                <a:cs typeface="Times New Roman" panose="02020603050405020304" pitchFamily="18" charset="0"/>
              </a:rPr>
              <a:t>&gt;</a:t>
            </a:r>
            <a:endParaRPr lang="zh-CN" altLang="zh-CN" sz="2000" kern="100" dirty="0">
              <a:effectLst/>
              <a:ea typeface="等线" panose="02010600030101010101" pitchFamily="2" charset="-122"/>
              <a:cs typeface="Times New Roman" panose="02020603050405020304" pitchFamily="18" charset="0"/>
            </a:endParaRPr>
          </a:p>
          <a:p>
            <a:pPr indent="228600" algn="just">
              <a:lnSpc>
                <a:spcPct val="120000"/>
              </a:lnSpc>
              <a:spcAft>
                <a:spcPts val="600"/>
              </a:spcAft>
              <a:buNone/>
            </a:pPr>
            <a:r>
              <a:rPr lang="en-US" altLang="zh-CN" sz="2000" kern="100" dirty="0">
                <a:effectLst/>
                <a:ea typeface="等线" panose="02010600030101010101" pitchFamily="2" charset="-122"/>
                <a:cs typeface="Times New Roman" panose="02020603050405020304" pitchFamily="18" charset="0"/>
              </a:rPr>
              <a:t>}ADT</a:t>
            </a:r>
            <a:r>
              <a:rPr lang="zh-CN" altLang="zh-CN" sz="2000" kern="100" dirty="0">
                <a:effectLst/>
                <a:ea typeface="黑体" panose="02010609060101010101" pitchFamily="49" charset="-122"/>
                <a:cs typeface="Times New Roman" panose="02020603050405020304" pitchFamily="18" charset="0"/>
              </a:rPr>
              <a:t>抽象数据类型名</a:t>
            </a:r>
            <a:endParaRPr lang="zh-CN" altLang="zh-CN" sz="2000" kern="100" dirty="0">
              <a:effectLst/>
              <a:ea typeface="等线" panose="02010600030101010101" pitchFamily="2" charset="-122"/>
              <a:cs typeface="Times New Roman" panose="02020603050405020304" pitchFamily="18" charset="0"/>
            </a:endParaRPr>
          </a:p>
          <a:p>
            <a:pPr algn="just">
              <a:lnSpc>
                <a:spcPct val="120000"/>
              </a:lnSpc>
              <a:buNone/>
            </a:pPr>
            <a:r>
              <a:rPr lang="zh-CN" altLang="zh-CN" sz="2400" b="1" kern="100" dirty="0">
                <a:effectLst/>
                <a:latin typeface="等线" panose="02010600030101010101" pitchFamily="2" charset="-122"/>
                <a:ea typeface="宋体" panose="02010600030101010101" pitchFamily="2" charset="-122"/>
                <a:cs typeface="Times New Roman" panose="02020603050405020304" pitchFamily="18" charset="0"/>
              </a:rPr>
              <a:t>其中，数据对象和数据关系的定义用伪码描述，基本操作的定义格式为</a:t>
            </a:r>
            <a:endParaRPr lang="zh-CN" alt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p>
            <a:pPr marL="66675" indent="228600" algn="just">
              <a:lnSpc>
                <a:spcPct val="120000"/>
              </a:lnSpc>
              <a:buNone/>
            </a:pPr>
            <a:r>
              <a:rPr lang="zh-CN" altLang="zh-CN" sz="2000" kern="100" dirty="0">
                <a:effectLst/>
                <a:latin typeface="黑体" panose="02010609060101010101" pitchFamily="49" charset="-122"/>
                <a:ea typeface="黑体" panose="02010609060101010101" pitchFamily="49" charset="-122"/>
                <a:cs typeface="Times New Roman" panose="02020603050405020304" pitchFamily="18" charset="0"/>
              </a:rPr>
              <a:t>基本操作名</a:t>
            </a:r>
            <a:r>
              <a:rPr lang="zh-CN" altLang="zh-CN" sz="2000" kern="100" dirty="0">
                <a:effectLst/>
                <a:latin typeface="等线" panose="02010600030101010101" pitchFamily="2" charset="-122"/>
                <a:ea typeface="宋体" panose="02010600030101010101" pitchFamily="2" charset="-122"/>
                <a:cs typeface="Times New Roman" panose="02020603050405020304" pitchFamily="18" charset="0"/>
              </a:rPr>
              <a:t>（参数表）</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indent="457200" algn="just">
              <a:lnSpc>
                <a:spcPct val="120000"/>
              </a:lnSpc>
              <a:buNone/>
            </a:pPr>
            <a:r>
              <a:rPr lang="zh-CN" altLang="zh-CN" sz="2000" kern="100" dirty="0">
                <a:effectLst/>
                <a:latin typeface="黑体" panose="02010609060101010101" pitchFamily="49" charset="-122"/>
                <a:ea typeface="黑体" panose="02010609060101010101" pitchFamily="49" charset="-122"/>
                <a:cs typeface="Times New Roman" panose="02020603050405020304" pitchFamily="18" charset="0"/>
              </a:rPr>
              <a:t>初始条件</a:t>
            </a:r>
            <a:r>
              <a:rPr lang="zh-CN" altLang="zh-CN" sz="2000" kern="100" dirty="0">
                <a:effectLst/>
                <a:latin typeface="等线" panose="02010600030101010101" pitchFamily="2" charset="-122"/>
                <a:ea typeface="宋体" panose="02010600030101010101" pitchFamily="2" charset="-122"/>
                <a:cs typeface="Times New Roman" panose="02020603050405020304" pitchFamily="18" charset="0"/>
              </a:rPr>
              <a:t>：</a:t>
            </a:r>
            <a:r>
              <a:rPr lang="en-US" altLang="zh-CN" sz="2000" kern="100" dirty="0">
                <a:effectLst/>
                <a:latin typeface="等线" panose="02010600030101010101" pitchFamily="2" charset="-122"/>
                <a:ea typeface="宋体" panose="02010600030101010101" pitchFamily="2" charset="-122"/>
                <a:cs typeface="Times New Roman" panose="02020603050405020304" pitchFamily="18" charset="0"/>
              </a:rPr>
              <a:t>&lt;</a:t>
            </a:r>
            <a:r>
              <a:rPr lang="zh-CN" altLang="zh-CN" sz="2000" kern="100" dirty="0">
                <a:effectLst/>
                <a:latin typeface="等线" panose="02010600030101010101" pitchFamily="2" charset="-122"/>
                <a:ea typeface="宋体" panose="02010600030101010101" pitchFamily="2" charset="-122"/>
                <a:cs typeface="Times New Roman" panose="02020603050405020304" pitchFamily="18" charset="0"/>
              </a:rPr>
              <a:t>初始条件描述</a:t>
            </a:r>
            <a:r>
              <a:rPr lang="en-US" altLang="zh-CN" sz="2000" kern="100" dirty="0">
                <a:effectLst/>
                <a:latin typeface="等线" panose="02010600030101010101" pitchFamily="2" charset="-122"/>
                <a:ea typeface="宋体" panose="02010600030101010101" pitchFamily="2" charset="-122"/>
                <a:cs typeface="Times New Roman" panose="02020603050405020304" pitchFamily="18" charset="0"/>
              </a:rPr>
              <a:t>&gt;</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indent="457200" algn="just">
              <a:lnSpc>
                <a:spcPct val="120000"/>
              </a:lnSpc>
              <a:spcAft>
                <a:spcPts val="600"/>
              </a:spcAft>
              <a:buNone/>
            </a:pPr>
            <a:r>
              <a:rPr lang="zh-CN" altLang="zh-CN" sz="2000" kern="100" dirty="0">
                <a:effectLst/>
                <a:latin typeface="黑体" panose="02010609060101010101" pitchFamily="49" charset="-122"/>
                <a:ea typeface="黑体" panose="02010609060101010101" pitchFamily="49" charset="-122"/>
                <a:cs typeface="Times New Roman" panose="02020603050405020304" pitchFamily="18" charset="0"/>
              </a:rPr>
              <a:t>操作结果</a:t>
            </a:r>
            <a:r>
              <a:rPr lang="zh-CN" altLang="zh-CN" sz="2000" kern="100" dirty="0">
                <a:effectLst/>
                <a:latin typeface="等线" panose="02010600030101010101" pitchFamily="2" charset="-122"/>
                <a:ea typeface="宋体" panose="02010600030101010101" pitchFamily="2" charset="-122"/>
                <a:cs typeface="Times New Roman" panose="02020603050405020304" pitchFamily="18" charset="0"/>
              </a:rPr>
              <a:t>：</a:t>
            </a:r>
            <a:r>
              <a:rPr lang="en-US" altLang="zh-CN" sz="2000" kern="100" dirty="0">
                <a:effectLst/>
                <a:latin typeface="等线" panose="02010600030101010101" pitchFamily="2" charset="-122"/>
                <a:ea typeface="宋体" panose="02010600030101010101" pitchFamily="2" charset="-122"/>
                <a:cs typeface="Times New Roman" panose="02020603050405020304" pitchFamily="18" charset="0"/>
              </a:rPr>
              <a:t>&lt;</a:t>
            </a:r>
            <a:r>
              <a:rPr lang="zh-CN" altLang="zh-CN" sz="2000" kern="100" dirty="0">
                <a:effectLst/>
                <a:latin typeface="等线" panose="02010600030101010101" pitchFamily="2" charset="-122"/>
                <a:ea typeface="宋体" panose="02010600030101010101" pitchFamily="2" charset="-122"/>
                <a:cs typeface="Times New Roman" panose="02020603050405020304" pitchFamily="18" charset="0"/>
              </a:rPr>
              <a:t>操作结果描述</a:t>
            </a:r>
            <a:r>
              <a:rPr lang="en-US" altLang="zh-CN" sz="2000" kern="100" dirty="0">
                <a:effectLst/>
                <a:latin typeface="等线" panose="02010600030101010101" pitchFamily="2" charset="-122"/>
                <a:ea typeface="宋体" panose="02010600030101010101" pitchFamily="2" charset="-122"/>
                <a:cs typeface="Times New Roman" panose="02020603050405020304" pitchFamily="18" charset="0"/>
              </a:rPr>
              <a:t>&gt;</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5" name="文本框 4">
            <a:extLst>
              <a:ext uri="{FF2B5EF4-FFF2-40B4-BE49-F238E27FC236}">
                <a16:creationId xmlns:a16="http://schemas.microsoft.com/office/drawing/2014/main" id="{81BF68B2-7DEF-67AA-F14C-398445F28305}"/>
              </a:ext>
            </a:extLst>
          </p:cNvPr>
          <p:cNvSpPr txBox="1"/>
          <p:nvPr/>
        </p:nvSpPr>
        <p:spPr>
          <a:xfrm>
            <a:off x="986652" y="4768886"/>
            <a:ext cx="9071748" cy="1761060"/>
          </a:xfrm>
          <a:prstGeom prst="rect">
            <a:avLst/>
          </a:prstGeom>
          <a:noFill/>
        </p:spPr>
        <p:txBody>
          <a:bodyPr wrap="square">
            <a:spAutoFit/>
          </a:bodyPr>
          <a:lstStyle/>
          <a:p>
            <a:pPr algn="just">
              <a:lnSpc>
                <a:spcPct val="115000"/>
              </a:lnSpc>
              <a:buNone/>
            </a:pPr>
            <a:r>
              <a:rPr lang="zh-CN" altLang="zh-CN" sz="2400" b="1" kern="100" dirty="0">
                <a:effectLst/>
                <a:latin typeface="等线" panose="02010600030101010101" pitchFamily="2" charset="-122"/>
                <a:ea typeface="宋体" panose="02010600030101010101" pitchFamily="2" charset="-122"/>
                <a:cs typeface="Times New Roman" panose="02020603050405020304" pitchFamily="18" charset="0"/>
              </a:rPr>
              <a:t>“</a:t>
            </a:r>
            <a:r>
              <a:rPr lang="zh-CN" altLang="zh-CN" sz="2400" b="1" kern="100" dirty="0">
                <a:solidFill>
                  <a:srgbClr val="C00000"/>
                </a:solidFill>
                <a:effectLst/>
                <a:latin typeface="黑体" panose="02010609060101010101" pitchFamily="49" charset="-122"/>
                <a:ea typeface="黑体" panose="02010609060101010101" pitchFamily="49" charset="-122"/>
                <a:cs typeface="Times New Roman" panose="02020603050405020304" pitchFamily="18" charset="0"/>
              </a:rPr>
              <a:t>初始条件</a:t>
            </a:r>
            <a:r>
              <a:rPr lang="zh-CN" altLang="zh-CN" sz="2400" b="1" kern="100" dirty="0">
                <a:effectLst/>
                <a:latin typeface="等线" panose="02010600030101010101" pitchFamily="2" charset="-122"/>
                <a:ea typeface="宋体" panose="02010600030101010101" pitchFamily="2" charset="-122"/>
                <a:cs typeface="Times New Roman" panose="02020603050405020304" pitchFamily="18" charset="0"/>
              </a:rPr>
              <a:t>”描述了操作执行之前数据结构和参数应满足的条件，若不满足，则放弃操作，或称操作失败，并返回相应出错信息。</a:t>
            </a:r>
            <a:endParaRPr lang="en-US" altLang="zh-CN" sz="2400" b="1" kern="100" dirty="0">
              <a:effectLst/>
              <a:latin typeface="等线" panose="02010600030101010101" pitchFamily="2" charset="-122"/>
              <a:ea typeface="宋体" panose="02010600030101010101" pitchFamily="2" charset="-122"/>
              <a:cs typeface="Times New Roman" panose="02020603050405020304" pitchFamily="18" charset="0"/>
            </a:endParaRPr>
          </a:p>
          <a:p>
            <a:pPr algn="just">
              <a:lnSpc>
                <a:spcPct val="115000"/>
              </a:lnSpc>
              <a:buNone/>
            </a:pPr>
            <a:r>
              <a:rPr lang="zh-CN" altLang="zh-CN" sz="2400" b="1" kern="100" dirty="0">
                <a:effectLst/>
                <a:latin typeface="等线" panose="02010600030101010101" pitchFamily="2" charset="-122"/>
                <a:ea typeface="宋体" panose="02010600030101010101" pitchFamily="2" charset="-122"/>
                <a:cs typeface="Times New Roman" panose="02020603050405020304" pitchFamily="18" charset="0"/>
              </a:rPr>
              <a:t>“</a:t>
            </a:r>
            <a:r>
              <a:rPr lang="zh-CN" altLang="zh-CN" sz="2400" b="1" kern="100" dirty="0">
                <a:solidFill>
                  <a:srgbClr val="C00000"/>
                </a:solidFill>
                <a:effectLst/>
                <a:latin typeface="黑体" panose="02010609060101010101" pitchFamily="49" charset="-122"/>
                <a:ea typeface="黑体" panose="02010609060101010101" pitchFamily="49" charset="-122"/>
                <a:cs typeface="Times New Roman" panose="02020603050405020304" pitchFamily="18" charset="0"/>
              </a:rPr>
              <a:t>操作结果</a:t>
            </a:r>
            <a:r>
              <a:rPr lang="zh-CN" altLang="zh-CN" sz="2400" b="1" kern="100" dirty="0">
                <a:effectLst/>
                <a:latin typeface="等线" panose="02010600030101010101" pitchFamily="2" charset="-122"/>
                <a:ea typeface="宋体" panose="02010600030101010101" pitchFamily="2" charset="-122"/>
                <a:cs typeface="Times New Roman" panose="02020603050405020304" pitchFamily="18" charset="0"/>
              </a:rPr>
              <a:t>”说明了操作正常完成之后，数据结构的变化状况和应返回的结果。若初始条件为空，则省略之。</a:t>
            </a:r>
            <a:endParaRPr lang="zh-CN" alt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87D15F8B-B610-54CC-2D9C-1CDF0464B01C}"/>
              </a:ext>
            </a:extLst>
          </p:cNvPr>
          <p:cNvSpPr>
            <a:spLocks noGrp="1"/>
          </p:cNvSpPr>
          <p:nvPr>
            <p:ph type="sldNum" sz="quarter" idx="12"/>
          </p:nvPr>
        </p:nvSpPr>
        <p:spPr/>
        <p:txBody>
          <a:bodyPr/>
          <a:lstStyle/>
          <a:p>
            <a:fld id="{D7C0FE0B-717B-41AE-9FA2-CA4BF851D1C3}" type="slidenum">
              <a:rPr lang="zh-CN" altLang="en-US" smtClean="0"/>
              <a:t>40</a:t>
            </a:fld>
            <a:endParaRPr lang="zh-CN" altLang="en-US"/>
          </a:p>
        </p:txBody>
      </p:sp>
    </p:spTree>
    <p:extLst>
      <p:ext uri="{BB962C8B-B14F-4D97-AF65-F5344CB8AC3E}">
        <p14:creationId xmlns:p14="http://schemas.microsoft.com/office/powerpoint/2010/main" val="3354021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86F0DAF5-3C93-2ABA-36EA-931B15DFF1E4}"/>
              </a:ext>
            </a:extLst>
          </p:cNvPr>
          <p:cNvSpPr txBox="1"/>
          <p:nvPr/>
        </p:nvSpPr>
        <p:spPr>
          <a:xfrm>
            <a:off x="315460" y="283768"/>
            <a:ext cx="11590691" cy="2086982"/>
          </a:xfrm>
          <a:prstGeom prst="rect">
            <a:avLst/>
          </a:prstGeom>
          <a:noFill/>
        </p:spPr>
        <p:txBody>
          <a:bodyPr wrap="square">
            <a:spAutoFit/>
          </a:bodyPr>
          <a:lstStyle/>
          <a:p>
            <a:pPr indent="266700" algn="just">
              <a:buNone/>
            </a:pPr>
            <a:r>
              <a:rPr lang="zh-CN" altLang="zh-CN" sz="2800" b="1" kern="100" dirty="0">
                <a:solidFill>
                  <a:srgbClr val="C00000"/>
                </a:solidFill>
                <a:effectLst/>
                <a:latin typeface="等线" panose="02010600030101010101" pitchFamily="2" charset="-122"/>
                <a:ea typeface="黑体" panose="02010609060101010101" pitchFamily="49" charset="-122"/>
                <a:cs typeface="Times New Roman" panose="02020603050405020304" pitchFamily="18" charset="0"/>
              </a:rPr>
              <a:t>例</a:t>
            </a:r>
            <a:r>
              <a:rPr lang="en-US" altLang="zh-CN" sz="2800" b="1" kern="100" dirty="0">
                <a:solidFill>
                  <a:srgbClr val="C00000"/>
                </a:solidFill>
                <a:effectLst/>
                <a:latin typeface="等线" panose="02010600030101010101" pitchFamily="2" charset="-122"/>
                <a:ea typeface="黑体" panose="02010609060101010101" pitchFamily="49" charset="-122"/>
                <a:cs typeface="Times New Roman" panose="02020603050405020304" pitchFamily="18" charset="0"/>
              </a:rPr>
              <a:t>1-6</a:t>
            </a:r>
            <a:r>
              <a:rPr lang="en-US" altLang="zh-CN" sz="2800" b="1" kern="100" dirty="0">
                <a:solidFill>
                  <a:srgbClr val="C00000"/>
                </a:solidFill>
                <a:effectLst/>
                <a:latin typeface="宋体" panose="02010600030101010101" pitchFamily="2" charset="-122"/>
                <a:ea typeface="等线" panose="02010600030101010101" pitchFamily="2" charset="-122"/>
                <a:cs typeface="Times New Roman" panose="02020603050405020304" pitchFamily="18" charset="0"/>
              </a:rPr>
              <a:t> </a:t>
            </a:r>
            <a:r>
              <a:rPr lang="zh-CN" altLang="zh-CN" sz="2800" b="1" kern="100" dirty="0">
                <a:effectLst/>
                <a:latin typeface="等线" panose="02010600030101010101" pitchFamily="2" charset="-122"/>
                <a:ea typeface="楷体" panose="02010609060101010101" pitchFamily="49" charset="-122"/>
                <a:cs typeface="Times New Roman" panose="02020603050405020304" pitchFamily="18" charset="0"/>
              </a:rPr>
              <a:t>抽象数据类型小整数集合的定义：</a:t>
            </a:r>
            <a:endParaRPr lang="zh-CN" altLang="zh-CN" sz="2800" b="1" kern="100" dirty="0">
              <a:effectLst/>
              <a:latin typeface="等线" panose="02010600030101010101" pitchFamily="2" charset="-122"/>
              <a:ea typeface="等线" panose="02010600030101010101" pitchFamily="2" charset="-122"/>
              <a:cs typeface="Times New Roman" panose="02020603050405020304" pitchFamily="18" charset="0"/>
            </a:endParaRPr>
          </a:p>
          <a:p>
            <a:pPr indent="306070" algn="just">
              <a:lnSpc>
                <a:spcPct val="130000"/>
              </a:lnSpc>
              <a:buNone/>
            </a:pPr>
            <a:r>
              <a:rPr lang="en-US" altLang="zh-CN" sz="2000" b="1" kern="100" dirty="0">
                <a:effectLst/>
                <a:latin typeface="Courier New" panose="02070309020205020404" pitchFamily="49" charset="0"/>
                <a:ea typeface="宋体" panose="02010600030101010101" pitchFamily="2" charset="-122"/>
                <a:cs typeface="Times New Roman" panose="02020603050405020304" pitchFamily="18" charset="0"/>
              </a:rPr>
              <a:t>ADT </a:t>
            </a:r>
            <a:r>
              <a:rPr lang="en-US" altLang="zh-CN" sz="2000" b="1" kern="100" dirty="0" err="1">
                <a:effectLst/>
                <a:latin typeface="Courier New" panose="02070309020205020404" pitchFamily="49" charset="0"/>
                <a:ea typeface="宋体" panose="02010600030101010101" pitchFamily="2" charset="-122"/>
                <a:cs typeface="Times New Roman" panose="02020603050405020304" pitchFamily="18" charset="0"/>
              </a:rPr>
              <a:t>SmallIntSet</a:t>
            </a:r>
            <a:r>
              <a:rPr lang="en-US" altLang="zh-CN" sz="2000" b="1" kern="100" dirty="0">
                <a:effectLst/>
                <a:latin typeface="Courier New" panose="02070309020205020404" pitchFamily="49" charset="0"/>
                <a:ea typeface="宋体" panose="02010600030101010101" pitchFamily="2" charset="-122"/>
                <a:cs typeface="Times New Roman" panose="02020603050405020304" pitchFamily="18" charset="0"/>
              </a:rPr>
              <a:t> {</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indent="508000" algn="just">
              <a:lnSpc>
                <a:spcPct val="130000"/>
              </a:lnSpc>
              <a:buNone/>
            </a:pPr>
            <a:r>
              <a:rPr lang="zh-CN" altLang="zh-CN" sz="2000" kern="100" dirty="0">
                <a:effectLst/>
                <a:latin typeface="黑体" panose="02010609060101010101" pitchFamily="49" charset="-122"/>
                <a:ea typeface="黑体" panose="02010609060101010101" pitchFamily="49" charset="-122"/>
                <a:cs typeface="Courier New" panose="02070309020205020404" pitchFamily="49" charset="0"/>
              </a:rPr>
              <a:t>数据对象</a:t>
            </a:r>
            <a:r>
              <a:rPr lang="zh-CN" altLang="zh-CN" sz="2000" kern="100" dirty="0">
                <a:effectLst/>
                <a:latin typeface="Courier New" panose="02070309020205020404" pitchFamily="49" charset="0"/>
                <a:ea typeface="宋体" panose="02010600030101010101" pitchFamily="2" charset="-122"/>
                <a:cs typeface="Courier New" panose="02070309020205020404" pitchFamily="49" charset="0"/>
              </a:rPr>
              <a:t>：</a:t>
            </a:r>
            <a:r>
              <a:rPr lang="en-US" altLang="zh-CN" sz="2000" b="1" kern="100" dirty="0">
                <a:effectLst/>
                <a:latin typeface="Courier New" panose="02070309020205020404" pitchFamily="49" charset="0"/>
                <a:ea typeface="宋体" panose="02010600030101010101" pitchFamily="2" charset="-122"/>
                <a:cs typeface="Times New Roman" panose="02020603050405020304" pitchFamily="18" charset="0"/>
              </a:rPr>
              <a:t>D</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20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2000" kern="100" dirty="0" err="1">
                <a:effectLst/>
                <a:latin typeface="Courier New" panose="02070309020205020404" pitchFamily="49" charset="0"/>
                <a:ea typeface="宋体" panose="02010600030101010101" pitchFamily="2" charset="-122"/>
                <a:cs typeface="Times New Roman" panose="02020603050405020304" pitchFamily="18" charset="0"/>
              </a:rPr>
              <a:t>i|i</a:t>
            </a:r>
            <a:r>
              <a:rPr lang="en-US" altLang="zh-CN" sz="2000" kern="100" dirty="0">
                <a:effectLst/>
                <a:latin typeface="Courier New" panose="02070309020205020404" pitchFamily="49" charset="0"/>
                <a:ea typeface="宋体" panose="02010600030101010101" pitchFamily="2" charset="-122"/>
                <a:cs typeface="Courier New" panose="02070309020205020404" pitchFamily="49" charset="0"/>
                <a:sym typeface="Symbol" panose="05050102010706020507" pitchFamily="18" charset="2"/>
              </a:rPr>
              <a:t></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2000" kern="100" dirty="0" err="1">
                <a:effectLst/>
                <a:latin typeface="Courier New" panose="02070309020205020404" pitchFamily="49" charset="0"/>
                <a:ea typeface="宋体" panose="02010600030101010101" pitchFamily="2" charset="-122"/>
                <a:cs typeface="Times New Roman" panose="02020603050405020304" pitchFamily="18" charset="0"/>
              </a:rPr>
              <a:t>1..n</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20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2000" b="1" kern="100" dirty="0">
                <a:solidFill>
                  <a:schemeClr val="accent4">
                    <a:lumMod val="50000"/>
                  </a:schemeClr>
                </a:solidFill>
                <a:effectLst/>
                <a:latin typeface="Courier New" panose="02070309020205020404" pitchFamily="49" charset="0"/>
                <a:ea typeface="宋体" panose="02010600030101010101" pitchFamily="2" charset="-122"/>
                <a:cs typeface="Times New Roman" panose="02020603050405020304" pitchFamily="18" charset="0"/>
              </a:rPr>
              <a:t>// D</a:t>
            </a:r>
            <a:r>
              <a:rPr lang="zh-CN" altLang="zh-CN" sz="2000" b="1" kern="100" dirty="0">
                <a:solidFill>
                  <a:schemeClr val="accent4">
                    <a:lumMod val="50000"/>
                  </a:schemeClr>
                </a:solidFill>
                <a:effectLst/>
                <a:latin typeface="Courier New" panose="02070309020205020404" pitchFamily="49" charset="0"/>
                <a:ea typeface="宋体" panose="02010600030101010101" pitchFamily="2" charset="-122"/>
                <a:cs typeface="Courier New" panose="02070309020205020404" pitchFamily="49" charset="0"/>
              </a:rPr>
              <a:t>的元素是区间</a:t>
            </a:r>
            <a:r>
              <a:rPr lang="en-US" altLang="zh-CN" sz="2000" b="1" kern="100" dirty="0">
                <a:solidFill>
                  <a:schemeClr val="accent4">
                    <a:lumMod val="50000"/>
                  </a:schemeClr>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2000" b="1" kern="100" dirty="0" err="1">
                <a:solidFill>
                  <a:schemeClr val="accent4">
                    <a:lumMod val="50000"/>
                  </a:schemeClr>
                </a:solidFill>
                <a:effectLst/>
                <a:latin typeface="Courier New" panose="02070309020205020404" pitchFamily="49" charset="0"/>
                <a:ea typeface="宋体" panose="02010600030101010101" pitchFamily="2" charset="-122"/>
                <a:cs typeface="Times New Roman" panose="02020603050405020304" pitchFamily="18" charset="0"/>
              </a:rPr>
              <a:t>1..n</a:t>
            </a:r>
            <a:r>
              <a:rPr lang="en-US" altLang="zh-CN" sz="2000" b="1" kern="100" dirty="0">
                <a:solidFill>
                  <a:schemeClr val="accent4">
                    <a:lumMod val="50000"/>
                  </a:schemeClr>
                </a:solidFill>
                <a:effectLst/>
                <a:latin typeface="Courier New" panose="02070309020205020404" pitchFamily="49" charset="0"/>
                <a:ea typeface="宋体" panose="02010600030101010101" pitchFamily="2" charset="-122"/>
                <a:cs typeface="Times New Roman" panose="02020603050405020304" pitchFamily="18" charset="0"/>
              </a:rPr>
              <a:t>]</a:t>
            </a:r>
            <a:r>
              <a:rPr lang="zh-CN" altLang="zh-CN" sz="2000" b="1" kern="100" dirty="0">
                <a:solidFill>
                  <a:schemeClr val="accent4">
                    <a:lumMod val="50000"/>
                  </a:schemeClr>
                </a:solidFill>
                <a:effectLst/>
                <a:latin typeface="Courier New" panose="02070309020205020404" pitchFamily="49" charset="0"/>
                <a:ea typeface="宋体" panose="02010600030101010101" pitchFamily="2" charset="-122"/>
                <a:cs typeface="Courier New" panose="02070309020205020404" pitchFamily="49" charset="0"/>
              </a:rPr>
              <a:t>的整数，</a:t>
            </a:r>
            <a:r>
              <a:rPr lang="en-US" altLang="zh-CN" sz="2000" b="1" kern="100" dirty="0">
                <a:solidFill>
                  <a:schemeClr val="accent4">
                    <a:lumMod val="50000"/>
                  </a:schemeClr>
                </a:solidFill>
                <a:effectLst/>
                <a:latin typeface="Courier New" panose="02070309020205020404" pitchFamily="49" charset="0"/>
                <a:ea typeface="宋体" panose="02010600030101010101" pitchFamily="2" charset="-122"/>
                <a:cs typeface="Times New Roman" panose="02020603050405020304" pitchFamily="18" charset="0"/>
              </a:rPr>
              <a:t>n</a:t>
            </a:r>
            <a:r>
              <a:rPr lang="zh-CN" altLang="zh-CN" sz="2000" b="1" kern="100" dirty="0">
                <a:solidFill>
                  <a:schemeClr val="accent4">
                    <a:lumMod val="50000"/>
                  </a:schemeClr>
                </a:solidFill>
                <a:effectLst/>
                <a:latin typeface="Courier New" panose="02070309020205020404" pitchFamily="49" charset="0"/>
                <a:ea typeface="宋体" panose="02010600030101010101" pitchFamily="2" charset="-122"/>
                <a:cs typeface="Courier New" panose="02070309020205020404" pitchFamily="49" charset="0"/>
              </a:rPr>
              <a:t>是一个“不太大”的整数</a:t>
            </a:r>
            <a:endParaRPr lang="zh-CN" altLang="zh-CN" sz="2000" b="1" kern="100" dirty="0">
              <a:solidFill>
                <a:schemeClr val="accent4">
                  <a:lumMod val="50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indent="508000" algn="just">
              <a:lnSpc>
                <a:spcPct val="130000"/>
              </a:lnSpc>
              <a:buNone/>
            </a:pPr>
            <a:r>
              <a:rPr lang="zh-CN" altLang="zh-CN" sz="2000" kern="100" dirty="0">
                <a:latin typeface="黑体" panose="02010609060101010101" pitchFamily="49" charset="-122"/>
                <a:ea typeface="黑体" panose="02010609060101010101" pitchFamily="49" charset="-122"/>
                <a:cs typeface="Courier New" panose="02070309020205020404" pitchFamily="49" charset="0"/>
              </a:rPr>
              <a:t>数据关系</a:t>
            </a:r>
            <a:r>
              <a:rPr lang="zh-CN" altLang="zh-CN" sz="2000" kern="100" dirty="0">
                <a:effectLst/>
                <a:latin typeface="Courier New" panose="02070309020205020404" pitchFamily="49" charset="0"/>
                <a:ea typeface="宋体" panose="02010600030101010101" pitchFamily="2" charset="-122"/>
                <a:cs typeface="Courier New" panose="02070309020205020404" pitchFamily="49" charset="0"/>
              </a:rPr>
              <a:t>：</a:t>
            </a:r>
            <a:r>
              <a:rPr lang="en-US" altLang="zh-CN" sz="2000" b="1" kern="100" dirty="0">
                <a:effectLst/>
                <a:latin typeface="Courier New" panose="02070309020205020404" pitchFamily="49" charset="0"/>
                <a:ea typeface="宋体" panose="02010600030101010101" pitchFamily="2" charset="-122"/>
                <a:cs typeface="Times New Roman" panose="02020603050405020304" pitchFamily="18" charset="0"/>
              </a:rPr>
              <a:t>R</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20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2000" b="1" kern="100" dirty="0">
                <a:solidFill>
                  <a:schemeClr val="accent4">
                    <a:lumMod val="50000"/>
                  </a:schemeClr>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sz="2000" b="1" kern="100" dirty="0">
                <a:solidFill>
                  <a:schemeClr val="accent4">
                    <a:lumMod val="50000"/>
                  </a:schemeClr>
                </a:solidFill>
                <a:effectLst/>
                <a:latin typeface="Courier New" panose="02070309020205020404" pitchFamily="49" charset="0"/>
                <a:ea typeface="宋体" panose="02010600030101010101" pitchFamily="2" charset="-122"/>
                <a:cs typeface="Courier New" panose="02070309020205020404" pitchFamily="49" charset="0"/>
              </a:rPr>
              <a:t>元素之间无定义任何关系</a:t>
            </a:r>
            <a:endParaRPr lang="zh-CN" altLang="zh-CN" sz="2000" b="1" kern="100" dirty="0">
              <a:solidFill>
                <a:schemeClr val="accent4">
                  <a:lumMod val="50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indent="508000" algn="just">
              <a:lnSpc>
                <a:spcPct val="130000"/>
              </a:lnSpc>
              <a:buNone/>
            </a:pPr>
            <a:r>
              <a:rPr lang="zh-CN" altLang="zh-CN" sz="2000" kern="100" dirty="0">
                <a:latin typeface="黑体" panose="02010609060101010101" pitchFamily="49" charset="-122"/>
                <a:ea typeface="黑体" panose="02010609060101010101" pitchFamily="49" charset="-122"/>
                <a:cs typeface="Courier New" panose="02070309020205020404" pitchFamily="49" charset="0"/>
              </a:rPr>
              <a:t>基本操作</a:t>
            </a:r>
            <a:r>
              <a:rPr lang="zh-CN" altLang="zh-CN" sz="2000" kern="100" dirty="0">
                <a:effectLst/>
                <a:latin typeface="Courier New" panose="02070309020205020404" pitchFamily="49" charset="0"/>
                <a:ea typeface="宋体" panose="02010600030101010101" pitchFamily="2" charset="-122"/>
                <a:cs typeface="Courier New" panose="02070309020205020404" pitchFamily="49" charset="0"/>
              </a:rPr>
              <a:t>：</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p:txBody>
      </p:sp>
      <p:grpSp>
        <p:nvGrpSpPr>
          <p:cNvPr id="10" name="组合 9">
            <a:extLst>
              <a:ext uri="{FF2B5EF4-FFF2-40B4-BE49-F238E27FC236}">
                <a16:creationId xmlns:a16="http://schemas.microsoft.com/office/drawing/2014/main" id="{255D3F33-6FFF-D309-9D08-71E1F318D2E7}"/>
              </a:ext>
            </a:extLst>
          </p:cNvPr>
          <p:cNvGrpSpPr/>
          <p:nvPr/>
        </p:nvGrpSpPr>
        <p:grpSpPr>
          <a:xfrm>
            <a:off x="649644" y="2479322"/>
            <a:ext cx="5317644" cy="3784231"/>
            <a:chOff x="224663" y="2268523"/>
            <a:chExt cx="5754471" cy="3784231"/>
          </a:xfrm>
        </p:grpSpPr>
        <p:sp>
          <p:nvSpPr>
            <p:cNvPr id="8" name="矩形 7">
              <a:extLst>
                <a:ext uri="{FF2B5EF4-FFF2-40B4-BE49-F238E27FC236}">
                  <a16:creationId xmlns:a16="http://schemas.microsoft.com/office/drawing/2014/main" id="{9ACED09B-A8CB-34A8-8F48-6E378E4C02FE}"/>
                </a:ext>
              </a:extLst>
            </p:cNvPr>
            <p:cNvSpPr/>
            <p:nvPr/>
          </p:nvSpPr>
          <p:spPr>
            <a:xfrm>
              <a:off x="224663" y="2268523"/>
              <a:ext cx="5754471" cy="3776940"/>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6000" algn="ctr"/>
              <a:endParaRPr lang="zh-CN" altLang="en-US"/>
            </a:p>
          </p:txBody>
        </p:sp>
        <p:sp>
          <p:nvSpPr>
            <p:cNvPr id="5" name="文本框 4">
              <a:extLst>
                <a:ext uri="{FF2B5EF4-FFF2-40B4-BE49-F238E27FC236}">
                  <a16:creationId xmlns:a16="http://schemas.microsoft.com/office/drawing/2014/main" id="{29C4EFFD-05F7-08F1-7C68-88514635AA18}"/>
                </a:ext>
              </a:extLst>
            </p:cNvPr>
            <p:cNvSpPr txBox="1"/>
            <p:nvPr/>
          </p:nvSpPr>
          <p:spPr>
            <a:xfrm>
              <a:off x="224663" y="2328658"/>
              <a:ext cx="5754470" cy="3724096"/>
            </a:xfrm>
            <a:prstGeom prst="rect">
              <a:avLst/>
            </a:prstGeom>
            <a:noFill/>
          </p:spPr>
          <p:txBody>
            <a:bodyPr wrap="square">
              <a:spAutoFit/>
            </a:bodyPr>
            <a:lstStyle/>
            <a:p>
              <a:pPr marL="36000" algn="just"/>
              <a:r>
                <a:rPr lang="en-US" altLang="zh-CN" b="1" kern="100" dirty="0">
                  <a:latin typeface="Courier New" panose="02070309020205020404" pitchFamily="49" charset="0"/>
                  <a:cs typeface="Times New Roman" panose="02020603050405020304" pitchFamily="18" charset="0"/>
                </a:rPr>
                <a:t>Init(S, n) </a:t>
              </a:r>
              <a:endParaRPr lang="zh-CN" altLang="zh-CN" b="1" kern="100" dirty="0">
                <a:latin typeface="Courier New" panose="02070309020205020404" pitchFamily="49" charset="0"/>
                <a:cs typeface="Times New Roman" panose="02020603050405020304" pitchFamily="18" charset="0"/>
              </a:endParaRPr>
            </a:p>
            <a:p>
              <a:pPr marL="36000" algn="just">
                <a:buNone/>
              </a:pPr>
              <a:r>
                <a:rPr lang="zh-CN" altLang="zh-CN" sz="1800" kern="100" dirty="0">
                  <a:effectLst/>
                  <a:latin typeface="黑体" panose="02010609060101010101" pitchFamily="49" charset="-122"/>
                  <a:ea typeface="黑体" panose="02010609060101010101" pitchFamily="49" charset="-122"/>
                  <a:cs typeface="Courier New" panose="02070309020205020404" pitchFamily="49" charset="0"/>
                </a:rPr>
                <a:t>操作结果</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：构造并返回全集为</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{1,2,…,n}</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的空集</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S</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36000" algn="just"/>
              <a:r>
                <a:rPr lang="en-US" altLang="zh-CN" b="1" kern="100" dirty="0">
                  <a:latin typeface="Courier New" panose="02070309020205020404" pitchFamily="49" charset="0"/>
                  <a:cs typeface="Times New Roman" panose="02020603050405020304" pitchFamily="18" charset="0"/>
                </a:rPr>
                <a:t>Free(S)</a:t>
              </a:r>
              <a:endParaRPr lang="zh-CN" altLang="zh-CN" b="1" kern="100" dirty="0">
                <a:latin typeface="Courier New" panose="02070309020205020404" pitchFamily="49" charset="0"/>
                <a:cs typeface="Times New Roman" panose="02020603050405020304" pitchFamily="18" charset="0"/>
              </a:endParaRPr>
            </a:p>
            <a:p>
              <a:pPr marL="36000" algn="just">
                <a:buNone/>
              </a:pPr>
              <a:r>
                <a:rPr lang="zh-CN" altLang="zh-CN" kern="100" dirty="0">
                  <a:latin typeface="黑体" panose="02010609060101010101" pitchFamily="49" charset="-122"/>
                  <a:ea typeface="黑体" panose="02010609060101010101" pitchFamily="49" charset="-122"/>
                  <a:cs typeface="Courier New" panose="02070309020205020404" pitchFamily="49" charset="0"/>
                </a:rPr>
                <a:t>操作结果</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：集合</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S</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被回收，返回</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NULL</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36000" algn="just"/>
              <a:r>
                <a:rPr lang="en-US" altLang="zh-CN" b="1" kern="100" dirty="0">
                  <a:latin typeface="Courier New" panose="02070309020205020404" pitchFamily="49" charset="0"/>
                  <a:cs typeface="Times New Roman" panose="02020603050405020304" pitchFamily="18" charset="0"/>
                </a:rPr>
                <a:t>Store(S, </a:t>
              </a:r>
              <a:r>
                <a:rPr lang="en-US" altLang="zh-CN" b="1" kern="100" dirty="0" err="1">
                  <a:latin typeface="Courier New" panose="02070309020205020404" pitchFamily="49" charset="0"/>
                  <a:cs typeface="Times New Roman" panose="02020603050405020304" pitchFamily="18" charset="0"/>
                </a:rPr>
                <a:t>i</a:t>
              </a:r>
              <a:r>
                <a:rPr lang="en-US" altLang="zh-CN" b="1" kern="100" dirty="0">
                  <a:latin typeface="Courier New" panose="02070309020205020404" pitchFamily="49" charset="0"/>
                  <a:cs typeface="Times New Roman" panose="02020603050405020304" pitchFamily="18" charset="0"/>
                </a:rPr>
                <a:t>)</a:t>
              </a:r>
              <a:endParaRPr lang="zh-CN" altLang="zh-CN" b="1" kern="100" dirty="0">
                <a:latin typeface="Courier New" panose="02070309020205020404" pitchFamily="49" charset="0"/>
                <a:cs typeface="Times New Roman" panose="02020603050405020304" pitchFamily="18" charset="0"/>
              </a:endParaRPr>
            </a:p>
            <a:p>
              <a:pPr marL="36000" algn="just">
                <a:buNone/>
              </a:pPr>
              <a:r>
                <a:rPr lang="zh-CN" altLang="zh-CN" kern="100" dirty="0">
                  <a:latin typeface="黑体" panose="02010609060101010101" pitchFamily="49" charset="-122"/>
                  <a:ea typeface="黑体" panose="02010609060101010101" pitchFamily="49" charset="-122"/>
                  <a:cs typeface="Courier New" panose="02070309020205020404" pitchFamily="49" charset="0"/>
                </a:rPr>
                <a:t>初始条件</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：集合</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S</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已存在，</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1</a:t>
              </a:r>
              <a:r>
                <a:rPr lang="zh-CN" altLang="zh-CN" sz="2800" kern="100" dirty="0">
                  <a:effectLst/>
                  <a:latin typeface="等线" panose="02010600030101010101" pitchFamily="2" charset="-122"/>
                  <a:ea typeface="等线 Light" panose="02010600030101010101" pitchFamily="2" charset="-122"/>
                  <a:cs typeface="Times New Roman" panose="02020603050405020304" pitchFamily="18" charset="0"/>
                </a:rPr>
                <a:t>≤</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zh-CN" altLang="zh-CN" sz="2800" kern="100" dirty="0">
                  <a:effectLst/>
                  <a:latin typeface="等线" panose="02010600030101010101" pitchFamily="2" charset="-122"/>
                  <a:ea typeface="等线 Light" panose="02010600030101010101" pitchFamily="2" charset="-122"/>
                  <a:cs typeface="Times New Roman" panose="02020603050405020304" pitchFamily="18" charset="0"/>
                </a:rPr>
                <a: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n</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36000" algn="just">
                <a:buNone/>
              </a:pPr>
              <a:r>
                <a:rPr lang="zh-CN" altLang="zh-CN" kern="100" dirty="0">
                  <a:latin typeface="黑体" panose="02010609060101010101" pitchFamily="49" charset="-122"/>
                  <a:ea typeface="黑体" panose="02010609060101010101" pitchFamily="49" charset="-122"/>
                  <a:cs typeface="Courier New" panose="02070309020205020404" pitchFamily="49" charset="0"/>
                </a:rPr>
                <a:t>操作结果</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：将元素</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添加至集合</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S</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中。若成功，</a:t>
              </a:r>
              <a:endParaRPr lang="en-US" altLang="zh-CN" sz="1800" kern="100" dirty="0">
                <a:effectLst/>
                <a:latin typeface="Courier New" panose="02070309020205020404" pitchFamily="49" charset="0"/>
                <a:ea typeface="宋体" panose="02010600030101010101" pitchFamily="2" charset="-122"/>
                <a:cs typeface="Courier New" panose="02070309020205020404" pitchFamily="49" charset="0"/>
              </a:endParaRPr>
            </a:p>
            <a:p>
              <a:pPr marL="36000" algn="just">
                <a:buNone/>
              </a:pPr>
              <a:r>
                <a:rPr lang="en-US" altLang="zh-CN" kern="100" dirty="0">
                  <a:latin typeface="Courier New" panose="02070309020205020404" pitchFamily="49" charset="0"/>
                  <a:ea typeface="宋体" panose="02010600030101010101" pitchFamily="2" charset="-122"/>
                  <a:cs typeface="Courier New" panose="02070309020205020404" pitchFamily="49" charset="0"/>
                </a:rPr>
                <a:t>        </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则返回</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TRUE</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，否则返回</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FALSE</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36000" algn="just"/>
              <a:r>
                <a:rPr lang="en-US" altLang="zh-CN" b="1" kern="100" dirty="0">
                  <a:latin typeface="Courier New" panose="02070309020205020404" pitchFamily="49" charset="0"/>
                  <a:cs typeface="Times New Roman" panose="02020603050405020304" pitchFamily="18" charset="0"/>
                </a:rPr>
                <a:t>Contain(S, </a:t>
              </a:r>
              <a:r>
                <a:rPr lang="en-US" altLang="zh-CN" b="1" kern="100" dirty="0" err="1">
                  <a:latin typeface="Courier New" panose="02070309020205020404" pitchFamily="49" charset="0"/>
                  <a:cs typeface="Times New Roman" panose="02020603050405020304" pitchFamily="18" charset="0"/>
                </a:rPr>
                <a:t>i</a:t>
              </a:r>
              <a:r>
                <a:rPr lang="en-US" altLang="zh-CN" b="1" kern="100" dirty="0">
                  <a:latin typeface="Courier New" panose="02070309020205020404" pitchFamily="49" charset="0"/>
                  <a:cs typeface="Times New Roman" panose="02020603050405020304" pitchFamily="18" charset="0"/>
                </a:rPr>
                <a:t>)</a:t>
              </a:r>
              <a:endParaRPr lang="zh-CN" altLang="zh-CN" b="1" kern="100" dirty="0">
                <a:latin typeface="Courier New" panose="02070309020205020404" pitchFamily="49" charset="0"/>
                <a:cs typeface="Times New Roman" panose="02020603050405020304" pitchFamily="18" charset="0"/>
              </a:endParaRPr>
            </a:p>
            <a:p>
              <a:pPr marL="36000" algn="just">
                <a:buNone/>
              </a:pPr>
              <a:r>
                <a:rPr lang="zh-CN" altLang="zh-CN" kern="100" dirty="0">
                  <a:latin typeface="黑体" panose="02010609060101010101" pitchFamily="49" charset="-122"/>
                  <a:ea typeface="黑体" panose="02010609060101010101" pitchFamily="49" charset="-122"/>
                  <a:cs typeface="Courier New" panose="02070309020205020404" pitchFamily="49" charset="0"/>
                </a:rPr>
                <a:t>初始条件</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：集合</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S</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已存在，</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1</a:t>
              </a:r>
              <a:r>
                <a:rPr lang="zh-CN" altLang="zh-CN" sz="2800" kern="100" dirty="0">
                  <a:effectLst/>
                  <a:latin typeface="等线" panose="02010600030101010101" pitchFamily="2" charset="-122"/>
                  <a:ea typeface="等线 Light" panose="02010600030101010101" pitchFamily="2" charset="-122"/>
                  <a:cs typeface="Times New Roman" panose="02020603050405020304" pitchFamily="18" charset="0"/>
                </a:rPr>
                <a:t>≤</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zh-CN" altLang="zh-CN" sz="2800" kern="100" dirty="0">
                  <a:effectLst/>
                  <a:latin typeface="等线" panose="02010600030101010101" pitchFamily="2" charset="-122"/>
                  <a:ea typeface="等线 Light" panose="02010600030101010101" pitchFamily="2" charset="-122"/>
                  <a:cs typeface="Times New Roman" panose="02020603050405020304" pitchFamily="18" charset="0"/>
                </a:rPr>
                <a: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n</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36000" algn="just">
                <a:buNone/>
              </a:pPr>
              <a:r>
                <a:rPr lang="zh-CN" altLang="zh-CN" kern="100" dirty="0">
                  <a:latin typeface="黑体" panose="02010609060101010101" pitchFamily="49" charset="-122"/>
                  <a:ea typeface="黑体" panose="02010609060101010101" pitchFamily="49" charset="-122"/>
                  <a:cs typeface="Courier New" panose="02070309020205020404" pitchFamily="49" charset="0"/>
                </a:rPr>
                <a:t>操作结果</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：若集合中有元素</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，则返回</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TRUE</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a:t>
              </a:r>
              <a:endParaRPr lang="en-US" altLang="zh-CN" sz="1800" kern="100" dirty="0">
                <a:effectLst/>
                <a:latin typeface="Courier New" panose="02070309020205020404" pitchFamily="49" charset="0"/>
                <a:ea typeface="宋体" panose="02010600030101010101" pitchFamily="2" charset="-122"/>
                <a:cs typeface="Courier New" panose="02070309020205020404" pitchFamily="49" charset="0"/>
              </a:endParaRPr>
            </a:p>
            <a:p>
              <a:pPr marL="36000" algn="just">
                <a:buNone/>
              </a:pPr>
              <a:r>
                <a:rPr lang="en-US" altLang="zh-CN" kern="100" dirty="0">
                  <a:latin typeface="Courier New" panose="02070309020205020404" pitchFamily="49" charset="0"/>
                  <a:ea typeface="宋体" panose="02010600030101010101" pitchFamily="2" charset="-122"/>
                  <a:cs typeface="Courier New" panose="02070309020205020404" pitchFamily="49" charset="0"/>
                </a:rPr>
                <a:t>        </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否则返回</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FALSE</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p:txBody>
        </p:sp>
      </p:grpSp>
      <p:grpSp>
        <p:nvGrpSpPr>
          <p:cNvPr id="11" name="组合 10">
            <a:extLst>
              <a:ext uri="{FF2B5EF4-FFF2-40B4-BE49-F238E27FC236}">
                <a16:creationId xmlns:a16="http://schemas.microsoft.com/office/drawing/2014/main" id="{82A2BC5F-D060-0803-A38D-28F23E9C59A4}"/>
              </a:ext>
            </a:extLst>
          </p:cNvPr>
          <p:cNvGrpSpPr/>
          <p:nvPr/>
        </p:nvGrpSpPr>
        <p:grpSpPr>
          <a:xfrm>
            <a:off x="5789620" y="2028689"/>
            <a:ext cx="6042307" cy="4678205"/>
            <a:chOff x="5789620" y="1933933"/>
            <a:chExt cx="6042307" cy="4678205"/>
          </a:xfrm>
        </p:grpSpPr>
        <p:sp>
          <p:nvSpPr>
            <p:cNvPr id="9" name="矩形 8">
              <a:extLst>
                <a:ext uri="{FF2B5EF4-FFF2-40B4-BE49-F238E27FC236}">
                  <a16:creationId xmlns:a16="http://schemas.microsoft.com/office/drawing/2014/main" id="{6B60E120-B47C-3C76-16CD-9AC7A526831D}"/>
                </a:ext>
              </a:extLst>
            </p:cNvPr>
            <p:cNvSpPr/>
            <p:nvPr/>
          </p:nvSpPr>
          <p:spPr>
            <a:xfrm>
              <a:off x="6144958" y="1933933"/>
              <a:ext cx="5686969" cy="4545543"/>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B415059E-CD19-ED11-CE47-9378BBD5ACFB}"/>
                </a:ext>
              </a:extLst>
            </p:cNvPr>
            <p:cNvSpPr txBox="1"/>
            <p:nvPr/>
          </p:nvSpPr>
          <p:spPr>
            <a:xfrm>
              <a:off x="5789620" y="1933934"/>
              <a:ext cx="6042307" cy="4678204"/>
            </a:xfrm>
            <a:prstGeom prst="rect">
              <a:avLst/>
            </a:prstGeom>
            <a:noFill/>
          </p:spPr>
          <p:txBody>
            <a:bodyPr wrap="square">
              <a:spAutoFit/>
            </a:bodyPr>
            <a:lstStyle/>
            <a:p>
              <a:pPr marL="628015" indent="90170">
                <a:buNone/>
              </a:pPr>
              <a:r>
                <a:rPr lang="en-US" altLang="zh-CN" b="1" kern="100" dirty="0">
                  <a:latin typeface="Courier New" panose="02070309020205020404" pitchFamily="49" charset="0"/>
                  <a:cs typeface="Times New Roman" panose="02020603050405020304" pitchFamily="18" charset="0"/>
                </a:rPr>
                <a:t>Remove(S, </a:t>
              </a:r>
              <a:r>
                <a:rPr lang="en-US" altLang="zh-CN" b="1" kern="100" dirty="0" err="1">
                  <a:latin typeface="Courier New" panose="02070309020205020404" pitchFamily="49" charset="0"/>
                  <a:cs typeface="Times New Roman" panose="02020603050405020304" pitchFamily="18" charset="0"/>
                </a:rPr>
                <a:t>i</a:t>
              </a:r>
              <a:r>
                <a:rPr lang="en-US" altLang="zh-CN" b="1" kern="100" dirty="0">
                  <a:latin typeface="Courier New" panose="02070309020205020404" pitchFamily="49" charset="0"/>
                  <a:cs typeface="Times New Roman" panose="02020603050405020304" pitchFamily="18" charset="0"/>
                </a:rPr>
                <a:t>)</a:t>
              </a:r>
              <a:endParaRPr lang="zh-CN" altLang="zh-CN" sz="2800" b="1" kern="100" dirty="0">
                <a:latin typeface="等线" panose="02010600030101010101" pitchFamily="2" charset="-122"/>
                <a:ea typeface="等线" panose="02010600030101010101" pitchFamily="2" charset="-122"/>
                <a:cs typeface="Times New Roman" panose="02020603050405020304" pitchFamily="18" charset="0"/>
              </a:endParaRPr>
            </a:p>
            <a:p>
              <a:pPr marL="628015" indent="242570"/>
              <a:r>
                <a:rPr lang="zh-CN" altLang="zh-CN" kern="100" dirty="0">
                  <a:latin typeface="黑体" panose="02010609060101010101" pitchFamily="49" charset="-122"/>
                  <a:ea typeface="黑体" panose="02010609060101010101" pitchFamily="49" charset="-122"/>
                  <a:cs typeface="Courier New" panose="02070309020205020404" pitchFamily="49" charset="0"/>
                </a:rPr>
                <a:t>初始条件</a:t>
              </a:r>
              <a:r>
                <a:rPr lang="zh-CN" altLang="zh-CN" kern="100" dirty="0">
                  <a:latin typeface="Courier New" panose="02070309020205020404" pitchFamily="49" charset="0"/>
                  <a:ea typeface="宋体" panose="02010600030101010101" pitchFamily="2" charset="-122"/>
                  <a:cs typeface="Courier New" panose="02070309020205020404" pitchFamily="49" charset="0"/>
                </a:rPr>
                <a:t>：集合</a:t>
              </a:r>
              <a:r>
                <a:rPr lang="en-US" altLang="zh-CN" kern="100" dirty="0">
                  <a:latin typeface="Courier New" panose="02070309020205020404" pitchFamily="49" charset="0"/>
                  <a:ea typeface="宋体" panose="02010600030101010101" pitchFamily="2" charset="-122"/>
                  <a:cs typeface="Courier New" panose="02070309020205020404" pitchFamily="49" charset="0"/>
                </a:rPr>
                <a:t>S</a:t>
              </a:r>
              <a:r>
                <a:rPr lang="zh-CN" altLang="zh-CN" kern="100" dirty="0">
                  <a:latin typeface="Courier New" panose="02070309020205020404" pitchFamily="49" charset="0"/>
                  <a:ea typeface="宋体" panose="02010600030101010101" pitchFamily="2" charset="-122"/>
                  <a:cs typeface="Courier New" panose="02070309020205020404" pitchFamily="49" charset="0"/>
                </a:rPr>
                <a:t>已存在，</a:t>
              </a:r>
              <a:r>
                <a:rPr lang="en-US" altLang="zh-CN" kern="100" dirty="0">
                  <a:latin typeface="Courier New" panose="02070309020205020404" pitchFamily="49" charset="0"/>
                  <a:ea typeface="宋体" panose="02010600030101010101" pitchFamily="2" charset="-122"/>
                  <a:cs typeface="Courier New" panose="02070309020205020404" pitchFamily="49" charset="0"/>
                </a:rPr>
                <a:t>1</a:t>
              </a:r>
              <a:r>
                <a:rPr lang="zh-CN" altLang="zh-CN" kern="100" dirty="0">
                  <a:latin typeface="Courier New" panose="02070309020205020404" pitchFamily="49" charset="0"/>
                  <a:ea typeface="宋体" panose="02010600030101010101" pitchFamily="2" charset="-122"/>
                  <a:cs typeface="Courier New" panose="02070309020205020404" pitchFamily="49" charset="0"/>
                </a:rPr>
                <a:t>≤</a:t>
              </a:r>
              <a:r>
                <a:rPr lang="en-US" altLang="zh-CN" kern="100" dirty="0" err="1">
                  <a:latin typeface="Courier New" panose="02070309020205020404" pitchFamily="49" charset="0"/>
                  <a:ea typeface="宋体" panose="02010600030101010101" pitchFamily="2" charset="-122"/>
                  <a:cs typeface="Courier New" panose="02070309020205020404" pitchFamily="49" charset="0"/>
                </a:rPr>
                <a:t>i</a:t>
              </a:r>
              <a:r>
                <a:rPr lang="zh-CN" altLang="zh-CN" kern="100" dirty="0">
                  <a:latin typeface="Courier New" panose="02070309020205020404" pitchFamily="49" charset="0"/>
                  <a:ea typeface="宋体" panose="02010600030101010101" pitchFamily="2" charset="-122"/>
                  <a:cs typeface="Courier New" panose="02070309020205020404" pitchFamily="49" charset="0"/>
                </a:rPr>
                <a:t>≤</a:t>
              </a:r>
              <a:r>
                <a:rPr lang="en-US" altLang="zh-CN" kern="100" dirty="0">
                  <a:latin typeface="Courier New" panose="02070309020205020404" pitchFamily="49" charset="0"/>
                  <a:ea typeface="宋体" panose="02010600030101010101" pitchFamily="2" charset="-122"/>
                  <a:cs typeface="Courier New" panose="02070309020205020404" pitchFamily="49" charset="0"/>
                </a:rPr>
                <a:t>n</a:t>
              </a:r>
              <a:r>
                <a:rPr lang="zh-CN" altLang="zh-CN" kern="100" dirty="0">
                  <a:latin typeface="Courier New" panose="02070309020205020404" pitchFamily="49" charset="0"/>
                  <a:ea typeface="宋体" panose="02010600030101010101" pitchFamily="2" charset="-122"/>
                  <a:cs typeface="Courier New" panose="02070309020205020404" pitchFamily="49" charset="0"/>
                </a:rPr>
                <a:t>。</a:t>
              </a:r>
            </a:p>
            <a:p>
              <a:pPr marL="628015" indent="242570">
                <a:buNone/>
              </a:pPr>
              <a:r>
                <a:rPr lang="zh-CN" altLang="zh-CN" kern="100" dirty="0">
                  <a:latin typeface="黑体" panose="02010609060101010101" pitchFamily="49" charset="-122"/>
                  <a:ea typeface="黑体" panose="02010609060101010101" pitchFamily="49" charset="-122"/>
                  <a:cs typeface="Courier New" panose="02070309020205020404" pitchFamily="49" charset="0"/>
                </a:rPr>
                <a:t>操作结果</a:t>
              </a:r>
              <a:r>
                <a:rPr lang="zh-CN" altLang="zh-CN" kern="100" dirty="0">
                  <a:latin typeface="Courier New" panose="02070309020205020404" pitchFamily="49" charset="0"/>
                  <a:cs typeface="Courier New" panose="02070309020205020404" pitchFamily="49" charset="0"/>
                </a:rPr>
                <a:t>：若成功移除集合中的元素</a:t>
              </a:r>
              <a:r>
                <a:rPr lang="en-US" altLang="zh-CN" kern="100" dirty="0" err="1">
                  <a:latin typeface="Courier New" panose="02070309020205020404" pitchFamily="49" charset="0"/>
                  <a:cs typeface="Times New Roman" panose="02020603050405020304" pitchFamily="18" charset="0"/>
                </a:rPr>
                <a:t>i</a:t>
              </a:r>
              <a:r>
                <a:rPr lang="zh-CN" altLang="zh-CN" kern="100" dirty="0">
                  <a:latin typeface="Courier New" panose="02070309020205020404" pitchFamily="49" charset="0"/>
                  <a:cs typeface="Courier New" panose="02070309020205020404" pitchFamily="49" charset="0"/>
                </a:rPr>
                <a:t>，</a:t>
              </a:r>
              <a:endParaRPr lang="en-US" altLang="zh-CN" kern="100" dirty="0">
                <a:latin typeface="Courier New" panose="02070309020205020404" pitchFamily="49" charset="0"/>
                <a:cs typeface="Courier New" panose="02070309020205020404" pitchFamily="49" charset="0"/>
              </a:endParaRPr>
            </a:p>
            <a:p>
              <a:pPr marL="628015" indent="242570">
                <a:buNone/>
              </a:pPr>
              <a:r>
                <a:rPr lang="en-US" altLang="zh-CN" kern="100" dirty="0">
                  <a:latin typeface="Courier New" panose="02070309020205020404" pitchFamily="49" charset="0"/>
                  <a:cs typeface="Courier New" panose="02070309020205020404" pitchFamily="49" charset="0"/>
                </a:rPr>
                <a:t>        </a:t>
              </a:r>
              <a:r>
                <a:rPr lang="zh-CN" altLang="zh-CN" kern="100" dirty="0">
                  <a:latin typeface="Courier New" panose="02070309020205020404" pitchFamily="49" charset="0"/>
                  <a:cs typeface="Courier New" panose="02070309020205020404" pitchFamily="49" charset="0"/>
                </a:rPr>
                <a:t>返回</a:t>
              </a:r>
              <a:r>
                <a:rPr lang="en-US" altLang="zh-CN" kern="100" dirty="0">
                  <a:latin typeface="Courier New" panose="02070309020205020404" pitchFamily="49" charset="0"/>
                  <a:cs typeface="Times New Roman" panose="02020603050405020304" pitchFamily="18" charset="0"/>
                </a:rPr>
                <a:t>TRUE</a:t>
              </a:r>
              <a:r>
                <a:rPr lang="zh-CN" altLang="zh-CN" kern="100" dirty="0">
                  <a:latin typeface="Courier New" panose="02070309020205020404" pitchFamily="49" charset="0"/>
                  <a:cs typeface="Courier New" panose="02070309020205020404" pitchFamily="49" charset="0"/>
                </a:rPr>
                <a:t>。若无此元素，返回</a:t>
              </a:r>
              <a:r>
                <a:rPr lang="en-US" altLang="zh-CN" kern="100" dirty="0">
                  <a:latin typeface="Courier New" panose="02070309020205020404" pitchFamily="49" charset="0"/>
                  <a:cs typeface="Times New Roman" panose="02020603050405020304" pitchFamily="18" charset="0"/>
                </a:rPr>
                <a:t>FALSE</a:t>
              </a:r>
              <a:r>
                <a:rPr lang="zh-CN" altLang="zh-CN" kern="100" dirty="0">
                  <a:latin typeface="Courier New" panose="02070309020205020404" pitchFamily="49" charset="0"/>
                  <a:cs typeface="Courier New" panose="02070309020205020404" pitchFamily="49" charset="0"/>
                </a:rPr>
                <a:t>。</a:t>
              </a:r>
              <a:endParaRPr lang="zh-CN" altLang="zh-CN" sz="2800" kern="100" dirty="0">
                <a:latin typeface="等线" panose="02010600030101010101" pitchFamily="2" charset="-122"/>
                <a:ea typeface="等线" panose="02010600030101010101" pitchFamily="2" charset="-122"/>
                <a:cs typeface="Times New Roman" panose="02020603050405020304" pitchFamily="18" charset="0"/>
              </a:endParaRPr>
            </a:p>
            <a:p>
              <a:pPr marL="628015" indent="90170"/>
              <a:r>
                <a:rPr lang="en-US" altLang="zh-CN" b="1" kern="100" dirty="0" err="1">
                  <a:latin typeface="Courier New" panose="02070309020205020404" pitchFamily="49" charset="0"/>
                  <a:cs typeface="Times New Roman" panose="02020603050405020304" pitchFamily="18" charset="0"/>
                </a:rPr>
                <a:t>IsFull</a:t>
              </a:r>
              <a:r>
                <a:rPr lang="en-US" altLang="zh-CN" b="1" kern="100" dirty="0">
                  <a:latin typeface="Courier New" panose="02070309020205020404" pitchFamily="49" charset="0"/>
                  <a:cs typeface="Times New Roman" panose="02020603050405020304" pitchFamily="18" charset="0"/>
                </a:rPr>
                <a:t>(S)</a:t>
              </a:r>
              <a:endParaRPr lang="zh-CN" altLang="zh-CN" b="1" kern="100" dirty="0">
                <a:latin typeface="Courier New" panose="02070309020205020404" pitchFamily="49" charset="0"/>
                <a:cs typeface="Times New Roman" panose="02020603050405020304" pitchFamily="18" charset="0"/>
              </a:endParaRPr>
            </a:p>
            <a:p>
              <a:pPr marL="628015" indent="242570">
                <a:buNone/>
              </a:pPr>
              <a:r>
                <a:rPr lang="zh-CN" altLang="zh-CN" kern="100" dirty="0">
                  <a:latin typeface="黑体" panose="02010609060101010101" pitchFamily="49" charset="-122"/>
                  <a:ea typeface="黑体" panose="02010609060101010101" pitchFamily="49" charset="-122"/>
                  <a:cs typeface="Courier New" panose="02070309020205020404" pitchFamily="49" charset="0"/>
                </a:rPr>
                <a:t>初始条件</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：集合</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S</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已存在。</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628015" indent="242570">
                <a:buNone/>
              </a:pPr>
              <a:r>
                <a:rPr lang="zh-CN" altLang="zh-CN" kern="100" dirty="0">
                  <a:latin typeface="黑体" panose="02010609060101010101" pitchFamily="49" charset="-122"/>
                  <a:ea typeface="黑体" panose="02010609060101010101" pitchFamily="49" charset="-122"/>
                  <a:cs typeface="Courier New" panose="02070309020205020404" pitchFamily="49" charset="0"/>
                </a:rPr>
                <a:t>操作结果</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：若集合已满</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是全集</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，返回</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TRUE</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；否则返回</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FALSE</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628015" indent="90170"/>
              <a:r>
                <a:rPr lang="en-US" altLang="zh-CN" b="1" kern="100" dirty="0" err="1">
                  <a:latin typeface="Courier New" panose="02070309020205020404" pitchFamily="49" charset="0"/>
                  <a:cs typeface="Times New Roman" panose="02020603050405020304" pitchFamily="18" charset="0"/>
                </a:rPr>
                <a:t>IsEmpty</a:t>
              </a:r>
              <a:r>
                <a:rPr lang="en-US" altLang="zh-CN" b="1" kern="100" dirty="0">
                  <a:latin typeface="Courier New" panose="02070309020205020404" pitchFamily="49" charset="0"/>
                  <a:cs typeface="Times New Roman" panose="02020603050405020304" pitchFamily="18" charset="0"/>
                </a:rPr>
                <a:t>(S)</a:t>
              </a:r>
              <a:endParaRPr lang="zh-CN" altLang="zh-CN" b="1" kern="100" dirty="0">
                <a:latin typeface="Courier New" panose="02070309020205020404" pitchFamily="49" charset="0"/>
                <a:cs typeface="Times New Roman" panose="02020603050405020304" pitchFamily="18" charset="0"/>
              </a:endParaRPr>
            </a:p>
            <a:p>
              <a:pPr marL="628015" indent="242570">
                <a:buNone/>
              </a:pPr>
              <a:r>
                <a:rPr lang="zh-CN" altLang="zh-CN" kern="100" dirty="0">
                  <a:latin typeface="黑体" panose="02010609060101010101" pitchFamily="49" charset="-122"/>
                  <a:ea typeface="黑体" panose="02010609060101010101" pitchFamily="49" charset="-122"/>
                  <a:cs typeface="Courier New" panose="02070309020205020404" pitchFamily="49" charset="0"/>
                </a:rPr>
                <a:t>初始条件</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：集合</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S</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已存在。</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628015" indent="242570">
                <a:buNone/>
              </a:pPr>
              <a:r>
                <a:rPr lang="zh-CN" altLang="zh-CN" kern="100" dirty="0">
                  <a:latin typeface="黑体" panose="02010609060101010101" pitchFamily="49" charset="-122"/>
                  <a:ea typeface="黑体" panose="02010609060101010101" pitchFamily="49" charset="-122"/>
                  <a:cs typeface="Courier New" panose="02070309020205020404" pitchFamily="49" charset="0"/>
                </a:rPr>
                <a:t>操作结果</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：若集合</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S</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为空，返回</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TRUE</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a:t>
              </a:r>
              <a:endParaRPr lang="en-US" altLang="zh-CN" sz="1800" kern="100" dirty="0">
                <a:effectLst/>
                <a:latin typeface="Courier New" panose="02070309020205020404" pitchFamily="49" charset="0"/>
                <a:ea typeface="宋体" panose="02010600030101010101" pitchFamily="2" charset="-122"/>
                <a:cs typeface="Courier New" panose="02070309020205020404" pitchFamily="49" charset="0"/>
              </a:endParaRPr>
            </a:p>
            <a:p>
              <a:pPr marL="628015" indent="242570">
                <a:buNone/>
              </a:pPr>
              <a:r>
                <a:rPr lang="en-US" altLang="zh-CN" kern="100" dirty="0">
                  <a:latin typeface="Courier New" panose="02070309020205020404" pitchFamily="49" charset="0"/>
                  <a:ea typeface="宋体" panose="02010600030101010101" pitchFamily="2" charset="-122"/>
                  <a:cs typeface="Courier New" panose="02070309020205020404" pitchFamily="49" charset="0"/>
                </a:rPr>
                <a:t>        </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否则返回</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FALSE</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628015" indent="90170"/>
              <a:r>
                <a:rPr lang="en-US" altLang="zh-CN" b="1" kern="100" dirty="0">
                  <a:latin typeface="Courier New" panose="02070309020205020404" pitchFamily="49" charset="0"/>
                  <a:cs typeface="Times New Roman" panose="02020603050405020304" pitchFamily="18" charset="0"/>
                </a:rPr>
                <a:t>Size(S)</a:t>
              </a:r>
              <a:endParaRPr lang="zh-CN" altLang="zh-CN" b="1" kern="100" dirty="0">
                <a:latin typeface="Courier New" panose="02070309020205020404" pitchFamily="49" charset="0"/>
                <a:cs typeface="Times New Roman" panose="02020603050405020304" pitchFamily="18" charset="0"/>
              </a:endParaRPr>
            </a:p>
            <a:p>
              <a:pPr marL="628015" indent="242570">
                <a:buNone/>
              </a:pPr>
              <a:r>
                <a:rPr lang="zh-CN" altLang="zh-CN" kern="100" dirty="0">
                  <a:latin typeface="黑体" panose="02010609060101010101" pitchFamily="49" charset="-122"/>
                  <a:ea typeface="黑体" panose="02010609060101010101" pitchFamily="49" charset="-122"/>
                  <a:cs typeface="Courier New" panose="02070309020205020404" pitchFamily="49" charset="0"/>
                </a:rPr>
                <a:t>初始条件</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：集合</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S</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已存在。</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628015" indent="242570">
                <a:buNone/>
              </a:pPr>
              <a:r>
                <a:rPr lang="zh-CN" altLang="zh-CN" kern="100" dirty="0">
                  <a:latin typeface="黑体" panose="02010609060101010101" pitchFamily="49" charset="-122"/>
                  <a:ea typeface="黑体" panose="02010609060101010101" pitchFamily="49" charset="-122"/>
                  <a:cs typeface="Courier New" panose="02070309020205020404" pitchFamily="49" charset="0"/>
                </a:rPr>
                <a:t>操作结果</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：返回集合</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S</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中元素数量</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集合的大小</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358775">
                <a:spcAft>
                  <a:spcPts val="600"/>
                </a:spcAft>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}ADT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SmallIntSet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p:txBody>
        </p:sp>
      </p:grpSp>
      <p:sp>
        <p:nvSpPr>
          <p:cNvPr id="2" name="灯片编号占位符 1">
            <a:extLst>
              <a:ext uri="{FF2B5EF4-FFF2-40B4-BE49-F238E27FC236}">
                <a16:creationId xmlns:a16="http://schemas.microsoft.com/office/drawing/2014/main" id="{DF73DF8B-146C-3BB5-0A45-4CD4935A9914}"/>
              </a:ext>
            </a:extLst>
          </p:cNvPr>
          <p:cNvSpPr>
            <a:spLocks noGrp="1"/>
          </p:cNvSpPr>
          <p:nvPr>
            <p:ph type="sldNum" sz="quarter" idx="12"/>
          </p:nvPr>
        </p:nvSpPr>
        <p:spPr/>
        <p:txBody>
          <a:bodyPr/>
          <a:lstStyle/>
          <a:p>
            <a:fld id="{D7C0FE0B-717B-41AE-9FA2-CA4BF851D1C3}" type="slidenum">
              <a:rPr lang="zh-CN" altLang="en-US" smtClean="0"/>
              <a:t>41</a:t>
            </a:fld>
            <a:endParaRPr lang="zh-CN" altLang="en-US"/>
          </a:p>
        </p:txBody>
      </p:sp>
    </p:spTree>
    <p:extLst>
      <p:ext uri="{BB962C8B-B14F-4D97-AF65-F5344CB8AC3E}">
        <p14:creationId xmlns:p14="http://schemas.microsoft.com/office/powerpoint/2010/main" val="1885923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1000"/>
                                        <p:tgtEl>
                                          <p:spTgt spid="11"/>
                                        </p:tgtEl>
                                      </p:cBhvr>
                                    </p:animEffect>
                                    <p:anim calcmode="lin" valueType="num">
                                      <p:cBhvr>
                                        <p:cTn id="15" dur="1000" fill="hold"/>
                                        <p:tgtEl>
                                          <p:spTgt spid="11"/>
                                        </p:tgtEl>
                                        <p:attrNameLst>
                                          <p:attrName>ppt_x</p:attrName>
                                        </p:attrNameLst>
                                      </p:cBhvr>
                                      <p:tavLst>
                                        <p:tav tm="0">
                                          <p:val>
                                            <p:strVal val="#ppt_x"/>
                                          </p:val>
                                        </p:tav>
                                        <p:tav tm="100000">
                                          <p:val>
                                            <p:strVal val="#ppt_x"/>
                                          </p:val>
                                        </p:tav>
                                      </p:tavLst>
                                    </p:anim>
                                    <p:anim calcmode="lin" valueType="num">
                                      <p:cBhvr>
                                        <p:cTn id="1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E0059D78-49D1-FC21-629C-2676E256DA52}"/>
              </a:ext>
            </a:extLst>
          </p:cNvPr>
          <p:cNvSpPr txBox="1"/>
          <p:nvPr/>
        </p:nvSpPr>
        <p:spPr>
          <a:xfrm>
            <a:off x="853992" y="1015658"/>
            <a:ext cx="9753996" cy="943913"/>
          </a:xfrm>
          <a:prstGeom prst="rect">
            <a:avLst/>
          </a:prstGeom>
          <a:noFill/>
        </p:spPr>
        <p:txBody>
          <a:bodyPr wrap="square">
            <a:spAutoFit/>
          </a:bodyPr>
          <a:lstStyle/>
          <a:p>
            <a:pPr algn="just">
              <a:lnSpc>
                <a:spcPct val="120000"/>
              </a:lnSpc>
              <a:buNone/>
            </a:pPr>
            <a:r>
              <a:rPr lang="zh-CN" altLang="zh-CN" sz="2400"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抽象数据类型</a:t>
            </a: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可通过固有数据类型来表示和实现，即利用处理器中已存在的数据类型来说明新的结构，用已经实现的操作来组合新的操作。</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5" name="文本框 4">
            <a:extLst>
              <a:ext uri="{FF2B5EF4-FFF2-40B4-BE49-F238E27FC236}">
                <a16:creationId xmlns:a16="http://schemas.microsoft.com/office/drawing/2014/main" id="{12ECAA7B-D475-CB22-E463-0C1AE8B90F99}"/>
              </a:ext>
            </a:extLst>
          </p:cNvPr>
          <p:cNvSpPr txBox="1"/>
          <p:nvPr/>
        </p:nvSpPr>
        <p:spPr>
          <a:xfrm>
            <a:off x="1351465" y="260585"/>
            <a:ext cx="6499110" cy="535531"/>
          </a:xfrm>
          <a:prstGeom prst="rect">
            <a:avLst/>
          </a:prstGeom>
        </p:spPr>
        <p:txBody>
          <a:bodyPr vert="horz" lIns="91440" tIns="45720" rIns="91440" bIns="45720" rtlCol="0" anchor="ctr" anchorCtr="0">
            <a:normAutofit/>
          </a:bodyPr>
          <a:lstStyle>
            <a:defPPr>
              <a:defRPr lang="zh-CN"/>
            </a:defPPr>
            <a:lvl1pPr>
              <a:lnSpc>
                <a:spcPct val="90000"/>
              </a:lnSpc>
              <a:spcBef>
                <a:spcPct val="0"/>
              </a:spcBef>
              <a:buNone/>
              <a:defRPr sz="3200" b="1">
                <a:solidFill>
                  <a:srgbClr val="000099"/>
                </a:solidFill>
                <a:effectLst>
                  <a:outerShdw blurRad="38100" dist="38100" dir="2700000" algn="tl">
                    <a:srgbClr val="000000">
                      <a:alpha val="43137"/>
                    </a:srgbClr>
                  </a:outerShdw>
                </a:effectLst>
                <a:latin typeface="+mj-lt"/>
                <a:ea typeface="+mj-ea"/>
                <a:cs typeface="+mj-cs"/>
              </a:defRPr>
            </a:lvl1pPr>
          </a:lstStyle>
          <a:p>
            <a:r>
              <a:rPr lang="en-US" altLang="zh-CN" dirty="0"/>
              <a:t>1.3  </a:t>
            </a:r>
            <a:r>
              <a:rPr lang="zh-CN" altLang="zh-CN" dirty="0"/>
              <a:t>抽象数据类型的表示与实现</a:t>
            </a:r>
          </a:p>
        </p:txBody>
      </p:sp>
      <p:sp>
        <p:nvSpPr>
          <p:cNvPr id="7" name="文本框 6">
            <a:extLst>
              <a:ext uri="{FF2B5EF4-FFF2-40B4-BE49-F238E27FC236}">
                <a16:creationId xmlns:a16="http://schemas.microsoft.com/office/drawing/2014/main" id="{24F7DB01-B336-62FA-5136-D1158D87E5C8}"/>
              </a:ext>
            </a:extLst>
          </p:cNvPr>
          <p:cNvSpPr txBox="1"/>
          <p:nvPr/>
        </p:nvSpPr>
        <p:spPr>
          <a:xfrm>
            <a:off x="854388" y="1959571"/>
            <a:ext cx="5068287" cy="4623382"/>
          </a:xfrm>
          <a:prstGeom prst="rect">
            <a:avLst/>
          </a:prstGeom>
          <a:noFill/>
        </p:spPr>
        <p:txBody>
          <a:bodyPr wrap="square">
            <a:spAutoFit/>
          </a:bodyPr>
          <a:lstStyle/>
          <a:p>
            <a:pPr indent="266700">
              <a:lnSpc>
                <a:spcPct val="200000"/>
              </a:lnSpc>
              <a:buNone/>
            </a:pPr>
            <a:r>
              <a:rPr lang="en-US" altLang="zh-CN" sz="2400" b="0" kern="100"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1.3.1  </a:t>
            </a:r>
            <a:r>
              <a:rPr lang="zh-CN" altLang="zh-CN" sz="2400" b="0" kern="100"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描述语言概要</a:t>
            </a:r>
            <a:endParaRPr lang="zh-CN" altLang="zh-CN" sz="2400" b="1" kern="100"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endParaRPr>
          </a:p>
          <a:p>
            <a:pPr indent="266700" algn="just">
              <a:lnSpc>
                <a:spcPct val="115000"/>
              </a:lnSpc>
              <a:buNone/>
            </a:pP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本书在高级程序设计语言的虚拟层次上讨论抽象数据类型的表示和实现，并且讨论的数据结构及其算法主要是面向读者，采用</a:t>
            </a:r>
            <a:r>
              <a:rPr lang="en-US"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C</a:t>
            </a: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语言作为描述工具，有时也用伪码描述一些只含抽象操作的抽象算法。使得数据结构与算法的描述和讨论简明清晰，数据结构的类型定义和函数都是</a:t>
            </a:r>
            <a:r>
              <a:rPr lang="en-US"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C</a:t>
            </a: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语言代码，简要说明如下。</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9" name="文本框 8">
            <a:extLst>
              <a:ext uri="{FF2B5EF4-FFF2-40B4-BE49-F238E27FC236}">
                <a16:creationId xmlns:a16="http://schemas.microsoft.com/office/drawing/2014/main" id="{0BC90ACA-1DC6-84A9-7021-F372C4FDA8B7}"/>
              </a:ext>
            </a:extLst>
          </p:cNvPr>
          <p:cNvSpPr txBox="1"/>
          <p:nvPr/>
        </p:nvSpPr>
        <p:spPr>
          <a:xfrm>
            <a:off x="6269326" y="2230496"/>
            <a:ext cx="5352556" cy="4308872"/>
          </a:xfrm>
          <a:prstGeom prst="rect">
            <a:avLst/>
          </a:prstGeom>
          <a:solidFill>
            <a:schemeClr val="accent6">
              <a:lumMod val="20000"/>
              <a:lumOff val="80000"/>
            </a:schemeClr>
          </a:solidFill>
        </p:spPr>
        <p:txBody>
          <a:bodyPr wrap="square">
            <a:spAutoFit/>
          </a:bodyPr>
          <a:lstStyle/>
          <a:p>
            <a:pPr indent="266700">
              <a:lnSpc>
                <a:spcPct val="120000"/>
              </a:lnSpc>
              <a:buNone/>
            </a:pPr>
            <a:r>
              <a:rPr lang="zh-CN" altLang="zh-CN" sz="2400" b="1" kern="1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kern="1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2400" b="1" kern="1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）预定义常量和类型</a:t>
            </a:r>
            <a:endParaRPr lang="zh-CN" altLang="zh-CN" sz="2400" b="1" kern="100" dirty="0">
              <a:solidFill>
                <a:srgbClr val="C00000"/>
              </a:solidFill>
              <a:effectLst/>
              <a:latin typeface="等线" panose="02010600030101010101" pitchFamily="2" charset="-122"/>
              <a:ea typeface="等线" panose="02010600030101010101" pitchFamily="2" charset="-122"/>
              <a:cs typeface="Times New Roman" panose="02020603050405020304" pitchFamily="18" charset="0"/>
            </a:endParaRPr>
          </a:p>
          <a:p>
            <a:pPr indent="338455">
              <a:buNone/>
            </a:pPr>
            <a:r>
              <a:rPr lang="en-US" altLang="zh-CN" sz="2000" b="1" kern="100" dirty="0">
                <a:solidFill>
                  <a:schemeClr val="accent4">
                    <a:lumMod val="75000"/>
                  </a:schemeClr>
                </a:solidFill>
                <a:latin typeface="Courier New" panose="02070309020205020404" pitchFamily="49" charset="0"/>
                <a:ea typeface="宋体" panose="02010600030101010101" pitchFamily="2" charset="-122"/>
                <a:cs typeface="Courier New" panose="02070309020205020404" pitchFamily="49" charset="0"/>
              </a:rPr>
              <a:t>// </a:t>
            </a:r>
            <a:r>
              <a:rPr lang="zh-CN" altLang="zh-CN" sz="2000" b="1" kern="100" dirty="0">
                <a:solidFill>
                  <a:schemeClr val="accent4">
                    <a:lumMod val="75000"/>
                  </a:schemeClr>
                </a:solidFill>
                <a:latin typeface="Courier New" panose="02070309020205020404" pitchFamily="49" charset="0"/>
                <a:ea typeface="宋体" panose="02010600030101010101" pitchFamily="2" charset="-122"/>
                <a:cs typeface="Courier New" panose="02070309020205020404" pitchFamily="49" charset="0"/>
              </a:rPr>
              <a:t>函数结果状态代码</a:t>
            </a:r>
          </a:p>
          <a:p>
            <a:pPr indent="339725">
              <a:buNone/>
            </a:pPr>
            <a:r>
              <a:rPr lang="en-US" altLang="zh-CN" sz="2400" b="1" kern="100" dirty="0">
                <a:effectLst/>
                <a:latin typeface="Courier New" panose="02070309020205020404" pitchFamily="49" charset="0"/>
                <a:ea typeface="宋体" panose="02010600030101010101" pitchFamily="2" charset="-122"/>
                <a:cs typeface="Times New Roman" panose="02020603050405020304" pitchFamily="18" charset="0"/>
              </a:rPr>
              <a:t>#define</a:t>
            </a:r>
            <a:r>
              <a:rPr lang="en-US" altLang="zh-CN" sz="2400" kern="100" dirty="0">
                <a:effectLst/>
                <a:latin typeface="Courier New" panose="02070309020205020404" pitchFamily="49" charset="0"/>
                <a:ea typeface="宋体" panose="02010600030101010101" pitchFamily="2" charset="-122"/>
                <a:cs typeface="Times New Roman" panose="02020603050405020304" pitchFamily="18" charset="0"/>
              </a:rPr>
              <a:t>  TRUE          1</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indent="339725">
              <a:buNone/>
            </a:pPr>
            <a:r>
              <a:rPr lang="en-US" altLang="zh-CN" sz="2400" b="1" kern="100" dirty="0">
                <a:effectLst/>
                <a:latin typeface="Courier New" panose="02070309020205020404" pitchFamily="49" charset="0"/>
                <a:ea typeface="宋体" panose="02010600030101010101" pitchFamily="2" charset="-122"/>
                <a:cs typeface="Times New Roman" panose="02020603050405020304" pitchFamily="18" charset="0"/>
              </a:rPr>
              <a:t>#define</a:t>
            </a:r>
            <a:r>
              <a:rPr lang="en-US" altLang="zh-CN" sz="2400" kern="100" dirty="0">
                <a:effectLst/>
                <a:latin typeface="Courier New" panose="02070309020205020404" pitchFamily="49" charset="0"/>
                <a:ea typeface="宋体" panose="02010600030101010101" pitchFamily="2" charset="-122"/>
                <a:cs typeface="Times New Roman" panose="02020603050405020304" pitchFamily="18" charset="0"/>
              </a:rPr>
              <a:t>  FALSE         0</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indent="339725">
              <a:buNone/>
            </a:pPr>
            <a:r>
              <a:rPr lang="en-US" altLang="zh-CN" sz="2400" b="1" kern="100" dirty="0">
                <a:effectLst/>
                <a:latin typeface="Courier New" panose="02070309020205020404" pitchFamily="49" charset="0"/>
                <a:ea typeface="宋体" panose="02010600030101010101" pitchFamily="2" charset="-122"/>
                <a:cs typeface="Times New Roman" panose="02020603050405020304" pitchFamily="18" charset="0"/>
              </a:rPr>
              <a:t>#define </a:t>
            </a:r>
            <a:r>
              <a:rPr lang="en-US" altLang="zh-CN" sz="2400" kern="100" dirty="0">
                <a:effectLst/>
                <a:latin typeface="Courier New" panose="02070309020205020404" pitchFamily="49" charset="0"/>
                <a:ea typeface="宋体" panose="02010600030101010101" pitchFamily="2" charset="-122"/>
                <a:cs typeface="Times New Roman" panose="02020603050405020304" pitchFamily="18" charset="0"/>
              </a:rPr>
              <a:t> OK            1</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indent="339725">
              <a:buNone/>
            </a:pPr>
            <a:r>
              <a:rPr lang="en-US" altLang="zh-CN" sz="2400" b="1" kern="100" dirty="0">
                <a:effectLst/>
                <a:latin typeface="Courier New" panose="02070309020205020404" pitchFamily="49" charset="0"/>
                <a:ea typeface="宋体" panose="02010600030101010101" pitchFamily="2" charset="-122"/>
                <a:cs typeface="Times New Roman" panose="02020603050405020304" pitchFamily="18" charset="0"/>
              </a:rPr>
              <a:t>#define </a:t>
            </a:r>
            <a:r>
              <a:rPr lang="en-US" altLang="zh-CN" sz="2400" kern="100" dirty="0">
                <a:effectLst/>
                <a:latin typeface="Courier New" panose="02070309020205020404" pitchFamily="49" charset="0"/>
                <a:ea typeface="宋体" panose="02010600030101010101" pitchFamily="2" charset="-122"/>
                <a:cs typeface="Times New Roman" panose="02020603050405020304" pitchFamily="18" charset="0"/>
              </a:rPr>
              <a:t> ERROR         0</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indent="339725">
              <a:buNone/>
            </a:pPr>
            <a:r>
              <a:rPr lang="en-US" altLang="zh-CN" sz="2400" b="1" kern="100" dirty="0">
                <a:effectLst/>
                <a:latin typeface="Courier New" panose="02070309020205020404" pitchFamily="49" charset="0"/>
                <a:ea typeface="宋体" panose="02010600030101010101" pitchFamily="2" charset="-122"/>
                <a:cs typeface="Times New Roman" panose="02020603050405020304" pitchFamily="18" charset="0"/>
              </a:rPr>
              <a:t>#define </a:t>
            </a:r>
            <a:r>
              <a:rPr lang="en-US" altLang="zh-CN" sz="2400" kern="100" dirty="0">
                <a:effectLst/>
                <a:latin typeface="Courier New" panose="02070309020205020404" pitchFamily="49" charset="0"/>
                <a:ea typeface="宋体" panose="02010600030101010101" pitchFamily="2" charset="-122"/>
                <a:cs typeface="Times New Roman" panose="02020603050405020304" pitchFamily="18" charset="0"/>
              </a:rPr>
              <a:t> INFEASIBLE   -1</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indent="339725">
              <a:buNone/>
            </a:pPr>
            <a:r>
              <a:rPr lang="en-US" altLang="zh-CN" sz="2400" b="1" kern="100" dirty="0">
                <a:effectLst/>
                <a:latin typeface="Courier New" panose="02070309020205020404" pitchFamily="49" charset="0"/>
                <a:ea typeface="宋体" panose="02010600030101010101" pitchFamily="2" charset="-122"/>
                <a:cs typeface="Times New Roman" panose="02020603050405020304" pitchFamily="18" charset="0"/>
              </a:rPr>
              <a:t>#define</a:t>
            </a:r>
            <a:r>
              <a:rPr lang="en-US" altLang="zh-CN" sz="2400" kern="100" dirty="0">
                <a:effectLst/>
                <a:latin typeface="Courier New" panose="02070309020205020404" pitchFamily="49" charset="0"/>
                <a:ea typeface="宋体" panose="02010600030101010101" pitchFamily="2" charset="-122"/>
                <a:cs typeface="Times New Roman" panose="02020603050405020304" pitchFamily="18" charset="0"/>
              </a:rPr>
              <a:t>  OVERFLOW     -2</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indent="339725">
              <a:spcAft>
                <a:spcPts val="600"/>
              </a:spcAft>
              <a:buNone/>
            </a:pPr>
            <a:r>
              <a:rPr lang="en-US" altLang="zh-CN" sz="2400" b="1" kern="100" dirty="0">
                <a:effectLst/>
                <a:latin typeface="Courier New" panose="02070309020205020404" pitchFamily="49" charset="0"/>
                <a:ea typeface="宋体" panose="02010600030101010101" pitchFamily="2" charset="-122"/>
                <a:cs typeface="Times New Roman" panose="02020603050405020304" pitchFamily="18" charset="0"/>
              </a:rPr>
              <a:t>Typedef </a:t>
            </a:r>
            <a:r>
              <a:rPr lang="en-US" altLang="zh-CN" sz="24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2400" b="1" kern="100" dirty="0">
                <a:effectLst/>
                <a:latin typeface="Courier New" panose="02070309020205020404" pitchFamily="49" charset="0"/>
                <a:ea typeface="宋体" panose="02010600030101010101" pitchFamily="2" charset="-122"/>
                <a:cs typeface="Times New Roman" panose="02020603050405020304" pitchFamily="18" charset="0"/>
              </a:rPr>
              <a:t>int   </a:t>
            </a:r>
            <a:r>
              <a:rPr lang="en-US" altLang="zh-CN" sz="24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2400" b="1" kern="100" dirty="0">
                <a:effectLst/>
                <a:latin typeface="Courier New" panose="02070309020205020404" pitchFamily="49" charset="0"/>
                <a:ea typeface="宋体" panose="02010600030101010101" pitchFamily="2" charset="-122"/>
                <a:cs typeface="Times New Roman" panose="02020603050405020304" pitchFamily="18" charset="0"/>
              </a:rPr>
              <a:t>Status</a:t>
            </a:r>
            <a:r>
              <a:rPr lang="en-US" altLang="zh-CN" sz="2400" kern="100" dirty="0">
                <a:effectLst/>
                <a:latin typeface="Courier New" panose="02070309020205020404" pitchFamily="49" charset="0"/>
                <a:ea typeface="宋体" panose="02010600030101010101" pitchFamily="2" charset="-122"/>
                <a:cs typeface="Times New Roman" panose="02020603050405020304" pitchFamily="18" charset="0"/>
              </a:rPr>
              <a:t>;  </a:t>
            </a:r>
          </a:p>
          <a:p>
            <a:pPr indent="339725">
              <a:spcAft>
                <a:spcPts val="600"/>
              </a:spcAft>
              <a:buNone/>
            </a:pPr>
            <a:r>
              <a:rPr lang="en-US" altLang="zh-CN" sz="2000" b="1" kern="100" dirty="0">
                <a:solidFill>
                  <a:schemeClr val="accent4">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 </a:t>
            </a:r>
            <a:r>
              <a:rPr lang="zh-CN" altLang="zh-CN" sz="2000" b="1" kern="100" dirty="0">
                <a:solidFill>
                  <a:schemeClr val="accent4">
                    <a:lumMod val="75000"/>
                  </a:schemeClr>
                </a:solidFill>
                <a:effectLst/>
                <a:latin typeface="Courier New" panose="02070309020205020404" pitchFamily="49" charset="0"/>
                <a:ea typeface="宋体" panose="02010600030101010101" pitchFamily="2" charset="-122"/>
                <a:cs typeface="Courier New" panose="02070309020205020404" pitchFamily="49" charset="0"/>
              </a:rPr>
              <a:t>用作函数类型，其值是整数，</a:t>
            </a:r>
            <a:endParaRPr lang="en-US" altLang="zh-CN" sz="2000" b="1" kern="100" dirty="0">
              <a:solidFill>
                <a:schemeClr val="accent4">
                  <a:lumMod val="75000"/>
                </a:schemeClr>
              </a:solidFill>
              <a:effectLst/>
              <a:latin typeface="Courier New" panose="02070309020205020404" pitchFamily="49" charset="0"/>
              <a:ea typeface="宋体" panose="02010600030101010101" pitchFamily="2" charset="-122"/>
              <a:cs typeface="Courier New" panose="02070309020205020404" pitchFamily="49" charset="0"/>
            </a:endParaRPr>
          </a:p>
          <a:p>
            <a:pPr indent="339725">
              <a:spcAft>
                <a:spcPts val="600"/>
              </a:spcAft>
              <a:buNone/>
            </a:pPr>
            <a:r>
              <a:rPr lang="en-US" altLang="zh-CN" sz="2000" b="1" kern="100" dirty="0">
                <a:solidFill>
                  <a:schemeClr val="accent4">
                    <a:lumMod val="75000"/>
                  </a:schemeClr>
                </a:solidFill>
                <a:effectLst/>
                <a:latin typeface="Courier New" panose="02070309020205020404" pitchFamily="49" charset="0"/>
                <a:ea typeface="宋体" panose="02010600030101010101" pitchFamily="2" charset="-122"/>
                <a:cs typeface="Courier New" panose="02070309020205020404" pitchFamily="49" charset="0"/>
              </a:rPr>
              <a:t>   // </a:t>
            </a:r>
            <a:r>
              <a:rPr lang="zh-CN" altLang="zh-CN" sz="2000" b="1" kern="100" dirty="0">
                <a:solidFill>
                  <a:schemeClr val="accent4">
                    <a:lumMod val="75000"/>
                  </a:schemeClr>
                </a:solidFill>
                <a:effectLst/>
                <a:latin typeface="Courier New" panose="02070309020205020404" pitchFamily="49" charset="0"/>
                <a:ea typeface="宋体" panose="02010600030101010101" pitchFamily="2" charset="-122"/>
                <a:cs typeface="Courier New" panose="02070309020205020404" pitchFamily="49" charset="0"/>
              </a:rPr>
              <a:t>作为函数结果状态代码</a:t>
            </a:r>
            <a:endParaRPr lang="zh-CN" altLang="zh-CN" sz="2000" b="1" kern="100" dirty="0">
              <a:solidFill>
                <a:schemeClr val="accent4">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1FDD73B9-E636-A708-D213-96914CD258D4}"/>
              </a:ext>
            </a:extLst>
          </p:cNvPr>
          <p:cNvSpPr>
            <a:spLocks noGrp="1"/>
          </p:cNvSpPr>
          <p:nvPr>
            <p:ph type="sldNum" sz="quarter" idx="12"/>
          </p:nvPr>
        </p:nvSpPr>
        <p:spPr/>
        <p:txBody>
          <a:bodyPr/>
          <a:lstStyle/>
          <a:p>
            <a:fld id="{D7C0FE0B-717B-41AE-9FA2-CA4BF851D1C3}" type="slidenum">
              <a:rPr lang="zh-CN" altLang="en-US" smtClean="0"/>
              <a:t>42</a:t>
            </a:fld>
            <a:endParaRPr lang="zh-CN" altLang="en-US"/>
          </a:p>
        </p:txBody>
      </p:sp>
    </p:spTree>
    <p:extLst>
      <p:ext uri="{BB962C8B-B14F-4D97-AF65-F5344CB8AC3E}">
        <p14:creationId xmlns:p14="http://schemas.microsoft.com/office/powerpoint/2010/main" val="2490488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anim calcmode="lin" valueType="num">
                                      <p:cBhvr>
                                        <p:cTn id="20" dur="1000" fill="hold"/>
                                        <p:tgtEl>
                                          <p:spTgt spid="2"/>
                                        </p:tgtEl>
                                        <p:attrNameLst>
                                          <p:attrName>ppt_x</p:attrName>
                                        </p:attrNameLst>
                                      </p:cBhvr>
                                      <p:tavLst>
                                        <p:tav tm="0">
                                          <p:val>
                                            <p:strVal val="#ppt_x"/>
                                          </p:val>
                                        </p:tav>
                                        <p:tav tm="100000">
                                          <p:val>
                                            <p:strVal val="#ppt_x"/>
                                          </p:val>
                                        </p:tav>
                                      </p:tavLst>
                                    </p:anim>
                                    <p:anim calcmode="lin" valueType="num">
                                      <p:cBhvr>
                                        <p:cTn id="21"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animBg="1"/>
      <p:bldP spid="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E525A5A3-6C69-E90F-1445-E5A02C2448A2}"/>
              </a:ext>
            </a:extLst>
          </p:cNvPr>
          <p:cNvSpPr txBox="1"/>
          <p:nvPr/>
        </p:nvSpPr>
        <p:spPr>
          <a:xfrm>
            <a:off x="406663" y="304660"/>
            <a:ext cx="5487189" cy="6351162"/>
          </a:xfrm>
          <a:prstGeom prst="rect">
            <a:avLst/>
          </a:prstGeom>
          <a:solidFill>
            <a:schemeClr val="accent6">
              <a:lumMod val="20000"/>
              <a:lumOff val="80000"/>
            </a:schemeClr>
          </a:solidFill>
        </p:spPr>
        <p:txBody>
          <a:bodyPr wrap="square">
            <a:spAutoFit/>
          </a:bodyPr>
          <a:lstStyle/>
          <a:p>
            <a:pPr indent="266700" algn="just">
              <a:lnSpc>
                <a:spcPct val="120000"/>
              </a:lnSpc>
              <a:buNone/>
            </a:pPr>
            <a:r>
              <a:rPr lang="zh-CN" altLang="zh-CN" sz="2000" b="1" kern="100" dirty="0">
                <a:solidFill>
                  <a:srgbClr val="C00000"/>
                </a:solidFill>
                <a:ea typeface="宋体" panose="02010600030101010101" pitchFamily="2" charset="-122"/>
                <a:cs typeface="Times New Roman" panose="02020603050405020304" pitchFamily="18" charset="0"/>
              </a:rPr>
              <a:t>（</a:t>
            </a:r>
            <a:r>
              <a:rPr lang="en-US" altLang="zh-CN" sz="2000" b="1" kern="100" dirty="0">
                <a:solidFill>
                  <a:srgbClr val="C00000"/>
                </a:solidFill>
                <a:ea typeface="宋体" panose="02010600030101010101" pitchFamily="2" charset="-122"/>
                <a:cs typeface="Times New Roman" panose="02020603050405020304" pitchFamily="18" charset="0"/>
              </a:rPr>
              <a:t>2</a:t>
            </a:r>
            <a:r>
              <a:rPr lang="zh-CN" altLang="zh-CN" sz="2000" b="1" kern="100" dirty="0">
                <a:solidFill>
                  <a:srgbClr val="C00000"/>
                </a:solidFill>
                <a:ea typeface="宋体" panose="02010600030101010101" pitchFamily="2" charset="-122"/>
                <a:cs typeface="Times New Roman" panose="02020603050405020304" pitchFamily="18" charset="0"/>
              </a:rPr>
              <a:t>）数据结构的表示（存储结构）用类型定义（</a:t>
            </a:r>
            <a:r>
              <a:rPr lang="en-US" altLang="zh-CN" sz="2000" b="1" kern="100" dirty="0">
                <a:solidFill>
                  <a:srgbClr val="C00000"/>
                </a:solidFill>
                <a:ea typeface="宋体" panose="02010600030101010101" pitchFamily="2" charset="-122"/>
                <a:cs typeface="Times New Roman" panose="02020603050405020304" pitchFamily="18" charset="0"/>
              </a:rPr>
              <a:t>typedef</a:t>
            </a:r>
            <a:r>
              <a:rPr lang="zh-CN" altLang="zh-CN" sz="2000" b="1" kern="100" dirty="0">
                <a:solidFill>
                  <a:srgbClr val="C00000"/>
                </a:solidFill>
                <a:ea typeface="宋体" panose="02010600030101010101" pitchFamily="2" charset="-122"/>
                <a:cs typeface="Times New Roman" panose="02020603050405020304" pitchFamily="18" charset="0"/>
              </a:rPr>
              <a:t>）描述。</a:t>
            </a:r>
            <a:r>
              <a:rPr lang="zh-CN" altLang="zh-CN" sz="2000" kern="100" dirty="0">
                <a:effectLst/>
                <a:latin typeface="Courier New" panose="02070309020205020404" pitchFamily="49" charset="0"/>
                <a:ea typeface="宋体" panose="02010600030101010101" pitchFamily="2" charset="-122"/>
                <a:cs typeface="Courier New" panose="02070309020205020404" pitchFamily="49" charset="0"/>
              </a:rPr>
              <a:t>数据元素类型约定为</a:t>
            </a:r>
            <a:r>
              <a:rPr lang="en-US" altLang="zh-CN" sz="2000" kern="100" dirty="0" err="1">
                <a:effectLst/>
                <a:latin typeface="Courier New" panose="02070309020205020404" pitchFamily="49" charset="0"/>
                <a:ea typeface="宋体" panose="02010600030101010101" pitchFamily="2" charset="-122"/>
                <a:cs typeface="Times New Roman" panose="02020603050405020304" pitchFamily="18" charset="0"/>
              </a:rPr>
              <a:t>ElemType</a:t>
            </a:r>
            <a:r>
              <a:rPr lang="zh-CN" altLang="zh-CN" sz="2000" kern="100" dirty="0">
                <a:effectLst/>
                <a:latin typeface="Courier New" panose="02070309020205020404" pitchFamily="49" charset="0"/>
                <a:ea typeface="宋体" panose="02010600030101010101" pitchFamily="2" charset="-122"/>
                <a:cs typeface="Courier New" panose="02070309020205020404" pitchFamily="49" charset="0"/>
              </a:rPr>
              <a:t>，由用户在使用该数据类型时自行定义。在讨论中，若无特别说明，能比较大小的</a:t>
            </a:r>
            <a:r>
              <a:rPr lang="en-US" altLang="zh-CN" sz="2000" kern="100" dirty="0" err="1">
                <a:effectLst/>
                <a:latin typeface="Courier New" panose="02070309020205020404" pitchFamily="49" charset="0"/>
                <a:ea typeface="宋体" panose="02010600030101010101" pitchFamily="2" charset="-122"/>
                <a:cs typeface="Times New Roman" panose="02020603050405020304" pitchFamily="18" charset="0"/>
              </a:rPr>
              <a:t>ElemType</a:t>
            </a:r>
            <a:r>
              <a:rPr lang="zh-CN" altLang="zh-CN" sz="2000" kern="100" dirty="0">
                <a:effectLst/>
                <a:latin typeface="Courier New" panose="02070309020205020404" pitchFamily="49" charset="0"/>
                <a:ea typeface="宋体" panose="02010600030101010101" pitchFamily="2" charset="-122"/>
                <a:cs typeface="Courier New" panose="02070309020205020404" pitchFamily="49" charset="0"/>
              </a:rPr>
              <a:t>类型为</a:t>
            </a:r>
            <a:r>
              <a:rPr lang="en-US" altLang="zh-CN" sz="2000" b="1" kern="100" dirty="0">
                <a:effectLst/>
                <a:latin typeface="Courier New" panose="02070309020205020404" pitchFamily="49" charset="0"/>
                <a:ea typeface="宋体" panose="02010600030101010101" pitchFamily="2" charset="-122"/>
                <a:cs typeface="Times New Roman" panose="02020603050405020304" pitchFamily="18" charset="0"/>
              </a:rPr>
              <a:t>int</a:t>
            </a:r>
            <a:r>
              <a:rPr lang="zh-CN" altLang="zh-CN" sz="2000" kern="100" dirty="0">
                <a:effectLst/>
                <a:latin typeface="Courier New" panose="02070309020205020404" pitchFamily="49" charset="0"/>
                <a:ea typeface="宋体" panose="02010600030101010101" pitchFamily="2" charset="-122"/>
                <a:cs typeface="Courier New" panose="02070309020205020404" pitchFamily="49" charset="0"/>
              </a:rPr>
              <a:t>或</a:t>
            </a:r>
            <a:r>
              <a:rPr lang="en-US" altLang="zh-CN" sz="2000" b="1" kern="100" dirty="0">
                <a:effectLst/>
                <a:latin typeface="Courier New" panose="02070309020205020404" pitchFamily="49" charset="0"/>
                <a:ea typeface="宋体" panose="02010600030101010101" pitchFamily="2" charset="-122"/>
                <a:cs typeface="Times New Roman" panose="02020603050405020304" pitchFamily="18" charset="0"/>
              </a:rPr>
              <a:t>char</a:t>
            </a:r>
            <a:r>
              <a:rPr lang="zh-CN" altLang="zh-CN" sz="2000" kern="100" dirty="0">
                <a:effectLst/>
                <a:latin typeface="Courier New" panose="02070309020205020404" pitchFamily="49" charset="0"/>
                <a:ea typeface="宋体" panose="02010600030101010101" pitchFamily="2" charset="-122"/>
                <a:cs typeface="Courier New" panose="02070309020205020404" pitchFamily="49" charset="0"/>
              </a:rPr>
              <a:t>等简单类型。</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20000"/>
              </a:lnSpc>
              <a:buNone/>
            </a:pPr>
            <a:r>
              <a:rPr lang="zh-CN" altLang="zh-CN" sz="2000"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3</a:t>
            </a:r>
            <a:r>
              <a:rPr lang="zh-CN" altLang="zh-CN" sz="2000"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）基本操作定义为函数原型，实现为函数。</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当函数返回值为函数结果状态代码时，函数定义为</a:t>
            </a:r>
            <a:r>
              <a:rPr lang="en-US" altLang="zh-CN" sz="2000" b="1" kern="100" dirty="0">
                <a:effectLst/>
                <a:latin typeface="Courier New" panose="02070309020205020404" pitchFamily="49" charset="0"/>
                <a:ea typeface="宋体" panose="02010600030101010101" pitchFamily="2" charset="-122"/>
                <a:cs typeface="Times New Roman" panose="02020603050405020304" pitchFamily="18" charset="0"/>
              </a:rPr>
              <a:t>Status</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类型。若需返回多个值时，则定义含这多个值的结构类型作为函数类型。</a:t>
            </a:r>
            <a:endPar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lnSpc>
                <a:spcPct val="120000"/>
              </a:lnSpc>
            </a:pPr>
            <a:r>
              <a:rPr lang="zh-CN" altLang="zh-CN" sz="2000"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4</a:t>
            </a:r>
            <a:r>
              <a:rPr lang="zh-CN" altLang="zh-CN" sz="2000"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）基本函数</a:t>
            </a:r>
          </a:p>
          <a:p>
            <a:pPr indent="320040" algn="just">
              <a:lnSpc>
                <a:spcPct val="120000"/>
              </a:lnSpc>
              <a:buNone/>
            </a:pPr>
            <a:r>
              <a:rPr lang="zh-CN" altLang="zh-CN" sz="2000" kern="100" dirty="0">
                <a:latin typeface="Courier New" panose="02070309020205020404" pitchFamily="49" charset="0"/>
                <a:cs typeface="Courier New" panose="02070309020205020404" pitchFamily="49" charset="0"/>
              </a:rPr>
              <a:t>求最大值</a:t>
            </a:r>
            <a:r>
              <a:rPr lang="en-US" altLang="zh-CN" sz="2000" kern="100" dirty="0">
                <a:latin typeface="Courier New" panose="02070309020205020404" pitchFamily="49" charset="0"/>
                <a:cs typeface="Times New Roman" panose="02020603050405020304" pitchFamily="18" charset="0"/>
              </a:rPr>
              <a:t>     </a:t>
            </a:r>
            <a:r>
              <a:rPr lang="en-US" altLang="zh-CN" sz="2000" kern="100" dirty="0">
                <a:latin typeface="Courier New" panose="02070309020205020404" pitchFamily="49" charset="0"/>
                <a:cs typeface="Courier New" panose="02070309020205020404" pitchFamily="49" charset="0"/>
              </a:rPr>
              <a:t>max(</a:t>
            </a:r>
            <a:r>
              <a:rPr lang="zh-CN" altLang="zh-CN" sz="2000" kern="100" dirty="0">
                <a:latin typeface="Courier New" panose="02070309020205020404" pitchFamily="49" charset="0"/>
                <a:cs typeface="Courier New" panose="02070309020205020404" pitchFamily="49" charset="0"/>
              </a:rPr>
              <a:t>表达式</a:t>
            </a:r>
            <a:r>
              <a:rPr lang="en-US" altLang="zh-CN" sz="2000" kern="100" dirty="0">
                <a:latin typeface="Courier New" panose="02070309020205020404" pitchFamily="49" charset="0"/>
                <a:cs typeface="Courier New" panose="02070309020205020404" pitchFamily="49" charset="0"/>
              </a:rPr>
              <a:t>1,…,</a:t>
            </a:r>
            <a:r>
              <a:rPr lang="zh-CN" altLang="zh-CN" sz="2000" kern="100" dirty="0">
                <a:latin typeface="Courier New" panose="02070309020205020404" pitchFamily="49" charset="0"/>
                <a:cs typeface="Courier New" panose="02070309020205020404" pitchFamily="49" charset="0"/>
              </a:rPr>
              <a:t>表达式</a:t>
            </a:r>
            <a:r>
              <a:rPr lang="en-US" altLang="zh-CN" sz="2000" kern="100" dirty="0">
                <a:latin typeface="Courier New" panose="02070309020205020404" pitchFamily="49" charset="0"/>
                <a:cs typeface="Courier New" panose="02070309020205020404" pitchFamily="49" charset="0"/>
              </a:rPr>
              <a:t>n)</a:t>
            </a:r>
            <a:endParaRPr lang="zh-CN" altLang="zh-CN" sz="3200" kern="100" dirty="0">
              <a:latin typeface="Courier New" panose="02070309020205020404" pitchFamily="49" charset="0"/>
              <a:ea typeface="等线" panose="02010600030101010101" pitchFamily="2" charset="-122"/>
              <a:cs typeface="Courier New" panose="02070309020205020404" pitchFamily="49" charset="0"/>
            </a:endParaRPr>
          </a:p>
          <a:p>
            <a:pPr indent="320040" algn="just">
              <a:lnSpc>
                <a:spcPct val="120000"/>
              </a:lnSpc>
              <a:buNone/>
            </a:pPr>
            <a:r>
              <a:rPr lang="zh-CN" altLang="zh-CN" sz="2000" kern="100" dirty="0">
                <a:latin typeface="Courier New" panose="02070309020205020404" pitchFamily="49" charset="0"/>
                <a:cs typeface="Courier New" panose="02070309020205020404" pitchFamily="49" charset="0"/>
              </a:rPr>
              <a:t>求最小值</a:t>
            </a:r>
            <a:r>
              <a:rPr lang="en-US" altLang="zh-CN" sz="2000" kern="100" dirty="0">
                <a:latin typeface="Courier New" panose="02070309020205020404" pitchFamily="49" charset="0"/>
                <a:cs typeface="Courier New" panose="02070309020205020404" pitchFamily="49" charset="0"/>
              </a:rPr>
              <a:t>     min(</a:t>
            </a:r>
            <a:r>
              <a:rPr lang="zh-CN" altLang="zh-CN" sz="2000" kern="100" dirty="0">
                <a:latin typeface="Courier New" panose="02070309020205020404" pitchFamily="49" charset="0"/>
                <a:cs typeface="Courier New" panose="02070309020205020404" pitchFamily="49" charset="0"/>
              </a:rPr>
              <a:t>表达式</a:t>
            </a:r>
            <a:r>
              <a:rPr lang="en-US" altLang="zh-CN" sz="2000" kern="100" dirty="0">
                <a:latin typeface="Courier New" panose="02070309020205020404" pitchFamily="49" charset="0"/>
                <a:cs typeface="Courier New" panose="02070309020205020404" pitchFamily="49" charset="0"/>
              </a:rPr>
              <a:t>1,…,</a:t>
            </a:r>
            <a:r>
              <a:rPr lang="zh-CN" altLang="zh-CN" sz="2000" kern="100" dirty="0">
                <a:latin typeface="Courier New" panose="02070309020205020404" pitchFamily="49" charset="0"/>
                <a:cs typeface="Courier New" panose="02070309020205020404" pitchFamily="49" charset="0"/>
              </a:rPr>
              <a:t>表达式</a:t>
            </a:r>
            <a:r>
              <a:rPr lang="en-US" altLang="zh-CN" sz="2000" kern="100" dirty="0">
                <a:latin typeface="Courier New" panose="02070309020205020404" pitchFamily="49" charset="0"/>
                <a:cs typeface="Courier New" panose="02070309020205020404" pitchFamily="49" charset="0"/>
              </a:rPr>
              <a:t>n)</a:t>
            </a:r>
            <a:endParaRPr lang="zh-CN" altLang="zh-CN" sz="3200" kern="100" dirty="0">
              <a:latin typeface="Courier New" panose="02070309020205020404" pitchFamily="49" charset="0"/>
              <a:ea typeface="等线" panose="02010600030101010101" pitchFamily="2" charset="-122"/>
              <a:cs typeface="Courier New" panose="02070309020205020404" pitchFamily="49" charset="0"/>
            </a:endParaRPr>
          </a:p>
          <a:p>
            <a:pPr indent="320040" algn="just">
              <a:lnSpc>
                <a:spcPct val="120000"/>
              </a:lnSpc>
              <a:buNone/>
            </a:pPr>
            <a:r>
              <a:rPr lang="zh-CN" altLang="zh-CN" sz="2000" kern="100" dirty="0">
                <a:latin typeface="Courier New" panose="02070309020205020404" pitchFamily="49" charset="0"/>
                <a:cs typeface="Courier New" panose="02070309020205020404" pitchFamily="49" charset="0"/>
              </a:rPr>
              <a:t>求绝对值</a:t>
            </a:r>
            <a:r>
              <a:rPr lang="en-US" altLang="zh-CN" sz="2000" kern="100" dirty="0">
                <a:latin typeface="Courier New" panose="02070309020205020404" pitchFamily="49" charset="0"/>
                <a:cs typeface="Courier New" panose="02070309020205020404" pitchFamily="49" charset="0"/>
              </a:rPr>
              <a:t>     abs(</a:t>
            </a:r>
            <a:r>
              <a:rPr lang="zh-CN" altLang="zh-CN" sz="2000" kern="100" dirty="0">
                <a:latin typeface="Courier New" panose="02070309020205020404" pitchFamily="49" charset="0"/>
                <a:cs typeface="Courier New" panose="02070309020205020404" pitchFamily="49" charset="0"/>
              </a:rPr>
              <a:t>表达式</a:t>
            </a:r>
            <a:r>
              <a:rPr lang="en-US" altLang="zh-CN" sz="2000" kern="100" dirty="0">
                <a:latin typeface="Courier New" panose="02070309020205020404" pitchFamily="49" charset="0"/>
                <a:cs typeface="Courier New" panose="02070309020205020404" pitchFamily="49" charset="0"/>
              </a:rPr>
              <a:t>)</a:t>
            </a:r>
            <a:endParaRPr lang="zh-CN" altLang="zh-CN" sz="3200" kern="100" dirty="0">
              <a:latin typeface="Courier New" panose="02070309020205020404" pitchFamily="49" charset="0"/>
              <a:ea typeface="等线" panose="02010600030101010101" pitchFamily="2" charset="-122"/>
              <a:cs typeface="Courier New" panose="02070309020205020404" pitchFamily="49" charset="0"/>
            </a:endParaRPr>
          </a:p>
          <a:p>
            <a:pPr indent="320040" algn="just">
              <a:lnSpc>
                <a:spcPct val="120000"/>
              </a:lnSpc>
              <a:buNone/>
            </a:pPr>
            <a:r>
              <a:rPr lang="zh-CN" altLang="zh-CN" sz="2000" kern="100" dirty="0">
                <a:latin typeface="Courier New" panose="02070309020205020404" pitchFamily="49" charset="0"/>
                <a:cs typeface="Courier New" panose="02070309020205020404" pitchFamily="49" charset="0"/>
              </a:rPr>
              <a:t>求不足整数值</a:t>
            </a:r>
            <a:r>
              <a:rPr lang="zh-CN" altLang="zh-CN" sz="2000" kern="100" dirty="0">
                <a:latin typeface="Courier New" panose="02070309020205020404" pitchFamily="49" charset="0"/>
                <a:ea typeface="Courier New" panose="02070309020205020404" pitchFamily="49" charset="0"/>
                <a:cs typeface="Courier New" panose="02070309020205020404" pitchFamily="49" charset="0"/>
              </a:rPr>
              <a:t> </a:t>
            </a:r>
            <a:r>
              <a:rPr lang="en-US" altLang="zh-CN" sz="2000" kern="100" dirty="0">
                <a:latin typeface="Courier New" panose="02070309020205020404" pitchFamily="49" charset="0"/>
                <a:ea typeface="Courier New" panose="02070309020205020404" pitchFamily="49" charset="0"/>
                <a:cs typeface="Courier New" panose="02070309020205020404" pitchFamily="49" charset="0"/>
              </a:rPr>
              <a:t> floor(</a:t>
            </a:r>
            <a:r>
              <a:rPr lang="zh-CN" altLang="zh-CN" sz="2000" kern="100" dirty="0">
                <a:latin typeface="Courier New" panose="02070309020205020404" pitchFamily="49" charset="0"/>
                <a:cs typeface="Courier New" panose="02070309020205020404" pitchFamily="49" charset="0"/>
              </a:rPr>
              <a:t>表达式</a:t>
            </a:r>
            <a:r>
              <a:rPr lang="en-US" altLang="zh-CN" sz="2000" kern="100" dirty="0">
                <a:latin typeface="Courier New" panose="02070309020205020404" pitchFamily="49" charset="0"/>
                <a:cs typeface="Courier New" panose="02070309020205020404" pitchFamily="49" charset="0"/>
              </a:rPr>
              <a:t>)</a:t>
            </a:r>
            <a:endParaRPr lang="zh-CN" altLang="zh-CN" sz="3200" kern="100" dirty="0">
              <a:latin typeface="Courier New" panose="02070309020205020404" pitchFamily="49" charset="0"/>
              <a:ea typeface="等线" panose="02010600030101010101" pitchFamily="2" charset="-122"/>
              <a:cs typeface="Courier New" panose="02070309020205020404" pitchFamily="49" charset="0"/>
            </a:endParaRPr>
          </a:p>
          <a:p>
            <a:pPr indent="320040" algn="just">
              <a:lnSpc>
                <a:spcPct val="120000"/>
              </a:lnSpc>
              <a:buNone/>
            </a:pPr>
            <a:r>
              <a:rPr lang="zh-CN" altLang="zh-CN" sz="2000" kern="100" dirty="0">
                <a:latin typeface="Courier New" panose="02070309020205020404" pitchFamily="49" charset="0"/>
                <a:cs typeface="Courier New" panose="02070309020205020404" pitchFamily="49" charset="0"/>
              </a:rPr>
              <a:t>求进位整数值</a:t>
            </a:r>
            <a:r>
              <a:rPr lang="zh-CN" altLang="zh-CN" sz="2000" kern="100" dirty="0">
                <a:latin typeface="Courier New" panose="02070309020205020404" pitchFamily="49" charset="0"/>
                <a:ea typeface="Courier New" panose="02070309020205020404" pitchFamily="49" charset="0"/>
                <a:cs typeface="Courier New" panose="02070309020205020404" pitchFamily="49" charset="0"/>
              </a:rPr>
              <a:t> </a:t>
            </a:r>
            <a:r>
              <a:rPr lang="en-US" altLang="zh-CN" sz="2000" kern="100" dirty="0">
                <a:latin typeface="Courier New" panose="02070309020205020404" pitchFamily="49" charset="0"/>
                <a:ea typeface="Courier New" panose="02070309020205020404" pitchFamily="49" charset="0"/>
                <a:cs typeface="Courier New" panose="02070309020205020404" pitchFamily="49" charset="0"/>
              </a:rPr>
              <a:t> ceil(</a:t>
            </a:r>
            <a:r>
              <a:rPr lang="zh-CN" altLang="zh-CN" sz="2000" kern="100" dirty="0">
                <a:latin typeface="Courier New" panose="02070309020205020404" pitchFamily="49" charset="0"/>
                <a:cs typeface="Courier New" panose="02070309020205020404" pitchFamily="49" charset="0"/>
              </a:rPr>
              <a:t>表达式</a:t>
            </a:r>
            <a:r>
              <a:rPr lang="en-US" altLang="zh-CN" sz="2000" kern="100" dirty="0">
                <a:latin typeface="Courier New" panose="02070309020205020404" pitchFamily="49" charset="0"/>
                <a:cs typeface="Courier New" panose="02070309020205020404" pitchFamily="49" charset="0"/>
              </a:rPr>
              <a:t>)</a:t>
            </a:r>
            <a:endParaRPr lang="zh-CN" altLang="zh-CN" sz="3200" kern="100" dirty="0">
              <a:latin typeface="Courier New" panose="02070309020205020404" pitchFamily="49" charset="0"/>
              <a:ea typeface="等线" panose="02010600030101010101" pitchFamily="2" charset="-122"/>
              <a:cs typeface="Courier New" panose="02070309020205020404" pitchFamily="49" charset="0"/>
            </a:endParaRPr>
          </a:p>
          <a:p>
            <a:pPr indent="320040" algn="just">
              <a:lnSpc>
                <a:spcPct val="120000"/>
              </a:lnSpc>
              <a:buNone/>
            </a:pPr>
            <a:r>
              <a:rPr lang="zh-CN" altLang="zh-CN" sz="2000" kern="100" dirty="0">
                <a:latin typeface="Courier New" panose="02070309020205020404" pitchFamily="49" charset="0"/>
                <a:cs typeface="Courier New" panose="02070309020205020404" pitchFamily="49" charset="0"/>
              </a:rPr>
              <a:t>判定文件结束</a:t>
            </a:r>
            <a:r>
              <a:rPr lang="zh-CN" altLang="zh-CN" sz="2000" kern="100" dirty="0">
                <a:latin typeface="Courier New" panose="02070309020205020404" pitchFamily="49" charset="0"/>
                <a:ea typeface="Courier New" panose="02070309020205020404" pitchFamily="49" charset="0"/>
                <a:cs typeface="Courier New" panose="02070309020205020404" pitchFamily="49" charset="0"/>
              </a:rPr>
              <a:t> </a:t>
            </a:r>
            <a:r>
              <a:rPr lang="en-US" altLang="zh-CN" sz="2000" kern="100" dirty="0">
                <a:latin typeface="Courier New" panose="02070309020205020404" pitchFamily="49" charset="0"/>
                <a:ea typeface="Courier New" panose="02070309020205020404" pitchFamily="49" charset="0"/>
                <a:cs typeface="Courier New" panose="02070309020205020404" pitchFamily="49" charset="0"/>
              </a:rPr>
              <a:t> </a:t>
            </a:r>
            <a:r>
              <a:rPr lang="en-US" altLang="zh-CN" sz="2000" kern="100" dirty="0" err="1">
                <a:latin typeface="Courier New" panose="02070309020205020404" pitchFamily="49" charset="0"/>
                <a:ea typeface="Courier New" panose="02070309020205020404" pitchFamily="49" charset="0"/>
                <a:cs typeface="Courier New" panose="02070309020205020404" pitchFamily="49" charset="0"/>
              </a:rPr>
              <a:t>eof</a:t>
            </a:r>
            <a:r>
              <a:rPr lang="en-US" altLang="zh-CN" sz="2000" kern="100" dirty="0">
                <a:latin typeface="Courier New" panose="02070309020205020404" pitchFamily="49" charset="0"/>
                <a:ea typeface="Courier New" panose="02070309020205020404" pitchFamily="49" charset="0"/>
                <a:cs typeface="Courier New" panose="02070309020205020404" pitchFamily="49" charset="0"/>
              </a:rPr>
              <a:t>(</a:t>
            </a:r>
            <a:r>
              <a:rPr lang="zh-CN" altLang="zh-CN" sz="2000" kern="100" dirty="0">
                <a:latin typeface="Courier New" panose="02070309020205020404" pitchFamily="49" charset="0"/>
                <a:cs typeface="Courier New" panose="02070309020205020404" pitchFamily="49" charset="0"/>
              </a:rPr>
              <a:t>文件变量</a:t>
            </a:r>
            <a:r>
              <a:rPr lang="en-US" altLang="zh-CN" sz="2000" kern="100" dirty="0">
                <a:latin typeface="Courier New" panose="02070309020205020404" pitchFamily="49" charset="0"/>
                <a:cs typeface="Courier New" panose="02070309020205020404" pitchFamily="49" charset="0"/>
              </a:rPr>
              <a:t>)</a:t>
            </a:r>
            <a:r>
              <a:rPr lang="zh-CN" altLang="zh-CN" sz="2000" kern="100" dirty="0">
                <a:latin typeface="Courier New" panose="02070309020205020404" pitchFamily="49" charset="0"/>
                <a:cs typeface="Courier New" panose="02070309020205020404" pitchFamily="49" charset="0"/>
              </a:rPr>
              <a:t>或</a:t>
            </a:r>
            <a:r>
              <a:rPr lang="en-US" altLang="zh-CN" sz="2000" kern="100" dirty="0" err="1">
                <a:latin typeface="Courier New" panose="02070309020205020404" pitchFamily="49" charset="0"/>
                <a:cs typeface="Courier New" panose="02070309020205020404" pitchFamily="49" charset="0"/>
              </a:rPr>
              <a:t>eof</a:t>
            </a:r>
            <a:endParaRPr lang="zh-CN" altLang="zh-CN" sz="3200" kern="100" dirty="0">
              <a:latin typeface="Courier New" panose="02070309020205020404" pitchFamily="49" charset="0"/>
              <a:ea typeface="等线" panose="02010600030101010101" pitchFamily="2" charset="-122"/>
              <a:cs typeface="Courier New" panose="02070309020205020404" pitchFamily="49" charset="0"/>
            </a:endParaRPr>
          </a:p>
          <a:p>
            <a:pPr indent="320040" algn="just">
              <a:lnSpc>
                <a:spcPct val="120000"/>
              </a:lnSpc>
              <a:buNone/>
            </a:pPr>
            <a:r>
              <a:rPr lang="zh-CN" altLang="zh-CN" sz="2000" kern="100" dirty="0">
                <a:latin typeface="Courier New" panose="02070309020205020404" pitchFamily="49" charset="0"/>
                <a:cs typeface="Courier New" panose="02070309020205020404" pitchFamily="49" charset="0"/>
              </a:rPr>
              <a:t>判定行结束</a:t>
            </a:r>
            <a:r>
              <a:rPr lang="en-US" altLang="zh-CN" sz="2000" kern="100" dirty="0">
                <a:latin typeface="Courier New" panose="02070309020205020404" pitchFamily="49" charset="0"/>
                <a:cs typeface="Courier New" panose="02070309020205020404" pitchFamily="49" charset="0"/>
              </a:rPr>
              <a:t>   </a:t>
            </a:r>
            <a:r>
              <a:rPr lang="en-US" altLang="zh-CN" sz="2000" kern="100" dirty="0" err="1">
                <a:latin typeface="Courier New" panose="02070309020205020404" pitchFamily="49" charset="0"/>
                <a:cs typeface="Courier New" panose="02070309020205020404" pitchFamily="49" charset="0"/>
              </a:rPr>
              <a:t>eoln</a:t>
            </a:r>
            <a:r>
              <a:rPr lang="en-US" altLang="zh-CN" sz="2000" kern="100" dirty="0">
                <a:latin typeface="Courier New" panose="02070309020205020404" pitchFamily="49" charset="0"/>
                <a:cs typeface="Courier New" panose="02070309020205020404" pitchFamily="49" charset="0"/>
              </a:rPr>
              <a:t>(</a:t>
            </a:r>
            <a:r>
              <a:rPr lang="zh-CN" altLang="zh-CN" sz="2000" kern="100" dirty="0">
                <a:latin typeface="Courier New" panose="02070309020205020404" pitchFamily="49" charset="0"/>
                <a:cs typeface="Courier New" panose="02070309020205020404" pitchFamily="49" charset="0"/>
              </a:rPr>
              <a:t>文件变量</a:t>
            </a:r>
            <a:r>
              <a:rPr lang="en-US" altLang="zh-CN" sz="2000" kern="100" dirty="0">
                <a:latin typeface="Courier New" panose="02070309020205020404" pitchFamily="49" charset="0"/>
                <a:cs typeface="Courier New" panose="02070309020205020404" pitchFamily="49" charset="0"/>
              </a:rPr>
              <a:t>)</a:t>
            </a:r>
            <a:r>
              <a:rPr lang="zh-CN" altLang="zh-CN" sz="2000" kern="100" dirty="0">
                <a:latin typeface="Courier New" panose="02070309020205020404" pitchFamily="49" charset="0"/>
                <a:cs typeface="Courier New" panose="02070309020205020404" pitchFamily="49" charset="0"/>
              </a:rPr>
              <a:t>或</a:t>
            </a:r>
            <a:r>
              <a:rPr lang="en-US" altLang="zh-CN" sz="2000" kern="100" dirty="0" err="1">
                <a:latin typeface="Courier New" panose="02070309020205020404" pitchFamily="49" charset="0"/>
                <a:cs typeface="Courier New" panose="02070309020205020404" pitchFamily="49" charset="0"/>
              </a:rPr>
              <a:t>eoln</a:t>
            </a:r>
            <a:endParaRPr lang="zh-CN" altLang="zh-CN" sz="3200" kern="100" dirty="0">
              <a:latin typeface="Courier New" panose="02070309020205020404" pitchFamily="49" charset="0"/>
              <a:ea typeface="等线" panose="02010600030101010101" pitchFamily="2" charset="-122"/>
              <a:cs typeface="Courier New" panose="02070309020205020404" pitchFamily="49" charset="0"/>
            </a:endParaRPr>
          </a:p>
        </p:txBody>
      </p:sp>
      <p:sp>
        <p:nvSpPr>
          <p:cNvPr id="5" name="文本框 4">
            <a:extLst>
              <a:ext uri="{FF2B5EF4-FFF2-40B4-BE49-F238E27FC236}">
                <a16:creationId xmlns:a16="http://schemas.microsoft.com/office/drawing/2014/main" id="{CF48E23A-793B-4481-CC93-85411DBB2C21}"/>
              </a:ext>
            </a:extLst>
          </p:cNvPr>
          <p:cNvSpPr txBox="1"/>
          <p:nvPr/>
        </p:nvSpPr>
        <p:spPr>
          <a:xfrm>
            <a:off x="6151278" y="877937"/>
            <a:ext cx="5764349" cy="5233997"/>
          </a:xfrm>
          <a:prstGeom prst="rect">
            <a:avLst/>
          </a:prstGeom>
          <a:solidFill>
            <a:schemeClr val="accent6">
              <a:lumMod val="20000"/>
              <a:lumOff val="80000"/>
            </a:schemeClr>
          </a:solidFill>
        </p:spPr>
        <p:txBody>
          <a:bodyPr wrap="square">
            <a:spAutoFit/>
          </a:bodyPr>
          <a:lstStyle/>
          <a:p>
            <a:pPr indent="266700">
              <a:lnSpc>
                <a:spcPct val="120000"/>
              </a:lnSpc>
              <a:buNone/>
            </a:pPr>
            <a:r>
              <a:rPr lang="zh-CN" altLang="zh-CN" sz="2000" b="1" kern="1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1" kern="1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5</a:t>
            </a:r>
            <a:r>
              <a:rPr lang="zh-CN" altLang="zh-CN" sz="2000" b="1" kern="1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000" b="1" kern="100" dirty="0">
                <a:solidFill>
                  <a:srgbClr val="C00000"/>
                </a:solidFill>
                <a:effectLst/>
                <a:latin typeface="等线" panose="02010600030101010101" pitchFamily="2" charset="-122"/>
                <a:ea typeface="宋体" panose="02010600030101010101" pitchFamily="2" charset="-122"/>
                <a:cs typeface="Times New Roman" panose="02020603050405020304" pitchFamily="18" charset="0"/>
              </a:rPr>
              <a:t>逻辑运算约定</a:t>
            </a:r>
            <a:endParaRPr lang="zh-CN" altLang="zh-CN" sz="2000" b="1" kern="100" dirty="0">
              <a:solidFill>
                <a:srgbClr val="C00000"/>
              </a:solidFill>
              <a:effectLst/>
              <a:latin typeface="等线" panose="02010600030101010101" pitchFamily="2" charset="-122"/>
              <a:ea typeface="等线" panose="02010600030101010101" pitchFamily="2" charset="-122"/>
              <a:cs typeface="Times New Roman" panose="02020603050405020304" pitchFamily="18" charset="0"/>
            </a:endParaRPr>
          </a:p>
          <a:p>
            <a:pPr indent="320040">
              <a:lnSpc>
                <a:spcPct val="120000"/>
              </a:lnSpc>
              <a:buNone/>
            </a:pPr>
            <a:r>
              <a:rPr lang="zh-CN" altLang="zh-CN" sz="2000" kern="100" dirty="0">
                <a:effectLst/>
                <a:latin typeface="Courier New" panose="02070309020205020404" pitchFamily="49" charset="0"/>
                <a:ea typeface="宋体" panose="02010600030101010101" pitchFamily="2" charset="-122"/>
                <a:cs typeface="Courier New" panose="02070309020205020404" pitchFamily="49" charset="0"/>
              </a:rPr>
              <a:t>与运算</a:t>
            </a:r>
            <a:r>
              <a:rPr lang="en-US" altLang="zh-CN" sz="2000" b="1" kern="100" dirty="0">
                <a:effectLst/>
                <a:latin typeface="Courier New" panose="02070309020205020404" pitchFamily="49" charset="0"/>
                <a:ea typeface="宋体" panose="02010600030101010101" pitchFamily="2" charset="-122"/>
                <a:cs typeface="Times New Roman" panose="02020603050405020304" pitchFamily="18" charset="0"/>
              </a:rPr>
              <a:t>&amp;&amp;</a:t>
            </a:r>
            <a:r>
              <a:rPr lang="zh-CN" altLang="zh-CN" sz="2000" kern="100" dirty="0">
                <a:effectLst/>
                <a:latin typeface="Courier New" panose="02070309020205020404" pitchFamily="49" charset="0"/>
                <a:ea typeface="宋体" panose="02010600030101010101" pitchFamily="2" charset="-122"/>
                <a:cs typeface="Courier New" panose="02070309020205020404" pitchFamily="49" charset="0"/>
              </a:rPr>
              <a:t>：对于</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A</a:t>
            </a:r>
            <a:r>
              <a:rPr lang="en-US" altLang="zh-CN" sz="2000" b="1" kern="100" dirty="0">
                <a:effectLst/>
                <a:latin typeface="Courier New" panose="02070309020205020404" pitchFamily="49" charset="0"/>
                <a:ea typeface="宋体" panose="02010600030101010101" pitchFamily="2" charset="-122"/>
                <a:cs typeface="Times New Roman" panose="02020603050405020304" pitchFamily="18" charset="0"/>
              </a:rPr>
              <a:t>&amp;&amp;</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B</a:t>
            </a:r>
            <a:r>
              <a:rPr lang="zh-CN" altLang="zh-CN" sz="2000" kern="100" dirty="0">
                <a:effectLst/>
                <a:latin typeface="Courier New" panose="02070309020205020404" pitchFamily="49" charset="0"/>
                <a:ea typeface="宋体" panose="02010600030101010101" pitchFamily="2" charset="-122"/>
                <a:cs typeface="Courier New" panose="02070309020205020404" pitchFamily="49" charset="0"/>
              </a:rPr>
              <a:t>，当</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A</a:t>
            </a:r>
            <a:r>
              <a:rPr lang="zh-CN" altLang="zh-CN" sz="2000" kern="100" dirty="0">
                <a:effectLst/>
                <a:latin typeface="Courier New" panose="02070309020205020404" pitchFamily="49" charset="0"/>
                <a:ea typeface="宋体" panose="02010600030101010101" pitchFamily="2" charset="-122"/>
                <a:cs typeface="Courier New" panose="02070309020205020404" pitchFamily="49" charset="0"/>
              </a:rPr>
              <a:t>的值为</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0</a:t>
            </a:r>
            <a:r>
              <a:rPr lang="zh-CN" altLang="zh-CN" sz="2000" kern="100" dirty="0">
                <a:effectLst/>
                <a:latin typeface="Courier New" panose="02070309020205020404" pitchFamily="49" charset="0"/>
                <a:ea typeface="宋体" panose="02010600030101010101" pitchFamily="2" charset="-122"/>
                <a:cs typeface="Courier New" panose="02070309020205020404" pitchFamily="49" charset="0"/>
              </a:rPr>
              <a:t>时，</a:t>
            </a:r>
            <a:endParaRPr lang="en-US" altLang="zh-CN" sz="2000" kern="100" dirty="0">
              <a:effectLst/>
              <a:latin typeface="Courier New" panose="02070309020205020404" pitchFamily="49" charset="0"/>
              <a:ea typeface="宋体" panose="02010600030101010101" pitchFamily="2" charset="-122"/>
              <a:cs typeface="Courier New" panose="02070309020205020404" pitchFamily="49" charset="0"/>
            </a:endParaRPr>
          </a:p>
          <a:p>
            <a:pPr indent="320040">
              <a:lnSpc>
                <a:spcPct val="120000"/>
              </a:lnSpc>
              <a:buNone/>
            </a:pPr>
            <a:r>
              <a:rPr lang="en-US" altLang="zh-CN" sz="2000" kern="100" dirty="0">
                <a:latin typeface="Courier New" panose="02070309020205020404" pitchFamily="49" charset="0"/>
                <a:ea typeface="宋体" panose="02010600030101010101" pitchFamily="2" charset="-122"/>
                <a:cs typeface="Courier New" panose="02070309020205020404" pitchFamily="49" charset="0"/>
              </a:rPr>
              <a:t>         </a:t>
            </a:r>
            <a:r>
              <a:rPr lang="zh-CN" altLang="zh-CN" sz="2000" kern="100" dirty="0">
                <a:effectLst/>
                <a:latin typeface="Courier New" panose="02070309020205020404" pitchFamily="49" charset="0"/>
                <a:ea typeface="宋体" panose="02010600030101010101" pitchFamily="2" charset="-122"/>
                <a:cs typeface="Courier New" panose="02070309020205020404" pitchFamily="49" charset="0"/>
              </a:rPr>
              <a:t>不再对</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B</a:t>
            </a:r>
            <a:r>
              <a:rPr lang="zh-CN" altLang="zh-CN" sz="2000" kern="100" dirty="0">
                <a:effectLst/>
                <a:latin typeface="Courier New" panose="02070309020205020404" pitchFamily="49" charset="0"/>
                <a:ea typeface="宋体" panose="02010600030101010101" pitchFamily="2" charset="-122"/>
                <a:cs typeface="Courier New" panose="02070309020205020404" pitchFamily="49" charset="0"/>
              </a:rPr>
              <a:t>求值。</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indent="320040">
              <a:lnSpc>
                <a:spcPct val="120000"/>
              </a:lnSpc>
              <a:buNone/>
            </a:pPr>
            <a:r>
              <a:rPr lang="zh-CN" altLang="zh-CN" sz="2000" kern="100" dirty="0">
                <a:effectLst/>
                <a:latin typeface="Courier New" panose="02070309020205020404" pitchFamily="49" charset="0"/>
                <a:ea typeface="宋体" panose="02010600030101010101" pitchFamily="2" charset="-122"/>
                <a:cs typeface="Courier New" panose="02070309020205020404" pitchFamily="49" charset="0"/>
              </a:rPr>
              <a:t>或运算</a:t>
            </a:r>
            <a:r>
              <a:rPr lang="en-US" altLang="zh-CN" sz="20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zh-CN" altLang="zh-CN" sz="2000" kern="100" dirty="0">
                <a:effectLst/>
                <a:latin typeface="Courier New" panose="02070309020205020404" pitchFamily="49" charset="0"/>
                <a:ea typeface="宋体" panose="02010600030101010101" pitchFamily="2" charset="-122"/>
                <a:cs typeface="Courier New" panose="02070309020205020404" pitchFamily="49" charset="0"/>
              </a:rPr>
              <a:t>：对于</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A</a:t>
            </a:r>
            <a:r>
              <a:rPr lang="en-US" altLang="zh-CN" sz="20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B</a:t>
            </a:r>
            <a:r>
              <a:rPr lang="zh-CN" altLang="zh-CN" sz="2000" kern="100" dirty="0">
                <a:effectLst/>
                <a:latin typeface="Courier New" panose="02070309020205020404" pitchFamily="49" charset="0"/>
                <a:ea typeface="宋体" panose="02010600030101010101" pitchFamily="2" charset="-122"/>
                <a:cs typeface="Courier New" panose="02070309020205020404" pitchFamily="49" charset="0"/>
              </a:rPr>
              <a:t>，当</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A</a:t>
            </a:r>
            <a:r>
              <a:rPr lang="zh-CN" altLang="zh-CN" sz="2000" kern="100" dirty="0">
                <a:effectLst/>
                <a:latin typeface="Courier New" panose="02070309020205020404" pitchFamily="49" charset="0"/>
                <a:ea typeface="宋体" panose="02010600030101010101" pitchFamily="2" charset="-122"/>
                <a:cs typeface="Courier New" panose="02070309020205020404" pitchFamily="49" charset="0"/>
              </a:rPr>
              <a:t>的值为非</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0</a:t>
            </a:r>
            <a:r>
              <a:rPr lang="zh-CN" altLang="zh-CN" sz="2000" kern="100" dirty="0">
                <a:effectLst/>
                <a:latin typeface="Courier New" panose="02070309020205020404" pitchFamily="49" charset="0"/>
                <a:ea typeface="宋体" panose="02010600030101010101" pitchFamily="2" charset="-122"/>
                <a:cs typeface="Courier New" panose="02070309020205020404" pitchFamily="49" charset="0"/>
              </a:rPr>
              <a:t>时，</a:t>
            </a:r>
            <a:endParaRPr lang="en-US" altLang="zh-CN" sz="2000" kern="100" dirty="0">
              <a:effectLst/>
              <a:latin typeface="Courier New" panose="02070309020205020404" pitchFamily="49" charset="0"/>
              <a:ea typeface="宋体" panose="02010600030101010101" pitchFamily="2" charset="-122"/>
              <a:cs typeface="Courier New" panose="02070309020205020404" pitchFamily="49" charset="0"/>
            </a:endParaRPr>
          </a:p>
          <a:p>
            <a:pPr indent="320040">
              <a:lnSpc>
                <a:spcPct val="120000"/>
              </a:lnSpc>
              <a:buNone/>
            </a:pPr>
            <a:r>
              <a:rPr lang="en-US" altLang="zh-CN" sz="2000" kern="100" dirty="0">
                <a:latin typeface="Courier New" panose="02070309020205020404" pitchFamily="49" charset="0"/>
                <a:ea typeface="宋体" panose="02010600030101010101" pitchFamily="2" charset="-122"/>
                <a:cs typeface="Courier New" panose="02070309020205020404" pitchFamily="49" charset="0"/>
              </a:rPr>
              <a:t>         </a:t>
            </a:r>
            <a:r>
              <a:rPr lang="zh-CN" altLang="zh-CN" sz="2000" kern="100" dirty="0">
                <a:effectLst/>
                <a:latin typeface="Courier New" panose="02070309020205020404" pitchFamily="49" charset="0"/>
                <a:ea typeface="宋体" panose="02010600030101010101" pitchFamily="2" charset="-122"/>
                <a:cs typeface="Courier New" panose="02070309020205020404" pitchFamily="49" charset="0"/>
              </a:rPr>
              <a:t>不再对</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B</a:t>
            </a:r>
            <a:r>
              <a:rPr lang="zh-CN" altLang="zh-CN" sz="2000" kern="100" dirty="0">
                <a:effectLst/>
                <a:latin typeface="Courier New" panose="02070309020205020404" pitchFamily="49" charset="0"/>
                <a:ea typeface="宋体" panose="02010600030101010101" pitchFamily="2" charset="-122"/>
                <a:cs typeface="Courier New" panose="02070309020205020404" pitchFamily="49" charset="0"/>
              </a:rPr>
              <a:t>求值。</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nSpc>
                <a:spcPct val="120000"/>
              </a:lnSpc>
            </a:pPr>
            <a:r>
              <a:rPr lang="zh-CN" altLang="zh-CN" sz="2000"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6</a:t>
            </a:r>
            <a:r>
              <a:rPr lang="zh-CN" altLang="zh-CN" sz="2000"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）动态内存分配和回收函数</a:t>
            </a:r>
          </a:p>
          <a:p>
            <a:pPr indent="320040">
              <a:lnSpc>
                <a:spcPct val="120000"/>
              </a:lnSpc>
              <a:buNone/>
            </a:pPr>
            <a:r>
              <a:rPr lang="zh-CN" altLang="zh-CN" sz="2000" kern="100" dirty="0">
                <a:effectLst/>
                <a:latin typeface="Courier New" panose="02070309020205020404" pitchFamily="49" charset="0"/>
                <a:ea typeface="宋体" panose="02010600030101010101" pitchFamily="2" charset="-122"/>
                <a:cs typeface="Courier New" panose="02070309020205020404" pitchFamily="49" charset="0"/>
              </a:rPr>
              <a:t>分配内存</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2000" b="1" kern="100" dirty="0">
                <a:effectLst/>
                <a:latin typeface="Courier New" panose="02070309020205020404" pitchFamily="49" charset="0"/>
                <a:ea typeface="宋体" panose="02010600030101010101" pitchFamily="2" charset="-122"/>
                <a:cs typeface="Times New Roman" panose="02020603050405020304" pitchFamily="18" charset="0"/>
              </a:rPr>
              <a:t>malloc</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a:t>
            </a:r>
            <a:r>
              <a:rPr lang="zh-CN" altLang="zh-CN" sz="2000" kern="100" dirty="0">
                <a:effectLst/>
                <a:latin typeface="Courier New" panose="02070309020205020404" pitchFamily="49" charset="0"/>
                <a:ea typeface="宋体" panose="02010600030101010101" pitchFamily="2" charset="-122"/>
                <a:cs typeface="Courier New" panose="02070309020205020404" pitchFamily="49" charset="0"/>
              </a:rPr>
              <a:t>单元数目</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a:t>
            </a:r>
            <a:r>
              <a:rPr lang="zh-CN" altLang="zh-CN" sz="2000" kern="100" dirty="0">
                <a:effectLst/>
                <a:latin typeface="Courier New" panose="02070309020205020404" pitchFamily="49" charset="0"/>
                <a:ea typeface="宋体" panose="02010600030101010101" pitchFamily="2" charset="-122"/>
                <a:cs typeface="Courier New" panose="02070309020205020404" pitchFamily="49" charset="0"/>
              </a:rPr>
              <a:t>单元大小</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indent="320040">
              <a:lnSpc>
                <a:spcPct val="120000"/>
              </a:lnSpc>
              <a:buNone/>
            </a:pPr>
            <a:r>
              <a:rPr lang="zh-CN" altLang="zh-CN" sz="2000" kern="100" dirty="0">
                <a:effectLst/>
                <a:latin typeface="Courier New" panose="02070309020205020404" pitchFamily="49" charset="0"/>
                <a:ea typeface="宋体" panose="02010600030101010101" pitchFamily="2" charset="-122"/>
                <a:cs typeface="Courier New" panose="02070309020205020404" pitchFamily="49" charset="0"/>
              </a:rPr>
              <a:t>分配内存并清空</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2000" b="1" kern="100" dirty="0" err="1">
                <a:effectLst/>
                <a:latin typeface="Courier New" panose="02070309020205020404" pitchFamily="49" charset="0"/>
                <a:ea typeface="宋体" panose="02010600030101010101" pitchFamily="2" charset="-122"/>
                <a:cs typeface="Times New Roman" panose="02020603050405020304" pitchFamily="18" charset="0"/>
              </a:rPr>
              <a:t>calloc</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a:t>
            </a:r>
            <a:r>
              <a:rPr lang="zh-CN" altLang="zh-CN" sz="2000" kern="100" dirty="0">
                <a:effectLst/>
                <a:latin typeface="Courier New" panose="02070309020205020404" pitchFamily="49" charset="0"/>
                <a:ea typeface="宋体" panose="02010600030101010101" pitchFamily="2" charset="-122"/>
                <a:cs typeface="Courier New" panose="02070309020205020404" pitchFamily="49" charset="0"/>
              </a:rPr>
              <a:t>单元数目</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a:t>
            </a:r>
            <a:r>
              <a:rPr lang="zh-CN" altLang="zh-CN" sz="2000" kern="100" dirty="0">
                <a:effectLst/>
                <a:latin typeface="Courier New" panose="02070309020205020404" pitchFamily="49" charset="0"/>
                <a:ea typeface="宋体" panose="02010600030101010101" pitchFamily="2" charset="-122"/>
                <a:cs typeface="Courier New" panose="02070309020205020404" pitchFamily="49" charset="0"/>
              </a:rPr>
              <a:t>单元大小</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indent="320040">
              <a:lnSpc>
                <a:spcPct val="120000"/>
              </a:lnSpc>
              <a:buNone/>
            </a:pPr>
            <a:r>
              <a:rPr lang="zh-CN" altLang="zh-CN" sz="2000" kern="100" dirty="0">
                <a:effectLst/>
                <a:latin typeface="Courier New" panose="02070309020205020404" pitchFamily="49" charset="0"/>
                <a:ea typeface="宋体" panose="02010600030101010101" pitchFamily="2" charset="-122"/>
                <a:cs typeface="Courier New" panose="02070309020205020404" pitchFamily="49" charset="0"/>
              </a:rPr>
              <a:t>重新分配内存</a:t>
            </a:r>
            <a:r>
              <a:rPr lang="zh-CN" altLang="zh-CN" sz="2000" kern="100" dirty="0">
                <a:effectLst/>
                <a:latin typeface="等线" panose="02010600030101010101" pitchFamily="2" charset="-122"/>
                <a:ea typeface="Courier New" panose="02070309020205020404" pitchFamily="49" charset="0"/>
                <a:cs typeface="Times New Roman" panose="02020603050405020304" pitchFamily="18" charset="0"/>
              </a:rPr>
              <a:t> </a:t>
            </a:r>
            <a:r>
              <a:rPr lang="en-US" altLang="zh-CN" sz="2000" kern="100" dirty="0">
                <a:effectLst/>
                <a:latin typeface="等线" panose="02010600030101010101" pitchFamily="2" charset="-122"/>
                <a:ea typeface="Courier New" panose="02070309020205020404" pitchFamily="49" charset="0"/>
                <a:cs typeface="Times New Roman" panose="02020603050405020304" pitchFamily="18" charset="0"/>
              </a:rPr>
              <a:t>     </a:t>
            </a:r>
            <a:r>
              <a:rPr lang="en-US" altLang="zh-CN" sz="2000" b="1" kern="100" dirty="0" err="1">
                <a:effectLst/>
                <a:latin typeface="等线" panose="02010600030101010101" pitchFamily="2" charset="-122"/>
                <a:ea typeface="Courier New" panose="02070309020205020404" pitchFamily="49" charset="0"/>
                <a:cs typeface="Times New Roman" panose="02020603050405020304" pitchFamily="18" charset="0"/>
              </a:rPr>
              <a:t>realloc</a:t>
            </a:r>
            <a:r>
              <a:rPr lang="en-US" altLang="zh-CN" sz="2000" kern="100" dirty="0">
                <a:effectLst/>
                <a:latin typeface="等线" panose="02010600030101010101" pitchFamily="2" charset="-122"/>
                <a:ea typeface="Courier New" panose="02070309020205020404" pitchFamily="49" charset="0"/>
                <a:cs typeface="Times New Roman" panose="02020603050405020304" pitchFamily="18" charset="0"/>
              </a:rPr>
              <a:t>(</a:t>
            </a:r>
            <a:r>
              <a:rPr lang="zh-CN" altLang="zh-CN" sz="2000" kern="100" dirty="0">
                <a:effectLst/>
                <a:latin typeface="Courier New" panose="02070309020205020404" pitchFamily="49" charset="0"/>
                <a:ea typeface="宋体" panose="02010600030101010101" pitchFamily="2" charset="-122"/>
                <a:cs typeface="Courier New" panose="02070309020205020404" pitchFamily="49" charset="0"/>
              </a:rPr>
              <a:t>原空间指针</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 </a:t>
            </a:r>
          </a:p>
          <a:p>
            <a:pPr indent="320040">
              <a:lnSpc>
                <a:spcPct val="120000"/>
              </a:lnSpc>
              <a:buNone/>
            </a:pPr>
            <a:r>
              <a:rPr lang="en-US" altLang="zh-CN" sz="2000" kern="100" dirty="0">
                <a:latin typeface="Courier New" panose="02070309020205020404" pitchFamily="49" charset="0"/>
                <a:ea typeface="宋体" panose="02010600030101010101" pitchFamily="2" charset="-122"/>
                <a:cs typeface="Times New Roman" panose="02020603050405020304" pitchFamily="18" charset="0"/>
              </a:rPr>
              <a:t>                   </a:t>
            </a:r>
            <a:r>
              <a:rPr lang="zh-CN" altLang="zh-CN" sz="2000" kern="100" dirty="0">
                <a:effectLst/>
                <a:latin typeface="Courier New" panose="02070309020205020404" pitchFamily="49" charset="0"/>
                <a:ea typeface="宋体" panose="02010600030101010101" pitchFamily="2" charset="-122"/>
                <a:cs typeface="Courier New" panose="02070309020205020404" pitchFamily="49" charset="0"/>
              </a:rPr>
              <a:t>单元数目</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a:t>
            </a:r>
            <a:r>
              <a:rPr lang="zh-CN" altLang="zh-CN" sz="2000" kern="100" dirty="0">
                <a:effectLst/>
                <a:latin typeface="Courier New" panose="02070309020205020404" pitchFamily="49" charset="0"/>
                <a:ea typeface="宋体" panose="02010600030101010101" pitchFamily="2" charset="-122"/>
                <a:cs typeface="Courier New" panose="02070309020205020404" pitchFamily="49" charset="0"/>
              </a:rPr>
              <a:t>单元大小</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indent="320040">
              <a:lnSpc>
                <a:spcPct val="120000"/>
              </a:lnSpc>
              <a:buNone/>
            </a:pPr>
            <a:r>
              <a:rPr lang="zh-CN" altLang="zh-CN" sz="2000" kern="100" dirty="0">
                <a:effectLst/>
                <a:latin typeface="Courier New" panose="02070309020205020404" pitchFamily="49" charset="0"/>
                <a:ea typeface="宋体" panose="02010600030101010101" pitchFamily="2" charset="-122"/>
                <a:cs typeface="Courier New" panose="02070309020205020404" pitchFamily="49" charset="0"/>
              </a:rPr>
              <a:t>释放内存</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2000" b="1" kern="100" dirty="0">
                <a:effectLst/>
                <a:latin typeface="Courier New" panose="02070309020205020404" pitchFamily="49" charset="0"/>
                <a:ea typeface="宋体" panose="02010600030101010101" pitchFamily="2" charset="-122"/>
                <a:cs typeface="Times New Roman" panose="02020603050405020304" pitchFamily="18" charset="0"/>
              </a:rPr>
              <a:t>free</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a:t>
            </a:r>
            <a:r>
              <a:rPr lang="zh-CN" altLang="zh-CN" sz="2000" kern="100" dirty="0">
                <a:effectLst/>
                <a:latin typeface="Courier New" panose="02070309020205020404" pitchFamily="49" charset="0"/>
                <a:ea typeface="宋体" panose="02010600030101010101" pitchFamily="2" charset="-122"/>
                <a:cs typeface="Courier New" panose="02070309020205020404" pitchFamily="49" charset="0"/>
              </a:rPr>
              <a:t>空间指针</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 </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nSpc>
                <a:spcPct val="120000"/>
              </a:lnSpc>
            </a:pPr>
            <a:r>
              <a:rPr lang="zh-CN" altLang="zh-CN" sz="2000"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7</a:t>
            </a:r>
            <a:r>
              <a:rPr lang="zh-CN" altLang="zh-CN" sz="2000"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）算法紧凑格式</a:t>
            </a:r>
          </a:p>
          <a:p>
            <a:pPr indent="266700">
              <a:lnSpc>
                <a:spcPct val="120000"/>
              </a:lnSpc>
              <a:buNone/>
            </a:pP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书中算法采用紧凑格式。类似保留字，内存管理函数名、花括号等也采用加粗体，以便阅读。</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CA274E5E-C812-7E26-F766-7E398371275C}"/>
              </a:ext>
            </a:extLst>
          </p:cNvPr>
          <p:cNvSpPr>
            <a:spLocks noGrp="1"/>
          </p:cNvSpPr>
          <p:nvPr>
            <p:ph type="sldNum" sz="quarter" idx="12"/>
          </p:nvPr>
        </p:nvSpPr>
        <p:spPr/>
        <p:txBody>
          <a:bodyPr/>
          <a:lstStyle/>
          <a:p>
            <a:fld id="{D7C0FE0B-717B-41AE-9FA2-CA4BF851D1C3}" type="slidenum">
              <a:rPr lang="zh-CN" altLang="en-US" smtClean="0"/>
              <a:t>43</a:t>
            </a:fld>
            <a:endParaRPr lang="zh-CN" altLang="en-US"/>
          </a:p>
        </p:txBody>
      </p:sp>
    </p:spTree>
    <p:extLst>
      <p:ext uri="{BB962C8B-B14F-4D97-AF65-F5344CB8AC3E}">
        <p14:creationId xmlns:p14="http://schemas.microsoft.com/office/powerpoint/2010/main" val="275106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1000"/>
                                        <p:tgtEl>
                                          <p:spTgt spid="3">
                                            <p:bg/>
                                          </p:spTgt>
                                        </p:tgtEl>
                                      </p:cBhvr>
                                    </p:animEffect>
                                    <p:anim calcmode="lin" valueType="num">
                                      <p:cBhvr>
                                        <p:cTn id="8" dur="1000" fill="hold"/>
                                        <p:tgtEl>
                                          <p:spTgt spid="3">
                                            <p:bg/>
                                          </p:spTgt>
                                        </p:tgtEl>
                                        <p:attrNameLst>
                                          <p:attrName>ppt_x</p:attrName>
                                        </p:attrNameLst>
                                      </p:cBhvr>
                                      <p:tavLst>
                                        <p:tav tm="0">
                                          <p:val>
                                            <p:strVal val="#ppt_x"/>
                                          </p:val>
                                        </p:tav>
                                        <p:tav tm="100000">
                                          <p:val>
                                            <p:strVal val="#ppt_x"/>
                                          </p:val>
                                        </p:tav>
                                      </p:tavLst>
                                    </p:anim>
                                    <p:anim calcmode="lin" valueType="num">
                                      <p:cBhvr>
                                        <p:cTn id="9" dur="1000" fill="hold"/>
                                        <p:tgtEl>
                                          <p:spTgt spid="3">
                                            <p:bg/>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1000"/>
                                        <p:tgtEl>
                                          <p:spTgt spid="3">
                                            <p:txEl>
                                              <p:pRg st="2" end="2"/>
                                            </p:txEl>
                                          </p:spTgt>
                                        </p:tgtEl>
                                      </p:cBhvr>
                                    </p:animEffect>
                                    <p:anim calcmode="lin" valueType="num">
                                      <p:cBhvr>
                                        <p:cTn id="27"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Effect transition="in" filter="fade">
                                      <p:cBhvr>
                                        <p:cTn id="31" dur="1000"/>
                                        <p:tgtEl>
                                          <p:spTgt spid="3">
                                            <p:txEl>
                                              <p:pRg st="3" end="3"/>
                                            </p:txEl>
                                          </p:spTgt>
                                        </p:tgtEl>
                                      </p:cBhvr>
                                    </p:animEffect>
                                    <p:anim calcmode="lin" valueType="num">
                                      <p:cBhvr>
                                        <p:cTn id="3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3" end="3"/>
                                            </p:txEl>
                                          </p:spTgt>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Effect transition="in" filter="fade">
                                      <p:cBhvr>
                                        <p:cTn id="36" dur="1000"/>
                                        <p:tgtEl>
                                          <p:spTgt spid="3">
                                            <p:txEl>
                                              <p:pRg st="4" end="4"/>
                                            </p:txEl>
                                          </p:spTgt>
                                        </p:tgtEl>
                                      </p:cBhvr>
                                    </p:animEffect>
                                    <p:anim calcmode="lin" valueType="num">
                                      <p:cBhvr>
                                        <p:cTn id="37"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8"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3">
                                            <p:txEl>
                                              <p:pRg st="5" end="5"/>
                                            </p:txEl>
                                          </p:spTgt>
                                        </p:tgtEl>
                                        <p:attrNameLst>
                                          <p:attrName>style.visibility</p:attrName>
                                        </p:attrNameLst>
                                      </p:cBhvr>
                                      <p:to>
                                        <p:strVal val="visible"/>
                                      </p:to>
                                    </p:set>
                                    <p:animEffect transition="in" filter="fade">
                                      <p:cBhvr>
                                        <p:cTn id="41" dur="1000"/>
                                        <p:tgtEl>
                                          <p:spTgt spid="3">
                                            <p:txEl>
                                              <p:pRg st="5" end="5"/>
                                            </p:txEl>
                                          </p:spTgt>
                                        </p:tgtEl>
                                      </p:cBhvr>
                                    </p:animEffect>
                                    <p:anim calcmode="lin" valueType="num">
                                      <p:cBhvr>
                                        <p:cTn id="42"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3" dur="1000" fill="hold"/>
                                        <p:tgtEl>
                                          <p:spTgt spid="3">
                                            <p:txEl>
                                              <p:pRg st="5" end="5"/>
                                            </p:txEl>
                                          </p:spTgt>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3">
                                            <p:txEl>
                                              <p:pRg st="6" end="6"/>
                                            </p:txEl>
                                          </p:spTgt>
                                        </p:tgtEl>
                                        <p:attrNameLst>
                                          <p:attrName>style.visibility</p:attrName>
                                        </p:attrNameLst>
                                      </p:cBhvr>
                                      <p:to>
                                        <p:strVal val="visible"/>
                                      </p:to>
                                    </p:set>
                                    <p:animEffect transition="in" filter="fade">
                                      <p:cBhvr>
                                        <p:cTn id="46" dur="1000"/>
                                        <p:tgtEl>
                                          <p:spTgt spid="3">
                                            <p:txEl>
                                              <p:pRg st="6" end="6"/>
                                            </p:txEl>
                                          </p:spTgt>
                                        </p:tgtEl>
                                      </p:cBhvr>
                                    </p:animEffect>
                                    <p:anim calcmode="lin" valueType="num">
                                      <p:cBhvr>
                                        <p:cTn id="47"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8" dur="1000" fill="hold"/>
                                        <p:tgtEl>
                                          <p:spTgt spid="3">
                                            <p:txEl>
                                              <p:pRg st="6" end="6"/>
                                            </p:txEl>
                                          </p:spTgt>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3">
                                            <p:txEl>
                                              <p:pRg st="7" end="7"/>
                                            </p:txEl>
                                          </p:spTgt>
                                        </p:tgtEl>
                                        <p:attrNameLst>
                                          <p:attrName>style.visibility</p:attrName>
                                        </p:attrNameLst>
                                      </p:cBhvr>
                                      <p:to>
                                        <p:strVal val="visible"/>
                                      </p:to>
                                    </p:set>
                                    <p:animEffect transition="in" filter="fade">
                                      <p:cBhvr>
                                        <p:cTn id="51" dur="1000"/>
                                        <p:tgtEl>
                                          <p:spTgt spid="3">
                                            <p:txEl>
                                              <p:pRg st="7" end="7"/>
                                            </p:txEl>
                                          </p:spTgt>
                                        </p:tgtEl>
                                      </p:cBhvr>
                                    </p:animEffect>
                                    <p:anim calcmode="lin" valueType="num">
                                      <p:cBhvr>
                                        <p:cTn id="52"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3" dur="1000" fill="hold"/>
                                        <p:tgtEl>
                                          <p:spTgt spid="3">
                                            <p:txEl>
                                              <p:pRg st="7" end="7"/>
                                            </p:txEl>
                                          </p:spTgt>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3">
                                            <p:txEl>
                                              <p:pRg st="8" end="8"/>
                                            </p:txEl>
                                          </p:spTgt>
                                        </p:tgtEl>
                                        <p:attrNameLst>
                                          <p:attrName>style.visibility</p:attrName>
                                        </p:attrNameLst>
                                      </p:cBhvr>
                                      <p:to>
                                        <p:strVal val="visible"/>
                                      </p:to>
                                    </p:set>
                                    <p:animEffect transition="in" filter="fade">
                                      <p:cBhvr>
                                        <p:cTn id="56" dur="1000"/>
                                        <p:tgtEl>
                                          <p:spTgt spid="3">
                                            <p:txEl>
                                              <p:pRg st="8" end="8"/>
                                            </p:txEl>
                                          </p:spTgt>
                                        </p:tgtEl>
                                      </p:cBhvr>
                                    </p:animEffect>
                                    <p:anim calcmode="lin" valueType="num">
                                      <p:cBhvr>
                                        <p:cTn id="57"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8" end="8"/>
                                            </p:txEl>
                                          </p:spTgt>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Effect transition="in" filter="fade">
                                      <p:cBhvr>
                                        <p:cTn id="61" dur="1000"/>
                                        <p:tgtEl>
                                          <p:spTgt spid="3">
                                            <p:txEl>
                                              <p:pRg st="9" end="9"/>
                                            </p:txEl>
                                          </p:spTgt>
                                        </p:tgtEl>
                                      </p:cBhvr>
                                    </p:animEffect>
                                    <p:anim calcmode="lin" valueType="num">
                                      <p:cBhvr>
                                        <p:cTn id="62"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63"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grpId="0" nodeType="clickEffect">
                                  <p:stCondLst>
                                    <p:cond delay="0"/>
                                  </p:stCondLst>
                                  <p:childTnLst>
                                    <p:set>
                                      <p:cBhvr>
                                        <p:cTn id="67" dur="1" fill="hold">
                                          <p:stCondLst>
                                            <p:cond delay="0"/>
                                          </p:stCondLst>
                                        </p:cTn>
                                        <p:tgtEl>
                                          <p:spTgt spid="5">
                                            <p:bg/>
                                          </p:spTgt>
                                        </p:tgtEl>
                                        <p:attrNameLst>
                                          <p:attrName>style.visibility</p:attrName>
                                        </p:attrNameLst>
                                      </p:cBhvr>
                                      <p:to>
                                        <p:strVal val="visible"/>
                                      </p:to>
                                    </p:set>
                                    <p:animEffect transition="in" filter="fade">
                                      <p:cBhvr>
                                        <p:cTn id="68" dur="1000"/>
                                        <p:tgtEl>
                                          <p:spTgt spid="5">
                                            <p:bg/>
                                          </p:spTgt>
                                        </p:tgtEl>
                                      </p:cBhvr>
                                    </p:animEffect>
                                    <p:anim calcmode="lin" valueType="num">
                                      <p:cBhvr>
                                        <p:cTn id="69" dur="1000" fill="hold"/>
                                        <p:tgtEl>
                                          <p:spTgt spid="5">
                                            <p:bg/>
                                          </p:spTgt>
                                        </p:tgtEl>
                                        <p:attrNameLst>
                                          <p:attrName>ppt_x</p:attrName>
                                        </p:attrNameLst>
                                      </p:cBhvr>
                                      <p:tavLst>
                                        <p:tav tm="0">
                                          <p:val>
                                            <p:strVal val="#ppt_x"/>
                                          </p:val>
                                        </p:tav>
                                        <p:tav tm="100000">
                                          <p:val>
                                            <p:strVal val="#ppt_x"/>
                                          </p:val>
                                        </p:tav>
                                      </p:tavLst>
                                    </p:anim>
                                    <p:anim calcmode="lin" valueType="num">
                                      <p:cBhvr>
                                        <p:cTn id="70" dur="1000" fill="hold"/>
                                        <p:tgtEl>
                                          <p:spTgt spid="5">
                                            <p:bg/>
                                          </p:spTgt>
                                        </p:tgtEl>
                                        <p:attrNameLst>
                                          <p:attrName>ppt_y</p:attrName>
                                        </p:attrNameLst>
                                      </p:cBhvr>
                                      <p:tavLst>
                                        <p:tav tm="0">
                                          <p:val>
                                            <p:strVal val="#ppt_y+.1"/>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5">
                                            <p:txEl>
                                              <p:pRg st="0" end="0"/>
                                            </p:txEl>
                                          </p:spTgt>
                                        </p:tgtEl>
                                        <p:attrNameLst>
                                          <p:attrName>style.visibility</p:attrName>
                                        </p:attrNameLst>
                                      </p:cBhvr>
                                      <p:to>
                                        <p:strVal val="visible"/>
                                      </p:to>
                                    </p:set>
                                    <p:animEffect transition="in" filter="fade">
                                      <p:cBhvr>
                                        <p:cTn id="73" dur="1000"/>
                                        <p:tgtEl>
                                          <p:spTgt spid="5">
                                            <p:txEl>
                                              <p:pRg st="0" end="0"/>
                                            </p:txEl>
                                          </p:spTgt>
                                        </p:tgtEl>
                                      </p:cBhvr>
                                    </p:animEffect>
                                    <p:anim calcmode="lin" valueType="num">
                                      <p:cBhvr>
                                        <p:cTn id="74"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75" dur="1000" fill="hold"/>
                                        <p:tgtEl>
                                          <p:spTgt spid="5">
                                            <p:txEl>
                                              <p:pRg st="0" end="0"/>
                                            </p:txEl>
                                          </p:spTgt>
                                        </p:tgtEl>
                                        <p:attrNameLst>
                                          <p:attrName>ppt_y</p:attrName>
                                        </p:attrNameLst>
                                      </p:cBhvr>
                                      <p:tavLst>
                                        <p:tav tm="0">
                                          <p:val>
                                            <p:strVal val="#ppt_y+.1"/>
                                          </p:val>
                                        </p:tav>
                                        <p:tav tm="100000">
                                          <p:val>
                                            <p:strVal val="#ppt_y"/>
                                          </p:val>
                                        </p:tav>
                                      </p:tavLst>
                                    </p:anim>
                                  </p:childTnLst>
                                </p:cTn>
                              </p:par>
                              <p:par>
                                <p:cTn id="76" presetID="42" presetClass="entr" presetSubtype="0" fill="hold" grpId="0" nodeType="withEffect">
                                  <p:stCondLst>
                                    <p:cond delay="0"/>
                                  </p:stCondLst>
                                  <p:childTnLst>
                                    <p:set>
                                      <p:cBhvr>
                                        <p:cTn id="77" dur="1" fill="hold">
                                          <p:stCondLst>
                                            <p:cond delay="0"/>
                                          </p:stCondLst>
                                        </p:cTn>
                                        <p:tgtEl>
                                          <p:spTgt spid="5">
                                            <p:txEl>
                                              <p:pRg st="1" end="1"/>
                                            </p:txEl>
                                          </p:spTgt>
                                        </p:tgtEl>
                                        <p:attrNameLst>
                                          <p:attrName>style.visibility</p:attrName>
                                        </p:attrNameLst>
                                      </p:cBhvr>
                                      <p:to>
                                        <p:strVal val="visible"/>
                                      </p:to>
                                    </p:set>
                                    <p:animEffect transition="in" filter="fade">
                                      <p:cBhvr>
                                        <p:cTn id="78" dur="1000"/>
                                        <p:tgtEl>
                                          <p:spTgt spid="5">
                                            <p:txEl>
                                              <p:pRg st="1" end="1"/>
                                            </p:txEl>
                                          </p:spTgt>
                                        </p:tgtEl>
                                      </p:cBhvr>
                                    </p:animEffect>
                                    <p:anim calcmode="lin" valueType="num">
                                      <p:cBhvr>
                                        <p:cTn id="79"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80" dur="1000" fill="hold"/>
                                        <p:tgtEl>
                                          <p:spTgt spid="5">
                                            <p:txEl>
                                              <p:pRg st="1" end="1"/>
                                            </p:txEl>
                                          </p:spTgt>
                                        </p:tgtEl>
                                        <p:attrNameLst>
                                          <p:attrName>ppt_y</p:attrName>
                                        </p:attrNameLst>
                                      </p:cBhvr>
                                      <p:tavLst>
                                        <p:tav tm="0">
                                          <p:val>
                                            <p:strVal val="#ppt_y+.1"/>
                                          </p:val>
                                        </p:tav>
                                        <p:tav tm="100000">
                                          <p:val>
                                            <p:strVal val="#ppt_y"/>
                                          </p:val>
                                        </p:tav>
                                      </p:tavLst>
                                    </p:anim>
                                  </p:childTnLst>
                                </p:cTn>
                              </p:par>
                              <p:par>
                                <p:cTn id="81" presetID="42" presetClass="entr" presetSubtype="0" fill="hold" grpId="0" nodeType="withEffect">
                                  <p:stCondLst>
                                    <p:cond delay="0"/>
                                  </p:stCondLst>
                                  <p:childTnLst>
                                    <p:set>
                                      <p:cBhvr>
                                        <p:cTn id="82" dur="1" fill="hold">
                                          <p:stCondLst>
                                            <p:cond delay="0"/>
                                          </p:stCondLst>
                                        </p:cTn>
                                        <p:tgtEl>
                                          <p:spTgt spid="5">
                                            <p:txEl>
                                              <p:pRg st="2" end="2"/>
                                            </p:txEl>
                                          </p:spTgt>
                                        </p:tgtEl>
                                        <p:attrNameLst>
                                          <p:attrName>style.visibility</p:attrName>
                                        </p:attrNameLst>
                                      </p:cBhvr>
                                      <p:to>
                                        <p:strVal val="visible"/>
                                      </p:to>
                                    </p:set>
                                    <p:animEffect transition="in" filter="fade">
                                      <p:cBhvr>
                                        <p:cTn id="83" dur="1000"/>
                                        <p:tgtEl>
                                          <p:spTgt spid="5">
                                            <p:txEl>
                                              <p:pRg st="2" end="2"/>
                                            </p:txEl>
                                          </p:spTgt>
                                        </p:tgtEl>
                                      </p:cBhvr>
                                    </p:animEffect>
                                    <p:anim calcmode="lin" valueType="num">
                                      <p:cBhvr>
                                        <p:cTn id="84"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85" dur="1000" fill="hold"/>
                                        <p:tgtEl>
                                          <p:spTgt spid="5">
                                            <p:txEl>
                                              <p:pRg st="2" end="2"/>
                                            </p:txEl>
                                          </p:spTgt>
                                        </p:tgtEl>
                                        <p:attrNameLst>
                                          <p:attrName>ppt_y</p:attrName>
                                        </p:attrNameLst>
                                      </p:cBhvr>
                                      <p:tavLst>
                                        <p:tav tm="0">
                                          <p:val>
                                            <p:strVal val="#ppt_y+.1"/>
                                          </p:val>
                                        </p:tav>
                                        <p:tav tm="100000">
                                          <p:val>
                                            <p:strVal val="#ppt_y"/>
                                          </p:val>
                                        </p:tav>
                                      </p:tavLst>
                                    </p:anim>
                                  </p:childTnLst>
                                </p:cTn>
                              </p:par>
                              <p:par>
                                <p:cTn id="86" presetID="42" presetClass="entr" presetSubtype="0" fill="hold" grpId="0" nodeType="withEffect">
                                  <p:stCondLst>
                                    <p:cond delay="0"/>
                                  </p:stCondLst>
                                  <p:childTnLst>
                                    <p:set>
                                      <p:cBhvr>
                                        <p:cTn id="87" dur="1" fill="hold">
                                          <p:stCondLst>
                                            <p:cond delay="0"/>
                                          </p:stCondLst>
                                        </p:cTn>
                                        <p:tgtEl>
                                          <p:spTgt spid="5">
                                            <p:txEl>
                                              <p:pRg st="3" end="3"/>
                                            </p:txEl>
                                          </p:spTgt>
                                        </p:tgtEl>
                                        <p:attrNameLst>
                                          <p:attrName>style.visibility</p:attrName>
                                        </p:attrNameLst>
                                      </p:cBhvr>
                                      <p:to>
                                        <p:strVal val="visible"/>
                                      </p:to>
                                    </p:set>
                                    <p:animEffect transition="in" filter="fade">
                                      <p:cBhvr>
                                        <p:cTn id="88" dur="1000"/>
                                        <p:tgtEl>
                                          <p:spTgt spid="5">
                                            <p:txEl>
                                              <p:pRg st="3" end="3"/>
                                            </p:txEl>
                                          </p:spTgt>
                                        </p:tgtEl>
                                      </p:cBhvr>
                                    </p:animEffect>
                                    <p:anim calcmode="lin" valueType="num">
                                      <p:cBhvr>
                                        <p:cTn id="89"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90" dur="1000" fill="hold"/>
                                        <p:tgtEl>
                                          <p:spTgt spid="5">
                                            <p:txEl>
                                              <p:pRg st="3" end="3"/>
                                            </p:txEl>
                                          </p:spTgt>
                                        </p:tgtEl>
                                        <p:attrNameLst>
                                          <p:attrName>ppt_y</p:attrName>
                                        </p:attrNameLst>
                                      </p:cBhvr>
                                      <p:tavLst>
                                        <p:tav tm="0">
                                          <p:val>
                                            <p:strVal val="#ppt_y+.1"/>
                                          </p:val>
                                        </p:tav>
                                        <p:tav tm="100000">
                                          <p:val>
                                            <p:strVal val="#ppt_y"/>
                                          </p:val>
                                        </p:tav>
                                      </p:tavLst>
                                    </p:anim>
                                  </p:childTnLst>
                                </p:cTn>
                              </p:par>
                              <p:par>
                                <p:cTn id="91" presetID="42" presetClass="entr" presetSubtype="0" fill="hold" grpId="0" nodeType="withEffect">
                                  <p:stCondLst>
                                    <p:cond delay="0"/>
                                  </p:stCondLst>
                                  <p:childTnLst>
                                    <p:set>
                                      <p:cBhvr>
                                        <p:cTn id="92" dur="1" fill="hold">
                                          <p:stCondLst>
                                            <p:cond delay="0"/>
                                          </p:stCondLst>
                                        </p:cTn>
                                        <p:tgtEl>
                                          <p:spTgt spid="5">
                                            <p:txEl>
                                              <p:pRg st="4" end="4"/>
                                            </p:txEl>
                                          </p:spTgt>
                                        </p:tgtEl>
                                        <p:attrNameLst>
                                          <p:attrName>style.visibility</p:attrName>
                                        </p:attrNameLst>
                                      </p:cBhvr>
                                      <p:to>
                                        <p:strVal val="visible"/>
                                      </p:to>
                                    </p:set>
                                    <p:animEffect transition="in" filter="fade">
                                      <p:cBhvr>
                                        <p:cTn id="93" dur="1000"/>
                                        <p:tgtEl>
                                          <p:spTgt spid="5">
                                            <p:txEl>
                                              <p:pRg st="4" end="4"/>
                                            </p:txEl>
                                          </p:spTgt>
                                        </p:tgtEl>
                                      </p:cBhvr>
                                    </p:animEffect>
                                    <p:anim calcmode="lin" valueType="num">
                                      <p:cBhvr>
                                        <p:cTn id="94"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95"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96" fill="hold">
                      <p:stCondLst>
                        <p:cond delay="indefinite"/>
                      </p:stCondLst>
                      <p:childTnLst>
                        <p:par>
                          <p:cTn id="97" fill="hold">
                            <p:stCondLst>
                              <p:cond delay="0"/>
                            </p:stCondLst>
                            <p:childTnLst>
                              <p:par>
                                <p:cTn id="98" presetID="42" presetClass="entr" presetSubtype="0" fill="hold" grpId="0" nodeType="clickEffect">
                                  <p:stCondLst>
                                    <p:cond delay="0"/>
                                  </p:stCondLst>
                                  <p:childTnLst>
                                    <p:set>
                                      <p:cBhvr>
                                        <p:cTn id="99" dur="1" fill="hold">
                                          <p:stCondLst>
                                            <p:cond delay="0"/>
                                          </p:stCondLst>
                                        </p:cTn>
                                        <p:tgtEl>
                                          <p:spTgt spid="5">
                                            <p:txEl>
                                              <p:pRg st="5" end="5"/>
                                            </p:txEl>
                                          </p:spTgt>
                                        </p:tgtEl>
                                        <p:attrNameLst>
                                          <p:attrName>style.visibility</p:attrName>
                                        </p:attrNameLst>
                                      </p:cBhvr>
                                      <p:to>
                                        <p:strVal val="visible"/>
                                      </p:to>
                                    </p:set>
                                    <p:animEffect transition="in" filter="fade">
                                      <p:cBhvr>
                                        <p:cTn id="100" dur="1000"/>
                                        <p:tgtEl>
                                          <p:spTgt spid="5">
                                            <p:txEl>
                                              <p:pRg st="5" end="5"/>
                                            </p:txEl>
                                          </p:spTgt>
                                        </p:tgtEl>
                                      </p:cBhvr>
                                    </p:animEffect>
                                    <p:anim calcmode="lin" valueType="num">
                                      <p:cBhvr>
                                        <p:cTn id="101"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102" dur="1000" fill="hold"/>
                                        <p:tgtEl>
                                          <p:spTgt spid="5">
                                            <p:txEl>
                                              <p:pRg st="5" end="5"/>
                                            </p:txEl>
                                          </p:spTgt>
                                        </p:tgtEl>
                                        <p:attrNameLst>
                                          <p:attrName>ppt_y</p:attrName>
                                        </p:attrNameLst>
                                      </p:cBhvr>
                                      <p:tavLst>
                                        <p:tav tm="0">
                                          <p:val>
                                            <p:strVal val="#ppt_y+.1"/>
                                          </p:val>
                                        </p:tav>
                                        <p:tav tm="100000">
                                          <p:val>
                                            <p:strVal val="#ppt_y"/>
                                          </p:val>
                                        </p:tav>
                                      </p:tavLst>
                                    </p:anim>
                                  </p:childTnLst>
                                </p:cTn>
                              </p:par>
                              <p:par>
                                <p:cTn id="103" presetID="42" presetClass="entr" presetSubtype="0" fill="hold" grpId="0" nodeType="withEffect">
                                  <p:stCondLst>
                                    <p:cond delay="0"/>
                                  </p:stCondLst>
                                  <p:childTnLst>
                                    <p:set>
                                      <p:cBhvr>
                                        <p:cTn id="104" dur="1" fill="hold">
                                          <p:stCondLst>
                                            <p:cond delay="0"/>
                                          </p:stCondLst>
                                        </p:cTn>
                                        <p:tgtEl>
                                          <p:spTgt spid="5">
                                            <p:txEl>
                                              <p:pRg st="6" end="6"/>
                                            </p:txEl>
                                          </p:spTgt>
                                        </p:tgtEl>
                                        <p:attrNameLst>
                                          <p:attrName>style.visibility</p:attrName>
                                        </p:attrNameLst>
                                      </p:cBhvr>
                                      <p:to>
                                        <p:strVal val="visible"/>
                                      </p:to>
                                    </p:set>
                                    <p:animEffect transition="in" filter="fade">
                                      <p:cBhvr>
                                        <p:cTn id="105" dur="1000"/>
                                        <p:tgtEl>
                                          <p:spTgt spid="5">
                                            <p:txEl>
                                              <p:pRg st="6" end="6"/>
                                            </p:txEl>
                                          </p:spTgt>
                                        </p:tgtEl>
                                      </p:cBhvr>
                                    </p:animEffect>
                                    <p:anim calcmode="lin" valueType="num">
                                      <p:cBhvr>
                                        <p:cTn id="106"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107" dur="1000" fill="hold"/>
                                        <p:tgtEl>
                                          <p:spTgt spid="5">
                                            <p:txEl>
                                              <p:pRg st="6" end="6"/>
                                            </p:txEl>
                                          </p:spTgt>
                                        </p:tgtEl>
                                        <p:attrNameLst>
                                          <p:attrName>ppt_y</p:attrName>
                                        </p:attrNameLst>
                                      </p:cBhvr>
                                      <p:tavLst>
                                        <p:tav tm="0">
                                          <p:val>
                                            <p:strVal val="#ppt_y+.1"/>
                                          </p:val>
                                        </p:tav>
                                        <p:tav tm="100000">
                                          <p:val>
                                            <p:strVal val="#ppt_y"/>
                                          </p:val>
                                        </p:tav>
                                      </p:tavLst>
                                    </p:anim>
                                  </p:childTnLst>
                                </p:cTn>
                              </p:par>
                              <p:par>
                                <p:cTn id="108" presetID="42" presetClass="entr" presetSubtype="0" fill="hold" grpId="0" nodeType="withEffect">
                                  <p:stCondLst>
                                    <p:cond delay="0"/>
                                  </p:stCondLst>
                                  <p:childTnLst>
                                    <p:set>
                                      <p:cBhvr>
                                        <p:cTn id="109" dur="1" fill="hold">
                                          <p:stCondLst>
                                            <p:cond delay="0"/>
                                          </p:stCondLst>
                                        </p:cTn>
                                        <p:tgtEl>
                                          <p:spTgt spid="5">
                                            <p:txEl>
                                              <p:pRg st="7" end="7"/>
                                            </p:txEl>
                                          </p:spTgt>
                                        </p:tgtEl>
                                        <p:attrNameLst>
                                          <p:attrName>style.visibility</p:attrName>
                                        </p:attrNameLst>
                                      </p:cBhvr>
                                      <p:to>
                                        <p:strVal val="visible"/>
                                      </p:to>
                                    </p:set>
                                    <p:animEffect transition="in" filter="fade">
                                      <p:cBhvr>
                                        <p:cTn id="110" dur="1000"/>
                                        <p:tgtEl>
                                          <p:spTgt spid="5">
                                            <p:txEl>
                                              <p:pRg st="7" end="7"/>
                                            </p:txEl>
                                          </p:spTgt>
                                        </p:tgtEl>
                                      </p:cBhvr>
                                    </p:animEffect>
                                    <p:anim calcmode="lin" valueType="num">
                                      <p:cBhvr>
                                        <p:cTn id="111"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112" dur="1000" fill="hold"/>
                                        <p:tgtEl>
                                          <p:spTgt spid="5">
                                            <p:txEl>
                                              <p:pRg st="7" end="7"/>
                                            </p:txEl>
                                          </p:spTgt>
                                        </p:tgtEl>
                                        <p:attrNameLst>
                                          <p:attrName>ppt_y</p:attrName>
                                        </p:attrNameLst>
                                      </p:cBhvr>
                                      <p:tavLst>
                                        <p:tav tm="0">
                                          <p:val>
                                            <p:strVal val="#ppt_y+.1"/>
                                          </p:val>
                                        </p:tav>
                                        <p:tav tm="100000">
                                          <p:val>
                                            <p:strVal val="#ppt_y"/>
                                          </p:val>
                                        </p:tav>
                                      </p:tavLst>
                                    </p:anim>
                                  </p:childTnLst>
                                </p:cTn>
                              </p:par>
                              <p:par>
                                <p:cTn id="113" presetID="42" presetClass="entr" presetSubtype="0" fill="hold" grpId="0" nodeType="withEffect">
                                  <p:stCondLst>
                                    <p:cond delay="0"/>
                                  </p:stCondLst>
                                  <p:childTnLst>
                                    <p:set>
                                      <p:cBhvr>
                                        <p:cTn id="114" dur="1" fill="hold">
                                          <p:stCondLst>
                                            <p:cond delay="0"/>
                                          </p:stCondLst>
                                        </p:cTn>
                                        <p:tgtEl>
                                          <p:spTgt spid="5">
                                            <p:txEl>
                                              <p:pRg st="8" end="8"/>
                                            </p:txEl>
                                          </p:spTgt>
                                        </p:tgtEl>
                                        <p:attrNameLst>
                                          <p:attrName>style.visibility</p:attrName>
                                        </p:attrNameLst>
                                      </p:cBhvr>
                                      <p:to>
                                        <p:strVal val="visible"/>
                                      </p:to>
                                    </p:set>
                                    <p:animEffect transition="in" filter="fade">
                                      <p:cBhvr>
                                        <p:cTn id="115" dur="1000"/>
                                        <p:tgtEl>
                                          <p:spTgt spid="5">
                                            <p:txEl>
                                              <p:pRg st="8" end="8"/>
                                            </p:txEl>
                                          </p:spTgt>
                                        </p:tgtEl>
                                      </p:cBhvr>
                                    </p:animEffect>
                                    <p:anim calcmode="lin" valueType="num">
                                      <p:cBhvr>
                                        <p:cTn id="116" dur="1000" fill="hold"/>
                                        <p:tgtEl>
                                          <p:spTgt spid="5">
                                            <p:txEl>
                                              <p:pRg st="8" end="8"/>
                                            </p:txEl>
                                          </p:spTgt>
                                        </p:tgtEl>
                                        <p:attrNameLst>
                                          <p:attrName>ppt_x</p:attrName>
                                        </p:attrNameLst>
                                      </p:cBhvr>
                                      <p:tavLst>
                                        <p:tav tm="0">
                                          <p:val>
                                            <p:strVal val="#ppt_x"/>
                                          </p:val>
                                        </p:tav>
                                        <p:tav tm="100000">
                                          <p:val>
                                            <p:strVal val="#ppt_x"/>
                                          </p:val>
                                        </p:tav>
                                      </p:tavLst>
                                    </p:anim>
                                    <p:anim calcmode="lin" valueType="num">
                                      <p:cBhvr>
                                        <p:cTn id="117" dur="1000" fill="hold"/>
                                        <p:tgtEl>
                                          <p:spTgt spid="5">
                                            <p:txEl>
                                              <p:pRg st="8" end="8"/>
                                            </p:txEl>
                                          </p:spTgt>
                                        </p:tgtEl>
                                        <p:attrNameLst>
                                          <p:attrName>ppt_y</p:attrName>
                                        </p:attrNameLst>
                                      </p:cBhvr>
                                      <p:tavLst>
                                        <p:tav tm="0">
                                          <p:val>
                                            <p:strVal val="#ppt_y+.1"/>
                                          </p:val>
                                        </p:tav>
                                        <p:tav tm="100000">
                                          <p:val>
                                            <p:strVal val="#ppt_y"/>
                                          </p:val>
                                        </p:tav>
                                      </p:tavLst>
                                    </p:anim>
                                  </p:childTnLst>
                                </p:cTn>
                              </p:par>
                              <p:par>
                                <p:cTn id="118" presetID="42" presetClass="entr" presetSubtype="0" fill="hold" grpId="0" nodeType="withEffect">
                                  <p:stCondLst>
                                    <p:cond delay="0"/>
                                  </p:stCondLst>
                                  <p:childTnLst>
                                    <p:set>
                                      <p:cBhvr>
                                        <p:cTn id="119" dur="1" fill="hold">
                                          <p:stCondLst>
                                            <p:cond delay="0"/>
                                          </p:stCondLst>
                                        </p:cTn>
                                        <p:tgtEl>
                                          <p:spTgt spid="5">
                                            <p:txEl>
                                              <p:pRg st="9" end="9"/>
                                            </p:txEl>
                                          </p:spTgt>
                                        </p:tgtEl>
                                        <p:attrNameLst>
                                          <p:attrName>style.visibility</p:attrName>
                                        </p:attrNameLst>
                                      </p:cBhvr>
                                      <p:to>
                                        <p:strVal val="visible"/>
                                      </p:to>
                                    </p:set>
                                    <p:animEffect transition="in" filter="fade">
                                      <p:cBhvr>
                                        <p:cTn id="120" dur="1000"/>
                                        <p:tgtEl>
                                          <p:spTgt spid="5">
                                            <p:txEl>
                                              <p:pRg st="9" end="9"/>
                                            </p:txEl>
                                          </p:spTgt>
                                        </p:tgtEl>
                                      </p:cBhvr>
                                    </p:animEffect>
                                    <p:anim calcmode="lin" valueType="num">
                                      <p:cBhvr>
                                        <p:cTn id="121" dur="1000" fill="hold"/>
                                        <p:tgtEl>
                                          <p:spTgt spid="5">
                                            <p:txEl>
                                              <p:pRg st="9" end="9"/>
                                            </p:txEl>
                                          </p:spTgt>
                                        </p:tgtEl>
                                        <p:attrNameLst>
                                          <p:attrName>ppt_x</p:attrName>
                                        </p:attrNameLst>
                                      </p:cBhvr>
                                      <p:tavLst>
                                        <p:tav tm="0">
                                          <p:val>
                                            <p:strVal val="#ppt_x"/>
                                          </p:val>
                                        </p:tav>
                                        <p:tav tm="100000">
                                          <p:val>
                                            <p:strVal val="#ppt_x"/>
                                          </p:val>
                                        </p:tav>
                                      </p:tavLst>
                                    </p:anim>
                                    <p:anim calcmode="lin" valueType="num">
                                      <p:cBhvr>
                                        <p:cTn id="122" dur="1000" fill="hold"/>
                                        <p:tgtEl>
                                          <p:spTgt spid="5">
                                            <p:txEl>
                                              <p:pRg st="9" end="9"/>
                                            </p:txEl>
                                          </p:spTgt>
                                        </p:tgtEl>
                                        <p:attrNameLst>
                                          <p:attrName>ppt_y</p:attrName>
                                        </p:attrNameLst>
                                      </p:cBhvr>
                                      <p:tavLst>
                                        <p:tav tm="0">
                                          <p:val>
                                            <p:strVal val="#ppt_y+.1"/>
                                          </p:val>
                                        </p:tav>
                                        <p:tav tm="100000">
                                          <p:val>
                                            <p:strVal val="#ppt_y"/>
                                          </p:val>
                                        </p:tav>
                                      </p:tavLst>
                                    </p:anim>
                                  </p:childTnLst>
                                </p:cTn>
                              </p:par>
                              <p:par>
                                <p:cTn id="123" presetID="42" presetClass="entr" presetSubtype="0" fill="hold" grpId="0" nodeType="withEffect">
                                  <p:stCondLst>
                                    <p:cond delay="0"/>
                                  </p:stCondLst>
                                  <p:childTnLst>
                                    <p:set>
                                      <p:cBhvr>
                                        <p:cTn id="124" dur="1" fill="hold">
                                          <p:stCondLst>
                                            <p:cond delay="0"/>
                                          </p:stCondLst>
                                        </p:cTn>
                                        <p:tgtEl>
                                          <p:spTgt spid="5">
                                            <p:txEl>
                                              <p:pRg st="10" end="10"/>
                                            </p:txEl>
                                          </p:spTgt>
                                        </p:tgtEl>
                                        <p:attrNameLst>
                                          <p:attrName>style.visibility</p:attrName>
                                        </p:attrNameLst>
                                      </p:cBhvr>
                                      <p:to>
                                        <p:strVal val="visible"/>
                                      </p:to>
                                    </p:set>
                                    <p:animEffect transition="in" filter="fade">
                                      <p:cBhvr>
                                        <p:cTn id="125" dur="1000"/>
                                        <p:tgtEl>
                                          <p:spTgt spid="5">
                                            <p:txEl>
                                              <p:pRg st="10" end="10"/>
                                            </p:txEl>
                                          </p:spTgt>
                                        </p:tgtEl>
                                      </p:cBhvr>
                                    </p:animEffect>
                                    <p:anim calcmode="lin" valueType="num">
                                      <p:cBhvr>
                                        <p:cTn id="126" dur="1000" fill="hold"/>
                                        <p:tgtEl>
                                          <p:spTgt spid="5">
                                            <p:txEl>
                                              <p:pRg st="10" end="10"/>
                                            </p:txEl>
                                          </p:spTgt>
                                        </p:tgtEl>
                                        <p:attrNameLst>
                                          <p:attrName>ppt_x</p:attrName>
                                        </p:attrNameLst>
                                      </p:cBhvr>
                                      <p:tavLst>
                                        <p:tav tm="0">
                                          <p:val>
                                            <p:strVal val="#ppt_x"/>
                                          </p:val>
                                        </p:tav>
                                        <p:tav tm="100000">
                                          <p:val>
                                            <p:strVal val="#ppt_x"/>
                                          </p:val>
                                        </p:tav>
                                      </p:tavLst>
                                    </p:anim>
                                    <p:anim calcmode="lin" valueType="num">
                                      <p:cBhvr>
                                        <p:cTn id="127" dur="1000" fill="hold"/>
                                        <p:tgtEl>
                                          <p:spTgt spid="5">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128" fill="hold">
                      <p:stCondLst>
                        <p:cond delay="indefinite"/>
                      </p:stCondLst>
                      <p:childTnLst>
                        <p:par>
                          <p:cTn id="129" fill="hold">
                            <p:stCondLst>
                              <p:cond delay="0"/>
                            </p:stCondLst>
                            <p:childTnLst>
                              <p:par>
                                <p:cTn id="130" presetID="42" presetClass="entr" presetSubtype="0" fill="hold" grpId="0" nodeType="clickEffect">
                                  <p:stCondLst>
                                    <p:cond delay="0"/>
                                  </p:stCondLst>
                                  <p:childTnLst>
                                    <p:set>
                                      <p:cBhvr>
                                        <p:cTn id="131" dur="1" fill="hold">
                                          <p:stCondLst>
                                            <p:cond delay="0"/>
                                          </p:stCondLst>
                                        </p:cTn>
                                        <p:tgtEl>
                                          <p:spTgt spid="5">
                                            <p:txEl>
                                              <p:pRg st="11" end="11"/>
                                            </p:txEl>
                                          </p:spTgt>
                                        </p:tgtEl>
                                        <p:attrNameLst>
                                          <p:attrName>style.visibility</p:attrName>
                                        </p:attrNameLst>
                                      </p:cBhvr>
                                      <p:to>
                                        <p:strVal val="visible"/>
                                      </p:to>
                                    </p:set>
                                    <p:animEffect transition="in" filter="fade">
                                      <p:cBhvr>
                                        <p:cTn id="132" dur="1000"/>
                                        <p:tgtEl>
                                          <p:spTgt spid="5">
                                            <p:txEl>
                                              <p:pRg st="11" end="11"/>
                                            </p:txEl>
                                          </p:spTgt>
                                        </p:tgtEl>
                                      </p:cBhvr>
                                    </p:animEffect>
                                    <p:anim calcmode="lin" valueType="num">
                                      <p:cBhvr>
                                        <p:cTn id="133" dur="1000" fill="hold"/>
                                        <p:tgtEl>
                                          <p:spTgt spid="5">
                                            <p:txEl>
                                              <p:pRg st="11" end="11"/>
                                            </p:txEl>
                                          </p:spTgt>
                                        </p:tgtEl>
                                        <p:attrNameLst>
                                          <p:attrName>ppt_x</p:attrName>
                                        </p:attrNameLst>
                                      </p:cBhvr>
                                      <p:tavLst>
                                        <p:tav tm="0">
                                          <p:val>
                                            <p:strVal val="#ppt_x"/>
                                          </p:val>
                                        </p:tav>
                                        <p:tav tm="100000">
                                          <p:val>
                                            <p:strVal val="#ppt_x"/>
                                          </p:val>
                                        </p:tav>
                                      </p:tavLst>
                                    </p:anim>
                                    <p:anim calcmode="lin" valueType="num">
                                      <p:cBhvr>
                                        <p:cTn id="134" dur="1000" fill="hold"/>
                                        <p:tgtEl>
                                          <p:spTgt spid="5">
                                            <p:txEl>
                                              <p:pRg st="11" end="11"/>
                                            </p:txEl>
                                          </p:spTgt>
                                        </p:tgtEl>
                                        <p:attrNameLst>
                                          <p:attrName>ppt_y</p:attrName>
                                        </p:attrNameLst>
                                      </p:cBhvr>
                                      <p:tavLst>
                                        <p:tav tm="0">
                                          <p:val>
                                            <p:strVal val="#ppt_y+.1"/>
                                          </p:val>
                                        </p:tav>
                                        <p:tav tm="100000">
                                          <p:val>
                                            <p:strVal val="#ppt_y"/>
                                          </p:val>
                                        </p:tav>
                                      </p:tavLst>
                                    </p:anim>
                                  </p:childTnLst>
                                </p:cTn>
                              </p:par>
                              <p:par>
                                <p:cTn id="135" presetID="42" presetClass="entr" presetSubtype="0" fill="hold" grpId="0" nodeType="withEffect">
                                  <p:stCondLst>
                                    <p:cond delay="0"/>
                                  </p:stCondLst>
                                  <p:childTnLst>
                                    <p:set>
                                      <p:cBhvr>
                                        <p:cTn id="136" dur="1" fill="hold">
                                          <p:stCondLst>
                                            <p:cond delay="0"/>
                                          </p:stCondLst>
                                        </p:cTn>
                                        <p:tgtEl>
                                          <p:spTgt spid="5">
                                            <p:txEl>
                                              <p:pRg st="12" end="12"/>
                                            </p:txEl>
                                          </p:spTgt>
                                        </p:tgtEl>
                                        <p:attrNameLst>
                                          <p:attrName>style.visibility</p:attrName>
                                        </p:attrNameLst>
                                      </p:cBhvr>
                                      <p:to>
                                        <p:strVal val="visible"/>
                                      </p:to>
                                    </p:set>
                                    <p:animEffect transition="in" filter="fade">
                                      <p:cBhvr>
                                        <p:cTn id="137" dur="1000"/>
                                        <p:tgtEl>
                                          <p:spTgt spid="5">
                                            <p:txEl>
                                              <p:pRg st="12" end="12"/>
                                            </p:txEl>
                                          </p:spTgt>
                                        </p:tgtEl>
                                      </p:cBhvr>
                                    </p:animEffect>
                                    <p:anim calcmode="lin" valueType="num">
                                      <p:cBhvr>
                                        <p:cTn id="138" dur="1000" fill="hold"/>
                                        <p:tgtEl>
                                          <p:spTgt spid="5">
                                            <p:txEl>
                                              <p:pRg st="12" end="12"/>
                                            </p:txEl>
                                          </p:spTgt>
                                        </p:tgtEl>
                                        <p:attrNameLst>
                                          <p:attrName>ppt_x</p:attrName>
                                        </p:attrNameLst>
                                      </p:cBhvr>
                                      <p:tavLst>
                                        <p:tav tm="0">
                                          <p:val>
                                            <p:strVal val="#ppt_x"/>
                                          </p:val>
                                        </p:tav>
                                        <p:tav tm="100000">
                                          <p:val>
                                            <p:strVal val="#ppt_x"/>
                                          </p:val>
                                        </p:tav>
                                      </p:tavLst>
                                    </p:anim>
                                    <p:anim calcmode="lin" valueType="num">
                                      <p:cBhvr>
                                        <p:cTn id="139" dur="1000" fill="hold"/>
                                        <p:tgtEl>
                                          <p:spTgt spid="5">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P spid="5" grpId="0" uiExpand="1" build="p"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3">
            <a:extLst>
              <a:ext uri="{FF2B5EF4-FFF2-40B4-BE49-F238E27FC236}">
                <a16:creationId xmlns:a16="http://schemas.microsoft.com/office/drawing/2014/main" id="{97DDB8EE-4E76-421A-96C3-3AA6E3C6624F}"/>
              </a:ext>
            </a:extLst>
          </p:cNvPr>
          <p:cNvSpPr txBox="1">
            <a:spLocks noChangeArrowheads="1"/>
          </p:cNvSpPr>
          <p:nvPr/>
        </p:nvSpPr>
        <p:spPr bwMode="auto">
          <a:xfrm>
            <a:off x="765154" y="1743298"/>
            <a:ext cx="10591410" cy="2648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20000"/>
              </a:lnSpc>
              <a:spcBef>
                <a:spcPct val="0"/>
              </a:spcBef>
              <a:spcAft>
                <a:spcPct val="0"/>
              </a:spcAft>
              <a:buClrTx/>
              <a:buSzTx/>
              <a:buFontTx/>
              <a:buNone/>
              <a:tabLst/>
              <a:defRPr/>
            </a:pPr>
            <a:r>
              <a:rPr kumimoji="0" lang="en-US" altLang="zh-CN" sz="2000" b="1"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C</a:t>
            </a:r>
            <a:r>
              <a:rPr kumimoji="0" lang="zh-CN" altLang="en-US" sz="2000" b="1"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语言程序的可访问内存分为</a:t>
            </a:r>
            <a:r>
              <a:rPr kumimoji="0" lang="en-US" altLang="zh-CN" sz="2000" b="1"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4</a:t>
            </a:r>
            <a:r>
              <a:rPr kumimoji="0" lang="zh-CN" altLang="en-US" sz="2000" b="1"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个区：</a:t>
            </a:r>
            <a:endParaRPr kumimoji="0" lang="en-US" altLang="zh-CN" sz="2000" b="1"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20000"/>
              </a:lnSpc>
              <a:spcBef>
                <a:spcPct val="0"/>
              </a:spcBef>
              <a:spcAft>
                <a:spcPct val="0"/>
              </a:spcAft>
              <a:buClrTx/>
              <a:buSzTx/>
              <a:buFontTx/>
              <a:buNone/>
              <a:tabLst/>
              <a:defRPr/>
            </a:pPr>
            <a:r>
              <a:rPr kumimoji="0" lang="zh-CN" altLang="en-US" sz="2000" b="1"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en-US" altLang="zh-CN" sz="2000" b="1"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1</a:t>
            </a:r>
            <a:r>
              <a:rPr kumimoji="0" lang="zh-CN" altLang="en-US" sz="2000" b="1"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zh-CN" altLang="en-US" sz="2000" b="1"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栈</a:t>
            </a:r>
            <a:r>
              <a:rPr kumimoji="0" lang="zh-CN" altLang="en-US" sz="2000" b="1"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，由编译器计算每个函数所需的内存块的大小，预分配参数和局部变量在块内的相对地址。在函数入口确定函数内存块在栈中的具体位置（基址），且在函数出口释放内存块。</a:t>
            </a:r>
            <a:endParaRPr kumimoji="0" lang="en-US" altLang="zh-CN" sz="2000" b="1"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20000"/>
              </a:lnSpc>
              <a:spcBef>
                <a:spcPct val="0"/>
              </a:spcBef>
              <a:spcAft>
                <a:spcPct val="0"/>
              </a:spcAft>
              <a:buClrTx/>
              <a:buSzTx/>
              <a:buFontTx/>
              <a:buNone/>
              <a:tabLst/>
              <a:defRPr/>
            </a:pPr>
            <a:r>
              <a:rPr kumimoji="0" lang="zh-CN" altLang="en-US" sz="2000" b="1"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en-US" altLang="zh-CN" sz="2000" b="1"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2</a:t>
            </a:r>
            <a:r>
              <a:rPr kumimoji="0" lang="zh-CN" altLang="en-US" sz="2000" b="1"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zh-CN" altLang="en-US" sz="2000" b="1"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堆</a:t>
            </a:r>
            <a:r>
              <a:rPr kumimoji="0" lang="zh-CN" altLang="en-US" sz="2000" b="1"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，在程序执行期间，可用库函数</a:t>
            </a:r>
            <a:r>
              <a:rPr kumimoji="0" lang="en-US" altLang="zh-CN" sz="2000" b="1"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malloc</a:t>
            </a:r>
            <a:r>
              <a:rPr kumimoji="0" lang="zh-CN" altLang="en-US" sz="2000" b="1"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en-US" altLang="zh-CN" sz="2000" b="1" i="0" u="none" strike="noStrike" kern="100" cap="none" spc="0" normalizeH="0" baseline="0" noProof="0" dirty="0" err="1">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calloc</a:t>
            </a:r>
            <a:r>
              <a:rPr kumimoji="0" lang="zh-CN" altLang="en-US" sz="2000" b="1"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和</a:t>
            </a:r>
            <a:r>
              <a:rPr kumimoji="0" lang="en-US" altLang="zh-CN" sz="2000" b="1" i="0" u="none" strike="noStrike" kern="100" cap="none" spc="0" normalizeH="0" baseline="0" noProof="0" dirty="0" err="1">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realloc</a:t>
            </a:r>
            <a:r>
              <a:rPr kumimoji="0" lang="zh-CN" altLang="en-US" sz="2000" b="1"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在堆中申请动态分配所需内存，并在不用时用函数</a:t>
            </a:r>
            <a:r>
              <a:rPr kumimoji="0" lang="en-US" altLang="zh-CN" sz="2000" b="1"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free</a:t>
            </a:r>
            <a:r>
              <a:rPr kumimoji="0" lang="zh-CN" altLang="en-US" sz="2000" b="1"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释放所分配的内存。</a:t>
            </a:r>
            <a:endParaRPr kumimoji="0" lang="en-US" altLang="zh-CN" sz="2000" b="1"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20000"/>
              </a:lnSpc>
              <a:spcBef>
                <a:spcPct val="0"/>
              </a:spcBef>
              <a:spcAft>
                <a:spcPct val="0"/>
              </a:spcAft>
              <a:buClrTx/>
              <a:buSzTx/>
              <a:buFontTx/>
              <a:buNone/>
              <a:tabLst/>
              <a:defRPr/>
            </a:pPr>
            <a:r>
              <a:rPr kumimoji="0" lang="zh-CN" altLang="en-US" sz="2000" b="1"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en-US" altLang="zh-CN" sz="2000" b="1"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3</a:t>
            </a:r>
            <a:r>
              <a:rPr kumimoji="0" lang="zh-CN" altLang="en-US" sz="2000" b="1"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zh-CN" altLang="en-US" sz="2000" b="1"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全局</a:t>
            </a:r>
            <a:r>
              <a:rPr kumimoji="0" lang="en-US" altLang="zh-CN" sz="2000" b="1"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r>
              <a:rPr kumimoji="0" lang="zh-CN" altLang="en-US" sz="2000" b="1"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静态区</a:t>
            </a:r>
            <a:r>
              <a:rPr kumimoji="0" lang="zh-CN" altLang="en-US" sz="2000" b="1"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，是专门存储全局变量和静态变量的内存区。</a:t>
            </a:r>
            <a:endParaRPr kumimoji="0" lang="en-US" altLang="zh-CN" sz="2000" b="1"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20000"/>
              </a:lnSpc>
              <a:spcBef>
                <a:spcPct val="0"/>
              </a:spcBef>
              <a:spcAft>
                <a:spcPct val="0"/>
              </a:spcAft>
              <a:buClrTx/>
              <a:buSzTx/>
              <a:buFontTx/>
              <a:buNone/>
              <a:tabLst/>
              <a:defRPr/>
            </a:pPr>
            <a:r>
              <a:rPr kumimoji="0" lang="zh-CN" altLang="en-US" sz="2000" b="1"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en-US" altLang="zh-CN" sz="2000" b="1"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4</a:t>
            </a:r>
            <a:r>
              <a:rPr kumimoji="0" lang="zh-CN" altLang="en-US" sz="2000" b="1"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zh-CN" altLang="en-US" sz="2000" b="1"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常量区</a:t>
            </a:r>
            <a:r>
              <a:rPr kumimoji="0" lang="zh-CN" altLang="en-US" sz="2000" b="1"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，专门存放常量，常量只可取值，不可赋值。</a:t>
            </a:r>
          </a:p>
        </p:txBody>
      </p:sp>
      <p:sp>
        <p:nvSpPr>
          <p:cNvPr id="3" name="文本框 4">
            <a:extLst>
              <a:ext uri="{FF2B5EF4-FFF2-40B4-BE49-F238E27FC236}">
                <a16:creationId xmlns:a16="http://schemas.microsoft.com/office/drawing/2014/main" id="{251F857D-1078-46D8-A137-D4356EC58587}"/>
              </a:ext>
            </a:extLst>
          </p:cNvPr>
          <p:cNvSpPr txBox="1">
            <a:spLocks noChangeArrowheads="1"/>
          </p:cNvSpPr>
          <p:nvPr/>
        </p:nvSpPr>
        <p:spPr bwMode="auto">
          <a:xfrm>
            <a:off x="765153" y="4833816"/>
            <a:ext cx="10444537" cy="1170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20000"/>
              </a:lnSpc>
              <a:spcBef>
                <a:spcPct val="0"/>
              </a:spcBef>
              <a:spcAft>
                <a:spcPct val="0"/>
              </a:spcAft>
              <a:buClrTx/>
              <a:buSzTx/>
              <a:buFontTx/>
              <a:buNone/>
              <a:tabLst/>
              <a:defRPr/>
            </a:pPr>
            <a:r>
              <a:rPr kumimoji="0" lang="en-US" altLang="zh-CN" sz="2000" b="1"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C</a:t>
            </a:r>
            <a:r>
              <a:rPr kumimoji="0" lang="zh-CN" altLang="en-US" sz="2000" b="1"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语言在栈中自动为函数分配和回收内存块，程序员无需也不能参与。但是，要熟悉函数的参数和局部变量在栈中存储机制，特别是参数的传递方式，这有助于深入理解函数嵌套调用和递归调用。</a:t>
            </a:r>
          </a:p>
        </p:txBody>
      </p:sp>
      <p:sp>
        <p:nvSpPr>
          <p:cNvPr id="4" name="矩形: 圆角 3">
            <a:extLst>
              <a:ext uri="{FF2B5EF4-FFF2-40B4-BE49-F238E27FC236}">
                <a16:creationId xmlns:a16="http://schemas.microsoft.com/office/drawing/2014/main" id="{1709B30F-BA22-41FA-834E-38AFDE674874}"/>
              </a:ext>
            </a:extLst>
          </p:cNvPr>
          <p:cNvSpPr/>
          <p:nvPr/>
        </p:nvSpPr>
        <p:spPr>
          <a:xfrm>
            <a:off x="765154" y="1184006"/>
            <a:ext cx="3443189" cy="461141"/>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等线" panose="020F0502020204030204"/>
                <a:ea typeface="等线" panose="02010600030101010101" pitchFamily="2" charset="-122"/>
                <a:cs typeface="+mn-cs"/>
              </a:rPr>
              <a:t>内存分区和动态分配</a:t>
            </a:r>
          </a:p>
        </p:txBody>
      </p:sp>
      <p:sp>
        <p:nvSpPr>
          <p:cNvPr id="6" name="文本框 5">
            <a:extLst>
              <a:ext uri="{FF2B5EF4-FFF2-40B4-BE49-F238E27FC236}">
                <a16:creationId xmlns:a16="http://schemas.microsoft.com/office/drawing/2014/main" id="{75A1F942-5731-DAED-0873-A514F8E65B44}"/>
              </a:ext>
            </a:extLst>
          </p:cNvPr>
          <p:cNvSpPr txBox="1"/>
          <p:nvPr/>
        </p:nvSpPr>
        <p:spPr>
          <a:xfrm>
            <a:off x="1094408" y="250752"/>
            <a:ext cx="8337267" cy="523220"/>
          </a:xfrm>
          <a:prstGeom prst="rect">
            <a:avLst/>
          </a:prstGeom>
          <a:noFill/>
        </p:spPr>
        <p:txBody>
          <a:bodyPr wrap="square">
            <a:spAutoFit/>
          </a:bodyPr>
          <a:lstStyle/>
          <a:p>
            <a:pPr indent="266700">
              <a:buNone/>
            </a:pPr>
            <a:r>
              <a:rPr lang="en-US" altLang="zh-CN" sz="2800" b="1" kern="100" dirty="0">
                <a:solidFill>
                  <a:srgbClr val="C00000"/>
                </a:solidFill>
                <a:effectLst>
                  <a:outerShdw blurRad="38100" dist="38100" dir="2700000" algn="tl">
                    <a:srgbClr val="000000">
                      <a:alpha val="43137"/>
                    </a:srgbClr>
                  </a:outerShdw>
                </a:effectLst>
                <a:latin typeface="+mj-ea"/>
                <a:ea typeface="+mj-ea"/>
                <a:cs typeface="Times New Roman" panose="02020603050405020304" pitchFamily="18" charset="0"/>
              </a:rPr>
              <a:t>1.3.2  </a:t>
            </a:r>
            <a:r>
              <a:rPr lang="zh-CN" altLang="zh-CN" sz="2800" b="1" kern="100" dirty="0">
                <a:solidFill>
                  <a:srgbClr val="C00000"/>
                </a:solidFill>
                <a:effectLst>
                  <a:outerShdw blurRad="38100" dist="38100" dir="2700000" algn="tl">
                    <a:srgbClr val="000000">
                      <a:alpha val="43137"/>
                    </a:srgbClr>
                  </a:outerShdw>
                </a:effectLst>
                <a:latin typeface="+mj-ea"/>
                <a:ea typeface="+mj-ea"/>
                <a:cs typeface="Times New Roman" panose="02020603050405020304" pitchFamily="18" charset="0"/>
              </a:rPr>
              <a:t>数据存储结构的</a:t>
            </a:r>
            <a:r>
              <a:rPr lang="en-US" altLang="zh-CN" sz="2800" b="1" kern="100" dirty="0">
                <a:solidFill>
                  <a:srgbClr val="C00000"/>
                </a:solidFill>
                <a:effectLst>
                  <a:outerShdw blurRad="38100" dist="38100" dir="2700000" algn="tl">
                    <a:srgbClr val="000000">
                      <a:alpha val="43137"/>
                    </a:srgbClr>
                  </a:outerShdw>
                </a:effectLst>
                <a:latin typeface="+mj-ea"/>
                <a:ea typeface="+mj-ea"/>
                <a:cs typeface="Times New Roman" panose="02020603050405020304" pitchFamily="18" charset="0"/>
              </a:rPr>
              <a:t>C</a:t>
            </a:r>
            <a:r>
              <a:rPr lang="zh-CN" altLang="zh-CN" sz="2800" b="1" kern="100" dirty="0">
                <a:solidFill>
                  <a:srgbClr val="C00000"/>
                </a:solidFill>
                <a:effectLst>
                  <a:outerShdw blurRad="38100" dist="38100" dir="2700000" algn="tl">
                    <a:srgbClr val="000000">
                      <a:alpha val="43137"/>
                    </a:srgbClr>
                  </a:outerShdw>
                </a:effectLst>
                <a:latin typeface="+mj-ea"/>
                <a:ea typeface="+mj-ea"/>
                <a:cs typeface="Times New Roman" panose="02020603050405020304" pitchFamily="18" charset="0"/>
              </a:rPr>
              <a:t>语言描述</a:t>
            </a:r>
            <a:r>
              <a:rPr lang="zh-CN" altLang="en-US" sz="2400" b="1" kern="100" dirty="0">
                <a:solidFill>
                  <a:srgbClr val="C00000"/>
                </a:solidFill>
                <a:effectLst>
                  <a:outerShdw blurRad="38100" dist="38100" dir="2700000" algn="tl">
                    <a:srgbClr val="000000">
                      <a:alpha val="43137"/>
                    </a:srgbClr>
                  </a:outerShdw>
                </a:effectLst>
                <a:latin typeface="+mj-ea"/>
                <a:ea typeface="+mj-ea"/>
                <a:cs typeface="Times New Roman" panose="02020603050405020304" pitchFamily="18" charset="0"/>
              </a:rPr>
              <a:t>（复习与增强）</a:t>
            </a:r>
            <a:endParaRPr lang="zh-CN" altLang="zh-CN" sz="2400" b="1" kern="100" dirty="0">
              <a:solidFill>
                <a:srgbClr val="C00000"/>
              </a:solidFill>
              <a:effectLst>
                <a:outerShdw blurRad="38100" dist="38100" dir="2700000" algn="tl">
                  <a:srgbClr val="000000">
                    <a:alpha val="43137"/>
                  </a:srgbClr>
                </a:outerShdw>
              </a:effectLst>
              <a:latin typeface="+mj-ea"/>
              <a:ea typeface="+mj-ea"/>
              <a:cs typeface="Times New Roman" panose="02020603050405020304" pitchFamily="18" charset="0"/>
            </a:endParaRPr>
          </a:p>
        </p:txBody>
      </p:sp>
      <p:sp>
        <p:nvSpPr>
          <p:cNvPr id="5" name="灯片编号占位符 4">
            <a:extLst>
              <a:ext uri="{FF2B5EF4-FFF2-40B4-BE49-F238E27FC236}">
                <a16:creationId xmlns:a16="http://schemas.microsoft.com/office/drawing/2014/main" id="{59890B4C-9BC2-7B3D-19C7-E362B029B189}"/>
              </a:ext>
            </a:extLst>
          </p:cNvPr>
          <p:cNvSpPr>
            <a:spLocks noGrp="1"/>
          </p:cNvSpPr>
          <p:nvPr>
            <p:ph type="sldNum" sz="quarter" idx="12"/>
          </p:nvPr>
        </p:nvSpPr>
        <p:spPr/>
        <p:txBody>
          <a:bodyPr/>
          <a:lstStyle/>
          <a:p>
            <a:fld id="{D7C0FE0B-717B-41AE-9FA2-CA4BF851D1C3}" type="slidenum">
              <a:rPr lang="zh-CN" altLang="en-US" smtClean="0"/>
              <a:t>44</a:t>
            </a:fld>
            <a:endParaRPr lang="zh-CN" altLang="en-US"/>
          </a:p>
        </p:txBody>
      </p:sp>
    </p:spTree>
    <p:extLst>
      <p:ext uri="{BB962C8B-B14F-4D97-AF65-F5344CB8AC3E}">
        <p14:creationId xmlns:p14="http://schemas.microsoft.com/office/powerpoint/2010/main" val="2151754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组合 38">
            <a:extLst>
              <a:ext uri="{FF2B5EF4-FFF2-40B4-BE49-F238E27FC236}">
                <a16:creationId xmlns:a16="http://schemas.microsoft.com/office/drawing/2014/main" id="{7630CA2F-D24E-41F2-8F3D-BC76B0690233}"/>
              </a:ext>
            </a:extLst>
          </p:cNvPr>
          <p:cNvGrpSpPr/>
          <p:nvPr/>
        </p:nvGrpSpPr>
        <p:grpSpPr>
          <a:xfrm>
            <a:off x="6117021" y="3009991"/>
            <a:ext cx="1431509" cy="3422340"/>
            <a:chOff x="6312513" y="2909092"/>
            <a:chExt cx="1431509" cy="3422340"/>
          </a:xfrm>
        </p:grpSpPr>
        <p:sp>
          <p:nvSpPr>
            <p:cNvPr id="6" name="矩形 5">
              <a:extLst>
                <a:ext uri="{FF2B5EF4-FFF2-40B4-BE49-F238E27FC236}">
                  <a16:creationId xmlns:a16="http://schemas.microsoft.com/office/drawing/2014/main" id="{563266A3-623C-493D-8C35-5D6D86DF23CB}"/>
                </a:ext>
              </a:extLst>
            </p:cNvPr>
            <p:cNvSpPr/>
            <p:nvPr/>
          </p:nvSpPr>
          <p:spPr>
            <a:xfrm>
              <a:off x="6312513" y="3272921"/>
              <a:ext cx="1431509" cy="3058511"/>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13" name="文本框 12">
              <a:extLst>
                <a:ext uri="{FF2B5EF4-FFF2-40B4-BE49-F238E27FC236}">
                  <a16:creationId xmlns:a16="http://schemas.microsoft.com/office/drawing/2014/main" id="{BCAAA591-2A8A-48C2-B02A-9EA892E8EB5E}"/>
                </a:ext>
              </a:extLst>
            </p:cNvPr>
            <p:cNvSpPr txBox="1"/>
            <p:nvPr/>
          </p:nvSpPr>
          <p:spPr>
            <a:xfrm>
              <a:off x="6825782" y="2909092"/>
              <a:ext cx="41549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栈</a:t>
              </a:r>
            </a:p>
          </p:txBody>
        </p:sp>
      </p:grpSp>
      <p:grpSp>
        <p:nvGrpSpPr>
          <p:cNvPr id="37" name="组合 36">
            <a:extLst>
              <a:ext uri="{FF2B5EF4-FFF2-40B4-BE49-F238E27FC236}">
                <a16:creationId xmlns:a16="http://schemas.microsoft.com/office/drawing/2014/main" id="{5DCEB6D9-9952-410F-92CA-4C7D31688987}"/>
              </a:ext>
            </a:extLst>
          </p:cNvPr>
          <p:cNvGrpSpPr/>
          <p:nvPr/>
        </p:nvGrpSpPr>
        <p:grpSpPr>
          <a:xfrm>
            <a:off x="8418787" y="3009991"/>
            <a:ext cx="3380127" cy="3422340"/>
            <a:chOff x="8614279" y="2909092"/>
            <a:chExt cx="3380127" cy="3422340"/>
          </a:xfrm>
        </p:grpSpPr>
        <p:sp>
          <p:nvSpPr>
            <p:cNvPr id="15" name="矩形 14">
              <a:extLst>
                <a:ext uri="{FF2B5EF4-FFF2-40B4-BE49-F238E27FC236}">
                  <a16:creationId xmlns:a16="http://schemas.microsoft.com/office/drawing/2014/main" id="{14F9624F-FA8F-4C84-A651-D354C747585A}"/>
                </a:ext>
              </a:extLst>
            </p:cNvPr>
            <p:cNvSpPr/>
            <p:nvPr/>
          </p:nvSpPr>
          <p:spPr>
            <a:xfrm>
              <a:off x="8614279" y="3272921"/>
              <a:ext cx="3380127" cy="3058511"/>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9" name="文本框 28">
              <a:extLst>
                <a:ext uri="{FF2B5EF4-FFF2-40B4-BE49-F238E27FC236}">
                  <a16:creationId xmlns:a16="http://schemas.microsoft.com/office/drawing/2014/main" id="{11C525B5-38D9-4554-89FF-4D275FE5DD61}"/>
                </a:ext>
              </a:extLst>
            </p:cNvPr>
            <p:cNvSpPr txBox="1"/>
            <p:nvPr/>
          </p:nvSpPr>
          <p:spPr>
            <a:xfrm>
              <a:off x="10112358" y="2909092"/>
              <a:ext cx="41549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堆</a:t>
              </a:r>
            </a:p>
          </p:txBody>
        </p:sp>
      </p:grpSp>
      <p:sp>
        <p:nvSpPr>
          <p:cNvPr id="5" name="文本框 4">
            <a:extLst>
              <a:ext uri="{FF2B5EF4-FFF2-40B4-BE49-F238E27FC236}">
                <a16:creationId xmlns:a16="http://schemas.microsoft.com/office/drawing/2014/main" id="{44ED6229-5A7F-4EB3-B7C9-C0178BCD93EA}"/>
              </a:ext>
            </a:extLst>
          </p:cNvPr>
          <p:cNvSpPr txBox="1">
            <a:spLocks noChangeArrowheads="1"/>
          </p:cNvSpPr>
          <p:nvPr/>
        </p:nvSpPr>
        <p:spPr bwMode="auto">
          <a:xfrm>
            <a:off x="507554" y="2878831"/>
            <a:ext cx="5467277" cy="3367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l" defTabSz="914400" rtl="0" eaLnBrk="1" fontAlgn="base" latinLnBrk="0" hangingPunct="1">
              <a:lnSpc>
                <a:spcPct val="120000"/>
              </a:lnSpc>
              <a:spcBef>
                <a:spcPct val="0"/>
              </a:spcBef>
              <a:spcAft>
                <a:spcPct val="0"/>
              </a:spcAft>
              <a:buClrTx/>
              <a:buSzTx/>
              <a:buFontTx/>
              <a:buNone/>
              <a:tabLst/>
              <a:defRPr/>
            </a:pPr>
            <a:r>
              <a:rPr kumimoji="0" lang="zh-CN" altLang="en-US" b="1" i="0" u="none" strike="noStrike" kern="100" cap="none" spc="0" normalizeH="0" baseline="0" noProof="0" dirty="0">
                <a:ln>
                  <a:noFill/>
                </a:ln>
                <a:solidFill>
                  <a:srgbClr val="C00000"/>
                </a:solidFill>
                <a:effectLst/>
                <a:uLnTx/>
                <a:uFillTx/>
                <a:latin typeface="等线" panose="02010600030101010101" pitchFamily="2" charset="-122"/>
                <a:ea typeface="等线" panose="02010600030101010101" pitchFamily="2" charset="-122"/>
                <a:cs typeface="Courier New" panose="02070309020205020404" pitchFamily="49" charset="0"/>
              </a:rPr>
              <a:t>例</a:t>
            </a:r>
            <a:r>
              <a:rPr kumimoji="0" lang="en-US" altLang="zh-CN" b="1" i="0" u="none" strike="noStrike" kern="1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1</a:t>
            </a:r>
            <a:r>
              <a:rPr kumimoji="0" lang="en-US" altLang="zh-CN"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zh-CN" altLang="en-US"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申请分配整数、字符和结构的存储空间</a:t>
            </a:r>
            <a:endParaRPr kumimoji="0" lang="en-US" altLang="zh-CN"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20000"/>
              </a:lnSpc>
              <a:spcBef>
                <a:spcPct val="0"/>
              </a:spcBef>
              <a:spcAft>
                <a:spcPct val="0"/>
              </a:spcAft>
              <a:buClrTx/>
              <a:buSzTx/>
              <a:buFontTx/>
              <a:buNone/>
              <a:tabLst/>
              <a:defRPr/>
            </a:pPr>
            <a:r>
              <a:rPr kumimoji="0" lang="en-US" altLang="zh-CN" sz="1600" b="1" i="0" u="none" strike="noStrike" kern="1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typedef</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1" i="0" u="none" strike="noStrike" kern="1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struct</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1" i="0" u="none" strike="noStrike" kern="1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a:t>
            </a:r>
          </a:p>
          <a:p>
            <a:pPr marL="0" marR="0" lvl="0" indent="0" algn="l" defTabSz="914400" rtl="0" eaLnBrk="1" fontAlgn="base" latinLnBrk="0" hangingPunct="1">
              <a:lnSpc>
                <a:spcPct val="120000"/>
              </a:lnSpc>
              <a:spcBef>
                <a:spcPct val="0"/>
              </a:spcBef>
              <a:spcAft>
                <a:spcPct val="0"/>
              </a:spcAft>
              <a:buClrTx/>
              <a:buSzTx/>
              <a:buFontTx/>
              <a:buNone/>
              <a:tabLst/>
              <a:defRPr/>
            </a:pP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1" i="0" u="none" strike="noStrike" kern="1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int</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num;      </a:t>
            </a:r>
            <a:r>
              <a:rPr kumimoji="0" lang="en-US" altLang="zh-CN" sz="1600" b="1" i="0" u="none" strike="noStrike" kern="100" cap="none" spc="0" normalizeH="0" baseline="0" noProof="0" dirty="0">
                <a:ln>
                  <a:noFill/>
                </a:ln>
                <a:solidFill>
                  <a:srgbClr val="0070C0"/>
                </a:solidFill>
                <a:effectLst/>
                <a:uLnTx/>
                <a:uFillTx/>
                <a:latin typeface="仿宋" panose="02010609060101010101" pitchFamily="49" charset="-122"/>
                <a:ea typeface="仿宋" panose="02010609060101010101" pitchFamily="49" charset="-122"/>
                <a:cs typeface="Courier New" panose="02070309020205020404" pitchFamily="49" charset="0"/>
              </a:rPr>
              <a:t>// </a:t>
            </a:r>
            <a:r>
              <a:rPr kumimoji="0" lang="zh-CN" altLang="en-US" sz="1600" b="1" i="0" u="none" strike="noStrike" kern="100" cap="none" spc="0" normalizeH="0" baseline="0" noProof="0" dirty="0">
                <a:ln>
                  <a:noFill/>
                </a:ln>
                <a:solidFill>
                  <a:srgbClr val="0070C0"/>
                </a:solidFill>
                <a:effectLst/>
                <a:uLnTx/>
                <a:uFillTx/>
                <a:latin typeface="仿宋" panose="02010609060101010101" pitchFamily="49" charset="-122"/>
                <a:ea typeface="仿宋" panose="02010609060101010101" pitchFamily="49" charset="-122"/>
                <a:cs typeface="Courier New" panose="02070309020205020404" pitchFamily="49" charset="0"/>
              </a:rPr>
              <a:t>课程编号</a:t>
            </a:r>
            <a:endPar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20000"/>
              </a:lnSpc>
              <a:spcBef>
                <a:spcPct val="0"/>
              </a:spcBef>
              <a:spcAft>
                <a:spcPct val="0"/>
              </a:spcAft>
              <a:buClrTx/>
              <a:buSzTx/>
              <a:buFontTx/>
              <a:buNone/>
              <a:tabLst/>
              <a:defRPr/>
            </a:pP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1" i="0" u="none" strike="noStrike" kern="1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char</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name[16]; </a:t>
            </a:r>
            <a:r>
              <a:rPr kumimoji="0" lang="en-US" altLang="zh-CN" sz="1600" b="1" i="0" u="none" strike="noStrike" kern="100" cap="none" spc="0" normalizeH="0" baseline="0" noProof="0" dirty="0">
                <a:ln>
                  <a:noFill/>
                </a:ln>
                <a:solidFill>
                  <a:srgbClr val="0070C0"/>
                </a:solidFill>
                <a:effectLst/>
                <a:uLnTx/>
                <a:uFillTx/>
                <a:latin typeface="仿宋" panose="02010609060101010101" pitchFamily="49" charset="-122"/>
                <a:ea typeface="仿宋" panose="02010609060101010101" pitchFamily="49" charset="-122"/>
                <a:cs typeface="Courier New" panose="02070309020205020404" pitchFamily="49" charset="0"/>
              </a:rPr>
              <a:t>// </a:t>
            </a:r>
            <a:r>
              <a:rPr kumimoji="0" lang="zh-CN" altLang="en-US" sz="1600" b="1" i="0" u="none" strike="noStrike" kern="100" cap="none" spc="0" normalizeH="0" baseline="0" noProof="0" dirty="0">
                <a:ln>
                  <a:noFill/>
                </a:ln>
                <a:solidFill>
                  <a:srgbClr val="0070C0"/>
                </a:solidFill>
                <a:effectLst/>
                <a:uLnTx/>
                <a:uFillTx/>
                <a:latin typeface="仿宋" panose="02010609060101010101" pitchFamily="49" charset="-122"/>
                <a:ea typeface="仿宋" panose="02010609060101010101" pitchFamily="49" charset="-122"/>
                <a:cs typeface="Courier New" panose="02070309020205020404" pitchFamily="49" charset="0"/>
              </a:rPr>
              <a:t>课程名称</a:t>
            </a:r>
            <a:endPar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20000"/>
              </a:lnSpc>
              <a:spcBef>
                <a:spcPct val="0"/>
              </a:spcBef>
              <a:spcAft>
                <a:spcPct val="0"/>
              </a:spcAft>
              <a:buClrTx/>
              <a:buSzTx/>
              <a:buFontTx/>
              <a:buNone/>
              <a:tabLst/>
              <a:defRPr/>
            </a:pPr>
            <a:r>
              <a:rPr kumimoji="0" lang="en-US" altLang="zh-CN" sz="1600" b="1" i="0" u="none" strike="noStrike" kern="1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Course;  </a:t>
            </a:r>
            <a:r>
              <a:rPr kumimoji="0" lang="en-US" altLang="zh-CN" sz="1600" b="1" i="0" u="none" strike="noStrike" kern="100" cap="none" spc="0" normalizeH="0" baseline="0" noProof="0" dirty="0">
                <a:ln>
                  <a:noFill/>
                </a:ln>
                <a:solidFill>
                  <a:srgbClr val="0070C0"/>
                </a:solidFill>
                <a:effectLst/>
                <a:uLnTx/>
                <a:uFillTx/>
                <a:latin typeface="仿宋" panose="02010609060101010101" pitchFamily="49" charset="-122"/>
                <a:ea typeface="仿宋" panose="02010609060101010101" pitchFamily="49" charset="-122"/>
                <a:cs typeface="Courier New" panose="02070309020205020404" pitchFamily="49" charset="0"/>
              </a:rPr>
              <a:t>// </a:t>
            </a:r>
            <a:r>
              <a:rPr kumimoji="0" lang="zh-CN" altLang="en-US" sz="1600" b="1" i="0" u="none" strike="noStrike" kern="100" cap="none" spc="0" normalizeH="0" baseline="0" noProof="0" dirty="0">
                <a:ln>
                  <a:noFill/>
                </a:ln>
                <a:solidFill>
                  <a:srgbClr val="0070C0"/>
                </a:solidFill>
                <a:effectLst/>
                <a:uLnTx/>
                <a:uFillTx/>
                <a:latin typeface="仿宋" panose="02010609060101010101" pitchFamily="49" charset="-122"/>
                <a:ea typeface="仿宋" panose="02010609060101010101" pitchFamily="49" charset="-122"/>
                <a:cs typeface="Courier New" panose="02070309020205020404" pitchFamily="49" charset="0"/>
              </a:rPr>
              <a:t>课程结构类型</a:t>
            </a:r>
            <a:endPar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20000"/>
              </a:lnSpc>
              <a:spcBef>
                <a:spcPct val="0"/>
              </a:spcBef>
              <a:spcAft>
                <a:spcPct val="0"/>
              </a:spcAft>
              <a:buClrTx/>
              <a:buSzTx/>
              <a:buFontTx/>
              <a:buNone/>
              <a:tabLst/>
              <a:defRPr/>
            </a:pPr>
            <a:r>
              <a:rPr kumimoji="0" lang="en-US" altLang="zh-CN" sz="1600" b="1" i="0" u="none" strike="noStrike" kern="1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int</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1"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nump</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p>
          <a:p>
            <a:pPr marL="0" marR="0" lvl="0" indent="0" algn="l" defTabSz="914400" rtl="0" eaLnBrk="1" fontAlgn="base" latinLnBrk="0" hangingPunct="1">
              <a:lnSpc>
                <a:spcPct val="120000"/>
              </a:lnSpc>
              <a:spcBef>
                <a:spcPct val="0"/>
              </a:spcBef>
              <a:spcAft>
                <a:spcPct val="0"/>
              </a:spcAft>
              <a:buClrTx/>
              <a:buSzTx/>
              <a:buFontTx/>
              <a:buNone/>
              <a:tabLst/>
              <a:defRPr/>
            </a:pPr>
            <a:r>
              <a:rPr kumimoji="0" lang="en-US" altLang="zh-CN" sz="1600" b="1" i="0" u="none" strike="noStrike" kern="1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char</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1"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letp</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p>
          <a:p>
            <a:pPr marL="0" marR="0" lvl="0" indent="0" algn="l" defTabSz="914400" rtl="0" eaLnBrk="1" fontAlgn="base" latinLnBrk="0" hangingPunct="1">
              <a:lnSpc>
                <a:spcPct val="120000"/>
              </a:lnSpc>
              <a:spcBef>
                <a:spcPct val="0"/>
              </a:spcBef>
              <a:spcAft>
                <a:spcPct val="0"/>
              </a:spcAft>
              <a:buClrTx/>
              <a:buSzTx/>
              <a:buFontTx/>
              <a:buNone/>
              <a:tabLst/>
              <a:defRPr/>
            </a:pP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Course *</a:t>
            </a:r>
            <a:r>
              <a:rPr kumimoji="0" lang="en-US" altLang="zh-CN" sz="1600" b="1"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crsp</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p>
          <a:p>
            <a:pPr marL="0" marR="0" lvl="0" indent="0" algn="l" defTabSz="914400" rtl="0" eaLnBrk="1" fontAlgn="base" latinLnBrk="0" hangingPunct="1">
              <a:lnSpc>
                <a:spcPct val="120000"/>
              </a:lnSpc>
              <a:spcBef>
                <a:spcPct val="0"/>
              </a:spcBef>
              <a:spcAft>
                <a:spcPct val="0"/>
              </a:spcAft>
              <a:buClrTx/>
              <a:buSzTx/>
              <a:buFontTx/>
              <a:buNone/>
              <a:tabLst/>
              <a:defRPr/>
            </a:pPr>
            <a:r>
              <a:rPr kumimoji="0" lang="en-US" altLang="zh-CN" sz="1600" b="1"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nump</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 (</a:t>
            </a:r>
            <a:r>
              <a:rPr kumimoji="0" lang="en-US" altLang="zh-CN" sz="1600" b="1" i="0" u="none" strike="noStrike" kern="1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int</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1600" b="1" i="0" u="none" strike="noStrike" kern="100" cap="none" spc="0" normalizeH="0" baseline="0" noProof="0" dirty="0" err="1">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calloc</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(1, </a:t>
            </a:r>
            <a:r>
              <a:rPr kumimoji="0" lang="en-US" altLang="zh-CN" sz="1600" b="1" i="0" u="none" strike="noStrike" kern="100" cap="none" spc="0" normalizeH="0" baseline="0" noProof="0" dirty="0" err="1">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sizeof</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1600" b="1" i="0" u="none" strike="noStrike" kern="1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int</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p>
          <a:p>
            <a:pPr marL="0" marR="0" lvl="0" indent="0" algn="l" defTabSz="914400" rtl="0" eaLnBrk="1" fontAlgn="base" latinLnBrk="0" hangingPunct="1">
              <a:lnSpc>
                <a:spcPct val="120000"/>
              </a:lnSpc>
              <a:spcBef>
                <a:spcPct val="0"/>
              </a:spcBef>
              <a:spcAft>
                <a:spcPct val="0"/>
              </a:spcAft>
              <a:buClrTx/>
              <a:buSzTx/>
              <a:buFontTx/>
              <a:buNone/>
              <a:tabLst/>
              <a:defRPr/>
            </a:pPr>
            <a:r>
              <a:rPr kumimoji="0" lang="en-US" altLang="zh-CN" sz="1600" b="1"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letp</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 (</a:t>
            </a:r>
            <a:r>
              <a:rPr kumimoji="0" lang="en-US" altLang="zh-CN" sz="1600" b="1" i="0" u="none" strike="noStrike" kern="1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char</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1600" b="1" i="0" u="none" strike="noStrike" kern="100" cap="none" spc="0" normalizeH="0" baseline="0" noProof="0" dirty="0" err="1">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calloc</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(1, </a:t>
            </a:r>
            <a:r>
              <a:rPr kumimoji="0" lang="en-US" altLang="zh-CN" sz="1600" b="1" i="0" u="none" strike="noStrike" kern="100" cap="none" spc="0" normalizeH="0" baseline="0" noProof="0" dirty="0" err="1">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sizeof</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1600" b="1" i="0" u="none" strike="noStrike" kern="1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char</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p>
          <a:p>
            <a:pPr marL="0" marR="0" lvl="0" indent="0" algn="l" defTabSz="914400" rtl="0" eaLnBrk="1" fontAlgn="base" latinLnBrk="0" hangingPunct="1">
              <a:lnSpc>
                <a:spcPct val="120000"/>
              </a:lnSpc>
              <a:spcBef>
                <a:spcPct val="0"/>
              </a:spcBef>
              <a:spcAft>
                <a:spcPct val="0"/>
              </a:spcAft>
              <a:buClrTx/>
              <a:buSzTx/>
              <a:buFontTx/>
              <a:buNone/>
              <a:tabLst/>
              <a:defRPr/>
            </a:pPr>
            <a:r>
              <a:rPr kumimoji="0" lang="en-US" altLang="zh-CN" sz="1600" b="1"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crsp</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 (Course*)</a:t>
            </a:r>
            <a:r>
              <a:rPr kumimoji="0" lang="en-US" altLang="zh-CN" sz="1600" b="1" i="0" u="none" strike="noStrike" kern="100" cap="none" spc="0" normalizeH="0" baseline="0" noProof="0" dirty="0" err="1">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calloc</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(1, </a:t>
            </a:r>
            <a:r>
              <a:rPr kumimoji="0" lang="en-US" altLang="zh-CN" sz="1600" b="1" i="0" u="none" strike="noStrike" kern="100" cap="none" spc="0" normalizeH="0" baseline="0" noProof="0" dirty="0" err="1">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sizeof</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(Course));</a:t>
            </a:r>
          </a:p>
        </p:txBody>
      </p:sp>
      <p:sp>
        <p:nvSpPr>
          <p:cNvPr id="16" name="矩形 15">
            <a:extLst>
              <a:ext uri="{FF2B5EF4-FFF2-40B4-BE49-F238E27FC236}">
                <a16:creationId xmlns:a16="http://schemas.microsoft.com/office/drawing/2014/main" id="{571A845C-997D-40AD-BF76-6A564B5043D9}"/>
              </a:ext>
            </a:extLst>
          </p:cNvPr>
          <p:cNvSpPr/>
          <p:nvPr/>
        </p:nvSpPr>
        <p:spPr>
          <a:xfrm>
            <a:off x="8879140" y="4022179"/>
            <a:ext cx="592783" cy="278654"/>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7" name="矩形 16">
            <a:extLst>
              <a:ext uri="{FF2B5EF4-FFF2-40B4-BE49-F238E27FC236}">
                <a16:creationId xmlns:a16="http://schemas.microsoft.com/office/drawing/2014/main" id="{1F6E1F6E-EC05-4043-82AB-AF2961D8F597}"/>
              </a:ext>
            </a:extLst>
          </p:cNvPr>
          <p:cNvSpPr/>
          <p:nvPr/>
        </p:nvSpPr>
        <p:spPr>
          <a:xfrm>
            <a:off x="8624095" y="3684023"/>
            <a:ext cx="302698" cy="278654"/>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cxnSp>
        <p:nvCxnSpPr>
          <p:cNvPr id="20" name="直接箭头连接符 19">
            <a:extLst>
              <a:ext uri="{FF2B5EF4-FFF2-40B4-BE49-F238E27FC236}">
                <a16:creationId xmlns:a16="http://schemas.microsoft.com/office/drawing/2014/main" id="{C6B01B0C-BDA7-400F-B9D5-1F9A35A09DBA}"/>
              </a:ext>
            </a:extLst>
          </p:cNvPr>
          <p:cNvCxnSpPr>
            <a:cxnSpLocks/>
            <a:endCxn id="16" idx="1"/>
          </p:cNvCxnSpPr>
          <p:nvPr/>
        </p:nvCxnSpPr>
        <p:spPr>
          <a:xfrm flipV="1">
            <a:off x="7157808" y="4161506"/>
            <a:ext cx="1721332" cy="83360"/>
          </a:xfrm>
          <a:prstGeom prst="straightConnector1">
            <a:avLst/>
          </a:prstGeom>
          <a:ln w="19050">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7EB11F7A-5412-4222-85A4-8B45102CF3C1}"/>
              </a:ext>
            </a:extLst>
          </p:cNvPr>
          <p:cNvCxnSpPr>
            <a:cxnSpLocks/>
            <a:endCxn id="17" idx="1"/>
          </p:cNvCxnSpPr>
          <p:nvPr/>
        </p:nvCxnSpPr>
        <p:spPr>
          <a:xfrm flipV="1">
            <a:off x="7157544" y="3823350"/>
            <a:ext cx="1466551" cy="766984"/>
          </a:xfrm>
          <a:prstGeom prst="straightConnector1">
            <a:avLst/>
          </a:prstGeom>
          <a:ln w="19050">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EA509BE1-3D37-417E-803F-562947F54141}"/>
              </a:ext>
            </a:extLst>
          </p:cNvPr>
          <p:cNvCxnSpPr>
            <a:cxnSpLocks/>
            <a:endCxn id="18" idx="1"/>
          </p:cNvCxnSpPr>
          <p:nvPr/>
        </p:nvCxnSpPr>
        <p:spPr>
          <a:xfrm>
            <a:off x="7157544" y="4928490"/>
            <a:ext cx="1399980" cy="58931"/>
          </a:xfrm>
          <a:prstGeom prst="straightConnector1">
            <a:avLst/>
          </a:prstGeom>
          <a:ln w="19050">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40" name="组合 39">
            <a:extLst>
              <a:ext uri="{FF2B5EF4-FFF2-40B4-BE49-F238E27FC236}">
                <a16:creationId xmlns:a16="http://schemas.microsoft.com/office/drawing/2014/main" id="{9603CFEA-ADD9-4B4C-84FC-891EF5AA968F}"/>
              </a:ext>
            </a:extLst>
          </p:cNvPr>
          <p:cNvGrpSpPr/>
          <p:nvPr/>
        </p:nvGrpSpPr>
        <p:grpSpPr>
          <a:xfrm>
            <a:off x="5097668" y="3661000"/>
            <a:ext cx="2344382" cy="1618240"/>
            <a:chOff x="5293160" y="3560101"/>
            <a:chExt cx="2344382" cy="1618240"/>
          </a:xfrm>
        </p:grpSpPr>
        <p:sp>
          <p:nvSpPr>
            <p:cNvPr id="8" name="矩形 7">
              <a:extLst>
                <a:ext uri="{FF2B5EF4-FFF2-40B4-BE49-F238E27FC236}">
                  <a16:creationId xmlns:a16="http://schemas.microsoft.com/office/drawing/2014/main" id="{E88FC593-64BB-4714-BE63-E0DA959FA37A}"/>
                </a:ext>
              </a:extLst>
            </p:cNvPr>
            <p:cNvSpPr/>
            <p:nvPr/>
          </p:nvSpPr>
          <p:spPr>
            <a:xfrm>
              <a:off x="7157544" y="4374724"/>
              <a:ext cx="390985" cy="227023"/>
            </a:xfrm>
            <a:prstGeom prst="rect">
              <a:avLst/>
            </a:prstGeom>
            <a:solidFill>
              <a:schemeClr val="accent5">
                <a:lumMod val="60000"/>
                <a:lumOff val="4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ourier New" panose="02070309020205020404" pitchFamily="49" charset="0"/>
                <a:ea typeface="等线" panose="02010600030101010101" pitchFamily="2" charset="-122"/>
                <a:cs typeface="Courier New" panose="02070309020205020404" pitchFamily="49" charset="0"/>
              </a:endParaRPr>
            </a:p>
          </p:txBody>
        </p:sp>
        <p:sp>
          <p:nvSpPr>
            <p:cNvPr id="9" name="矩形 8">
              <a:extLst>
                <a:ext uri="{FF2B5EF4-FFF2-40B4-BE49-F238E27FC236}">
                  <a16:creationId xmlns:a16="http://schemas.microsoft.com/office/drawing/2014/main" id="{F28C2D9D-A155-4EEF-A79D-323FA5A1A1AD}"/>
                </a:ext>
              </a:extLst>
            </p:cNvPr>
            <p:cNvSpPr/>
            <p:nvPr/>
          </p:nvSpPr>
          <p:spPr>
            <a:xfrm>
              <a:off x="7157544" y="4717106"/>
              <a:ext cx="390985" cy="227023"/>
            </a:xfrm>
            <a:prstGeom prst="rect">
              <a:avLst/>
            </a:prstGeom>
            <a:solidFill>
              <a:schemeClr val="accent5">
                <a:lumMod val="60000"/>
                <a:lumOff val="4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1" name="文本框 10">
              <a:extLst>
                <a:ext uri="{FF2B5EF4-FFF2-40B4-BE49-F238E27FC236}">
                  <a16:creationId xmlns:a16="http://schemas.microsoft.com/office/drawing/2014/main" id="{C3BBBECF-D7B9-4485-84DE-F7A9B3B163D2}"/>
                </a:ext>
              </a:extLst>
            </p:cNvPr>
            <p:cNvSpPr txBox="1"/>
            <p:nvPr/>
          </p:nvSpPr>
          <p:spPr>
            <a:xfrm>
              <a:off x="6400799" y="4290095"/>
              <a:ext cx="73609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err="1">
                  <a:ln>
                    <a:noFill/>
                  </a:ln>
                  <a:solidFill>
                    <a:prstClr val="black"/>
                  </a:solidFill>
                  <a:effectLst/>
                  <a:uLnTx/>
                  <a:uFillTx/>
                  <a:latin typeface="Courier New" panose="02070309020205020404" pitchFamily="49" charset="0"/>
                  <a:ea typeface="等线" panose="02010600030101010101" pitchFamily="2" charset="-122"/>
                  <a:cs typeface="Courier New" panose="02070309020205020404" pitchFamily="49" charset="0"/>
                </a:rPr>
                <a:t>letp</a:t>
              </a:r>
              <a:endPar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pitchFamily="2" charset="-122"/>
                <a:cs typeface="Courier New" panose="02070309020205020404" pitchFamily="49" charset="0"/>
              </a:endParaRPr>
            </a:p>
          </p:txBody>
        </p:sp>
        <p:sp>
          <p:nvSpPr>
            <p:cNvPr id="12" name="文本框 11">
              <a:extLst>
                <a:ext uri="{FF2B5EF4-FFF2-40B4-BE49-F238E27FC236}">
                  <a16:creationId xmlns:a16="http://schemas.microsoft.com/office/drawing/2014/main" id="{974B5D35-C63C-4C83-A5F8-4EC75EB3702C}"/>
                </a:ext>
              </a:extLst>
            </p:cNvPr>
            <p:cNvSpPr txBox="1"/>
            <p:nvPr/>
          </p:nvSpPr>
          <p:spPr>
            <a:xfrm>
              <a:off x="6407104" y="4613181"/>
              <a:ext cx="73609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err="1">
                  <a:ln>
                    <a:noFill/>
                  </a:ln>
                  <a:solidFill>
                    <a:prstClr val="black"/>
                  </a:solidFill>
                  <a:effectLst/>
                  <a:uLnTx/>
                  <a:uFillTx/>
                  <a:latin typeface="Courier New" panose="02070309020205020404" pitchFamily="49" charset="0"/>
                  <a:ea typeface="等线" panose="02010600030101010101" pitchFamily="2" charset="-122"/>
                  <a:cs typeface="Courier New" panose="02070309020205020404" pitchFamily="49" charset="0"/>
                </a:rPr>
                <a:t>crsp</a:t>
              </a:r>
              <a:endPar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pitchFamily="2" charset="-122"/>
                <a:cs typeface="Courier New" panose="02070309020205020404" pitchFamily="49" charset="0"/>
              </a:endParaRPr>
            </a:p>
          </p:txBody>
        </p:sp>
        <p:sp>
          <p:nvSpPr>
            <p:cNvPr id="7" name="矩形 6">
              <a:extLst>
                <a:ext uri="{FF2B5EF4-FFF2-40B4-BE49-F238E27FC236}">
                  <a16:creationId xmlns:a16="http://schemas.microsoft.com/office/drawing/2014/main" id="{CFE9F609-FAB7-4FD3-96F8-66B025547478}"/>
                </a:ext>
              </a:extLst>
            </p:cNvPr>
            <p:cNvSpPr/>
            <p:nvPr/>
          </p:nvSpPr>
          <p:spPr>
            <a:xfrm>
              <a:off x="7157544" y="4029667"/>
              <a:ext cx="390985" cy="227023"/>
            </a:xfrm>
            <a:prstGeom prst="rect">
              <a:avLst/>
            </a:prstGeom>
            <a:solidFill>
              <a:schemeClr val="accent5">
                <a:lumMod val="60000"/>
                <a:lumOff val="4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ourier New" panose="02070309020205020404" pitchFamily="49" charset="0"/>
                <a:ea typeface="等线" panose="02010600030101010101" pitchFamily="2" charset="-122"/>
                <a:cs typeface="Courier New" panose="02070309020205020404" pitchFamily="49" charset="0"/>
              </a:endParaRPr>
            </a:p>
          </p:txBody>
        </p:sp>
        <p:sp>
          <p:nvSpPr>
            <p:cNvPr id="10" name="文本框 9">
              <a:extLst>
                <a:ext uri="{FF2B5EF4-FFF2-40B4-BE49-F238E27FC236}">
                  <a16:creationId xmlns:a16="http://schemas.microsoft.com/office/drawing/2014/main" id="{C36DE88E-10EB-401B-AB22-A942083D3666}"/>
                </a:ext>
              </a:extLst>
            </p:cNvPr>
            <p:cNvSpPr txBox="1"/>
            <p:nvPr/>
          </p:nvSpPr>
          <p:spPr>
            <a:xfrm>
              <a:off x="6394494" y="3921280"/>
              <a:ext cx="73609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err="1">
                  <a:ln>
                    <a:noFill/>
                  </a:ln>
                  <a:solidFill>
                    <a:prstClr val="black"/>
                  </a:solidFill>
                  <a:effectLst/>
                  <a:uLnTx/>
                  <a:uFillTx/>
                  <a:latin typeface="Courier New" panose="02070309020205020404" pitchFamily="49" charset="0"/>
                  <a:ea typeface="等线" panose="02010600030101010101" pitchFamily="2" charset="-122"/>
                  <a:cs typeface="Courier New" panose="02070309020205020404" pitchFamily="49" charset="0"/>
                </a:rPr>
                <a:t>nump</a:t>
              </a:r>
              <a:endPar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pitchFamily="2" charset="-122"/>
                <a:cs typeface="Courier New" panose="02070309020205020404" pitchFamily="49" charset="0"/>
              </a:endParaRPr>
            </a:p>
          </p:txBody>
        </p:sp>
        <p:grpSp>
          <p:nvGrpSpPr>
            <p:cNvPr id="38" name="组合 37">
              <a:extLst>
                <a:ext uri="{FF2B5EF4-FFF2-40B4-BE49-F238E27FC236}">
                  <a16:creationId xmlns:a16="http://schemas.microsoft.com/office/drawing/2014/main" id="{99E05D36-9995-4C75-ABD4-81CF7DA86B9A}"/>
                </a:ext>
              </a:extLst>
            </p:cNvPr>
            <p:cNvGrpSpPr/>
            <p:nvPr/>
          </p:nvGrpSpPr>
          <p:grpSpPr>
            <a:xfrm>
              <a:off x="5293160" y="3560101"/>
              <a:ext cx="2344382" cy="1618240"/>
              <a:chOff x="5293160" y="3560101"/>
              <a:chExt cx="2344382" cy="1618240"/>
            </a:xfrm>
          </p:grpSpPr>
          <p:sp>
            <p:nvSpPr>
              <p:cNvPr id="31" name="文本框 30">
                <a:extLst>
                  <a:ext uri="{FF2B5EF4-FFF2-40B4-BE49-F238E27FC236}">
                    <a16:creationId xmlns:a16="http://schemas.microsoft.com/office/drawing/2014/main" id="{053FB774-D51D-4619-8F03-29CEAE54DF35}"/>
                  </a:ext>
                </a:extLst>
              </p:cNvPr>
              <p:cNvSpPr txBox="1"/>
              <p:nvPr/>
            </p:nvSpPr>
            <p:spPr>
              <a:xfrm>
                <a:off x="5293160" y="3560101"/>
                <a:ext cx="877163"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FF0000"/>
                    </a:solidFill>
                    <a:effectLst/>
                    <a:uLnTx/>
                    <a:uFillTx/>
                    <a:latin typeface="等线" panose="020F0502020204030204"/>
                    <a:ea typeface="等线" panose="02010600030101010101" pitchFamily="2" charset="-122"/>
                    <a:cs typeface="+mn-cs"/>
                  </a:rPr>
                  <a:t>函数</a:t>
                </a:r>
                <a:endParaRPr kumimoji="0" lang="en-US" altLang="zh-CN" sz="1800" b="0" i="0" u="none" strike="noStrike" kern="1200" cap="none" spc="0" normalizeH="0" baseline="0" noProof="0" dirty="0">
                  <a:ln>
                    <a:noFill/>
                  </a:ln>
                  <a:solidFill>
                    <a:srgbClr val="FF0000"/>
                  </a:solidFill>
                  <a:effectLst/>
                  <a:uLnTx/>
                  <a:uFillTx/>
                  <a:latin typeface="等线" panose="020F0502020204030204"/>
                  <a:ea typeface="等线"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FF0000"/>
                    </a:solidFill>
                    <a:effectLst/>
                    <a:uLnTx/>
                    <a:uFillTx/>
                    <a:latin typeface="等线" panose="020F0502020204030204"/>
                    <a:ea typeface="等线" panose="02010600030101010101" pitchFamily="2" charset="-122"/>
                    <a:cs typeface="+mn-cs"/>
                  </a:rPr>
                  <a:t>内存块</a:t>
                </a:r>
              </a:p>
            </p:txBody>
          </p:sp>
          <p:sp>
            <p:nvSpPr>
              <p:cNvPr id="30" name="矩形 29">
                <a:extLst>
                  <a:ext uri="{FF2B5EF4-FFF2-40B4-BE49-F238E27FC236}">
                    <a16:creationId xmlns:a16="http://schemas.microsoft.com/office/drawing/2014/main" id="{2E5EEECD-1C01-40AB-97AB-7480EA7D662A}"/>
                  </a:ext>
                </a:extLst>
              </p:cNvPr>
              <p:cNvSpPr/>
              <p:nvPr/>
            </p:nvSpPr>
            <p:spPr>
              <a:xfrm>
                <a:off x="6407104" y="3921280"/>
                <a:ext cx="1230438" cy="1257061"/>
              </a:xfrm>
              <a:prstGeom prst="rect">
                <a:avLst/>
              </a:prstGeom>
              <a:noFill/>
              <a:ln w="19050">
                <a:solidFill>
                  <a:srgbClr val="7030A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cxnSp>
            <p:nvCxnSpPr>
              <p:cNvPr id="33" name="直接连接符 32">
                <a:extLst>
                  <a:ext uri="{FF2B5EF4-FFF2-40B4-BE49-F238E27FC236}">
                    <a16:creationId xmlns:a16="http://schemas.microsoft.com/office/drawing/2014/main" id="{4CC136C5-1CC2-48E6-A084-672F32B02DD9}"/>
                  </a:ext>
                </a:extLst>
              </p:cNvPr>
              <p:cNvCxnSpPr/>
              <p:nvPr/>
            </p:nvCxnSpPr>
            <p:spPr>
              <a:xfrm>
                <a:off x="5985153" y="3861778"/>
                <a:ext cx="415646" cy="59502"/>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grpSp>
      <p:grpSp>
        <p:nvGrpSpPr>
          <p:cNvPr id="36" name="组合 35">
            <a:extLst>
              <a:ext uri="{FF2B5EF4-FFF2-40B4-BE49-F238E27FC236}">
                <a16:creationId xmlns:a16="http://schemas.microsoft.com/office/drawing/2014/main" id="{10CD4B21-7F0E-44FE-AA49-9CB435923ABE}"/>
              </a:ext>
            </a:extLst>
          </p:cNvPr>
          <p:cNvGrpSpPr/>
          <p:nvPr/>
        </p:nvGrpSpPr>
        <p:grpSpPr>
          <a:xfrm>
            <a:off x="8557524" y="4848094"/>
            <a:ext cx="3127606" cy="278654"/>
            <a:chOff x="8753016" y="4747195"/>
            <a:chExt cx="3127606" cy="278654"/>
          </a:xfrm>
        </p:grpSpPr>
        <p:sp>
          <p:nvSpPr>
            <p:cNvPr id="18" name="矩形 17">
              <a:extLst>
                <a:ext uri="{FF2B5EF4-FFF2-40B4-BE49-F238E27FC236}">
                  <a16:creationId xmlns:a16="http://schemas.microsoft.com/office/drawing/2014/main" id="{AC5023D9-7B11-46FF-8F81-BF63F4BB2057}"/>
                </a:ext>
              </a:extLst>
            </p:cNvPr>
            <p:cNvSpPr/>
            <p:nvPr/>
          </p:nvSpPr>
          <p:spPr>
            <a:xfrm>
              <a:off x="8753016" y="4747195"/>
              <a:ext cx="592784" cy="278654"/>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35" name="矩形 34">
              <a:extLst>
                <a:ext uri="{FF2B5EF4-FFF2-40B4-BE49-F238E27FC236}">
                  <a16:creationId xmlns:a16="http://schemas.microsoft.com/office/drawing/2014/main" id="{D1769CBF-013C-449C-9728-80EA1CF9503B}"/>
                </a:ext>
              </a:extLst>
            </p:cNvPr>
            <p:cNvSpPr/>
            <p:nvPr/>
          </p:nvSpPr>
          <p:spPr>
            <a:xfrm>
              <a:off x="9346524" y="4747195"/>
              <a:ext cx="2534098" cy="278654"/>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grpSp>
      <p:sp>
        <p:nvSpPr>
          <p:cNvPr id="32" name="矩形: 圆角 31">
            <a:extLst>
              <a:ext uri="{FF2B5EF4-FFF2-40B4-BE49-F238E27FC236}">
                <a16:creationId xmlns:a16="http://schemas.microsoft.com/office/drawing/2014/main" id="{DDCCE7D4-2D46-4C2D-812E-CAC581B9F415}"/>
              </a:ext>
            </a:extLst>
          </p:cNvPr>
          <p:cNvSpPr/>
          <p:nvPr/>
        </p:nvSpPr>
        <p:spPr>
          <a:xfrm>
            <a:off x="8499557" y="188271"/>
            <a:ext cx="3443189" cy="461141"/>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002060"/>
                </a:solidFill>
                <a:effectLst>
                  <a:outerShdw blurRad="38100" dist="38100" dir="2700000" algn="tl">
                    <a:srgbClr val="000000">
                      <a:alpha val="43137"/>
                    </a:srgbClr>
                  </a:outerShdw>
                </a:effectLst>
                <a:latin typeface="等线" panose="020F0502020204030204"/>
                <a:ea typeface="等线" panose="02010600030101010101" pitchFamily="2" charset="-122"/>
              </a:rPr>
              <a:t>内存分区和动态分配</a:t>
            </a:r>
          </a:p>
        </p:txBody>
      </p:sp>
      <p:sp>
        <p:nvSpPr>
          <p:cNvPr id="34" name="文本框 33">
            <a:extLst>
              <a:ext uri="{FF2B5EF4-FFF2-40B4-BE49-F238E27FC236}">
                <a16:creationId xmlns:a16="http://schemas.microsoft.com/office/drawing/2014/main" id="{E4F9716B-BFCB-4613-9130-1F00D9600021}"/>
              </a:ext>
            </a:extLst>
          </p:cNvPr>
          <p:cNvSpPr txBox="1">
            <a:spLocks noChangeArrowheads="1"/>
          </p:cNvSpPr>
          <p:nvPr/>
        </p:nvSpPr>
        <p:spPr bwMode="auto">
          <a:xfrm>
            <a:off x="386489" y="418516"/>
            <a:ext cx="11221990" cy="2401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l" defTabSz="914400" rtl="0" eaLnBrk="1" fontAlgn="base" latinLnBrk="0" hangingPunct="1">
              <a:lnSpc>
                <a:spcPct val="120000"/>
              </a:lnSpc>
              <a:spcBef>
                <a:spcPct val="0"/>
              </a:spcBef>
              <a:spcAft>
                <a:spcPct val="0"/>
              </a:spcAft>
              <a:buClrTx/>
              <a:buSzTx/>
              <a:buFontTx/>
              <a:buNone/>
              <a:tabLst/>
              <a:defRPr/>
            </a:pPr>
            <a:r>
              <a:rPr kumimoji="0" lang="zh-CN" altLang="en-US"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程序员能自由分配和使用的内存区域是堆。申请分配堆中内存块的库函数有：</a:t>
            </a:r>
            <a:endParaRPr kumimoji="0" lang="en-US" altLang="zh-CN"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20000"/>
              </a:lnSpc>
              <a:spcBef>
                <a:spcPct val="0"/>
              </a:spcBef>
              <a:spcAft>
                <a:spcPct val="0"/>
              </a:spcAft>
              <a:buClrTx/>
              <a:buSzTx/>
              <a:buFontTx/>
              <a:buNone/>
              <a:tabLst/>
              <a:defRPr/>
            </a:pPr>
            <a:r>
              <a:rPr kumimoji="0" lang="en-US" altLang="zh-CN" b="1" i="0" u="none" strike="noStrike" kern="1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void</a:t>
            </a:r>
            <a:r>
              <a:rPr kumimoji="0" lang="en-US" altLang="zh-CN"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b="1" i="0" u="none" strike="noStrike" kern="1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malloc</a:t>
            </a:r>
            <a:r>
              <a:rPr kumimoji="0" lang="en-US" altLang="zh-CN"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b="1" i="0" u="none" strike="noStrike" kern="1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unsigned</a:t>
            </a:r>
            <a:r>
              <a:rPr kumimoji="0" lang="en-US" altLang="zh-CN"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b="1" i="0" u="none" strike="noStrike" kern="1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int</a:t>
            </a:r>
            <a:r>
              <a:rPr kumimoji="0" lang="en-US" altLang="zh-CN"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size);                  </a:t>
            </a:r>
            <a:r>
              <a:rPr kumimoji="0" lang="en-US" altLang="zh-CN" b="1" i="0" u="none" strike="noStrike" kern="100" cap="none" spc="0" normalizeH="0" baseline="0" noProof="0" dirty="0">
                <a:ln>
                  <a:noFill/>
                </a:ln>
                <a:solidFill>
                  <a:srgbClr val="0070C0"/>
                </a:solidFill>
                <a:effectLst/>
                <a:uLnTx/>
                <a:uFillTx/>
                <a:latin typeface="Courier New" panose="02070309020205020404" pitchFamily="49" charset="0"/>
                <a:ea typeface="仿宋" panose="02010609060101010101" pitchFamily="49" charset="-122"/>
                <a:cs typeface="Courier New" panose="02070309020205020404" pitchFamily="49" charset="0"/>
              </a:rPr>
              <a:t>// </a:t>
            </a:r>
            <a:r>
              <a:rPr kumimoji="0" lang="zh-CN" altLang="en-US" b="1" i="0" u="none" strike="noStrike" kern="100" cap="none" spc="0" normalizeH="0" baseline="0" noProof="0" dirty="0">
                <a:ln>
                  <a:noFill/>
                </a:ln>
                <a:solidFill>
                  <a:srgbClr val="0070C0"/>
                </a:solidFill>
                <a:effectLst/>
                <a:uLnTx/>
                <a:uFillTx/>
                <a:latin typeface="Courier New" panose="02070309020205020404" pitchFamily="49" charset="0"/>
                <a:ea typeface="仿宋" panose="02010609060101010101" pitchFamily="49" charset="-122"/>
                <a:cs typeface="Courier New" panose="02070309020205020404" pitchFamily="49" charset="0"/>
              </a:rPr>
              <a:t>申请分配</a:t>
            </a:r>
            <a:r>
              <a:rPr kumimoji="0" lang="en-US" altLang="zh-CN" b="1" i="0" u="none" strike="noStrike" kern="100" cap="none" spc="0" normalizeH="0" baseline="0" noProof="0" dirty="0">
                <a:ln>
                  <a:noFill/>
                </a:ln>
                <a:solidFill>
                  <a:srgbClr val="0070C0"/>
                </a:solidFill>
                <a:effectLst/>
                <a:uLnTx/>
                <a:uFillTx/>
                <a:latin typeface="Courier New" panose="02070309020205020404" pitchFamily="49" charset="0"/>
                <a:ea typeface="仿宋" panose="02010609060101010101" pitchFamily="49" charset="-122"/>
                <a:cs typeface="Courier New" panose="02070309020205020404" pitchFamily="49" charset="0"/>
              </a:rPr>
              <a:t>size</a:t>
            </a:r>
            <a:r>
              <a:rPr kumimoji="0" lang="zh-CN" altLang="en-US" b="1" i="0" u="none" strike="noStrike" kern="100" cap="none" spc="0" normalizeH="0" baseline="0" noProof="0" dirty="0">
                <a:ln>
                  <a:noFill/>
                </a:ln>
                <a:solidFill>
                  <a:srgbClr val="0070C0"/>
                </a:solidFill>
                <a:effectLst/>
                <a:uLnTx/>
                <a:uFillTx/>
                <a:latin typeface="Courier New" panose="02070309020205020404" pitchFamily="49" charset="0"/>
                <a:ea typeface="仿宋" panose="02010609060101010101" pitchFamily="49" charset="-122"/>
                <a:cs typeface="Courier New" panose="02070309020205020404" pitchFamily="49" charset="0"/>
              </a:rPr>
              <a:t>个字节的内存块</a:t>
            </a:r>
            <a:endParaRPr kumimoji="0" lang="en-US" altLang="zh-CN" b="1" i="0" u="none" strike="noStrike" kern="100" cap="none" spc="0" normalizeH="0" baseline="0" noProof="0" dirty="0">
              <a:ln>
                <a:noFill/>
              </a:ln>
              <a:solidFill>
                <a:srgbClr val="0070C0"/>
              </a:solidFill>
              <a:effectLst/>
              <a:uLnTx/>
              <a:uFillTx/>
              <a:latin typeface="Courier New" panose="02070309020205020404" pitchFamily="49" charset="0"/>
              <a:ea typeface="仿宋" panose="02010609060101010101" pitchFamily="49" charset="-122"/>
              <a:cs typeface="Courier New" panose="02070309020205020404" pitchFamily="49" charset="0"/>
            </a:endParaRPr>
          </a:p>
          <a:p>
            <a:pPr marL="0" marR="0" lvl="0" indent="0" algn="l" defTabSz="914400" rtl="0" eaLnBrk="1" fontAlgn="base" latinLnBrk="0" hangingPunct="1">
              <a:lnSpc>
                <a:spcPct val="120000"/>
              </a:lnSpc>
              <a:spcBef>
                <a:spcPct val="0"/>
              </a:spcBef>
              <a:spcAft>
                <a:spcPct val="0"/>
              </a:spcAft>
              <a:buClrTx/>
              <a:buSzTx/>
              <a:buFontTx/>
              <a:buNone/>
              <a:tabLst/>
              <a:defRPr/>
            </a:pPr>
            <a:r>
              <a:rPr kumimoji="0" lang="en-US" altLang="zh-CN" b="1" i="0" u="none" strike="noStrike" kern="1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void</a:t>
            </a:r>
            <a:r>
              <a:rPr kumimoji="0" lang="en-US" altLang="zh-CN"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b="1" i="0" u="none" strike="noStrike" kern="100" cap="none" spc="0" normalizeH="0" baseline="0" noProof="0" dirty="0" err="1">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calloc</a:t>
            </a:r>
            <a:r>
              <a:rPr kumimoji="0" lang="en-US" altLang="zh-CN"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b="1" i="0" u="none" strike="noStrike" kern="1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unsigned</a:t>
            </a:r>
            <a:r>
              <a:rPr kumimoji="0" lang="en-US" altLang="zh-CN"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b="1" i="0" u="none" strike="noStrike" kern="1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int</a:t>
            </a:r>
            <a:r>
              <a:rPr kumimoji="0" lang="en-US" altLang="zh-CN"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n, </a:t>
            </a:r>
            <a:r>
              <a:rPr kumimoji="0" lang="en-US" altLang="zh-CN" b="1" i="0" u="none" strike="noStrike" kern="1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unsigned</a:t>
            </a:r>
            <a:r>
              <a:rPr kumimoji="0" lang="en-US" altLang="zh-CN"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b="1" i="0" u="none" strike="noStrike" kern="1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int</a:t>
            </a:r>
            <a:r>
              <a:rPr kumimoji="0" lang="en-US" altLang="zh-CN"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size);  </a:t>
            </a:r>
            <a:r>
              <a:rPr kumimoji="0" lang="en-US" altLang="zh-CN" b="1" i="0" u="none" strike="noStrike" kern="100" cap="none" spc="0" normalizeH="0" baseline="0" noProof="0" dirty="0">
                <a:ln>
                  <a:noFill/>
                </a:ln>
                <a:solidFill>
                  <a:srgbClr val="0070C0"/>
                </a:solidFill>
                <a:effectLst/>
                <a:uLnTx/>
                <a:uFillTx/>
                <a:latin typeface="Courier New" panose="02070309020205020404" pitchFamily="49" charset="0"/>
                <a:ea typeface="仿宋" panose="02010609060101010101" pitchFamily="49" charset="-122"/>
                <a:cs typeface="Courier New" panose="02070309020205020404" pitchFamily="49" charset="0"/>
              </a:rPr>
              <a:t>// </a:t>
            </a:r>
            <a:r>
              <a:rPr kumimoji="0" lang="zh-CN" altLang="en-US" b="1" i="0" u="none" strike="noStrike" kern="100" cap="none" spc="0" normalizeH="0" baseline="0" noProof="0" dirty="0">
                <a:ln>
                  <a:noFill/>
                </a:ln>
                <a:solidFill>
                  <a:srgbClr val="0070C0"/>
                </a:solidFill>
                <a:effectLst/>
                <a:uLnTx/>
                <a:uFillTx/>
                <a:latin typeface="Courier New" panose="02070309020205020404" pitchFamily="49" charset="0"/>
                <a:ea typeface="仿宋" panose="02010609060101010101" pitchFamily="49" charset="-122"/>
                <a:cs typeface="Courier New" panose="02070309020205020404" pitchFamily="49" charset="0"/>
              </a:rPr>
              <a:t>申请分配</a:t>
            </a:r>
            <a:r>
              <a:rPr kumimoji="0" lang="en-US" altLang="zh-CN" b="1" i="0" u="none" strike="noStrike" kern="100" cap="none" spc="0" normalizeH="0" baseline="0" noProof="0" dirty="0">
                <a:ln>
                  <a:noFill/>
                </a:ln>
                <a:solidFill>
                  <a:srgbClr val="0070C0"/>
                </a:solidFill>
                <a:effectLst/>
                <a:uLnTx/>
                <a:uFillTx/>
                <a:latin typeface="Courier New" panose="02070309020205020404" pitchFamily="49" charset="0"/>
                <a:ea typeface="仿宋" panose="02010609060101010101" pitchFamily="49" charset="-122"/>
                <a:cs typeface="Courier New" panose="02070309020205020404" pitchFamily="49" charset="0"/>
              </a:rPr>
              <a:t>n*size</a:t>
            </a:r>
            <a:r>
              <a:rPr kumimoji="0" lang="zh-CN" altLang="en-US" b="1" i="0" u="none" strike="noStrike" kern="100" cap="none" spc="0" normalizeH="0" baseline="0" noProof="0" dirty="0">
                <a:ln>
                  <a:noFill/>
                </a:ln>
                <a:solidFill>
                  <a:srgbClr val="0070C0"/>
                </a:solidFill>
                <a:effectLst/>
                <a:uLnTx/>
                <a:uFillTx/>
                <a:latin typeface="Courier New" panose="02070309020205020404" pitchFamily="49" charset="0"/>
                <a:ea typeface="仿宋" panose="02010609060101010101" pitchFamily="49" charset="-122"/>
                <a:cs typeface="Courier New" panose="02070309020205020404" pitchFamily="49" charset="0"/>
              </a:rPr>
              <a:t>个字节的内存块</a:t>
            </a:r>
            <a:endParaRPr kumimoji="0" lang="en-US" altLang="zh-CN" b="1" i="0" u="none" strike="noStrike" kern="100" cap="none" spc="0" normalizeH="0" baseline="0" noProof="0" dirty="0">
              <a:ln>
                <a:noFill/>
              </a:ln>
              <a:solidFill>
                <a:srgbClr val="0070C0"/>
              </a:solidFill>
              <a:effectLst/>
              <a:uLnTx/>
              <a:uFillTx/>
              <a:latin typeface="Courier New" panose="02070309020205020404" pitchFamily="49" charset="0"/>
              <a:ea typeface="仿宋" panose="02010609060101010101" pitchFamily="49" charset="-122"/>
              <a:cs typeface="Courier New" panose="02070309020205020404" pitchFamily="49" charset="0"/>
            </a:endParaRPr>
          </a:p>
          <a:p>
            <a:pPr marL="0" marR="0" lvl="0" indent="0" algn="l" defTabSz="914400" rtl="0" eaLnBrk="1" fontAlgn="base" latinLnBrk="0" hangingPunct="1">
              <a:lnSpc>
                <a:spcPct val="120000"/>
              </a:lnSpc>
              <a:spcBef>
                <a:spcPct val="0"/>
              </a:spcBef>
              <a:spcAft>
                <a:spcPct val="0"/>
              </a:spcAft>
              <a:buClrTx/>
              <a:buSzTx/>
              <a:buFontTx/>
              <a:buNone/>
              <a:tabLst/>
              <a:defRPr/>
            </a:pPr>
            <a:r>
              <a:rPr kumimoji="0" lang="zh-CN" altLang="en-US"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参数</a:t>
            </a:r>
            <a:r>
              <a:rPr kumimoji="0" lang="en-US" altLang="zh-CN"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size</a:t>
            </a:r>
            <a:r>
              <a:rPr kumimoji="0" lang="zh-CN" altLang="en-US"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的实参一般用</a:t>
            </a:r>
            <a:r>
              <a:rPr kumimoji="0" lang="en-US" altLang="zh-CN" b="1" i="0" u="none" strike="noStrike" kern="100" cap="none" spc="0" normalizeH="0" baseline="0" noProof="0" dirty="0" err="1">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sizeof</a:t>
            </a:r>
            <a:r>
              <a:rPr kumimoji="0" lang="en-US" altLang="zh-CN"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zh-CN" altLang="en-US"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求得，</a:t>
            </a:r>
            <a:endParaRPr kumimoji="0" lang="en-US" altLang="zh-CN"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20000"/>
              </a:lnSpc>
              <a:spcBef>
                <a:spcPct val="0"/>
              </a:spcBef>
              <a:spcAft>
                <a:spcPct val="0"/>
              </a:spcAft>
              <a:buClrTx/>
              <a:buSzTx/>
              <a:buFontTx/>
              <a:buNone/>
              <a:tabLst/>
              <a:defRPr/>
            </a:pPr>
            <a:r>
              <a:rPr kumimoji="0" lang="zh-CN" altLang="en-US"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两个函数功能相近，函数值是指向分配所得的一块地址连续的内存块的起始地址（也称基址）的指针，若为空指针，则是申请失败。</a:t>
            </a:r>
            <a:endParaRPr kumimoji="0" lang="en-US" altLang="zh-CN"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20000"/>
              </a:lnSpc>
              <a:spcBef>
                <a:spcPct val="0"/>
              </a:spcBef>
              <a:spcAft>
                <a:spcPct val="0"/>
              </a:spcAft>
              <a:buClrTx/>
              <a:buSzTx/>
              <a:buFontTx/>
              <a:buNone/>
              <a:tabLst/>
              <a:defRPr/>
            </a:pPr>
            <a:r>
              <a:rPr kumimoji="0" lang="en-US" altLang="zh-CN" b="1" i="0" u="none" strike="noStrike" kern="100" cap="none" spc="0" normalizeH="0" baseline="0" noProof="0" dirty="0" err="1">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calloc</a:t>
            </a:r>
            <a:r>
              <a:rPr kumimoji="0" lang="zh-CN" altLang="en-US"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比</a:t>
            </a:r>
            <a:r>
              <a:rPr kumimoji="0" lang="en-US" altLang="zh-CN" b="1" i="0" u="none" strike="noStrike" kern="1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malloc</a:t>
            </a:r>
            <a:r>
              <a:rPr kumimoji="0" lang="zh-CN" altLang="en-US"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多一项功能，自动对所得的内存块按位清</a:t>
            </a:r>
            <a:r>
              <a:rPr kumimoji="0" lang="en-US" altLang="zh-CN"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0</a:t>
            </a:r>
            <a:r>
              <a:rPr kumimoji="0" lang="zh-CN" altLang="en-US"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，使其是一块“干净”的内存块。</a:t>
            </a:r>
          </a:p>
        </p:txBody>
      </p:sp>
      <p:sp>
        <p:nvSpPr>
          <p:cNvPr id="2" name="文本框 1">
            <a:extLst>
              <a:ext uri="{FF2B5EF4-FFF2-40B4-BE49-F238E27FC236}">
                <a16:creationId xmlns:a16="http://schemas.microsoft.com/office/drawing/2014/main" id="{EF9BCD25-924F-4970-98A3-7EAFB330DA0A}"/>
              </a:ext>
            </a:extLst>
          </p:cNvPr>
          <p:cNvSpPr txBox="1"/>
          <p:nvPr/>
        </p:nvSpPr>
        <p:spPr>
          <a:xfrm flipH="1">
            <a:off x="562828" y="6247665"/>
            <a:ext cx="156236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FF0000"/>
                </a:solidFill>
                <a:effectLst/>
                <a:uLnTx/>
                <a:uFillTx/>
                <a:latin typeface="等线" panose="020F0502020204030204"/>
                <a:ea typeface="等线" panose="02010600030101010101" pitchFamily="2" charset="-122"/>
                <a:cs typeface="+mn-cs"/>
              </a:rPr>
              <a:t>指针类型转换</a:t>
            </a:r>
          </a:p>
        </p:txBody>
      </p:sp>
      <p:cxnSp>
        <p:nvCxnSpPr>
          <p:cNvPr id="4" name="直接连接符 3">
            <a:extLst>
              <a:ext uri="{FF2B5EF4-FFF2-40B4-BE49-F238E27FC236}">
                <a16:creationId xmlns:a16="http://schemas.microsoft.com/office/drawing/2014/main" id="{270DBB4A-7900-4EBB-B673-60F3201E3E37}"/>
              </a:ext>
            </a:extLst>
          </p:cNvPr>
          <p:cNvCxnSpPr/>
          <p:nvPr/>
        </p:nvCxnSpPr>
        <p:spPr>
          <a:xfrm flipV="1">
            <a:off x="996381" y="5448563"/>
            <a:ext cx="548640" cy="835574"/>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DC8E7ECA-E6F8-4158-9CE5-215688C3A60A}"/>
              </a:ext>
            </a:extLst>
          </p:cNvPr>
          <p:cNvCxnSpPr>
            <a:cxnSpLocks/>
          </p:cNvCxnSpPr>
          <p:nvPr/>
        </p:nvCxnSpPr>
        <p:spPr>
          <a:xfrm flipV="1">
            <a:off x="1072055" y="5753363"/>
            <a:ext cx="500476" cy="569466"/>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3F574E58-C89A-4A29-8FD4-2B4F93A163FB}"/>
              </a:ext>
            </a:extLst>
          </p:cNvPr>
          <p:cNvCxnSpPr>
            <a:cxnSpLocks/>
          </p:cNvCxnSpPr>
          <p:nvPr/>
        </p:nvCxnSpPr>
        <p:spPr>
          <a:xfrm flipV="1">
            <a:off x="1072055" y="6013434"/>
            <a:ext cx="546275" cy="362141"/>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灯片编号占位符 2">
            <a:extLst>
              <a:ext uri="{FF2B5EF4-FFF2-40B4-BE49-F238E27FC236}">
                <a16:creationId xmlns:a16="http://schemas.microsoft.com/office/drawing/2014/main" id="{813B3B3D-8C6B-24F4-E1D3-FCF0758577D0}"/>
              </a:ext>
            </a:extLst>
          </p:cNvPr>
          <p:cNvSpPr>
            <a:spLocks noGrp="1"/>
          </p:cNvSpPr>
          <p:nvPr>
            <p:ph type="sldNum" sz="quarter" idx="12"/>
          </p:nvPr>
        </p:nvSpPr>
        <p:spPr/>
        <p:txBody>
          <a:bodyPr/>
          <a:lstStyle/>
          <a:p>
            <a:fld id="{6ED30D9F-295F-448B-9A50-0786B99C76AC}" type="slidenum">
              <a:rPr lang="zh-CN" altLang="en-US" smtClean="0"/>
              <a:t>45</a:t>
            </a:fld>
            <a:endParaRPr lang="zh-CN" altLang="en-US"/>
          </a:p>
        </p:txBody>
      </p:sp>
    </p:spTree>
    <p:extLst>
      <p:ext uri="{BB962C8B-B14F-4D97-AF65-F5344CB8AC3E}">
        <p14:creationId xmlns:p14="http://schemas.microsoft.com/office/powerpoint/2010/main" val="4247143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strips(downRigh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9"/>
                                        </p:tgtEl>
                                        <p:attrNameLst>
                                          <p:attrName>style.visibility</p:attrName>
                                        </p:attrNameLst>
                                      </p:cBhvr>
                                      <p:to>
                                        <p:strVal val="visible"/>
                                      </p:to>
                                    </p:set>
                                    <p:animEffect transition="in" filter="fade">
                                      <p:cBhvr>
                                        <p:cTn id="12" dur="1000"/>
                                        <p:tgtEl>
                                          <p:spTgt spid="39"/>
                                        </p:tgtEl>
                                      </p:cBhvr>
                                    </p:animEffect>
                                    <p:anim calcmode="lin" valueType="num">
                                      <p:cBhvr>
                                        <p:cTn id="13" dur="1000" fill="hold"/>
                                        <p:tgtEl>
                                          <p:spTgt spid="39"/>
                                        </p:tgtEl>
                                        <p:attrNameLst>
                                          <p:attrName>ppt_x</p:attrName>
                                        </p:attrNameLst>
                                      </p:cBhvr>
                                      <p:tavLst>
                                        <p:tav tm="0">
                                          <p:val>
                                            <p:strVal val="#ppt_x"/>
                                          </p:val>
                                        </p:tav>
                                        <p:tav tm="100000">
                                          <p:val>
                                            <p:strVal val="#ppt_x"/>
                                          </p:val>
                                        </p:tav>
                                      </p:tavLst>
                                    </p:anim>
                                    <p:anim calcmode="lin" valueType="num">
                                      <p:cBhvr>
                                        <p:cTn id="14" dur="1000" fill="hold"/>
                                        <p:tgtEl>
                                          <p:spTgt spid="39"/>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fade">
                                      <p:cBhvr>
                                        <p:cTn id="17" dur="1000"/>
                                        <p:tgtEl>
                                          <p:spTgt spid="37"/>
                                        </p:tgtEl>
                                      </p:cBhvr>
                                    </p:animEffect>
                                    <p:anim calcmode="lin" valueType="num">
                                      <p:cBhvr>
                                        <p:cTn id="18" dur="1000" fill="hold"/>
                                        <p:tgtEl>
                                          <p:spTgt spid="37"/>
                                        </p:tgtEl>
                                        <p:attrNameLst>
                                          <p:attrName>ppt_x</p:attrName>
                                        </p:attrNameLst>
                                      </p:cBhvr>
                                      <p:tavLst>
                                        <p:tav tm="0">
                                          <p:val>
                                            <p:strVal val="#ppt_x"/>
                                          </p:val>
                                        </p:tav>
                                        <p:tav tm="100000">
                                          <p:val>
                                            <p:strVal val="#ppt_x"/>
                                          </p:val>
                                        </p:tav>
                                      </p:tavLst>
                                    </p:anim>
                                    <p:anim calcmode="lin" valueType="num">
                                      <p:cBhvr>
                                        <p:cTn id="19" dur="1000" fill="hold"/>
                                        <p:tgtEl>
                                          <p:spTgt spid="37"/>
                                        </p:tgtEl>
                                        <p:attrNameLst>
                                          <p:attrName>ppt_y</p:attrName>
                                        </p:attrNameLst>
                                      </p:cBhvr>
                                      <p:tavLst>
                                        <p:tav tm="0">
                                          <p:val>
                                            <p:strVal val="#ppt_y+.1"/>
                                          </p:val>
                                        </p:tav>
                                        <p:tav tm="100000">
                                          <p:val>
                                            <p:strVal val="#ppt_y"/>
                                          </p:val>
                                        </p:tav>
                                      </p:tavLst>
                                    </p:anim>
                                  </p:childTnLst>
                                </p:cTn>
                              </p:par>
                              <p:par>
                                <p:cTn id="20" presetID="18" presetClass="entr" presetSubtype="6" fill="hold" grpId="0" nodeType="withEffect">
                                  <p:stCondLst>
                                    <p:cond delay="0"/>
                                  </p:stCondLst>
                                  <p:childTnLst>
                                    <p:set>
                                      <p:cBhvr>
                                        <p:cTn id="21" dur="1" fill="hold">
                                          <p:stCondLst>
                                            <p:cond delay="0"/>
                                          </p:stCondLst>
                                        </p:cTn>
                                        <p:tgtEl>
                                          <p:spTgt spid="5">
                                            <p:txEl>
                                              <p:pRg st="1" end="1"/>
                                            </p:txEl>
                                          </p:spTgt>
                                        </p:tgtEl>
                                        <p:attrNameLst>
                                          <p:attrName>style.visibility</p:attrName>
                                        </p:attrNameLst>
                                      </p:cBhvr>
                                      <p:to>
                                        <p:strVal val="visible"/>
                                      </p:to>
                                    </p:set>
                                    <p:animEffect transition="in" filter="strips(downRight)">
                                      <p:cBhvr>
                                        <p:cTn id="22" dur="500"/>
                                        <p:tgtEl>
                                          <p:spTgt spid="5">
                                            <p:txEl>
                                              <p:pRg st="1" end="1"/>
                                            </p:txEl>
                                          </p:spTgt>
                                        </p:tgtEl>
                                      </p:cBhvr>
                                    </p:animEffect>
                                  </p:childTnLst>
                                </p:cTn>
                              </p:par>
                              <p:par>
                                <p:cTn id="23" presetID="18" presetClass="entr" presetSubtype="6" fill="hold" grpId="0" nodeType="withEffect">
                                  <p:stCondLst>
                                    <p:cond delay="0"/>
                                  </p:stCondLst>
                                  <p:childTnLst>
                                    <p:set>
                                      <p:cBhvr>
                                        <p:cTn id="24" dur="1" fill="hold">
                                          <p:stCondLst>
                                            <p:cond delay="0"/>
                                          </p:stCondLst>
                                        </p:cTn>
                                        <p:tgtEl>
                                          <p:spTgt spid="5">
                                            <p:txEl>
                                              <p:pRg st="2" end="2"/>
                                            </p:txEl>
                                          </p:spTgt>
                                        </p:tgtEl>
                                        <p:attrNameLst>
                                          <p:attrName>style.visibility</p:attrName>
                                        </p:attrNameLst>
                                      </p:cBhvr>
                                      <p:to>
                                        <p:strVal val="visible"/>
                                      </p:to>
                                    </p:set>
                                    <p:animEffect transition="in" filter="strips(downRight)">
                                      <p:cBhvr>
                                        <p:cTn id="25" dur="500"/>
                                        <p:tgtEl>
                                          <p:spTgt spid="5">
                                            <p:txEl>
                                              <p:pRg st="2" end="2"/>
                                            </p:txEl>
                                          </p:spTgt>
                                        </p:tgtEl>
                                      </p:cBhvr>
                                    </p:animEffect>
                                  </p:childTnLst>
                                </p:cTn>
                              </p:par>
                              <p:par>
                                <p:cTn id="26" presetID="18" presetClass="entr" presetSubtype="6" fill="hold" grpId="0" nodeType="withEffect">
                                  <p:stCondLst>
                                    <p:cond delay="0"/>
                                  </p:stCondLst>
                                  <p:childTnLst>
                                    <p:set>
                                      <p:cBhvr>
                                        <p:cTn id="27" dur="1" fill="hold">
                                          <p:stCondLst>
                                            <p:cond delay="0"/>
                                          </p:stCondLst>
                                        </p:cTn>
                                        <p:tgtEl>
                                          <p:spTgt spid="5">
                                            <p:txEl>
                                              <p:pRg st="3" end="3"/>
                                            </p:txEl>
                                          </p:spTgt>
                                        </p:tgtEl>
                                        <p:attrNameLst>
                                          <p:attrName>style.visibility</p:attrName>
                                        </p:attrNameLst>
                                      </p:cBhvr>
                                      <p:to>
                                        <p:strVal val="visible"/>
                                      </p:to>
                                    </p:set>
                                    <p:animEffect transition="in" filter="strips(downRight)">
                                      <p:cBhvr>
                                        <p:cTn id="28" dur="500"/>
                                        <p:tgtEl>
                                          <p:spTgt spid="5">
                                            <p:txEl>
                                              <p:pRg st="3" end="3"/>
                                            </p:txEl>
                                          </p:spTgt>
                                        </p:tgtEl>
                                      </p:cBhvr>
                                    </p:animEffect>
                                  </p:childTnLst>
                                </p:cTn>
                              </p:par>
                              <p:par>
                                <p:cTn id="29" presetID="18" presetClass="entr" presetSubtype="6" fill="hold" grpId="0" nodeType="with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Effect transition="in" filter="strips(downRight)">
                                      <p:cBhvr>
                                        <p:cTn id="31" dur="500"/>
                                        <p:tgtEl>
                                          <p:spTgt spid="5">
                                            <p:txEl>
                                              <p:pRg st="4" end="4"/>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8" presetClass="entr" presetSubtype="6" fill="hold" grpId="0" nodeType="clickEffect">
                                  <p:stCondLst>
                                    <p:cond delay="0"/>
                                  </p:stCondLst>
                                  <p:childTnLst>
                                    <p:set>
                                      <p:cBhvr>
                                        <p:cTn id="35" dur="1" fill="hold">
                                          <p:stCondLst>
                                            <p:cond delay="0"/>
                                          </p:stCondLst>
                                        </p:cTn>
                                        <p:tgtEl>
                                          <p:spTgt spid="5">
                                            <p:txEl>
                                              <p:pRg st="5" end="5"/>
                                            </p:txEl>
                                          </p:spTgt>
                                        </p:tgtEl>
                                        <p:attrNameLst>
                                          <p:attrName>style.visibility</p:attrName>
                                        </p:attrNameLst>
                                      </p:cBhvr>
                                      <p:to>
                                        <p:strVal val="visible"/>
                                      </p:to>
                                    </p:set>
                                    <p:animEffect transition="in" filter="strips(downRight)">
                                      <p:cBhvr>
                                        <p:cTn id="36" dur="500"/>
                                        <p:tgtEl>
                                          <p:spTgt spid="5">
                                            <p:txEl>
                                              <p:pRg st="5" end="5"/>
                                            </p:txEl>
                                          </p:spTgt>
                                        </p:tgtEl>
                                      </p:cBhvr>
                                    </p:animEffect>
                                  </p:childTnLst>
                                </p:cTn>
                              </p:par>
                            </p:childTnLst>
                          </p:cTn>
                        </p:par>
                        <p:par>
                          <p:cTn id="37" fill="hold">
                            <p:stCondLst>
                              <p:cond delay="500"/>
                            </p:stCondLst>
                            <p:childTnLst>
                              <p:par>
                                <p:cTn id="38" presetID="18" presetClass="entr" presetSubtype="6" fill="hold" grpId="0" nodeType="afterEffect">
                                  <p:stCondLst>
                                    <p:cond delay="0"/>
                                  </p:stCondLst>
                                  <p:childTnLst>
                                    <p:set>
                                      <p:cBhvr>
                                        <p:cTn id="39" dur="1" fill="hold">
                                          <p:stCondLst>
                                            <p:cond delay="0"/>
                                          </p:stCondLst>
                                        </p:cTn>
                                        <p:tgtEl>
                                          <p:spTgt spid="5">
                                            <p:txEl>
                                              <p:pRg st="6" end="6"/>
                                            </p:txEl>
                                          </p:spTgt>
                                        </p:tgtEl>
                                        <p:attrNameLst>
                                          <p:attrName>style.visibility</p:attrName>
                                        </p:attrNameLst>
                                      </p:cBhvr>
                                      <p:to>
                                        <p:strVal val="visible"/>
                                      </p:to>
                                    </p:set>
                                    <p:animEffect transition="in" filter="strips(downRight)">
                                      <p:cBhvr>
                                        <p:cTn id="40" dur="500"/>
                                        <p:tgtEl>
                                          <p:spTgt spid="5">
                                            <p:txEl>
                                              <p:pRg st="6" end="6"/>
                                            </p:txEl>
                                          </p:spTgt>
                                        </p:tgtEl>
                                      </p:cBhvr>
                                    </p:animEffect>
                                  </p:childTnLst>
                                </p:cTn>
                              </p:par>
                            </p:childTnLst>
                          </p:cTn>
                        </p:par>
                        <p:par>
                          <p:cTn id="41" fill="hold">
                            <p:stCondLst>
                              <p:cond delay="1000"/>
                            </p:stCondLst>
                            <p:childTnLst>
                              <p:par>
                                <p:cTn id="42" presetID="18" presetClass="entr" presetSubtype="6" fill="hold" grpId="0" nodeType="afterEffect">
                                  <p:stCondLst>
                                    <p:cond delay="0"/>
                                  </p:stCondLst>
                                  <p:childTnLst>
                                    <p:set>
                                      <p:cBhvr>
                                        <p:cTn id="43" dur="1" fill="hold">
                                          <p:stCondLst>
                                            <p:cond delay="0"/>
                                          </p:stCondLst>
                                        </p:cTn>
                                        <p:tgtEl>
                                          <p:spTgt spid="5">
                                            <p:txEl>
                                              <p:pRg st="7" end="7"/>
                                            </p:txEl>
                                          </p:spTgt>
                                        </p:tgtEl>
                                        <p:attrNameLst>
                                          <p:attrName>style.visibility</p:attrName>
                                        </p:attrNameLst>
                                      </p:cBhvr>
                                      <p:to>
                                        <p:strVal val="visible"/>
                                      </p:to>
                                    </p:set>
                                    <p:animEffect transition="in" filter="strips(downRight)">
                                      <p:cBhvr>
                                        <p:cTn id="44" dur="500"/>
                                        <p:tgtEl>
                                          <p:spTgt spid="5">
                                            <p:txEl>
                                              <p:pRg st="7" end="7"/>
                                            </p:txEl>
                                          </p:spTgt>
                                        </p:tgtEl>
                                      </p:cBhvr>
                                    </p:animEffect>
                                  </p:childTnLst>
                                </p:cTn>
                              </p:par>
                            </p:childTnLst>
                          </p:cTn>
                        </p:par>
                        <p:par>
                          <p:cTn id="45" fill="hold">
                            <p:stCondLst>
                              <p:cond delay="1500"/>
                            </p:stCondLst>
                            <p:childTnLst>
                              <p:par>
                                <p:cTn id="46" presetID="22" presetClass="entr" presetSubtype="8" fill="hold" nodeType="afterEffect">
                                  <p:stCondLst>
                                    <p:cond delay="0"/>
                                  </p:stCondLst>
                                  <p:childTnLst>
                                    <p:set>
                                      <p:cBhvr>
                                        <p:cTn id="47" dur="1" fill="hold">
                                          <p:stCondLst>
                                            <p:cond delay="0"/>
                                          </p:stCondLst>
                                        </p:cTn>
                                        <p:tgtEl>
                                          <p:spTgt spid="40"/>
                                        </p:tgtEl>
                                        <p:attrNameLst>
                                          <p:attrName>style.visibility</p:attrName>
                                        </p:attrNameLst>
                                      </p:cBhvr>
                                      <p:to>
                                        <p:strVal val="visible"/>
                                      </p:to>
                                    </p:set>
                                    <p:animEffect transition="in" filter="wipe(left)">
                                      <p:cBhvr>
                                        <p:cTn id="48" dur="500"/>
                                        <p:tgtEl>
                                          <p:spTgt spid="40"/>
                                        </p:tgtEl>
                                      </p:cBhvr>
                                    </p:animEffect>
                                  </p:childTnLst>
                                </p:cTn>
                              </p:par>
                            </p:childTnLst>
                          </p:cTn>
                        </p:par>
                      </p:childTnLst>
                    </p:cTn>
                  </p:par>
                  <p:par>
                    <p:cTn id="49" fill="hold">
                      <p:stCondLst>
                        <p:cond delay="indefinite"/>
                      </p:stCondLst>
                      <p:childTnLst>
                        <p:par>
                          <p:cTn id="50" fill="hold">
                            <p:stCondLst>
                              <p:cond delay="0"/>
                            </p:stCondLst>
                            <p:childTnLst>
                              <p:par>
                                <p:cTn id="51" presetID="18" presetClass="entr" presetSubtype="6" fill="hold" grpId="0" nodeType="clickEffect">
                                  <p:stCondLst>
                                    <p:cond delay="0"/>
                                  </p:stCondLst>
                                  <p:childTnLst>
                                    <p:set>
                                      <p:cBhvr>
                                        <p:cTn id="52" dur="1" fill="hold">
                                          <p:stCondLst>
                                            <p:cond delay="0"/>
                                          </p:stCondLst>
                                        </p:cTn>
                                        <p:tgtEl>
                                          <p:spTgt spid="5">
                                            <p:txEl>
                                              <p:pRg st="8" end="8"/>
                                            </p:txEl>
                                          </p:spTgt>
                                        </p:tgtEl>
                                        <p:attrNameLst>
                                          <p:attrName>style.visibility</p:attrName>
                                        </p:attrNameLst>
                                      </p:cBhvr>
                                      <p:to>
                                        <p:strVal val="visible"/>
                                      </p:to>
                                    </p:set>
                                    <p:animEffect transition="in" filter="strips(downRight)">
                                      <p:cBhvr>
                                        <p:cTn id="53" dur="500"/>
                                        <p:tgtEl>
                                          <p:spTgt spid="5">
                                            <p:txEl>
                                              <p:pRg st="8" end="8"/>
                                            </p:txEl>
                                          </p:spTgt>
                                        </p:tgtEl>
                                      </p:cBhvr>
                                    </p:animEffect>
                                  </p:childTnLst>
                                </p:cTn>
                              </p:par>
                            </p:childTnLst>
                          </p:cTn>
                        </p:par>
                        <p:par>
                          <p:cTn id="54" fill="hold">
                            <p:stCondLst>
                              <p:cond delay="500"/>
                            </p:stCondLst>
                            <p:childTnLst>
                              <p:par>
                                <p:cTn id="55" presetID="22" presetClass="entr" presetSubtype="4" fill="hold" grpId="0" nodeType="afterEffect">
                                  <p:stCondLst>
                                    <p:cond delay="0"/>
                                  </p:stCondLst>
                                  <p:childTnLst>
                                    <p:set>
                                      <p:cBhvr>
                                        <p:cTn id="56" dur="1" fill="hold">
                                          <p:stCondLst>
                                            <p:cond delay="0"/>
                                          </p:stCondLst>
                                        </p:cTn>
                                        <p:tgtEl>
                                          <p:spTgt spid="2"/>
                                        </p:tgtEl>
                                        <p:attrNameLst>
                                          <p:attrName>style.visibility</p:attrName>
                                        </p:attrNameLst>
                                      </p:cBhvr>
                                      <p:to>
                                        <p:strVal val="visible"/>
                                      </p:to>
                                    </p:set>
                                    <p:animEffect transition="in" filter="wipe(down)">
                                      <p:cBhvr>
                                        <p:cTn id="57" dur="500"/>
                                        <p:tgtEl>
                                          <p:spTgt spid="2"/>
                                        </p:tgtEl>
                                      </p:cBhvr>
                                    </p:animEffect>
                                  </p:childTnLst>
                                </p:cTn>
                              </p:par>
                            </p:childTnLst>
                          </p:cTn>
                        </p:par>
                        <p:par>
                          <p:cTn id="58" fill="hold">
                            <p:stCondLst>
                              <p:cond delay="1000"/>
                            </p:stCondLst>
                            <p:childTnLst>
                              <p:par>
                                <p:cTn id="59" presetID="22" presetClass="entr" presetSubtype="4" fill="hold" nodeType="afterEffect">
                                  <p:stCondLst>
                                    <p:cond delay="0"/>
                                  </p:stCondLst>
                                  <p:childTnLst>
                                    <p:set>
                                      <p:cBhvr>
                                        <p:cTn id="60" dur="1" fill="hold">
                                          <p:stCondLst>
                                            <p:cond delay="0"/>
                                          </p:stCondLst>
                                        </p:cTn>
                                        <p:tgtEl>
                                          <p:spTgt spid="4"/>
                                        </p:tgtEl>
                                        <p:attrNameLst>
                                          <p:attrName>style.visibility</p:attrName>
                                        </p:attrNameLst>
                                      </p:cBhvr>
                                      <p:to>
                                        <p:strVal val="visible"/>
                                      </p:to>
                                    </p:set>
                                    <p:animEffect transition="in" filter="wipe(down)">
                                      <p:cBhvr>
                                        <p:cTn id="61" dur="500"/>
                                        <p:tgtEl>
                                          <p:spTgt spid="4"/>
                                        </p:tgtEl>
                                      </p:cBhvr>
                                    </p:animEffect>
                                  </p:childTnLst>
                                </p:cTn>
                              </p:par>
                            </p:childTnLst>
                          </p:cTn>
                        </p:par>
                        <p:par>
                          <p:cTn id="62" fill="hold">
                            <p:stCondLst>
                              <p:cond delay="1500"/>
                            </p:stCondLst>
                            <p:childTnLst>
                              <p:par>
                                <p:cTn id="63" presetID="16" presetClass="entr" presetSubtype="21" fill="hold" grpId="0" nodeType="afterEffect">
                                  <p:stCondLst>
                                    <p:cond delay="0"/>
                                  </p:stCondLst>
                                  <p:childTnLst>
                                    <p:set>
                                      <p:cBhvr>
                                        <p:cTn id="64" dur="1" fill="hold">
                                          <p:stCondLst>
                                            <p:cond delay="0"/>
                                          </p:stCondLst>
                                        </p:cTn>
                                        <p:tgtEl>
                                          <p:spTgt spid="16"/>
                                        </p:tgtEl>
                                        <p:attrNameLst>
                                          <p:attrName>style.visibility</p:attrName>
                                        </p:attrNameLst>
                                      </p:cBhvr>
                                      <p:to>
                                        <p:strVal val="visible"/>
                                      </p:to>
                                    </p:set>
                                    <p:animEffect transition="in" filter="barn(inVertical)">
                                      <p:cBhvr>
                                        <p:cTn id="65" dur="500"/>
                                        <p:tgtEl>
                                          <p:spTgt spid="16"/>
                                        </p:tgtEl>
                                      </p:cBhvr>
                                    </p:animEffect>
                                  </p:childTnLst>
                                </p:cTn>
                              </p:par>
                            </p:childTnLst>
                          </p:cTn>
                        </p:par>
                        <p:par>
                          <p:cTn id="66" fill="hold">
                            <p:stCondLst>
                              <p:cond delay="2000"/>
                            </p:stCondLst>
                            <p:childTnLst>
                              <p:par>
                                <p:cTn id="67" presetID="22" presetClass="entr" presetSubtype="8" fill="hold" nodeType="afterEffect">
                                  <p:stCondLst>
                                    <p:cond delay="0"/>
                                  </p:stCondLst>
                                  <p:childTnLst>
                                    <p:set>
                                      <p:cBhvr>
                                        <p:cTn id="68" dur="1" fill="hold">
                                          <p:stCondLst>
                                            <p:cond delay="0"/>
                                          </p:stCondLst>
                                        </p:cTn>
                                        <p:tgtEl>
                                          <p:spTgt spid="20"/>
                                        </p:tgtEl>
                                        <p:attrNameLst>
                                          <p:attrName>style.visibility</p:attrName>
                                        </p:attrNameLst>
                                      </p:cBhvr>
                                      <p:to>
                                        <p:strVal val="visible"/>
                                      </p:to>
                                    </p:set>
                                    <p:animEffect transition="in" filter="wipe(left)">
                                      <p:cBhvr>
                                        <p:cTn id="69" dur="500"/>
                                        <p:tgtEl>
                                          <p:spTgt spid="20"/>
                                        </p:tgtEl>
                                      </p:cBhvr>
                                    </p:animEffect>
                                  </p:childTnLst>
                                </p:cTn>
                              </p:par>
                            </p:childTnLst>
                          </p:cTn>
                        </p:par>
                      </p:childTnLst>
                    </p:cTn>
                  </p:par>
                  <p:par>
                    <p:cTn id="70" fill="hold">
                      <p:stCondLst>
                        <p:cond delay="indefinite"/>
                      </p:stCondLst>
                      <p:childTnLst>
                        <p:par>
                          <p:cTn id="71" fill="hold">
                            <p:stCondLst>
                              <p:cond delay="0"/>
                            </p:stCondLst>
                            <p:childTnLst>
                              <p:par>
                                <p:cTn id="72" presetID="18" presetClass="entr" presetSubtype="6" fill="hold" grpId="0" nodeType="clickEffect">
                                  <p:stCondLst>
                                    <p:cond delay="0"/>
                                  </p:stCondLst>
                                  <p:childTnLst>
                                    <p:set>
                                      <p:cBhvr>
                                        <p:cTn id="73" dur="1" fill="hold">
                                          <p:stCondLst>
                                            <p:cond delay="0"/>
                                          </p:stCondLst>
                                        </p:cTn>
                                        <p:tgtEl>
                                          <p:spTgt spid="5">
                                            <p:txEl>
                                              <p:pRg st="9" end="9"/>
                                            </p:txEl>
                                          </p:spTgt>
                                        </p:tgtEl>
                                        <p:attrNameLst>
                                          <p:attrName>style.visibility</p:attrName>
                                        </p:attrNameLst>
                                      </p:cBhvr>
                                      <p:to>
                                        <p:strVal val="visible"/>
                                      </p:to>
                                    </p:set>
                                    <p:animEffect transition="in" filter="strips(downRight)">
                                      <p:cBhvr>
                                        <p:cTn id="74" dur="500"/>
                                        <p:tgtEl>
                                          <p:spTgt spid="5">
                                            <p:txEl>
                                              <p:pRg st="9" end="9"/>
                                            </p:txEl>
                                          </p:spTgt>
                                        </p:tgtEl>
                                      </p:cBhvr>
                                    </p:animEffect>
                                  </p:childTnLst>
                                </p:cTn>
                              </p:par>
                            </p:childTnLst>
                          </p:cTn>
                        </p:par>
                        <p:par>
                          <p:cTn id="75" fill="hold">
                            <p:stCondLst>
                              <p:cond delay="500"/>
                            </p:stCondLst>
                            <p:childTnLst>
                              <p:par>
                                <p:cTn id="76" presetID="22" presetClass="entr" presetSubtype="4" fill="hold" nodeType="afterEffect">
                                  <p:stCondLst>
                                    <p:cond delay="0"/>
                                  </p:stCondLst>
                                  <p:childTnLst>
                                    <p:set>
                                      <p:cBhvr>
                                        <p:cTn id="77" dur="1" fill="hold">
                                          <p:stCondLst>
                                            <p:cond delay="0"/>
                                          </p:stCondLst>
                                        </p:cTn>
                                        <p:tgtEl>
                                          <p:spTgt spid="41"/>
                                        </p:tgtEl>
                                        <p:attrNameLst>
                                          <p:attrName>style.visibility</p:attrName>
                                        </p:attrNameLst>
                                      </p:cBhvr>
                                      <p:to>
                                        <p:strVal val="visible"/>
                                      </p:to>
                                    </p:set>
                                    <p:animEffect transition="in" filter="wipe(down)">
                                      <p:cBhvr>
                                        <p:cTn id="78" dur="500"/>
                                        <p:tgtEl>
                                          <p:spTgt spid="41"/>
                                        </p:tgtEl>
                                      </p:cBhvr>
                                    </p:animEffect>
                                  </p:childTnLst>
                                </p:cTn>
                              </p:par>
                            </p:childTnLst>
                          </p:cTn>
                        </p:par>
                        <p:par>
                          <p:cTn id="79" fill="hold">
                            <p:stCondLst>
                              <p:cond delay="1000"/>
                            </p:stCondLst>
                            <p:childTnLst>
                              <p:par>
                                <p:cTn id="80" presetID="16" presetClass="entr" presetSubtype="21" fill="hold" grpId="0" nodeType="afterEffect">
                                  <p:stCondLst>
                                    <p:cond delay="0"/>
                                  </p:stCondLst>
                                  <p:childTnLst>
                                    <p:set>
                                      <p:cBhvr>
                                        <p:cTn id="81" dur="1" fill="hold">
                                          <p:stCondLst>
                                            <p:cond delay="0"/>
                                          </p:stCondLst>
                                        </p:cTn>
                                        <p:tgtEl>
                                          <p:spTgt spid="17"/>
                                        </p:tgtEl>
                                        <p:attrNameLst>
                                          <p:attrName>style.visibility</p:attrName>
                                        </p:attrNameLst>
                                      </p:cBhvr>
                                      <p:to>
                                        <p:strVal val="visible"/>
                                      </p:to>
                                    </p:set>
                                    <p:animEffect transition="in" filter="barn(inVertical)">
                                      <p:cBhvr>
                                        <p:cTn id="82" dur="500"/>
                                        <p:tgtEl>
                                          <p:spTgt spid="17"/>
                                        </p:tgtEl>
                                      </p:cBhvr>
                                    </p:animEffect>
                                  </p:childTnLst>
                                </p:cTn>
                              </p:par>
                            </p:childTnLst>
                          </p:cTn>
                        </p:par>
                        <p:par>
                          <p:cTn id="83" fill="hold">
                            <p:stCondLst>
                              <p:cond delay="1500"/>
                            </p:stCondLst>
                            <p:childTnLst>
                              <p:par>
                                <p:cTn id="84" presetID="22" presetClass="entr" presetSubtype="8" fill="hold" nodeType="afterEffect">
                                  <p:stCondLst>
                                    <p:cond delay="0"/>
                                  </p:stCondLst>
                                  <p:childTnLst>
                                    <p:set>
                                      <p:cBhvr>
                                        <p:cTn id="85" dur="1" fill="hold">
                                          <p:stCondLst>
                                            <p:cond delay="0"/>
                                          </p:stCondLst>
                                        </p:cTn>
                                        <p:tgtEl>
                                          <p:spTgt spid="25"/>
                                        </p:tgtEl>
                                        <p:attrNameLst>
                                          <p:attrName>style.visibility</p:attrName>
                                        </p:attrNameLst>
                                      </p:cBhvr>
                                      <p:to>
                                        <p:strVal val="visible"/>
                                      </p:to>
                                    </p:set>
                                    <p:animEffect transition="in" filter="wipe(left)">
                                      <p:cBhvr>
                                        <p:cTn id="86" dur="500"/>
                                        <p:tgtEl>
                                          <p:spTgt spid="25"/>
                                        </p:tgtEl>
                                      </p:cBhvr>
                                    </p:animEffect>
                                  </p:childTnLst>
                                </p:cTn>
                              </p:par>
                            </p:childTnLst>
                          </p:cTn>
                        </p:par>
                      </p:childTnLst>
                    </p:cTn>
                  </p:par>
                  <p:par>
                    <p:cTn id="87" fill="hold">
                      <p:stCondLst>
                        <p:cond delay="indefinite"/>
                      </p:stCondLst>
                      <p:childTnLst>
                        <p:par>
                          <p:cTn id="88" fill="hold">
                            <p:stCondLst>
                              <p:cond delay="0"/>
                            </p:stCondLst>
                            <p:childTnLst>
                              <p:par>
                                <p:cTn id="89" presetID="18" presetClass="entr" presetSubtype="6" fill="hold" grpId="0" nodeType="clickEffect">
                                  <p:stCondLst>
                                    <p:cond delay="0"/>
                                  </p:stCondLst>
                                  <p:childTnLst>
                                    <p:set>
                                      <p:cBhvr>
                                        <p:cTn id="90" dur="1" fill="hold">
                                          <p:stCondLst>
                                            <p:cond delay="0"/>
                                          </p:stCondLst>
                                        </p:cTn>
                                        <p:tgtEl>
                                          <p:spTgt spid="5">
                                            <p:txEl>
                                              <p:pRg st="10" end="10"/>
                                            </p:txEl>
                                          </p:spTgt>
                                        </p:tgtEl>
                                        <p:attrNameLst>
                                          <p:attrName>style.visibility</p:attrName>
                                        </p:attrNameLst>
                                      </p:cBhvr>
                                      <p:to>
                                        <p:strVal val="visible"/>
                                      </p:to>
                                    </p:set>
                                    <p:animEffect transition="in" filter="strips(downRight)">
                                      <p:cBhvr>
                                        <p:cTn id="91" dur="500"/>
                                        <p:tgtEl>
                                          <p:spTgt spid="5">
                                            <p:txEl>
                                              <p:pRg st="10" end="10"/>
                                            </p:txEl>
                                          </p:spTgt>
                                        </p:tgtEl>
                                      </p:cBhvr>
                                    </p:animEffect>
                                  </p:childTnLst>
                                </p:cTn>
                              </p:par>
                            </p:childTnLst>
                          </p:cTn>
                        </p:par>
                        <p:par>
                          <p:cTn id="92" fill="hold">
                            <p:stCondLst>
                              <p:cond delay="500"/>
                            </p:stCondLst>
                            <p:childTnLst>
                              <p:par>
                                <p:cTn id="93" presetID="22" presetClass="entr" presetSubtype="4" fill="hold" nodeType="afterEffect">
                                  <p:stCondLst>
                                    <p:cond delay="0"/>
                                  </p:stCondLst>
                                  <p:childTnLst>
                                    <p:set>
                                      <p:cBhvr>
                                        <p:cTn id="94" dur="1" fill="hold">
                                          <p:stCondLst>
                                            <p:cond delay="0"/>
                                          </p:stCondLst>
                                        </p:cTn>
                                        <p:tgtEl>
                                          <p:spTgt spid="42"/>
                                        </p:tgtEl>
                                        <p:attrNameLst>
                                          <p:attrName>style.visibility</p:attrName>
                                        </p:attrNameLst>
                                      </p:cBhvr>
                                      <p:to>
                                        <p:strVal val="visible"/>
                                      </p:to>
                                    </p:set>
                                    <p:animEffect transition="in" filter="wipe(down)">
                                      <p:cBhvr>
                                        <p:cTn id="95" dur="500"/>
                                        <p:tgtEl>
                                          <p:spTgt spid="42"/>
                                        </p:tgtEl>
                                      </p:cBhvr>
                                    </p:animEffect>
                                  </p:childTnLst>
                                </p:cTn>
                              </p:par>
                            </p:childTnLst>
                          </p:cTn>
                        </p:par>
                        <p:par>
                          <p:cTn id="96" fill="hold">
                            <p:stCondLst>
                              <p:cond delay="1000"/>
                            </p:stCondLst>
                            <p:childTnLst>
                              <p:par>
                                <p:cTn id="97" presetID="16" presetClass="entr" presetSubtype="21" fill="hold" nodeType="afterEffect">
                                  <p:stCondLst>
                                    <p:cond delay="0"/>
                                  </p:stCondLst>
                                  <p:childTnLst>
                                    <p:set>
                                      <p:cBhvr>
                                        <p:cTn id="98" dur="1" fill="hold">
                                          <p:stCondLst>
                                            <p:cond delay="0"/>
                                          </p:stCondLst>
                                        </p:cTn>
                                        <p:tgtEl>
                                          <p:spTgt spid="36"/>
                                        </p:tgtEl>
                                        <p:attrNameLst>
                                          <p:attrName>style.visibility</p:attrName>
                                        </p:attrNameLst>
                                      </p:cBhvr>
                                      <p:to>
                                        <p:strVal val="visible"/>
                                      </p:to>
                                    </p:set>
                                    <p:animEffect transition="in" filter="barn(inVertical)">
                                      <p:cBhvr>
                                        <p:cTn id="99" dur="500"/>
                                        <p:tgtEl>
                                          <p:spTgt spid="36"/>
                                        </p:tgtEl>
                                      </p:cBhvr>
                                    </p:animEffect>
                                  </p:childTnLst>
                                </p:cTn>
                              </p:par>
                            </p:childTnLst>
                          </p:cTn>
                        </p:par>
                        <p:par>
                          <p:cTn id="100" fill="hold">
                            <p:stCondLst>
                              <p:cond delay="1500"/>
                            </p:stCondLst>
                            <p:childTnLst>
                              <p:par>
                                <p:cTn id="101" presetID="22" presetClass="entr" presetSubtype="8" fill="hold" nodeType="afterEffect">
                                  <p:stCondLst>
                                    <p:cond delay="0"/>
                                  </p:stCondLst>
                                  <p:childTnLst>
                                    <p:set>
                                      <p:cBhvr>
                                        <p:cTn id="102" dur="1" fill="hold">
                                          <p:stCondLst>
                                            <p:cond delay="0"/>
                                          </p:stCondLst>
                                        </p:cTn>
                                        <p:tgtEl>
                                          <p:spTgt spid="27"/>
                                        </p:tgtEl>
                                        <p:attrNameLst>
                                          <p:attrName>style.visibility</p:attrName>
                                        </p:attrNameLst>
                                      </p:cBhvr>
                                      <p:to>
                                        <p:strVal val="visible"/>
                                      </p:to>
                                    </p:set>
                                    <p:animEffect transition="in" filter="wipe(left)">
                                      <p:cBhvr>
                                        <p:cTn id="103" dur="500"/>
                                        <p:tgtEl>
                                          <p:spTgt spid="27"/>
                                        </p:tgtEl>
                                      </p:cBhvr>
                                    </p:animEffect>
                                  </p:childTnLst>
                                </p:cTn>
                              </p:par>
                            </p:childTnLst>
                          </p:cTn>
                        </p:par>
                      </p:childTnLst>
                    </p:cTn>
                  </p:par>
                  <p:par>
                    <p:cTn id="104" fill="hold">
                      <p:stCondLst>
                        <p:cond delay="indefinite"/>
                      </p:stCondLst>
                      <p:childTnLst>
                        <p:par>
                          <p:cTn id="105" fill="hold">
                            <p:stCondLst>
                              <p:cond delay="0"/>
                            </p:stCondLst>
                            <p:childTnLst>
                              <p:par>
                                <p:cTn id="106" presetID="18" presetClass="entr" presetSubtype="6" fill="hold" grpId="0" nodeType="clickEffect">
                                  <p:stCondLst>
                                    <p:cond delay="0"/>
                                  </p:stCondLst>
                                  <p:childTnLst>
                                    <p:set>
                                      <p:cBhvr>
                                        <p:cTn id="107" dur="1" fill="hold">
                                          <p:stCondLst>
                                            <p:cond delay="0"/>
                                          </p:stCondLst>
                                        </p:cTn>
                                        <p:tgtEl>
                                          <p:spTgt spid="34">
                                            <p:txEl>
                                              <p:pRg st="0" end="0"/>
                                            </p:txEl>
                                          </p:spTgt>
                                        </p:tgtEl>
                                        <p:attrNameLst>
                                          <p:attrName>style.visibility</p:attrName>
                                        </p:attrNameLst>
                                      </p:cBhvr>
                                      <p:to>
                                        <p:strVal val="visible"/>
                                      </p:to>
                                    </p:set>
                                    <p:animEffect transition="in" filter="strips(downRight)">
                                      <p:cBhvr>
                                        <p:cTn id="108" dur="500"/>
                                        <p:tgtEl>
                                          <p:spTgt spid="34">
                                            <p:txEl>
                                              <p:pRg st="0" end="0"/>
                                            </p:txEl>
                                          </p:spTgt>
                                        </p:tgtEl>
                                      </p:cBhvr>
                                    </p:animEffect>
                                  </p:childTnLst>
                                </p:cTn>
                              </p:par>
                            </p:childTnLst>
                          </p:cTn>
                        </p:par>
                      </p:childTnLst>
                    </p:cTn>
                  </p:par>
                  <p:par>
                    <p:cTn id="109" fill="hold">
                      <p:stCondLst>
                        <p:cond delay="indefinite"/>
                      </p:stCondLst>
                      <p:childTnLst>
                        <p:par>
                          <p:cTn id="110" fill="hold">
                            <p:stCondLst>
                              <p:cond delay="0"/>
                            </p:stCondLst>
                            <p:childTnLst>
                              <p:par>
                                <p:cTn id="111" presetID="18" presetClass="entr" presetSubtype="6" fill="hold" grpId="0" nodeType="clickEffect">
                                  <p:stCondLst>
                                    <p:cond delay="0"/>
                                  </p:stCondLst>
                                  <p:childTnLst>
                                    <p:set>
                                      <p:cBhvr>
                                        <p:cTn id="112" dur="1" fill="hold">
                                          <p:stCondLst>
                                            <p:cond delay="0"/>
                                          </p:stCondLst>
                                        </p:cTn>
                                        <p:tgtEl>
                                          <p:spTgt spid="34">
                                            <p:txEl>
                                              <p:pRg st="1" end="1"/>
                                            </p:txEl>
                                          </p:spTgt>
                                        </p:tgtEl>
                                        <p:attrNameLst>
                                          <p:attrName>style.visibility</p:attrName>
                                        </p:attrNameLst>
                                      </p:cBhvr>
                                      <p:to>
                                        <p:strVal val="visible"/>
                                      </p:to>
                                    </p:set>
                                    <p:animEffect transition="in" filter="strips(downRight)">
                                      <p:cBhvr>
                                        <p:cTn id="113" dur="500"/>
                                        <p:tgtEl>
                                          <p:spTgt spid="34">
                                            <p:txEl>
                                              <p:pRg st="1" end="1"/>
                                            </p:txEl>
                                          </p:spTgt>
                                        </p:tgtEl>
                                      </p:cBhvr>
                                    </p:animEffect>
                                  </p:childTnLst>
                                </p:cTn>
                              </p:par>
                            </p:childTnLst>
                          </p:cTn>
                        </p:par>
                      </p:childTnLst>
                    </p:cTn>
                  </p:par>
                  <p:par>
                    <p:cTn id="114" fill="hold">
                      <p:stCondLst>
                        <p:cond delay="indefinite"/>
                      </p:stCondLst>
                      <p:childTnLst>
                        <p:par>
                          <p:cTn id="115" fill="hold">
                            <p:stCondLst>
                              <p:cond delay="0"/>
                            </p:stCondLst>
                            <p:childTnLst>
                              <p:par>
                                <p:cTn id="116" presetID="18" presetClass="entr" presetSubtype="6" fill="hold" grpId="0" nodeType="clickEffect">
                                  <p:stCondLst>
                                    <p:cond delay="0"/>
                                  </p:stCondLst>
                                  <p:childTnLst>
                                    <p:set>
                                      <p:cBhvr>
                                        <p:cTn id="117" dur="1" fill="hold">
                                          <p:stCondLst>
                                            <p:cond delay="0"/>
                                          </p:stCondLst>
                                        </p:cTn>
                                        <p:tgtEl>
                                          <p:spTgt spid="34">
                                            <p:txEl>
                                              <p:pRg st="2" end="2"/>
                                            </p:txEl>
                                          </p:spTgt>
                                        </p:tgtEl>
                                        <p:attrNameLst>
                                          <p:attrName>style.visibility</p:attrName>
                                        </p:attrNameLst>
                                      </p:cBhvr>
                                      <p:to>
                                        <p:strVal val="visible"/>
                                      </p:to>
                                    </p:set>
                                    <p:animEffect transition="in" filter="strips(downRight)">
                                      <p:cBhvr>
                                        <p:cTn id="118" dur="500"/>
                                        <p:tgtEl>
                                          <p:spTgt spid="34">
                                            <p:txEl>
                                              <p:pRg st="2" end="2"/>
                                            </p:txEl>
                                          </p:spTgt>
                                        </p:tgtEl>
                                      </p:cBhvr>
                                    </p:animEffect>
                                  </p:childTnLst>
                                </p:cTn>
                              </p:par>
                            </p:childTnLst>
                          </p:cTn>
                        </p:par>
                      </p:childTnLst>
                    </p:cTn>
                  </p:par>
                  <p:par>
                    <p:cTn id="119" fill="hold">
                      <p:stCondLst>
                        <p:cond delay="indefinite"/>
                      </p:stCondLst>
                      <p:childTnLst>
                        <p:par>
                          <p:cTn id="120" fill="hold">
                            <p:stCondLst>
                              <p:cond delay="0"/>
                            </p:stCondLst>
                            <p:childTnLst>
                              <p:par>
                                <p:cTn id="121" presetID="18" presetClass="entr" presetSubtype="6" fill="hold" grpId="0" nodeType="clickEffect">
                                  <p:stCondLst>
                                    <p:cond delay="0"/>
                                  </p:stCondLst>
                                  <p:childTnLst>
                                    <p:set>
                                      <p:cBhvr>
                                        <p:cTn id="122" dur="1" fill="hold">
                                          <p:stCondLst>
                                            <p:cond delay="0"/>
                                          </p:stCondLst>
                                        </p:cTn>
                                        <p:tgtEl>
                                          <p:spTgt spid="34">
                                            <p:txEl>
                                              <p:pRg st="3" end="3"/>
                                            </p:txEl>
                                          </p:spTgt>
                                        </p:tgtEl>
                                        <p:attrNameLst>
                                          <p:attrName>style.visibility</p:attrName>
                                        </p:attrNameLst>
                                      </p:cBhvr>
                                      <p:to>
                                        <p:strVal val="visible"/>
                                      </p:to>
                                    </p:set>
                                    <p:animEffect transition="in" filter="strips(downRight)">
                                      <p:cBhvr>
                                        <p:cTn id="123" dur="500"/>
                                        <p:tgtEl>
                                          <p:spTgt spid="34">
                                            <p:txEl>
                                              <p:pRg st="3" end="3"/>
                                            </p:txEl>
                                          </p:spTgt>
                                        </p:tgtEl>
                                      </p:cBhvr>
                                    </p:animEffect>
                                  </p:childTnLst>
                                </p:cTn>
                              </p:par>
                            </p:childTnLst>
                          </p:cTn>
                        </p:par>
                      </p:childTnLst>
                    </p:cTn>
                  </p:par>
                  <p:par>
                    <p:cTn id="124" fill="hold">
                      <p:stCondLst>
                        <p:cond delay="indefinite"/>
                      </p:stCondLst>
                      <p:childTnLst>
                        <p:par>
                          <p:cTn id="125" fill="hold">
                            <p:stCondLst>
                              <p:cond delay="0"/>
                            </p:stCondLst>
                            <p:childTnLst>
                              <p:par>
                                <p:cTn id="126" presetID="18" presetClass="entr" presetSubtype="6" fill="hold" grpId="0" nodeType="clickEffect">
                                  <p:stCondLst>
                                    <p:cond delay="0"/>
                                  </p:stCondLst>
                                  <p:childTnLst>
                                    <p:set>
                                      <p:cBhvr>
                                        <p:cTn id="127" dur="1" fill="hold">
                                          <p:stCondLst>
                                            <p:cond delay="0"/>
                                          </p:stCondLst>
                                        </p:cTn>
                                        <p:tgtEl>
                                          <p:spTgt spid="34">
                                            <p:txEl>
                                              <p:pRg st="4" end="4"/>
                                            </p:txEl>
                                          </p:spTgt>
                                        </p:tgtEl>
                                        <p:attrNameLst>
                                          <p:attrName>style.visibility</p:attrName>
                                        </p:attrNameLst>
                                      </p:cBhvr>
                                      <p:to>
                                        <p:strVal val="visible"/>
                                      </p:to>
                                    </p:set>
                                    <p:animEffect transition="in" filter="strips(downRight)">
                                      <p:cBhvr>
                                        <p:cTn id="128" dur="500"/>
                                        <p:tgtEl>
                                          <p:spTgt spid="34">
                                            <p:txEl>
                                              <p:pRg st="4" end="4"/>
                                            </p:txEl>
                                          </p:spTgt>
                                        </p:tgtEl>
                                      </p:cBhvr>
                                    </p:animEffect>
                                  </p:childTnLst>
                                </p:cTn>
                              </p:par>
                            </p:childTnLst>
                          </p:cTn>
                        </p:par>
                      </p:childTnLst>
                    </p:cTn>
                  </p:par>
                  <p:par>
                    <p:cTn id="129" fill="hold">
                      <p:stCondLst>
                        <p:cond delay="indefinite"/>
                      </p:stCondLst>
                      <p:childTnLst>
                        <p:par>
                          <p:cTn id="130" fill="hold">
                            <p:stCondLst>
                              <p:cond delay="0"/>
                            </p:stCondLst>
                            <p:childTnLst>
                              <p:par>
                                <p:cTn id="131" presetID="18" presetClass="entr" presetSubtype="6" fill="hold" grpId="0" nodeType="clickEffect">
                                  <p:stCondLst>
                                    <p:cond delay="0"/>
                                  </p:stCondLst>
                                  <p:childTnLst>
                                    <p:set>
                                      <p:cBhvr>
                                        <p:cTn id="132" dur="1" fill="hold">
                                          <p:stCondLst>
                                            <p:cond delay="0"/>
                                          </p:stCondLst>
                                        </p:cTn>
                                        <p:tgtEl>
                                          <p:spTgt spid="34">
                                            <p:txEl>
                                              <p:pRg st="5" end="5"/>
                                            </p:txEl>
                                          </p:spTgt>
                                        </p:tgtEl>
                                        <p:attrNameLst>
                                          <p:attrName>style.visibility</p:attrName>
                                        </p:attrNameLst>
                                      </p:cBhvr>
                                      <p:to>
                                        <p:strVal val="visible"/>
                                      </p:to>
                                    </p:set>
                                    <p:animEffect transition="in" filter="strips(downRight)">
                                      <p:cBhvr>
                                        <p:cTn id="133" dur="500"/>
                                        <p:tgtEl>
                                          <p:spTgt spid="3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16" grpId="0" animBg="1"/>
      <p:bldP spid="17" grpId="0" animBg="1"/>
      <p:bldP spid="34" grpId="0" build="p"/>
      <p:bldP spid="2"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EC7F67E1-D6E2-49E2-B8A7-4A3D197A1F52}"/>
              </a:ext>
            </a:extLst>
          </p:cNvPr>
          <p:cNvSpPr txBox="1">
            <a:spLocks noChangeArrowheads="1"/>
          </p:cNvSpPr>
          <p:nvPr/>
        </p:nvSpPr>
        <p:spPr bwMode="auto">
          <a:xfrm>
            <a:off x="286838" y="149403"/>
            <a:ext cx="8195011" cy="6684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l" defTabSz="914400" rtl="0" eaLnBrk="1" fontAlgn="base" latinLnBrk="0" hangingPunct="1">
              <a:lnSpc>
                <a:spcPct val="110000"/>
              </a:lnSpc>
              <a:spcBef>
                <a:spcPct val="0"/>
              </a:spcBef>
              <a:spcAft>
                <a:spcPct val="0"/>
              </a:spcAft>
              <a:buClrTx/>
              <a:buSzTx/>
              <a:buFontTx/>
              <a:buNone/>
              <a:tabLst/>
              <a:defRPr/>
            </a:pPr>
            <a:r>
              <a:rPr kumimoji="0" lang="zh-CN" altLang="en-US" b="1" i="0" u="none" strike="noStrike" kern="100" cap="none" spc="0" normalizeH="0" baseline="0" noProof="0" dirty="0">
                <a:ln>
                  <a:noFill/>
                </a:ln>
                <a:solidFill>
                  <a:srgbClr val="C00000"/>
                </a:solidFill>
                <a:effectLst/>
                <a:uLnTx/>
                <a:uFillTx/>
                <a:latin typeface="等线" panose="02010600030101010101" pitchFamily="2" charset="-122"/>
                <a:ea typeface="等线" panose="02010600030101010101" pitchFamily="2" charset="-122"/>
                <a:cs typeface="Courier New" panose="02070309020205020404" pitchFamily="49" charset="0"/>
              </a:rPr>
              <a:t>例</a:t>
            </a:r>
            <a:r>
              <a:rPr kumimoji="0" lang="en-US" altLang="zh-CN" b="1" i="0" u="none" strike="noStrike" kern="1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2</a:t>
            </a:r>
            <a:r>
              <a:rPr kumimoji="0" lang="en-US" altLang="zh-CN"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zh-CN" altLang="en-US"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用引用参数返回函数内动态分配的存储空间</a:t>
            </a:r>
            <a:endParaRPr kumimoji="0" lang="en-US" altLang="zh-CN"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10000"/>
              </a:lnSpc>
              <a:spcBef>
                <a:spcPct val="0"/>
              </a:spcBef>
              <a:spcAft>
                <a:spcPct val="0"/>
              </a:spcAft>
              <a:buClrTx/>
              <a:buSzTx/>
              <a:buFontTx/>
              <a:buNone/>
              <a:tabLst/>
              <a:defRPr/>
            </a:pP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typedef struct </a:t>
            </a:r>
            <a:r>
              <a:rPr kumimoji="0" lang="en-US" altLang="zh-CN" sz="1600" b="1" i="0" u="none" strike="noStrike" kern="1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a:t>
            </a:r>
          </a:p>
          <a:p>
            <a:pPr marL="0" marR="0" lvl="0" indent="0" algn="l" defTabSz="914400" rtl="0" eaLnBrk="1" fontAlgn="base" latinLnBrk="0" hangingPunct="1">
              <a:lnSpc>
                <a:spcPct val="110000"/>
              </a:lnSpc>
              <a:spcBef>
                <a:spcPct val="0"/>
              </a:spcBef>
              <a:spcAft>
                <a:spcPct val="0"/>
              </a:spcAft>
              <a:buClrTx/>
              <a:buSzTx/>
              <a:buFontTx/>
              <a:buNone/>
              <a:tabLst/>
              <a:defRPr/>
            </a:pP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1" i="0" u="none" strike="noStrike" kern="1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int</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num;      </a:t>
            </a:r>
            <a:r>
              <a:rPr kumimoji="0" lang="en-US" altLang="zh-CN" sz="1600" b="1" i="0" u="none" strike="noStrike" kern="100" cap="none" spc="0" normalizeH="0" baseline="0" noProof="0" dirty="0">
                <a:ln>
                  <a:noFill/>
                </a:ln>
                <a:solidFill>
                  <a:srgbClr val="0070C0"/>
                </a:solidFill>
                <a:effectLst/>
                <a:uLnTx/>
                <a:uFillTx/>
                <a:latin typeface="仿宋" panose="02010609060101010101" pitchFamily="49" charset="-122"/>
                <a:ea typeface="仿宋" panose="02010609060101010101" pitchFamily="49" charset="-122"/>
                <a:cs typeface="Courier New" panose="02070309020205020404" pitchFamily="49" charset="0"/>
              </a:rPr>
              <a:t>// </a:t>
            </a:r>
            <a:r>
              <a:rPr kumimoji="0" lang="zh-CN" altLang="en-US" sz="1600" b="1" i="0" u="none" strike="noStrike" kern="100" cap="none" spc="0" normalizeH="0" baseline="0" noProof="0" dirty="0">
                <a:ln>
                  <a:noFill/>
                </a:ln>
                <a:solidFill>
                  <a:srgbClr val="0070C0"/>
                </a:solidFill>
                <a:effectLst/>
                <a:uLnTx/>
                <a:uFillTx/>
                <a:latin typeface="仿宋" panose="02010609060101010101" pitchFamily="49" charset="-122"/>
                <a:ea typeface="仿宋" panose="02010609060101010101" pitchFamily="49" charset="-122"/>
                <a:cs typeface="Courier New" panose="02070309020205020404" pitchFamily="49" charset="0"/>
              </a:rPr>
              <a:t>课程编号</a:t>
            </a:r>
            <a:endParaRPr kumimoji="0" lang="en-US" altLang="zh-CN" sz="1600" b="1" i="0" u="none" strike="noStrike" kern="100" cap="none" spc="0" normalizeH="0" baseline="0" noProof="0" dirty="0">
              <a:ln>
                <a:noFill/>
              </a:ln>
              <a:solidFill>
                <a:srgbClr val="0070C0"/>
              </a:solidFill>
              <a:effectLst/>
              <a:uLnTx/>
              <a:uFillTx/>
              <a:latin typeface="仿宋" panose="02010609060101010101" pitchFamily="49" charset="-122"/>
              <a:ea typeface="仿宋" panose="02010609060101010101" pitchFamily="49" charset="-122"/>
              <a:cs typeface="Courier New" panose="02070309020205020404" pitchFamily="49" charset="0"/>
            </a:endParaRPr>
          </a:p>
          <a:p>
            <a:pPr marL="0" marR="0" lvl="0" indent="0" algn="l" defTabSz="914400" rtl="0" eaLnBrk="1" fontAlgn="base" latinLnBrk="0" hangingPunct="1">
              <a:lnSpc>
                <a:spcPct val="110000"/>
              </a:lnSpc>
              <a:spcBef>
                <a:spcPct val="0"/>
              </a:spcBef>
              <a:spcAft>
                <a:spcPct val="0"/>
              </a:spcAft>
              <a:buClrTx/>
              <a:buSzTx/>
              <a:buFontTx/>
              <a:buNone/>
              <a:tabLst/>
              <a:defRPr/>
            </a:pP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1" i="0" u="none" strike="noStrike" kern="1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char</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name[16]; </a:t>
            </a:r>
            <a:r>
              <a:rPr kumimoji="0" lang="en-US" altLang="zh-CN" sz="1600" b="1" i="0" u="none" strike="noStrike" kern="100" cap="none" spc="0" normalizeH="0" baseline="0" noProof="0" dirty="0">
                <a:ln>
                  <a:noFill/>
                </a:ln>
                <a:solidFill>
                  <a:srgbClr val="0070C0"/>
                </a:solidFill>
                <a:effectLst/>
                <a:uLnTx/>
                <a:uFillTx/>
                <a:latin typeface="仿宋" panose="02010609060101010101" pitchFamily="49" charset="-122"/>
                <a:ea typeface="仿宋" panose="02010609060101010101" pitchFamily="49" charset="-122"/>
                <a:cs typeface="Courier New" panose="02070309020205020404" pitchFamily="49" charset="0"/>
              </a:rPr>
              <a:t>// </a:t>
            </a:r>
            <a:r>
              <a:rPr kumimoji="0" lang="zh-CN" altLang="en-US" sz="1600" b="1" i="0" u="none" strike="noStrike" kern="100" cap="none" spc="0" normalizeH="0" baseline="0" noProof="0" dirty="0">
                <a:ln>
                  <a:noFill/>
                </a:ln>
                <a:solidFill>
                  <a:srgbClr val="0070C0"/>
                </a:solidFill>
                <a:effectLst/>
                <a:uLnTx/>
                <a:uFillTx/>
                <a:latin typeface="仿宋" panose="02010609060101010101" pitchFamily="49" charset="-122"/>
                <a:ea typeface="仿宋" panose="02010609060101010101" pitchFamily="49" charset="-122"/>
                <a:cs typeface="Courier New" panose="02070309020205020404" pitchFamily="49" charset="0"/>
              </a:rPr>
              <a:t>课程名称</a:t>
            </a:r>
            <a:endParaRPr kumimoji="0" lang="en-US" altLang="zh-CN" sz="1600" b="1" i="0" u="none" strike="noStrike" kern="100" cap="none" spc="0" normalizeH="0" baseline="0" noProof="0" dirty="0">
              <a:ln>
                <a:noFill/>
              </a:ln>
              <a:solidFill>
                <a:srgbClr val="0070C0"/>
              </a:solidFill>
              <a:effectLst/>
              <a:uLnTx/>
              <a:uFillTx/>
              <a:latin typeface="仿宋" panose="02010609060101010101" pitchFamily="49" charset="-122"/>
              <a:ea typeface="仿宋" panose="02010609060101010101" pitchFamily="49" charset="-122"/>
              <a:cs typeface="Courier New" panose="02070309020205020404" pitchFamily="49" charset="0"/>
            </a:endParaRPr>
          </a:p>
          <a:p>
            <a:pPr marL="0" marR="0" lvl="0" indent="0" algn="l" defTabSz="914400" rtl="0" eaLnBrk="1" fontAlgn="base" latinLnBrk="0" hangingPunct="1">
              <a:lnSpc>
                <a:spcPct val="110000"/>
              </a:lnSpc>
              <a:spcBef>
                <a:spcPct val="0"/>
              </a:spcBef>
              <a:spcAft>
                <a:spcPct val="0"/>
              </a:spcAft>
              <a:buClrTx/>
              <a:buSzTx/>
              <a:buFontTx/>
              <a:buNone/>
              <a:tabLst/>
              <a:defRPr/>
            </a:pPr>
            <a:r>
              <a:rPr kumimoji="0" lang="en-US" altLang="zh-CN" sz="1600" b="1" i="0" u="none" strike="noStrike" kern="1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Course;  </a:t>
            </a:r>
            <a:r>
              <a:rPr kumimoji="0" lang="en-US" altLang="zh-CN" sz="1600" b="1" i="0" u="none" strike="noStrike" kern="100" cap="none" spc="0" normalizeH="0" baseline="0" noProof="0" dirty="0">
                <a:ln>
                  <a:noFill/>
                </a:ln>
                <a:solidFill>
                  <a:srgbClr val="0070C0"/>
                </a:solidFill>
                <a:effectLst/>
                <a:uLnTx/>
                <a:uFillTx/>
                <a:latin typeface="仿宋" panose="02010609060101010101" pitchFamily="49" charset="-122"/>
                <a:ea typeface="仿宋" panose="02010609060101010101" pitchFamily="49" charset="-122"/>
                <a:cs typeface="Courier New" panose="02070309020205020404" pitchFamily="49" charset="0"/>
              </a:rPr>
              <a:t>// </a:t>
            </a:r>
            <a:r>
              <a:rPr kumimoji="0" lang="zh-CN" altLang="en-US" sz="1600" b="1" i="0" u="none" strike="noStrike" kern="100" cap="none" spc="0" normalizeH="0" baseline="0" noProof="0" dirty="0">
                <a:ln>
                  <a:noFill/>
                </a:ln>
                <a:solidFill>
                  <a:srgbClr val="0070C0"/>
                </a:solidFill>
                <a:effectLst/>
                <a:uLnTx/>
                <a:uFillTx/>
                <a:latin typeface="仿宋" panose="02010609060101010101" pitchFamily="49" charset="-122"/>
                <a:ea typeface="仿宋" panose="02010609060101010101" pitchFamily="49" charset="-122"/>
                <a:cs typeface="Courier New" panose="02070309020205020404" pitchFamily="49" charset="0"/>
              </a:rPr>
              <a:t>课程结构类型</a:t>
            </a:r>
            <a:endParaRPr kumimoji="0" lang="en-US" altLang="zh-CN" sz="1600" b="1" i="0" u="none" strike="noStrike" kern="100" cap="none" spc="0" normalizeH="0" baseline="0" noProof="0" dirty="0">
              <a:ln>
                <a:noFill/>
              </a:ln>
              <a:solidFill>
                <a:srgbClr val="0070C0"/>
              </a:solidFill>
              <a:effectLst/>
              <a:uLnTx/>
              <a:uFillTx/>
              <a:latin typeface="仿宋" panose="02010609060101010101" pitchFamily="49" charset="-122"/>
              <a:ea typeface="仿宋" panose="02010609060101010101" pitchFamily="49" charset="-122"/>
              <a:cs typeface="Courier New" panose="02070309020205020404" pitchFamily="49" charset="0"/>
            </a:endParaRPr>
          </a:p>
          <a:p>
            <a:pPr marL="0" marR="0" lvl="0" indent="0" algn="l" defTabSz="914400" rtl="0" eaLnBrk="1" fontAlgn="base" latinLnBrk="0" hangingPunct="1">
              <a:lnSpc>
                <a:spcPct val="110000"/>
              </a:lnSpc>
              <a:spcBef>
                <a:spcPct val="0"/>
              </a:spcBef>
              <a:spcAft>
                <a:spcPct val="0"/>
              </a:spcAft>
              <a:buClrTx/>
              <a:buSzTx/>
              <a:buFontTx/>
              <a:buNone/>
              <a:tabLst/>
              <a:defRPr/>
            </a:pPr>
            <a:r>
              <a:rPr kumimoji="0" lang="en-US" altLang="zh-CN" sz="1600" b="1" i="0" u="none" strike="noStrike" kern="1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int</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1"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nump</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1" i="0" u="none" strike="noStrike" kern="100" cap="none" spc="0" normalizeH="0" baseline="0" noProof="0" dirty="0">
                <a:ln>
                  <a:noFill/>
                </a:ln>
                <a:solidFill>
                  <a:srgbClr val="0070C0"/>
                </a:solidFill>
                <a:effectLst/>
                <a:uLnTx/>
                <a:uFillTx/>
                <a:latin typeface="仿宋" panose="02010609060101010101" pitchFamily="49" charset="-122"/>
                <a:ea typeface="仿宋" panose="02010609060101010101" pitchFamily="49" charset="-122"/>
                <a:cs typeface="Courier New" panose="02070309020205020404" pitchFamily="49" charset="0"/>
              </a:rPr>
              <a:t>// </a:t>
            </a:r>
            <a:r>
              <a:rPr kumimoji="0" lang="zh-CN" altLang="en-US" sz="1600" b="1" i="0" u="none" strike="noStrike" kern="100" cap="none" spc="0" normalizeH="0" baseline="0" noProof="0" dirty="0">
                <a:ln>
                  <a:noFill/>
                </a:ln>
                <a:solidFill>
                  <a:srgbClr val="0070C0"/>
                </a:solidFill>
                <a:effectLst/>
                <a:uLnTx/>
                <a:uFillTx/>
                <a:latin typeface="仿宋" panose="02010609060101010101" pitchFamily="49" charset="-122"/>
                <a:ea typeface="仿宋" panose="02010609060101010101" pitchFamily="49" charset="-122"/>
                <a:cs typeface="Courier New" panose="02070309020205020404" pitchFamily="49" charset="0"/>
              </a:rPr>
              <a:t>全局变量</a:t>
            </a:r>
            <a:endParaRPr kumimoji="0" lang="en-US" altLang="zh-CN" sz="1600" b="1" i="0" u="none" strike="noStrike" kern="100" cap="none" spc="0" normalizeH="0" baseline="0" noProof="0" dirty="0">
              <a:ln>
                <a:noFill/>
              </a:ln>
              <a:solidFill>
                <a:srgbClr val="0070C0"/>
              </a:solidFill>
              <a:effectLst/>
              <a:uLnTx/>
              <a:uFillTx/>
              <a:latin typeface="仿宋" panose="02010609060101010101" pitchFamily="49" charset="-122"/>
              <a:ea typeface="仿宋" panose="02010609060101010101" pitchFamily="49" charset="-122"/>
              <a:cs typeface="Courier New" panose="02070309020205020404" pitchFamily="49" charset="0"/>
            </a:endParaRP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altLang="zh-CN" sz="1600" b="1" i="0" u="none" strike="noStrike" kern="1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Status</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f(char* &amp;</a:t>
            </a:r>
            <a:r>
              <a:rPr kumimoji="0" lang="en-US" altLang="zh-CN" sz="1600" b="1"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lp</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Course* &amp;cp) { </a:t>
            </a:r>
            <a:r>
              <a:rPr kumimoji="0" lang="en-US" altLang="zh-CN" sz="1600" b="1" i="0" u="none" strike="noStrike" kern="100" cap="none" spc="0" normalizeH="0" baseline="0" noProof="0" dirty="0">
                <a:ln>
                  <a:noFill/>
                </a:ln>
                <a:solidFill>
                  <a:srgbClr val="0070C0"/>
                </a:solidFill>
                <a:effectLst/>
                <a:uLnTx/>
                <a:uFillTx/>
                <a:latin typeface="仿宋" panose="02010609060101010101" pitchFamily="49" charset="-122"/>
                <a:ea typeface="仿宋" panose="02010609060101010101" pitchFamily="49" charset="-122"/>
                <a:cs typeface="Courier New" panose="02070309020205020404" pitchFamily="49" charset="0"/>
              </a:rPr>
              <a:t>// </a:t>
            </a:r>
            <a:r>
              <a:rPr kumimoji="0" lang="zh-CN" altLang="en-US" sz="1600" b="1" i="0" u="none" strike="noStrike" kern="100" cap="none" spc="0" normalizeH="0" baseline="0" noProof="0" dirty="0">
                <a:ln>
                  <a:noFill/>
                </a:ln>
                <a:solidFill>
                  <a:srgbClr val="0070C0"/>
                </a:solidFill>
                <a:effectLst/>
                <a:uLnTx/>
                <a:uFillTx/>
                <a:latin typeface="仿宋" panose="02010609060101010101" pitchFamily="49" charset="-122"/>
                <a:ea typeface="仿宋" panose="02010609060101010101" pitchFamily="49" charset="-122"/>
                <a:cs typeface="Courier New" panose="02070309020205020404" pitchFamily="49" charset="0"/>
              </a:rPr>
              <a:t>两个不同类型指针的引用形参</a:t>
            </a:r>
            <a:endParaRPr kumimoji="0" lang="en-US" altLang="zh-CN" sz="1600" b="1" i="0" u="none" strike="noStrike" kern="100" cap="none" spc="0" normalizeH="0" baseline="0" noProof="0" dirty="0">
              <a:ln>
                <a:noFill/>
              </a:ln>
              <a:solidFill>
                <a:srgbClr val="0070C0"/>
              </a:solidFill>
              <a:effectLst/>
              <a:uLnTx/>
              <a:uFillTx/>
              <a:latin typeface="仿宋" panose="02010609060101010101" pitchFamily="49" charset="-122"/>
              <a:ea typeface="仿宋" panose="02010609060101010101" pitchFamily="49" charset="-122"/>
              <a:cs typeface="Courier New" panose="02070309020205020404" pitchFamily="49" charset="0"/>
            </a:endParaRP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1" i="0" u="none" strike="noStrike" kern="1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if</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1600" b="1"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nump</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 (</a:t>
            </a:r>
            <a:r>
              <a:rPr kumimoji="0" lang="en-US" altLang="zh-CN" sz="1600" b="1" i="0" u="none" strike="noStrike" kern="1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int</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1600" b="1" i="0" u="none" strike="noStrike" kern="100" cap="none" spc="0" normalizeH="0" baseline="0" noProof="0" dirty="0" err="1">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calloc</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(1, </a:t>
            </a:r>
            <a:r>
              <a:rPr kumimoji="0" lang="en-US" altLang="zh-CN" sz="1600" b="1" i="0" u="none" strike="noStrike" kern="100" cap="none" spc="0" normalizeH="0" baseline="0" noProof="0" dirty="0" err="1">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sizeof</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1600" b="1" i="0" u="none" strike="noStrike" kern="1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int</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1" i="0" u="none" strike="noStrike" kern="1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return</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OVERFLOW; </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1"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nump</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 69;</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1" i="0" u="none" strike="noStrike" kern="1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if</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1600" b="1"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lp</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 (</a:t>
            </a:r>
            <a:r>
              <a:rPr kumimoji="0" lang="en-US" altLang="zh-CN" sz="1600" b="1" i="0" u="none" strike="noStrike" kern="1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char</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1600" b="1" i="0" u="none" strike="noStrike" kern="100" cap="none" spc="0" normalizeH="0" baseline="0" noProof="0" dirty="0" err="1">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calloc</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(1, </a:t>
            </a:r>
            <a:r>
              <a:rPr kumimoji="0" lang="en-US" altLang="zh-CN" sz="1600" b="1" i="0" u="none" strike="noStrike" kern="100" cap="none" spc="0" normalizeH="0" baseline="0" noProof="0" dirty="0" err="1">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sizeof</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1600" b="1" i="0" u="none" strike="noStrike" kern="1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char</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1" i="0" u="none" strike="noStrike" kern="1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return</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OVERFLOW;</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1" i="0" u="none" strike="noStrike" kern="1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if</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(!(cp = (Course*)</a:t>
            </a:r>
            <a:r>
              <a:rPr kumimoji="0" lang="en-US" altLang="zh-CN" sz="1600" b="1" i="0" u="none" strike="noStrike" kern="100" cap="none" spc="0" normalizeH="0" baseline="0" noProof="0" dirty="0" err="1">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calloc</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(1, </a:t>
            </a:r>
            <a:r>
              <a:rPr kumimoji="0" lang="en-US" altLang="zh-CN" sz="1600" b="1" i="0" u="none" strike="noStrike" kern="100" cap="none" spc="0" normalizeH="0" baseline="0" noProof="0" dirty="0" err="1">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sizeof</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(Course)))) </a:t>
            </a:r>
            <a:r>
              <a:rPr kumimoji="0" lang="en-US" altLang="zh-CN" sz="1600" b="1" i="0" u="none" strike="noStrike" kern="1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return</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OVERFLOW;</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altLang="zh-CN" sz="1600" b="1" i="0" u="none" strike="noStrike" kern="1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altLang="zh-CN" sz="1600" b="1" i="0" u="none" strike="noStrike" kern="1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int</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main() </a:t>
            </a:r>
            <a:r>
              <a:rPr kumimoji="0" lang="en-US" altLang="zh-CN" sz="1600" b="1" i="0" u="none" strike="noStrike" kern="1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a:t>
            </a:r>
            <a:b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pitchFamily="2" charset="-122"/>
                <a:cs typeface="Courier New" panose="02070309020205020404" pitchFamily="49" charset="0"/>
              </a:rPr>
            </a:b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pitchFamily="2" charset="-122"/>
                <a:cs typeface="Courier New" panose="02070309020205020404" pitchFamily="49" charset="0"/>
              </a:rPr>
              <a:t>  </a:t>
            </a:r>
            <a:r>
              <a:rPr kumimoji="0" lang="en-US" altLang="zh-CN" sz="1600" b="1" i="0" u="none" strike="noStrike" kern="1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char</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1"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letp</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p>
          <a:p>
            <a:pPr marL="0" marR="0" lvl="0" indent="0" algn="l" defTabSz="914400" rtl="0" eaLnBrk="1" fontAlgn="base" latinLnBrk="0" hangingPunct="1">
              <a:lnSpc>
                <a:spcPct val="110000"/>
              </a:lnSpc>
              <a:spcBef>
                <a:spcPct val="0"/>
              </a:spcBef>
              <a:spcAft>
                <a:spcPct val="0"/>
              </a:spcAft>
              <a:buClrTx/>
              <a:buSzTx/>
              <a:buFontTx/>
              <a:buNone/>
              <a:tabLst/>
              <a:defRPr/>
            </a:pP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Course *</a:t>
            </a:r>
            <a:r>
              <a:rPr kumimoji="0" lang="en-US" altLang="zh-CN" sz="1600" b="1"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crsp</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p>
          <a:p>
            <a:pPr marL="0" marR="0" lvl="0" indent="0" algn="l" defTabSz="914400" rtl="0" eaLnBrk="1" fontAlgn="base" latinLnBrk="0" hangingPunct="1">
              <a:lnSpc>
                <a:spcPct val="110000"/>
              </a:lnSpc>
              <a:spcBef>
                <a:spcPct val="0"/>
              </a:spcBef>
              <a:spcAft>
                <a:spcPct val="0"/>
              </a:spcAft>
              <a:buClrTx/>
              <a:buSzTx/>
              <a:buFontTx/>
              <a:buNone/>
              <a:tabLst/>
              <a:defRPr/>
            </a:pP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1" i="0" u="none" strike="noStrike" kern="1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if</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(!f(</a:t>
            </a:r>
            <a:r>
              <a:rPr kumimoji="0" lang="en-US" altLang="zh-CN" sz="1600" b="1"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letp</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1"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crsp</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1"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printf</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(“OVERFLOW\n”);</a:t>
            </a:r>
          </a:p>
          <a:p>
            <a:pPr marL="0" marR="0" lvl="0" indent="0" algn="l" defTabSz="914400" rtl="0" eaLnBrk="1" fontAlgn="base" latinLnBrk="0" hangingPunct="1">
              <a:lnSpc>
                <a:spcPct val="110000"/>
              </a:lnSpc>
              <a:spcBef>
                <a:spcPct val="0"/>
              </a:spcBef>
              <a:spcAft>
                <a:spcPct val="0"/>
              </a:spcAft>
              <a:buClrTx/>
              <a:buSzTx/>
              <a:buFontTx/>
              <a:buNone/>
              <a:tabLst/>
              <a:defRPr/>
            </a:pP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1" i="0" u="none" strike="noStrike" kern="1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else</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1" i="0" u="none" strike="noStrike" kern="1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a:t>
            </a:r>
          </a:p>
          <a:p>
            <a:pPr marL="0" marR="0" lvl="0" indent="0" algn="l" defTabSz="914400" rtl="0" eaLnBrk="1" fontAlgn="base" latinLnBrk="0" hangingPunct="1">
              <a:lnSpc>
                <a:spcPct val="110000"/>
              </a:lnSpc>
              <a:spcBef>
                <a:spcPct val="0"/>
              </a:spcBef>
              <a:spcAft>
                <a:spcPct val="0"/>
              </a:spcAft>
              <a:buClrTx/>
              <a:buSzTx/>
              <a:buFontTx/>
              <a:buNone/>
              <a:tabLst/>
              <a:defRPr/>
            </a:pP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1"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letp</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 ‘A’;</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1"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crsp</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-&gt;num = 203;</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1"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strcpy</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1600" b="1"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crsp</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-&gt;</a:t>
            </a:r>
            <a:r>
              <a:rPr kumimoji="0" lang="en-US" altLang="zh-CN" sz="1600" b="1"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name,"Data</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Structures");</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1" i="0" u="none" strike="noStrike" kern="1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altLang="zh-CN" sz="1600" b="1" i="0" u="none" strike="noStrike" kern="1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400" b="1" i="0" u="none" strike="noStrike" kern="100" cap="none" spc="0" normalizeH="0" baseline="0" noProof="0" dirty="0">
                <a:ln>
                  <a:noFill/>
                </a:ln>
                <a:solidFill>
                  <a:prstClr val="black"/>
                </a:solidFill>
                <a:effectLst>
                  <a:outerShdw blurRad="38100" dist="38100" dir="2700000" algn="tl">
                    <a:srgbClr val="000000">
                      <a:alpha val="43137"/>
                    </a:srgbClr>
                  </a:outerShdw>
                </a:effectLst>
                <a:uLnTx/>
                <a:uFillTx/>
                <a:latin typeface="等线" panose="02010600030101010101" pitchFamily="2" charset="-122"/>
                <a:ea typeface="等线" panose="02010600030101010101" pitchFamily="2" charset="-122"/>
                <a:cs typeface="Courier New" panose="02070309020205020404" pitchFamily="49" charset="0"/>
              </a:rPr>
              <a:t>…   </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等线" panose="02010600030101010101" pitchFamily="2" charset="-122"/>
                <a:cs typeface="Courier New" panose="02070309020205020404" pitchFamily="49" charset="0"/>
              </a:rPr>
              <a:t>free(</a:t>
            </a:r>
            <a:r>
              <a:rPr kumimoji="0" lang="en-US" altLang="zh-CN" sz="1600" b="1" i="0" u="none" strike="noStrike" kern="100" cap="none" spc="0" normalizeH="0" baseline="0" noProof="0" dirty="0" err="1">
                <a:ln>
                  <a:noFill/>
                </a:ln>
                <a:solidFill>
                  <a:prstClr val="black"/>
                </a:solidFill>
                <a:effectLst/>
                <a:uLnTx/>
                <a:uFillTx/>
                <a:latin typeface="Courier New" panose="02070309020205020404" pitchFamily="49" charset="0"/>
                <a:ea typeface="等线" panose="02010600030101010101" pitchFamily="2" charset="-122"/>
                <a:cs typeface="Courier New" panose="02070309020205020404" pitchFamily="49" charset="0"/>
              </a:rPr>
              <a:t>letp</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等线" panose="02010600030101010101" pitchFamily="2" charset="-122"/>
                <a:cs typeface="Courier New" panose="02070309020205020404" pitchFamily="49" charset="0"/>
              </a:rPr>
              <a:t>);   free(</a:t>
            </a:r>
            <a:r>
              <a:rPr kumimoji="0" lang="en-US" altLang="zh-CN" sz="1600" b="1" i="0" u="none" strike="noStrike" kern="100" cap="none" spc="0" normalizeH="0" baseline="0" noProof="0" dirty="0" err="1">
                <a:ln>
                  <a:noFill/>
                </a:ln>
                <a:solidFill>
                  <a:prstClr val="black"/>
                </a:solidFill>
                <a:effectLst/>
                <a:uLnTx/>
                <a:uFillTx/>
                <a:latin typeface="Courier New" panose="02070309020205020404" pitchFamily="49" charset="0"/>
                <a:ea typeface="等线" panose="02010600030101010101" pitchFamily="2" charset="-122"/>
                <a:cs typeface="Courier New" panose="02070309020205020404" pitchFamily="49" charset="0"/>
              </a:rPr>
              <a:t>nump</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等线" panose="02010600030101010101" pitchFamily="2" charset="-122"/>
                <a:cs typeface="Courier New" panose="02070309020205020404" pitchFamily="49" charset="0"/>
              </a:rPr>
              <a:t>);   </a:t>
            </a:r>
            <a:r>
              <a:rPr kumimoji="0" lang="en-US" altLang="zh-CN" sz="2400" b="1" i="0" u="none" strike="noStrike" kern="100" cap="none" spc="0" normalizeH="0" baseline="0" noProof="0" dirty="0">
                <a:ln>
                  <a:noFill/>
                </a:ln>
                <a:solidFill>
                  <a:prstClr val="black"/>
                </a:solidFill>
                <a:effectLst>
                  <a:outerShdw blurRad="38100" dist="38100" dir="2700000" algn="tl">
                    <a:srgbClr val="000000">
                      <a:alpha val="43137"/>
                    </a:srgbClr>
                  </a:outerShdw>
                </a:effectLst>
                <a:uLnTx/>
                <a:uFillTx/>
                <a:latin typeface="等线" panose="02010600030101010101" pitchFamily="2" charset="-122"/>
                <a:ea typeface="等线" panose="02010600030101010101" pitchFamily="2" charset="-122"/>
                <a:cs typeface="Courier New" panose="02070309020205020404" pitchFamily="49" charset="0"/>
              </a:rPr>
              <a:t>… </a:t>
            </a:r>
            <a:endParaRPr kumimoji="0" lang="en-US" altLang="zh-CN" sz="24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10000"/>
              </a:lnSpc>
              <a:spcBef>
                <a:spcPct val="0"/>
              </a:spcBef>
              <a:spcAft>
                <a:spcPct val="0"/>
              </a:spcAft>
              <a:buClrTx/>
              <a:buSzTx/>
              <a:buFontTx/>
              <a:buNone/>
              <a:tabLst/>
              <a:defRPr/>
            </a:pPr>
            <a:r>
              <a:rPr kumimoji="0" lang="en-US" altLang="zh-CN" sz="1600" b="1" i="0" u="none" strike="noStrike" kern="1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p>
        </p:txBody>
      </p:sp>
      <p:grpSp>
        <p:nvGrpSpPr>
          <p:cNvPr id="5" name="组合 4">
            <a:extLst>
              <a:ext uri="{FF2B5EF4-FFF2-40B4-BE49-F238E27FC236}">
                <a16:creationId xmlns:a16="http://schemas.microsoft.com/office/drawing/2014/main" id="{3FA9E72D-CF6C-4378-AB95-11332856D470}"/>
              </a:ext>
            </a:extLst>
          </p:cNvPr>
          <p:cNvGrpSpPr/>
          <p:nvPr/>
        </p:nvGrpSpPr>
        <p:grpSpPr>
          <a:xfrm>
            <a:off x="6257335" y="3176842"/>
            <a:ext cx="1431509" cy="2248973"/>
            <a:chOff x="6312513" y="3149753"/>
            <a:chExt cx="1431509" cy="2803307"/>
          </a:xfrm>
        </p:grpSpPr>
        <p:sp>
          <p:nvSpPr>
            <p:cNvPr id="6" name="矩形 5">
              <a:extLst>
                <a:ext uri="{FF2B5EF4-FFF2-40B4-BE49-F238E27FC236}">
                  <a16:creationId xmlns:a16="http://schemas.microsoft.com/office/drawing/2014/main" id="{C150E254-4870-4BFF-B065-15A003E3222D}"/>
                </a:ext>
              </a:extLst>
            </p:cNvPr>
            <p:cNvSpPr/>
            <p:nvPr/>
          </p:nvSpPr>
          <p:spPr>
            <a:xfrm>
              <a:off x="6312513" y="3567737"/>
              <a:ext cx="1431509" cy="2385323"/>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7" name="文本框 6">
              <a:extLst>
                <a:ext uri="{FF2B5EF4-FFF2-40B4-BE49-F238E27FC236}">
                  <a16:creationId xmlns:a16="http://schemas.microsoft.com/office/drawing/2014/main" id="{6129F072-72FE-4A79-BFCC-85FA952EECA8}"/>
                </a:ext>
              </a:extLst>
            </p:cNvPr>
            <p:cNvSpPr txBox="1"/>
            <p:nvPr/>
          </p:nvSpPr>
          <p:spPr>
            <a:xfrm>
              <a:off x="6820517" y="3149753"/>
              <a:ext cx="415498" cy="4603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C00000"/>
                  </a:solidFill>
                  <a:effectLst/>
                  <a:uLnTx/>
                  <a:uFillTx/>
                  <a:latin typeface="等线" panose="020F0502020204030204"/>
                  <a:ea typeface="等线" panose="02010600030101010101" pitchFamily="2" charset="-122"/>
                  <a:cs typeface="+mn-cs"/>
                </a:rPr>
                <a:t>栈</a:t>
              </a:r>
            </a:p>
          </p:txBody>
        </p:sp>
      </p:grpSp>
      <p:grpSp>
        <p:nvGrpSpPr>
          <p:cNvPr id="8" name="组合 7">
            <a:extLst>
              <a:ext uri="{FF2B5EF4-FFF2-40B4-BE49-F238E27FC236}">
                <a16:creationId xmlns:a16="http://schemas.microsoft.com/office/drawing/2014/main" id="{0D4E897E-7131-4968-8D5A-A22C60C6BABE}"/>
              </a:ext>
            </a:extLst>
          </p:cNvPr>
          <p:cNvGrpSpPr/>
          <p:nvPr/>
        </p:nvGrpSpPr>
        <p:grpSpPr>
          <a:xfrm>
            <a:off x="8280050" y="3151176"/>
            <a:ext cx="3380127" cy="3422340"/>
            <a:chOff x="8614279" y="2909092"/>
            <a:chExt cx="3380127" cy="3422340"/>
          </a:xfrm>
        </p:grpSpPr>
        <p:sp>
          <p:nvSpPr>
            <p:cNvPr id="9" name="矩形 8">
              <a:extLst>
                <a:ext uri="{FF2B5EF4-FFF2-40B4-BE49-F238E27FC236}">
                  <a16:creationId xmlns:a16="http://schemas.microsoft.com/office/drawing/2014/main" id="{540CBCC2-2BBA-4323-ACEF-9AF5CE55A997}"/>
                </a:ext>
              </a:extLst>
            </p:cNvPr>
            <p:cNvSpPr/>
            <p:nvPr/>
          </p:nvSpPr>
          <p:spPr>
            <a:xfrm>
              <a:off x="8614279" y="3272921"/>
              <a:ext cx="3380127" cy="3058511"/>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0" name="文本框 9">
              <a:extLst>
                <a:ext uri="{FF2B5EF4-FFF2-40B4-BE49-F238E27FC236}">
                  <a16:creationId xmlns:a16="http://schemas.microsoft.com/office/drawing/2014/main" id="{38D28EC5-D44A-42DA-B30E-4109C7550C8C}"/>
                </a:ext>
              </a:extLst>
            </p:cNvPr>
            <p:cNvSpPr txBox="1"/>
            <p:nvPr/>
          </p:nvSpPr>
          <p:spPr>
            <a:xfrm>
              <a:off x="10112358" y="2909092"/>
              <a:ext cx="41549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C00000"/>
                  </a:solidFill>
                  <a:effectLst/>
                  <a:uLnTx/>
                  <a:uFillTx/>
                  <a:latin typeface="等线" panose="020F0502020204030204"/>
                  <a:ea typeface="等线" panose="02010600030101010101" pitchFamily="2" charset="-122"/>
                  <a:cs typeface="+mn-cs"/>
                </a:rPr>
                <a:t>堆</a:t>
              </a:r>
            </a:p>
          </p:txBody>
        </p:sp>
      </p:grpSp>
      <p:grpSp>
        <p:nvGrpSpPr>
          <p:cNvPr id="14" name="组合 13">
            <a:extLst>
              <a:ext uri="{FF2B5EF4-FFF2-40B4-BE49-F238E27FC236}">
                <a16:creationId xmlns:a16="http://schemas.microsoft.com/office/drawing/2014/main" id="{8B9F0E7F-A81E-4954-8A3D-A885E8324D86}"/>
              </a:ext>
            </a:extLst>
          </p:cNvPr>
          <p:cNvGrpSpPr/>
          <p:nvPr/>
        </p:nvGrpSpPr>
        <p:grpSpPr>
          <a:xfrm>
            <a:off x="4879842" y="4485478"/>
            <a:ext cx="2711512" cy="788008"/>
            <a:chOff x="4926030" y="4252263"/>
            <a:chExt cx="2711512" cy="788008"/>
          </a:xfrm>
        </p:grpSpPr>
        <p:sp>
          <p:nvSpPr>
            <p:cNvPr id="15" name="矩形 14">
              <a:extLst>
                <a:ext uri="{FF2B5EF4-FFF2-40B4-BE49-F238E27FC236}">
                  <a16:creationId xmlns:a16="http://schemas.microsoft.com/office/drawing/2014/main" id="{D1787FF2-47B5-442E-91BD-6190C688B5AE}"/>
                </a:ext>
              </a:extLst>
            </p:cNvPr>
            <p:cNvSpPr/>
            <p:nvPr/>
          </p:nvSpPr>
          <p:spPr>
            <a:xfrm>
              <a:off x="7157544" y="4374724"/>
              <a:ext cx="390985" cy="227023"/>
            </a:xfrm>
            <a:prstGeom prst="rect">
              <a:avLst/>
            </a:prstGeom>
            <a:solidFill>
              <a:schemeClr val="accent5">
                <a:lumMod val="60000"/>
                <a:lumOff val="4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ourier New" panose="02070309020205020404" pitchFamily="49" charset="0"/>
                <a:ea typeface="等线" panose="02010600030101010101" pitchFamily="2" charset="-122"/>
                <a:cs typeface="Courier New" panose="02070309020205020404" pitchFamily="49" charset="0"/>
              </a:endParaRPr>
            </a:p>
          </p:txBody>
        </p:sp>
        <p:sp>
          <p:nvSpPr>
            <p:cNvPr id="16" name="矩形 15">
              <a:extLst>
                <a:ext uri="{FF2B5EF4-FFF2-40B4-BE49-F238E27FC236}">
                  <a16:creationId xmlns:a16="http://schemas.microsoft.com/office/drawing/2014/main" id="{4A1223FA-A68A-4C78-A941-B3848E37A2BA}"/>
                </a:ext>
              </a:extLst>
            </p:cNvPr>
            <p:cNvSpPr/>
            <p:nvPr/>
          </p:nvSpPr>
          <p:spPr>
            <a:xfrm>
              <a:off x="7157544" y="4717106"/>
              <a:ext cx="390985" cy="227023"/>
            </a:xfrm>
            <a:prstGeom prst="rect">
              <a:avLst/>
            </a:prstGeom>
            <a:solidFill>
              <a:schemeClr val="accent5">
                <a:lumMod val="60000"/>
                <a:lumOff val="4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7" name="文本框 16">
              <a:extLst>
                <a:ext uri="{FF2B5EF4-FFF2-40B4-BE49-F238E27FC236}">
                  <a16:creationId xmlns:a16="http://schemas.microsoft.com/office/drawing/2014/main" id="{71916D10-F2E5-431F-9B63-B23B3B3BF4E4}"/>
                </a:ext>
              </a:extLst>
            </p:cNvPr>
            <p:cNvSpPr txBox="1"/>
            <p:nvPr/>
          </p:nvSpPr>
          <p:spPr>
            <a:xfrm>
              <a:off x="6400799" y="4290095"/>
              <a:ext cx="73609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err="1">
                  <a:ln>
                    <a:noFill/>
                  </a:ln>
                  <a:solidFill>
                    <a:prstClr val="black"/>
                  </a:solidFill>
                  <a:effectLst/>
                  <a:uLnTx/>
                  <a:uFillTx/>
                  <a:latin typeface="Courier New" panose="02070309020205020404" pitchFamily="49" charset="0"/>
                  <a:ea typeface="等线" panose="02010600030101010101" pitchFamily="2" charset="-122"/>
                  <a:cs typeface="Courier New" panose="02070309020205020404" pitchFamily="49" charset="0"/>
                </a:rPr>
                <a:t>letp</a:t>
              </a:r>
              <a:endPar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pitchFamily="2" charset="-122"/>
                <a:cs typeface="Courier New" panose="02070309020205020404" pitchFamily="49" charset="0"/>
              </a:endParaRPr>
            </a:p>
          </p:txBody>
        </p:sp>
        <p:sp>
          <p:nvSpPr>
            <p:cNvPr id="18" name="文本框 17">
              <a:extLst>
                <a:ext uri="{FF2B5EF4-FFF2-40B4-BE49-F238E27FC236}">
                  <a16:creationId xmlns:a16="http://schemas.microsoft.com/office/drawing/2014/main" id="{E06A6BA6-B6AE-4ACA-8FE4-5D41D90A21A3}"/>
                </a:ext>
              </a:extLst>
            </p:cNvPr>
            <p:cNvSpPr txBox="1"/>
            <p:nvPr/>
          </p:nvSpPr>
          <p:spPr>
            <a:xfrm>
              <a:off x="6407104" y="4613181"/>
              <a:ext cx="73609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err="1">
                  <a:ln>
                    <a:noFill/>
                  </a:ln>
                  <a:solidFill>
                    <a:prstClr val="black"/>
                  </a:solidFill>
                  <a:effectLst/>
                  <a:uLnTx/>
                  <a:uFillTx/>
                  <a:latin typeface="Courier New" panose="02070309020205020404" pitchFamily="49" charset="0"/>
                  <a:ea typeface="等线" panose="02010600030101010101" pitchFamily="2" charset="-122"/>
                  <a:cs typeface="Courier New" panose="02070309020205020404" pitchFamily="49" charset="0"/>
                </a:rPr>
                <a:t>crsp</a:t>
              </a:r>
              <a:endPar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pitchFamily="2" charset="-122"/>
                <a:cs typeface="Courier New" panose="02070309020205020404" pitchFamily="49" charset="0"/>
              </a:endParaRPr>
            </a:p>
          </p:txBody>
        </p:sp>
        <p:grpSp>
          <p:nvGrpSpPr>
            <p:cNvPr id="21" name="组合 20">
              <a:extLst>
                <a:ext uri="{FF2B5EF4-FFF2-40B4-BE49-F238E27FC236}">
                  <a16:creationId xmlns:a16="http://schemas.microsoft.com/office/drawing/2014/main" id="{CA3F3800-1490-457C-A82C-4D6B961087C9}"/>
                </a:ext>
              </a:extLst>
            </p:cNvPr>
            <p:cNvGrpSpPr/>
            <p:nvPr/>
          </p:nvGrpSpPr>
          <p:grpSpPr>
            <a:xfrm>
              <a:off x="4926030" y="4252263"/>
              <a:ext cx="2711512" cy="788008"/>
              <a:chOff x="4926030" y="4252263"/>
              <a:chExt cx="2711512" cy="788008"/>
            </a:xfrm>
          </p:grpSpPr>
          <p:sp>
            <p:nvSpPr>
              <p:cNvPr id="22" name="文本框 21">
                <a:extLst>
                  <a:ext uri="{FF2B5EF4-FFF2-40B4-BE49-F238E27FC236}">
                    <a16:creationId xmlns:a16="http://schemas.microsoft.com/office/drawing/2014/main" id="{C2E6DA24-C046-4558-9DE5-818622A57962}"/>
                  </a:ext>
                </a:extLst>
              </p:cNvPr>
              <p:cNvSpPr txBox="1"/>
              <p:nvPr/>
            </p:nvSpPr>
            <p:spPr>
              <a:xfrm>
                <a:off x="4926030" y="4393940"/>
                <a:ext cx="1197764"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C00000"/>
                    </a:solidFill>
                    <a:effectLst/>
                    <a:uLnTx/>
                    <a:uFillTx/>
                    <a:latin typeface="Courier New" panose="02070309020205020404" pitchFamily="49" charset="0"/>
                    <a:ea typeface="等线" panose="02010600030101010101" pitchFamily="2" charset="-122"/>
                    <a:cs typeface="Courier New" panose="02070309020205020404" pitchFamily="49" charset="0"/>
                  </a:rPr>
                  <a:t>main</a:t>
                </a:r>
                <a:r>
                  <a:rPr kumimoji="0" lang="zh-CN" altLang="en-US" sz="1800" b="0" i="0" u="none" strike="noStrike" kern="1200" cap="none" spc="0" normalizeH="0" baseline="0" noProof="0" dirty="0">
                    <a:ln>
                      <a:noFill/>
                    </a:ln>
                    <a:solidFill>
                      <a:srgbClr val="FF0000"/>
                    </a:solidFill>
                    <a:effectLst/>
                    <a:uLnTx/>
                    <a:uFillTx/>
                    <a:latin typeface="等线" panose="020F0502020204030204"/>
                    <a:ea typeface="等线" panose="02010600030101010101" pitchFamily="2" charset="-122"/>
                    <a:cs typeface="+mn-cs"/>
                  </a:rPr>
                  <a:t>函数</a:t>
                </a:r>
                <a:endParaRPr kumimoji="0" lang="en-US" altLang="zh-CN" sz="1800" b="0" i="0" u="none" strike="noStrike" kern="1200" cap="none" spc="0" normalizeH="0" baseline="0" noProof="0" dirty="0">
                  <a:ln>
                    <a:noFill/>
                  </a:ln>
                  <a:solidFill>
                    <a:srgbClr val="FF0000"/>
                  </a:solidFill>
                  <a:effectLst/>
                  <a:uLnTx/>
                  <a:uFillTx/>
                  <a:latin typeface="等线" panose="020F0502020204030204"/>
                  <a:ea typeface="等线"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FF0000"/>
                    </a:solidFill>
                    <a:effectLst/>
                    <a:uLnTx/>
                    <a:uFillTx/>
                    <a:latin typeface="等线" panose="020F0502020204030204"/>
                    <a:ea typeface="等线" panose="02010600030101010101" pitchFamily="2" charset="-122"/>
                    <a:cs typeface="+mn-cs"/>
                  </a:rPr>
                  <a:t>内存块</a:t>
                </a:r>
              </a:p>
            </p:txBody>
          </p:sp>
          <p:sp>
            <p:nvSpPr>
              <p:cNvPr id="23" name="矩形 22">
                <a:extLst>
                  <a:ext uri="{FF2B5EF4-FFF2-40B4-BE49-F238E27FC236}">
                    <a16:creationId xmlns:a16="http://schemas.microsoft.com/office/drawing/2014/main" id="{1B0265BA-EB54-456F-B50D-E018FF624EE7}"/>
                  </a:ext>
                </a:extLst>
              </p:cNvPr>
              <p:cNvSpPr/>
              <p:nvPr/>
            </p:nvSpPr>
            <p:spPr>
              <a:xfrm>
                <a:off x="6407104" y="4252263"/>
                <a:ext cx="1230438" cy="788008"/>
              </a:xfrm>
              <a:prstGeom prst="rect">
                <a:avLst/>
              </a:prstGeom>
              <a:noFill/>
              <a:ln w="19050">
                <a:solidFill>
                  <a:srgbClr val="7030A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cxnSp>
            <p:nvCxnSpPr>
              <p:cNvPr id="24" name="直接连接符 23">
                <a:extLst>
                  <a:ext uri="{FF2B5EF4-FFF2-40B4-BE49-F238E27FC236}">
                    <a16:creationId xmlns:a16="http://schemas.microsoft.com/office/drawing/2014/main" id="{15EE78A9-4BB2-4071-9F7A-81B8A7AAA83D}"/>
                  </a:ext>
                </a:extLst>
              </p:cNvPr>
              <p:cNvCxnSpPr>
                <a:cxnSpLocks/>
                <a:endCxn id="23" idx="1"/>
              </p:cNvCxnSpPr>
              <p:nvPr/>
            </p:nvCxnSpPr>
            <p:spPr>
              <a:xfrm flipV="1">
                <a:off x="5943563" y="4646267"/>
                <a:ext cx="463541" cy="96826"/>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grpSp>
      <p:grpSp>
        <p:nvGrpSpPr>
          <p:cNvPr id="62" name="组合 61">
            <a:extLst>
              <a:ext uri="{FF2B5EF4-FFF2-40B4-BE49-F238E27FC236}">
                <a16:creationId xmlns:a16="http://schemas.microsoft.com/office/drawing/2014/main" id="{A2729F9C-3000-454B-8A9A-1DC959AA57A9}"/>
              </a:ext>
            </a:extLst>
          </p:cNvPr>
          <p:cNvGrpSpPr/>
          <p:nvPr/>
        </p:nvGrpSpPr>
        <p:grpSpPr>
          <a:xfrm>
            <a:off x="6256120" y="5425815"/>
            <a:ext cx="1431509" cy="1195775"/>
            <a:chOff x="6256120" y="5381673"/>
            <a:chExt cx="1431509" cy="1195775"/>
          </a:xfrm>
        </p:grpSpPr>
        <p:grpSp>
          <p:nvGrpSpPr>
            <p:cNvPr id="11" name="组合 10">
              <a:extLst>
                <a:ext uri="{FF2B5EF4-FFF2-40B4-BE49-F238E27FC236}">
                  <a16:creationId xmlns:a16="http://schemas.microsoft.com/office/drawing/2014/main" id="{FF504A71-C273-45D9-9BA6-324C45CB38AC}"/>
                </a:ext>
              </a:extLst>
            </p:cNvPr>
            <p:cNvGrpSpPr/>
            <p:nvPr/>
          </p:nvGrpSpPr>
          <p:grpSpPr>
            <a:xfrm>
              <a:off x="6256120" y="5381673"/>
              <a:ext cx="1431509" cy="1195775"/>
              <a:chOff x="6312513" y="3567737"/>
              <a:chExt cx="2161631" cy="1367442"/>
            </a:xfrm>
          </p:grpSpPr>
          <p:sp>
            <p:nvSpPr>
              <p:cNvPr id="12" name="矩形 11">
                <a:extLst>
                  <a:ext uri="{FF2B5EF4-FFF2-40B4-BE49-F238E27FC236}">
                    <a16:creationId xmlns:a16="http://schemas.microsoft.com/office/drawing/2014/main" id="{3BA9C87A-9006-42D9-A402-B09F61879448}"/>
                  </a:ext>
                </a:extLst>
              </p:cNvPr>
              <p:cNvSpPr/>
              <p:nvPr/>
            </p:nvSpPr>
            <p:spPr>
              <a:xfrm>
                <a:off x="6312513" y="3567737"/>
                <a:ext cx="2161631" cy="989721"/>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13" name="文本框 12">
                <a:extLst>
                  <a:ext uri="{FF2B5EF4-FFF2-40B4-BE49-F238E27FC236}">
                    <a16:creationId xmlns:a16="http://schemas.microsoft.com/office/drawing/2014/main" id="{8F914692-5E66-40C0-AA56-6606B73E24F3}"/>
                  </a:ext>
                </a:extLst>
              </p:cNvPr>
              <p:cNvSpPr txBox="1"/>
              <p:nvPr/>
            </p:nvSpPr>
            <p:spPr>
              <a:xfrm>
                <a:off x="6361357" y="4512825"/>
                <a:ext cx="2063939" cy="422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C00000"/>
                    </a:solidFill>
                    <a:effectLst/>
                    <a:uLnTx/>
                    <a:uFillTx/>
                    <a:latin typeface="等线" panose="020F0502020204030204"/>
                    <a:ea typeface="等线" panose="02010600030101010101" pitchFamily="2" charset="-122"/>
                    <a:cs typeface="+mn-cs"/>
                  </a:rPr>
                  <a:t>全局变量区</a:t>
                </a:r>
              </a:p>
            </p:txBody>
          </p:sp>
        </p:grpSp>
        <p:grpSp>
          <p:nvGrpSpPr>
            <p:cNvPr id="36" name="组合 35">
              <a:extLst>
                <a:ext uri="{FF2B5EF4-FFF2-40B4-BE49-F238E27FC236}">
                  <a16:creationId xmlns:a16="http://schemas.microsoft.com/office/drawing/2014/main" id="{5FC86267-8838-4029-B9C6-5877B0A6DCD6}"/>
                </a:ext>
              </a:extLst>
            </p:cNvPr>
            <p:cNvGrpSpPr/>
            <p:nvPr/>
          </p:nvGrpSpPr>
          <p:grpSpPr>
            <a:xfrm>
              <a:off x="6350351" y="5704759"/>
              <a:ext cx="1141426" cy="369332"/>
              <a:chOff x="9147415" y="1179132"/>
              <a:chExt cx="1141426" cy="369332"/>
            </a:xfrm>
          </p:grpSpPr>
          <p:sp>
            <p:nvSpPr>
              <p:cNvPr id="30" name="矩形 29">
                <a:extLst>
                  <a:ext uri="{FF2B5EF4-FFF2-40B4-BE49-F238E27FC236}">
                    <a16:creationId xmlns:a16="http://schemas.microsoft.com/office/drawing/2014/main" id="{1C838D00-4F45-4970-AACF-849E780D479C}"/>
                  </a:ext>
                </a:extLst>
              </p:cNvPr>
              <p:cNvSpPr/>
              <p:nvPr/>
            </p:nvSpPr>
            <p:spPr>
              <a:xfrm>
                <a:off x="9897856" y="1255987"/>
                <a:ext cx="390985" cy="227023"/>
              </a:xfrm>
              <a:prstGeom prst="rect">
                <a:avLst/>
              </a:prstGeom>
              <a:solidFill>
                <a:schemeClr val="accent3">
                  <a:lumMod val="20000"/>
                  <a:lumOff val="8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ourier New" panose="02070309020205020404" pitchFamily="49" charset="0"/>
                  <a:ea typeface="等线" panose="02010600030101010101" pitchFamily="2" charset="-122"/>
                  <a:cs typeface="Courier New" panose="02070309020205020404" pitchFamily="49" charset="0"/>
                </a:endParaRPr>
              </a:p>
            </p:txBody>
          </p:sp>
          <p:sp>
            <p:nvSpPr>
              <p:cNvPr id="31" name="文本框 30">
                <a:extLst>
                  <a:ext uri="{FF2B5EF4-FFF2-40B4-BE49-F238E27FC236}">
                    <a16:creationId xmlns:a16="http://schemas.microsoft.com/office/drawing/2014/main" id="{344CA254-24A4-46D3-A1FF-186F1957E799}"/>
                  </a:ext>
                </a:extLst>
              </p:cNvPr>
              <p:cNvSpPr txBox="1"/>
              <p:nvPr/>
            </p:nvSpPr>
            <p:spPr>
              <a:xfrm>
                <a:off x="9147415" y="1179132"/>
                <a:ext cx="73609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err="1">
                    <a:ln>
                      <a:noFill/>
                    </a:ln>
                    <a:solidFill>
                      <a:prstClr val="black"/>
                    </a:solidFill>
                    <a:effectLst/>
                    <a:uLnTx/>
                    <a:uFillTx/>
                    <a:latin typeface="Courier New" panose="02070309020205020404" pitchFamily="49" charset="0"/>
                    <a:ea typeface="等线" panose="02010600030101010101" pitchFamily="2" charset="-122"/>
                    <a:cs typeface="Courier New" panose="02070309020205020404" pitchFamily="49" charset="0"/>
                  </a:rPr>
                  <a:t>nump</a:t>
                </a:r>
                <a:endPar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pitchFamily="2" charset="-122"/>
                  <a:cs typeface="Courier New" panose="02070309020205020404" pitchFamily="49" charset="0"/>
                </a:endParaRPr>
              </a:p>
            </p:txBody>
          </p:sp>
        </p:grpSp>
      </p:grpSp>
      <p:sp>
        <p:nvSpPr>
          <p:cNvPr id="38" name="矩形 37">
            <a:extLst>
              <a:ext uri="{FF2B5EF4-FFF2-40B4-BE49-F238E27FC236}">
                <a16:creationId xmlns:a16="http://schemas.microsoft.com/office/drawing/2014/main" id="{BA776CA3-3AC5-4556-9790-EBBD2E9B530A}"/>
              </a:ext>
            </a:extLst>
          </p:cNvPr>
          <p:cNvSpPr/>
          <p:nvPr/>
        </p:nvSpPr>
        <p:spPr>
          <a:xfrm>
            <a:off x="9074632" y="3921280"/>
            <a:ext cx="592783" cy="278654"/>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39" name="矩形 38">
            <a:extLst>
              <a:ext uri="{FF2B5EF4-FFF2-40B4-BE49-F238E27FC236}">
                <a16:creationId xmlns:a16="http://schemas.microsoft.com/office/drawing/2014/main" id="{98B12467-48C0-47F3-A429-124A172D19CB}"/>
              </a:ext>
            </a:extLst>
          </p:cNvPr>
          <p:cNvSpPr/>
          <p:nvPr/>
        </p:nvSpPr>
        <p:spPr>
          <a:xfrm>
            <a:off x="8819587" y="3583124"/>
            <a:ext cx="302698" cy="278654"/>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cxnSp>
        <p:nvCxnSpPr>
          <p:cNvPr id="40" name="直接箭头连接符 39">
            <a:extLst>
              <a:ext uri="{FF2B5EF4-FFF2-40B4-BE49-F238E27FC236}">
                <a16:creationId xmlns:a16="http://schemas.microsoft.com/office/drawing/2014/main" id="{98FB9AF7-6537-4725-A637-27A0245CA057}"/>
              </a:ext>
            </a:extLst>
          </p:cNvPr>
          <p:cNvCxnSpPr>
            <a:cxnSpLocks/>
            <a:endCxn id="38" idx="1"/>
          </p:cNvCxnSpPr>
          <p:nvPr/>
        </p:nvCxnSpPr>
        <p:spPr>
          <a:xfrm flipV="1">
            <a:off x="7296285" y="4060607"/>
            <a:ext cx="1778347" cy="1878658"/>
          </a:xfrm>
          <a:prstGeom prst="straightConnector1">
            <a:avLst/>
          </a:prstGeom>
          <a:ln w="19050">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41" name="直接箭头连接符 40">
            <a:extLst>
              <a:ext uri="{FF2B5EF4-FFF2-40B4-BE49-F238E27FC236}">
                <a16:creationId xmlns:a16="http://schemas.microsoft.com/office/drawing/2014/main" id="{0A3881C0-5D54-4916-9650-CE3FC38CA86B}"/>
              </a:ext>
            </a:extLst>
          </p:cNvPr>
          <p:cNvCxnSpPr>
            <a:cxnSpLocks/>
          </p:cNvCxnSpPr>
          <p:nvPr/>
        </p:nvCxnSpPr>
        <p:spPr>
          <a:xfrm flipV="1">
            <a:off x="7305691" y="3705385"/>
            <a:ext cx="1507234" cy="1017895"/>
          </a:xfrm>
          <a:prstGeom prst="straightConnector1">
            <a:avLst/>
          </a:prstGeom>
          <a:ln w="19050">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42" name="直接箭头连接符 41">
            <a:extLst>
              <a:ext uri="{FF2B5EF4-FFF2-40B4-BE49-F238E27FC236}">
                <a16:creationId xmlns:a16="http://schemas.microsoft.com/office/drawing/2014/main" id="{C03D6563-B70B-4A1B-890E-C139A1780DE7}"/>
              </a:ext>
            </a:extLst>
          </p:cNvPr>
          <p:cNvCxnSpPr>
            <a:cxnSpLocks/>
            <a:endCxn id="44" idx="1"/>
          </p:cNvCxnSpPr>
          <p:nvPr/>
        </p:nvCxnSpPr>
        <p:spPr>
          <a:xfrm>
            <a:off x="7306849" y="5070142"/>
            <a:ext cx="1099461" cy="56072"/>
          </a:xfrm>
          <a:prstGeom prst="straightConnector1">
            <a:avLst/>
          </a:prstGeom>
          <a:ln w="19050">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43" name="组合 42">
            <a:extLst>
              <a:ext uri="{FF2B5EF4-FFF2-40B4-BE49-F238E27FC236}">
                <a16:creationId xmlns:a16="http://schemas.microsoft.com/office/drawing/2014/main" id="{96855B3F-294F-487D-8863-BD60F1F361CD}"/>
              </a:ext>
            </a:extLst>
          </p:cNvPr>
          <p:cNvGrpSpPr/>
          <p:nvPr/>
        </p:nvGrpSpPr>
        <p:grpSpPr>
          <a:xfrm>
            <a:off x="8406310" y="4986887"/>
            <a:ext cx="3127606" cy="278654"/>
            <a:chOff x="8753016" y="4747195"/>
            <a:chExt cx="3127606" cy="278654"/>
          </a:xfrm>
        </p:grpSpPr>
        <p:sp>
          <p:nvSpPr>
            <p:cNvPr id="44" name="矩形 43">
              <a:extLst>
                <a:ext uri="{FF2B5EF4-FFF2-40B4-BE49-F238E27FC236}">
                  <a16:creationId xmlns:a16="http://schemas.microsoft.com/office/drawing/2014/main" id="{CA89DF3F-55FE-415B-88C6-88B32DAC8558}"/>
                </a:ext>
              </a:extLst>
            </p:cNvPr>
            <p:cNvSpPr/>
            <p:nvPr/>
          </p:nvSpPr>
          <p:spPr>
            <a:xfrm>
              <a:off x="8753016" y="4747195"/>
              <a:ext cx="592784" cy="278654"/>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45" name="矩形 44">
              <a:extLst>
                <a:ext uri="{FF2B5EF4-FFF2-40B4-BE49-F238E27FC236}">
                  <a16:creationId xmlns:a16="http://schemas.microsoft.com/office/drawing/2014/main" id="{3343ABE7-9B10-4A30-8A2E-6DFA1B7E35EE}"/>
                </a:ext>
              </a:extLst>
            </p:cNvPr>
            <p:cNvSpPr/>
            <p:nvPr/>
          </p:nvSpPr>
          <p:spPr>
            <a:xfrm>
              <a:off x="9346524" y="4747195"/>
              <a:ext cx="2534098" cy="278654"/>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grpSp>
      <p:cxnSp>
        <p:nvCxnSpPr>
          <p:cNvPr id="52" name="直接连接符 51">
            <a:extLst>
              <a:ext uri="{FF2B5EF4-FFF2-40B4-BE49-F238E27FC236}">
                <a16:creationId xmlns:a16="http://schemas.microsoft.com/office/drawing/2014/main" id="{52CCB56D-4200-4051-B221-FED685CED826}"/>
              </a:ext>
            </a:extLst>
          </p:cNvPr>
          <p:cNvCxnSpPr>
            <a:cxnSpLocks/>
          </p:cNvCxnSpPr>
          <p:nvPr/>
        </p:nvCxnSpPr>
        <p:spPr>
          <a:xfrm>
            <a:off x="1095285" y="4555592"/>
            <a:ext cx="1563939"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BE4B63C3-1E39-44E4-81EC-F4FC0C7D093C}"/>
              </a:ext>
            </a:extLst>
          </p:cNvPr>
          <p:cNvCxnSpPr>
            <a:cxnSpLocks/>
          </p:cNvCxnSpPr>
          <p:nvPr/>
        </p:nvCxnSpPr>
        <p:spPr>
          <a:xfrm flipV="1">
            <a:off x="1739383" y="2251316"/>
            <a:ext cx="770487" cy="2144554"/>
          </a:xfrm>
          <a:prstGeom prst="line">
            <a:avLst/>
          </a:prstGeom>
          <a:ln w="1905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80EF1654-E0EF-4082-A5C2-25CCD873C8A7}"/>
              </a:ext>
            </a:extLst>
          </p:cNvPr>
          <p:cNvCxnSpPr>
            <a:cxnSpLocks/>
            <a:stCxn id="82" idx="0"/>
          </p:cNvCxnSpPr>
          <p:nvPr/>
        </p:nvCxnSpPr>
        <p:spPr>
          <a:xfrm flipV="1">
            <a:off x="2346862" y="2181196"/>
            <a:ext cx="1636159" cy="2115702"/>
          </a:xfrm>
          <a:prstGeom prst="line">
            <a:avLst/>
          </a:prstGeom>
          <a:ln w="19050">
            <a:solidFill>
              <a:srgbClr val="92D050"/>
            </a:solidFill>
          </a:ln>
        </p:spPr>
        <p:style>
          <a:lnRef idx="1">
            <a:schemeClr val="accent1"/>
          </a:lnRef>
          <a:fillRef idx="0">
            <a:schemeClr val="accent1"/>
          </a:fillRef>
          <a:effectRef idx="0">
            <a:schemeClr val="accent1"/>
          </a:effectRef>
          <a:fontRef idx="minor">
            <a:schemeClr val="tx1"/>
          </a:fontRef>
        </p:style>
      </p:cxnSp>
      <p:sp>
        <p:nvSpPr>
          <p:cNvPr id="59" name="文本框 58">
            <a:extLst>
              <a:ext uri="{FF2B5EF4-FFF2-40B4-BE49-F238E27FC236}">
                <a16:creationId xmlns:a16="http://schemas.microsoft.com/office/drawing/2014/main" id="{B90D08BC-29BA-4E41-A215-172F25A33E41}"/>
              </a:ext>
            </a:extLst>
          </p:cNvPr>
          <p:cNvSpPr txBox="1"/>
          <p:nvPr/>
        </p:nvSpPr>
        <p:spPr>
          <a:xfrm>
            <a:off x="2181152" y="3324703"/>
            <a:ext cx="87716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B050"/>
                </a:solidFill>
                <a:effectLst/>
                <a:uLnTx/>
                <a:uFillTx/>
                <a:latin typeface="等线" panose="020F0502020204030204"/>
                <a:ea typeface="等线" panose="02010600030101010101" pitchFamily="2" charset="-122"/>
                <a:cs typeface="+mn-cs"/>
              </a:rPr>
              <a:t>传地址</a:t>
            </a:r>
          </a:p>
        </p:txBody>
      </p:sp>
      <p:cxnSp>
        <p:nvCxnSpPr>
          <p:cNvPr id="60" name="直接连接符 59">
            <a:extLst>
              <a:ext uri="{FF2B5EF4-FFF2-40B4-BE49-F238E27FC236}">
                <a16:creationId xmlns:a16="http://schemas.microsoft.com/office/drawing/2014/main" id="{3646837E-8BEB-4C4D-BC3F-ED6C44AF2DC9}"/>
              </a:ext>
            </a:extLst>
          </p:cNvPr>
          <p:cNvCxnSpPr>
            <a:cxnSpLocks/>
          </p:cNvCxnSpPr>
          <p:nvPr/>
        </p:nvCxnSpPr>
        <p:spPr>
          <a:xfrm>
            <a:off x="1215365" y="2389319"/>
            <a:ext cx="4230414"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65" name="组合 64">
            <a:extLst>
              <a:ext uri="{FF2B5EF4-FFF2-40B4-BE49-F238E27FC236}">
                <a16:creationId xmlns:a16="http://schemas.microsoft.com/office/drawing/2014/main" id="{1185D81D-78ED-4071-9FDC-9AA22E4DF07E}"/>
              </a:ext>
            </a:extLst>
          </p:cNvPr>
          <p:cNvGrpSpPr/>
          <p:nvPr/>
        </p:nvGrpSpPr>
        <p:grpSpPr>
          <a:xfrm>
            <a:off x="5113835" y="3333415"/>
            <a:ext cx="2477519" cy="1004487"/>
            <a:chOff x="5160023" y="4014104"/>
            <a:chExt cx="2477519" cy="1004487"/>
          </a:xfrm>
        </p:grpSpPr>
        <p:sp>
          <p:nvSpPr>
            <p:cNvPr id="66" name="矩形 65">
              <a:extLst>
                <a:ext uri="{FF2B5EF4-FFF2-40B4-BE49-F238E27FC236}">
                  <a16:creationId xmlns:a16="http://schemas.microsoft.com/office/drawing/2014/main" id="{19CC6111-AFE9-4384-A592-5D46AC22E32C}"/>
                </a:ext>
              </a:extLst>
            </p:cNvPr>
            <p:cNvSpPr/>
            <p:nvPr/>
          </p:nvSpPr>
          <p:spPr>
            <a:xfrm>
              <a:off x="6891498" y="4374724"/>
              <a:ext cx="657031" cy="258385"/>
            </a:xfrm>
            <a:prstGeom prst="rect">
              <a:avLst/>
            </a:prstGeom>
            <a:solidFill>
              <a:schemeClr val="accent5">
                <a:lumMod val="60000"/>
                <a:lumOff val="4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ourier New" panose="02070309020205020404" pitchFamily="49" charset="0"/>
                <a:ea typeface="等线" panose="02010600030101010101" pitchFamily="2" charset="-122"/>
                <a:cs typeface="Courier New" panose="02070309020205020404" pitchFamily="49" charset="0"/>
              </a:endParaRPr>
            </a:p>
          </p:txBody>
        </p:sp>
        <p:sp>
          <p:nvSpPr>
            <p:cNvPr id="67" name="矩形 66">
              <a:extLst>
                <a:ext uri="{FF2B5EF4-FFF2-40B4-BE49-F238E27FC236}">
                  <a16:creationId xmlns:a16="http://schemas.microsoft.com/office/drawing/2014/main" id="{D19CE068-0E84-4113-9340-E742D8F4E9DF}"/>
                </a:ext>
              </a:extLst>
            </p:cNvPr>
            <p:cNvSpPr/>
            <p:nvPr/>
          </p:nvSpPr>
          <p:spPr>
            <a:xfrm>
              <a:off x="6891498" y="4685744"/>
              <a:ext cx="657032" cy="258385"/>
            </a:xfrm>
            <a:prstGeom prst="rect">
              <a:avLst/>
            </a:prstGeom>
            <a:solidFill>
              <a:schemeClr val="accent5">
                <a:lumMod val="60000"/>
                <a:lumOff val="4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68" name="文本框 67">
              <a:extLst>
                <a:ext uri="{FF2B5EF4-FFF2-40B4-BE49-F238E27FC236}">
                  <a16:creationId xmlns:a16="http://schemas.microsoft.com/office/drawing/2014/main" id="{221F387B-C385-4445-AE3B-C32BDEA2B081}"/>
                </a:ext>
              </a:extLst>
            </p:cNvPr>
            <p:cNvSpPr txBox="1"/>
            <p:nvPr/>
          </p:nvSpPr>
          <p:spPr>
            <a:xfrm>
              <a:off x="6400799" y="4290095"/>
              <a:ext cx="46038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err="1">
                  <a:ln>
                    <a:noFill/>
                  </a:ln>
                  <a:solidFill>
                    <a:prstClr val="black"/>
                  </a:solidFill>
                  <a:effectLst/>
                  <a:uLnTx/>
                  <a:uFillTx/>
                  <a:latin typeface="Courier New" panose="02070309020205020404" pitchFamily="49" charset="0"/>
                  <a:ea typeface="等线" panose="02010600030101010101" pitchFamily="2" charset="-122"/>
                  <a:cs typeface="Courier New" panose="02070309020205020404" pitchFamily="49" charset="0"/>
                </a:rPr>
                <a:t>lp</a:t>
              </a:r>
              <a:endPar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pitchFamily="2" charset="-122"/>
                <a:cs typeface="Courier New" panose="02070309020205020404" pitchFamily="49" charset="0"/>
              </a:endParaRPr>
            </a:p>
          </p:txBody>
        </p:sp>
        <p:sp>
          <p:nvSpPr>
            <p:cNvPr id="69" name="文本框 68">
              <a:extLst>
                <a:ext uri="{FF2B5EF4-FFF2-40B4-BE49-F238E27FC236}">
                  <a16:creationId xmlns:a16="http://schemas.microsoft.com/office/drawing/2014/main" id="{92763A28-B5E6-4D51-A8B6-87CCA211C778}"/>
                </a:ext>
              </a:extLst>
            </p:cNvPr>
            <p:cNvSpPr txBox="1"/>
            <p:nvPr/>
          </p:nvSpPr>
          <p:spPr>
            <a:xfrm>
              <a:off x="6407104" y="4613181"/>
              <a:ext cx="46038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pitchFamily="2" charset="-122"/>
                  <a:cs typeface="Courier New" panose="02070309020205020404" pitchFamily="49" charset="0"/>
                </a:rPr>
                <a:t>cp</a:t>
              </a:r>
              <a:endPar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pitchFamily="2" charset="-122"/>
                <a:cs typeface="Courier New" panose="02070309020205020404" pitchFamily="49" charset="0"/>
              </a:endParaRPr>
            </a:p>
          </p:txBody>
        </p:sp>
        <p:grpSp>
          <p:nvGrpSpPr>
            <p:cNvPr id="70" name="组合 69">
              <a:extLst>
                <a:ext uri="{FF2B5EF4-FFF2-40B4-BE49-F238E27FC236}">
                  <a16:creationId xmlns:a16="http://schemas.microsoft.com/office/drawing/2014/main" id="{FC82DC5D-9424-413D-8AFA-E6E3B3F55812}"/>
                </a:ext>
              </a:extLst>
            </p:cNvPr>
            <p:cNvGrpSpPr/>
            <p:nvPr/>
          </p:nvGrpSpPr>
          <p:grpSpPr>
            <a:xfrm>
              <a:off x="5160023" y="4014104"/>
              <a:ext cx="2477519" cy="1004487"/>
              <a:chOff x="5160023" y="4014104"/>
              <a:chExt cx="2477519" cy="1004487"/>
            </a:xfrm>
          </p:grpSpPr>
          <p:sp>
            <p:nvSpPr>
              <p:cNvPr id="71" name="文本框 70">
                <a:extLst>
                  <a:ext uri="{FF2B5EF4-FFF2-40B4-BE49-F238E27FC236}">
                    <a16:creationId xmlns:a16="http://schemas.microsoft.com/office/drawing/2014/main" id="{B4321AAB-EFBD-4860-80F6-307A554822D3}"/>
                  </a:ext>
                </a:extLst>
              </p:cNvPr>
              <p:cNvSpPr txBox="1"/>
              <p:nvPr/>
            </p:nvSpPr>
            <p:spPr>
              <a:xfrm>
                <a:off x="5160023" y="4014104"/>
                <a:ext cx="877163"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C00000"/>
                    </a:solidFill>
                    <a:effectLst/>
                    <a:uLnTx/>
                    <a:uFillTx/>
                    <a:latin typeface="Courier New" panose="02070309020205020404" pitchFamily="49" charset="0"/>
                    <a:ea typeface="等线" panose="02010600030101010101" pitchFamily="2" charset="-122"/>
                    <a:cs typeface="Courier New" panose="02070309020205020404" pitchFamily="49" charset="0"/>
                  </a:rPr>
                  <a:t>f</a:t>
                </a:r>
                <a:r>
                  <a:rPr kumimoji="0" lang="zh-CN" altLang="en-US" sz="1800" b="0" i="0" u="none" strike="noStrike" kern="1200" cap="none" spc="0" normalizeH="0" baseline="0" noProof="0" dirty="0">
                    <a:ln>
                      <a:noFill/>
                    </a:ln>
                    <a:solidFill>
                      <a:srgbClr val="FF0000"/>
                    </a:solidFill>
                    <a:effectLst/>
                    <a:uLnTx/>
                    <a:uFillTx/>
                    <a:latin typeface="等线" panose="020F0502020204030204"/>
                    <a:ea typeface="等线" panose="02010600030101010101" pitchFamily="2" charset="-122"/>
                    <a:cs typeface="+mn-cs"/>
                  </a:rPr>
                  <a:t>函数</a:t>
                </a:r>
                <a:endParaRPr kumimoji="0" lang="en-US" altLang="zh-CN" sz="1800" b="0" i="0" u="none" strike="noStrike" kern="1200" cap="none" spc="0" normalizeH="0" baseline="0" noProof="0" dirty="0">
                  <a:ln>
                    <a:noFill/>
                  </a:ln>
                  <a:solidFill>
                    <a:srgbClr val="FF0000"/>
                  </a:solidFill>
                  <a:effectLst/>
                  <a:uLnTx/>
                  <a:uFillTx/>
                  <a:latin typeface="等线" panose="020F0502020204030204"/>
                  <a:ea typeface="等线"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FF0000"/>
                    </a:solidFill>
                    <a:effectLst/>
                    <a:uLnTx/>
                    <a:uFillTx/>
                    <a:latin typeface="等线" panose="020F0502020204030204"/>
                    <a:ea typeface="等线" panose="02010600030101010101" pitchFamily="2" charset="-122"/>
                    <a:cs typeface="+mn-cs"/>
                  </a:rPr>
                  <a:t>内存块</a:t>
                </a:r>
              </a:p>
            </p:txBody>
          </p:sp>
          <p:sp>
            <p:nvSpPr>
              <p:cNvPr id="72" name="矩形 71">
                <a:extLst>
                  <a:ext uri="{FF2B5EF4-FFF2-40B4-BE49-F238E27FC236}">
                    <a16:creationId xmlns:a16="http://schemas.microsoft.com/office/drawing/2014/main" id="{799EABFF-4874-4259-AD50-95FC5FD4767E}"/>
                  </a:ext>
                </a:extLst>
              </p:cNvPr>
              <p:cNvSpPr/>
              <p:nvPr/>
            </p:nvSpPr>
            <p:spPr>
              <a:xfrm>
                <a:off x="6407104" y="4289729"/>
                <a:ext cx="1230438" cy="728862"/>
              </a:xfrm>
              <a:prstGeom prst="rect">
                <a:avLst/>
              </a:prstGeom>
              <a:noFill/>
              <a:ln w="19050">
                <a:solidFill>
                  <a:srgbClr val="7030A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cxnSp>
            <p:nvCxnSpPr>
              <p:cNvPr id="73" name="直接连接符 72">
                <a:extLst>
                  <a:ext uri="{FF2B5EF4-FFF2-40B4-BE49-F238E27FC236}">
                    <a16:creationId xmlns:a16="http://schemas.microsoft.com/office/drawing/2014/main" id="{68BF6629-5BD6-4FAD-8EA0-DE91A06E2514}"/>
                  </a:ext>
                </a:extLst>
              </p:cNvPr>
              <p:cNvCxnSpPr>
                <a:cxnSpLocks/>
                <a:endCxn id="72" idx="1"/>
              </p:cNvCxnSpPr>
              <p:nvPr/>
            </p:nvCxnSpPr>
            <p:spPr>
              <a:xfrm>
                <a:off x="5872818" y="4348232"/>
                <a:ext cx="534286" cy="30592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grpSp>
      <p:sp>
        <p:nvSpPr>
          <p:cNvPr id="81" name="文本框 80">
            <a:extLst>
              <a:ext uri="{FF2B5EF4-FFF2-40B4-BE49-F238E27FC236}">
                <a16:creationId xmlns:a16="http://schemas.microsoft.com/office/drawing/2014/main" id="{541CEA67-8A9F-4D79-A193-737645FCC854}"/>
              </a:ext>
            </a:extLst>
          </p:cNvPr>
          <p:cNvSpPr txBox="1"/>
          <p:nvPr/>
        </p:nvSpPr>
        <p:spPr>
          <a:xfrm>
            <a:off x="1242870" y="4296898"/>
            <a:ext cx="740587" cy="24622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&lt;</a:t>
            </a:r>
            <a:r>
              <a:rPr kumimoji="0" lang="en-US" altLang="zh-CN" sz="1600" b="1" i="0" u="none" strike="noStrike" kern="100" cap="none" spc="0" normalizeH="0" baseline="0" noProof="0" dirty="0" err="1">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letp</a:t>
            </a:r>
            <a:r>
              <a:rPr kumimoji="0" lang="en-US" altLang="zh-CN" sz="1600" b="1" i="0" u="none" strike="noStrike" kern="1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&gt;</a:t>
            </a:r>
            <a:endParaRPr kumimoji="0" lang="zh-CN" altLang="en-US" sz="1600" b="0" i="0" u="none" strike="noStrike" kern="1200" cap="none" spc="0" normalizeH="0" baseline="0" noProof="0" dirty="0">
              <a:ln>
                <a:noFill/>
              </a:ln>
              <a:solidFill>
                <a:srgbClr val="C00000"/>
              </a:solidFill>
              <a:effectLst/>
              <a:uLnTx/>
              <a:uFillTx/>
              <a:latin typeface="等线" panose="020F0502020204030204"/>
              <a:ea typeface="等线" panose="02010600030101010101" pitchFamily="2" charset="-122"/>
              <a:cs typeface="+mn-cs"/>
            </a:endParaRPr>
          </a:p>
        </p:txBody>
      </p:sp>
      <p:sp>
        <p:nvSpPr>
          <p:cNvPr id="82" name="文本框 81">
            <a:extLst>
              <a:ext uri="{FF2B5EF4-FFF2-40B4-BE49-F238E27FC236}">
                <a16:creationId xmlns:a16="http://schemas.microsoft.com/office/drawing/2014/main" id="{31982274-F36E-4BF4-AA5A-94427D66B260}"/>
              </a:ext>
            </a:extLst>
          </p:cNvPr>
          <p:cNvSpPr txBox="1"/>
          <p:nvPr/>
        </p:nvSpPr>
        <p:spPr>
          <a:xfrm>
            <a:off x="1976568" y="4296898"/>
            <a:ext cx="740587" cy="24622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&lt;</a:t>
            </a:r>
            <a:r>
              <a:rPr kumimoji="0" lang="en-US" altLang="zh-CN" sz="1600" b="1" i="0" u="none" strike="noStrike" kern="100" cap="none" spc="0" normalizeH="0" baseline="0" noProof="0" dirty="0" err="1">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crsp</a:t>
            </a:r>
            <a:r>
              <a:rPr kumimoji="0" lang="en-US" altLang="zh-CN" sz="1600" b="1" i="0" u="none" strike="noStrike" kern="1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&gt;</a:t>
            </a:r>
            <a:endParaRPr kumimoji="0" lang="zh-CN" altLang="en-US" sz="1600" b="0" i="0" u="none" strike="noStrike" kern="1200" cap="none" spc="0" normalizeH="0" baseline="0" noProof="0" dirty="0">
              <a:ln>
                <a:noFill/>
              </a:ln>
              <a:solidFill>
                <a:srgbClr val="C00000"/>
              </a:solidFill>
              <a:effectLst/>
              <a:uLnTx/>
              <a:uFillTx/>
              <a:latin typeface="等线" panose="020F0502020204030204"/>
              <a:ea typeface="等线" panose="02010600030101010101" pitchFamily="2" charset="-122"/>
              <a:cs typeface="+mn-cs"/>
            </a:endParaRPr>
          </a:p>
        </p:txBody>
      </p:sp>
      <p:cxnSp>
        <p:nvCxnSpPr>
          <p:cNvPr id="83" name="直接连接符 82">
            <a:extLst>
              <a:ext uri="{FF2B5EF4-FFF2-40B4-BE49-F238E27FC236}">
                <a16:creationId xmlns:a16="http://schemas.microsoft.com/office/drawing/2014/main" id="{B880C7F4-ED63-4A40-9A13-32D244634595}"/>
              </a:ext>
            </a:extLst>
          </p:cNvPr>
          <p:cNvCxnSpPr>
            <a:cxnSpLocks/>
          </p:cNvCxnSpPr>
          <p:nvPr/>
        </p:nvCxnSpPr>
        <p:spPr>
          <a:xfrm>
            <a:off x="1211339" y="2908502"/>
            <a:ext cx="4230414"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E603F4DC-F451-4191-8DEA-EF6A46B4331C}"/>
              </a:ext>
            </a:extLst>
          </p:cNvPr>
          <p:cNvCxnSpPr>
            <a:cxnSpLocks/>
          </p:cNvCxnSpPr>
          <p:nvPr/>
        </p:nvCxnSpPr>
        <p:spPr>
          <a:xfrm>
            <a:off x="1242870" y="3176842"/>
            <a:ext cx="4682883"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8" name="直接箭头连接符 87">
            <a:extLst>
              <a:ext uri="{FF2B5EF4-FFF2-40B4-BE49-F238E27FC236}">
                <a16:creationId xmlns:a16="http://schemas.microsoft.com/office/drawing/2014/main" id="{D427AE67-182C-4D3D-90BF-FD34B01B45E1}"/>
              </a:ext>
            </a:extLst>
          </p:cNvPr>
          <p:cNvCxnSpPr>
            <a:cxnSpLocks/>
            <a:endCxn id="15" idx="0"/>
          </p:cNvCxnSpPr>
          <p:nvPr/>
        </p:nvCxnSpPr>
        <p:spPr>
          <a:xfrm>
            <a:off x="7180837" y="3849809"/>
            <a:ext cx="126012" cy="758130"/>
          </a:xfrm>
          <a:prstGeom prst="straightConnector1">
            <a:avLst/>
          </a:prstGeom>
          <a:ln w="19050">
            <a:solidFill>
              <a:srgbClr val="FF000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91" name="直接箭头连接符 90">
            <a:extLst>
              <a:ext uri="{FF2B5EF4-FFF2-40B4-BE49-F238E27FC236}">
                <a16:creationId xmlns:a16="http://schemas.microsoft.com/office/drawing/2014/main" id="{9A753694-85AE-4D1A-8DCA-AAFFD9BF332F}"/>
              </a:ext>
            </a:extLst>
          </p:cNvPr>
          <p:cNvCxnSpPr>
            <a:cxnSpLocks/>
          </p:cNvCxnSpPr>
          <p:nvPr/>
        </p:nvCxnSpPr>
        <p:spPr>
          <a:xfrm>
            <a:off x="7076260" y="4188204"/>
            <a:ext cx="126012" cy="758130"/>
          </a:xfrm>
          <a:prstGeom prst="straightConnector1">
            <a:avLst/>
          </a:prstGeom>
          <a:ln w="19050">
            <a:solidFill>
              <a:srgbClr val="FF000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D29C7F32-047B-4FBF-B36B-AFECC979BEA7}"/>
              </a:ext>
            </a:extLst>
          </p:cNvPr>
          <p:cNvCxnSpPr>
            <a:cxnSpLocks/>
          </p:cNvCxnSpPr>
          <p:nvPr/>
        </p:nvCxnSpPr>
        <p:spPr>
          <a:xfrm>
            <a:off x="861643" y="5070142"/>
            <a:ext cx="1384974"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354EBBF3-FCDC-4431-9782-AEE88EE0F47E}"/>
              </a:ext>
            </a:extLst>
          </p:cNvPr>
          <p:cNvCxnSpPr>
            <a:cxnSpLocks/>
          </p:cNvCxnSpPr>
          <p:nvPr/>
        </p:nvCxnSpPr>
        <p:spPr>
          <a:xfrm>
            <a:off x="861643" y="5327591"/>
            <a:ext cx="1945205"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1A53AF0A-BF7A-4EF2-B735-55FA5081EDCE}"/>
              </a:ext>
            </a:extLst>
          </p:cNvPr>
          <p:cNvCxnSpPr>
            <a:cxnSpLocks/>
          </p:cNvCxnSpPr>
          <p:nvPr/>
        </p:nvCxnSpPr>
        <p:spPr>
          <a:xfrm>
            <a:off x="861643" y="5610166"/>
            <a:ext cx="445535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100" name="文本框 99">
            <a:extLst>
              <a:ext uri="{FF2B5EF4-FFF2-40B4-BE49-F238E27FC236}">
                <a16:creationId xmlns:a16="http://schemas.microsoft.com/office/drawing/2014/main" id="{FE70DE56-E728-4E7A-ACF8-C0510D6C338E}"/>
              </a:ext>
            </a:extLst>
          </p:cNvPr>
          <p:cNvSpPr txBox="1"/>
          <p:nvPr/>
        </p:nvSpPr>
        <p:spPr>
          <a:xfrm>
            <a:off x="2092729" y="4902440"/>
            <a:ext cx="153888" cy="3077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A</a:t>
            </a:r>
            <a:endParaRPr kumimoji="0" lang="zh-CN" altLang="en-US" sz="2000" b="0" i="0" u="none" strike="noStrike" kern="1200" cap="none" spc="0" normalizeH="0" baseline="0" noProof="0" dirty="0">
              <a:ln>
                <a:noFill/>
              </a:ln>
              <a:solidFill>
                <a:srgbClr val="C00000"/>
              </a:solidFill>
              <a:effectLst/>
              <a:uLnTx/>
              <a:uFillTx/>
              <a:latin typeface="等线" panose="020F0502020204030204"/>
              <a:ea typeface="等线" panose="02010600030101010101" pitchFamily="2" charset="-122"/>
              <a:cs typeface="+mn-cs"/>
            </a:endParaRPr>
          </a:p>
        </p:txBody>
      </p:sp>
      <p:sp>
        <p:nvSpPr>
          <p:cNvPr id="101" name="文本框 100">
            <a:extLst>
              <a:ext uri="{FF2B5EF4-FFF2-40B4-BE49-F238E27FC236}">
                <a16:creationId xmlns:a16="http://schemas.microsoft.com/office/drawing/2014/main" id="{5F13245D-AD40-4DB9-B282-703B3F39F846}"/>
              </a:ext>
            </a:extLst>
          </p:cNvPr>
          <p:cNvSpPr txBox="1"/>
          <p:nvPr/>
        </p:nvSpPr>
        <p:spPr>
          <a:xfrm>
            <a:off x="1607579" y="2349964"/>
            <a:ext cx="285335" cy="3077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C00000"/>
                </a:solidFill>
                <a:effectLst/>
                <a:uLnTx/>
                <a:uFillTx/>
                <a:latin typeface="等线" panose="020F0502020204030204"/>
                <a:ea typeface="等线" panose="02010600030101010101" pitchFamily="2" charset="-122"/>
                <a:cs typeface="+mn-cs"/>
              </a:rPr>
              <a:t>69</a:t>
            </a:r>
            <a:endParaRPr kumimoji="0" lang="zh-CN" altLang="en-US" sz="2000" b="1" i="0" u="none" strike="noStrike" kern="1200" cap="none" spc="0" normalizeH="0" baseline="0" noProof="0" dirty="0">
              <a:ln>
                <a:noFill/>
              </a:ln>
              <a:solidFill>
                <a:srgbClr val="C00000"/>
              </a:solidFill>
              <a:effectLst/>
              <a:uLnTx/>
              <a:uFillTx/>
              <a:latin typeface="等线" panose="020F0502020204030204"/>
              <a:ea typeface="等线" panose="02010600030101010101" pitchFamily="2" charset="-122"/>
              <a:cs typeface="+mn-cs"/>
            </a:endParaRPr>
          </a:p>
        </p:txBody>
      </p:sp>
      <p:sp>
        <p:nvSpPr>
          <p:cNvPr id="102" name="文本框 101">
            <a:extLst>
              <a:ext uri="{FF2B5EF4-FFF2-40B4-BE49-F238E27FC236}">
                <a16:creationId xmlns:a16="http://schemas.microsoft.com/office/drawing/2014/main" id="{79E21170-02E8-4EFE-9127-8A03EFB5C6B8}"/>
              </a:ext>
            </a:extLst>
          </p:cNvPr>
          <p:cNvSpPr txBox="1"/>
          <p:nvPr/>
        </p:nvSpPr>
        <p:spPr>
          <a:xfrm>
            <a:off x="2318057" y="5041909"/>
            <a:ext cx="489153"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203</a:t>
            </a:r>
            <a:endParaRPr kumimoji="0" lang="zh-CN" altLang="en-US" sz="20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cxnSp>
        <p:nvCxnSpPr>
          <p:cNvPr id="103" name="直接连接符 102">
            <a:extLst>
              <a:ext uri="{FF2B5EF4-FFF2-40B4-BE49-F238E27FC236}">
                <a16:creationId xmlns:a16="http://schemas.microsoft.com/office/drawing/2014/main" id="{4AE9A1B2-6104-4232-8ABB-D7D186219CE8}"/>
              </a:ext>
            </a:extLst>
          </p:cNvPr>
          <p:cNvCxnSpPr>
            <a:cxnSpLocks/>
          </p:cNvCxnSpPr>
          <p:nvPr/>
        </p:nvCxnSpPr>
        <p:spPr>
          <a:xfrm>
            <a:off x="629461" y="2632517"/>
            <a:ext cx="1337132"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7" name="文本框 106">
            <a:extLst>
              <a:ext uri="{FF2B5EF4-FFF2-40B4-BE49-F238E27FC236}">
                <a16:creationId xmlns:a16="http://schemas.microsoft.com/office/drawing/2014/main" id="{FDE0F46D-1A4E-4CBB-92D5-C14477B98837}"/>
              </a:ext>
            </a:extLst>
          </p:cNvPr>
          <p:cNvSpPr txBox="1"/>
          <p:nvPr/>
        </p:nvSpPr>
        <p:spPr>
          <a:xfrm>
            <a:off x="3058315" y="5327591"/>
            <a:ext cx="2459520"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Data Structures</a:t>
            </a:r>
            <a:endParaRPr kumimoji="0" lang="zh-CN" altLang="en-US" sz="2000" b="1" i="0" u="none" strike="noStrike" kern="1200" cap="none" spc="0" normalizeH="0" baseline="0" noProof="0" dirty="0">
              <a:ln>
                <a:noFill/>
              </a:ln>
              <a:solidFill>
                <a:srgbClr val="C00000"/>
              </a:solidFill>
              <a:effectLst/>
              <a:uLnTx/>
              <a:uFillTx/>
              <a:latin typeface="等线" panose="020F0502020204030204"/>
              <a:ea typeface="等线" panose="02010600030101010101" pitchFamily="2" charset="-122"/>
              <a:cs typeface="+mn-cs"/>
            </a:endParaRPr>
          </a:p>
        </p:txBody>
      </p:sp>
      <p:sp>
        <p:nvSpPr>
          <p:cNvPr id="108" name="矩形: 圆角 107">
            <a:extLst>
              <a:ext uri="{FF2B5EF4-FFF2-40B4-BE49-F238E27FC236}">
                <a16:creationId xmlns:a16="http://schemas.microsoft.com/office/drawing/2014/main" id="{FF2F796B-2214-44D5-847C-696157203A16}"/>
              </a:ext>
            </a:extLst>
          </p:cNvPr>
          <p:cNvSpPr/>
          <p:nvPr/>
        </p:nvSpPr>
        <p:spPr>
          <a:xfrm>
            <a:off x="8406310" y="173093"/>
            <a:ext cx="3443189" cy="461141"/>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002060"/>
                </a:solidFill>
                <a:effectLst>
                  <a:outerShdw blurRad="38100" dist="38100" dir="2700000" algn="tl">
                    <a:srgbClr val="000000">
                      <a:alpha val="43137"/>
                    </a:srgbClr>
                  </a:outerShdw>
                </a:effectLst>
                <a:latin typeface="等线" panose="020F0502020204030204"/>
                <a:ea typeface="等线" panose="02010600030101010101" pitchFamily="2" charset="-122"/>
              </a:rPr>
              <a:t>内存分区和动态分配</a:t>
            </a:r>
          </a:p>
        </p:txBody>
      </p:sp>
      <p:cxnSp>
        <p:nvCxnSpPr>
          <p:cNvPr id="110" name="直接连接符 109">
            <a:extLst>
              <a:ext uri="{FF2B5EF4-FFF2-40B4-BE49-F238E27FC236}">
                <a16:creationId xmlns:a16="http://schemas.microsoft.com/office/drawing/2014/main" id="{43A0824F-5303-490F-B815-0F4429FCC6A0}"/>
              </a:ext>
            </a:extLst>
          </p:cNvPr>
          <p:cNvCxnSpPr>
            <a:cxnSpLocks/>
          </p:cNvCxnSpPr>
          <p:nvPr/>
        </p:nvCxnSpPr>
        <p:spPr>
          <a:xfrm>
            <a:off x="1046896" y="6259567"/>
            <a:ext cx="1384974"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B886D73D-9BD0-4714-96A8-2513C539B843}"/>
              </a:ext>
            </a:extLst>
          </p:cNvPr>
          <p:cNvCxnSpPr>
            <a:cxnSpLocks/>
          </p:cNvCxnSpPr>
          <p:nvPr/>
        </p:nvCxnSpPr>
        <p:spPr>
          <a:xfrm>
            <a:off x="2806848" y="6260570"/>
            <a:ext cx="1384974"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112" name="文本框 111">
            <a:extLst>
              <a:ext uri="{FF2B5EF4-FFF2-40B4-BE49-F238E27FC236}">
                <a16:creationId xmlns:a16="http://schemas.microsoft.com/office/drawing/2014/main" id="{F62319F7-7DC8-4A24-83FB-C586E0F7B9D5}"/>
              </a:ext>
            </a:extLst>
          </p:cNvPr>
          <p:cNvSpPr txBox="1"/>
          <p:nvPr/>
        </p:nvSpPr>
        <p:spPr>
          <a:xfrm>
            <a:off x="5691601" y="925818"/>
            <a:ext cx="5724644"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各种存储结构的元素存储空间基本采用在堆的动态分配</a:t>
            </a:r>
            <a:endParaRPr kumimoji="0" lang="en-US" altLang="zh-CN" sz="1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在函数中构建的存储结构，要用引用形参返回</a:t>
            </a:r>
          </a:p>
        </p:txBody>
      </p:sp>
      <p:sp>
        <p:nvSpPr>
          <p:cNvPr id="113" name="文本框 112">
            <a:extLst>
              <a:ext uri="{FF2B5EF4-FFF2-40B4-BE49-F238E27FC236}">
                <a16:creationId xmlns:a16="http://schemas.microsoft.com/office/drawing/2014/main" id="{8F108A6C-F7D8-4D46-BA5B-8FB0A39373BE}"/>
              </a:ext>
            </a:extLst>
          </p:cNvPr>
          <p:cNvSpPr txBox="1"/>
          <p:nvPr/>
        </p:nvSpPr>
        <p:spPr>
          <a:xfrm>
            <a:off x="8406310" y="1781684"/>
            <a:ext cx="344318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不再使用的存储空间要及时释放</a:t>
            </a:r>
          </a:p>
        </p:txBody>
      </p:sp>
      <p:sp>
        <p:nvSpPr>
          <p:cNvPr id="74" name="文本框 73">
            <a:extLst>
              <a:ext uri="{FF2B5EF4-FFF2-40B4-BE49-F238E27FC236}">
                <a16:creationId xmlns:a16="http://schemas.microsoft.com/office/drawing/2014/main" id="{132811B9-1775-496D-92FE-A11D90FB18F5}"/>
              </a:ext>
            </a:extLst>
          </p:cNvPr>
          <p:cNvSpPr txBox="1">
            <a:spLocks noChangeArrowheads="1"/>
          </p:cNvSpPr>
          <p:nvPr/>
        </p:nvSpPr>
        <p:spPr bwMode="auto">
          <a:xfrm>
            <a:off x="757498" y="6321906"/>
            <a:ext cx="4814885" cy="371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l" defTabSz="914400" rtl="0" eaLnBrk="1" fontAlgn="base" latinLnBrk="0" hangingPunct="1">
              <a:lnSpc>
                <a:spcPct val="120000"/>
              </a:lnSpc>
              <a:spcBef>
                <a:spcPct val="0"/>
              </a:spcBef>
              <a:spcAft>
                <a:spcPct val="0"/>
              </a:spcAft>
              <a:buClrTx/>
              <a:buSzTx/>
              <a:buFontTx/>
              <a:buNone/>
              <a:tabLst/>
              <a:defRPr/>
            </a:pPr>
            <a:r>
              <a:rPr kumimoji="0" lang="zh-CN" altLang="en-US" sz="1600" b="1" i="0" u="none" strike="noStrike" kern="1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当分配的内存块不再使用时，可用库函数</a:t>
            </a:r>
            <a:r>
              <a:rPr kumimoji="0" lang="en-US" altLang="zh-CN" sz="1600" b="1" i="0" u="none" strike="noStrike" kern="1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free</a:t>
            </a:r>
            <a:r>
              <a:rPr kumimoji="0" lang="zh-CN" altLang="en-US" sz="1600" b="1" i="0" u="none" strike="noStrike" kern="1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释放</a:t>
            </a:r>
            <a:endParaRPr kumimoji="0" lang="en-US" altLang="zh-CN" sz="1600" b="1" i="0" u="none" strike="noStrike" kern="1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2" name="灯片编号占位符 1">
            <a:extLst>
              <a:ext uri="{FF2B5EF4-FFF2-40B4-BE49-F238E27FC236}">
                <a16:creationId xmlns:a16="http://schemas.microsoft.com/office/drawing/2014/main" id="{46A1754B-C330-847C-E118-C1AC6F530206}"/>
              </a:ext>
            </a:extLst>
          </p:cNvPr>
          <p:cNvSpPr>
            <a:spLocks noGrp="1"/>
          </p:cNvSpPr>
          <p:nvPr>
            <p:ph type="sldNum" sz="quarter" idx="12"/>
          </p:nvPr>
        </p:nvSpPr>
        <p:spPr/>
        <p:txBody>
          <a:bodyPr/>
          <a:lstStyle/>
          <a:p>
            <a:fld id="{6ED30D9F-295F-448B-9A50-0786B99C76AC}" type="slidenum">
              <a:rPr lang="zh-CN" altLang="en-US" smtClean="0"/>
              <a:t>46</a:t>
            </a:fld>
            <a:endParaRPr lang="zh-CN" altLang="en-US"/>
          </a:p>
        </p:txBody>
      </p:sp>
    </p:spTree>
    <p:extLst>
      <p:ext uri="{BB962C8B-B14F-4D97-AF65-F5344CB8AC3E}">
        <p14:creationId xmlns:p14="http://schemas.microsoft.com/office/powerpoint/2010/main" val="879328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strips(downRight)">
                                      <p:cBhvr>
                                        <p:cTn id="7" dur="500"/>
                                        <p:tgtEl>
                                          <p:spTgt spid="4">
                                            <p:txEl>
                                              <p:pRg st="0" end="0"/>
                                            </p:txEl>
                                          </p:spTgt>
                                        </p:tgtEl>
                                      </p:cBhvr>
                                    </p:animEffect>
                                  </p:childTnLst>
                                </p:cTn>
                              </p:par>
                              <p:par>
                                <p:cTn id="8" presetID="18" presetClass="entr" presetSubtype="6"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strips(downRight)">
                                      <p:cBhvr>
                                        <p:cTn id="10" dur="500"/>
                                        <p:tgtEl>
                                          <p:spTgt spid="4">
                                            <p:txEl>
                                              <p:pRg st="1" end="1"/>
                                            </p:txEl>
                                          </p:spTgt>
                                        </p:tgtEl>
                                      </p:cBhvr>
                                    </p:animEffect>
                                  </p:childTnLst>
                                </p:cTn>
                              </p:par>
                              <p:par>
                                <p:cTn id="11" presetID="18" presetClass="entr" presetSubtype="6"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strips(downRight)">
                                      <p:cBhvr>
                                        <p:cTn id="13" dur="500"/>
                                        <p:tgtEl>
                                          <p:spTgt spid="4">
                                            <p:txEl>
                                              <p:pRg st="2" end="2"/>
                                            </p:txEl>
                                          </p:spTgt>
                                        </p:tgtEl>
                                      </p:cBhvr>
                                    </p:animEffect>
                                  </p:childTnLst>
                                </p:cTn>
                              </p:par>
                              <p:par>
                                <p:cTn id="14" presetID="18" presetClass="entr" presetSubtype="6" fill="hold" grpId="0"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strips(downRight)">
                                      <p:cBhvr>
                                        <p:cTn id="16" dur="500"/>
                                        <p:tgtEl>
                                          <p:spTgt spid="4">
                                            <p:txEl>
                                              <p:pRg st="3" end="3"/>
                                            </p:txEl>
                                          </p:spTgt>
                                        </p:tgtEl>
                                      </p:cBhvr>
                                    </p:animEffect>
                                  </p:childTnLst>
                                </p:cTn>
                              </p:par>
                              <p:par>
                                <p:cTn id="17" presetID="18" presetClass="entr" presetSubtype="6" fill="hold" grpId="0"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Effect transition="in" filter="strips(downRight)">
                                      <p:cBhvr>
                                        <p:cTn id="19" dur="500"/>
                                        <p:tgtEl>
                                          <p:spTgt spid="4">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8" presetClass="entr" presetSubtype="6" fill="hold" grpId="0" nodeType="clickEffect">
                                  <p:stCondLst>
                                    <p:cond delay="0"/>
                                  </p:stCondLst>
                                  <p:childTnLst>
                                    <p:set>
                                      <p:cBhvr>
                                        <p:cTn id="23" dur="1" fill="hold">
                                          <p:stCondLst>
                                            <p:cond delay="0"/>
                                          </p:stCondLst>
                                        </p:cTn>
                                        <p:tgtEl>
                                          <p:spTgt spid="4">
                                            <p:txEl>
                                              <p:pRg st="5" end="5"/>
                                            </p:txEl>
                                          </p:spTgt>
                                        </p:tgtEl>
                                        <p:attrNameLst>
                                          <p:attrName>style.visibility</p:attrName>
                                        </p:attrNameLst>
                                      </p:cBhvr>
                                      <p:to>
                                        <p:strVal val="visible"/>
                                      </p:to>
                                    </p:set>
                                    <p:animEffect transition="in" filter="strips(downRight)">
                                      <p:cBhvr>
                                        <p:cTn id="24" dur="500"/>
                                        <p:tgtEl>
                                          <p:spTgt spid="4">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8" presetClass="entr" presetSubtype="6" fill="hold" grpId="0" nodeType="click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animEffect transition="in" filter="strips(downRight)">
                                      <p:cBhvr>
                                        <p:cTn id="29" dur="500"/>
                                        <p:tgtEl>
                                          <p:spTgt spid="4">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8" presetClass="entr" presetSubtype="6" fill="hold" grpId="0" nodeType="clickEffect">
                                  <p:stCondLst>
                                    <p:cond delay="0"/>
                                  </p:stCondLst>
                                  <p:childTnLst>
                                    <p:set>
                                      <p:cBhvr>
                                        <p:cTn id="33" dur="1" fill="hold">
                                          <p:stCondLst>
                                            <p:cond delay="0"/>
                                          </p:stCondLst>
                                        </p:cTn>
                                        <p:tgtEl>
                                          <p:spTgt spid="4">
                                            <p:txEl>
                                              <p:pRg st="7" end="7"/>
                                            </p:txEl>
                                          </p:spTgt>
                                        </p:tgtEl>
                                        <p:attrNameLst>
                                          <p:attrName>style.visibility</p:attrName>
                                        </p:attrNameLst>
                                      </p:cBhvr>
                                      <p:to>
                                        <p:strVal val="visible"/>
                                      </p:to>
                                    </p:set>
                                    <p:animEffect transition="in" filter="strips(downRight)">
                                      <p:cBhvr>
                                        <p:cTn id="34" dur="500"/>
                                        <p:tgtEl>
                                          <p:spTgt spid="4">
                                            <p:txEl>
                                              <p:pRg st="7" end="7"/>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8" presetClass="entr" presetSubtype="6" fill="hold" grpId="0"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animEffect transition="in" filter="strips(downRight)">
                                      <p:cBhvr>
                                        <p:cTn id="39" dur="500"/>
                                        <p:tgtEl>
                                          <p:spTgt spid="4">
                                            <p:txEl>
                                              <p:pRg st="8" end="8"/>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8" presetClass="entr" presetSubtype="6" fill="hold" grpId="0" nodeType="clickEffect">
                                  <p:stCondLst>
                                    <p:cond delay="0"/>
                                  </p:stCondLst>
                                  <p:childTnLst>
                                    <p:set>
                                      <p:cBhvr>
                                        <p:cTn id="43" dur="1" fill="hold">
                                          <p:stCondLst>
                                            <p:cond delay="0"/>
                                          </p:stCondLst>
                                        </p:cTn>
                                        <p:tgtEl>
                                          <p:spTgt spid="4">
                                            <p:txEl>
                                              <p:pRg st="9" end="9"/>
                                            </p:txEl>
                                          </p:spTgt>
                                        </p:tgtEl>
                                        <p:attrNameLst>
                                          <p:attrName>style.visibility</p:attrName>
                                        </p:attrNameLst>
                                      </p:cBhvr>
                                      <p:to>
                                        <p:strVal val="visible"/>
                                      </p:to>
                                    </p:set>
                                    <p:animEffect transition="in" filter="strips(downRight)">
                                      <p:cBhvr>
                                        <p:cTn id="44" dur="500"/>
                                        <p:tgtEl>
                                          <p:spTgt spid="4">
                                            <p:txEl>
                                              <p:pRg st="9" end="9"/>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8" presetClass="entr" presetSubtype="6" fill="hold" grpId="0" nodeType="clickEffect">
                                  <p:stCondLst>
                                    <p:cond delay="0"/>
                                  </p:stCondLst>
                                  <p:childTnLst>
                                    <p:set>
                                      <p:cBhvr>
                                        <p:cTn id="48" dur="1" fill="hold">
                                          <p:stCondLst>
                                            <p:cond delay="0"/>
                                          </p:stCondLst>
                                        </p:cTn>
                                        <p:tgtEl>
                                          <p:spTgt spid="4">
                                            <p:txEl>
                                              <p:pRg st="10" end="10"/>
                                            </p:txEl>
                                          </p:spTgt>
                                        </p:tgtEl>
                                        <p:attrNameLst>
                                          <p:attrName>style.visibility</p:attrName>
                                        </p:attrNameLst>
                                      </p:cBhvr>
                                      <p:to>
                                        <p:strVal val="visible"/>
                                      </p:to>
                                    </p:set>
                                    <p:animEffect transition="in" filter="strips(downRight)">
                                      <p:cBhvr>
                                        <p:cTn id="49" dur="500"/>
                                        <p:tgtEl>
                                          <p:spTgt spid="4">
                                            <p:txEl>
                                              <p:pRg st="10" end="10"/>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8" presetClass="entr" presetSubtype="6" fill="hold" grpId="0" nodeType="clickEffect">
                                  <p:stCondLst>
                                    <p:cond delay="0"/>
                                  </p:stCondLst>
                                  <p:childTnLst>
                                    <p:set>
                                      <p:cBhvr>
                                        <p:cTn id="53" dur="1" fill="hold">
                                          <p:stCondLst>
                                            <p:cond delay="0"/>
                                          </p:stCondLst>
                                        </p:cTn>
                                        <p:tgtEl>
                                          <p:spTgt spid="4">
                                            <p:txEl>
                                              <p:pRg st="11" end="11"/>
                                            </p:txEl>
                                          </p:spTgt>
                                        </p:tgtEl>
                                        <p:attrNameLst>
                                          <p:attrName>style.visibility</p:attrName>
                                        </p:attrNameLst>
                                      </p:cBhvr>
                                      <p:to>
                                        <p:strVal val="visible"/>
                                      </p:to>
                                    </p:set>
                                    <p:animEffect transition="in" filter="strips(downRight)">
                                      <p:cBhvr>
                                        <p:cTn id="54" dur="500"/>
                                        <p:tgtEl>
                                          <p:spTgt spid="4">
                                            <p:txEl>
                                              <p:pRg st="11" end="11"/>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18" presetClass="entr" presetSubtype="6" fill="hold" grpId="0" nodeType="clickEffect">
                                  <p:stCondLst>
                                    <p:cond delay="0"/>
                                  </p:stCondLst>
                                  <p:childTnLst>
                                    <p:set>
                                      <p:cBhvr>
                                        <p:cTn id="58" dur="1" fill="hold">
                                          <p:stCondLst>
                                            <p:cond delay="0"/>
                                          </p:stCondLst>
                                        </p:cTn>
                                        <p:tgtEl>
                                          <p:spTgt spid="4">
                                            <p:txEl>
                                              <p:pRg st="12" end="12"/>
                                            </p:txEl>
                                          </p:spTgt>
                                        </p:tgtEl>
                                        <p:attrNameLst>
                                          <p:attrName>style.visibility</p:attrName>
                                        </p:attrNameLst>
                                      </p:cBhvr>
                                      <p:to>
                                        <p:strVal val="visible"/>
                                      </p:to>
                                    </p:set>
                                    <p:animEffect transition="in" filter="strips(downRight)">
                                      <p:cBhvr>
                                        <p:cTn id="59" dur="500"/>
                                        <p:tgtEl>
                                          <p:spTgt spid="4">
                                            <p:txEl>
                                              <p:pRg st="12" end="12"/>
                                            </p:txEl>
                                          </p:spTgt>
                                        </p:tgtEl>
                                      </p:cBhvr>
                                    </p:animEffect>
                                  </p:childTnLst>
                                </p:cTn>
                              </p:par>
                            </p:childTnLst>
                          </p:cTn>
                        </p:par>
                        <p:par>
                          <p:cTn id="60" fill="hold">
                            <p:stCondLst>
                              <p:cond delay="500"/>
                            </p:stCondLst>
                            <p:childTnLst>
                              <p:par>
                                <p:cTn id="61" presetID="18" presetClass="entr" presetSubtype="6" fill="hold" grpId="0" nodeType="afterEffect">
                                  <p:stCondLst>
                                    <p:cond delay="0"/>
                                  </p:stCondLst>
                                  <p:childTnLst>
                                    <p:set>
                                      <p:cBhvr>
                                        <p:cTn id="62" dur="1" fill="hold">
                                          <p:stCondLst>
                                            <p:cond delay="0"/>
                                          </p:stCondLst>
                                        </p:cTn>
                                        <p:tgtEl>
                                          <p:spTgt spid="4">
                                            <p:txEl>
                                              <p:pRg st="13" end="13"/>
                                            </p:txEl>
                                          </p:spTgt>
                                        </p:tgtEl>
                                        <p:attrNameLst>
                                          <p:attrName>style.visibility</p:attrName>
                                        </p:attrNameLst>
                                      </p:cBhvr>
                                      <p:to>
                                        <p:strVal val="visible"/>
                                      </p:to>
                                    </p:set>
                                    <p:animEffect transition="in" filter="strips(downRight)">
                                      <p:cBhvr>
                                        <p:cTn id="63" dur="500"/>
                                        <p:tgtEl>
                                          <p:spTgt spid="4">
                                            <p:txEl>
                                              <p:pRg st="13" end="13"/>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18" presetClass="entr" presetSubtype="6" fill="hold" grpId="0" nodeType="clickEffect">
                                  <p:stCondLst>
                                    <p:cond delay="0"/>
                                  </p:stCondLst>
                                  <p:childTnLst>
                                    <p:set>
                                      <p:cBhvr>
                                        <p:cTn id="67" dur="1" fill="hold">
                                          <p:stCondLst>
                                            <p:cond delay="0"/>
                                          </p:stCondLst>
                                        </p:cTn>
                                        <p:tgtEl>
                                          <p:spTgt spid="4">
                                            <p:txEl>
                                              <p:pRg st="14" end="14"/>
                                            </p:txEl>
                                          </p:spTgt>
                                        </p:tgtEl>
                                        <p:attrNameLst>
                                          <p:attrName>style.visibility</p:attrName>
                                        </p:attrNameLst>
                                      </p:cBhvr>
                                      <p:to>
                                        <p:strVal val="visible"/>
                                      </p:to>
                                    </p:set>
                                    <p:animEffect transition="in" filter="strips(downRight)">
                                      <p:cBhvr>
                                        <p:cTn id="68" dur="500"/>
                                        <p:tgtEl>
                                          <p:spTgt spid="4">
                                            <p:txEl>
                                              <p:pRg st="14" end="14"/>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18" presetClass="entr" presetSubtype="6" fill="hold" grpId="0" nodeType="clickEffect">
                                  <p:stCondLst>
                                    <p:cond delay="0"/>
                                  </p:stCondLst>
                                  <p:childTnLst>
                                    <p:set>
                                      <p:cBhvr>
                                        <p:cTn id="72" dur="1" fill="hold">
                                          <p:stCondLst>
                                            <p:cond delay="0"/>
                                          </p:stCondLst>
                                        </p:cTn>
                                        <p:tgtEl>
                                          <p:spTgt spid="4">
                                            <p:txEl>
                                              <p:pRg st="15" end="15"/>
                                            </p:txEl>
                                          </p:spTgt>
                                        </p:tgtEl>
                                        <p:attrNameLst>
                                          <p:attrName>style.visibility</p:attrName>
                                        </p:attrNameLst>
                                      </p:cBhvr>
                                      <p:to>
                                        <p:strVal val="visible"/>
                                      </p:to>
                                    </p:set>
                                    <p:animEffect transition="in" filter="strips(downRight)">
                                      <p:cBhvr>
                                        <p:cTn id="73" dur="500"/>
                                        <p:tgtEl>
                                          <p:spTgt spid="4">
                                            <p:txEl>
                                              <p:pRg st="15" end="15"/>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18" presetClass="entr" presetSubtype="6" fill="hold" grpId="0" nodeType="clickEffect">
                                  <p:stCondLst>
                                    <p:cond delay="0"/>
                                  </p:stCondLst>
                                  <p:childTnLst>
                                    <p:set>
                                      <p:cBhvr>
                                        <p:cTn id="77" dur="1" fill="hold">
                                          <p:stCondLst>
                                            <p:cond delay="0"/>
                                          </p:stCondLst>
                                        </p:cTn>
                                        <p:tgtEl>
                                          <p:spTgt spid="4">
                                            <p:txEl>
                                              <p:pRg st="16" end="16"/>
                                            </p:txEl>
                                          </p:spTgt>
                                        </p:tgtEl>
                                        <p:attrNameLst>
                                          <p:attrName>style.visibility</p:attrName>
                                        </p:attrNameLst>
                                      </p:cBhvr>
                                      <p:to>
                                        <p:strVal val="visible"/>
                                      </p:to>
                                    </p:set>
                                    <p:animEffect transition="in" filter="strips(downRight)">
                                      <p:cBhvr>
                                        <p:cTn id="78" dur="500"/>
                                        <p:tgtEl>
                                          <p:spTgt spid="4">
                                            <p:txEl>
                                              <p:pRg st="16" end="16"/>
                                            </p:txEl>
                                          </p:spTgt>
                                        </p:tgtEl>
                                      </p:cBhvr>
                                    </p:animEffect>
                                  </p:childTnLst>
                                </p:cTn>
                              </p:par>
                            </p:childTnLst>
                          </p:cTn>
                        </p:par>
                      </p:childTnLst>
                    </p:cTn>
                  </p:par>
                  <p:par>
                    <p:cTn id="79" fill="hold">
                      <p:stCondLst>
                        <p:cond delay="indefinite"/>
                      </p:stCondLst>
                      <p:childTnLst>
                        <p:par>
                          <p:cTn id="80" fill="hold">
                            <p:stCondLst>
                              <p:cond delay="0"/>
                            </p:stCondLst>
                            <p:childTnLst>
                              <p:par>
                                <p:cTn id="81" presetID="18" presetClass="entr" presetSubtype="6" fill="hold" grpId="0" nodeType="clickEffect">
                                  <p:stCondLst>
                                    <p:cond delay="0"/>
                                  </p:stCondLst>
                                  <p:childTnLst>
                                    <p:set>
                                      <p:cBhvr>
                                        <p:cTn id="82" dur="1" fill="hold">
                                          <p:stCondLst>
                                            <p:cond delay="0"/>
                                          </p:stCondLst>
                                        </p:cTn>
                                        <p:tgtEl>
                                          <p:spTgt spid="4">
                                            <p:txEl>
                                              <p:pRg st="17" end="17"/>
                                            </p:txEl>
                                          </p:spTgt>
                                        </p:tgtEl>
                                        <p:attrNameLst>
                                          <p:attrName>style.visibility</p:attrName>
                                        </p:attrNameLst>
                                      </p:cBhvr>
                                      <p:to>
                                        <p:strVal val="visible"/>
                                      </p:to>
                                    </p:set>
                                    <p:animEffect transition="in" filter="strips(downRight)">
                                      <p:cBhvr>
                                        <p:cTn id="83" dur="500"/>
                                        <p:tgtEl>
                                          <p:spTgt spid="4">
                                            <p:txEl>
                                              <p:pRg st="17" end="17"/>
                                            </p:txEl>
                                          </p:spTgt>
                                        </p:tgtEl>
                                      </p:cBhvr>
                                    </p:animEffect>
                                  </p:childTnLst>
                                </p:cTn>
                              </p:par>
                            </p:childTnLst>
                          </p:cTn>
                        </p:par>
                      </p:childTnLst>
                    </p:cTn>
                  </p:par>
                  <p:par>
                    <p:cTn id="84" fill="hold">
                      <p:stCondLst>
                        <p:cond delay="indefinite"/>
                      </p:stCondLst>
                      <p:childTnLst>
                        <p:par>
                          <p:cTn id="85" fill="hold">
                            <p:stCondLst>
                              <p:cond delay="0"/>
                            </p:stCondLst>
                            <p:childTnLst>
                              <p:par>
                                <p:cTn id="86" presetID="18" presetClass="entr" presetSubtype="6" fill="hold" grpId="0" nodeType="clickEffect">
                                  <p:stCondLst>
                                    <p:cond delay="0"/>
                                  </p:stCondLst>
                                  <p:childTnLst>
                                    <p:set>
                                      <p:cBhvr>
                                        <p:cTn id="87" dur="1" fill="hold">
                                          <p:stCondLst>
                                            <p:cond delay="0"/>
                                          </p:stCondLst>
                                        </p:cTn>
                                        <p:tgtEl>
                                          <p:spTgt spid="4">
                                            <p:txEl>
                                              <p:pRg st="18" end="18"/>
                                            </p:txEl>
                                          </p:spTgt>
                                        </p:tgtEl>
                                        <p:attrNameLst>
                                          <p:attrName>style.visibility</p:attrName>
                                        </p:attrNameLst>
                                      </p:cBhvr>
                                      <p:to>
                                        <p:strVal val="visible"/>
                                      </p:to>
                                    </p:set>
                                    <p:animEffect transition="in" filter="strips(downRight)">
                                      <p:cBhvr>
                                        <p:cTn id="88" dur="500"/>
                                        <p:tgtEl>
                                          <p:spTgt spid="4">
                                            <p:txEl>
                                              <p:pRg st="18" end="18"/>
                                            </p:txEl>
                                          </p:spTgt>
                                        </p:tgtEl>
                                      </p:cBhvr>
                                    </p:animEffect>
                                  </p:childTnLst>
                                </p:cTn>
                              </p:par>
                            </p:childTnLst>
                          </p:cTn>
                        </p:par>
                      </p:childTnLst>
                    </p:cTn>
                  </p:par>
                  <p:par>
                    <p:cTn id="89" fill="hold">
                      <p:stCondLst>
                        <p:cond delay="indefinite"/>
                      </p:stCondLst>
                      <p:childTnLst>
                        <p:par>
                          <p:cTn id="90" fill="hold">
                            <p:stCondLst>
                              <p:cond delay="0"/>
                            </p:stCondLst>
                            <p:childTnLst>
                              <p:par>
                                <p:cTn id="91" presetID="18" presetClass="entr" presetSubtype="6" fill="hold" grpId="0" nodeType="clickEffect">
                                  <p:stCondLst>
                                    <p:cond delay="0"/>
                                  </p:stCondLst>
                                  <p:childTnLst>
                                    <p:set>
                                      <p:cBhvr>
                                        <p:cTn id="92" dur="1" fill="hold">
                                          <p:stCondLst>
                                            <p:cond delay="0"/>
                                          </p:stCondLst>
                                        </p:cTn>
                                        <p:tgtEl>
                                          <p:spTgt spid="4">
                                            <p:txEl>
                                              <p:pRg st="19" end="19"/>
                                            </p:txEl>
                                          </p:spTgt>
                                        </p:tgtEl>
                                        <p:attrNameLst>
                                          <p:attrName>style.visibility</p:attrName>
                                        </p:attrNameLst>
                                      </p:cBhvr>
                                      <p:to>
                                        <p:strVal val="visible"/>
                                      </p:to>
                                    </p:set>
                                    <p:animEffect transition="in" filter="strips(downRight)">
                                      <p:cBhvr>
                                        <p:cTn id="93" dur="500"/>
                                        <p:tgtEl>
                                          <p:spTgt spid="4">
                                            <p:txEl>
                                              <p:pRg st="19" end="19"/>
                                            </p:txEl>
                                          </p:spTgt>
                                        </p:tgtEl>
                                      </p:cBhvr>
                                    </p:animEffect>
                                  </p:childTnLst>
                                </p:cTn>
                              </p:par>
                            </p:childTnLst>
                          </p:cTn>
                        </p:par>
                      </p:childTnLst>
                    </p:cTn>
                  </p:par>
                  <p:par>
                    <p:cTn id="94" fill="hold">
                      <p:stCondLst>
                        <p:cond delay="indefinite"/>
                      </p:stCondLst>
                      <p:childTnLst>
                        <p:par>
                          <p:cTn id="95" fill="hold">
                            <p:stCondLst>
                              <p:cond delay="0"/>
                            </p:stCondLst>
                            <p:childTnLst>
                              <p:par>
                                <p:cTn id="96" presetID="18" presetClass="entr" presetSubtype="6" fill="hold" grpId="0" nodeType="clickEffect">
                                  <p:stCondLst>
                                    <p:cond delay="0"/>
                                  </p:stCondLst>
                                  <p:childTnLst>
                                    <p:set>
                                      <p:cBhvr>
                                        <p:cTn id="97" dur="1" fill="hold">
                                          <p:stCondLst>
                                            <p:cond delay="0"/>
                                          </p:stCondLst>
                                        </p:cTn>
                                        <p:tgtEl>
                                          <p:spTgt spid="4">
                                            <p:txEl>
                                              <p:pRg st="20" end="20"/>
                                            </p:txEl>
                                          </p:spTgt>
                                        </p:tgtEl>
                                        <p:attrNameLst>
                                          <p:attrName>style.visibility</p:attrName>
                                        </p:attrNameLst>
                                      </p:cBhvr>
                                      <p:to>
                                        <p:strVal val="visible"/>
                                      </p:to>
                                    </p:set>
                                    <p:animEffect transition="in" filter="strips(downRight)">
                                      <p:cBhvr>
                                        <p:cTn id="98" dur="500"/>
                                        <p:tgtEl>
                                          <p:spTgt spid="4">
                                            <p:txEl>
                                              <p:pRg st="20" end="20"/>
                                            </p:txEl>
                                          </p:spTgt>
                                        </p:tgtEl>
                                      </p:cBhvr>
                                    </p:animEffect>
                                  </p:childTnLst>
                                </p:cTn>
                              </p:par>
                            </p:childTnLst>
                          </p:cTn>
                        </p:par>
                      </p:childTnLst>
                    </p:cTn>
                  </p:par>
                  <p:par>
                    <p:cTn id="99" fill="hold">
                      <p:stCondLst>
                        <p:cond delay="indefinite"/>
                      </p:stCondLst>
                      <p:childTnLst>
                        <p:par>
                          <p:cTn id="100" fill="hold">
                            <p:stCondLst>
                              <p:cond delay="0"/>
                            </p:stCondLst>
                            <p:childTnLst>
                              <p:par>
                                <p:cTn id="101" presetID="18" presetClass="entr" presetSubtype="6" fill="hold" grpId="0" nodeType="clickEffect">
                                  <p:stCondLst>
                                    <p:cond delay="0"/>
                                  </p:stCondLst>
                                  <p:childTnLst>
                                    <p:set>
                                      <p:cBhvr>
                                        <p:cTn id="102" dur="1" fill="hold">
                                          <p:stCondLst>
                                            <p:cond delay="0"/>
                                          </p:stCondLst>
                                        </p:cTn>
                                        <p:tgtEl>
                                          <p:spTgt spid="4">
                                            <p:txEl>
                                              <p:pRg st="21" end="21"/>
                                            </p:txEl>
                                          </p:spTgt>
                                        </p:tgtEl>
                                        <p:attrNameLst>
                                          <p:attrName>style.visibility</p:attrName>
                                        </p:attrNameLst>
                                      </p:cBhvr>
                                      <p:to>
                                        <p:strVal val="visible"/>
                                      </p:to>
                                    </p:set>
                                    <p:animEffect transition="in" filter="strips(downRight)">
                                      <p:cBhvr>
                                        <p:cTn id="103" dur="500"/>
                                        <p:tgtEl>
                                          <p:spTgt spid="4">
                                            <p:txEl>
                                              <p:pRg st="21" end="21"/>
                                            </p:txEl>
                                          </p:spTgt>
                                        </p:tgtEl>
                                      </p:cBhvr>
                                    </p:animEffect>
                                  </p:childTnLst>
                                </p:cTn>
                              </p:par>
                            </p:childTnLst>
                          </p:cTn>
                        </p:par>
                      </p:childTnLst>
                    </p:cTn>
                  </p:par>
                  <p:par>
                    <p:cTn id="104" fill="hold">
                      <p:stCondLst>
                        <p:cond delay="indefinite"/>
                      </p:stCondLst>
                      <p:childTnLst>
                        <p:par>
                          <p:cTn id="105" fill="hold">
                            <p:stCondLst>
                              <p:cond delay="0"/>
                            </p:stCondLst>
                            <p:childTnLst>
                              <p:par>
                                <p:cTn id="106" presetID="42" presetClass="entr" presetSubtype="0" fill="hold" nodeType="clickEffect">
                                  <p:stCondLst>
                                    <p:cond delay="0"/>
                                  </p:stCondLst>
                                  <p:childTnLst>
                                    <p:set>
                                      <p:cBhvr>
                                        <p:cTn id="107" dur="1" fill="hold">
                                          <p:stCondLst>
                                            <p:cond delay="0"/>
                                          </p:stCondLst>
                                        </p:cTn>
                                        <p:tgtEl>
                                          <p:spTgt spid="62"/>
                                        </p:tgtEl>
                                        <p:attrNameLst>
                                          <p:attrName>style.visibility</p:attrName>
                                        </p:attrNameLst>
                                      </p:cBhvr>
                                      <p:to>
                                        <p:strVal val="visible"/>
                                      </p:to>
                                    </p:set>
                                    <p:animEffect transition="in" filter="fade">
                                      <p:cBhvr>
                                        <p:cTn id="108" dur="1000"/>
                                        <p:tgtEl>
                                          <p:spTgt spid="62"/>
                                        </p:tgtEl>
                                      </p:cBhvr>
                                    </p:animEffect>
                                    <p:anim calcmode="lin" valueType="num">
                                      <p:cBhvr>
                                        <p:cTn id="109" dur="1000" fill="hold"/>
                                        <p:tgtEl>
                                          <p:spTgt spid="62"/>
                                        </p:tgtEl>
                                        <p:attrNameLst>
                                          <p:attrName>ppt_x</p:attrName>
                                        </p:attrNameLst>
                                      </p:cBhvr>
                                      <p:tavLst>
                                        <p:tav tm="0">
                                          <p:val>
                                            <p:strVal val="#ppt_x"/>
                                          </p:val>
                                        </p:tav>
                                        <p:tav tm="100000">
                                          <p:val>
                                            <p:strVal val="#ppt_x"/>
                                          </p:val>
                                        </p:tav>
                                      </p:tavLst>
                                    </p:anim>
                                    <p:anim calcmode="lin" valueType="num">
                                      <p:cBhvr>
                                        <p:cTn id="110" dur="1000" fill="hold"/>
                                        <p:tgtEl>
                                          <p:spTgt spid="62"/>
                                        </p:tgtEl>
                                        <p:attrNameLst>
                                          <p:attrName>ppt_y</p:attrName>
                                        </p:attrNameLst>
                                      </p:cBhvr>
                                      <p:tavLst>
                                        <p:tav tm="0">
                                          <p:val>
                                            <p:strVal val="#ppt_y+.1"/>
                                          </p:val>
                                        </p:tav>
                                        <p:tav tm="100000">
                                          <p:val>
                                            <p:strVal val="#ppt_y"/>
                                          </p:val>
                                        </p:tav>
                                      </p:tavLst>
                                    </p:anim>
                                  </p:childTnLst>
                                </p:cTn>
                              </p:par>
                            </p:childTnLst>
                          </p:cTn>
                        </p:par>
                        <p:par>
                          <p:cTn id="111" fill="hold">
                            <p:stCondLst>
                              <p:cond delay="1000"/>
                            </p:stCondLst>
                            <p:childTnLst>
                              <p:par>
                                <p:cTn id="112" presetID="42" presetClass="entr" presetSubtype="0" fill="hold" nodeType="afterEffect">
                                  <p:stCondLst>
                                    <p:cond delay="0"/>
                                  </p:stCondLst>
                                  <p:childTnLst>
                                    <p:set>
                                      <p:cBhvr>
                                        <p:cTn id="113" dur="1" fill="hold">
                                          <p:stCondLst>
                                            <p:cond delay="0"/>
                                          </p:stCondLst>
                                        </p:cTn>
                                        <p:tgtEl>
                                          <p:spTgt spid="5"/>
                                        </p:tgtEl>
                                        <p:attrNameLst>
                                          <p:attrName>style.visibility</p:attrName>
                                        </p:attrNameLst>
                                      </p:cBhvr>
                                      <p:to>
                                        <p:strVal val="visible"/>
                                      </p:to>
                                    </p:set>
                                    <p:animEffect transition="in" filter="fade">
                                      <p:cBhvr>
                                        <p:cTn id="114" dur="1000"/>
                                        <p:tgtEl>
                                          <p:spTgt spid="5"/>
                                        </p:tgtEl>
                                      </p:cBhvr>
                                    </p:animEffect>
                                    <p:anim calcmode="lin" valueType="num">
                                      <p:cBhvr>
                                        <p:cTn id="115" dur="1000" fill="hold"/>
                                        <p:tgtEl>
                                          <p:spTgt spid="5"/>
                                        </p:tgtEl>
                                        <p:attrNameLst>
                                          <p:attrName>ppt_x</p:attrName>
                                        </p:attrNameLst>
                                      </p:cBhvr>
                                      <p:tavLst>
                                        <p:tav tm="0">
                                          <p:val>
                                            <p:strVal val="#ppt_x"/>
                                          </p:val>
                                        </p:tav>
                                        <p:tav tm="100000">
                                          <p:val>
                                            <p:strVal val="#ppt_x"/>
                                          </p:val>
                                        </p:tav>
                                      </p:tavLst>
                                    </p:anim>
                                    <p:anim calcmode="lin" valueType="num">
                                      <p:cBhvr>
                                        <p:cTn id="116" dur="1000" fill="hold"/>
                                        <p:tgtEl>
                                          <p:spTgt spid="5"/>
                                        </p:tgtEl>
                                        <p:attrNameLst>
                                          <p:attrName>ppt_y</p:attrName>
                                        </p:attrNameLst>
                                      </p:cBhvr>
                                      <p:tavLst>
                                        <p:tav tm="0">
                                          <p:val>
                                            <p:strVal val="#ppt_y+.1"/>
                                          </p:val>
                                        </p:tav>
                                        <p:tav tm="100000">
                                          <p:val>
                                            <p:strVal val="#ppt_y"/>
                                          </p:val>
                                        </p:tav>
                                      </p:tavLst>
                                    </p:anim>
                                  </p:childTnLst>
                                </p:cTn>
                              </p:par>
                              <p:par>
                                <p:cTn id="117" presetID="42" presetClass="entr" presetSubtype="0" fill="hold" nodeType="withEffect">
                                  <p:stCondLst>
                                    <p:cond delay="0"/>
                                  </p:stCondLst>
                                  <p:childTnLst>
                                    <p:set>
                                      <p:cBhvr>
                                        <p:cTn id="118" dur="1" fill="hold">
                                          <p:stCondLst>
                                            <p:cond delay="0"/>
                                          </p:stCondLst>
                                        </p:cTn>
                                        <p:tgtEl>
                                          <p:spTgt spid="8"/>
                                        </p:tgtEl>
                                        <p:attrNameLst>
                                          <p:attrName>style.visibility</p:attrName>
                                        </p:attrNameLst>
                                      </p:cBhvr>
                                      <p:to>
                                        <p:strVal val="visible"/>
                                      </p:to>
                                    </p:set>
                                    <p:animEffect transition="in" filter="fade">
                                      <p:cBhvr>
                                        <p:cTn id="119" dur="1000"/>
                                        <p:tgtEl>
                                          <p:spTgt spid="8"/>
                                        </p:tgtEl>
                                      </p:cBhvr>
                                    </p:animEffect>
                                    <p:anim calcmode="lin" valueType="num">
                                      <p:cBhvr>
                                        <p:cTn id="120" dur="1000" fill="hold"/>
                                        <p:tgtEl>
                                          <p:spTgt spid="8"/>
                                        </p:tgtEl>
                                        <p:attrNameLst>
                                          <p:attrName>ppt_x</p:attrName>
                                        </p:attrNameLst>
                                      </p:cBhvr>
                                      <p:tavLst>
                                        <p:tav tm="0">
                                          <p:val>
                                            <p:strVal val="#ppt_x"/>
                                          </p:val>
                                        </p:tav>
                                        <p:tav tm="100000">
                                          <p:val>
                                            <p:strVal val="#ppt_x"/>
                                          </p:val>
                                        </p:tav>
                                      </p:tavLst>
                                    </p:anim>
                                    <p:anim calcmode="lin" valueType="num">
                                      <p:cBhvr>
                                        <p:cTn id="121"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22" fill="hold">
                      <p:stCondLst>
                        <p:cond delay="indefinite"/>
                      </p:stCondLst>
                      <p:childTnLst>
                        <p:par>
                          <p:cTn id="123" fill="hold">
                            <p:stCondLst>
                              <p:cond delay="0"/>
                            </p:stCondLst>
                            <p:childTnLst>
                              <p:par>
                                <p:cTn id="124" presetID="47" presetClass="entr" presetSubtype="0" fill="hold" nodeType="clickEffect">
                                  <p:stCondLst>
                                    <p:cond delay="0"/>
                                  </p:stCondLst>
                                  <p:childTnLst>
                                    <p:set>
                                      <p:cBhvr>
                                        <p:cTn id="125" dur="1" fill="hold">
                                          <p:stCondLst>
                                            <p:cond delay="0"/>
                                          </p:stCondLst>
                                        </p:cTn>
                                        <p:tgtEl>
                                          <p:spTgt spid="52"/>
                                        </p:tgtEl>
                                        <p:attrNameLst>
                                          <p:attrName>style.visibility</p:attrName>
                                        </p:attrNameLst>
                                      </p:cBhvr>
                                      <p:to>
                                        <p:strVal val="visible"/>
                                      </p:to>
                                    </p:set>
                                    <p:animEffect transition="in" filter="fade">
                                      <p:cBhvr>
                                        <p:cTn id="126" dur="1000"/>
                                        <p:tgtEl>
                                          <p:spTgt spid="52"/>
                                        </p:tgtEl>
                                      </p:cBhvr>
                                    </p:animEffect>
                                    <p:anim calcmode="lin" valueType="num">
                                      <p:cBhvr>
                                        <p:cTn id="127" dur="1000" fill="hold"/>
                                        <p:tgtEl>
                                          <p:spTgt spid="52"/>
                                        </p:tgtEl>
                                        <p:attrNameLst>
                                          <p:attrName>ppt_x</p:attrName>
                                        </p:attrNameLst>
                                      </p:cBhvr>
                                      <p:tavLst>
                                        <p:tav tm="0">
                                          <p:val>
                                            <p:strVal val="#ppt_x"/>
                                          </p:val>
                                        </p:tav>
                                        <p:tav tm="100000">
                                          <p:val>
                                            <p:strVal val="#ppt_x"/>
                                          </p:val>
                                        </p:tav>
                                      </p:tavLst>
                                    </p:anim>
                                    <p:anim calcmode="lin" valueType="num">
                                      <p:cBhvr>
                                        <p:cTn id="128" dur="1000" fill="hold"/>
                                        <p:tgtEl>
                                          <p:spTgt spid="52"/>
                                        </p:tgtEl>
                                        <p:attrNameLst>
                                          <p:attrName>ppt_y</p:attrName>
                                        </p:attrNameLst>
                                      </p:cBhvr>
                                      <p:tavLst>
                                        <p:tav tm="0">
                                          <p:val>
                                            <p:strVal val="#ppt_y-.1"/>
                                          </p:val>
                                        </p:tav>
                                        <p:tav tm="100000">
                                          <p:val>
                                            <p:strVal val="#ppt_y"/>
                                          </p:val>
                                        </p:tav>
                                      </p:tavLst>
                                    </p:anim>
                                  </p:childTnLst>
                                </p:cTn>
                              </p:par>
                            </p:childTnLst>
                          </p:cTn>
                        </p:par>
                        <p:par>
                          <p:cTn id="129" fill="hold">
                            <p:stCondLst>
                              <p:cond delay="1000"/>
                            </p:stCondLst>
                            <p:childTnLst>
                              <p:par>
                                <p:cTn id="130" presetID="22" presetClass="entr" presetSubtype="8" fill="hold" nodeType="afterEffect">
                                  <p:stCondLst>
                                    <p:cond delay="0"/>
                                  </p:stCondLst>
                                  <p:childTnLst>
                                    <p:set>
                                      <p:cBhvr>
                                        <p:cTn id="131" dur="1" fill="hold">
                                          <p:stCondLst>
                                            <p:cond delay="0"/>
                                          </p:stCondLst>
                                        </p:cTn>
                                        <p:tgtEl>
                                          <p:spTgt spid="14"/>
                                        </p:tgtEl>
                                        <p:attrNameLst>
                                          <p:attrName>style.visibility</p:attrName>
                                        </p:attrNameLst>
                                      </p:cBhvr>
                                      <p:to>
                                        <p:strVal val="visible"/>
                                      </p:to>
                                    </p:set>
                                    <p:animEffect transition="in" filter="wipe(left)">
                                      <p:cBhvr>
                                        <p:cTn id="132" dur="500"/>
                                        <p:tgtEl>
                                          <p:spTgt spid="14"/>
                                        </p:tgtEl>
                                      </p:cBhvr>
                                    </p:animEffect>
                                  </p:childTnLst>
                                </p:cTn>
                              </p:par>
                            </p:childTnLst>
                          </p:cTn>
                        </p:par>
                      </p:childTnLst>
                    </p:cTn>
                  </p:par>
                  <p:par>
                    <p:cTn id="133" fill="hold">
                      <p:stCondLst>
                        <p:cond delay="indefinite"/>
                      </p:stCondLst>
                      <p:childTnLst>
                        <p:par>
                          <p:cTn id="134" fill="hold">
                            <p:stCondLst>
                              <p:cond delay="0"/>
                            </p:stCondLst>
                            <p:childTnLst>
                              <p:par>
                                <p:cTn id="135" presetID="22" presetClass="entr" presetSubtype="4" fill="hold" nodeType="clickEffect">
                                  <p:stCondLst>
                                    <p:cond delay="0"/>
                                  </p:stCondLst>
                                  <p:childTnLst>
                                    <p:set>
                                      <p:cBhvr>
                                        <p:cTn id="136" dur="1" fill="hold">
                                          <p:stCondLst>
                                            <p:cond delay="0"/>
                                          </p:stCondLst>
                                        </p:cTn>
                                        <p:tgtEl>
                                          <p:spTgt spid="56"/>
                                        </p:tgtEl>
                                        <p:attrNameLst>
                                          <p:attrName>style.visibility</p:attrName>
                                        </p:attrNameLst>
                                      </p:cBhvr>
                                      <p:to>
                                        <p:strVal val="visible"/>
                                      </p:to>
                                    </p:set>
                                    <p:animEffect transition="in" filter="wipe(down)">
                                      <p:cBhvr>
                                        <p:cTn id="137" dur="1000"/>
                                        <p:tgtEl>
                                          <p:spTgt spid="56"/>
                                        </p:tgtEl>
                                      </p:cBhvr>
                                    </p:animEffect>
                                  </p:childTnLst>
                                </p:cTn>
                              </p:par>
                              <p:par>
                                <p:cTn id="138" presetID="22" presetClass="entr" presetSubtype="8" fill="hold" nodeType="withEffect">
                                  <p:stCondLst>
                                    <p:cond delay="0"/>
                                  </p:stCondLst>
                                  <p:childTnLst>
                                    <p:set>
                                      <p:cBhvr>
                                        <p:cTn id="139" dur="1" fill="hold">
                                          <p:stCondLst>
                                            <p:cond delay="0"/>
                                          </p:stCondLst>
                                        </p:cTn>
                                        <p:tgtEl>
                                          <p:spTgt spid="65"/>
                                        </p:tgtEl>
                                        <p:attrNameLst>
                                          <p:attrName>style.visibility</p:attrName>
                                        </p:attrNameLst>
                                      </p:cBhvr>
                                      <p:to>
                                        <p:strVal val="visible"/>
                                      </p:to>
                                    </p:set>
                                    <p:animEffect transition="in" filter="wipe(left)">
                                      <p:cBhvr>
                                        <p:cTn id="140" dur="500"/>
                                        <p:tgtEl>
                                          <p:spTgt spid="65"/>
                                        </p:tgtEl>
                                      </p:cBhvr>
                                    </p:animEffect>
                                  </p:childTnLst>
                                </p:cTn>
                              </p:par>
                              <p:par>
                                <p:cTn id="141" presetID="22" presetClass="entr" presetSubtype="4" fill="hold" nodeType="withEffect">
                                  <p:stCondLst>
                                    <p:cond delay="0"/>
                                  </p:stCondLst>
                                  <p:childTnLst>
                                    <p:set>
                                      <p:cBhvr>
                                        <p:cTn id="142" dur="1" fill="hold">
                                          <p:stCondLst>
                                            <p:cond delay="0"/>
                                          </p:stCondLst>
                                        </p:cTn>
                                        <p:tgtEl>
                                          <p:spTgt spid="57"/>
                                        </p:tgtEl>
                                        <p:attrNameLst>
                                          <p:attrName>style.visibility</p:attrName>
                                        </p:attrNameLst>
                                      </p:cBhvr>
                                      <p:to>
                                        <p:strVal val="visible"/>
                                      </p:to>
                                    </p:set>
                                    <p:animEffect transition="in" filter="wipe(down)">
                                      <p:cBhvr>
                                        <p:cTn id="143" dur="1000"/>
                                        <p:tgtEl>
                                          <p:spTgt spid="57"/>
                                        </p:tgtEl>
                                      </p:cBhvr>
                                    </p:animEffect>
                                  </p:childTnLst>
                                </p:cTn>
                              </p:par>
                              <p:par>
                                <p:cTn id="144" presetID="42" presetClass="entr" presetSubtype="0" fill="hold" grpId="0" nodeType="withEffect">
                                  <p:stCondLst>
                                    <p:cond delay="0"/>
                                  </p:stCondLst>
                                  <p:childTnLst>
                                    <p:set>
                                      <p:cBhvr>
                                        <p:cTn id="145" dur="1" fill="hold">
                                          <p:stCondLst>
                                            <p:cond delay="0"/>
                                          </p:stCondLst>
                                        </p:cTn>
                                        <p:tgtEl>
                                          <p:spTgt spid="59"/>
                                        </p:tgtEl>
                                        <p:attrNameLst>
                                          <p:attrName>style.visibility</p:attrName>
                                        </p:attrNameLst>
                                      </p:cBhvr>
                                      <p:to>
                                        <p:strVal val="visible"/>
                                      </p:to>
                                    </p:set>
                                    <p:animEffect transition="in" filter="fade">
                                      <p:cBhvr>
                                        <p:cTn id="146" dur="1000"/>
                                        <p:tgtEl>
                                          <p:spTgt spid="59"/>
                                        </p:tgtEl>
                                      </p:cBhvr>
                                    </p:animEffect>
                                    <p:anim calcmode="lin" valueType="num">
                                      <p:cBhvr>
                                        <p:cTn id="147" dur="1000" fill="hold"/>
                                        <p:tgtEl>
                                          <p:spTgt spid="59"/>
                                        </p:tgtEl>
                                        <p:attrNameLst>
                                          <p:attrName>ppt_x</p:attrName>
                                        </p:attrNameLst>
                                      </p:cBhvr>
                                      <p:tavLst>
                                        <p:tav tm="0">
                                          <p:val>
                                            <p:strVal val="#ppt_x"/>
                                          </p:val>
                                        </p:tav>
                                        <p:tav tm="100000">
                                          <p:val>
                                            <p:strVal val="#ppt_x"/>
                                          </p:val>
                                        </p:tav>
                                      </p:tavLst>
                                    </p:anim>
                                    <p:anim calcmode="lin" valueType="num">
                                      <p:cBhvr>
                                        <p:cTn id="148" dur="1000" fill="hold"/>
                                        <p:tgtEl>
                                          <p:spTgt spid="59"/>
                                        </p:tgtEl>
                                        <p:attrNameLst>
                                          <p:attrName>ppt_y</p:attrName>
                                        </p:attrNameLst>
                                      </p:cBhvr>
                                      <p:tavLst>
                                        <p:tav tm="0">
                                          <p:val>
                                            <p:strVal val="#ppt_y+.1"/>
                                          </p:val>
                                        </p:tav>
                                        <p:tav tm="100000">
                                          <p:val>
                                            <p:strVal val="#ppt_y"/>
                                          </p:val>
                                        </p:tav>
                                      </p:tavLst>
                                    </p:anim>
                                  </p:childTnLst>
                                </p:cTn>
                              </p:par>
                            </p:childTnLst>
                          </p:cTn>
                        </p:par>
                        <p:par>
                          <p:cTn id="149" fill="hold">
                            <p:stCondLst>
                              <p:cond delay="1000"/>
                            </p:stCondLst>
                            <p:childTnLst>
                              <p:par>
                                <p:cTn id="150" presetID="1" presetClass="entr" presetSubtype="0" fill="hold" grpId="0" nodeType="afterEffect">
                                  <p:stCondLst>
                                    <p:cond delay="0"/>
                                  </p:stCondLst>
                                  <p:childTnLst>
                                    <p:set>
                                      <p:cBhvr>
                                        <p:cTn id="151" dur="1" fill="hold">
                                          <p:stCondLst>
                                            <p:cond delay="0"/>
                                          </p:stCondLst>
                                        </p:cTn>
                                        <p:tgtEl>
                                          <p:spTgt spid="81"/>
                                        </p:tgtEl>
                                        <p:attrNameLst>
                                          <p:attrName>style.visibility</p:attrName>
                                        </p:attrNameLst>
                                      </p:cBhvr>
                                      <p:to>
                                        <p:strVal val="visible"/>
                                      </p:to>
                                    </p:set>
                                  </p:childTnLst>
                                </p:cTn>
                              </p:par>
                              <p:par>
                                <p:cTn id="152" presetID="63" presetClass="path" presetSubtype="0" accel="50000" decel="50000" fill="hold" grpId="1" nodeType="withEffect">
                                  <p:stCondLst>
                                    <p:cond delay="0"/>
                                  </p:stCondLst>
                                  <p:childTnLst>
                                    <p:animMotion origin="layout" path="M -1.66667E-6 -4.44444E-6 L 0.45612 -0.08611 " pathEditMode="relative" rAng="0" ptsTypes="AA">
                                      <p:cBhvr>
                                        <p:cTn id="153" dur="2000" fill="hold"/>
                                        <p:tgtEl>
                                          <p:spTgt spid="81"/>
                                        </p:tgtEl>
                                        <p:attrNameLst>
                                          <p:attrName>ppt_x</p:attrName>
                                          <p:attrName>ppt_y</p:attrName>
                                        </p:attrNameLst>
                                      </p:cBhvr>
                                      <p:rCtr x="22799" y="-4306"/>
                                    </p:animMotion>
                                  </p:childTnLst>
                                </p:cTn>
                              </p:par>
                            </p:childTnLst>
                          </p:cTn>
                        </p:par>
                        <p:par>
                          <p:cTn id="154" fill="hold">
                            <p:stCondLst>
                              <p:cond delay="3000"/>
                            </p:stCondLst>
                            <p:childTnLst>
                              <p:par>
                                <p:cTn id="155" presetID="1" presetClass="entr" presetSubtype="0" fill="hold" grpId="0" nodeType="afterEffect">
                                  <p:stCondLst>
                                    <p:cond delay="0"/>
                                  </p:stCondLst>
                                  <p:childTnLst>
                                    <p:set>
                                      <p:cBhvr>
                                        <p:cTn id="156" dur="1" fill="hold">
                                          <p:stCondLst>
                                            <p:cond delay="0"/>
                                          </p:stCondLst>
                                        </p:cTn>
                                        <p:tgtEl>
                                          <p:spTgt spid="82"/>
                                        </p:tgtEl>
                                        <p:attrNameLst>
                                          <p:attrName>style.visibility</p:attrName>
                                        </p:attrNameLst>
                                      </p:cBhvr>
                                      <p:to>
                                        <p:strVal val="visible"/>
                                      </p:to>
                                    </p:set>
                                  </p:childTnLst>
                                </p:cTn>
                              </p:par>
                              <p:par>
                                <p:cTn id="157" presetID="63" presetClass="path" presetSubtype="0" accel="50000" decel="50000" fill="hold" grpId="1" nodeType="withEffect">
                                  <p:stCondLst>
                                    <p:cond delay="0"/>
                                  </p:stCondLst>
                                  <p:childTnLst>
                                    <p:animMotion origin="layout" path="M 2.08333E-6 -4.44444E-6 L 0.39596 -0.04143 " pathEditMode="relative" rAng="0" ptsTypes="AA">
                                      <p:cBhvr>
                                        <p:cTn id="158" dur="2000" fill="hold"/>
                                        <p:tgtEl>
                                          <p:spTgt spid="82"/>
                                        </p:tgtEl>
                                        <p:attrNameLst>
                                          <p:attrName>ppt_x</p:attrName>
                                          <p:attrName>ppt_y</p:attrName>
                                        </p:attrNameLst>
                                      </p:cBhvr>
                                      <p:rCtr x="19792" y="-2083"/>
                                    </p:animMotion>
                                  </p:childTnLst>
                                </p:cTn>
                              </p:par>
                            </p:childTnLst>
                          </p:cTn>
                        </p:par>
                      </p:childTnLst>
                    </p:cTn>
                  </p:par>
                  <p:par>
                    <p:cTn id="159" fill="hold">
                      <p:stCondLst>
                        <p:cond delay="indefinite"/>
                      </p:stCondLst>
                      <p:childTnLst>
                        <p:par>
                          <p:cTn id="160" fill="hold">
                            <p:stCondLst>
                              <p:cond delay="0"/>
                            </p:stCondLst>
                            <p:childTnLst>
                              <p:par>
                                <p:cTn id="161" presetID="22" presetClass="entr" presetSubtype="8" fill="hold" nodeType="clickEffect">
                                  <p:stCondLst>
                                    <p:cond delay="0"/>
                                  </p:stCondLst>
                                  <p:childTnLst>
                                    <p:set>
                                      <p:cBhvr>
                                        <p:cTn id="162" dur="1" fill="hold">
                                          <p:stCondLst>
                                            <p:cond delay="0"/>
                                          </p:stCondLst>
                                        </p:cTn>
                                        <p:tgtEl>
                                          <p:spTgt spid="60"/>
                                        </p:tgtEl>
                                        <p:attrNameLst>
                                          <p:attrName>style.visibility</p:attrName>
                                        </p:attrNameLst>
                                      </p:cBhvr>
                                      <p:to>
                                        <p:strVal val="visible"/>
                                      </p:to>
                                    </p:set>
                                    <p:animEffect transition="in" filter="wipe(left)">
                                      <p:cBhvr>
                                        <p:cTn id="163" dur="500"/>
                                        <p:tgtEl>
                                          <p:spTgt spid="60"/>
                                        </p:tgtEl>
                                      </p:cBhvr>
                                    </p:animEffect>
                                  </p:childTnLst>
                                </p:cTn>
                              </p:par>
                            </p:childTnLst>
                          </p:cTn>
                        </p:par>
                        <p:par>
                          <p:cTn id="164" fill="hold">
                            <p:stCondLst>
                              <p:cond delay="500"/>
                            </p:stCondLst>
                            <p:childTnLst>
                              <p:par>
                                <p:cTn id="165" presetID="16" presetClass="entr" presetSubtype="21" fill="hold" grpId="0" nodeType="afterEffect">
                                  <p:stCondLst>
                                    <p:cond delay="0"/>
                                  </p:stCondLst>
                                  <p:childTnLst>
                                    <p:set>
                                      <p:cBhvr>
                                        <p:cTn id="166" dur="1" fill="hold">
                                          <p:stCondLst>
                                            <p:cond delay="0"/>
                                          </p:stCondLst>
                                        </p:cTn>
                                        <p:tgtEl>
                                          <p:spTgt spid="38"/>
                                        </p:tgtEl>
                                        <p:attrNameLst>
                                          <p:attrName>style.visibility</p:attrName>
                                        </p:attrNameLst>
                                      </p:cBhvr>
                                      <p:to>
                                        <p:strVal val="visible"/>
                                      </p:to>
                                    </p:set>
                                    <p:animEffect transition="in" filter="barn(inVertical)">
                                      <p:cBhvr>
                                        <p:cTn id="167" dur="500"/>
                                        <p:tgtEl>
                                          <p:spTgt spid="38"/>
                                        </p:tgtEl>
                                      </p:cBhvr>
                                    </p:animEffect>
                                  </p:childTnLst>
                                </p:cTn>
                              </p:par>
                            </p:childTnLst>
                          </p:cTn>
                        </p:par>
                        <p:par>
                          <p:cTn id="168" fill="hold">
                            <p:stCondLst>
                              <p:cond delay="1000"/>
                            </p:stCondLst>
                            <p:childTnLst>
                              <p:par>
                                <p:cTn id="169" presetID="22" presetClass="entr" presetSubtype="8" fill="hold" nodeType="afterEffect">
                                  <p:stCondLst>
                                    <p:cond delay="0"/>
                                  </p:stCondLst>
                                  <p:childTnLst>
                                    <p:set>
                                      <p:cBhvr>
                                        <p:cTn id="170" dur="1" fill="hold">
                                          <p:stCondLst>
                                            <p:cond delay="0"/>
                                          </p:stCondLst>
                                        </p:cTn>
                                        <p:tgtEl>
                                          <p:spTgt spid="40"/>
                                        </p:tgtEl>
                                        <p:attrNameLst>
                                          <p:attrName>style.visibility</p:attrName>
                                        </p:attrNameLst>
                                      </p:cBhvr>
                                      <p:to>
                                        <p:strVal val="visible"/>
                                      </p:to>
                                    </p:set>
                                    <p:animEffect transition="in" filter="wipe(left)">
                                      <p:cBhvr>
                                        <p:cTn id="171" dur="500"/>
                                        <p:tgtEl>
                                          <p:spTgt spid="40"/>
                                        </p:tgtEl>
                                      </p:cBhvr>
                                    </p:animEffect>
                                  </p:childTnLst>
                                </p:cTn>
                              </p:par>
                            </p:childTnLst>
                          </p:cTn>
                        </p:par>
                      </p:childTnLst>
                    </p:cTn>
                  </p:par>
                  <p:par>
                    <p:cTn id="172" fill="hold">
                      <p:stCondLst>
                        <p:cond delay="indefinite"/>
                      </p:stCondLst>
                      <p:childTnLst>
                        <p:par>
                          <p:cTn id="173" fill="hold">
                            <p:stCondLst>
                              <p:cond delay="0"/>
                            </p:stCondLst>
                            <p:childTnLst>
                              <p:par>
                                <p:cTn id="174" presetID="22" presetClass="exit" presetSubtype="1" fill="hold" nodeType="clickEffect">
                                  <p:stCondLst>
                                    <p:cond delay="0"/>
                                  </p:stCondLst>
                                  <p:childTnLst>
                                    <p:animEffect transition="out" filter="wipe(up)">
                                      <p:cBhvr>
                                        <p:cTn id="175" dur="500"/>
                                        <p:tgtEl>
                                          <p:spTgt spid="60"/>
                                        </p:tgtEl>
                                      </p:cBhvr>
                                    </p:animEffect>
                                    <p:set>
                                      <p:cBhvr>
                                        <p:cTn id="176" dur="1" fill="hold">
                                          <p:stCondLst>
                                            <p:cond delay="499"/>
                                          </p:stCondLst>
                                        </p:cTn>
                                        <p:tgtEl>
                                          <p:spTgt spid="60"/>
                                        </p:tgtEl>
                                        <p:attrNameLst>
                                          <p:attrName>style.visibility</p:attrName>
                                        </p:attrNameLst>
                                      </p:cBhvr>
                                      <p:to>
                                        <p:strVal val="hidden"/>
                                      </p:to>
                                    </p:set>
                                  </p:childTnLst>
                                </p:cTn>
                              </p:par>
                              <p:par>
                                <p:cTn id="177" presetID="47" presetClass="entr" presetSubtype="0" fill="hold" nodeType="withEffect">
                                  <p:stCondLst>
                                    <p:cond delay="0"/>
                                  </p:stCondLst>
                                  <p:childTnLst>
                                    <p:set>
                                      <p:cBhvr>
                                        <p:cTn id="178" dur="1" fill="hold">
                                          <p:stCondLst>
                                            <p:cond delay="0"/>
                                          </p:stCondLst>
                                        </p:cTn>
                                        <p:tgtEl>
                                          <p:spTgt spid="103"/>
                                        </p:tgtEl>
                                        <p:attrNameLst>
                                          <p:attrName>style.visibility</p:attrName>
                                        </p:attrNameLst>
                                      </p:cBhvr>
                                      <p:to>
                                        <p:strVal val="visible"/>
                                      </p:to>
                                    </p:set>
                                    <p:animEffect transition="in" filter="fade">
                                      <p:cBhvr>
                                        <p:cTn id="179" dur="1000"/>
                                        <p:tgtEl>
                                          <p:spTgt spid="103"/>
                                        </p:tgtEl>
                                      </p:cBhvr>
                                    </p:animEffect>
                                    <p:anim calcmode="lin" valueType="num">
                                      <p:cBhvr>
                                        <p:cTn id="180" dur="1000" fill="hold"/>
                                        <p:tgtEl>
                                          <p:spTgt spid="103"/>
                                        </p:tgtEl>
                                        <p:attrNameLst>
                                          <p:attrName>ppt_x</p:attrName>
                                        </p:attrNameLst>
                                      </p:cBhvr>
                                      <p:tavLst>
                                        <p:tav tm="0">
                                          <p:val>
                                            <p:strVal val="#ppt_x"/>
                                          </p:val>
                                        </p:tav>
                                        <p:tav tm="100000">
                                          <p:val>
                                            <p:strVal val="#ppt_x"/>
                                          </p:val>
                                        </p:tav>
                                      </p:tavLst>
                                    </p:anim>
                                    <p:anim calcmode="lin" valueType="num">
                                      <p:cBhvr>
                                        <p:cTn id="181" dur="1000" fill="hold"/>
                                        <p:tgtEl>
                                          <p:spTgt spid="103"/>
                                        </p:tgtEl>
                                        <p:attrNameLst>
                                          <p:attrName>ppt_y</p:attrName>
                                        </p:attrNameLst>
                                      </p:cBhvr>
                                      <p:tavLst>
                                        <p:tav tm="0">
                                          <p:val>
                                            <p:strVal val="#ppt_y-.1"/>
                                          </p:val>
                                        </p:tav>
                                        <p:tav tm="100000">
                                          <p:val>
                                            <p:strVal val="#ppt_y"/>
                                          </p:val>
                                        </p:tav>
                                      </p:tavLst>
                                    </p:anim>
                                  </p:childTnLst>
                                </p:cTn>
                              </p:par>
                            </p:childTnLst>
                          </p:cTn>
                        </p:par>
                        <p:par>
                          <p:cTn id="182" fill="hold">
                            <p:stCondLst>
                              <p:cond delay="1500"/>
                            </p:stCondLst>
                            <p:childTnLst>
                              <p:par>
                                <p:cTn id="183" presetID="1" presetClass="entr" presetSubtype="0" fill="hold" grpId="0" nodeType="afterEffect">
                                  <p:stCondLst>
                                    <p:cond delay="0"/>
                                  </p:stCondLst>
                                  <p:childTnLst>
                                    <p:set>
                                      <p:cBhvr>
                                        <p:cTn id="184" dur="1" fill="hold">
                                          <p:stCondLst>
                                            <p:cond delay="0"/>
                                          </p:stCondLst>
                                        </p:cTn>
                                        <p:tgtEl>
                                          <p:spTgt spid="101"/>
                                        </p:tgtEl>
                                        <p:attrNameLst>
                                          <p:attrName>style.visibility</p:attrName>
                                        </p:attrNameLst>
                                      </p:cBhvr>
                                      <p:to>
                                        <p:strVal val="visible"/>
                                      </p:to>
                                    </p:set>
                                  </p:childTnLst>
                                </p:cTn>
                              </p:par>
                              <p:par>
                                <p:cTn id="185" presetID="63" presetClass="path" presetSubtype="0" accel="50000" decel="50000" fill="hold" grpId="1" nodeType="withEffect">
                                  <p:stCondLst>
                                    <p:cond delay="0"/>
                                  </p:stCondLst>
                                  <p:childTnLst>
                                    <p:animMotion origin="layout" path="M 4.16667E-7 3.7037E-6 L 0.62461 0.22893 " pathEditMode="relative" rAng="0" ptsTypes="AA">
                                      <p:cBhvr>
                                        <p:cTn id="186" dur="2000" fill="hold"/>
                                        <p:tgtEl>
                                          <p:spTgt spid="101"/>
                                        </p:tgtEl>
                                        <p:attrNameLst>
                                          <p:attrName>ppt_x</p:attrName>
                                          <p:attrName>ppt_y</p:attrName>
                                        </p:attrNameLst>
                                      </p:cBhvr>
                                      <p:rCtr x="31224" y="11435"/>
                                    </p:animMotion>
                                  </p:childTnLst>
                                </p:cTn>
                              </p:par>
                            </p:childTnLst>
                          </p:cTn>
                        </p:par>
                      </p:childTnLst>
                    </p:cTn>
                  </p:par>
                  <p:par>
                    <p:cTn id="187" fill="hold">
                      <p:stCondLst>
                        <p:cond delay="indefinite"/>
                      </p:stCondLst>
                      <p:childTnLst>
                        <p:par>
                          <p:cTn id="188" fill="hold">
                            <p:stCondLst>
                              <p:cond delay="0"/>
                            </p:stCondLst>
                            <p:childTnLst>
                              <p:par>
                                <p:cTn id="189" presetID="22" presetClass="exit" presetSubtype="1" fill="hold" nodeType="clickEffect">
                                  <p:stCondLst>
                                    <p:cond delay="0"/>
                                  </p:stCondLst>
                                  <p:childTnLst>
                                    <p:animEffect transition="out" filter="wipe(up)">
                                      <p:cBhvr>
                                        <p:cTn id="190" dur="500"/>
                                        <p:tgtEl>
                                          <p:spTgt spid="103"/>
                                        </p:tgtEl>
                                      </p:cBhvr>
                                    </p:animEffect>
                                    <p:set>
                                      <p:cBhvr>
                                        <p:cTn id="191" dur="1" fill="hold">
                                          <p:stCondLst>
                                            <p:cond delay="499"/>
                                          </p:stCondLst>
                                        </p:cTn>
                                        <p:tgtEl>
                                          <p:spTgt spid="103"/>
                                        </p:tgtEl>
                                        <p:attrNameLst>
                                          <p:attrName>style.visibility</p:attrName>
                                        </p:attrNameLst>
                                      </p:cBhvr>
                                      <p:to>
                                        <p:strVal val="hidden"/>
                                      </p:to>
                                    </p:set>
                                  </p:childTnLst>
                                </p:cTn>
                              </p:par>
                              <p:par>
                                <p:cTn id="192" presetID="22" presetClass="entr" presetSubtype="8" fill="hold" nodeType="withEffect">
                                  <p:stCondLst>
                                    <p:cond delay="0"/>
                                  </p:stCondLst>
                                  <p:childTnLst>
                                    <p:set>
                                      <p:cBhvr>
                                        <p:cTn id="193" dur="1" fill="hold">
                                          <p:stCondLst>
                                            <p:cond delay="0"/>
                                          </p:stCondLst>
                                        </p:cTn>
                                        <p:tgtEl>
                                          <p:spTgt spid="83"/>
                                        </p:tgtEl>
                                        <p:attrNameLst>
                                          <p:attrName>style.visibility</p:attrName>
                                        </p:attrNameLst>
                                      </p:cBhvr>
                                      <p:to>
                                        <p:strVal val="visible"/>
                                      </p:to>
                                    </p:set>
                                    <p:animEffect transition="in" filter="wipe(left)">
                                      <p:cBhvr>
                                        <p:cTn id="194" dur="500"/>
                                        <p:tgtEl>
                                          <p:spTgt spid="83"/>
                                        </p:tgtEl>
                                      </p:cBhvr>
                                    </p:animEffect>
                                  </p:childTnLst>
                                </p:cTn>
                              </p:par>
                            </p:childTnLst>
                          </p:cTn>
                        </p:par>
                        <p:par>
                          <p:cTn id="195" fill="hold">
                            <p:stCondLst>
                              <p:cond delay="500"/>
                            </p:stCondLst>
                            <p:childTnLst>
                              <p:par>
                                <p:cTn id="196" presetID="16" presetClass="entr" presetSubtype="21" fill="hold" grpId="0" nodeType="afterEffect">
                                  <p:stCondLst>
                                    <p:cond delay="0"/>
                                  </p:stCondLst>
                                  <p:childTnLst>
                                    <p:set>
                                      <p:cBhvr>
                                        <p:cTn id="197" dur="1" fill="hold">
                                          <p:stCondLst>
                                            <p:cond delay="0"/>
                                          </p:stCondLst>
                                        </p:cTn>
                                        <p:tgtEl>
                                          <p:spTgt spid="39"/>
                                        </p:tgtEl>
                                        <p:attrNameLst>
                                          <p:attrName>style.visibility</p:attrName>
                                        </p:attrNameLst>
                                      </p:cBhvr>
                                      <p:to>
                                        <p:strVal val="visible"/>
                                      </p:to>
                                    </p:set>
                                    <p:animEffect transition="in" filter="barn(inVertical)">
                                      <p:cBhvr>
                                        <p:cTn id="198" dur="500"/>
                                        <p:tgtEl>
                                          <p:spTgt spid="39"/>
                                        </p:tgtEl>
                                      </p:cBhvr>
                                    </p:animEffect>
                                  </p:childTnLst>
                                </p:cTn>
                              </p:par>
                            </p:childTnLst>
                          </p:cTn>
                        </p:par>
                        <p:par>
                          <p:cTn id="199" fill="hold">
                            <p:stCondLst>
                              <p:cond delay="1000"/>
                            </p:stCondLst>
                            <p:childTnLst>
                              <p:par>
                                <p:cTn id="200" presetID="22" presetClass="entr" presetSubtype="1" fill="hold" nodeType="afterEffect">
                                  <p:stCondLst>
                                    <p:cond delay="0"/>
                                  </p:stCondLst>
                                  <p:childTnLst>
                                    <p:set>
                                      <p:cBhvr>
                                        <p:cTn id="201" dur="1" fill="hold">
                                          <p:stCondLst>
                                            <p:cond delay="0"/>
                                          </p:stCondLst>
                                        </p:cTn>
                                        <p:tgtEl>
                                          <p:spTgt spid="88"/>
                                        </p:tgtEl>
                                        <p:attrNameLst>
                                          <p:attrName>style.visibility</p:attrName>
                                        </p:attrNameLst>
                                      </p:cBhvr>
                                      <p:to>
                                        <p:strVal val="visible"/>
                                      </p:to>
                                    </p:set>
                                    <p:animEffect transition="in" filter="wipe(up)">
                                      <p:cBhvr>
                                        <p:cTn id="202" dur="500"/>
                                        <p:tgtEl>
                                          <p:spTgt spid="88"/>
                                        </p:tgtEl>
                                      </p:cBhvr>
                                    </p:animEffect>
                                  </p:childTnLst>
                                </p:cTn>
                              </p:par>
                            </p:childTnLst>
                          </p:cTn>
                        </p:par>
                        <p:par>
                          <p:cTn id="203" fill="hold">
                            <p:stCondLst>
                              <p:cond delay="1500"/>
                            </p:stCondLst>
                            <p:childTnLst>
                              <p:par>
                                <p:cTn id="204" presetID="22" presetClass="entr" presetSubtype="8" fill="hold" nodeType="afterEffect">
                                  <p:stCondLst>
                                    <p:cond delay="0"/>
                                  </p:stCondLst>
                                  <p:childTnLst>
                                    <p:set>
                                      <p:cBhvr>
                                        <p:cTn id="205" dur="1" fill="hold">
                                          <p:stCondLst>
                                            <p:cond delay="0"/>
                                          </p:stCondLst>
                                        </p:cTn>
                                        <p:tgtEl>
                                          <p:spTgt spid="41"/>
                                        </p:tgtEl>
                                        <p:attrNameLst>
                                          <p:attrName>style.visibility</p:attrName>
                                        </p:attrNameLst>
                                      </p:cBhvr>
                                      <p:to>
                                        <p:strVal val="visible"/>
                                      </p:to>
                                    </p:set>
                                    <p:animEffect transition="in" filter="wipe(left)">
                                      <p:cBhvr>
                                        <p:cTn id="206" dur="500"/>
                                        <p:tgtEl>
                                          <p:spTgt spid="41"/>
                                        </p:tgtEl>
                                      </p:cBhvr>
                                    </p:animEffect>
                                  </p:childTnLst>
                                </p:cTn>
                              </p:par>
                              <p:par>
                                <p:cTn id="207" presetID="22" presetClass="exit" presetSubtype="1" fill="hold" nodeType="withEffect">
                                  <p:stCondLst>
                                    <p:cond delay="0"/>
                                  </p:stCondLst>
                                  <p:childTnLst>
                                    <p:animEffect transition="out" filter="wipe(up)">
                                      <p:cBhvr>
                                        <p:cTn id="208" dur="500"/>
                                        <p:tgtEl>
                                          <p:spTgt spid="83"/>
                                        </p:tgtEl>
                                      </p:cBhvr>
                                    </p:animEffect>
                                    <p:set>
                                      <p:cBhvr>
                                        <p:cTn id="209" dur="1" fill="hold">
                                          <p:stCondLst>
                                            <p:cond delay="499"/>
                                          </p:stCondLst>
                                        </p:cTn>
                                        <p:tgtEl>
                                          <p:spTgt spid="83"/>
                                        </p:tgtEl>
                                        <p:attrNameLst>
                                          <p:attrName>style.visibility</p:attrName>
                                        </p:attrNameLst>
                                      </p:cBhvr>
                                      <p:to>
                                        <p:strVal val="hidden"/>
                                      </p:to>
                                    </p:set>
                                  </p:childTnLst>
                                </p:cTn>
                              </p:par>
                              <p:par>
                                <p:cTn id="210" presetID="22" presetClass="entr" presetSubtype="8" fill="hold" nodeType="withEffect">
                                  <p:stCondLst>
                                    <p:cond delay="0"/>
                                  </p:stCondLst>
                                  <p:childTnLst>
                                    <p:set>
                                      <p:cBhvr>
                                        <p:cTn id="211" dur="1" fill="hold">
                                          <p:stCondLst>
                                            <p:cond delay="0"/>
                                          </p:stCondLst>
                                        </p:cTn>
                                        <p:tgtEl>
                                          <p:spTgt spid="84"/>
                                        </p:tgtEl>
                                        <p:attrNameLst>
                                          <p:attrName>style.visibility</p:attrName>
                                        </p:attrNameLst>
                                      </p:cBhvr>
                                      <p:to>
                                        <p:strVal val="visible"/>
                                      </p:to>
                                    </p:set>
                                    <p:animEffect transition="in" filter="wipe(left)">
                                      <p:cBhvr>
                                        <p:cTn id="212" dur="500"/>
                                        <p:tgtEl>
                                          <p:spTgt spid="84"/>
                                        </p:tgtEl>
                                      </p:cBhvr>
                                    </p:animEffect>
                                  </p:childTnLst>
                                </p:cTn>
                              </p:par>
                            </p:childTnLst>
                          </p:cTn>
                        </p:par>
                        <p:par>
                          <p:cTn id="213" fill="hold">
                            <p:stCondLst>
                              <p:cond delay="2000"/>
                            </p:stCondLst>
                            <p:childTnLst>
                              <p:par>
                                <p:cTn id="214" presetID="16" presetClass="entr" presetSubtype="21" fill="hold" nodeType="afterEffect">
                                  <p:stCondLst>
                                    <p:cond delay="0"/>
                                  </p:stCondLst>
                                  <p:childTnLst>
                                    <p:set>
                                      <p:cBhvr>
                                        <p:cTn id="215" dur="1" fill="hold">
                                          <p:stCondLst>
                                            <p:cond delay="0"/>
                                          </p:stCondLst>
                                        </p:cTn>
                                        <p:tgtEl>
                                          <p:spTgt spid="43"/>
                                        </p:tgtEl>
                                        <p:attrNameLst>
                                          <p:attrName>style.visibility</p:attrName>
                                        </p:attrNameLst>
                                      </p:cBhvr>
                                      <p:to>
                                        <p:strVal val="visible"/>
                                      </p:to>
                                    </p:set>
                                    <p:animEffect transition="in" filter="barn(inVertical)">
                                      <p:cBhvr>
                                        <p:cTn id="216" dur="500"/>
                                        <p:tgtEl>
                                          <p:spTgt spid="43"/>
                                        </p:tgtEl>
                                      </p:cBhvr>
                                    </p:animEffect>
                                  </p:childTnLst>
                                </p:cTn>
                              </p:par>
                            </p:childTnLst>
                          </p:cTn>
                        </p:par>
                        <p:par>
                          <p:cTn id="217" fill="hold">
                            <p:stCondLst>
                              <p:cond delay="2500"/>
                            </p:stCondLst>
                            <p:childTnLst>
                              <p:par>
                                <p:cTn id="218" presetID="22" presetClass="entr" presetSubtype="1" fill="hold" nodeType="afterEffect">
                                  <p:stCondLst>
                                    <p:cond delay="0"/>
                                  </p:stCondLst>
                                  <p:childTnLst>
                                    <p:set>
                                      <p:cBhvr>
                                        <p:cTn id="219" dur="1" fill="hold">
                                          <p:stCondLst>
                                            <p:cond delay="0"/>
                                          </p:stCondLst>
                                        </p:cTn>
                                        <p:tgtEl>
                                          <p:spTgt spid="91"/>
                                        </p:tgtEl>
                                        <p:attrNameLst>
                                          <p:attrName>style.visibility</p:attrName>
                                        </p:attrNameLst>
                                      </p:cBhvr>
                                      <p:to>
                                        <p:strVal val="visible"/>
                                      </p:to>
                                    </p:set>
                                    <p:animEffect transition="in" filter="wipe(up)">
                                      <p:cBhvr>
                                        <p:cTn id="220" dur="500"/>
                                        <p:tgtEl>
                                          <p:spTgt spid="91"/>
                                        </p:tgtEl>
                                      </p:cBhvr>
                                    </p:animEffect>
                                  </p:childTnLst>
                                </p:cTn>
                              </p:par>
                            </p:childTnLst>
                          </p:cTn>
                        </p:par>
                        <p:par>
                          <p:cTn id="221" fill="hold">
                            <p:stCondLst>
                              <p:cond delay="3000"/>
                            </p:stCondLst>
                            <p:childTnLst>
                              <p:par>
                                <p:cTn id="222" presetID="22" presetClass="entr" presetSubtype="8" fill="hold" nodeType="afterEffect">
                                  <p:stCondLst>
                                    <p:cond delay="0"/>
                                  </p:stCondLst>
                                  <p:childTnLst>
                                    <p:set>
                                      <p:cBhvr>
                                        <p:cTn id="223" dur="1" fill="hold">
                                          <p:stCondLst>
                                            <p:cond delay="0"/>
                                          </p:stCondLst>
                                        </p:cTn>
                                        <p:tgtEl>
                                          <p:spTgt spid="42"/>
                                        </p:tgtEl>
                                        <p:attrNameLst>
                                          <p:attrName>style.visibility</p:attrName>
                                        </p:attrNameLst>
                                      </p:cBhvr>
                                      <p:to>
                                        <p:strVal val="visible"/>
                                      </p:to>
                                    </p:set>
                                    <p:animEffect transition="in" filter="wipe(left)">
                                      <p:cBhvr>
                                        <p:cTn id="224" dur="500"/>
                                        <p:tgtEl>
                                          <p:spTgt spid="42"/>
                                        </p:tgtEl>
                                      </p:cBhvr>
                                    </p:animEffect>
                                  </p:childTnLst>
                                </p:cTn>
                              </p:par>
                            </p:childTnLst>
                          </p:cTn>
                        </p:par>
                        <p:par>
                          <p:cTn id="225" fill="hold">
                            <p:stCondLst>
                              <p:cond delay="3500"/>
                            </p:stCondLst>
                            <p:childTnLst>
                              <p:par>
                                <p:cTn id="226" presetID="22" presetClass="exit" presetSubtype="1" fill="hold" nodeType="afterEffect">
                                  <p:stCondLst>
                                    <p:cond delay="0"/>
                                  </p:stCondLst>
                                  <p:childTnLst>
                                    <p:animEffect transition="out" filter="wipe(up)">
                                      <p:cBhvr>
                                        <p:cTn id="227" dur="500"/>
                                        <p:tgtEl>
                                          <p:spTgt spid="84"/>
                                        </p:tgtEl>
                                      </p:cBhvr>
                                    </p:animEffect>
                                    <p:set>
                                      <p:cBhvr>
                                        <p:cTn id="228" dur="1" fill="hold">
                                          <p:stCondLst>
                                            <p:cond delay="499"/>
                                          </p:stCondLst>
                                        </p:cTn>
                                        <p:tgtEl>
                                          <p:spTgt spid="84"/>
                                        </p:tgtEl>
                                        <p:attrNameLst>
                                          <p:attrName>style.visibility</p:attrName>
                                        </p:attrNameLst>
                                      </p:cBhvr>
                                      <p:to>
                                        <p:strVal val="hidden"/>
                                      </p:to>
                                    </p:set>
                                  </p:childTnLst>
                                </p:cTn>
                              </p:par>
                            </p:childTnLst>
                          </p:cTn>
                        </p:par>
                      </p:childTnLst>
                    </p:cTn>
                  </p:par>
                  <p:par>
                    <p:cTn id="229" fill="hold">
                      <p:stCondLst>
                        <p:cond delay="indefinite"/>
                      </p:stCondLst>
                      <p:childTnLst>
                        <p:par>
                          <p:cTn id="230" fill="hold">
                            <p:stCondLst>
                              <p:cond delay="0"/>
                            </p:stCondLst>
                            <p:childTnLst>
                              <p:par>
                                <p:cTn id="231" presetID="22" presetClass="exit" presetSubtype="1" fill="hold" nodeType="clickEffect">
                                  <p:stCondLst>
                                    <p:cond delay="0"/>
                                  </p:stCondLst>
                                  <p:childTnLst>
                                    <p:animEffect transition="out" filter="wipe(up)">
                                      <p:cBhvr>
                                        <p:cTn id="232" dur="500"/>
                                        <p:tgtEl>
                                          <p:spTgt spid="52"/>
                                        </p:tgtEl>
                                      </p:cBhvr>
                                    </p:animEffect>
                                    <p:set>
                                      <p:cBhvr>
                                        <p:cTn id="233" dur="1" fill="hold">
                                          <p:stCondLst>
                                            <p:cond delay="499"/>
                                          </p:stCondLst>
                                        </p:cTn>
                                        <p:tgtEl>
                                          <p:spTgt spid="52"/>
                                        </p:tgtEl>
                                        <p:attrNameLst>
                                          <p:attrName>style.visibility</p:attrName>
                                        </p:attrNameLst>
                                      </p:cBhvr>
                                      <p:to>
                                        <p:strVal val="hidden"/>
                                      </p:to>
                                    </p:set>
                                  </p:childTnLst>
                                </p:cTn>
                              </p:par>
                              <p:par>
                                <p:cTn id="234" presetID="47" presetClass="entr" presetSubtype="0" fill="hold" nodeType="withEffect">
                                  <p:stCondLst>
                                    <p:cond delay="0"/>
                                  </p:stCondLst>
                                  <p:childTnLst>
                                    <p:set>
                                      <p:cBhvr>
                                        <p:cTn id="235" dur="1" fill="hold">
                                          <p:stCondLst>
                                            <p:cond delay="0"/>
                                          </p:stCondLst>
                                        </p:cTn>
                                        <p:tgtEl>
                                          <p:spTgt spid="94"/>
                                        </p:tgtEl>
                                        <p:attrNameLst>
                                          <p:attrName>style.visibility</p:attrName>
                                        </p:attrNameLst>
                                      </p:cBhvr>
                                      <p:to>
                                        <p:strVal val="visible"/>
                                      </p:to>
                                    </p:set>
                                    <p:animEffect transition="in" filter="fade">
                                      <p:cBhvr>
                                        <p:cTn id="236" dur="1000"/>
                                        <p:tgtEl>
                                          <p:spTgt spid="94"/>
                                        </p:tgtEl>
                                      </p:cBhvr>
                                    </p:animEffect>
                                    <p:anim calcmode="lin" valueType="num">
                                      <p:cBhvr>
                                        <p:cTn id="237" dur="1000" fill="hold"/>
                                        <p:tgtEl>
                                          <p:spTgt spid="94"/>
                                        </p:tgtEl>
                                        <p:attrNameLst>
                                          <p:attrName>ppt_x</p:attrName>
                                        </p:attrNameLst>
                                      </p:cBhvr>
                                      <p:tavLst>
                                        <p:tav tm="0">
                                          <p:val>
                                            <p:strVal val="#ppt_x"/>
                                          </p:val>
                                        </p:tav>
                                        <p:tav tm="100000">
                                          <p:val>
                                            <p:strVal val="#ppt_x"/>
                                          </p:val>
                                        </p:tav>
                                      </p:tavLst>
                                    </p:anim>
                                    <p:anim calcmode="lin" valueType="num">
                                      <p:cBhvr>
                                        <p:cTn id="238" dur="1000" fill="hold"/>
                                        <p:tgtEl>
                                          <p:spTgt spid="94"/>
                                        </p:tgtEl>
                                        <p:attrNameLst>
                                          <p:attrName>ppt_y</p:attrName>
                                        </p:attrNameLst>
                                      </p:cBhvr>
                                      <p:tavLst>
                                        <p:tav tm="0">
                                          <p:val>
                                            <p:strVal val="#ppt_y-.1"/>
                                          </p:val>
                                        </p:tav>
                                        <p:tav tm="100000">
                                          <p:val>
                                            <p:strVal val="#ppt_y"/>
                                          </p:val>
                                        </p:tav>
                                      </p:tavLst>
                                    </p:anim>
                                  </p:childTnLst>
                                </p:cTn>
                              </p:par>
                            </p:childTnLst>
                          </p:cTn>
                        </p:par>
                        <p:par>
                          <p:cTn id="239" fill="hold">
                            <p:stCondLst>
                              <p:cond delay="1000"/>
                            </p:stCondLst>
                            <p:childTnLst>
                              <p:par>
                                <p:cTn id="240" presetID="1" presetClass="entr" presetSubtype="0" fill="hold" grpId="0" nodeType="afterEffect">
                                  <p:stCondLst>
                                    <p:cond delay="0"/>
                                  </p:stCondLst>
                                  <p:childTnLst>
                                    <p:set>
                                      <p:cBhvr>
                                        <p:cTn id="241" dur="1" fill="hold">
                                          <p:stCondLst>
                                            <p:cond delay="0"/>
                                          </p:stCondLst>
                                        </p:cTn>
                                        <p:tgtEl>
                                          <p:spTgt spid="100"/>
                                        </p:tgtEl>
                                        <p:attrNameLst>
                                          <p:attrName>style.visibility</p:attrName>
                                        </p:attrNameLst>
                                      </p:cBhvr>
                                      <p:to>
                                        <p:strVal val="visible"/>
                                      </p:to>
                                    </p:set>
                                  </p:childTnLst>
                                </p:cTn>
                              </p:par>
                              <p:par>
                                <p:cTn id="242" presetID="63" presetClass="path" presetSubtype="0" accel="50000" decel="50000" fill="hold" grpId="1" nodeType="withEffect">
                                  <p:stCondLst>
                                    <p:cond delay="0"/>
                                  </p:stCondLst>
                                  <p:childTnLst>
                                    <p:animMotion origin="layout" path="M -4.58333E-6 1.48148E-6 L 0.56029 -0.19329 " pathEditMode="relative" rAng="0" ptsTypes="AA">
                                      <p:cBhvr>
                                        <p:cTn id="243" dur="2000" fill="hold"/>
                                        <p:tgtEl>
                                          <p:spTgt spid="100"/>
                                        </p:tgtEl>
                                        <p:attrNameLst>
                                          <p:attrName>ppt_x</p:attrName>
                                          <p:attrName>ppt_y</p:attrName>
                                        </p:attrNameLst>
                                      </p:cBhvr>
                                      <p:rCtr x="28008" y="-9676"/>
                                    </p:animMotion>
                                  </p:childTnLst>
                                </p:cTn>
                              </p:par>
                            </p:childTnLst>
                          </p:cTn>
                        </p:par>
                      </p:childTnLst>
                    </p:cTn>
                  </p:par>
                  <p:par>
                    <p:cTn id="244" fill="hold">
                      <p:stCondLst>
                        <p:cond delay="indefinite"/>
                      </p:stCondLst>
                      <p:childTnLst>
                        <p:par>
                          <p:cTn id="245" fill="hold">
                            <p:stCondLst>
                              <p:cond delay="0"/>
                            </p:stCondLst>
                            <p:childTnLst>
                              <p:par>
                                <p:cTn id="246" presetID="22" presetClass="exit" presetSubtype="1" fill="hold" nodeType="clickEffect">
                                  <p:stCondLst>
                                    <p:cond delay="0"/>
                                  </p:stCondLst>
                                  <p:childTnLst>
                                    <p:animEffect transition="out" filter="wipe(up)">
                                      <p:cBhvr>
                                        <p:cTn id="247" dur="500"/>
                                        <p:tgtEl>
                                          <p:spTgt spid="94"/>
                                        </p:tgtEl>
                                      </p:cBhvr>
                                    </p:animEffect>
                                    <p:set>
                                      <p:cBhvr>
                                        <p:cTn id="248" dur="1" fill="hold">
                                          <p:stCondLst>
                                            <p:cond delay="499"/>
                                          </p:stCondLst>
                                        </p:cTn>
                                        <p:tgtEl>
                                          <p:spTgt spid="94"/>
                                        </p:tgtEl>
                                        <p:attrNameLst>
                                          <p:attrName>style.visibility</p:attrName>
                                        </p:attrNameLst>
                                      </p:cBhvr>
                                      <p:to>
                                        <p:strVal val="hidden"/>
                                      </p:to>
                                    </p:set>
                                  </p:childTnLst>
                                </p:cTn>
                              </p:par>
                            </p:childTnLst>
                          </p:cTn>
                        </p:par>
                      </p:childTnLst>
                    </p:cTn>
                  </p:par>
                  <p:par>
                    <p:cTn id="249" fill="hold">
                      <p:stCondLst>
                        <p:cond delay="indefinite"/>
                      </p:stCondLst>
                      <p:childTnLst>
                        <p:par>
                          <p:cTn id="250" fill="hold">
                            <p:stCondLst>
                              <p:cond delay="0"/>
                            </p:stCondLst>
                            <p:childTnLst>
                              <p:par>
                                <p:cTn id="251" presetID="47" presetClass="entr" presetSubtype="0" fill="hold" nodeType="clickEffect">
                                  <p:stCondLst>
                                    <p:cond delay="0"/>
                                  </p:stCondLst>
                                  <p:childTnLst>
                                    <p:set>
                                      <p:cBhvr>
                                        <p:cTn id="252" dur="1" fill="hold">
                                          <p:stCondLst>
                                            <p:cond delay="0"/>
                                          </p:stCondLst>
                                        </p:cTn>
                                        <p:tgtEl>
                                          <p:spTgt spid="96"/>
                                        </p:tgtEl>
                                        <p:attrNameLst>
                                          <p:attrName>style.visibility</p:attrName>
                                        </p:attrNameLst>
                                      </p:cBhvr>
                                      <p:to>
                                        <p:strVal val="visible"/>
                                      </p:to>
                                    </p:set>
                                    <p:animEffect transition="in" filter="fade">
                                      <p:cBhvr>
                                        <p:cTn id="253" dur="1000"/>
                                        <p:tgtEl>
                                          <p:spTgt spid="96"/>
                                        </p:tgtEl>
                                      </p:cBhvr>
                                    </p:animEffect>
                                    <p:anim calcmode="lin" valueType="num">
                                      <p:cBhvr>
                                        <p:cTn id="254" dur="1000" fill="hold"/>
                                        <p:tgtEl>
                                          <p:spTgt spid="96"/>
                                        </p:tgtEl>
                                        <p:attrNameLst>
                                          <p:attrName>ppt_x</p:attrName>
                                        </p:attrNameLst>
                                      </p:cBhvr>
                                      <p:tavLst>
                                        <p:tav tm="0">
                                          <p:val>
                                            <p:strVal val="#ppt_x"/>
                                          </p:val>
                                        </p:tav>
                                        <p:tav tm="100000">
                                          <p:val>
                                            <p:strVal val="#ppt_x"/>
                                          </p:val>
                                        </p:tav>
                                      </p:tavLst>
                                    </p:anim>
                                    <p:anim calcmode="lin" valueType="num">
                                      <p:cBhvr>
                                        <p:cTn id="255" dur="1000" fill="hold"/>
                                        <p:tgtEl>
                                          <p:spTgt spid="96"/>
                                        </p:tgtEl>
                                        <p:attrNameLst>
                                          <p:attrName>ppt_y</p:attrName>
                                        </p:attrNameLst>
                                      </p:cBhvr>
                                      <p:tavLst>
                                        <p:tav tm="0">
                                          <p:val>
                                            <p:strVal val="#ppt_y-.1"/>
                                          </p:val>
                                        </p:tav>
                                        <p:tav tm="100000">
                                          <p:val>
                                            <p:strVal val="#ppt_y"/>
                                          </p:val>
                                        </p:tav>
                                      </p:tavLst>
                                    </p:anim>
                                  </p:childTnLst>
                                </p:cTn>
                              </p:par>
                            </p:childTnLst>
                          </p:cTn>
                        </p:par>
                        <p:par>
                          <p:cTn id="256" fill="hold">
                            <p:stCondLst>
                              <p:cond delay="1000"/>
                            </p:stCondLst>
                            <p:childTnLst>
                              <p:par>
                                <p:cTn id="257" presetID="1" presetClass="entr" presetSubtype="0" fill="hold" grpId="0" nodeType="afterEffect">
                                  <p:stCondLst>
                                    <p:cond delay="0"/>
                                  </p:stCondLst>
                                  <p:childTnLst>
                                    <p:set>
                                      <p:cBhvr>
                                        <p:cTn id="258" dur="1" fill="hold">
                                          <p:stCondLst>
                                            <p:cond delay="0"/>
                                          </p:stCondLst>
                                        </p:cTn>
                                        <p:tgtEl>
                                          <p:spTgt spid="102"/>
                                        </p:tgtEl>
                                        <p:attrNameLst>
                                          <p:attrName>style.visibility</p:attrName>
                                        </p:attrNameLst>
                                      </p:cBhvr>
                                      <p:to>
                                        <p:strVal val="visible"/>
                                      </p:to>
                                    </p:set>
                                  </p:childTnLst>
                                </p:cTn>
                              </p:par>
                              <p:par>
                                <p:cTn id="259" presetID="63" presetClass="path" presetSubtype="0" accel="50000" decel="50000" fill="hold" grpId="1" nodeType="withEffect">
                                  <p:stCondLst>
                                    <p:cond delay="0"/>
                                  </p:stCondLst>
                                  <p:childTnLst>
                                    <p:animMotion origin="layout" path="M 3.75E-6 1.11111E-6 L 0.50677 -0.01088 " pathEditMode="relative" rAng="0" ptsTypes="AA">
                                      <p:cBhvr>
                                        <p:cTn id="260" dur="2000" fill="hold"/>
                                        <p:tgtEl>
                                          <p:spTgt spid="102"/>
                                        </p:tgtEl>
                                        <p:attrNameLst>
                                          <p:attrName>ppt_x</p:attrName>
                                          <p:attrName>ppt_y</p:attrName>
                                        </p:attrNameLst>
                                      </p:cBhvr>
                                      <p:rCtr x="25339" y="-556"/>
                                    </p:animMotion>
                                  </p:childTnLst>
                                </p:cTn>
                              </p:par>
                            </p:childTnLst>
                          </p:cTn>
                        </p:par>
                      </p:childTnLst>
                    </p:cTn>
                  </p:par>
                  <p:par>
                    <p:cTn id="261" fill="hold">
                      <p:stCondLst>
                        <p:cond delay="indefinite"/>
                      </p:stCondLst>
                      <p:childTnLst>
                        <p:par>
                          <p:cTn id="262" fill="hold">
                            <p:stCondLst>
                              <p:cond delay="0"/>
                            </p:stCondLst>
                            <p:childTnLst>
                              <p:par>
                                <p:cTn id="263" presetID="22" presetClass="exit" presetSubtype="1" fill="hold" nodeType="clickEffect">
                                  <p:stCondLst>
                                    <p:cond delay="0"/>
                                  </p:stCondLst>
                                  <p:childTnLst>
                                    <p:animEffect transition="out" filter="wipe(up)">
                                      <p:cBhvr>
                                        <p:cTn id="264" dur="500"/>
                                        <p:tgtEl>
                                          <p:spTgt spid="96"/>
                                        </p:tgtEl>
                                      </p:cBhvr>
                                    </p:animEffect>
                                    <p:set>
                                      <p:cBhvr>
                                        <p:cTn id="265" dur="1" fill="hold">
                                          <p:stCondLst>
                                            <p:cond delay="499"/>
                                          </p:stCondLst>
                                        </p:cTn>
                                        <p:tgtEl>
                                          <p:spTgt spid="96"/>
                                        </p:tgtEl>
                                        <p:attrNameLst>
                                          <p:attrName>style.visibility</p:attrName>
                                        </p:attrNameLst>
                                      </p:cBhvr>
                                      <p:to>
                                        <p:strVal val="hidden"/>
                                      </p:to>
                                    </p:set>
                                  </p:childTnLst>
                                </p:cTn>
                              </p:par>
                            </p:childTnLst>
                          </p:cTn>
                        </p:par>
                      </p:childTnLst>
                    </p:cTn>
                  </p:par>
                  <p:par>
                    <p:cTn id="266" fill="hold">
                      <p:stCondLst>
                        <p:cond delay="indefinite"/>
                      </p:stCondLst>
                      <p:childTnLst>
                        <p:par>
                          <p:cTn id="267" fill="hold">
                            <p:stCondLst>
                              <p:cond delay="0"/>
                            </p:stCondLst>
                            <p:childTnLst>
                              <p:par>
                                <p:cTn id="268" presetID="47" presetClass="entr" presetSubtype="0" fill="hold" nodeType="clickEffect">
                                  <p:stCondLst>
                                    <p:cond delay="0"/>
                                  </p:stCondLst>
                                  <p:childTnLst>
                                    <p:set>
                                      <p:cBhvr>
                                        <p:cTn id="269" dur="1" fill="hold">
                                          <p:stCondLst>
                                            <p:cond delay="0"/>
                                          </p:stCondLst>
                                        </p:cTn>
                                        <p:tgtEl>
                                          <p:spTgt spid="98"/>
                                        </p:tgtEl>
                                        <p:attrNameLst>
                                          <p:attrName>style.visibility</p:attrName>
                                        </p:attrNameLst>
                                      </p:cBhvr>
                                      <p:to>
                                        <p:strVal val="visible"/>
                                      </p:to>
                                    </p:set>
                                    <p:animEffect transition="in" filter="fade">
                                      <p:cBhvr>
                                        <p:cTn id="270" dur="1000"/>
                                        <p:tgtEl>
                                          <p:spTgt spid="98"/>
                                        </p:tgtEl>
                                      </p:cBhvr>
                                    </p:animEffect>
                                    <p:anim calcmode="lin" valueType="num">
                                      <p:cBhvr>
                                        <p:cTn id="271" dur="1000" fill="hold"/>
                                        <p:tgtEl>
                                          <p:spTgt spid="98"/>
                                        </p:tgtEl>
                                        <p:attrNameLst>
                                          <p:attrName>ppt_x</p:attrName>
                                        </p:attrNameLst>
                                      </p:cBhvr>
                                      <p:tavLst>
                                        <p:tav tm="0">
                                          <p:val>
                                            <p:strVal val="#ppt_x"/>
                                          </p:val>
                                        </p:tav>
                                        <p:tav tm="100000">
                                          <p:val>
                                            <p:strVal val="#ppt_x"/>
                                          </p:val>
                                        </p:tav>
                                      </p:tavLst>
                                    </p:anim>
                                    <p:anim calcmode="lin" valueType="num">
                                      <p:cBhvr>
                                        <p:cTn id="272" dur="1000" fill="hold"/>
                                        <p:tgtEl>
                                          <p:spTgt spid="98"/>
                                        </p:tgtEl>
                                        <p:attrNameLst>
                                          <p:attrName>ppt_y</p:attrName>
                                        </p:attrNameLst>
                                      </p:cBhvr>
                                      <p:tavLst>
                                        <p:tav tm="0">
                                          <p:val>
                                            <p:strVal val="#ppt_y-.1"/>
                                          </p:val>
                                        </p:tav>
                                        <p:tav tm="100000">
                                          <p:val>
                                            <p:strVal val="#ppt_y"/>
                                          </p:val>
                                        </p:tav>
                                      </p:tavLst>
                                    </p:anim>
                                  </p:childTnLst>
                                </p:cTn>
                              </p:par>
                            </p:childTnLst>
                          </p:cTn>
                        </p:par>
                        <p:par>
                          <p:cTn id="273" fill="hold">
                            <p:stCondLst>
                              <p:cond delay="1000"/>
                            </p:stCondLst>
                            <p:childTnLst>
                              <p:par>
                                <p:cTn id="274" presetID="1" presetClass="entr" presetSubtype="0" fill="hold" grpId="0" nodeType="afterEffect">
                                  <p:stCondLst>
                                    <p:cond delay="0"/>
                                  </p:stCondLst>
                                  <p:childTnLst>
                                    <p:set>
                                      <p:cBhvr>
                                        <p:cTn id="275" dur="1" fill="hold">
                                          <p:stCondLst>
                                            <p:cond delay="0"/>
                                          </p:stCondLst>
                                        </p:cTn>
                                        <p:tgtEl>
                                          <p:spTgt spid="107"/>
                                        </p:tgtEl>
                                        <p:attrNameLst>
                                          <p:attrName>style.visibility</p:attrName>
                                        </p:attrNameLst>
                                      </p:cBhvr>
                                      <p:to>
                                        <p:strVal val="visible"/>
                                      </p:to>
                                    </p:set>
                                  </p:childTnLst>
                                </p:cTn>
                              </p:par>
                              <p:par>
                                <p:cTn id="276" presetID="63" presetClass="path" presetSubtype="0" accel="50000" decel="50000" fill="hold" grpId="1" nodeType="withEffect">
                                  <p:stCondLst>
                                    <p:cond delay="0"/>
                                  </p:stCondLst>
                                  <p:childTnLst>
                                    <p:animMotion origin="layout" path="M -2.70833E-6 4.44444E-6 L 0.49206 -0.04954 " pathEditMode="relative" rAng="0" ptsTypes="AA">
                                      <p:cBhvr>
                                        <p:cTn id="277" dur="2000" fill="hold"/>
                                        <p:tgtEl>
                                          <p:spTgt spid="107"/>
                                        </p:tgtEl>
                                        <p:attrNameLst>
                                          <p:attrName>ppt_x</p:attrName>
                                          <p:attrName>ppt_y</p:attrName>
                                        </p:attrNameLst>
                                      </p:cBhvr>
                                      <p:rCtr x="24596" y="-2477"/>
                                    </p:animMotion>
                                  </p:childTnLst>
                                </p:cTn>
                              </p:par>
                            </p:childTnLst>
                          </p:cTn>
                        </p:par>
                      </p:childTnLst>
                    </p:cTn>
                  </p:par>
                  <p:par>
                    <p:cTn id="278" fill="hold">
                      <p:stCondLst>
                        <p:cond delay="indefinite"/>
                      </p:stCondLst>
                      <p:childTnLst>
                        <p:par>
                          <p:cTn id="279" fill="hold">
                            <p:stCondLst>
                              <p:cond delay="0"/>
                            </p:stCondLst>
                            <p:childTnLst>
                              <p:par>
                                <p:cTn id="280" presetID="22" presetClass="exit" presetSubtype="1" fill="hold" nodeType="clickEffect">
                                  <p:stCondLst>
                                    <p:cond delay="0"/>
                                  </p:stCondLst>
                                  <p:childTnLst>
                                    <p:animEffect transition="out" filter="wipe(up)">
                                      <p:cBhvr>
                                        <p:cTn id="281" dur="500"/>
                                        <p:tgtEl>
                                          <p:spTgt spid="98"/>
                                        </p:tgtEl>
                                      </p:cBhvr>
                                    </p:animEffect>
                                    <p:set>
                                      <p:cBhvr>
                                        <p:cTn id="282" dur="1" fill="hold">
                                          <p:stCondLst>
                                            <p:cond delay="499"/>
                                          </p:stCondLst>
                                        </p:cTn>
                                        <p:tgtEl>
                                          <p:spTgt spid="98"/>
                                        </p:tgtEl>
                                        <p:attrNameLst>
                                          <p:attrName>style.visibility</p:attrName>
                                        </p:attrNameLst>
                                      </p:cBhvr>
                                      <p:to>
                                        <p:strVal val="hidden"/>
                                      </p:to>
                                    </p:set>
                                  </p:childTnLst>
                                </p:cTn>
                              </p:par>
                            </p:childTnLst>
                          </p:cTn>
                        </p:par>
                        <p:par>
                          <p:cTn id="283" fill="hold">
                            <p:stCondLst>
                              <p:cond delay="500"/>
                            </p:stCondLst>
                            <p:childTnLst>
                              <p:par>
                                <p:cTn id="284" presetID="18" presetClass="entr" presetSubtype="12" fill="hold" grpId="0" nodeType="afterEffect">
                                  <p:stCondLst>
                                    <p:cond delay="0"/>
                                  </p:stCondLst>
                                  <p:childTnLst>
                                    <p:set>
                                      <p:cBhvr>
                                        <p:cTn id="285" dur="1" fill="hold">
                                          <p:stCondLst>
                                            <p:cond delay="0"/>
                                          </p:stCondLst>
                                        </p:cTn>
                                        <p:tgtEl>
                                          <p:spTgt spid="74">
                                            <p:txEl>
                                              <p:pRg st="0" end="0"/>
                                            </p:txEl>
                                          </p:spTgt>
                                        </p:tgtEl>
                                        <p:attrNameLst>
                                          <p:attrName>style.visibility</p:attrName>
                                        </p:attrNameLst>
                                      </p:cBhvr>
                                      <p:to>
                                        <p:strVal val="visible"/>
                                      </p:to>
                                    </p:set>
                                    <p:animEffect transition="in" filter="strips(downLeft)">
                                      <p:cBhvr>
                                        <p:cTn id="286" dur="500"/>
                                        <p:tgtEl>
                                          <p:spTgt spid="74">
                                            <p:txEl>
                                              <p:pRg st="0" end="0"/>
                                            </p:txEl>
                                          </p:spTgt>
                                        </p:tgtEl>
                                      </p:cBhvr>
                                    </p:animEffect>
                                  </p:childTnLst>
                                </p:cTn>
                              </p:par>
                              <p:par>
                                <p:cTn id="287" presetID="47" presetClass="entr" presetSubtype="0" fill="hold" nodeType="withEffect">
                                  <p:stCondLst>
                                    <p:cond delay="0"/>
                                  </p:stCondLst>
                                  <p:childTnLst>
                                    <p:set>
                                      <p:cBhvr>
                                        <p:cTn id="288" dur="1" fill="hold">
                                          <p:stCondLst>
                                            <p:cond delay="0"/>
                                          </p:stCondLst>
                                        </p:cTn>
                                        <p:tgtEl>
                                          <p:spTgt spid="110"/>
                                        </p:tgtEl>
                                        <p:attrNameLst>
                                          <p:attrName>style.visibility</p:attrName>
                                        </p:attrNameLst>
                                      </p:cBhvr>
                                      <p:to>
                                        <p:strVal val="visible"/>
                                      </p:to>
                                    </p:set>
                                    <p:animEffect transition="in" filter="fade">
                                      <p:cBhvr>
                                        <p:cTn id="289" dur="1000"/>
                                        <p:tgtEl>
                                          <p:spTgt spid="110"/>
                                        </p:tgtEl>
                                      </p:cBhvr>
                                    </p:animEffect>
                                    <p:anim calcmode="lin" valueType="num">
                                      <p:cBhvr>
                                        <p:cTn id="290" dur="1000" fill="hold"/>
                                        <p:tgtEl>
                                          <p:spTgt spid="110"/>
                                        </p:tgtEl>
                                        <p:attrNameLst>
                                          <p:attrName>ppt_x</p:attrName>
                                        </p:attrNameLst>
                                      </p:cBhvr>
                                      <p:tavLst>
                                        <p:tav tm="0">
                                          <p:val>
                                            <p:strVal val="#ppt_x"/>
                                          </p:val>
                                        </p:tav>
                                        <p:tav tm="100000">
                                          <p:val>
                                            <p:strVal val="#ppt_x"/>
                                          </p:val>
                                        </p:tav>
                                      </p:tavLst>
                                    </p:anim>
                                    <p:anim calcmode="lin" valueType="num">
                                      <p:cBhvr>
                                        <p:cTn id="291" dur="1000" fill="hold"/>
                                        <p:tgtEl>
                                          <p:spTgt spid="110"/>
                                        </p:tgtEl>
                                        <p:attrNameLst>
                                          <p:attrName>ppt_y</p:attrName>
                                        </p:attrNameLst>
                                      </p:cBhvr>
                                      <p:tavLst>
                                        <p:tav tm="0">
                                          <p:val>
                                            <p:strVal val="#ppt_y-.1"/>
                                          </p:val>
                                        </p:tav>
                                        <p:tav tm="100000">
                                          <p:val>
                                            <p:strVal val="#ppt_y"/>
                                          </p:val>
                                        </p:tav>
                                      </p:tavLst>
                                    </p:anim>
                                  </p:childTnLst>
                                </p:cTn>
                              </p:par>
                            </p:childTnLst>
                          </p:cTn>
                        </p:par>
                        <p:par>
                          <p:cTn id="292" fill="hold">
                            <p:stCondLst>
                              <p:cond delay="1500"/>
                            </p:stCondLst>
                            <p:childTnLst>
                              <p:par>
                                <p:cTn id="293" presetID="7" presetClass="emph" presetSubtype="2" fill="hold" nodeType="afterEffect">
                                  <p:stCondLst>
                                    <p:cond delay="0"/>
                                  </p:stCondLst>
                                  <p:childTnLst>
                                    <p:animClr clrSpc="rgb" dir="cw">
                                      <p:cBhvr>
                                        <p:cTn id="294" dur="1000" fill="hold"/>
                                        <p:tgtEl>
                                          <p:spTgt spid="41"/>
                                        </p:tgtEl>
                                        <p:attrNameLst>
                                          <p:attrName>stroke.color</p:attrName>
                                        </p:attrNameLst>
                                      </p:cBhvr>
                                      <p:to>
                                        <a:schemeClr val="accent2"/>
                                      </p:to>
                                    </p:animClr>
                                    <p:set>
                                      <p:cBhvr>
                                        <p:cTn id="295" dur="1000" fill="hold"/>
                                        <p:tgtEl>
                                          <p:spTgt spid="41"/>
                                        </p:tgtEl>
                                        <p:attrNameLst>
                                          <p:attrName>stroke.on</p:attrName>
                                        </p:attrNameLst>
                                      </p:cBhvr>
                                      <p:to>
                                        <p:strVal val="true"/>
                                      </p:to>
                                    </p:set>
                                  </p:childTnLst>
                                </p:cTn>
                              </p:par>
                            </p:childTnLst>
                          </p:cTn>
                        </p:par>
                        <p:par>
                          <p:cTn id="296" fill="hold">
                            <p:stCondLst>
                              <p:cond delay="2500"/>
                            </p:stCondLst>
                            <p:childTnLst>
                              <p:par>
                                <p:cTn id="297" presetID="9" presetClass="emph" presetSubtype="0" grpId="1" nodeType="afterEffect">
                                  <p:stCondLst>
                                    <p:cond delay="0"/>
                                  </p:stCondLst>
                                  <p:childTnLst>
                                    <p:set>
                                      <p:cBhvr>
                                        <p:cTn id="298" dur="indefinite"/>
                                        <p:tgtEl>
                                          <p:spTgt spid="39"/>
                                        </p:tgtEl>
                                        <p:attrNameLst>
                                          <p:attrName>style.opacity</p:attrName>
                                        </p:attrNameLst>
                                      </p:cBhvr>
                                      <p:to>
                                        <p:strVal val="0.5"/>
                                      </p:to>
                                    </p:set>
                                    <p:animEffect filter="image" prLst="opacity: 0.5">
                                      <p:cBhvr rctx="IE">
                                        <p:cTn id="299" dur="indefinite"/>
                                        <p:tgtEl>
                                          <p:spTgt spid="39"/>
                                        </p:tgtEl>
                                      </p:cBhvr>
                                    </p:animEffect>
                                  </p:childTnLst>
                                </p:cTn>
                              </p:par>
                            </p:childTnLst>
                          </p:cTn>
                        </p:par>
                      </p:childTnLst>
                    </p:cTn>
                  </p:par>
                  <p:par>
                    <p:cTn id="300" fill="hold">
                      <p:stCondLst>
                        <p:cond delay="indefinite"/>
                      </p:stCondLst>
                      <p:childTnLst>
                        <p:par>
                          <p:cTn id="301" fill="hold">
                            <p:stCondLst>
                              <p:cond delay="0"/>
                            </p:stCondLst>
                            <p:childTnLst>
                              <p:par>
                                <p:cTn id="302" presetID="22" presetClass="exit" presetSubtype="1" fill="hold" nodeType="clickEffect">
                                  <p:stCondLst>
                                    <p:cond delay="0"/>
                                  </p:stCondLst>
                                  <p:childTnLst>
                                    <p:animEffect transition="out" filter="wipe(up)">
                                      <p:cBhvr>
                                        <p:cTn id="303" dur="500"/>
                                        <p:tgtEl>
                                          <p:spTgt spid="110"/>
                                        </p:tgtEl>
                                      </p:cBhvr>
                                    </p:animEffect>
                                    <p:set>
                                      <p:cBhvr>
                                        <p:cTn id="304" dur="1" fill="hold">
                                          <p:stCondLst>
                                            <p:cond delay="499"/>
                                          </p:stCondLst>
                                        </p:cTn>
                                        <p:tgtEl>
                                          <p:spTgt spid="110"/>
                                        </p:tgtEl>
                                        <p:attrNameLst>
                                          <p:attrName>style.visibility</p:attrName>
                                        </p:attrNameLst>
                                      </p:cBhvr>
                                      <p:to>
                                        <p:strVal val="hidden"/>
                                      </p:to>
                                    </p:set>
                                  </p:childTnLst>
                                </p:cTn>
                              </p:par>
                              <p:par>
                                <p:cTn id="305" presetID="47" presetClass="entr" presetSubtype="0" fill="hold" nodeType="withEffect">
                                  <p:stCondLst>
                                    <p:cond delay="0"/>
                                  </p:stCondLst>
                                  <p:childTnLst>
                                    <p:set>
                                      <p:cBhvr>
                                        <p:cTn id="306" dur="1" fill="hold">
                                          <p:stCondLst>
                                            <p:cond delay="0"/>
                                          </p:stCondLst>
                                        </p:cTn>
                                        <p:tgtEl>
                                          <p:spTgt spid="111"/>
                                        </p:tgtEl>
                                        <p:attrNameLst>
                                          <p:attrName>style.visibility</p:attrName>
                                        </p:attrNameLst>
                                      </p:cBhvr>
                                      <p:to>
                                        <p:strVal val="visible"/>
                                      </p:to>
                                    </p:set>
                                    <p:animEffect transition="in" filter="fade">
                                      <p:cBhvr>
                                        <p:cTn id="307" dur="1000"/>
                                        <p:tgtEl>
                                          <p:spTgt spid="111"/>
                                        </p:tgtEl>
                                      </p:cBhvr>
                                    </p:animEffect>
                                    <p:anim calcmode="lin" valueType="num">
                                      <p:cBhvr>
                                        <p:cTn id="308" dur="1000" fill="hold"/>
                                        <p:tgtEl>
                                          <p:spTgt spid="111"/>
                                        </p:tgtEl>
                                        <p:attrNameLst>
                                          <p:attrName>ppt_x</p:attrName>
                                        </p:attrNameLst>
                                      </p:cBhvr>
                                      <p:tavLst>
                                        <p:tav tm="0">
                                          <p:val>
                                            <p:strVal val="#ppt_x"/>
                                          </p:val>
                                        </p:tav>
                                        <p:tav tm="100000">
                                          <p:val>
                                            <p:strVal val="#ppt_x"/>
                                          </p:val>
                                        </p:tav>
                                      </p:tavLst>
                                    </p:anim>
                                    <p:anim calcmode="lin" valueType="num">
                                      <p:cBhvr>
                                        <p:cTn id="309" dur="1000" fill="hold"/>
                                        <p:tgtEl>
                                          <p:spTgt spid="111"/>
                                        </p:tgtEl>
                                        <p:attrNameLst>
                                          <p:attrName>ppt_y</p:attrName>
                                        </p:attrNameLst>
                                      </p:cBhvr>
                                      <p:tavLst>
                                        <p:tav tm="0">
                                          <p:val>
                                            <p:strVal val="#ppt_y-.1"/>
                                          </p:val>
                                        </p:tav>
                                        <p:tav tm="100000">
                                          <p:val>
                                            <p:strVal val="#ppt_y"/>
                                          </p:val>
                                        </p:tav>
                                      </p:tavLst>
                                    </p:anim>
                                  </p:childTnLst>
                                </p:cTn>
                              </p:par>
                            </p:childTnLst>
                          </p:cTn>
                        </p:par>
                        <p:par>
                          <p:cTn id="310" fill="hold">
                            <p:stCondLst>
                              <p:cond delay="1000"/>
                            </p:stCondLst>
                            <p:childTnLst>
                              <p:par>
                                <p:cTn id="311" presetID="7" presetClass="emph" presetSubtype="2" fill="hold" nodeType="afterEffect">
                                  <p:stCondLst>
                                    <p:cond delay="0"/>
                                  </p:stCondLst>
                                  <p:childTnLst>
                                    <p:animClr clrSpc="rgb" dir="cw">
                                      <p:cBhvr>
                                        <p:cTn id="312" dur="1000" fill="hold"/>
                                        <p:tgtEl>
                                          <p:spTgt spid="40"/>
                                        </p:tgtEl>
                                        <p:attrNameLst>
                                          <p:attrName>stroke.color</p:attrName>
                                        </p:attrNameLst>
                                      </p:cBhvr>
                                      <p:to>
                                        <a:schemeClr val="accent2"/>
                                      </p:to>
                                    </p:animClr>
                                    <p:set>
                                      <p:cBhvr>
                                        <p:cTn id="313" dur="1000" fill="hold"/>
                                        <p:tgtEl>
                                          <p:spTgt spid="40"/>
                                        </p:tgtEl>
                                        <p:attrNameLst>
                                          <p:attrName>stroke.on</p:attrName>
                                        </p:attrNameLst>
                                      </p:cBhvr>
                                      <p:to>
                                        <p:strVal val="true"/>
                                      </p:to>
                                    </p:set>
                                  </p:childTnLst>
                                </p:cTn>
                              </p:par>
                            </p:childTnLst>
                          </p:cTn>
                        </p:par>
                        <p:par>
                          <p:cTn id="314" fill="hold">
                            <p:stCondLst>
                              <p:cond delay="2000"/>
                            </p:stCondLst>
                            <p:childTnLst>
                              <p:par>
                                <p:cTn id="315" presetID="9" presetClass="emph" presetSubtype="0" grpId="1" nodeType="afterEffect">
                                  <p:stCondLst>
                                    <p:cond delay="0"/>
                                  </p:stCondLst>
                                  <p:childTnLst>
                                    <p:set>
                                      <p:cBhvr>
                                        <p:cTn id="316" dur="indefinite"/>
                                        <p:tgtEl>
                                          <p:spTgt spid="38"/>
                                        </p:tgtEl>
                                        <p:attrNameLst>
                                          <p:attrName>style.opacity</p:attrName>
                                        </p:attrNameLst>
                                      </p:cBhvr>
                                      <p:to>
                                        <p:strVal val="0.5"/>
                                      </p:to>
                                    </p:set>
                                    <p:animEffect filter="image" prLst="opacity: 0.5">
                                      <p:cBhvr rctx="IE">
                                        <p:cTn id="317" dur="indefinite"/>
                                        <p:tgtEl>
                                          <p:spTgt spid="38"/>
                                        </p:tgtEl>
                                      </p:cBhvr>
                                    </p:animEffect>
                                  </p:childTnLst>
                                </p:cTn>
                              </p:par>
                            </p:childTnLst>
                          </p:cTn>
                        </p:par>
                      </p:childTnLst>
                    </p:cTn>
                  </p:par>
                  <p:par>
                    <p:cTn id="318" fill="hold">
                      <p:stCondLst>
                        <p:cond delay="indefinite"/>
                      </p:stCondLst>
                      <p:childTnLst>
                        <p:par>
                          <p:cTn id="319" fill="hold">
                            <p:stCondLst>
                              <p:cond delay="0"/>
                            </p:stCondLst>
                            <p:childTnLst>
                              <p:par>
                                <p:cTn id="320" presetID="22" presetClass="exit" presetSubtype="1" fill="hold" nodeType="clickEffect">
                                  <p:stCondLst>
                                    <p:cond delay="0"/>
                                  </p:stCondLst>
                                  <p:childTnLst>
                                    <p:animEffect transition="out" filter="wipe(up)">
                                      <p:cBhvr>
                                        <p:cTn id="321" dur="500"/>
                                        <p:tgtEl>
                                          <p:spTgt spid="111"/>
                                        </p:tgtEl>
                                      </p:cBhvr>
                                    </p:animEffect>
                                    <p:set>
                                      <p:cBhvr>
                                        <p:cTn id="322" dur="1" fill="hold">
                                          <p:stCondLst>
                                            <p:cond delay="499"/>
                                          </p:stCondLst>
                                        </p:cTn>
                                        <p:tgtEl>
                                          <p:spTgt spid="111"/>
                                        </p:tgtEl>
                                        <p:attrNameLst>
                                          <p:attrName>style.visibility</p:attrName>
                                        </p:attrNameLst>
                                      </p:cBhvr>
                                      <p:to>
                                        <p:strVal val="hidden"/>
                                      </p:to>
                                    </p:set>
                                  </p:childTnLst>
                                </p:cTn>
                              </p:par>
                            </p:childTnLst>
                          </p:cTn>
                        </p:par>
                        <p:par>
                          <p:cTn id="323" fill="hold">
                            <p:stCondLst>
                              <p:cond delay="500"/>
                            </p:stCondLst>
                            <p:childTnLst>
                              <p:par>
                                <p:cTn id="324" presetID="42" presetClass="entr" presetSubtype="0" fill="hold" grpId="0" nodeType="afterEffect">
                                  <p:stCondLst>
                                    <p:cond delay="0"/>
                                  </p:stCondLst>
                                  <p:childTnLst>
                                    <p:set>
                                      <p:cBhvr>
                                        <p:cTn id="325" dur="1" fill="hold">
                                          <p:stCondLst>
                                            <p:cond delay="0"/>
                                          </p:stCondLst>
                                        </p:cTn>
                                        <p:tgtEl>
                                          <p:spTgt spid="112"/>
                                        </p:tgtEl>
                                        <p:attrNameLst>
                                          <p:attrName>style.visibility</p:attrName>
                                        </p:attrNameLst>
                                      </p:cBhvr>
                                      <p:to>
                                        <p:strVal val="visible"/>
                                      </p:to>
                                    </p:set>
                                    <p:animEffect transition="in" filter="fade">
                                      <p:cBhvr>
                                        <p:cTn id="326" dur="1000"/>
                                        <p:tgtEl>
                                          <p:spTgt spid="112"/>
                                        </p:tgtEl>
                                      </p:cBhvr>
                                    </p:animEffect>
                                    <p:anim calcmode="lin" valueType="num">
                                      <p:cBhvr>
                                        <p:cTn id="327" dur="1000" fill="hold"/>
                                        <p:tgtEl>
                                          <p:spTgt spid="112"/>
                                        </p:tgtEl>
                                        <p:attrNameLst>
                                          <p:attrName>ppt_x</p:attrName>
                                        </p:attrNameLst>
                                      </p:cBhvr>
                                      <p:tavLst>
                                        <p:tav tm="0">
                                          <p:val>
                                            <p:strVal val="#ppt_x"/>
                                          </p:val>
                                        </p:tav>
                                        <p:tav tm="100000">
                                          <p:val>
                                            <p:strVal val="#ppt_x"/>
                                          </p:val>
                                        </p:tav>
                                      </p:tavLst>
                                    </p:anim>
                                    <p:anim calcmode="lin" valueType="num">
                                      <p:cBhvr>
                                        <p:cTn id="328" dur="1000" fill="hold"/>
                                        <p:tgtEl>
                                          <p:spTgt spid="112"/>
                                        </p:tgtEl>
                                        <p:attrNameLst>
                                          <p:attrName>ppt_y</p:attrName>
                                        </p:attrNameLst>
                                      </p:cBhvr>
                                      <p:tavLst>
                                        <p:tav tm="0">
                                          <p:val>
                                            <p:strVal val="#ppt_y+.1"/>
                                          </p:val>
                                        </p:tav>
                                        <p:tav tm="100000">
                                          <p:val>
                                            <p:strVal val="#ppt_y"/>
                                          </p:val>
                                        </p:tav>
                                      </p:tavLst>
                                    </p:anim>
                                  </p:childTnLst>
                                </p:cTn>
                              </p:par>
                            </p:childTnLst>
                          </p:cTn>
                        </p:par>
                      </p:childTnLst>
                    </p:cTn>
                  </p:par>
                  <p:par>
                    <p:cTn id="329" fill="hold">
                      <p:stCondLst>
                        <p:cond delay="indefinite"/>
                      </p:stCondLst>
                      <p:childTnLst>
                        <p:par>
                          <p:cTn id="330" fill="hold">
                            <p:stCondLst>
                              <p:cond delay="0"/>
                            </p:stCondLst>
                            <p:childTnLst>
                              <p:par>
                                <p:cTn id="331" presetID="42" presetClass="entr" presetSubtype="0" fill="hold" grpId="0" nodeType="clickEffect">
                                  <p:stCondLst>
                                    <p:cond delay="0"/>
                                  </p:stCondLst>
                                  <p:childTnLst>
                                    <p:set>
                                      <p:cBhvr>
                                        <p:cTn id="332" dur="1" fill="hold">
                                          <p:stCondLst>
                                            <p:cond delay="0"/>
                                          </p:stCondLst>
                                        </p:cTn>
                                        <p:tgtEl>
                                          <p:spTgt spid="113"/>
                                        </p:tgtEl>
                                        <p:attrNameLst>
                                          <p:attrName>style.visibility</p:attrName>
                                        </p:attrNameLst>
                                      </p:cBhvr>
                                      <p:to>
                                        <p:strVal val="visible"/>
                                      </p:to>
                                    </p:set>
                                    <p:animEffect transition="in" filter="fade">
                                      <p:cBhvr>
                                        <p:cTn id="333" dur="1000"/>
                                        <p:tgtEl>
                                          <p:spTgt spid="113"/>
                                        </p:tgtEl>
                                      </p:cBhvr>
                                    </p:animEffect>
                                    <p:anim calcmode="lin" valueType="num">
                                      <p:cBhvr>
                                        <p:cTn id="334" dur="1000" fill="hold"/>
                                        <p:tgtEl>
                                          <p:spTgt spid="113"/>
                                        </p:tgtEl>
                                        <p:attrNameLst>
                                          <p:attrName>ppt_x</p:attrName>
                                        </p:attrNameLst>
                                      </p:cBhvr>
                                      <p:tavLst>
                                        <p:tav tm="0">
                                          <p:val>
                                            <p:strVal val="#ppt_x"/>
                                          </p:val>
                                        </p:tav>
                                        <p:tav tm="100000">
                                          <p:val>
                                            <p:strVal val="#ppt_x"/>
                                          </p:val>
                                        </p:tav>
                                      </p:tavLst>
                                    </p:anim>
                                    <p:anim calcmode="lin" valueType="num">
                                      <p:cBhvr>
                                        <p:cTn id="335" dur="1000" fill="hold"/>
                                        <p:tgtEl>
                                          <p:spTgt spid="1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38" grpId="0" animBg="1"/>
      <p:bldP spid="38" grpId="1" animBg="1"/>
      <p:bldP spid="39" grpId="0" animBg="1"/>
      <p:bldP spid="39" grpId="1" animBg="1"/>
      <p:bldP spid="59" grpId="0"/>
      <p:bldP spid="81" grpId="0"/>
      <p:bldP spid="81" grpId="1"/>
      <p:bldP spid="82" grpId="0"/>
      <p:bldP spid="82" grpId="1"/>
      <p:bldP spid="100" grpId="0"/>
      <p:bldP spid="100" grpId="1"/>
      <p:bldP spid="101" grpId="0"/>
      <p:bldP spid="101" grpId="1"/>
      <p:bldP spid="102" grpId="0"/>
      <p:bldP spid="102" grpId="1"/>
      <p:bldP spid="107" grpId="0"/>
      <p:bldP spid="107" grpId="1"/>
      <p:bldP spid="112" grpId="0"/>
      <p:bldP spid="113" grpId="0"/>
      <p:bldP spid="74"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22C50E4C-11A4-479F-B683-115C6C1A4B26}"/>
              </a:ext>
            </a:extLst>
          </p:cNvPr>
          <p:cNvSpPr txBox="1">
            <a:spLocks noChangeArrowheads="1"/>
          </p:cNvSpPr>
          <p:nvPr/>
        </p:nvSpPr>
        <p:spPr bwMode="auto">
          <a:xfrm>
            <a:off x="496431" y="488730"/>
            <a:ext cx="11199137" cy="1404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l" defTabSz="914400" rtl="0" eaLnBrk="1" fontAlgn="base" latinLnBrk="0" hangingPunct="1">
              <a:lnSpc>
                <a:spcPct val="120000"/>
              </a:lnSpc>
              <a:spcBef>
                <a:spcPct val="0"/>
              </a:spcBef>
              <a:spcAft>
                <a:spcPct val="0"/>
              </a:spcAft>
              <a:buClrTx/>
              <a:buSzTx/>
              <a:buFontTx/>
              <a:buNone/>
              <a:tabLst/>
              <a:defRPr/>
            </a:pPr>
            <a:r>
              <a:rPr kumimoji="0" lang="zh-CN" altLang="en-US"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当分配的内存块的太小或太大时，可用以下库函数申请改变内存块的大小：</a:t>
            </a:r>
            <a:endParaRPr kumimoji="0" lang="en-US" altLang="zh-CN"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20000"/>
              </a:lnSpc>
              <a:spcBef>
                <a:spcPct val="0"/>
              </a:spcBef>
              <a:spcAft>
                <a:spcPct val="0"/>
              </a:spcAft>
              <a:buClrTx/>
              <a:buSzTx/>
              <a:buFontTx/>
              <a:buNone/>
              <a:tabLst/>
              <a:defRPr/>
            </a:pPr>
            <a:r>
              <a:rPr kumimoji="0" lang="en-US" altLang="zh-CN"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void *</a:t>
            </a:r>
            <a:r>
              <a:rPr kumimoji="0" lang="en-US" altLang="zh-CN" b="1"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realloc</a:t>
            </a:r>
            <a:r>
              <a:rPr kumimoji="0" lang="en-US" altLang="zh-CN"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(void *p, unsigned int size);  </a:t>
            </a:r>
            <a:r>
              <a:rPr kumimoji="0" lang="en-US" altLang="zh-CN" b="1" i="0" u="none" strike="noStrike" kern="100" cap="none" spc="0" normalizeH="0" baseline="0" noProof="0" dirty="0">
                <a:ln>
                  <a:noFill/>
                </a:ln>
                <a:solidFill>
                  <a:srgbClr val="0070C0"/>
                </a:solidFill>
                <a:effectLst/>
                <a:uLnTx/>
                <a:uFillTx/>
                <a:latin typeface="Courier New" panose="02070309020205020404" pitchFamily="49" charset="0"/>
                <a:ea typeface="仿宋" panose="02010609060101010101" pitchFamily="49" charset="-122"/>
                <a:cs typeface="Courier New" panose="02070309020205020404" pitchFamily="49" charset="0"/>
              </a:rPr>
              <a:t>// </a:t>
            </a:r>
            <a:r>
              <a:rPr kumimoji="0" lang="zh-CN" altLang="en-US" b="1" i="0" u="none" strike="noStrike" kern="100" cap="none" spc="0" normalizeH="0" baseline="0" noProof="0" dirty="0">
                <a:ln>
                  <a:noFill/>
                </a:ln>
                <a:solidFill>
                  <a:srgbClr val="0070C0"/>
                </a:solidFill>
                <a:effectLst/>
                <a:uLnTx/>
                <a:uFillTx/>
                <a:latin typeface="Courier New" panose="02070309020205020404" pitchFamily="49" charset="0"/>
                <a:ea typeface="仿宋" panose="02010609060101010101" pitchFamily="49" charset="-122"/>
                <a:cs typeface="Courier New" panose="02070309020205020404" pitchFamily="49" charset="0"/>
              </a:rPr>
              <a:t>申请将</a:t>
            </a:r>
            <a:r>
              <a:rPr kumimoji="0" lang="en-US" altLang="zh-CN" b="1" i="0" u="none" strike="noStrike" kern="100" cap="none" spc="0" normalizeH="0" baseline="0" noProof="0" dirty="0">
                <a:ln>
                  <a:noFill/>
                </a:ln>
                <a:solidFill>
                  <a:srgbClr val="0070C0"/>
                </a:solidFill>
                <a:effectLst/>
                <a:uLnTx/>
                <a:uFillTx/>
                <a:latin typeface="Courier New" panose="02070309020205020404" pitchFamily="49" charset="0"/>
                <a:ea typeface="仿宋" panose="02010609060101010101" pitchFamily="49" charset="-122"/>
                <a:cs typeface="Courier New" panose="02070309020205020404" pitchFamily="49" charset="0"/>
              </a:rPr>
              <a:t>p</a:t>
            </a:r>
            <a:r>
              <a:rPr kumimoji="0" lang="zh-CN" altLang="en-US" b="1" i="0" u="none" strike="noStrike" kern="100" cap="none" spc="0" normalizeH="0" baseline="0" noProof="0" dirty="0">
                <a:ln>
                  <a:noFill/>
                </a:ln>
                <a:solidFill>
                  <a:srgbClr val="0070C0"/>
                </a:solidFill>
                <a:effectLst/>
                <a:uLnTx/>
                <a:uFillTx/>
                <a:latin typeface="Courier New" panose="02070309020205020404" pitchFamily="49" charset="0"/>
                <a:ea typeface="仿宋" panose="02010609060101010101" pitchFamily="49" charset="-122"/>
                <a:cs typeface="Courier New" panose="02070309020205020404" pitchFamily="49" charset="0"/>
              </a:rPr>
              <a:t>所指内存块的大小改为</a:t>
            </a:r>
            <a:r>
              <a:rPr kumimoji="0" lang="en-US" altLang="zh-CN" b="1" i="0" u="none" strike="noStrike" kern="100" cap="none" spc="0" normalizeH="0" baseline="0" noProof="0" dirty="0">
                <a:ln>
                  <a:noFill/>
                </a:ln>
                <a:solidFill>
                  <a:srgbClr val="0070C0"/>
                </a:solidFill>
                <a:effectLst/>
                <a:uLnTx/>
                <a:uFillTx/>
                <a:latin typeface="Courier New" panose="02070309020205020404" pitchFamily="49" charset="0"/>
                <a:ea typeface="仿宋" panose="02010609060101010101" pitchFamily="49" charset="-122"/>
                <a:cs typeface="Courier New" panose="02070309020205020404" pitchFamily="49" charset="0"/>
              </a:rPr>
              <a:t>size</a:t>
            </a:r>
            <a:r>
              <a:rPr kumimoji="0" lang="zh-CN" altLang="en-US" b="1" i="0" u="none" strike="noStrike" kern="100" cap="none" spc="0" normalizeH="0" baseline="0" noProof="0" dirty="0">
                <a:ln>
                  <a:noFill/>
                </a:ln>
                <a:solidFill>
                  <a:srgbClr val="0070C0"/>
                </a:solidFill>
                <a:effectLst/>
                <a:uLnTx/>
                <a:uFillTx/>
                <a:latin typeface="Courier New" panose="02070309020205020404" pitchFamily="49" charset="0"/>
                <a:ea typeface="仿宋" panose="02010609060101010101" pitchFamily="49" charset="-122"/>
                <a:cs typeface="Courier New" panose="02070309020205020404" pitchFamily="49" charset="0"/>
              </a:rPr>
              <a:t>个字节</a:t>
            </a:r>
            <a:endParaRPr kumimoji="0" lang="en-US" altLang="zh-CN" b="1" i="0" u="none" strike="noStrike" kern="100" cap="none" spc="0" normalizeH="0" baseline="0" noProof="0" dirty="0">
              <a:ln>
                <a:noFill/>
              </a:ln>
              <a:solidFill>
                <a:srgbClr val="0070C0"/>
              </a:solidFill>
              <a:effectLst/>
              <a:uLnTx/>
              <a:uFillTx/>
              <a:latin typeface="Courier New" panose="02070309020205020404" pitchFamily="49" charset="0"/>
              <a:ea typeface="仿宋" panose="02010609060101010101" pitchFamily="49" charset="-122"/>
              <a:cs typeface="Courier New" panose="02070309020205020404" pitchFamily="49" charset="0"/>
            </a:endParaRPr>
          </a:p>
          <a:p>
            <a:pPr marL="0" marR="0" lvl="0" indent="0" algn="l" defTabSz="914400" rtl="0" eaLnBrk="1" fontAlgn="base" latinLnBrk="0" hangingPunct="1">
              <a:lnSpc>
                <a:spcPct val="120000"/>
              </a:lnSpc>
              <a:spcBef>
                <a:spcPct val="0"/>
              </a:spcBef>
              <a:spcAft>
                <a:spcPct val="0"/>
              </a:spcAft>
              <a:buClrTx/>
              <a:buSzTx/>
              <a:buFontTx/>
              <a:buNone/>
              <a:tabLst/>
              <a:defRPr/>
            </a:pPr>
            <a:r>
              <a:rPr kumimoji="0" lang="zh-CN" altLang="en-US"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参数</a:t>
            </a:r>
            <a:r>
              <a:rPr kumimoji="0" lang="en-US" altLang="zh-CN"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p</a:t>
            </a:r>
            <a:r>
              <a:rPr kumimoji="0" lang="zh-CN" altLang="en-US"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是指向现有内存块的指针，函数返回指向改变大小后的内存块的指针，不一定与</a:t>
            </a:r>
            <a:r>
              <a:rPr kumimoji="0" lang="en-US" altLang="zh-CN"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p</a:t>
            </a:r>
            <a:r>
              <a:rPr kumimoji="0" lang="zh-CN" altLang="en-US"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相同。原内存块的内容迁移到改变后的内存块，若内存块是改小的，则有部分内容被截去。</a:t>
            </a:r>
            <a:endParaRPr kumimoji="0" lang="en-US" altLang="zh-CN"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5" name="矩形: 圆角 4">
            <a:extLst>
              <a:ext uri="{FF2B5EF4-FFF2-40B4-BE49-F238E27FC236}">
                <a16:creationId xmlns:a16="http://schemas.microsoft.com/office/drawing/2014/main" id="{79F60F79-A719-4EE0-97A6-5DE1D45386CB}"/>
              </a:ext>
            </a:extLst>
          </p:cNvPr>
          <p:cNvSpPr/>
          <p:nvPr/>
        </p:nvSpPr>
        <p:spPr>
          <a:xfrm>
            <a:off x="8314782" y="185856"/>
            <a:ext cx="3443189" cy="461141"/>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002060"/>
                </a:solidFill>
                <a:effectLst>
                  <a:outerShdw blurRad="38100" dist="38100" dir="2700000" algn="tl">
                    <a:srgbClr val="000000">
                      <a:alpha val="43137"/>
                    </a:srgbClr>
                  </a:outerShdw>
                </a:effectLst>
                <a:latin typeface="等线" panose="020F0502020204030204"/>
                <a:ea typeface="等线" panose="02010600030101010101" pitchFamily="2" charset="-122"/>
              </a:rPr>
              <a:t>内存分区和动态分配</a:t>
            </a:r>
          </a:p>
        </p:txBody>
      </p:sp>
      <p:sp>
        <p:nvSpPr>
          <p:cNvPr id="6" name="文本框 5">
            <a:extLst>
              <a:ext uri="{FF2B5EF4-FFF2-40B4-BE49-F238E27FC236}">
                <a16:creationId xmlns:a16="http://schemas.microsoft.com/office/drawing/2014/main" id="{7CA02835-5CE3-4E53-A41A-5D3F39E8B224}"/>
              </a:ext>
            </a:extLst>
          </p:cNvPr>
          <p:cNvSpPr txBox="1">
            <a:spLocks noChangeArrowheads="1"/>
          </p:cNvSpPr>
          <p:nvPr/>
        </p:nvSpPr>
        <p:spPr bwMode="auto">
          <a:xfrm>
            <a:off x="3174719" y="2095032"/>
            <a:ext cx="8388040" cy="2587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l" defTabSz="914400" rtl="0" eaLnBrk="1" fontAlgn="base" latinLnBrk="0" hangingPunct="1">
              <a:lnSpc>
                <a:spcPct val="110000"/>
              </a:lnSpc>
              <a:spcBef>
                <a:spcPct val="0"/>
              </a:spcBef>
              <a:spcAft>
                <a:spcPct val="0"/>
              </a:spcAft>
              <a:buClrTx/>
              <a:buSzTx/>
              <a:buFontTx/>
              <a:buNone/>
              <a:tabLst/>
              <a:defRPr/>
            </a:pPr>
            <a:r>
              <a:rPr kumimoji="0" lang="zh-CN" altLang="en-US" sz="2000" b="1" i="0" u="none" strike="noStrike" kern="100" cap="none" spc="0" normalizeH="0" baseline="0" noProof="0" dirty="0">
                <a:ln>
                  <a:noFill/>
                </a:ln>
                <a:solidFill>
                  <a:srgbClr val="C00000"/>
                </a:solidFill>
                <a:effectLst/>
                <a:uLnTx/>
                <a:uFillTx/>
                <a:latin typeface="等线" panose="02010600030101010101" pitchFamily="2" charset="-122"/>
                <a:ea typeface="等线" panose="02010600030101010101" pitchFamily="2" charset="-122"/>
                <a:cs typeface="Courier New" panose="02070309020205020404" pitchFamily="49" charset="0"/>
              </a:rPr>
              <a:t>例</a:t>
            </a:r>
            <a:r>
              <a:rPr kumimoji="0" lang="en-US" altLang="zh-CN" sz="2000" b="1" i="0" u="none" strike="noStrike" kern="1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3</a:t>
            </a:r>
            <a:r>
              <a:rPr kumimoji="0" lang="en-US" altLang="zh-CN" sz="20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zh-CN" altLang="en-US" sz="20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可动态变长数组</a:t>
            </a:r>
            <a:endParaRPr kumimoji="0" lang="en-US" altLang="zh-CN" sz="2000" b="1" i="0" u="none" strike="noStrike" kern="100" cap="none" spc="0" normalizeH="0" baseline="0" noProof="0" dirty="0">
              <a:ln>
                <a:noFill/>
              </a:ln>
              <a:solidFill>
                <a:srgbClr val="0070C0"/>
              </a:solidFill>
              <a:effectLst/>
              <a:uLnTx/>
              <a:uFillTx/>
              <a:latin typeface="仿宋" panose="02010609060101010101" pitchFamily="49" charset="-122"/>
              <a:ea typeface="仿宋" panose="02010609060101010101" pitchFamily="49" charset="-122"/>
              <a:cs typeface="Courier New" panose="02070309020205020404" pitchFamily="49" charset="0"/>
            </a:endParaRP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altLang="zh-CN" sz="1600" b="1"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ElemType</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a[10];  </a:t>
            </a:r>
            <a:r>
              <a:rPr kumimoji="0" lang="en-US" altLang="zh-CN" sz="1600" b="1" i="0" u="none" strike="noStrike" kern="100" cap="none" spc="0" normalizeH="0" baseline="0" noProof="0" dirty="0">
                <a:ln>
                  <a:noFill/>
                </a:ln>
                <a:solidFill>
                  <a:srgbClr val="0070C0"/>
                </a:solidFill>
                <a:effectLst/>
                <a:uLnTx/>
                <a:uFillTx/>
                <a:latin typeface="Courier New" panose="02070309020205020404" pitchFamily="49" charset="0"/>
                <a:ea typeface="仿宋" panose="02010609060101010101" pitchFamily="49" charset="-122"/>
                <a:cs typeface="Courier New" panose="02070309020205020404" pitchFamily="49" charset="0"/>
              </a:rPr>
              <a:t>// </a:t>
            </a:r>
            <a:r>
              <a:rPr kumimoji="0" lang="zh-CN" altLang="en-US" sz="1600" b="1" i="0" u="none" strike="noStrike" kern="100" cap="none" spc="0" normalizeH="0" baseline="0" noProof="0" dirty="0">
                <a:ln>
                  <a:noFill/>
                </a:ln>
                <a:solidFill>
                  <a:srgbClr val="0070C0"/>
                </a:solidFill>
                <a:effectLst/>
                <a:uLnTx/>
                <a:uFillTx/>
                <a:latin typeface="Courier New" panose="02070309020205020404" pitchFamily="49" charset="0"/>
                <a:ea typeface="仿宋" panose="02010609060101010101" pitchFamily="49" charset="-122"/>
                <a:cs typeface="Courier New" panose="02070309020205020404" pitchFamily="49" charset="0"/>
              </a:rPr>
              <a:t>定长数组，长度固定不变</a:t>
            </a:r>
            <a:endParaRPr kumimoji="0" lang="en-US" altLang="zh-CN" sz="1600" b="1" i="0" u="none" strike="noStrike" kern="100" cap="none" spc="0" normalizeH="0" baseline="0" noProof="0" dirty="0">
              <a:ln>
                <a:noFill/>
              </a:ln>
              <a:solidFill>
                <a:srgbClr val="0070C0"/>
              </a:solidFill>
              <a:effectLst/>
              <a:uLnTx/>
              <a:uFillTx/>
              <a:latin typeface="Courier New" panose="02070309020205020404" pitchFamily="49" charset="0"/>
              <a:ea typeface="仿宋" panose="02010609060101010101" pitchFamily="49" charset="-122"/>
              <a:cs typeface="Courier New" panose="02070309020205020404" pitchFamily="49" charset="0"/>
            </a:endParaRP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altLang="zh-CN" sz="1600" b="1"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ElemType</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b[e];   </a:t>
            </a:r>
            <a:r>
              <a:rPr kumimoji="0" lang="en-US" altLang="zh-CN" sz="1600" b="1" i="0" u="none" strike="noStrike" kern="100" cap="none" spc="0" normalizeH="0" baseline="0" noProof="0" dirty="0">
                <a:ln>
                  <a:noFill/>
                </a:ln>
                <a:solidFill>
                  <a:srgbClr val="0070C0"/>
                </a:solidFill>
                <a:effectLst/>
                <a:uLnTx/>
                <a:uFillTx/>
                <a:latin typeface="Courier New" panose="02070309020205020404" pitchFamily="49" charset="0"/>
                <a:ea typeface="仿宋" panose="02010609060101010101" pitchFamily="49" charset="-122"/>
                <a:cs typeface="Courier New" panose="02070309020205020404" pitchFamily="49" charset="0"/>
              </a:rPr>
              <a:t>// </a:t>
            </a:r>
            <a:r>
              <a:rPr kumimoji="0" lang="zh-CN" altLang="en-US" sz="1600" b="1" i="0" u="none" strike="noStrike" kern="100" cap="none" spc="0" normalizeH="0" baseline="0" noProof="0" dirty="0">
                <a:ln>
                  <a:noFill/>
                </a:ln>
                <a:solidFill>
                  <a:srgbClr val="0070C0"/>
                </a:solidFill>
                <a:effectLst/>
                <a:uLnTx/>
                <a:uFillTx/>
                <a:latin typeface="Courier New" panose="02070309020205020404" pitchFamily="49" charset="0"/>
                <a:ea typeface="仿宋" panose="02010609060101010101" pitchFamily="49" charset="-122"/>
                <a:cs typeface="Courier New" panose="02070309020205020404" pitchFamily="49" charset="0"/>
              </a:rPr>
              <a:t>由表达式</a:t>
            </a:r>
            <a:r>
              <a:rPr kumimoji="0" lang="en-US" altLang="zh-CN" sz="1600" b="1" i="0" u="none" strike="noStrike" kern="100" cap="none" spc="0" normalizeH="0" baseline="0" noProof="0" dirty="0">
                <a:ln>
                  <a:noFill/>
                </a:ln>
                <a:solidFill>
                  <a:srgbClr val="0070C0"/>
                </a:solidFill>
                <a:effectLst/>
                <a:uLnTx/>
                <a:uFillTx/>
                <a:latin typeface="Courier New" panose="02070309020205020404" pitchFamily="49" charset="0"/>
                <a:ea typeface="仿宋" panose="02010609060101010101" pitchFamily="49" charset="-122"/>
                <a:cs typeface="Courier New" panose="02070309020205020404" pitchFamily="49" charset="0"/>
              </a:rPr>
              <a:t>e</a:t>
            </a:r>
            <a:r>
              <a:rPr kumimoji="0" lang="zh-CN" altLang="en-US" sz="1600" b="1" i="0" u="none" strike="noStrike" kern="100" cap="none" spc="0" normalizeH="0" baseline="0" noProof="0" dirty="0">
                <a:ln>
                  <a:noFill/>
                </a:ln>
                <a:solidFill>
                  <a:srgbClr val="0070C0"/>
                </a:solidFill>
                <a:effectLst/>
                <a:uLnTx/>
                <a:uFillTx/>
                <a:latin typeface="Courier New" panose="02070309020205020404" pitchFamily="49" charset="0"/>
                <a:ea typeface="仿宋" panose="02010609060101010101" pitchFamily="49" charset="-122"/>
                <a:cs typeface="Courier New" panose="02070309020205020404" pitchFamily="49" charset="0"/>
              </a:rPr>
              <a:t>来定长，一旦确定，长度固定不变</a:t>
            </a:r>
            <a:endParaRPr kumimoji="0" lang="en-US" altLang="zh-CN" sz="1600" b="1" i="0" u="none" strike="noStrike" kern="100" cap="none" spc="0" normalizeH="0" baseline="0" noProof="0" dirty="0">
              <a:ln>
                <a:noFill/>
              </a:ln>
              <a:solidFill>
                <a:srgbClr val="0070C0"/>
              </a:solidFill>
              <a:effectLst/>
              <a:uLnTx/>
              <a:uFillTx/>
              <a:latin typeface="Courier New" panose="02070309020205020404" pitchFamily="49" charset="0"/>
              <a:ea typeface="仿宋" panose="02010609060101010101" pitchFamily="49" charset="-122"/>
              <a:cs typeface="Courier New" panose="02070309020205020404" pitchFamily="49" charset="0"/>
            </a:endParaRP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altLang="zh-CN" sz="1600" b="1"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ElemType</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*c;     </a:t>
            </a:r>
            <a:r>
              <a:rPr kumimoji="0" lang="en-US" altLang="zh-CN" sz="1600" b="1" i="0" u="none" strike="noStrike" kern="100" cap="none" spc="0" normalizeH="0" baseline="0" noProof="0" dirty="0">
                <a:ln>
                  <a:noFill/>
                </a:ln>
                <a:solidFill>
                  <a:srgbClr val="0070C0"/>
                </a:solidFill>
                <a:effectLst/>
                <a:uLnTx/>
                <a:uFillTx/>
                <a:latin typeface="Courier New" panose="02070309020205020404" pitchFamily="49" charset="0"/>
                <a:ea typeface="仿宋" panose="02010609060101010101" pitchFamily="49" charset="-122"/>
                <a:cs typeface="Courier New" panose="02070309020205020404" pitchFamily="49" charset="0"/>
              </a:rPr>
              <a:t>// </a:t>
            </a:r>
            <a:r>
              <a:rPr kumimoji="0" lang="zh-CN" altLang="en-US" sz="1600" b="1" i="0" u="none" strike="noStrike" kern="100" cap="none" spc="0" normalizeH="0" baseline="0" noProof="0" dirty="0">
                <a:ln>
                  <a:noFill/>
                </a:ln>
                <a:solidFill>
                  <a:srgbClr val="0070C0"/>
                </a:solidFill>
                <a:effectLst/>
                <a:uLnTx/>
                <a:uFillTx/>
                <a:latin typeface="Courier New" panose="02070309020205020404" pitchFamily="49" charset="0"/>
                <a:ea typeface="仿宋" panose="02010609060101010101" pitchFamily="49" charset="-122"/>
                <a:cs typeface="Courier New" panose="02070309020205020404" pitchFamily="49" charset="0"/>
              </a:rPr>
              <a:t>用</a:t>
            </a:r>
            <a:r>
              <a:rPr kumimoji="0" lang="en-US" altLang="zh-CN" sz="1600" b="1" i="0" u="none" strike="noStrike" kern="100" cap="none" spc="0" normalizeH="0" baseline="0" noProof="0" dirty="0" err="1">
                <a:ln>
                  <a:noFill/>
                </a:ln>
                <a:solidFill>
                  <a:srgbClr val="0070C0"/>
                </a:solidFill>
                <a:effectLst/>
                <a:uLnTx/>
                <a:uFillTx/>
                <a:latin typeface="Courier New" panose="02070309020205020404" pitchFamily="49" charset="0"/>
                <a:ea typeface="仿宋" panose="02010609060101010101" pitchFamily="49" charset="-122"/>
                <a:cs typeface="Courier New" panose="02070309020205020404" pitchFamily="49" charset="0"/>
              </a:rPr>
              <a:t>calloc</a:t>
            </a:r>
            <a:r>
              <a:rPr kumimoji="0" lang="zh-CN" altLang="en-US" sz="1600" b="1" i="0" u="none" strike="noStrike" kern="100" cap="none" spc="0" normalizeH="0" baseline="0" noProof="0" dirty="0">
                <a:ln>
                  <a:noFill/>
                </a:ln>
                <a:solidFill>
                  <a:srgbClr val="0070C0"/>
                </a:solidFill>
                <a:effectLst/>
                <a:uLnTx/>
                <a:uFillTx/>
                <a:latin typeface="Courier New" panose="02070309020205020404" pitchFamily="49" charset="0"/>
                <a:ea typeface="仿宋" panose="02010609060101010101" pitchFamily="49" charset="-122"/>
                <a:cs typeface="Courier New" panose="02070309020205020404" pitchFamily="49" charset="0"/>
              </a:rPr>
              <a:t>动态申请分配指定长度的空间，</a:t>
            </a:r>
            <a:endParaRPr kumimoji="0" lang="en-US" altLang="zh-CN" sz="1600" b="1" i="0" u="none" strike="noStrike" kern="100" cap="none" spc="0" normalizeH="0" baseline="0" noProof="0" dirty="0">
              <a:ln>
                <a:noFill/>
              </a:ln>
              <a:solidFill>
                <a:srgbClr val="0070C0"/>
              </a:solidFill>
              <a:effectLst/>
              <a:uLnTx/>
              <a:uFillTx/>
              <a:latin typeface="Courier New" panose="02070309020205020404" pitchFamily="49" charset="0"/>
              <a:ea typeface="仿宋" panose="02010609060101010101" pitchFamily="49" charset="-122"/>
              <a:cs typeface="Courier New" panose="02070309020205020404" pitchFamily="49" charset="0"/>
            </a:endParaRP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1" i="0" u="none" strike="noStrike" kern="100" cap="none" spc="0" normalizeH="0" baseline="0" noProof="0" dirty="0">
                <a:ln>
                  <a:noFill/>
                </a:ln>
                <a:solidFill>
                  <a:srgbClr val="0070C0"/>
                </a:solidFill>
                <a:effectLst/>
                <a:uLnTx/>
                <a:uFillTx/>
                <a:latin typeface="Courier New" panose="02070309020205020404" pitchFamily="49" charset="0"/>
                <a:ea typeface="仿宋" panose="02010609060101010101" pitchFamily="49" charset="-122"/>
                <a:cs typeface="Courier New" panose="02070309020205020404" pitchFamily="49" charset="0"/>
              </a:rPr>
              <a:t>// </a:t>
            </a:r>
            <a:r>
              <a:rPr kumimoji="0" lang="zh-CN" altLang="en-US" sz="1600" b="1" i="0" u="none" strike="noStrike" kern="100" cap="none" spc="0" normalizeH="0" baseline="0" noProof="0" dirty="0">
                <a:ln>
                  <a:noFill/>
                </a:ln>
                <a:solidFill>
                  <a:srgbClr val="0070C0"/>
                </a:solidFill>
                <a:effectLst/>
                <a:uLnTx/>
                <a:uFillTx/>
                <a:latin typeface="Courier New" panose="02070309020205020404" pitchFamily="49" charset="0"/>
                <a:ea typeface="仿宋" panose="02010609060101010101" pitchFamily="49" charset="-122"/>
                <a:cs typeface="Courier New" panose="02070309020205020404" pitchFamily="49" charset="0"/>
              </a:rPr>
              <a:t>可随时用</a:t>
            </a:r>
            <a:r>
              <a:rPr kumimoji="0" lang="en-US" altLang="zh-CN" sz="1600" b="1" i="0" u="none" strike="noStrike" kern="100" cap="none" spc="0" normalizeH="0" baseline="0" noProof="0" dirty="0" err="1">
                <a:ln>
                  <a:noFill/>
                </a:ln>
                <a:solidFill>
                  <a:srgbClr val="0070C0"/>
                </a:solidFill>
                <a:effectLst/>
                <a:uLnTx/>
                <a:uFillTx/>
                <a:latin typeface="Courier New" panose="02070309020205020404" pitchFamily="49" charset="0"/>
                <a:ea typeface="仿宋" panose="02010609060101010101" pitchFamily="49" charset="-122"/>
                <a:cs typeface="Courier New" panose="02070309020205020404" pitchFamily="49" charset="0"/>
              </a:rPr>
              <a:t>realloc</a:t>
            </a:r>
            <a:r>
              <a:rPr kumimoji="0" lang="zh-CN" altLang="en-US" sz="1600" b="1" i="0" u="none" strike="noStrike" kern="100" cap="none" spc="0" normalizeH="0" baseline="0" noProof="0" dirty="0">
                <a:ln>
                  <a:noFill/>
                </a:ln>
                <a:solidFill>
                  <a:srgbClr val="0070C0"/>
                </a:solidFill>
                <a:effectLst/>
                <a:uLnTx/>
                <a:uFillTx/>
                <a:latin typeface="Courier New" panose="02070309020205020404" pitchFamily="49" charset="0"/>
                <a:ea typeface="仿宋" panose="02010609060101010101" pitchFamily="49" charset="-122"/>
                <a:cs typeface="Courier New" panose="02070309020205020404" pitchFamily="49" charset="0"/>
              </a:rPr>
              <a:t>改变长度</a:t>
            </a:r>
            <a:endParaRPr kumimoji="0" lang="en-US" altLang="zh-CN" sz="1600" b="1" i="0" u="none" strike="noStrike" kern="100" cap="none" spc="0" normalizeH="0" baseline="0" noProof="0" dirty="0">
              <a:ln>
                <a:noFill/>
              </a:ln>
              <a:solidFill>
                <a:srgbClr val="0070C0"/>
              </a:solidFill>
              <a:effectLst/>
              <a:uLnTx/>
              <a:uFillTx/>
              <a:latin typeface="Courier New" panose="02070309020205020404" pitchFamily="49" charset="0"/>
              <a:ea typeface="仿宋" panose="02010609060101010101" pitchFamily="49" charset="-122"/>
              <a:cs typeface="Courier New" panose="02070309020205020404" pitchFamily="49" charset="0"/>
            </a:endParaRP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1"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Courier New" panose="02070309020205020404" pitchFamily="49" charset="0"/>
              </a:rPr>
              <a:t>…</a:t>
            </a:r>
            <a:endPar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c = (</a:t>
            </a:r>
            <a:r>
              <a:rPr kumimoji="0" lang="en-US" altLang="zh-CN" sz="1600" b="1"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ElemType</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1600" b="1"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calloc</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(10, </a:t>
            </a:r>
            <a:r>
              <a:rPr kumimoji="0" lang="en-US" altLang="zh-CN" sz="1600" b="1"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sizeof</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1600" b="1"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ElemType</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1" i="0" u="none" strike="noStrike" kern="100" cap="none" spc="0" normalizeH="0" baseline="0" noProof="0" dirty="0">
                <a:ln>
                  <a:noFill/>
                </a:ln>
                <a:solidFill>
                  <a:srgbClr val="0070C0"/>
                </a:solidFill>
                <a:effectLst/>
                <a:uLnTx/>
                <a:uFillTx/>
                <a:latin typeface="Courier New" panose="02070309020205020404" pitchFamily="49" charset="0"/>
                <a:ea typeface="仿宋" panose="02010609060101010101" pitchFamily="49" charset="-122"/>
                <a:cs typeface="Courier New" panose="02070309020205020404" pitchFamily="49" charset="0"/>
              </a:rPr>
              <a:t>// </a:t>
            </a:r>
            <a:r>
              <a:rPr kumimoji="0" lang="zh-CN" altLang="en-US" sz="1600" b="1" i="0" u="none" strike="noStrike" kern="100" cap="none" spc="0" normalizeH="0" baseline="0" noProof="0" dirty="0">
                <a:ln>
                  <a:noFill/>
                </a:ln>
                <a:solidFill>
                  <a:srgbClr val="0070C0"/>
                </a:solidFill>
                <a:effectLst/>
                <a:uLnTx/>
                <a:uFillTx/>
                <a:latin typeface="Courier New" panose="02070309020205020404" pitchFamily="49" charset="0"/>
                <a:ea typeface="仿宋" panose="02010609060101010101" pitchFamily="49" charset="-122"/>
                <a:cs typeface="Courier New" panose="02070309020205020404" pitchFamily="49" charset="0"/>
              </a:rPr>
              <a:t>动态生成长度为</a:t>
            </a:r>
            <a:r>
              <a:rPr kumimoji="0" lang="en-US" altLang="zh-CN" sz="1600" b="1" i="0" u="none" strike="noStrike" kern="100" cap="none" spc="0" normalizeH="0" baseline="0" noProof="0" dirty="0">
                <a:ln>
                  <a:noFill/>
                </a:ln>
                <a:solidFill>
                  <a:srgbClr val="0070C0"/>
                </a:solidFill>
                <a:effectLst/>
                <a:uLnTx/>
                <a:uFillTx/>
                <a:latin typeface="Courier New" panose="02070309020205020404" pitchFamily="49" charset="0"/>
                <a:ea typeface="仿宋" panose="02010609060101010101" pitchFamily="49" charset="-122"/>
                <a:cs typeface="Courier New" panose="02070309020205020404" pitchFamily="49" charset="0"/>
              </a:rPr>
              <a:t>10</a:t>
            </a:r>
            <a:r>
              <a:rPr kumimoji="0" lang="zh-CN" altLang="en-US" sz="1600" b="1" i="0" u="none" strike="noStrike" kern="100" cap="none" spc="0" normalizeH="0" baseline="0" noProof="0" dirty="0">
                <a:ln>
                  <a:noFill/>
                </a:ln>
                <a:solidFill>
                  <a:srgbClr val="0070C0"/>
                </a:solidFill>
                <a:effectLst/>
                <a:uLnTx/>
                <a:uFillTx/>
                <a:latin typeface="Courier New" panose="02070309020205020404" pitchFamily="49" charset="0"/>
                <a:ea typeface="仿宋" panose="02010609060101010101" pitchFamily="49" charset="-122"/>
                <a:cs typeface="Courier New" panose="02070309020205020404" pitchFamily="49" charset="0"/>
              </a:rPr>
              <a:t>的数组</a:t>
            </a:r>
            <a:endParaRPr kumimoji="0" lang="en-US" altLang="zh-CN" sz="1600" b="1" i="0" u="none" strike="noStrike" kern="100" cap="none" spc="0" normalizeH="0" baseline="0" noProof="0" dirty="0">
              <a:ln>
                <a:noFill/>
              </a:ln>
              <a:solidFill>
                <a:srgbClr val="0070C0"/>
              </a:solidFill>
              <a:effectLst/>
              <a:uLnTx/>
              <a:uFillTx/>
              <a:latin typeface="Courier New" panose="02070309020205020404" pitchFamily="49" charset="0"/>
              <a:ea typeface="仿宋" panose="02010609060101010101" pitchFamily="49" charset="-122"/>
              <a:cs typeface="Courier New" panose="02070309020205020404" pitchFamily="49" charset="0"/>
            </a:endParaRP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1"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Courier New" panose="02070309020205020404" pitchFamily="49" charset="0"/>
              </a:rPr>
              <a:t>…</a:t>
            </a:r>
            <a:endPar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c = (</a:t>
            </a:r>
            <a:r>
              <a:rPr kumimoji="0" lang="en-US" altLang="zh-CN" sz="1600" b="1"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ElemType</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1600" b="1"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realloc</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(c, 15*</a:t>
            </a:r>
            <a:r>
              <a:rPr kumimoji="0" lang="en-US" altLang="zh-CN" sz="1600" b="1"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sizeof</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1600" b="1"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ElemType</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1" i="0" u="none" strike="noStrike" kern="100" cap="none" spc="0" normalizeH="0" baseline="0" noProof="0" dirty="0">
                <a:ln>
                  <a:noFill/>
                </a:ln>
                <a:solidFill>
                  <a:srgbClr val="0070C0"/>
                </a:solidFill>
                <a:effectLst/>
                <a:uLnTx/>
                <a:uFillTx/>
                <a:latin typeface="Courier New" panose="02070309020205020404" pitchFamily="49" charset="0"/>
                <a:ea typeface="仿宋" panose="02010609060101010101" pitchFamily="49" charset="-122"/>
                <a:cs typeface="Courier New" panose="02070309020205020404" pitchFamily="49" charset="0"/>
              </a:rPr>
              <a:t>// </a:t>
            </a:r>
            <a:r>
              <a:rPr kumimoji="0" lang="zh-CN" altLang="en-US" sz="1600" b="1" i="0" u="none" strike="noStrike" kern="100" cap="none" spc="0" normalizeH="0" baseline="0" noProof="0" dirty="0">
                <a:ln>
                  <a:noFill/>
                </a:ln>
                <a:solidFill>
                  <a:srgbClr val="0070C0"/>
                </a:solidFill>
                <a:effectLst/>
                <a:uLnTx/>
                <a:uFillTx/>
                <a:latin typeface="Courier New" panose="02070309020205020404" pitchFamily="49" charset="0"/>
                <a:ea typeface="仿宋" panose="02010609060101010101" pitchFamily="49" charset="-122"/>
                <a:cs typeface="Courier New" panose="02070309020205020404" pitchFamily="49" charset="0"/>
              </a:rPr>
              <a:t>改变</a:t>
            </a:r>
            <a:r>
              <a:rPr kumimoji="0" lang="en-US" altLang="zh-CN" sz="1600" b="1" i="0" u="none" strike="noStrike" kern="100" cap="none" spc="0" normalizeH="0" baseline="0" noProof="0" dirty="0">
                <a:ln>
                  <a:noFill/>
                </a:ln>
                <a:solidFill>
                  <a:srgbClr val="0070C0"/>
                </a:solidFill>
                <a:effectLst/>
                <a:uLnTx/>
                <a:uFillTx/>
                <a:latin typeface="Courier New" panose="02070309020205020404" pitchFamily="49" charset="0"/>
                <a:ea typeface="仿宋" panose="02010609060101010101" pitchFamily="49" charset="-122"/>
                <a:cs typeface="Courier New" panose="02070309020205020404" pitchFamily="49" charset="0"/>
              </a:rPr>
              <a:t>c</a:t>
            </a:r>
            <a:r>
              <a:rPr kumimoji="0" lang="zh-CN" altLang="en-US" sz="1600" b="1" i="0" u="none" strike="noStrike" kern="100" cap="none" spc="0" normalizeH="0" baseline="0" noProof="0" dirty="0">
                <a:ln>
                  <a:noFill/>
                </a:ln>
                <a:solidFill>
                  <a:srgbClr val="0070C0"/>
                </a:solidFill>
                <a:effectLst/>
                <a:uLnTx/>
                <a:uFillTx/>
                <a:latin typeface="Courier New" panose="02070309020205020404" pitchFamily="49" charset="0"/>
                <a:ea typeface="仿宋" panose="02010609060101010101" pitchFamily="49" charset="-122"/>
                <a:cs typeface="Courier New" panose="02070309020205020404" pitchFamily="49" charset="0"/>
              </a:rPr>
              <a:t>的长度为</a:t>
            </a:r>
            <a:r>
              <a:rPr kumimoji="0" lang="en-US" altLang="zh-CN" sz="1600" b="1" i="0" u="none" strike="noStrike" kern="100" cap="none" spc="0" normalizeH="0" baseline="0" noProof="0" dirty="0">
                <a:ln>
                  <a:noFill/>
                </a:ln>
                <a:solidFill>
                  <a:srgbClr val="0070C0"/>
                </a:solidFill>
                <a:effectLst/>
                <a:uLnTx/>
                <a:uFillTx/>
                <a:latin typeface="Courier New" panose="02070309020205020404" pitchFamily="49" charset="0"/>
                <a:ea typeface="仿宋" panose="02010609060101010101" pitchFamily="49" charset="-122"/>
                <a:cs typeface="Courier New" panose="02070309020205020404" pitchFamily="49" charset="0"/>
              </a:rPr>
              <a:t>15</a:t>
            </a:r>
          </a:p>
        </p:txBody>
      </p:sp>
      <p:grpSp>
        <p:nvGrpSpPr>
          <p:cNvPr id="7" name="组合 6">
            <a:extLst>
              <a:ext uri="{FF2B5EF4-FFF2-40B4-BE49-F238E27FC236}">
                <a16:creationId xmlns:a16="http://schemas.microsoft.com/office/drawing/2014/main" id="{AD81A838-AC8F-4C36-A999-533A5D35F685}"/>
              </a:ext>
            </a:extLst>
          </p:cNvPr>
          <p:cNvGrpSpPr/>
          <p:nvPr/>
        </p:nvGrpSpPr>
        <p:grpSpPr>
          <a:xfrm>
            <a:off x="1376136" y="2197985"/>
            <a:ext cx="1431509" cy="4404200"/>
            <a:chOff x="6312513" y="2909092"/>
            <a:chExt cx="1431509" cy="3422340"/>
          </a:xfrm>
        </p:grpSpPr>
        <p:sp>
          <p:nvSpPr>
            <p:cNvPr id="8" name="矩形 7">
              <a:extLst>
                <a:ext uri="{FF2B5EF4-FFF2-40B4-BE49-F238E27FC236}">
                  <a16:creationId xmlns:a16="http://schemas.microsoft.com/office/drawing/2014/main" id="{C711A54D-470B-4043-9BC4-018D2C4929F6}"/>
                </a:ext>
              </a:extLst>
            </p:cNvPr>
            <p:cNvSpPr/>
            <p:nvPr/>
          </p:nvSpPr>
          <p:spPr>
            <a:xfrm>
              <a:off x="6312513" y="3272921"/>
              <a:ext cx="1431509" cy="3058511"/>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9" name="文本框 8">
              <a:extLst>
                <a:ext uri="{FF2B5EF4-FFF2-40B4-BE49-F238E27FC236}">
                  <a16:creationId xmlns:a16="http://schemas.microsoft.com/office/drawing/2014/main" id="{A32B28F0-ACF7-4B36-A401-DAADF5FA630E}"/>
                </a:ext>
              </a:extLst>
            </p:cNvPr>
            <p:cNvSpPr txBox="1"/>
            <p:nvPr/>
          </p:nvSpPr>
          <p:spPr>
            <a:xfrm>
              <a:off x="6825782" y="2909092"/>
              <a:ext cx="41549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栈</a:t>
              </a:r>
            </a:p>
          </p:txBody>
        </p:sp>
      </p:grpSp>
      <p:grpSp>
        <p:nvGrpSpPr>
          <p:cNvPr id="10" name="组合 9">
            <a:extLst>
              <a:ext uri="{FF2B5EF4-FFF2-40B4-BE49-F238E27FC236}">
                <a16:creationId xmlns:a16="http://schemas.microsoft.com/office/drawing/2014/main" id="{FA05B318-3C12-4DC2-AD23-C9816B1468EF}"/>
              </a:ext>
            </a:extLst>
          </p:cNvPr>
          <p:cNvGrpSpPr/>
          <p:nvPr/>
        </p:nvGrpSpPr>
        <p:grpSpPr>
          <a:xfrm>
            <a:off x="3611541" y="4697988"/>
            <a:ext cx="4447791" cy="1895836"/>
            <a:chOff x="8614279" y="4435596"/>
            <a:chExt cx="4447791" cy="1895836"/>
          </a:xfrm>
        </p:grpSpPr>
        <p:sp>
          <p:nvSpPr>
            <p:cNvPr id="11" name="矩形 10">
              <a:extLst>
                <a:ext uri="{FF2B5EF4-FFF2-40B4-BE49-F238E27FC236}">
                  <a16:creationId xmlns:a16="http://schemas.microsoft.com/office/drawing/2014/main" id="{5078AF47-EC02-4F1A-ABB1-FB9C1400276A}"/>
                </a:ext>
              </a:extLst>
            </p:cNvPr>
            <p:cNvSpPr/>
            <p:nvPr/>
          </p:nvSpPr>
          <p:spPr>
            <a:xfrm>
              <a:off x="8614279" y="4782259"/>
              <a:ext cx="4447791" cy="1549173"/>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2" name="文本框 11">
              <a:extLst>
                <a:ext uri="{FF2B5EF4-FFF2-40B4-BE49-F238E27FC236}">
                  <a16:creationId xmlns:a16="http://schemas.microsoft.com/office/drawing/2014/main" id="{D9564987-AD6A-47DF-B067-A5124193E027}"/>
                </a:ext>
              </a:extLst>
            </p:cNvPr>
            <p:cNvSpPr txBox="1"/>
            <p:nvPr/>
          </p:nvSpPr>
          <p:spPr>
            <a:xfrm>
              <a:off x="10096593" y="4435596"/>
              <a:ext cx="41549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堆</a:t>
              </a:r>
            </a:p>
          </p:txBody>
        </p:sp>
      </p:grpSp>
      <p:sp>
        <p:nvSpPr>
          <p:cNvPr id="13" name="矩形 12">
            <a:extLst>
              <a:ext uri="{FF2B5EF4-FFF2-40B4-BE49-F238E27FC236}">
                <a16:creationId xmlns:a16="http://schemas.microsoft.com/office/drawing/2014/main" id="{A3E483F8-08BF-4B8F-A958-B3332332B27A}"/>
              </a:ext>
            </a:extLst>
          </p:cNvPr>
          <p:cNvSpPr/>
          <p:nvPr/>
        </p:nvSpPr>
        <p:spPr>
          <a:xfrm>
            <a:off x="3858582" y="5403975"/>
            <a:ext cx="2155838" cy="278654"/>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4" name="矩形 13">
            <a:extLst>
              <a:ext uri="{FF2B5EF4-FFF2-40B4-BE49-F238E27FC236}">
                <a16:creationId xmlns:a16="http://schemas.microsoft.com/office/drawing/2014/main" id="{050FB16D-6802-47CE-83E4-326710BFCF35}"/>
              </a:ext>
            </a:extLst>
          </p:cNvPr>
          <p:cNvSpPr/>
          <p:nvPr/>
        </p:nvSpPr>
        <p:spPr>
          <a:xfrm>
            <a:off x="6014420" y="5403975"/>
            <a:ext cx="1050937" cy="278654"/>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grpSp>
        <p:nvGrpSpPr>
          <p:cNvPr id="29" name="组合 28">
            <a:extLst>
              <a:ext uri="{FF2B5EF4-FFF2-40B4-BE49-F238E27FC236}">
                <a16:creationId xmlns:a16="http://schemas.microsoft.com/office/drawing/2014/main" id="{9949A2D8-B766-4F64-84E4-2DCD6C934FEF}"/>
              </a:ext>
            </a:extLst>
          </p:cNvPr>
          <p:cNvGrpSpPr/>
          <p:nvPr/>
        </p:nvGrpSpPr>
        <p:grpSpPr>
          <a:xfrm>
            <a:off x="3858583" y="6016828"/>
            <a:ext cx="3206774" cy="278654"/>
            <a:chOff x="8753017" y="4747195"/>
            <a:chExt cx="3127604" cy="278654"/>
          </a:xfrm>
        </p:grpSpPr>
        <p:sp>
          <p:nvSpPr>
            <p:cNvPr id="30" name="矩形 29">
              <a:extLst>
                <a:ext uri="{FF2B5EF4-FFF2-40B4-BE49-F238E27FC236}">
                  <a16:creationId xmlns:a16="http://schemas.microsoft.com/office/drawing/2014/main" id="{DBD2C819-EBC7-4CD8-81A4-84B6A4FBF8B7}"/>
                </a:ext>
              </a:extLst>
            </p:cNvPr>
            <p:cNvSpPr/>
            <p:nvPr/>
          </p:nvSpPr>
          <p:spPr>
            <a:xfrm>
              <a:off x="8753017" y="4747195"/>
              <a:ext cx="2102614" cy="278654"/>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31" name="矩形 30">
              <a:extLst>
                <a:ext uri="{FF2B5EF4-FFF2-40B4-BE49-F238E27FC236}">
                  <a16:creationId xmlns:a16="http://schemas.microsoft.com/office/drawing/2014/main" id="{B8371FE8-EA30-4916-B480-279B7F810ACB}"/>
                </a:ext>
              </a:extLst>
            </p:cNvPr>
            <p:cNvSpPr/>
            <p:nvPr/>
          </p:nvSpPr>
          <p:spPr>
            <a:xfrm>
              <a:off x="10855630" y="4747195"/>
              <a:ext cx="1024991" cy="278654"/>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grpSp>
      <p:grpSp>
        <p:nvGrpSpPr>
          <p:cNvPr id="45" name="组合 44">
            <a:extLst>
              <a:ext uri="{FF2B5EF4-FFF2-40B4-BE49-F238E27FC236}">
                <a16:creationId xmlns:a16="http://schemas.microsoft.com/office/drawing/2014/main" id="{054E6051-C9FE-44F0-81A1-894BE2E36872}"/>
              </a:ext>
            </a:extLst>
          </p:cNvPr>
          <p:cNvGrpSpPr/>
          <p:nvPr/>
        </p:nvGrpSpPr>
        <p:grpSpPr>
          <a:xfrm>
            <a:off x="382279" y="2840633"/>
            <a:ext cx="2354543" cy="3528637"/>
            <a:chOff x="382279" y="2840633"/>
            <a:chExt cx="2354543" cy="3528637"/>
          </a:xfrm>
        </p:grpSpPr>
        <p:sp>
          <p:nvSpPr>
            <p:cNvPr id="27" name="矩形 26">
              <a:extLst>
                <a:ext uri="{FF2B5EF4-FFF2-40B4-BE49-F238E27FC236}">
                  <a16:creationId xmlns:a16="http://schemas.microsoft.com/office/drawing/2014/main" id="{0D41108D-68A1-492E-92C4-F8ACE7C4B516}"/>
                </a:ext>
              </a:extLst>
            </p:cNvPr>
            <p:cNvSpPr/>
            <p:nvPr/>
          </p:nvSpPr>
          <p:spPr>
            <a:xfrm>
              <a:off x="1475349" y="2840634"/>
              <a:ext cx="1261473" cy="3528636"/>
            </a:xfrm>
            <a:prstGeom prst="rect">
              <a:avLst/>
            </a:prstGeom>
            <a:noFill/>
            <a:ln w="19050">
              <a:solidFill>
                <a:srgbClr val="7030A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grpSp>
          <p:nvGrpSpPr>
            <p:cNvPr id="42" name="组合 41">
              <a:extLst>
                <a:ext uri="{FF2B5EF4-FFF2-40B4-BE49-F238E27FC236}">
                  <a16:creationId xmlns:a16="http://schemas.microsoft.com/office/drawing/2014/main" id="{9CCE00A6-BC35-4987-A0B0-D24EA84955BE}"/>
                </a:ext>
              </a:extLst>
            </p:cNvPr>
            <p:cNvGrpSpPr/>
            <p:nvPr/>
          </p:nvGrpSpPr>
          <p:grpSpPr>
            <a:xfrm>
              <a:off x="382279" y="2840633"/>
              <a:ext cx="2206604" cy="3403269"/>
              <a:chOff x="382279" y="2840633"/>
              <a:chExt cx="2206604" cy="3403269"/>
            </a:xfrm>
          </p:grpSpPr>
          <p:sp>
            <p:nvSpPr>
              <p:cNvPr id="19" name="矩形 18">
                <a:extLst>
                  <a:ext uri="{FF2B5EF4-FFF2-40B4-BE49-F238E27FC236}">
                    <a16:creationId xmlns:a16="http://schemas.microsoft.com/office/drawing/2014/main" id="{82EBA7D6-9252-44F9-A997-857883F65507}"/>
                  </a:ext>
                </a:extLst>
              </p:cNvPr>
              <p:cNvSpPr/>
              <p:nvPr/>
            </p:nvSpPr>
            <p:spPr>
              <a:xfrm>
                <a:off x="1842423" y="4330732"/>
                <a:ext cx="734088" cy="944962"/>
              </a:xfrm>
              <a:prstGeom prst="rect">
                <a:avLst/>
              </a:prstGeom>
              <a:solidFill>
                <a:schemeClr val="accent5">
                  <a:lumMod val="60000"/>
                  <a:lumOff val="4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ourier New" panose="02070309020205020404" pitchFamily="49" charset="0"/>
                  <a:ea typeface="等线" panose="02010600030101010101" pitchFamily="2" charset="-122"/>
                  <a:cs typeface="Courier New" panose="02070309020205020404" pitchFamily="49" charset="0"/>
                </a:endParaRPr>
              </a:p>
            </p:txBody>
          </p:sp>
          <p:sp>
            <p:nvSpPr>
              <p:cNvPr id="20" name="矩形 19">
                <a:extLst>
                  <a:ext uri="{FF2B5EF4-FFF2-40B4-BE49-F238E27FC236}">
                    <a16:creationId xmlns:a16="http://schemas.microsoft.com/office/drawing/2014/main" id="{7AB86385-F1B5-44A3-AFD9-985FB69D6128}"/>
                  </a:ext>
                </a:extLst>
              </p:cNvPr>
              <p:cNvSpPr/>
              <p:nvPr/>
            </p:nvSpPr>
            <p:spPr>
              <a:xfrm>
                <a:off x="1842423" y="5968163"/>
                <a:ext cx="711517" cy="234519"/>
              </a:xfrm>
              <a:prstGeom prst="rect">
                <a:avLst/>
              </a:prstGeom>
              <a:solidFill>
                <a:schemeClr val="accent5">
                  <a:lumMod val="60000"/>
                  <a:lumOff val="4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1" name="文本框 20">
                <a:extLst>
                  <a:ext uri="{FF2B5EF4-FFF2-40B4-BE49-F238E27FC236}">
                    <a16:creationId xmlns:a16="http://schemas.microsoft.com/office/drawing/2014/main" id="{FAA5A392-3360-4D8D-99BB-F95ABB80497E}"/>
                  </a:ext>
                </a:extLst>
              </p:cNvPr>
              <p:cNvSpPr txBox="1"/>
              <p:nvPr/>
            </p:nvSpPr>
            <p:spPr>
              <a:xfrm>
                <a:off x="1528512" y="4292331"/>
                <a:ext cx="32252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pitchFamily="2" charset="-122"/>
                    <a:cs typeface="Courier New" panose="02070309020205020404" pitchFamily="49" charset="0"/>
                  </a:rPr>
                  <a:t>b</a:t>
                </a:r>
                <a:endPar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pitchFamily="2" charset="-122"/>
                  <a:cs typeface="Courier New" panose="02070309020205020404" pitchFamily="49" charset="0"/>
                </a:endParaRPr>
              </a:p>
            </p:txBody>
          </p:sp>
          <p:sp>
            <p:nvSpPr>
              <p:cNvPr id="22" name="文本框 21">
                <a:extLst>
                  <a:ext uri="{FF2B5EF4-FFF2-40B4-BE49-F238E27FC236}">
                    <a16:creationId xmlns:a16="http://schemas.microsoft.com/office/drawing/2014/main" id="{DB715A6C-A7A4-4210-855B-61AB01D09480}"/>
                  </a:ext>
                </a:extLst>
              </p:cNvPr>
              <p:cNvSpPr txBox="1"/>
              <p:nvPr/>
            </p:nvSpPr>
            <p:spPr>
              <a:xfrm>
                <a:off x="1529514" y="5874570"/>
                <a:ext cx="32252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pitchFamily="2" charset="-122"/>
                    <a:cs typeface="Courier New" panose="02070309020205020404" pitchFamily="49" charset="0"/>
                  </a:rPr>
                  <a:t>c</a:t>
                </a:r>
                <a:endPar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pitchFamily="2" charset="-122"/>
                  <a:cs typeface="Courier New" panose="02070309020205020404" pitchFamily="49" charset="0"/>
                </a:endParaRPr>
              </a:p>
            </p:txBody>
          </p:sp>
          <p:sp>
            <p:nvSpPr>
              <p:cNvPr id="23" name="矩形 22">
                <a:extLst>
                  <a:ext uri="{FF2B5EF4-FFF2-40B4-BE49-F238E27FC236}">
                    <a16:creationId xmlns:a16="http://schemas.microsoft.com/office/drawing/2014/main" id="{5653FA1F-80AB-47F4-B889-1AFD12C3BCBE}"/>
                  </a:ext>
                </a:extLst>
              </p:cNvPr>
              <p:cNvSpPr/>
              <p:nvPr/>
            </p:nvSpPr>
            <p:spPr>
              <a:xfrm>
                <a:off x="1848331" y="3064817"/>
                <a:ext cx="740552" cy="1120943"/>
              </a:xfrm>
              <a:prstGeom prst="rect">
                <a:avLst/>
              </a:prstGeom>
              <a:solidFill>
                <a:schemeClr val="accent5">
                  <a:lumMod val="60000"/>
                  <a:lumOff val="4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ourier New" panose="02070309020205020404" pitchFamily="49" charset="0"/>
                  <a:ea typeface="等线" panose="02010600030101010101" pitchFamily="2" charset="-122"/>
                  <a:cs typeface="Courier New" panose="02070309020205020404" pitchFamily="49" charset="0"/>
                </a:endParaRPr>
              </a:p>
            </p:txBody>
          </p:sp>
          <p:sp>
            <p:nvSpPr>
              <p:cNvPr id="24" name="文本框 23">
                <a:extLst>
                  <a:ext uri="{FF2B5EF4-FFF2-40B4-BE49-F238E27FC236}">
                    <a16:creationId xmlns:a16="http://schemas.microsoft.com/office/drawing/2014/main" id="{419C5865-CEAC-444F-B647-FDF2A768112A}"/>
                  </a:ext>
                </a:extLst>
              </p:cNvPr>
              <p:cNvSpPr txBox="1"/>
              <p:nvPr/>
            </p:nvSpPr>
            <p:spPr>
              <a:xfrm>
                <a:off x="1528512" y="2960165"/>
                <a:ext cx="32252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pitchFamily="2" charset="-122"/>
                    <a:cs typeface="Courier New" panose="02070309020205020404" pitchFamily="49" charset="0"/>
                  </a:rPr>
                  <a:t>a</a:t>
                </a:r>
                <a:endPar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pitchFamily="2" charset="-122"/>
                  <a:cs typeface="Courier New" panose="02070309020205020404" pitchFamily="49" charset="0"/>
                </a:endParaRPr>
              </a:p>
            </p:txBody>
          </p:sp>
          <p:sp>
            <p:nvSpPr>
              <p:cNvPr id="26" name="文本框 25">
                <a:extLst>
                  <a:ext uri="{FF2B5EF4-FFF2-40B4-BE49-F238E27FC236}">
                    <a16:creationId xmlns:a16="http://schemas.microsoft.com/office/drawing/2014/main" id="{5E1E3A5C-AA3A-4D30-9E68-1F3F732D7FEB}"/>
                  </a:ext>
                </a:extLst>
              </p:cNvPr>
              <p:cNvSpPr txBox="1"/>
              <p:nvPr/>
            </p:nvSpPr>
            <p:spPr>
              <a:xfrm>
                <a:off x="382279" y="2840633"/>
                <a:ext cx="877163"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C00000"/>
                    </a:solidFill>
                    <a:effectLst/>
                    <a:uLnTx/>
                    <a:uFillTx/>
                    <a:latin typeface="等线" panose="020F0502020204030204"/>
                    <a:ea typeface="等线" panose="02010600030101010101" pitchFamily="2" charset="-122"/>
                    <a:cs typeface="+mn-cs"/>
                  </a:rPr>
                  <a:t>函数</a:t>
                </a:r>
                <a:endParaRPr kumimoji="0" lang="en-US" altLang="zh-CN" sz="1800" b="1" i="0" u="none" strike="noStrike" kern="1200" cap="none" spc="0" normalizeH="0" baseline="0" noProof="0" dirty="0">
                  <a:ln>
                    <a:noFill/>
                  </a:ln>
                  <a:solidFill>
                    <a:srgbClr val="C00000"/>
                  </a:solidFill>
                  <a:effectLst/>
                  <a:uLnTx/>
                  <a:uFillTx/>
                  <a:latin typeface="等线" panose="020F0502020204030204"/>
                  <a:ea typeface="等线"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C00000"/>
                    </a:solidFill>
                    <a:effectLst/>
                    <a:uLnTx/>
                    <a:uFillTx/>
                    <a:latin typeface="等线" panose="020F0502020204030204"/>
                    <a:ea typeface="等线" panose="02010600030101010101" pitchFamily="2" charset="-122"/>
                    <a:cs typeface="+mn-cs"/>
                  </a:rPr>
                  <a:t>内存块</a:t>
                </a:r>
              </a:p>
            </p:txBody>
          </p:sp>
          <p:cxnSp>
            <p:nvCxnSpPr>
              <p:cNvPr id="28" name="直接连接符 27">
                <a:extLst>
                  <a:ext uri="{FF2B5EF4-FFF2-40B4-BE49-F238E27FC236}">
                    <a16:creationId xmlns:a16="http://schemas.microsoft.com/office/drawing/2014/main" id="{61BD5AE1-742D-48CB-9A4A-158B6C367ED2}"/>
                  </a:ext>
                </a:extLst>
              </p:cNvPr>
              <p:cNvCxnSpPr/>
              <p:nvPr/>
            </p:nvCxnSpPr>
            <p:spPr>
              <a:xfrm>
                <a:off x="1080664" y="3124604"/>
                <a:ext cx="426130" cy="5601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32" name="矩形 31">
                <a:extLst>
                  <a:ext uri="{FF2B5EF4-FFF2-40B4-BE49-F238E27FC236}">
                    <a16:creationId xmlns:a16="http://schemas.microsoft.com/office/drawing/2014/main" id="{B4413343-94EF-4B70-9859-AFF822B7F4EF}"/>
                  </a:ext>
                </a:extLst>
              </p:cNvPr>
              <p:cNvSpPr/>
              <p:nvPr/>
            </p:nvSpPr>
            <p:spPr>
              <a:xfrm>
                <a:off x="1850692" y="5447644"/>
                <a:ext cx="711517" cy="234520"/>
              </a:xfrm>
              <a:prstGeom prst="rect">
                <a:avLst/>
              </a:prstGeom>
              <a:solidFill>
                <a:schemeClr val="accent5">
                  <a:lumMod val="60000"/>
                  <a:lumOff val="4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C00000"/>
                    </a:solidFill>
                    <a:effectLst/>
                    <a:uLnTx/>
                    <a:uFillTx/>
                    <a:latin typeface="等线" panose="020F0502020204030204"/>
                    <a:ea typeface="等线" panose="02010600030101010101" pitchFamily="2" charset="-122"/>
                    <a:cs typeface="+mn-cs"/>
                  </a:rPr>
                  <a:t>8</a:t>
                </a:r>
                <a:endParaRPr kumimoji="0" lang="zh-CN" altLang="en-US" sz="1800" b="1" i="0" u="none" strike="noStrike" kern="1200" cap="none" spc="0" normalizeH="0" baseline="0" noProof="0" dirty="0">
                  <a:ln>
                    <a:noFill/>
                  </a:ln>
                  <a:solidFill>
                    <a:srgbClr val="C00000"/>
                  </a:solidFill>
                  <a:effectLst/>
                  <a:uLnTx/>
                  <a:uFillTx/>
                  <a:latin typeface="等线" panose="020F0502020204030204"/>
                  <a:ea typeface="等线" panose="02010600030101010101" pitchFamily="2" charset="-122"/>
                  <a:cs typeface="+mn-cs"/>
                </a:endParaRPr>
              </a:p>
            </p:txBody>
          </p:sp>
          <p:sp>
            <p:nvSpPr>
              <p:cNvPr id="33" name="文本框 32">
                <a:extLst>
                  <a:ext uri="{FF2B5EF4-FFF2-40B4-BE49-F238E27FC236}">
                    <a16:creationId xmlns:a16="http://schemas.microsoft.com/office/drawing/2014/main" id="{F6032871-5854-4CBF-B9B7-7CC4B73C8ECC}"/>
                  </a:ext>
                </a:extLst>
              </p:cNvPr>
              <p:cNvSpPr txBox="1"/>
              <p:nvPr/>
            </p:nvSpPr>
            <p:spPr>
              <a:xfrm>
                <a:off x="1528512" y="5330800"/>
                <a:ext cx="32252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pitchFamily="2" charset="-122"/>
                    <a:cs typeface="Courier New" panose="02070309020205020404" pitchFamily="49" charset="0"/>
                  </a:rPr>
                  <a:t>e</a:t>
                </a:r>
                <a:endPar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等线" panose="02010600030101010101" pitchFamily="2" charset="-122"/>
                  <a:cs typeface="Courier New" panose="02070309020205020404" pitchFamily="49" charset="0"/>
                </a:endParaRPr>
              </a:p>
            </p:txBody>
          </p:sp>
        </p:grpSp>
      </p:grpSp>
      <p:cxnSp>
        <p:nvCxnSpPr>
          <p:cNvPr id="15" name="直接箭头连接符 14">
            <a:extLst>
              <a:ext uri="{FF2B5EF4-FFF2-40B4-BE49-F238E27FC236}">
                <a16:creationId xmlns:a16="http://schemas.microsoft.com/office/drawing/2014/main" id="{DDF39E12-0C96-4667-9B05-836B97B8ACF6}"/>
              </a:ext>
            </a:extLst>
          </p:cNvPr>
          <p:cNvCxnSpPr>
            <a:cxnSpLocks/>
          </p:cNvCxnSpPr>
          <p:nvPr/>
        </p:nvCxnSpPr>
        <p:spPr>
          <a:xfrm flipV="1">
            <a:off x="2196616" y="5531017"/>
            <a:ext cx="1661965" cy="565529"/>
          </a:xfrm>
          <a:prstGeom prst="straightConnector1">
            <a:avLst/>
          </a:prstGeom>
          <a:ln w="19050">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6FA851EB-9FF2-44EF-85F6-074BD8E806D9}"/>
              </a:ext>
            </a:extLst>
          </p:cNvPr>
          <p:cNvCxnSpPr>
            <a:cxnSpLocks/>
          </p:cNvCxnSpPr>
          <p:nvPr/>
        </p:nvCxnSpPr>
        <p:spPr>
          <a:xfrm>
            <a:off x="2185570" y="6110719"/>
            <a:ext cx="1673011" cy="57811"/>
          </a:xfrm>
          <a:prstGeom prst="straightConnector1">
            <a:avLst/>
          </a:prstGeom>
          <a:ln w="19050">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43" name="矩形 42">
            <a:extLst>
              <a:ext uri="{FF2B5EF4-FFF2-40B4-BE49-F238E27FC236}">
                <a16:creationId xmlns:a16="http://schemas.microsoft.com/office/drawing/2014/main" id="{6C7B47E3-1A06-4A4E-B35B-BA0D307AD8B0}"/>
              </a:ext>
            </a:extLst>
          </p:cNvPr>
          <p:cNvSpPr/>
          <p:nvPr/>
        </p:nvSpPr>
        <p:spPr>
          <a:xfrm>
            <a:off x="6292848" y="5403510"/>
            <a:ext cx="574612" cy="278654"/>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44" name="箭头: 下 43">
            <a:extLst>
              <a:ext uri="{FF2B5EF4-FFF2-40B4-BE49-F238E27FC236}">
                <a16:creationId xmlns:a16="http://schemas.microsoft.com/office/drawing/2014/main" id="{2DE5E835-C382-4F6A-A26D-F5174450C16F}"/>
              </a:ext>
            </a:extLst>
          </p:cNvPr>
          <p:cNvSpPr/>
          <p:nvPr/>
        </p:nvSpPr>
        <p:spPr>
          <a:xfrm>
            <a:off x="4874698" y="5700132"/>
            <a:ext cx="271167" cy="316696"/>
          </a:xfrm>
          <a:prstGeom prst="down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 name="文本框 1">
            <a:extLst>
              <a:ext uri="{FF2B5EF4-FFF2-40B4-BE49-F238E27FC236}">
                <a16:creationId xmlns:a16="http://schemas.microsoft.com/office/drawing/2014/main" id="{51C7B0E4-0D4D-B71F-D1F0-3407829E3424}"/>
              </a:ext>
            </a:extLst>
          </p:cNvPr>
          <p:cNvSpPr txBox="1"/>
          <p:nvPr/>
        </p:nvSpPr>
        <p:spPr>
          <a:xfrm>
            <a:off x="8306373" y="5380238"/>
            <a:ext cx="3438762" cy="369332"/>
          </a:xfrm>
          <a:prstGeom prst="rect">
            <a:avLst/>
          </a:prstGeom>
          <a:noFill/>
        </p:spPr>
        <p:txBody>
          <a:bodyPr wrap="none" rtlCol="0">
            <a:spAutoFit/>
          </a:bodyPr>
          <a:lstStyle/>
          <a:p>
            <a:r>
              <a:rPr lang="zh-CN" altLang="en-US" b="1" dirty="0"/>
              <a:t>若后有足够的空闲空间，则延长</a:t>
            </a:r>
          </a:p>
        </p:txBody>
      </p:sp>
      <p:sp>
        <p:nvSpPr>
          <p:cNvPr id="3" name="文本框 2">
            <a:extLst>
              <a:ext uri="{FF2B5EF4-FFF2-40B4-BE49-F238E27FC236}">
                <a16:creationId xmlns:a16="http://schemas.microsoft.com/office/drawing/2014/main" id="{607B5623-65BB-308A-DD93-FAE6F46AB7E6}"/>
              </a:ext>
            </a:extLst>
          </p:cNvPr>
          <p:cNvSpPr txBox="1"/>
          <p:nvPr/>
        </p:nvSpPr>
        <p:spPr>
          <a:xfrm>
            <a:off x="8279248" y="5879516"/>
            <a:ext cx="3416320" cy="646331"/>
          </a:xfrm>
          <a:prstGeom prst="rect">
            <a:avLst/>
          </a:prstGeom>
          <a:noFill/>
        </p:spPr>
        <p:txBody>
          <a:bodyPr wrap="none" rtlCol="0">
            <a:spAutoFit/>
          </a:bodyPr>
          <a:lstStyle/>
          <a:p>
            <a:r>
              <a:rPr lang="zh-CN" altLang="en-US" b="1" dirty="0"/>
              <a:t>否则，分配并将内容转至新空间</a:t>
            </a:r>
            <a:endParaRPr lang="en-US" altLang="zh-CN" b="1" dirty="0"/>
          </a:p>
          <a:p>
            <a:r>
              <a:rPr lang="zh-CN" altLang="en-US" b="1" dirty="0"/>
              <a:t>回收原有空间</a:t>
            </a:r>
          </a:p>
        </p:txBody>
      </p:sp>
      <p:sp>
        <p:nvSpPr>
          <p:cNvPr id="16" name="灯片编号占位符 15">
            <a:extLst>
              <a:ext uri="{FF2B5EF4-FFF2-40B4-BE49-F238E27FC236}">
                <a16:creationId xmlns:a16="http://schemas.microsoft.com/office/drawing/2014/main" id="{9879B054-B9C3-82B8-83D6-EBCB4F5D2B29}"/>
              </a:ext>
            </a:extLst>
          </p:cNvPr>
          <p:cNvSpPr>
            <a:spLocks noGrp="1"/>
          </p:cNvSpPr>
          <p:nvPr>
            <p:ph type="sldNum" sz="quarter" idx="12"/>
          </p:nvPr>
        </p:nvSpPr>
        <p:spPr/>
        <p:txBody>
          <a:bodyPr/>
          <a:lstStyle/>
          <a:p>
            <a:fld id="{6ED30D9F-295F-448B-9A50-0786B99C76AC}" type="slidenum">
              <a:rPr lang="zh-CN" altLang="en-US" smtClean="0"/>
              <a:t>47</a:t>
            </a:fld>
            <a:endParaRPr lang="zh-CN" altLang="en-US"/>
          </a:p>
        </p:txBody>
      </p:sp>
    </p:spTree>
    <p:extLst>
      <p:ext uri="{BB962C8B-B14F-4D97-AF65-F5344CB8AC3E}">
        <p14:creationId xmlns:p14="http://schemas.microsoft.com/office/powerpoint/2010/main" val="4284971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strips(downRigh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strips(downRight)">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strips(downRight)">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6">
                                            <p:txEl>
                                              <p:pRg st="0" end="0"/>
                                            </p:txEl>
                                          </p:spTgt>
                                        </p:tgtEl>
                                        <p:attrNameLst>
                                          <p:attrName>style.visibility</p:attrName>
                                        </p:attrNameLst>
                                      </p:cBhvr>
                                      <p:to>
                                        <p:strVal val="visible"/>
                                      </p:to>
                                    </p:set>
                                    <p:animEffect transition="in" filter="strips(downRight)">
                                      <p:cBhvr>
                                        <p:cTn id="22" dur="500"/>
                                        <p:tgtEl>
                                          <p:spTgt spid="6">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6">
                                            <p:txEl>
                                              <p:pRg st="1" end="1"/>
                                            </p:txEl>
                                          </p:spTgt>
                                        </p:tgtEl>
                                        <p:attrNameLst>
                                          <p:attrName>style.visibility</p:attrName>
                                        </p:attrNameLst>
                                      </p:cBhvr>
                                      <p:to>
                                        <p:strVal val="visible"/>
                                      </p:to>
                                    </p:set>
                                    <p:animEffect transition="in" filter="strips(downRight)">
                                      <p:cBhvr>
                                        <p:cTn id="27" dur="500"/>
                                        <p:tgtEl>
                                          <p:spTgt spid="6">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grpId="0" nodeType="clickEffect">
                                  <p:stCondLst>
                                    <p:cond delay="0"/>
                                  </p:stCondLst>
                                  <p:childTnLst>
                                    <p:set>
                                      <p:cBhvr>
                                        <p:cTn id="31" dur="1" fill="hold">
                                          <p:stCondLst>
                                            <p:cond delay="0"/>
                                          </p:stCondLst>
                                        </p:cTn>
                                        <p:tgtEl>
                                          <p:spTgt spid="6">
                                            <p:txEl>
                                              <p:pRg st="2" end="2"/>
                                            </p:txEl>
                                          </p:spTgt>
                                        </p:tgtEl>
                                        <p:attrNameLst>
                                          <p:attrName>style.visibility</p:attrName>
                                        </p:attrNameLst>
                                      </p:cBhvr>
                                      <p:to>
                                        <p:strVal val="visible"/>
                                      </p:to>
                                    </p:set>
                                    <p:animEffect transition="in" filter="strips(downRight)">
                                      <p:cBhvr>
                                        <p:cTn id="32" dur="500"/>
                                        <p:tgtEl>
                                          <p:spTgt spid="6">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6" fill="hold" grpId="0" nodeType="clickEffect">
                                  <p:stCondLst>
                                    <p:cond delay="0"/>
                                  </p:stCondLst>
                                  <p:childTnLst>
                                    <p:set>
                                      <p:cBhvr>
                                        <p:cTn id="36" dur="1" fill="hold">
                                          <p:stCondLst>
                                            <p:cond delay="0"/>
                                          </p:stCondLst>
                                        </p:cTn>
                                        <p:tgtEl>
                                          <p:spTgt spid="6">
                                            <p:txEl>
                                              <p:pRg st="3" end="3"/>
                                            </p:txEl>
                                          </p:spTgt>
                                        </p:tgtEl>
                                        <p:attrNameLst>
                                          <p:attrName>style.visibility</p:attrName>
                                        </p:attrNameLst>
                                      </p:cBhvr>
                                      <p:to>
                                        <p:strVal val="visible"/>
                                      </p:to>
                                    </p:set>
                                    <p:animEffect transition="in" filter="strips(downRight)">
                                      <p:cBhvr>
                                        <p:cTn id="37" dur="500"/>
                                        <p:tgtEl>
                                          <p:spTgt spid="6">
                                            <p:txEl>
                                              <p:pRg st="3" end="3"/>
                                            </p:txEl>
                                          </p:spTgt>
                                        </p:tgtEl>
                                      </p:cBhvr>
                                    </p:animEffect>
                                  </p:childTnLst>
                                </p:cTn>
                              </p:par>
                              <p:par>
                                <p:cTn id="38" presetID="18" presetClass="entr" presetSubtype="6" fill="hold" grpId="0" nodeType="withEffect">
                                  <p:stCondLst>
                                    <p:cond delay="0"/>
                                  </p:stCondLst>
                                  <p:childTnLst>
                                    <p:set>
                                      <p:cBhvr>
                                        <p:cTn id="39" dur="1" fill="hold">
                                          <p:stCondLst>
                                            <p:cond delay="0"/>
                                          </p:stCondLst>
                                        </p:cTn>
                                        <p:tgtEl>
                                          <p:spTgt spid="6">
                                            <p:txEl>
                                              <p:pRg st="4" end="4"/>
                                            </p:txEl>
                                          </p:spTgt>
                                        </p:tgtEl>
                                        <p:attrNameLst>
                                          <p:attrName>style.visibility</p:attrName>
                                        </p:attrNameLst>
                                      </p:cBhvr>
                                      <p:to>
                                        <p:strVal val="visible"/>
                                      </p:to>
                                    </p:set>
                                    <p:animEffect transition="in" filter="strips(downRight)">
                                      <p:cBhvr>
                                        <p:cTn id="40" dur="500"/>
                                        <p:tgtEl>
                                          <p:spTgt spid="6">
                                            <p:txEl>
                                              <p:pRg st="4" end="4"/>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nodeType="click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fade">
                                      <p:cBhvr>
                                        <p:cTn id="45" dur="1000"/>
                                        <p:tgtEl>
                                          <p:spTgt spid="7"/>
                                        </p:tgtEl>
                                      </p:cBhvr>
                                    </p:animEffect>
                                    <p:anim calcmode="lin" valueType="num">
                                      <p:cBhvr>
                                        <p:cTn id="46" dur="1000" fill="hold"/>
                                        <p:tgtEl>
                                          <p:spTgt spid="7"/>
                                        </p:tgtEl>
                                        <p:attrNameLst>
                                          <p:attrName>ppt_x</p:attrName>
                                        </p:attrNameLst>
                                      </p:cBhvr>
                                      <p:tavLst>
                                        <p:tav tm="0">
                                          <p:val>
                                            <p:strVal val="#ppt_x"/>
                                          </p:val>
                                        </p:tav>
                                        <p:tav tm="100000">
                                          <p:val>
                                            <p:strVal val="#ppt_x"/>
                                          </p:val>
                                        </p:tav>
                                      </p:tavLst>
                                    </p:anim>
                                    <p:anim calcmode="lin" valueType="num">
                                      <p:cBhvr>
                                        <p:cTn id="47" dur="1000" fill="hold"/>
                                        <p:tgtEl>
                                          <p:spTgt spid="7"/>
                                        </p:tgtEl>
                                        <p:attrNameLst>
                                          <p:attrName>ppt_y</p:attrName>
                                        </p:attrNameLst>
                                      </p:cBhvr>
                                      <p:tavLst>
                                        <p:tav tm="0">
                                          <p:val>
                                            <p:strVal val="#ppt_y+.1"/>
                                          </p:val>
                                        </p:tav>
                                        <p:tav tm="100000">
                                          <p:val>
                                            <p:strVal val="#ppt_y"/>
                                          </p:val>
                                        </p:tav>
                                      </p:tavLst>
                                    </p:anim>
                                  </p:childTnLst>
                                </p:cTn>
                              </p:par>
                            </p:childTnLst>
                          </p:cTn>
                        </p:par>
                        <p:par>
                          <p:cTn id="48" fill="hold">
                            <p:stCondLst>
                              <p:cond delay="1000"/>
                            </p:stCondLst>
                            <p:childTnLst>
                              <p:par>
                                <p:cTn id="49" presetID="14" presetClass="entr" presetSubtype="10" fill="hold" nodeType="afterEffect">
                                  <p:stCondLst>
                                    <p:cond delay="0"/>
                                  </p:stCondLst>
                                  <p:childTnLst>
                                    <p:set>
                                      <p:cBhvr>
                                        <p:cTn id="50" dur="1" fill="hold">
                                          <p:stCondLst>
                                            <p:cond delay="0"/>
                                          </p:stCondLst>
                                        </p:cTn>
                                        <p:tgtEl>
                                          <p:spTgt spid="45"/>
                                        </p:tgtEl>
                                        <p:attrNameLst>
                                          <p:attrName>style.visibility</p:attrName>
                                        </p:attrNameLst>
                                      </p:cBhvr>
                                      <p:to>
                                        <p:strVal val="visible"/>
                                      </p:to>
                                    </p:set>
                                    <p:animEffect transition="in" filter="randombar(horizontal)">
                                      <p:cBhvr>
                                        <p:cTn id="51" dur="500"/>
                                        <p:tgtEl>
                                          <p:spTgt spid="45"/>
                                        </p:tgtEl>
                                      </p:cBhvr>
                                    </p:animEffect>
                                  </p:childTnLst>
                                </p:cTn>
                              </p:par>
                            </p:childTnLst>
                          </p:cTn>
                        </p:par>
                        <p:par>
                          <p:cTn id="52" fill="hold">
                            <p:stCondLst>
                              <p:cond delay="1500"/>
                            </p:stCondLst>
                            <p:childTnLst>
                              <p:par>
                                <p:cTn id="53" presetID="42" presetClass="entr" presetSubtype="0" fill="hold" nodeType="afterEffect">
                                  <p:stCondLst>
                                    <p:cond delay="0"/>
                                  </p:stCondLst>
                                  <p:childTnLst>
                                    <p:set>
                                      <p:cBhvr>
                                        <p:cTn id="54" dur="1" fill="hold">
                                          <p:stCondLst>
                                            <p:cond delay="0"/>
                                          </p:stCondLst>
                                        </p:cTn>
                                        <p:tgtEl>
                                          <p:spTgt spid="10"/>
                                        </p:tgtEl>
                                        <p:attrNameLst>
                                          <p:attrName>style.visibility</p:attrName>
                                        </p:attrNameLst>
                                      </p:cBhvr>
                                      <p:to>
                                        <p:strVal val="visible"/>
                                      </p:to>
                                    </p:set>
                                    <p:animEffect transition="in" filter="fade">
                                      <p:cBhvr>
                                        <p:cTn id="55" dur="1000"/>
                                        <p:tgtEl>
                                          <p:spTgt spid="10"/>
                                        </p:tgtEl>
                                      </p:cBhvr>
                                    </p:animEffect>
                                    <p:anim calcmode="lin" valueType="num">
                                      <p:cBhvr>
                                        <p:cTn id="56" dur="1000" fill="hold"/>
                                        <p:tgtEl>
                                          <p:spTgt spid="10"/>
                                        </p:tgtEl>
                                        <p:attrNameLst>
                                          <p:attrName>ppt_x</p:attrName>
                                        </p:attrNameLst>
                                      </p:cBhvr>
                                      <p:tavLst>
                                        <p:tav tm="0">
                                          <p:val>
                                            <p:strVal val="#ppt_x"/>
                                          </p:val>
                                        </p:tav>
                                        <p:tav tm="100000">
                                          <p:val>
                                            <p:strVal val="#ppt_x"/>
                                          </p:val>
                                        </p:tav>
                                      </p:tavLst>
                                    </p:anim>
                                    <p:anim calcmode="lin" valueType="num">
                                      <p:cBhvr>
                                        <p:cTn id="5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18" presetClass="entr" presetSubtype="6" fill="hold" grpId="0" nodeType="clickEffect">
                                  <p:stCondLst>
                                    <p:cond delay="0"/>
                                  </p:stCondLst>
                                  <p:childTnLst>
                                    <p:set>
                                      <p:cBhvr>
                                        <p:cTn id="61" dur="1" fill="hold">
                                          <p:stCondLst>
                                            <p:cond delay="0"/>
                                          </p:stCondLst>
                                        </p:cTn>
                                        <p:tgtEl>
                                          <p:spTgt spid="6">
                                            <p:txEl>
                                              <p:pRg st="5" end="5"/>
                                            </p:txEl>
                                          </p:spTgt>
                                        </p:tgtEl>
                                        <p:attrNameLst>
                                          <p:attrName>style.visibility</p:attrName>
                                        </p:attrNameLst>
                                      </p:cBhvr>
                                      <p:to>
                                        <p:strVal val="visible"/>
                                      </p:to>
                                    </p:set>
                                    <p:animEffect transition="in" filter="strips(downRight)">
                                      <p:cBhvr>
                                        <p:cTn id="62" dur="500"/>
                                        <p:tgtEl>
                                          <p:spTgt spid="6">
                                            <p:txEl>
                                              <p:pRg st="5" end="5"/>
                                            </p:txEl>
                                          </p:spTgt>
                                        </p:tgtEl>
                                      </p:cBhvr>
                                    </p:animEffect>
                                  </p:childTnLst>
                                </p:cTn>
                              </p:par>
                            </p:childTnLst>
                          </p:cTn>
                        </p:par>
                        <p:par>
                          <p:cTn id="63" fill="hold">
                            <p:stCondLst>
                              <p:cond delay="500"/>
                            </p:stCondLst>
                            <p:childTnLst>
                              <p:par>
                                <p:cTn id="64" presetID="18" presetClass="entr" presetSubtype="6" fill="hold" grpId="0" nodeType="afterEffect">
                                  <p:stCondLst>
                                    <p:cond delay="0"/>
                                  </p:stCondLst>
                                  <p:childTnLst>
                                    <p:set>
                                      <p:cBhvr>
                                        <p:cTn id="65" dur="1" fill="hold">
                                          <p:stCondLst>
                                            <p:cond delay="0"/>
                                          </p:stCondLst>
                                        </p:cTn>
                                        <p:tgtEl>
                                          <p:spTgt spid="6">
                                            <p:txEl>
                                              <p:pRg st="6" end="6"/>
                                            </p:txEl>
                                          </p:spTgt>
                                        </p:tgtEl>
                                        <p:attrNameLst>
                                          <p:attrName>style.visibility</p:attrName>
                                        </p:attrNameLst>
                                      </p:cBhvr>
                                      <p:to>
                                        <p:strVal val="visible"/>
                                      </p:to>
                                    </p:set>
                                    <p:animEffect transition="in" filter="strips(downRight)">
                                      <p:cBhvr>
                                        <p:cTn id="66" dur="500"/>
                                        <p:tgtEl>
                                          <p:spTgt spid="6">
                                            <p:txEl>
                                              <p:pRg st="6" end="6"/>
                                            </p:txEl>
                                          </p:spTgt>
                                        </p:tgtEl>
                                      </p:cBhvr>
                                    </p:animEffect>
                                  </p:childTnLst>
                                </p:cTn>
                              </p:par>
                            </p:childTnLst>
                          </p:cTn>
                        </p:par>
                        <p:par>
                          <p:cTn id="67" fill="hold">
                            <p:stCondLst>
                              <p:cond delay="1000"/>
                            </p:stCondLst>
                            <p:childTnLst>
                              <p:par>
                                <p:cTn id="68" presetID="22" presetClass="entr" presetSubtype="8" fill="hold" nodeType="afterEffect">
                                  <p:stCondLst>
                                    <p:cond delay="0"/>
                                  </p:stCondLst>
                                  <p:childTnLst>
                                    <p:set>
                                      <p:cBhvr>
                                        <p:cTn id="69" dur="1" fill="hold">
                                          <p:stCondLst>
                                            <p:cond delay="0"/>
                                          </p:stCondLst>
                                        </p:cTn>
                                        <p:tgtEl>
                                          <p:spTgt spid="15"/>
                                        </p:tgtEl>
                                        <p:attrNameLst>
                                          <p:attrName>style.visibility</p:attrName>
                                        </p:attrNameLst>
                                      </p:cBhvr>
                                      <p:to>
                                        <p:strVal val="visible"/>
                                      </p:to>
                                    </p:set>
                                    <p:animEffect transition="in" filter="wipe(left)">
                                      <p:cBhvr>
                                        <p:cTn id="70" dur="500"/>
                                        <p:tgtEl>
                                          <p:spTgt spid="15"/>
                                        </p:tgtEl>
                                      </p:cBhvr>
                                    </p:animEffect>
                                  </p:childTnLst>
                                </p:cTn>
                              </p:par>
                            </p:childTnLst>
                          </p:cTn>
                        </p:par>
                        <p:par>
                          <p:cTn id="71" fill="hold">
                            <p:stCondLst>
                              <p:cond delay="1500"/>
                            </p:stCondLst>
                            <p:childTnLst>
                              <p:par>
                                <p:cTn id="72" presetID="16" presetClass="entr" presetSubtype="21" fill="hold" grpId="0" nodeType="afterEffect">
                                  <p:stCondLst>
                                    <p:cond delay="0"/>
                                  </p:stCondLst>
                                  <p:childTnLst>
                                    <p:set>
                                      <p:cBhvr>
                                        <p:cTn id="73" dur="1" fill="hold">
                                          <p:stCondLst>
                                            <p:cond delay="0"/>
                                          </p:stCondLst>
                                        </p:cTn>
                                        <p:tgtEl>
                                          <p:spTgt spid="13"/>
                                        </p:tgtEl>
                                        <p:attrNameLst>
                                          <p:attrName>style.visibility</p:attrName>
                                        </p:attrNameLst>
                                      </p:cBhvr>
                                      <p:to>
                                        <p:strVal val="visible"/>
                                      </p:to>
                                    </p:set>
                                    <p:animEffect transition="in" filter="barn(inVertical)">
                                      <p:cBhvr>
                                        <p:cTn id="74" dur="500"/>
                                        <p:tgtEl>
                                          <p:spTgt spid="13"/>
                                        </p:tgtEl>
                                      </p:cBhvr>
                                    </p:animEffect>
                                  </p:childTnLst>
                                </p:cTn>
                              </p:par>
                            </p:childTnLst>
                          </p:cTn>
                        </p:par>
                      </p:childTnLst>
                    </p:cTn>
                  </p:par>
                  <p:par>
                    <p:cTn id="75" fill="hold">
                      <p:stCondLst>
                        <p:cond delay="indefinite"/>
                      </p:stCondLst>
                      <p:childTnLst>
                        <p:par>
                          <p:cTn id="76" fill="hold">
                            <p:stCondLst>
                              <p:cond delay="0"/>
                            </p:stCondLst>
                            <p:childTnLst>
                              <p:par>
                                <p:cTn id="77" presetID="18" presetClass="entr" presetSubtype="6" fill="hold" grpId="0" nodeType="clickEffect">
                                  <p:stCondLst>
                                    <p:cond delay="0"/>
                                  </p:stCondLst>
                                  <p:childTnLst>
                                    <p:set>
                                      <p:cBhvr>
                                        <p:cTn id="78" dur="1" fill="hold">
                                          <p:stCondLst>
                                            <p:cond delay="0"/>
                                          </p:stCondLst>
                                        </p:cTn>
                                        <p:tgtEl>
                                          <p:spTgt spid="6">
                                            <p:txEl>
                                              <p:pRg st="7" end="7"/>
                                            </p:txEl>
                                          </p:spTgt>
                                        </p:tgtEl>
                                        <p:attrNameLst>
                                          <p:attrName>style.visibility</p:attrName>
                                        </p:attrNameLst>
                                      </p:cBhvr>
                                      <p:to>
                                        <p:strVal val="visible"/>
                                      </p:to>
                                    </p:set>
                                    <p:animEffect transition="in" filter="strips(downRight)">
                                      <p:cBhvr>
                                        <p:cTn id="79" dur="500"/>
                                        <p:tgtEl>
                                          <p:spTgt spid="6">
                                            <p:txEl>
                                              <p:pRg st="7" end="7"/>
                                            </p:txEl>
                                          </p:spTgt>
                                        </p:tgtEl>
                                      </p:cBhvr>
                                    </p:animEffect>
                                  </p:childTnLst>
                                </p:cTn>
                              </p:par>
                            </p:childTnLst>
                          </p:cTn>
                        </p:par>
                        <p:par>
                          <p:cTn id="80" fill="hold">
                            <p:stCondLst>
                              <p:cond delay="500"/>
                            </p:stCondLst>
                            <p:childTnLst>
                              <p:par>
                                <p:cTn id="81" presetID="18" presetClass="entr" presetSubtype="6" fill="hold" grpId="0" nodeType="afterEffect">
                                  <p:stCondLst>
                                    <p:cond delay="0"/>
                                  </p:stCondLst>
                                  <p:childTnLst>
                                    <p:set>
                                      <p:cBhvr>
                                        <p:cTn id="82" dur="1" fill="hold">
                                          <p:stCondLst>
                                            <p:cond delay="0"/>
                                          </p:stCondLst>
                                        </p:cTn>
                                        <p:tgtEl>
                                          <p:spTgt spid="6">
                                            <p:txEl>
                                              <p:pRg st="8" end="8"/>
                                            </p:txEl>
                                          </p:spTgt>
                                        </p:tgtEl>
                                        <p:attrNameLst>
                                          <p:attrName>style.visibility</p:attrName>
                                        </p:attrNameLst>
                                      </p:cBhvr>
                                      <p:to>
                                        <p:strVal val="visible"/>
                                      </p:to>
                                    </p:set>
                                    <p:animEffect transition="in" filter="strips(downRight)">
                                      <p:cBhvr>
                                        <p:cTn id="83" dur="500"/>
                                        <p:tgtEl>
                                          <p:spTgt spid="6">
                                            <p:txEl>
                                              <p:pRg st="8" end="8"/>
                                            </p:txEl>
                                          </p:spTgt>
                                        </p:tgtEl>
                                      </p:cBhvr>
                                    </p:animEffect>
                                  </p:childTnLst>
                                </p:cTn>
                              </p:par>
                            </p:childTnLst>
                          </p:cTn>
                        </p:par>
                        <p:par>
                          <p:cTn id="84" fill="hold">
                            <p:stCondLst>
                              <p:cond delay="1000"/>
                            </p:stCondLst>
                            <p:childTnLst>
                              <p:par>
                                <p:cTn id="85" presetID="16" presetClass="entr" presetSubtype="21" fill="hold" grpId="0" nodeType="afterEffect">
                                  <p:stCondLst>
                                    <p:cond delay="0"/>
                                  </p:stCondLst>
                                  <p:childTnLst>
                                    <p:set>
                                      <p:cBhvr>
                                        <p:cTn id="86" dur="1" fill="hold">
                                          <p:stCondLst>
                                            <p:cond delay="0"/>
                                          </p:stCondLst>
                                        </p:cTn>
                                        <p:tgtEl>
                                          <p:spTgt spid="14"/>
                                        </p:tgtEl>
                                        <p:attrNameLst>
                                          <p:attrName>style.visibility</p:attrName>
                                        </p:attrNameLst>
                                      </p:cBhvr>
                                      <p:to>
                                        <p:strVal val="visible"/>
                                      </p:to>
                                    </p:set>
                                    <p:animEffect transition="in" filter="barn(inVertical)">
                                      <p:cBhvr>
                                        <p:cTn id="87" dur="500"/>
                                        <p:tgtEl>
                                          <p:spTgt spid="14"/>
                                        </p:tgtEl>
                                      </p:cBhvr>
                                    </p:animEffect>
                                  </p:childTnLst>
                                </p:cTn>
                              </p:par>
                            </p:childTnLst>
                          </p:cTn>
                        </p:par>
                        <p:par>
                          <p:cTn id="88" fill="hold">
                            <p:stCondLst>
                              <p:cond delay="1500"/>
                            </p:stCondLst>
                            <p:childTnLst>
                              <p:par>
                                <p:cTn id="89" presetID="22" presetClass="entr" presetSubtype="4" fill="hold" grpId="0" nodeType="afterEffect">
                                  <p:stCondLst>
                                    <p:cond delay="0"/>
                                  </p:stCondLst>
                                  <p:childTnLst>
                                    <p:set>
                                      <p:cBhvr>
                                        <p:cTn id="90" dur="1" fill="hold">
                                          <p:stCondLst>
                                            <p:cond delay="0"/>
                                          </p:stCondLst>
                                        </p:cTn>
                                        <p:tgtEl>
                                          <p:spTgt spid="2"/>
                                        </p:tgtEl>
                                        <p:attrNameLst>
                                          <p:attrName>style.visibility</p:attrName>
                                        </p:attrNameLst>
                                      </p:cBhvr>
                                      <p:to>
                                        <p:strVal val="visible"/>
                                      </p:to>
                                    </p:set>
                                    <p:animEffect transition="in" filter="wipe(down)">
                                      <p:cBhvr>
                                        <p:cTn id="91" dur="500"/>
                                        <p:tgtEl>
                                          <p:spTgt spid="2"/>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xit" presetSubtype="2" fill="hold" grpId="1" nodeType="clickEffect">
                                  <p:stCondLst>
                                    <p:cond delay="0"/>
                                  </p:stCondLst>
                                  <p:childTnLst>
                                    <p:animEffect transition="out" filter="wipe(right)">
                                      <p:cBhvr>
                                        <p:cTn id="95" dur="500"/>
                                        <p:tgtEl>
                                          <p:spTgt spid="14"/>
                                        </p:tgtEl>
                                      </p:cBhvr>
                                    </p:animEffect>
                                    <p:set>
                                      <p:cBhvr>
                                        <p:cTn id="96" dur="1" fill="hold">
                                          <p:stCondLst>
                                            <p:cond delay="499"/>
                                          </p:stCondLst>
                                        </p:cTn>
                                        <p:tgtEl>
                                          <p:spTgt spid="14"/>
                                        </p:tgtEl>
                                        <p:attrNameLst>
                                          <p:attrName>style.visibility</p:attrName>
                                        </p:attrNameLst>
                                      </p:cBhvr>
                                      <p:to>
                                        <p:strVal val="hidden"/>
                                      </p:to>
                                    </p:set>
                                  </p:childTnLst>
                                </p:cTn>
                              </p:par>
                            </p:childTnLst>
                          </p:cTn>
                        </p:par>
                        <p:par>
                          <p:cTn id="97" fill="hold">
                            <p:stCondLst>
                              <p:cond delay="500"/>
                            </p:stCondLst>
                            <p:childTnLst>
                              <p:par>
                                <p:cTn id="98" presetID="16" presetClass="entr" presetSubtype="21" fill="hold" grpId="0" nodeType="afterEffect">
                                  <p:stCondLst>
                                    <p:cond delay="0"/>
                                  </p:stCondLst>
                                  <p:childTnLst>
                                    <p:set>
                                      <p:cBhvr>
                                        <p:cTn id="99" dur="1" fill="hold">
                                          <p:stCondLst>
                                            <p:cond delay="0"/>
                                          </p:stCondLst>
                                        </p:cTn>
                                        <p:tgtEl>
                                          <p:spTgt spid="43"/>
                                        </p:tgtEl>
                                        <p:attrNameLst>
                                          <p:attrName>style.visibility</p:attrName>
                                        </p:attrNameLst>
                                      </p:cBhvr>
                                      <p:to>
                                        <p:strVal val="visible"/>
                                      </p:to>
                                    </p:set>
                                    <p:animEffect transition="in" filter="barn(inVertical)">
                                      <p:cBhvr>
                                        <p:cTn id="100" dur="500"/>
                                        <p:tgtEl>
                                          <p:spTgt spid="43"/>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1" fill="hold" grpId="0" nodeType="clickEffect">
                                  <p:stCondLst>
                                    <p:cond delay="0"/>
                                  </p:stCondLst>
                                  <p:childTnLst>
                                    <p:set>
                                      <p:cBhvr>
                                        <p:cTn id="104" dur="1" fill="hold">
                                          <p:stCondLst>
                                            <p:cond delay="0"/>
                                          </p:stCondLst>
                                        </p:cTn>
                                        <p:tgtEl>
                                          <p:spTgt spid="3"/>
                                        </p:tgtEl>
                                        <p:attrNameLst>
                                          <p:attrName>style.visibility</p:attrName>
                                        </p:attrNameLst>
                                      </p:cBhvr>
                                      <p:to>
                                        <p:strVal val="visible"/>
                                      </p:to>
                                    </p:set>
                                    <p:animEffect transition="in" filter="wipe(up)">
                                      <p:cBhvr>
                                        <p:cTn id="105" dur="500"/>
                                        <p:tgtEl>
                                          <p:spTgt spid="3"/>
                                        </p:tgtEl>
                                      </p:cBhvr>
                                    </p:animEffect>
                                  </p:childTnLst>
                                </p:cTn>
                              </p:par>
                            </p:childTnLst>
                          </p:cTn>
                        </p:par>
                        <p:par>
                          <p:cTn id="106" fill="hold">
                            <p:stCondLst>
                              <p:cond delay="500"/>
                            </p:stCondLst>
                            <p:childTnLst>
                              <p:par>
                                <p:cTn id="107" presetID="22" presetClass="exit" presetSubtype="2" fill="hold" grpId="1" nodeType="afterEffect">
                                  <p:stCondLst>
                                    <p:cond delay="0"/>
                                  </p:stCondLst>
                                  <p:childTnLst>
                                    <p:animEffect transition="out" filter="wipe(right)">
                                      <p:cBhvr>
                                        <p:cTn id="108" dur="500"/>
                                        <p:tgtEl>
                                          <p:spTgt spid="43"/>
                                        </p:tgtEl>
                                      </p:cBhvr>
                                    </p:animEffect>
                                    <p:set>
                                      <p:cBhvr>
                                        <p:cTn id="109" dur="1" fill="hold">
                                          <p:stCondLst>
                                            <p:cond delay="499"/>
                                          </p:stCondLst>
                                        </p:cTn>
                                        <p:tgtEl>
                                          <p:spTgt spid="43"/>
                                        </p:tgtEl>
                                        <p:attrNameLst>
                                          <p:attrName>style.visibility</p:attrName>
                                        </p:attrNameLst>
                                      </p:cBhvr>
                                      <p:to>
                                        <p:strVal val="hidden"/>
                                      </p:to>
                                    </p:set>
                                  </p:childTnLst>
                                </p:cTn>
                              </p:par>
                            </p:childTnLst>
                          </p:cTn>
                        </p:par>
                        <p:par>
                          <p:cTn id="110" fill="hold">
                            <p:stCondLst>
                              <p:cond delay="1000"/>
                            </p:stCondLst>
                            <p:childTnLst>
                              <p:par>
                                <p:cTn id="111" presetID="16" presetClass="entr" presetSubtype="21" fill="hold" nodeType="afterEffect">
                                  <p:stCondLst>
                                    <p:cond delay="0"/>
                                  </p:stCondLst>
                                  <p:childTnLst>
                                    <p:set>
                                      <p:cBhvr>
                                        <p:cTn id="112" dur="1" fill="hold">
                                          <p:stCondLst>
                                            <p:cond delay="0"/>
                                          </p:stCondLst>
                                        </p:cTn>
                                        <p:tgtEl>
                                          <p:spTgt spid="29"/>
                                        </p:tgtEl>
                                        <p:attrNameLst>
                                          <p:attrName>style.visibility</p:attrName>
                                        </p:attrNameLst>
                                      </p:cBhvr>
                                      <p:to>
                                        <p:strVal val="visible"/>
                                      </p:to>
                                    </p:set>
                                    <p:animEffect transition="in" filter="barn(inVertical)">
                                      <p:cBhvr>
                                        <p:cTn id="113" dur="500"/>
                                        <p:tgtEl>
                                          <p:spTgt spid="29"/>
                                        </p:tgtEl>
                                      </p:cBhvr>
                                    </p:animEffect>
                                  </p:childTnLst>
                                </p:cTn>
                              </p:par>
                            </p:childTnLst>
                          </p:cTn>
                        </p:par>
                        <p:par>
                          <p:cTn id="114" fill="hold">
                            <p:stCondLst>
                              <p:cond delay="1500"/>
                            </p:stCondLst>
                            <p:childTnLst>
                              <p:par>
                                <p:cTn id="115" presetID="22" presetClass="entr" presetSubtype="1" fill="hold" grpId="0" nodeType="afterEffect">
                                  <p:stCondLst>
                                    <p:cond delay="0"/>
                                  </p:stCondLst>
                                  <p:childTnLst>
                                    <p:set>
                                      <p:cBhvr>
                                        <p:cTn id="116" dur="1" fill="hold">
                                          <p:stCondLst>
                                            <p:cond delay="0"/>
                                          </p:stCondLst>
                                        </p:cTn>
                                        <p:tgtEl>
                                          <p:spTgt spid="44"/>
                                        </p:tgtEl>
                                        <p:attrNameLst>
                                          <p:attrName>style.visibility</p:attrName>
                                        </p:attrNameLst>
                                      </p:cBhvr>
                                      <p:to>
                                        <p:strVal val="visible"/>
                                      </p:to>
                                    </p:set>
                                    <p:animEffect transition="in" filter="wipe(up)">
                                      <p:cBhvr>
                                        <p:cTn id="117" dur="500"/>
                                        <p:tgtEl>
                                          <p:spTgt spid="44"/>
                                        </p:tgtEl>
                                      </p:cBhvr>
                                    </p:animEffect>
                                  </p:childTnLst>
                                </p:cTn>
                              </p:par>
                            </p:childTnLst>
                          </p:cTn>
                        </p:par>
                        <p:par>
                          <p:cTn id="118" fill="hold">
                            <p:stCondLst>
                              <p:cond delay="2000"/>
                            </p:stCondLst>
                            <p:childTnLst>
                              <p:par>
                                <p:cTn id="119" presetID="22" presetClass="exit" presetSubtype="2" fill="hold" nodeType="afterEffect">
                                  <p:stCondLst>
                                    <p:cond delay="0"/>
                                  </p:stCondLst>
                                  <p:childTnLst>
                                    <p:animEffect transition="out" filter="wipe(right)">
                                      <p:cBhvr>
                                        <p:cTn id="120" dur="500"/>
                                        <p:tgtEl>
                                          <p:spTgt spid="15"/>
                                        </p:tgtEl>
                                      </p:cBhvr>
                                    </p:animEffect>
                                    <p:set>
                                      <p:cBhvr>
                                        <p:cTn id="121" dur="1" fill="hold">
                                          <p:stCondLst>
                                            <p:cond delay="499"/>
                                          </p:stCondLst>
                                        </p:cTn>
                                        <p:tgtEl>
                                          <p:spTgt spid="15"/>
                                        </p:tgtEl>
                                        <p:attrNameLst>
                                          <p:attrName>style.visibility</p:attrName>
                                        </p:attrNameLst>
                                      </p:cBhvr>
                                      <p:to>
                                        <p:strVal val="hidden"/>
                                      </p:to>
                                    </p:set>
                                  </p:childTnLst>
                                </p:cTn>
                              </p:par>
                            </p:childTnLst>
                          </p:cTn>
                        </p:par>
                        <p:par>
                          <p:cTn id="122" fill="hold">
                            <p:stCondLst>
                              <p:cond delay="2500"/>
                            </p:stCondLst>
                            <p:childTnLst>
                              <p:par>
                                <p:cTn id="123" presetID="22" presetClass="entr" presetSubtype="8" fill="hold" nodeType="afterEffect">
                                  <p:stCondLst>
                                    <p:cond delay="0"/>
                                  </p:stCondLst>
                                  <p:childTnLst>
                                    <p:set>
                                      <p:cBhvr>
                                        <p:cTn id="124" dur="1" fill="hold">
                                          <p:stCondLst>
                                            <p:cond delay="0"/>
                                          </p:stCondLst>
                                        </p:cTn>
                                        <p:tgtEl>
                                          <p:spTgt spid="17"/>
                                        </p:tgtEl>
                                        <p:attrNameLst>
                                          <p:attrName>style.visibility</p:attrName>
                                        </p:attrNameLst>
                                      </p:cBhvr>
                                      <p:to>
                                        <p:strVal val="visible"/>
                                      </p:to>
                                    </p:set>
                                    <p:animEffect transition="in" filter="wipe(left)">
                                      <p:cBhvr>
                                        <p:cTn id="12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6" grpId="0" uiExpand="1" build="p"/>
      <p:bldP spid="13" grpId="0" animBg="1"/>
      <p:bldP spid="14" grpId="0" animBg="1"/>
      <p:bldP spid="14" grpId="1" animBg="1"/>
      <p:bldP spid="43" grpId="0" animBg="1"/>
      <p:bldP spid="43" grpId="1" animBg="1"/>
      <p:bldP spid="44" grpId="0" animBg="1"/>
      <p:bldP spid="2" grpId="0"/>
      <p:bldP spid="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6ADAF61-D957-F4AF-859D-7745DFA7AE07}"/>
              </a:ext>
            </a:extLst>
          </p:cNvPr>
          <p:cNvSpPr txBox="1"/>
          <p:nvPr/>
        </p:nvSpPr>
        <p:spPr>
          <a:xfrm>
            <a:off x="1119603" y="1061261"/>
            <a:ext cx="9714496" cy="4953920"/>
          </a:xfrm>
          <a:prstGeom prst="rect">
            <a:avLst/>
          </a:prstGeom>
          <a:noFill/>
        </p:spPr>
        <p:txBody>
          <a:bodyPr wrap="square">
            <a:spAutoFit/>
          </a:bodyPr>
          <a:lstStyle/>
          <a:p>
            <a:pPr indent="266700">
              <a:lnSpc>
                <a:spcPct val="120000"/>
              </a:lnSpc>
            </a:pPr>
            <a:r>
              <a:rPr lang="en-US" altLang="zh-CN" sz="2400" kern="100"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1.4.1  </a:t>
            </a:r>
            <a:r>
              <a:rPr lang="zh-CN" altLang="zh-CN" sz="2400" kern="100"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算法</a:t>
            </a:r>
          </a:p>
          <a:p>
            <a:pPr indent="266700" algn="just">
              <a:lnSpc>
                <a:spcPct val="120000"/>
              </a:lnSpc>
              <a:buNone/>
            </a:pPr>
            <a:r>
              <a:rPr lang="zh-CN" altLang="zh-CN" sz="2000" kern="100" dirty="0">
                <a:effectLst/>
                <a:latin typeface="Times New Roman" panose="02020603050405020304" pitchFamily="18" charset="0"/>
                <a:ea typeface="黑体" panose="02010609060101010101" pitchFamily="49" charset="-122"/>
                <a:cs typeface="Times New Roman" panose="02020603050405020304" pitchFamily="18" charset="0"/>
              </a:rPr>
              <a:t>算法</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algorithm</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）是对特定问题求解步骤的一种描述，它是指令的有限序列，其中每一条指令表示一个或多个操作；此外，一个算法还具有下列</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5</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个重要特性：</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20000"/>
              </a:lnSpc>
              <a:spcBef>
                <a:spcPts val="600"/>
              </a:spcBef>
              <a:buNone/>
            </a:pP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000" kern="100" dirty="0">
                <a:effectLst/>
                <a:latin typeface="Times New Roman" panose="02020603050405020304" pitchFamily="18" charset="0"/>
                <a:ea typeface="黑体" panose="02010609060101010101" pitchFamily="49" charset="-122"/>
                <a:cs typeface="Times New Roman" panose="02020603050405020304" pitchFamily="18" charset="0"/>
              </a:rPr>
              <a:t>有穷性</a:t>
            </a:r>
            <a:r>
              <a:rPr lang="zh-CN" altLang="zh-CN" sz="2000" kern="100" dirty="0">
                <a:effectLst/>
                <a:latin typeface="等线" panose="02010600030101010101" pitchFamily="2" charset="-122"/>
                <a:ea typeface="Times New Roman" panose="02020603050405020304" pitchFamily="18" charset="0"/>
                <a:cs typeface="Times New Roman" panose="02020603050405020304" pitchFamily="18" charset="0"/>
              </a:rPr>
              <a:t>  </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一个算法必须总是（对任何合法的输入值）在执行有穷步之后结束，且每一步都可在有穷时间</a:t>
            </a:r>
            <a:r>
              <a:rPr lang="zh-CN" altLang="zh-CN" sz="2000" kern="100" baseline="30000" dirty="0">
                <a:effectLst/>
                <a:latin typeface="等线" panose="02010600030101010101" pitchFamily="2" charset="-122"/>
                <a:ea typeface="宋体" panose="02010600030101010101" pitchFamily="2" charset="-122"/>
                <a:cs typeface="宋体" panose="02010600030101010101" pitchFamily="2" charset="-122"/>
              </a:rPr>
              <a:t>①</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内完成。</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20000"/>
              </a:lnSpc>
              <a:spcBef>
                <a:spcPts val="600"/>
              </a:spcBef>
              <a:buNone/>
            </a:pP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2</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000" kern="100" dirty="0">
                <a:effectLst/>
                <a:latin typeface="Times New Roman" panose="02020603050405020304" pitchFamily="18" charset="0"/>
                <a:ea typeface="黑体" panose="02010609060101010101" pitchFamily="49" charset="-122"/>
                <a:cs typeface="Times New Roman" panose="02020603050405020304" pitchFamily="18" charset="0"/>
              </a:rPr>
              <a:t>确定性</a:t>
            </a:r>
            <a:r>
              <a:rPr lang="zh-CN" altLang="zh-CN" sz="2000" kern="100" dirty="0">
                <a:effectLst/>
                <a:latin typeface="等线" panose="02010600030101010101" pitchFamily="2" charset="-122"/>
                <a:ea typeface="Times New Roman" panose="02020603050405020304" pitchFamily="18" charset="0"/>
                <a:cs typeface="Times New Roman" panose="02020603050405020304" pitchFamily="18" charset="0"/>
              </a:rPr>
              <a:t>  </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算法中每一条指令必须有确切的含义，读者理时不会产生二义性。并且，在任何条件下，算法只有唯一的一条执行路径，即对于相同的输入只能得出相同的输出。</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20000"/>
              </a:lnSpc>
              <a:spcBef>
                <a:spcPts val="600"/>
              </a:spcBef>
              <a:buNone/>
            </a:pP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3</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000" kern="100" dirty="0">
                <a:effectLst/>
                <a:latin typeface="Times New Roman" panose="02020603050405020304" pitchFamily="18" charset="0"/>
                <a:ea typeface="黑体" panose="02010609060101010101" pitchFamily="49" charset="-122"/>
                <a:cs typeface="Times New Roman" panose="02020603050405020304" pitchFamily="18" charset="0"/>
              </a:rPr>
              <a:t>可行性</a:t>
            </a:r>
            <a:r>
              <a:rPr lang="zh-CN" altLang="zh-CN" sz="2000" kern="100" dirty="0">
                <a:effectLst/>
                <a:latin typeface="等线" panose="02010600030101010101" pitchFamily="2" charset="-122"/>
                <a:ea typeface="Times New Roman" panose="02020603050405020304" pitchFamily="18" charset="0"/>
                <a:cs typeface="Times New Roman" panose="02020603050405020304" pitchFamily="18" charset="0"/>
              </a:rPr>
              <a:t>  </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一个算法是能行的，即算法中描述的操作都是可以通过已经实现的基本运算执行有限次来实现的。</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20000"/>
              </a:lnSpc>
              <a:spcBef>
                <a:spcPts val="600"/>
              </a:spcBef>
              <a:buNone/>
            </a:pP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4</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000" kern="100" dirty="0">
                <a:effectLst/>
                <a:latin typeface="Times New Roman" panose="02020603050405020304" pitchFamily="18" charset="0"/>
                <a:ea typeface="黑体" panose="02010609060101010101" pitchFamily="49" charset="-122"/>
                <a:cs typeface="Times New Roman" panose="02020603050405020304" pitchFamily="18" charset="0"/>
              </a:rPr>
              <a:t>输入</a:t>
            </a:r>
            <a:r>
              <a:rPr lang="zh-CN" altLang="zh-CN" sz="2000" kern="100" dirty="0">
                <a:effectLst/>
                <a:latin typeface="等线" panose="02010600030101010101" pitchFamily="2" charset="-122"/>
                <a:ea typeface="Times New Roman" panose="02020603050405020304" pitchFamily="18" charset="0"/>
                <a:cs typeface="Times New Roman" panose="02020603050405020304" pitchFamily="18" charset="0"/>
              </a:rPr>
              <a:t>  </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一个算法有零个或多个输入，这些输入取自于某个特定对象的集合。</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20000"/>
              </a:lnSpc>
              <a:spcBef>
                <a:spcPts val="600"/>
              </a:spcBef>
              <a:buNone/>
            </a:pP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5</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000" kern="100" dirty="0">
                <a:effectLst/>
                <a:latin typeface="Times New Roman" panose="02020603050405020304" pitchFamily="18" charset="0"/>
                <a:ea typeface="黑体" panose="02010609060101010101" pitchFamily="49" charset="-122"/>
                <a:cs typeface="Times New Roman" panose="02020603050405020304" pitchFamily="18" charset="0"/>
              </a:rPr>
              <a:t>输出</a:t>
            </a:r>
            <a:r>
              <a:rPr lang="zh-CN" altLang="zh-CN" sz="2000" kern="100" dirty="0">
                <a:effectLst/>
                <a:latin typeface="等线" panose="02010600030101010101" pitchFamily="2" charset="-122"/>
                <a:ea typeface="Times New Roman" panose="02020603050405020304" pitchFamily="18" charset="0"/>
                <a:cs typeface="Times New Roman" panose="02020603050405020304" pitchFamily="18" charset="0"/>
              </a:rPr>
              <a:t>  </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一个算法有一个或多个输出，这些输出是和输入有着某些特定关系的量</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5" name="文本框 4">
            <a:extLst>
              <a:ext uri="{FF2B5EF4-FFF2-40B4-BE49-F238E27FC236}">
                <a16:creationId xmlns:a16="http://schemas.microsoft.com/office/drawing/2014/main" id="{78B083D4-1FA9-7B6D-4FD4-E4FE6F2B0A12}"/>
              </a:ext>
            </a:extLst>
          </p:cNvPr>
          <p:cNvSpPr txBox="1"/>
          <p:nvPr/>
        </p:nvSpPr>
        <p:spPr>
          <a:xfrm>
            <a:off x="1313561" y="246369"/>
            <a:ext cx="4134936" cy="535531"/>
          </a:xfrm>
          <a:prstGeom prst="rect">
            <a:avLst/>
          </a:prstGeom>
        </p:spPr>
        <p:txBody>
          <a:bodyPr vert="horz" lIns="91440" tIns="45720" rIns="91440" bIns="45720" rtlCol="0" anchor="ctr" anchorCtr="0">
            <a:normAutofit/>
          </a:bodyPr>
          <a:lstStyle>
            <a:defPPr>
              <a:defRPr lang="zh-CN"/>
            </a:defPPr>
            <a:lvl1pPr>
              <a:lnSpc>
                <a:spcPct val="90000"/>
              </a:lnSpc>
              <a:spcBef>
                <a:spcPct val="0"/>
              </a:spcBef>
              <a:buNone/>
              <a:defRPr sz="3200" b="1">
                <a:solidFill>
                  <a:srgbClr val="000099"/>
                </a:solidFill>
                <a:effectLst>
                  <a:outerShdw blurRad="38100" dist="38100" dir="2700000" algn="tl">
                    <a:srgbClr val="000000">
                      <a:alpha val="43137"/>
                    </a:srgbClr>
                  </a:outerShdw>
                </a:effectLst>
                <a:latin typeface="+mj-lt"/>
                <a:ea typeface="+mj-ea"/>
                <a:cs typeface="+mj-cs"/>
              </a:defRPr>
            </a:lvl1pPr>
          </a:lstStyle>
          <a:p>
            <a:r>
              <a:rPr lang="en-US" altLang="zh-CN" dirty="0"/>
              <a:t>1.4  </a:t>
            </a:r>
            <a:r>
              <a:rPr lang="zh-CN" altLang="zh-CN" dirty="0"/>
              <a:t>算法和算法分析</a:t>
            </a:r>
          </a:p>
        </p:txBody>
      </p:sp>
      <p:sp>
        <p:nvSpPr>
          <p:cNvPr id="2" name="灯片编号占位符 1">
            <a:extLst>
              <a:ext uri="{FF2B5EF4-FFF2-40B4-BE49-F238E27FC236}">
                <a16:creationId xmlns:a16="http://schemas.microsoft.com/office/drawing/2014/main" id="{45794C42-AF6B-69CA-787C-5D49F7348E80}"/>
              </a:ext>
            </a:extLst>
          </p:cNvPr>
          <p:cNvSpPr>
            <a:spLocks noGrp="1"/>
          </p:cNvSpPr>
          <p:nvPr>
            <p:ph type="sldNum" sz="quarter" idx="12"/>
          </p:nvPr>
        </p:nvSpPr>
        <p:spPr/>
        <p:txBody>
          <a:bodyPr/>
          <a:lstStyle/>
          <a:p>
            <a:fld id="{D7C0FE0B-717B-41AE-9FA2-CA4BF851D1C3}" type="slidenum">
              <a:rPr lang="zh-CN" altLang="en-US" smtClean="0"/>
              <a:t>48</a:t>
            </a:fld>
            <a:endParaRPr lang="zh-CN" altLang="en-US"/>
          </a:p>
        </p:txBody>
      </p:sp>
    </p:spTree>
    <p:extLst>
      <p:ext uri="{BB962C8B-B14F-4D97-AF65-F5344CB8AC3E}">
        <p14:creationId xmlns:p14="http://schemas.microsoft.com/office/powerpoint/2010/main" val="2437300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1000"/>
                                        <p:tgtEl>
                                          <p:spTgt spid="3">
                                            <p:txEl>
                                              <p:pRg st="3" end="3"/>
                                            </p:txEl>
                                          </p:spTgt>
                                        </p:tgtEl>
                                      </p:cBhvr>
                                    </p:animEffect>
                                    <p:anim calcmode="lin" valueType="num">
                                      <p:cBhvr>
                                        <p:cTn id="2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fade">
                                      <p:cBhvr>
                                        <p:cTn id="33" dur="1000"/>
                                        <p:tgtEl>
                                          <p:spTgt spid="3">
                                            <p:txEl>
                                              <p:pRg st="4" end="4"/>
                                            </p:txEl>
                                          </p:spTgt>
                                        </p:tgtEl>
                                      </p:cBhvr>
                                    </p:animEffect>
                                    <p:anim calcmode="lin" valueType="num">
                                      <p:cBhvr>
                                        <p:cTn id="34"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3">
                                            <p:txEl>
                                              <p:pRg st="5" end="5"/>
                                            </p:txEl>
                                          </p:spTgt>
                                        </p:tgtEl>
                                        <p:attrNameLst>
                                          <p:attrName>style.visibility</p:attrName>
                                        </p:attrNameLst>
                                      </p:cBhvr>
                                      <p:to>
                                        <p:strVal val="visible"/>
                                      </p:to>
                                    </p:set>
                                    <p:animEffect transition="in" filter="fade">
                                      <p:cBhvr>
                                        <p:cTn id="40" dur="1000"/>
                                        <p:tgtEl>
                                          <p:spTgt spid="3">
                                            <p:txEl>
                                              <p:pRg st="5" end="5"/>
                                            </p:txEl>
                                          </p:spTgt>
                                        </p:tgtEl>
                                      </p:cBhvr>
                                    </p:animEffect>
                                    <p:anim calcmode="lin" valueType="num">
                                      <p:cBhvr>
                                        <p:cTn id="41"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3">
                                            <p:txEl>
                                              <p:pRg st="6" end="6"/>
                                            </p:txEl>
                                          </p:spTgt>
                                        </p:tgtEl>
                                        <p:attrNameLst>
                                          <p:attrName>style.visibility</p:attrName>
                                        </p:attrNameLst>
                                      </p:cBhvr>
                                      <p:to>
                                        <p:strVal val="visible"/>
                                      </p:to>
                                    </p:set>
                                    <p:animEffect transition="in" filter="fade">
                                      <p:cBhvr>
                                        <p:cTn id="47" dur="1000"/>
                                        <p:tgtEl>
                                          <p:spTgt spid="3">
                                            <p:txEl>
                                              <p:pRg st="6" end="6"/>
                                            </p:txEl>
                                          </p:spTgt>
                                        </p:tgtEl>
                                      </p:cBhvr>
                                    </p:animEffect>
                                    <p:anim calcmode="lin" valueType="num">
                                      <p:cBhvr>
                                        <p:cTn id="4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030D497F-064B-6F08-93D7-25597CF7ADFE}"/>
              </a:ext>
            </a:extLst>
          </p:cNvPr>
          <p:cNvSpPr txBox="1"/>
          <p:nvPr/>
        </p:nvSpPr>
        <p:spPr>
          <a:xfrm>
            <a:off x="1050216" y="80155"/>
            <a:ext cx="7546170" cy="1230145"/>
          </a:xfrm>
          <a:prstGeom prst="rect">
            <a:avLst/>
          </a:prstGeom>
          <a:noFill/>
        </p:spPr>
        <p:txBody>
          <a:bodyPr wrap="square">
            <a:spAutoFit/>
          </a:bodyPr>
          <a:lstStyle/>
          <a:p>
            <a:pPr indent="266700">
              <a:lnSpc>
                <a:spcPct val="150000"/>
              </a:lnSpc>
              <a:buNone/>
            </a:pPr>
            <a:r>
              <a:rPr lang="en-US" altLang="zh-CN" sz="2800" kern="100"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1.4.2  </a:t>
            </a:r>
            <a:r>
              <a:rPr lang="zh-CN" altLang="zh-CN" sz="2800" kern="100"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算法设计的要求</a:t>
            </a:r>
          </a:p>
          <a:p>
            <a:pPr indent="266700" algn="just">
              <a:lnSpc>
                <a:spcPct val="150000"/>
              </a:lnSpc>
              <a:buNone/>
            </a:pP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通常设计一个</a:t>
            </a: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好</a:t>
            </a: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的算法应能达到以下目标</a:t>
            </a:r>
            <a:endParaRPr lang="zh-CN" alt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文本框 3">
            <a:hlinkClick r:id="" action="ppaction://hlinkshowjump?jump=nextslide"/>
            <a:extLst>
              <a:ext uri="{FF2B5EF4-FFF2-40B4-BE49-F238E27FC236}">
                <a16:creationId xmlns:a16="http://schemas.microsoft.com/office/drawing/2014/main" id="{8A233BAE-2E00-C41E-4E3C-BB8D5DEDDC9C}"/>
              </a:ext>
            </a:extLst>
          </p:cNvPr>
          <p:cNvSpPr txBox="1"/>
          <p:nvPr/>
        </p:nvSpPr>
        <p:spPr>
          <a:xfrm>
            <a:off x="709992" y="1365184"/>
            <a:ext cx="1577676" cy="461665"/>
          </a:xfrm>
          <a:prstGeom prst="rect">
            <a:avLst/>
          </a:prstGeom>
          <a:noFill/>
          <a:ln w="9525">
            <a:noFill/>
          </a:ln>
        </p:spPr>
        <p:txBody>
          <a:bodyPr wrap="none" anchor="t" anchorCtr="0">
            <a:spAutoFit/>
          </a:bodyPr>
          <a:lstStyle/>
          <a:p>
            <a:r>
              <a:rPr lang="en-US" altLang="zh-CN" sz="2400" b="1" dirty="0">
                <a:effectLst>
                  <a:outerShdw blurRad="38100" dist="38100" dir="2700000">
                    <a:srgbClr val="000000"/>
                  </a:outerShdw>
                </a:effectLst>
                <a:latin typeface="+mn-ea"/>
              </a:rPr>
              <a:t>1</a:t>
            </a:r>
            <a:r>
              <a:rPr lang="zh-CN" altLang="en-US" sz="2400" b="1" dirty="0">
                <a:effectLst>
                  <a:outerShdw blurRad="38100" dist="38100" dir="2700000">
                    <a:srgbClr val="000000"/>
                  </a:outerShdw>
                </a:effectLst>
                <a:latin typeface="+mn-ea"/>
              </a:rPr>
              <a:t>．</a:t>
            </a:r>
            <a:r>
              <a:rPr lang="zh-CN" altLang="en-US" sz="2400" b="1" dirty="0">
                <a:solidFill>
                  <a:srgbClr val="FF0000"/>
                </a:solidFill>
                <a:effectLst>
                  <a:outerShdw blurRad="38100" dist="38100" dir="2700000">
                    <a:srgbClr val="000000"/>
                  </a:outerShdw>
                </a:effectLst>
                <a:latin typeface="+mn-ea"/>
              </a:rPr>
              <a:t>正确性</a:t>
            </a:r>
          </a:p>
        </p:txBody>
      </p:sp>
      <p:sp>
        <p:nvSpPr>
          <p:cNvPr id="5" name="文本框 4">
            <a:hlinkClick r:id="" action="ppaction://noaction"/>
            <a:extLst>
              <a:ext uri="{FF2B5EF4-FFF2-40B4-BE49-F238E27FC236}">
                <a16:creationId xmlns:a16="http://schemas.microsoft.com/office/drawing/2014/main" id="{EC4FC13F-4CAA-F71B-896C-6965398DCA20}"/>
              </a:ext>
            </a:extLst>
          </p:cNvPr>
          <p:cNvSpPr txBox="1"/>
          <p:nvPr/>
        </p:nvSpPr>
        <p:spPr>
          <a:xfrm>
            <a:off x="706787" y="4835549"/>
            <a:ext cx="1579278" cy="461665"/>
          </a:xfrm>
          <a:prstGeom prst="rect">
            <a:avLst/>
          </a:prstGeom>
          <a:noFill/>
          <a:ln w="9525">
            <a:noFill/>
          </a:ln>
        </p:spPr>
        <p:txBody>
          <a:bodyPr wrap="none" anchor="t" anchorCtr="0">
            <a:spAutoFit/>
          </a:bodyPr>
          <a:lstStyle/>
          <a:p>
            <a:r>
              <a:rPr lang="en-US" altLang="zh-CN" sz="2400" b="1" dirty="0">
                <a:effectLst>
                  <a:outerShdw blurRad="38100" dist="38100" dir="2700000">
                    <a:srgbClr val="000000"/>
                  </a:outerShdw>
                </a:effectLst>
                <a:latin typeface="+mn-ea"/>
              </a:rPr>
              <a:t>2. </a:t>
            </a:r>
            <a:r>
              <a:rPr lang="zh-CN" altLang="en-US" sz="2400" b="1" dirty="0">
                <a:solidFill>
                  <a:srgbClr val="FF0000"/>
                </a:solidFill>
                <a:effectLst>
                  <a:outerShdw blurRad="38100" dist="38100" dir="2700000">
                    <a:srgbClr val="000000"/>
                  </a:outerShdw>
                </a:effectLst>
                <a:latin typeface="+mn-ea"/>
              </a:rPr>
              <a:t>可读性</a:t>
            </a:r>
            <a:endParaRPr lang="zh-CN" altLang="en-US" sz="2400" b="1" dirty="0">
              <a:effectLst>
                <a:outerShdw blurRad="38100" dist="38100" dir="2700000">
                  <a:srgbClr val="000000"/>
                </a:outerShdw>
              </a:effectLst>
              <a:latin typeface="+mn-ea"/>
            </a:endParaRPr>
          </a:p>
        </p:txBody>
      </p:sp>
      <p:sp>
        <p:nvSpPr>
          <p:cNvPr id="6" name="文本框 5">
            <a:hlinkClick r:id="" action="ppaction://noaction"/>
            <a:extLst>
              <a:ext uri="{FF2B5EF4-FFF2-40B4-BE49-F238E27FC236}">
                <a16:creationId xmlns:a16="http://schemas.microsoft.com/office/drawing/2014/main" id="{27633C64-2C94-E12C-A155-AA85159E74CD}"/>
              </a:ext>
            </a:extLst>
          </p:cNvPr>
          <p:cNvSpPr txBox="1"/>
          <p:nvPr/>
        </p:nvSpPr>
        <p:spPr>
          <a:xfrm>
            <a:off x="708389" y="5370361"/>
            <a:ext cx="1577676" cy="461665"/>
          </a:xfrm>
          <a:prstGeom prst="rect">
            <a:avLst/>
          </a:prstGeom>
          <a:noFill/>
          <a:ln w="9525">
            <a:noFill/>
          </a:ln>
        </p:spPr>
        <p:txBody>
          <a:bodyPr wrap="none" anchor="t" anchorCtr="0">
            <a:spAutoFit/>
          </a:bodyPr>
          <a:lstStyle/>
          <a:p>
            <a:r>
              <a:rPr lang="en-US" altLang="zh-CN" sz="2400" b="1" dirty="0">
                <a:effectLst>
                  <a:outerShdw blurRad="38100" dist="38100" dir="2700000">
                    <a:srgbClr val="000000"/>
                  </a:outerShdw>
                </a:effectLst>
                <a:latin typeface="+mn-ea"/>
              </a:rPr>
              <a:t>3</a:t>
            </a:r>
            <a:r>
              <a:rPr lang="zh-CN" altLang="en-US" sz="2400" b="1" dirty="0">
                <a:effectLst>
                  <a:outerShdw blurRad="38100" dist="38100" dir="2700000">
                    <a:srgbClr val="000000"/>
                  </a:outerShdw>
                </a:effectLst>
                <a:latin typeface="+mn-ea"/>
              </a:rPr>
              <a:t>．</a:t>
            </a:r>
            <a:r>
              <a:rPr lang="zh-CN" altLang="en-US" sz="2400" b="1" dirty="0">
                <a:solidFill>
                  <a:srgbClr val="FF0000"/>
                </a:solidFill>
                <a:effectLst>
                  <a:outerShdw blurRad="38100" dist="38100" dir="2700000">
                    <a:srgbClr val="000000"/>
                  </a:outerShdw>
                </a:effectLst>
                <a:latin typeface="+mn-ea"/>
              </a:rPr>
              <a:t>健壮性</a:t>
            </a:r>
          </a:p>
        </p:txBody>
      </p:sp>
      <p:sp>
        <p:nvSpPr>
          <p:cNvPr id="7" name="文本框 6">
            <a:hlinkClick r:id="" action="ppaction://noaction"/>
            <a:extLst>
              <a:ext uri="{FF2B5EF4-FFF2-40B4-BE49-F238E27FC236}">
                <a16:creationId xmlns:a16="http://schemas.microsoft.com/office/drawing/2014/main" id="{AC2D720D-CF5F-1913-1136-2D8CF3B08591}"/>
              </a:ext>
            </a:extLst>
          </p:cNvPr>
          <p:cNvSpPr txBox="1"/>
          <p:nvPr/>
        </p:nvSpPr>
        <p:spPr>
          <a:xfrm>
            <a:off x="706787" y="5903068"/>
            <a:ext cx="3743332" cy="461665"/>
          </a:xfrm>
          <a:prstGeom prst="rect">
            <a:avLst/>
          </a:prstGeom>
          <a:noFill/>
          <a:ln w="9525">
            <a:noFill/>
          </a:ln>
        </p:spPr>
        <p:txBody>
          <a:bodyPr wrap="none" anchor="t" anchorCtr="0">
            <a:spAutoFit/>
          </a:bodyPr>
          <a:lstStyle/>
          <a:p>
            <a:r>
              <a:rPr lang="en-US" altLang="zh-CN" sz="2400" b="1" dirty="0">
                <a:effectLst>
                  <a:outerShdw blurRad="38100" dist="38100" dir="2700000">
                    <a:srgbClr val="000000"/>
                  </a:outerShdw>
                </a:effectLst>
                <a:latin typeface="+mn-ea"/>
              </a:rPr>
              <a:t>4</a:t>
            </a:r>
            <a:r>
              <a:rPr lang="zh-CN" altLang="en-US" sz="2400" b="1" dirty="0">
                <a:effectLst>
                  <a:outerShdw blurRad="38100" dist="38100" dir="2700000">
                    <a:srgbClr val="000000"/>
                  </a:outerShdw>
                </a:effectLst>
                <a:latin typeface="+mn-ea"/>
              </a:rPr>
              <a:t>．</a:t>
            </a:r>
            <a:r>
              <a:rPr lang="zh-CN" altLang="en-US" sz="2400" b="1" dirty="0">
                <a:solidFill>
                  <a:srgbClr val="FF0000"/>
                </a:solidFill>
                <a:effectLst>
                  <a:outerShdw blurRad="38100" dist="38100" dir="2700000">
                    <a:srgbClr val="000000"/>
                  </a:outerShdw>
                </a:effectLst>
                <a:latin typeface="+mn-ea"/>
              </a:rPr>
              <a:t>高效率与低存储量需求</a:t>
            </a:r>
            <a:endParaRPr lang="zh-CN" altLang="en-US" sz="2400" b="1" dirty="0">
              <a:effectLst>
                <a:outerShdw blurRad="38100" dist="38100" dir="2700000">
                  <a:srgbClr val="000000"/>
                </a:outerShdw>
              </a:effectLst>
              <a:latin typeface="+mn-ea"/>
            </a:endParaRPr>
          </a:p>
        </p:txBody>
      </p:sp>
      <p:sp>
        <p:nvSpPr>
          <p:cNvPr id="9" name="文本框 8">
            <a:extLst>
              <a:ext uri="{FF2B5EF4-FFF2-40B4-BE49-F238E27FC236}">
                <a16:creationId xmlns:a16="http://schemas.microsoft.com/office/drawing/2014/main" id="{89CC16FD-5F17-A7F8-90A1-878E33A9678B}"/>
              </a:ext>
            </a:extLst>
          </p:cNvPr>
          <p:cNvSpPr txBox="1"/>
          <p:nvPr/>
        </p:nvSpPr>
        <p:spPr>
          <a:xfrm>
            <a:off x="1828800" y="1365184"/>
            <a:ext cx="8534400" cy="412613"/>
          </a:xfrm>
          <a:prstGeom prst="rect">
            <a:avLst/>
          </a:prstGeom>
          <a:noFill/>
          <a:ln w="9525">
            <a:noFill/>
          </a:ln>
        </p:spPr>
        <p:txBody>
          <a:bodyPr>
            <a:spAutoFit/>
          </a:bodyPr>
          <a:lstStyle/>
          <a:p>
            <a:pPr algn="just">
              <a:lnSpc>
                <a:spcPct val="120000"/>
              </a:lnSpc>
            </a:pPr>
            <a:r>
              <a:rPr lang="en-US" altLang="zh-CN" sz="2000" b="1" dirty="0">
                <a:latin typeface="+mn-ea"/>
              </a:rPr>
              <a:t>    </a:t>
            </a:r>
            <a:r>
              <a:rPr lang="zh-CN" altLang="en-US" sz="2000" b="1" dirty="0">
                <a:solidFill>
                  <a:srgbClr val="0000FF"/>
                </a:solidFill>
                <a:effectLst>
                  <a:outerShdw blurRad="38100" dist="38100" dir="2700000">
                    <a:srgbClr val="000000"/>
                  </a:outerShdw>
                </a:effectLst>
                <a:latin typeface="+mn-ea"/>
              </a:rPr>
              <a:t>首先，</a:t>
            </a:r>
            <a:r>
              <a:rPr lang="zh-CN" altLang="en-US" sz="2000" b="1" dirty="0">
                <a:solidFill>
                  <a:srgbClr val="000000"/>
                </a:solidFill>
                <a:latin typeface="+mn-ea"/>
              </a:rPr>
              <a:t>算法应当满足以特定的“规格说明”方式给出的需求。</a:t>
            </a:r>
          </a:p>
        </p:txBody>
      </p:sp>
      <p:sp>
        <p:nvSpPr>
          <p:cNvPr id="10" name="文本框 9">
            <a:extLst>
              <a:ext uri="{FF2B5EF4-FFF2-40B4-BE49-F238E27FC236}">
                <a16:creationId xmlns:a16="http://schemas.microsoft.com/office/drawing/2014/main" id="{71A626A0-678E-8E24-6D24-3F264F6CD6C7}"/>
              </a:ext>
            </a:extLst>
          </p:cNvPr>
          <p:cNvSpPr txBox="1"/>
          <p:nvPr/>
        </p:nvSpPr>
        <p:spPr>
          <a:xfrm>
            <a:off x="1828800" y="1810866"/>
            <a:ext cx="8550275" cy="427040"/>
          </a:xfrm>
          <a:prstGeom prst="rect">
            <a:avLst/>
          </a:prstGeom>
          <a:noFill/>
          <a:ln w="9525">
            <a:noFill/>
          </a:ln>
        </p:spPr>
        <p:txBody>
          <a:bodyPr>
            <a:spAutoFit/>
          </a:bodyPr>
          <a:lstStyle/>
          <a:p>
            <a:pPr algn="just">
              <a:lnSpc>
                <a:spcPct val="120000"/>
              </a:lnSpc>
            </a:pPr>
            <a:r>
              <a:rPr lang="en-US" altLang="zh-CN" sz="2000" b="1" dirty="0">
                <a:latin typeface="+mn-ea"/>
              </a:rPr>
              <a:t>    </a:t>
            </a:r>
            <a:r>
              <a:rPr lang="zh-CN" altLang="en-US" sz="2000" b="1" dirty="0">
                <a:solidFill>
                  <a:srgbClr val="0000FF"/>
                </a:solidFill>
                <a:effectLst>
                  <a:outerShdw blurRad="38100" dist="38100" dir="2700000">
                    <a:srgbClr val="000000"/>
                  </a:outerShdw>
                </a:effectLst>
                <a:latin typeface="+mn-ea"/>
              </a:rPr>
              <a:t>其次，</a:t>
            </a:r>
            <a:r>
              <a:rPr lang="zh-CN" altLang="en-US" sz="2000" b="1" dirty="0">
                <a:solidFill>
                  <a:srgbClr val="000000"/>
                </a:solidFill>
                <a:latin typeface="+mn-ea"/>
              </a:rPr>
              <a:t>对算法是否“</a:t>
            </a:r>
            <a:r>
              <a:rPr lang="zh-CN" altLang="en-US" sz="2000" b="1" dirty="0">
                <a:solidFill>
                  <a:srgbClr val="FF0000"/>
                </a:solidFill>
                <a:effectLst>
                  <a:outerShdw blurRad="38100" dist="38100" dir="2700000">
                    <a:srgbClr val="000000"/>
                  </a:outerShdw>
                </a:effectLst>
                <a:latin typeface="+mn-ea"/>
              </a:rPr>
              <a:t>正确</a:t>
            </a:r>
            <a:r>
              <a:rPr lang="zh-CN" altLang="en-US" sz="2000" b="1" dirty="0">
                <a:solidFill>
                  <a:srgbClr val="000000"/>
                </a:solidFill>
                <a:latin typeface="+mn-ea"/>
              </a:rPr>
              <a:t>”的理解可以有以下四个层次：</a:t>
            </a:r>
          </a:p>
        </p:txBody>
      </p:sp>
      <p:sp>
        <p:nvSpPr>
          <p:cNvPr id="11" name="文本框 10">
            <a:extLst>
              <a:ext uri="{FF2B5EF4-FFF2-40B4-BE49-F238E27FC236}">
                <a16:creationId xmlns:a16="http://schemas.microsoft.com/office/drawing/2014/main" id="{F5BB6687-1A32-5352-C1A7-4E4A8AF63DD6}"/>
              </a:ext>
            </a:extLst>
          </p:cNvPr>
          <p:cNvSpPr txBox="1"/>
          <p:nvPr/>
        </p:nvSpPr>
        <p:spPr>
          <a:xfrm>
            <a:off x="2389542" y="2200536"/>
            <a:ext cx="6981825" cy="400110"/>
          </a:xfrm>
          <a:prstGeom prst="rect">
            <a:avLst/>
          </a:prstGeom>
          <a:noFill/>
          <a:ln w="9525">
            <a:noFill/>
          </a:ln>
        </p:spPr>
        <p:txBody>
          <a:bodyPr>
            <a:spAutoFit/>
          </a:bodyPr>
          <a:lstStyle/>
          <a:p>
            <a:r>
              <a:rPr lang="en-US" altLang="zh-CN" sz="2000" b="1" dirty="0">
                <a:solidFill>
                  <a:srgbClr val="000000"/>
                </a:solidFill>
                <a:latin typeface="+mn-ea"/>
              </a:rPr>
              <a:t>a</a:t>
            </a:r>
            <a:r>
              <a:rPr lang="zh-CN" altLang="en-US" sz="2000" b="1" dirty="0">
                <a:solidFill>
                  <a:srgbClr val="000000"/>
                </a:solidFill>
                <a:latin typeface="+mn-ea"/>
              </a:rPr>
              <a:t>．程序中不含语法错误；</a:t>
            </a:r>
          </a:p>
        </p:txBody>
      </p:sp>
      <p:sp>
        <p:nvSpPr>
          <p:cNvPr id="12" name="文本框 11">
            <a:extLst>
              <a:ext uri="{FF2B5EF4-FFF2-40B4-BE49-F238E27FC236}">
                <a16:creationId xmlns:a16="http://schemas.microsoft.com/office/drawing/2014/main" id="{7A7EF4DF-F2E8-FD04-7E6C-D0254135D464}"/>
              </a:ext>
            </a:extLst>
          </p:cNvPr>
          <p:cNvSpPr txBox="1"/>
          <p:nvPr/>
        </p:nvSpPr>
        <p:spPr>
          <a:xfrm>
            <a:off x="2389542" y="2602245"/>
            <a:ext cx="7635875" cy="412613"/>
          </a:xfrm>
          <a:prstGeom prst="rect">
            <a:avLst/>
          </a:prstGeom>
          <a:noFill/>
          <a:ln w="9525">
            <a:noFill/>
          </a:ln>
        </p:spPr>
        <p:txBody>
          <a:bodyPr>
            <a:spAutoFit/>
          </a:bodyPr>
          <a:lstStyle/>
          <a:p>
            <a:pPr algn="just">
              <a:lnSpc>
                <a:spcPct val="120000"/>
              </a:lnSpc>
            </a:pPr>
            <a:r>
              <a:rPr lang="en-US" altLang="zh-CN" sz="2000" b="1" dirty="0">
                <a:solidFill>
                  <a:srgbClr val="000000"/>
                </a:solidFill>
                <a:latin typeface="+mn-ea"/>
              </a:rPr>
              <a:t>b</a:t>
            </a:r>
            <a:r>
              <a:rPr lang="zh-CN" altLang="en-US" sz="2000" b="1" dirty="0">
                <a:solidFill>
                  <a:srgbClr val="000000"/>
                </a:solidFill>
                <a:latin typeface="+mn-ea"/>
              </a:rPr>
              <a:t>．程序对于几组输入数据能够得出满足要求的结果；</a:t>
            </a:r>
          </a:p>
        </p:txBody>
      </p:sp>
      <p:sp>
        <p:nvSpPr>
          <p:cNvPr id="13" name="文本框 12">
            <a:extLst>
              <a:ext uri="{FF2B5EF4-FFF2-40B4-BE49-F238E27FC236}">
                <a16:creationId xmlns:a16="http://schemas.microsoft.com/office/drawing/2014/main" id="{A131B489-26C0-D152-CEFB-640FA297F3C7}"/>
              </a:ext>
            </a:extLst>
          </p:cNvPr>
          <p:cNvSpPr txBox="1"/>
          <p:nvPr/>
        </p:nvSpPr>
        <p:spPr>
          <a:xfrm>
            <a:off x="2226646" y="2968324"/>
            <a:ext cx="8341848" cy="799706"/>
          </a:xfrm>
          <a:prstGeom prst="rect">
            <a:avLst/>
          </a:prstGeom>
          <a:noFill/>
          <a:ln w="9525">
            <a:noFill/>
          </a:ln>
        </p:spPr>
        <p:txBody>
          <a:bodyPr wrap="square">
            <a:spAutoFit/>
          </a:bodyPr>
          <a:lstStyle/>
          <a:p>
            <a:pPr>
              <a:lnSpc>
                <a:spcPct val="120000"/>
              </a:lnSpc>
            </a:pPr>
            <a:r>
              <a:rPr lang="en-US" altLang="zh-CN" sz="2000" b="1" dirty="0">
                <a:solidFill>
                  <a:srgbClr val="0070C0"/>
                </a:solidFill>
                <a:effectLst>
                  <a:outerShdw blurRad="38100" dist="38100" dir="2700000" algn="tl">
                    <a:srgbClr val="000000">
                      <a:alpha val="43137"/>
                    </a:srgbClr>
                  </a:outerShdw>
                </a:effectLst>
                <a:latin typeface="+mn-ea"/>
              </a:rPr>
              <a:t> </a:t>
            </a:r>
            <a:r>
              <a:rPr lang="en-US" altLang="zh-CN" sz="2000" b="1" dirty="0">
                <a:solidFill>
                  <a:srgbClr val="0000FF"/>
                </a:solidFill>
                <a:effectLst>
                  <a:outerShdw blurRad="38100" dist="38100" dir="2700000">
                    <a:srgbClr val="000000"/>
                  </a:outerShdw>
                </a:effectLst>
                <a:latin typeface="+mn-ea"/>
              </a:rPr>
              <a:t>c</a:t>
            </a:r>
            <a:r>
              <a:rPr lang="zh-CN" altLang="en-US" sz="2000" b="1" dirty="0">
                <a:solidFill>
                  <a:srgbClr val="0000FF"/>
                </a:solidFill>
                <a:effectLst>
                  <a:outerShdw blurRad="38100" dist="38100" dir="2700000">
                    <a:srgbClr val="000000"/>
                  </a:outerShdw>
                </a:effectLst>
                <a:latin typeface="+mn-ea"/>
              </a:rPr>
              <a:t>．程序对于精心选择的、典型、苛刻且带有刁难性的几组输入数据能够得出满足要求的结果；</a:t>
            </a:r>
          </a:p>
        </p:txBody>
      </p:sp>
      <p:sp>
        <p:nvSpPr>
          <p:cNvPr id="14" name="文本框 13">
            <a:extLst>
              <a:ext uri="{FF2B5EF4-FFF2-40B4-BE49-F238E27FC236}">
                <a16:creationId xmlns:a16="http://schemas.microsoft.com/office/drawing/2014/main" id="{F5B89F89-51BC-2658-04F2-7F2AE5A84C85}"/>
              </a:ext>
            </a:extLst>
          </p:cNvPr>
          <p:cNvSpPr txBox="1"/>
          <p:nvPr/>
        </p:nvSpPr>
        <p:spPr>
          <a:xfrm>
            <a:off x="2295728" y="4142567"/>
            <a:ext cx="7685063" cy="424155"/>
          </a:xfrm>
          <a:prstGeom prst="rect">
            <a:avLst/>
          </a:prstGeom>
          <a:noFill/>
          <a:ln w="9525">
            <a:noFill/>
          </a:ln>
        </p:spPr>
        <p:txBody>
          <a:bodyPr wrap="square">
            <a:spAutoFit/>
          </a:bodyPr>
          <a:lstStyle/>
          <a:p>
            <a:pPr>
              <a:lnSpc>
                <a:spcPct val="125000"/>
              </a:lnSpc>
            </a:pPr>
            <a:r>
              <a:rPr lang="zh-CN" altLang="en-US" sz="2000" b="1" dirty="0">
                <a:solidFill>
                  <a:srgbClr val="000000"/>
                </a:solidFill>
                <a:latin typeface="+mn-ea"/>
              </a:rPr>
              <a:t>通常以</a:t>
            </a:r>
            <a:r>
              <a:rPr lang="zh-CN" altLang="en-US" sz="2000" b="1" dirty="0">
                <a:solidFill>
                  <a:srgbClr val="FF0000"/>
                </a:solidFill>
                <a:effectLst>
                  <a:outerShdw blurRad="38100" dist="38100" dir="2700000">
                    <a:srgbClr val="000000"/>
                  </a:outerShdw>
                </a:effectLst>
                <a:latin typeface="+mn-ea"/>
              </a:rPr>
              <a:t>第 </a:t>
            </a:r>
            <a:r>
              <a:rPr lang="en-US" altLang="zh-CN" sz="2000" b="1" dirty="0">
                <a:solidFill>
                  <a:srgbClr val="FF0000"/>
                </a:solidFill>
                <a:effectLst>
                  <a:outerShdw blurRad="38100" dist="38100" dir="2700000">
                    <a:srgbClr val="000000"/>
                  </a:outerShdw>
                </a:effectLst>
                <a:latin typeface="+mn-ea"/>
              </a:rPr>
              <a:t>c </a:t>
            </a:r>
            <a:r>
              <a:rPr lang="zh-CN" altLang="en-US" sz="2000" b="1" dirty="0">
                <a:solidFill>
                  <a:srgbClr val="FF0000"/>
                </a:solidFill>
                <a:effectLst>
                  <a:outerShdw blurRad="38100" dist="38100" dir="2700000">
                    <a:srgbClr val="000000"/>
                  </a:outerShdw>
                </a:effectLst>
                <a:latin typeface="+mn-ea"/>
              </a:rPr>
              <a:t>层</a:t>
            </a:r>
            <a:r>
              <a:rPr lang="zh-CN" altLang="en-US" sz="2000" b="1" dirty="0">
                <a:solidFill>
                  <a:srgbClr val="000000"/>
                </a:solidFill>
                <a:latin typeface="+mn-ea"/>
              </a:rPr>
              <a:t>意义的正确性作为衡量一个算法是否合格的标准。</a:t>
            </a:r>
          </a:p>
        </p:txBody>
      </p:sp>
      <p:sp>
        <p:nvSpPr>
          <p:cNvPr id="15" name="文本框 14">
            <a:extLst>
              <a:ext uri="{FF2B5EF4-FFF2-40B4-BE49-F238E27FC236}">
                <a16:creationId xmlns:a16="http://schemas.microsoft.com/office/drawing/2014/main" id="{3B3A4920-5804-2E5C-0033-4F33802A3267}"/>
              </a:ext>
            </a:extLst>
          </p:cNvPr>
          <p:cNvSpPr txBox="1"/>
          <p:nvPr/>
        </p:nvSpPr>
        <p:spPr>
          <a:xfrm>
            <a:off x="2226646" y="3729720"/>
            <a:ext cx="7554913" cy="412613"/>
          </a:xfrm>
          <a:prstGeom prst="rect">
            <a:avLst/>
          </a:prstGeom>
          <a:noFill/>
          <a:ln w="9525">
            <a:noFill/>
          </a:ln>
        </p:spPr>
        <p:txBody>
          <a:bodyPr>
            <a:spAutoFit/>
          </a:bodyPr>
          <a:lstStyle/>
          <a:p>
            <a:pPr>
              <a:lnSpc>
                <a:spcPct val="120000"/>
              </a:lnSpc>
            </a:pPr>
            <a:r>
              <a:rPr lang="en-US" altLang="zh-CN" sz="2000" b="1" dirty="0">
                <a:solidFill>
                  <a:srgbClr val="000000"/>
                </a:solidFill>
                <a:latin typeface="+mn-ea"/>
              </a:rPr>
              <a:t> d</a:t>
            </a:r>
            <a:r>
              <a:rPr lang="zh-CN" altLang="en-US" sz="2000" b="1" dirty="0">
                <a:solidFill>
                  <a:srgbClr val="000000"/>
                </a:solidFill>
                <a:latin typeface="+mn-ea"/>
              </a:rPr>
              <a:t>．程序对于一切合法的输入数据都能得出满足要求的结果；</a:t>
            </a:r>
          </a:p>
        </p:txBody>
      </p:sp>
      <p:sp>
        <p:nvSpPr>
          <p:cNvPr id="17" name="文本框 16">
            <a:extLst>
              <a:ext uri="{FF2B5EF4-FFF2-40B4-BE49-F238E27FC236}">
                <a16:creationId xmlns:a16="http://schemas.microsoft.com/office/drawing/2014/main" id="{101107FC-D4BF-0FBA-8647-70E1BFB941D8}"/>
              </a:ext>
            </a:extLst>
          </p:cNvPr>
          <p:cNvSpPr txBox="1"/>
          <p:nvPr/>
        </p:nvSpPr>
        <p:spPr>
          <a:xfrm>
            <a:off x="2340355" y="4897104"/>
            <a:ext cx="8022846" cy="400110"/>
          </a:xfrm>
          <a:prstGeom prst="rect">
            <a:avLst/>
          </a:prstGeom>
          <a:noFill/>
        </p:spPr>
        <p:txBody>
          <a:bodyPr wrap="square">
            <a:spAutoFit/>
          </a:bodyPr>
          <a:lstStyle/>
          <a:p>
            <a:r>
              <a:rPr lang="zh-CN" altLang="zh-CN" sz="2000" b="1" dirty="0">
                <a:effectLst/>
                <a:latin typeface="Times New Roman" panose="02020603050405020304" pitchFamily="18" charset="0"/>
                <a:ea typeface="宋体" panose="02010600030101010101" pitchFamily="2" charset="-122"/>
                <a:cs typeface="Times New Roman" panose="02020603050405020304" pitchFamily="18" charset="0"/>
              </a:rPr>
              <a:t>算法</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首先应便于</a:t>
            </a:r>
            <a:r>
              <a:rPr lang="zh-CN" altLang="zh-CN" sz="2000" b="1" dirty="0">
                <a:effectLst/>
                <a:latin typeface="Times New Roman" panose="02020603050405020304" pitchFamily="18" charset="0"/>
                <a:ea typeface="宋体" panose="02010600030101010101" pitchFamily="2" charset="-122"/>
                <a:cs typeface="Times New Roman" panose="02020603050405020304" pitchFamily="18" charset="0"/>
              </a:rPr>
              <a:t>人的阅读与交流，其次才是实现为机器执行的代码。</a:t>
            </a:r>
            <a:endParaRPr lang="zh-CN" altLang="en-US" sz="2000" b="1" dirty="0"/>
          </a:p>
        </p:txBody>
      </p:sp>
      <p:sp>
        <p:nvSpPr>
          <p:cNvPr id="19" name="文本框 18">
            <a:extLst>
              <a:ext uri="{FF2B5EF4-FFF2-40B4-BE49-F238E27FC236}">
                <a16:creationId xmlns:a16="http://schemas.microsoft.com/office/drawing/2014/main" id="{5828C1ED-75E6-E44B-9728-6CE5B4CD9CCE}"/>
              </a:ext>
            </a:extLst>
          </p:cNvPr>
          <p:cNvSpPr txBox="1"/>
          <p:nvPr/>
        </p:nvSpPr>
        <p:spPr>
          <a:xfrm>
            <a:off x="2340354" y="5424680"/>
            <a:ext cx="9343284" cy="400110"/>
          </a:xfrm>
          <a:prstGeom prst="rect">
            <a:avLst/>
          </a:prstGeom>
          <a:noFill/>
        </p:spPr>
        <p:txBody>
          <a:bodyPr wrap="square">
            <a:spAutoFit/>
          </a:bodyPr>
          <a:lstStyle/>
          <a:p>
            <a:r>
              <a:rPr lang="zh-CN" altLang="zh-CN" sz="2000" b="1" dirty="0">
                <a:effectLst/>
                <a:latin typeface="Times New Roman" panose="02020603050405020304" pitchFamily="18" charset="0"/>
                <a:ea typeface="宋体" panose="02010600030101010101" pitchFamily="2" charset="-122"/>
                <a:cs typeface="Times New Roman" panose="02020603050405020304" pitchFamily="18" charset="0"/>
              </a:rPr>
              <a:t>输入数据非法时，应能做出</a:t>
            </a:r>
            <a:r>
              <a:rPr lang="zh-CN" altLang="zh-CN" sz="2000" b="1" dirty="0">
                <a:latin typeface="Times New Roman" panose="02020603050405020304" pitchFamily="18" charset="0"/>
                <a:cs typeface="Times New Roman" panose="02020603050405020304" pitchFamily="18" charset="0"/>
              </a:rPr>
              <a:t>适当</a:t>
            </a:r>
            <a:r>
              <a:rPr lang="zh-CN" altLang="zh-CN" sz="2000" b="1" dirty="0">
                <a:effectLst/>
                <a:latin typeface="Times New Roman" panose="02020603050405020304" pitchFamily="18" charset="0"/>
                <a:ea typeface="宋体" panose="02010600030101010101" pitchFamily="2" charset="-122"/>
                <a:cs typeface="Times New Roman" panose="02020603050405020304" pitchFamily="18" charset="0"/>
              </a:rPr>
              <a:t>反应或处理，而不会产生莫明其妙的输出结果。</a:t>
            </a:r>
            <a:endParaRPr lang="zh-CN" altLang="en-US" sz="2000" b="1" dirty="0"/>
          </a:p>
        </p:txBody>
      </p:sp>
      <p:sp>
        <p:nvSpPr>
          <p:cNvPr id="21" name="文本框 20">
            <a:extLst>
              <a:ext uri="{FF2B5EF4-FFF2-40B4-BE49-F238E27FC236}">
                <a16:creationId xmlns:a16="http://schemas.microsoft.com/office/drawing/2014/main" id="{0FE15821-EDB2-21B2-E3B9-EB1D424895C2}"/>
              </a:ext>
            </a:extLst>
          </p:cNvPr>
          <p:cNvSpPr txBox="1"/>
          <p:nvPr/>
        </p:nvSpPr>
        <p:spPr>
          <a:xfrm>
            <a:off x="4653728" y="5949234"/>
            <a:ext cx="6095210" cy="400110"/>
          </a:xfrm>
          <a:prstGeom prst="rect">
            <a:avLst/>
          </a:prstGeom>
          <a:noFill/>
        </p:spPr>
        <p:txBody>
          <a:bodyPr wrap="square">
            <a:spAutoFit/>
          </a:bodyPr>
          <a:lstStyle/>
          <a:p>
            <a:r>
              <a:rPr lang="zh-CN" altLang="zh-CN" sz="2000" b="1" dirty="0">
                <a:effectLst/>
                <a:latin typeface="Times New Roman" panose="02020603050405020304" pitchFamily="18" charset="0"/>
                <a:ea typeface="宋体" panose="02010600030101010101" pitchFamily="2" charset="-122"/>
                <a:cs typeface="Times New Roman" panose="02020603050405020304" pitchFamily="18" charset="0"/>
              </a:rPr>
              <a:t>执行时间短</a:t>
            </a:r>
            <a:r>
              <a:rPr lang="zh-CN" altLang="en-US" sz="2000" b="1" dirty="0">
                <a:effectLst/>
                <a:latin typeface="Times New Roman" panose="02020603050405020304" pitchFamily="18" charset="0"/>
                <a:ea typeface="宋体" panose="02010600030101010101" pitchFamily="2" charset="-122"/>
                <a:cs typeface="Times New Roman" panose="02020603050405020304" pitchFamily="18" charset="0"/>
              </a:rPr>
              <a:t>，所需存储空间少。</a:t>
            </a:r>
            <a:endParaRPr lang="zh-CN" altLang="en-US" sz="2000" b="1" dirty="0"/>
          </a:p>
        </p:txBody>
      </p:sp>
      <p:sp>
        <p:nvSpPr>
          <p:cNvPr id="2" name="灯片编号占位符 1">
            <a:extLst>
              <a:ext uri="{FF2B5EF4-FFF2-40B4-BE49-F238E27FC236}">
                <a16:creationId xmlns:a16="http://schemas.microsoft.com/office/drawing/2014/main" id="{683EFDF0-44CA-FB30-0B8F-A7F8F9792EBA}"/>
              </a:ext>
            </a:extLst>
          </p:cNvPr>
          <p:cNvSpPr>
            <a:spLocks noGrp="1"/>
          </p:cNvSpPr>
          <p:nvPr>
            <p:ph type="sldNum" sz="quarter" idx="12"/>
          </p:nvPr>
        </p:nvSpPr>
        <p:spPr/>
        <p:txBody>
          <a:bodyPr/>
          <a:lstStyle/>
          <a:p>
            <a:fld id="{D7C0FE0B-717B-41AE-9FA2-CA4BF851D1C3}" type="slidenum">
              <a:rPr lang="zh-CN" altLang="en-US" smtClean="0"/>
              <a:t>49</a:t>
            </a:fld>
            <a:endParaRPr lang="zh-CN" altLang="en-US"/>
          </a:p>
        </p:txBody>
      </p:sp>
    </p:spTree>
    <p:extLst>
      <p:ext uri="{BB962C8B-B14F-4D97-AF65-F5344CB8AC3E}">
        <p14:creationId xmlns:p14="http://schemas.microsoft.com/office/powerpoint/2010/main" val="3898998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vertical)">
                                      <p:cBhvr>
                                        <p:cTn id="7" dur="500"/>
                                        <p:tgtEl>
                                          <p:spTgt spid="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left)">
                                      <p:cBhvr>
                                        <p:cTn id="16" dur="500"/>
                                        <p:tgtEl>
                                          <p:spTgt spid="10"/>
                                        </p:tgtEl>
                                      </p:cBhvr>
                                    </p:animEffect>
                                  </p:childTnLst>
                                </p:cTn>
                              </p:par>
                            </p:childTnLst>
                          </p:cTn>
                        </p:par>
                        <p:par>
                          <p:cTn id="17" fill="hold">
                            <p:stCondLst>
                              <p:cond delay="500"/>
                            </p:stCondLst>
                            <p:childTnLst>
                              <p:par>
                                <p:cTn id="18" presetID="3" presetClass="entr" presetSubtype="5" fill="hold" grpId="0" nodeType="after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blinds(vertical)">
                                      <p:cBhvr>
                                        <p:cTn id="20" dur="500"/>
                                        <p:tgtEl>
                                          <p:spTgt spid="11"/>
                                        </p:tgtEl>
                                      </p:cBhvr>
                                    </p:animEffect>
                                  </p:childTnLst>
                                </p:cTn>
                              </p:par>
                            </p:childTnLst>
                          </p:cTn>
                        </p:par>
                        <p:par>
                          <p:cTn id="21" fill="hold">
                            <p:stCondLst>
                              <p:cond delay="1000"/>
                            </p:stCondLst>
                            <p:childTnLst>
                              <p:par>
                                <p:cTn id="22" presetID="3" presetClass="entr" presetSubtype="5"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blinds(vertical)">
                                      <p:cBhvr>
                                        <p:cTn id="24" dur="500"/>
                                        <p:tgtEl>
                                          <p:spTgt spid="12"/>
                                        </p:tgtEl>
                                      </p:cBhvr>
                                    </p:animEffect>
                                  </p:childTnLst>
                                </p:cTn>
                              </p:par>
                            </p:childTnLst>
                          </p:cTn>
                        </p:par>
                        <p:par>
                          <p:cTn id="25" fill="hold">
                            <p:stCondLst>
                              <p:cond delay="1500"/>
                            </p:stCondLst>
                            <p:childTnLst>
                              <p:par>
                                <p:cTn id="26" presetID="3" presetClass="entr" presetSubtype="5"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blinds(vertical)">
                                      <p:cBhvr>
                                        <p:cTn id="28" dur="500"/>
                                        <p:tgtEl>
                                          <p:spTgt spid="13"/>
                                        </p:tgtEl>
                                      </p:cBhvr>
                                    </p:animEffect>
                                  </p:childTnLst>
                                </p:cTn>
                              </p:par>
                            </p:childTnLst>
                          </p:cTn>
                        </p:par>
                        <p:par>
                          <p:cTn id="29" fill="hold">
                            <p:stCondLst>
                              <p:cond delay="2000"/>
                            </p:stCondLst>
                            <p:childTnLst>
                              <p:par>
                                <p:cTn id="30" presetID="3" presetClass="entr" presetSubtype="5" fill="hold" grpId="0" nodeType="after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blinds(vertical)">
                                      <p:cBhvr>
                                        <p:cTn id="32" dur="50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wipe(left)">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5" fill="hold" grpId="0"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blinds(vertical)">
                                      <p:cBhvr>
                                        <p:cTn id="42" dur="500"/>
                                        <p:tgtEl>
                                          <p:spTgt spid="5"/>
                                        </p:tgtEl>
                                      </p:cBhvr>
                                    </p:animEffect>
                                  </p:childTnLst>
                                </p:cTn>
                              </p:par>
                            </p:childTnLst>
                          </p:cTn>
                        </p:par>
                        <p:par>
                          <p:cTn id="43" fill="hold">
                            <p:stCondLst>
                              <p:cond delay="500"/>
                            </p:stCondLst>
                            <p:childTnLst>
                              <p:par>
                                <p:cTn id="44" presetID="22" presetClass="entr" presetSubtype="4" fill="hold" grpId="0" nodeType="after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wipe(down)">
                                      <p:cBhvr>
                                        <p:cTn id="46" dur="500"/>
                                        <p:tgtEl>
                                          <p:spTgt spid="17"/>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5" fill="hold" grpId="0" nodeType="clickEffect">
                                  <p:stCondLst>
                                    <p:cond delay="0"/>
                                  </p:stCondLst>
                                  <p:childTnLst>
                                    <p:set>
                                      <p:cBhvr>
                                        <p:cTn id="50" dur="1" fill="hold">
                                          <p:stCondLst>
                                            <p:cond delay="0"/>
                                          </p:stCondLst>
                                        </p:cTn>
                                        <p:tgtEl>
                                          <p:spTgt spid="6"/>
                                        </p:tgtEl>
                                        <p:attrNameLst>
                                          <p:attrName>style.visibility</p:attrName>
                                        </p:attrNameLst>
                                      </p:cBhvr>
                                      <p:to>
                                        <p:strVal val="visible"/>
                                      </p:to>
                                    </p:set>
                                    <p:animEffect transition="in" filter="blinds(vertical)">
                                      <p:cBhvr>
                                        <p:cTn id="51" dur="500"/>
                                        <p:tgtEl>
                                          <p:spTgt spid="6"/>
                                        </p:tgtEl>
                                      </p:cBhvr>
                                    </p:animEffect>
                                  </p:childTnLst>
                                </p:cTn>
                              </p:par>
                            </p:childTnLst>
                          </p:cTn>
                        </p:par>
                        <p:par>
                          <p:cTn id="52" fill="hold">
                            <p:stCondLst>
                              <p:cond delay="500"/>
                            </p:stCondLst>
                            <p:childTnLst>
                              <p:par>
                                <p:cTn id="53" presetID="22" presetClass="entr" presetSubtype="4" fill="hold" grpId="0" nodeType="after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wipe(down)">
                                      <p:cBhvr>
                                        <p:cTn id="55" dur="500"/>
                                        <p:tgtEl>
                                          <p:spTgt spid="19"/>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5" fill="hold" grpId="0" nodeType="clickEffect">
                                  <p:stCondLst>
                                    <p:cond delay="0"/>
                                  </p:stCondLst>
                                  <p:childTnLst>
                                    <p:set>
                                      <p:cBhvr>
                                        <p:cTn id="59" dur="1" fill="hold">
                                          <p:stCondLst>
                                            <p:cond delay="0"/>
                                          </p:stCondLst>
                                        </p:cTn>
                                        <p:tgtEl>
                                          <p:spTgt spid="7"/>
                                        </p:tgtEl>
                                        <p:attrNameLst>
                                          <p:attrName>style.visibility</p:attrName>
                                        </p:attrNameLst>
                                      </p:cBhvr>
                                      <p:to>
                                        <p:strVal val="visible"/>
                                      </p:to>
                                    </p:set>
                                    <p:animEffect transition="in" filter="blinds(vertical)">
                                      <p:cBhvr>
                                        <p:cTn id="60" dur="500"/>
                                        <p:tgtEl>
                                          <p:spTgt spid="7"/>
                                        </p:tgtEl>
                                      </p:cBhvr>
                                    </p:animEffect>
                                  </p:childTnLst>
                                </p:cTn>
                              </p:par>
                            </p:childTnLst>
                          </p:cTn>
                        </p:par>
                        <p:par>
                          <p:cTn id="61" fill="hold">
                            <p:stCondLst>
                              <p:cond delay="500"/>
                            </p:stCondLst>
                            <p:childTnLst>
                              <p:par>
                                <p:cTn id="62" presetID="22" presetClass="entr" presetSubtype="4" fill="hold" grpId="0" nodeType="afterEffect">
                                  <p:stCondLst>
                                    <p:cond delay="0"/>
                                  </p:stCondLst>
                                  <p:childTnLst>
                                    <p:set>
                                      <p:cBhvr>
                                        <p:cTn id="63" dur="1" fill="hold">
                                          <p:stCondLst>
                                            <p:cond delay="0"/>
                                          </p:stCondLst>
                                        </p:cTn>
                                        <p:tgtEl>
                                          <p:spTgt spid="21"/>
                                        </p:tgtEl>
                                        <p:attrNameLst>
                                          <p:attrName>style.visibility</p:attrName>
                                        </p:attrNameLst>
                                      </p:cBhvr>
                                      <p:to>
                                        <p:strVal val="visible"/>
                                      </p:to>
                                    </p:set>
                                    <p:animEffect transition="in" filter="wipe(down)">
                                      <p:cBhvr>
                                        <p:cTn id="6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9" grpId="0"/>
      <p:bldP spid="10" grpId="0"/>
      <p:bldP spid="11" grpId="0"/>
      <p:bldP spid="12" grpId="0"/>
      <p:bldP spid="13" grpId="0"/>
      <p:bldP spid="14" grpId="0"/>
      <p:bldP spid="15" grpId="0"/>
      <p:bldP spid="17" grpId="0"/>
      <p:bldP spid="19" grpId="0"/>
      <p:bldP spid="21"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9CE5DC00-78C0-256B-FF5E-720F5BCF0EFD}"/>
              </a:ext>
            </a:extLst>
          </p:cNvPr>
          <p:cNvSpPr txBox="1"/>
          <p:nvPr/>
        </p:nvSpPr>
        <p:spPr>
          <a:xfrm>
            <a:off x="1095621" y="96302"/>
            <a:ext cx="9701879" cy="1744132"/>
          </a:xfrm>
          <a:prstGeom prst="rect">
            <a:avLst/>
          </a:prstGeom>
          <a:noFill/>
        </p:spPr>
        <p:txBody>
          <a:bodyPr wrap="square">
            <a:spAutoFit/>
          </a:bodyPr>
          <a:lstStyle/>
          <a:p>
            <a:pPr indent="267970">
              <a:lnSpc>
                <a:spcPct val="150000"/>
              </a:lnSpc>
              <a:buNone/>
            </a:pPr>
            <a:r>
              <a:rPr lang="en-US" altLang="zh-CN" sz="2800" b="1" kern="100" dirty="0">
                <a:solidFill>
                  <a:srgbClr val="C00000"/>
                </a:solidFill>
                <a:effectLst>
                  <a:outerShdw blurRad="38100" dist="38100" dir="2700000" algn="tl">
                    <a:srgbClr val="000000">
                      <a:alpha val="43137"/>
                    </a:srgbClr>
                  </a:outerShdw>
                </a:effectLst>
                <a:latin typeface="黑体" panose="02010609060101010101" pitchFamily="49" charset="-122"/>
                <a:ea typeface="微软雅黑" panose="020B0503020204020204" pitchFamily="34" charset="-122"/>
                <a:cs typeface="Times New Roman" panose="02020603050405020304" pitchFamily="18" charset="0"/>
              </a:rPr>
              <a:t>1.4.3 </a:t>
            </a:r>
            <a:r>
              <a:rPr lang="zh-CN" altLang="zh-CN" sz="2800" b="1" kern="100" dirty="0">
                <a:solidFill>
                  <a:srgbClr val="C00000"/>
                </a:solidFill>
                <a:effectLst>
                  <a:outerShdw blurRad="38100" dist="38100" dir="2700000" algn="tl">
                    <a:srgbClr val="000000">
                      <a:alpha val="43137"/>
                    </a:srgbClr>
                  </a:outerShdw>
                </a:effectLst>
                <a:latin typeface="微软雅黑" panose="020B0503020204020204" pitchFamily="34" charset="-122"/>
                <a:ea typeface="黑体" panose="02010609060101010101" pitchFamily="49" charset="-122"/>
                <a:cs typeface="Times New Roman" panose="02020603050405020304" pitchFamily="18" charset="0"/>
              </a:rPr>
              <a:t>算法效率的度量</a:t>
            </a:r>
            <a:endParaRPr lang="zh-CN" altLang="zh-CN" sz="2800" b="1" kern="1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a:p>
            <a:pPr indent="266700" algn="just">
              <a:lnSpc>
                <a:spcPct val="120000"/>
              </a:lnSpc>
              <a:spcBef>
                <a:spcPts val="1200"/>
              </a:spcBef>
              <a:buNone/>
            </a:pP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算法执行时间需通过依据该算法编制的程序</a:t>
            </a:r>
            <a:r>
              <a:rPr lang="zh-CN" altLang="en-US" sz="2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在计算机上运行时所消耗的时间来度量。而度量一个程序的执行时间通常有两种方法。</a:t>
            </a:r>
            <a:endParaRPr lang="zh-CN" alt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文本框 3">
            <a:extLst>
              <a:ext uri="{FF2B5EF4-FFF2-40B4-BE49-F238E27FC236}">
                <a16:creationId xmlns:a16="http://schemas.microsoft.com/office/drawing/2014/main" id="{07E8F461-C359-C700-F20D-0D4C886AE80B}"/>
              </a:ext>
            </a:extLst>
          </p:cNvPr>
          <p:cNvSpPr txBox="1"/>
          <p:nvPr/>
        </p:nvSpPr>
        <p:spPr>
          <a:xfrm>
            <a:off x="1095621" y="2144852"/>
            <a:ext cx="1731564" cy="461665"/>
          </a:xfrm>
          <a:prstGeom prst="rect">
            <a:avLst/>
          </a:prstGeom>
          <a:noFill/>
          <a:ln w="9525">
            <a:noFill/>
          </a:ln>
        </p:spPr>
        <p:txBody>
          <a:bodyPr wrap="none" anchor="t" anchorCtr="0">
            <a:spAutoFit/>
          </a:bodyPr>
          <a:lstStyle/>
          <a:p>
            <a:r>
              <a:rPr lang="zh-CN" altLang="en-US" sz="2400" b="1" dirty="0">
                <a:solidFill>
                  <a:srgbClr val="9900CC"/>
                </a:solidFill>
                <a:effectLst>
                  <a:outerShdw blurRad="38100" dist="38100" dir="2700000">
                    <a:srgbClr val="000000"/>
                  </a:outerShdw>
                </a:effectLst>
                <a:latin typeface="黑体" panose="02010609060101010101" pitchFamily="49" charset="-122"/>
                <a:ea typeface="黑体" panose="02010609060101010101" pitchFamily="49" charset="-122"/>
              </a:rPr>
              <a:t>事后统计法</a:t>
            </a:r>
          </a:p>
        </p:txBody>
      </p:sp>
      <p:sp>
        <p:nvSpPr>
          <p:cNvPr id="5" name="文本框 4">
            <a:extLst>
              <a:ext uri="{FF2B5EF4-FFF2-40B4-BE49-F238E27FC236}">
                <a16:creationId xmlns:a16="http://schemas.microsoft.com/office/drawing/2014/main" id="{9FA5B766-F6F2-F61C-FED2-BB84AFF3280A}"/>
              </a:ext>
            </a:extLst>
          </p:cNvPr>
          <p:cNvSpPr txBox="1"/>
          <p:nvPr/>
        </p:nvSpPr>
        <p:spPr>
          <a:xfrm>
            <a:off x="1095621" y="4161206"/>
            <a:ext cx="2350323" cy="461665"/>
          </a:xfrm>
          <a:prstGeom prst="rect">
            <a:avLst/>
          </a:prstGeom>
          <a:noFill/>
          <a:ln w="9525">
            <a:noFill/>
          </a:ln>
        </p:spPr>
        <p:txBody>
          <a:bodyPr wrap="none" anchor="t" anchorCtr="0">
            <a:spAutoFit/>
          </a:bodyPr>
          <a:lstStyle/>
          <a:p>
            <a:r>
              <a:rPr lang="zh-CN" altLang="en-US" sz="2400" b="1" dirty="0">
                <a:solidFill>
                  <a:srgbClr val="9900CC"/>
                </a:solidFill>
                <a:effectLst>
                  <a:outerShdw blurRad="38100" dist="38100" dir="2700000">
                    <a:srgbClr val="000000"/>
                  </a:outerShdw>
                </a:effectLst>
                <a:latin typeface="黑体" panose="02010609060101010101" pitchFamily="49" charset="-122"/>
                <a:ea typeface="黑体" panose="02010609060101010101" pitchFamily="49" charset="-122"/>
              </a:rPr>
              <a:t>事前分析估算法</a:t>
            </a:r>
          </a:p>
        </p:txBody>
      </p:sp>
      <p:sp>
        <p:nvSpPr>
          <p:cNvPr id="6" name="文本框 5">
            <a:extLst>
              <a:ext uri="{FF2B5EF4-FFF2-40B4-BE49-F238E27FC236}">
                <a16:creationId xmlns:a16="http://schemas.microsoft.com/office/drawing/2014/main" id="{CE909C80-4F31-3DD3-A010-0E2B3445C79C}"/>
              </a:ext>
            </a:extLst>
          </p:cNvPr>
          <p:cNvSpPr txBox="1"/>
          <p:nvPr/>
        </p:nvSpPr>
        <p:spPr>
          <a:xfrm>
            <a:off x="2003671" y="2783027"/>
            <a:ext cx="4665060" cy="1018099"/>
          </a:xfrm>
          <a:prstGeom prst="rect">
            <a:avLst/>
          </a:prstGeom>
          <a:noFill/>
          <a:ln w="9525">
            <a:noFill/>
          </a:ln>
        </p:spPr>
        <p:txBody>
          <a:bodyPr wrap="none" anchor="t" anchorCtr="0">
            <a:spAutoFit/>
          </a:bodyPr>
          <a:lstStyle/>
          <a:p>
            <a:pPr>
              <a:lnSpc>
                <a:spcPct val="120000"/>
              </a:lnSpc>
            </a:pPr>
            <a:r>
              <a:rPr lang="zh-CN" altLang="en-US" sz="2400" b="1" dirty="0">
                <a:solidFill>
                  <a:srgbClr val="000000"/>
                </a:solidFill>
                <a:latin typeface="楷体_GB2312" pitchFamily="49" charset="-122"/>
                <a:ea typeface="楷体_GB2312" pitchFamily="49" charset="-122"/>
              </a:rPr>
              <a:t>缺点：</a:t>
            </a:r>
            <a:r>
              <a:rPr lang="en-US" altLang="zh-CN" sz="2400" dirty="0">
                <a:solidFill>
                  <a:srgbClr val="000000"/>
                </a:solidFill>
                <a:latin typeface="楷体_GB2312" pitchFamily="49" charset="-122"/>
                <a:ea typeface="楷体_GB2312" pitchFamily="49" charset="-122"/>
              </a:rPr>
              <a:t>1.  </a:t>
            </a:r>
            <a:r>
              <a:rPr lang="zh-CN" altLang="en-US" sz="2400" dirty="0">
                <a:solidFill>
                  <a:srgbClr val="000000"/>
                </a:solidFill>
                <a:latin typeface="楷体_GB2312" pitchFamily="49" charset="-122"/>
                <a:ea typeface="楷体_GB2312" pitchFamily="49" charset="-122"/>
              </a:rPr>
              <a:t>必须执行程序</a:t>
            </a:r>
          </a:p>
          <a:p>
            <a:pPr>
              <a:lnSpc>
                <a:spcPct val="120000"/>
              </a:lnSpc>
              <a:spcBef>
                <a:spcPts val="600"/>
              </a:spcBef>
            </a:pPr>
            <a:r>
              <a:rPr lang="zh-CN" altLang="en-US" sz="2400" dirty="0">
                <a:solidFill>
                  <a:srgbClr val="000000"/>
                </a:solidFill>
                <a:latin typeface="楷体_GB2312" pitchFamily="49" charset="-122"/>
                <a:ea typeface="楷体_GB2312" pitchFamily="49" charset="-122"/>
              </a:rPr>
              <a:t>          </a:t>
            </a:r>
            <a:r>
              <a:rPr lang="en-US" altLang="zh-CN" sz="2400" dirty="0">
                <a:solidFill>
                  <a:srgbClr val="000000"/>
                </a:solidFill>
                <a:latin typeface="楷体_GB2312" pitchFamily="49" charset="-122"/>
                <a:ea typeface="楷体_GB2312" pitchFamily="49" charset="-122"/>
              </a:rPr>
              <a:t>2</a:t>
            </a:r>
            <a:r>
              <a:rPr lang="zh-CN" altLang="en-US" sz="2400" dirty="0">
                <a:solidFill>
                  <a:srgbClr val="000000"/>
                </a:solidFill>
                <a:latin typeface="楷体_GB2312" pitchFamily="49" charset="-122"/>
                <a:ea typeface="楷体_GB2312" pitchFamily="49" charset="-122"/>
              </a:rPr>
              <a:t>．其它因素掩盖算法本质</a:t>
            </a:r>
          </a:p>
        </p:txBody>
      </p:sp>
      <p:sp>
        <p:nvSpPr>
          <p:cNvPr id="8" name="文本框 7">
            <a:extLst>
              <a:ext uri="{FF2B5EF4-FFF2-40B4-BE49-F238E27FC236}">
                <a16:creationId xmlns:a16="http://schemas.microsoft.com/office/drawing/2014/main" id="{6D0E29D0-EFC7-5DFD-C148-FD3EEC05EA67}"/>
              </a:ext>
            </a:extLst>
          </p:cNvPr>
          <p:cNvSpPr txBox="1"/>
          <p:nvPr/>
        </p:nvSpPr>
        <p:spPr>
          <a:xfrm>
            <a:off x="1645209" y="4713148"/>
            <a:ext cx="8716412" cy="1387111"/>
          </a:xfrm>
          <a:prstGeom prst="rect">
            <a:avLst/>
          </a:prstGeom>
          <a:noFill/>
        </p:spPr>
        <p:txBody>
          <a:bodyPr wrap="square">
            <a:spAutoFit/>
          </a:bodyPr>
          <a:lstStyle/>
          <a:p>
            <a:pPr algn="just">
              <a:lnSpc>
                <a:spcPct val="120000"/>
              </a:lnSpc>
              <a:buNone/>
            </a:pP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撇开与计算机硬件、软件有关的因素，可以认为一个特定算法</a:t>
            </a: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运行工作量</a:t>
            </a: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的大小，</a:t>
            </a:r>
            <a:r>
              <a:rPr lang="zh-CN" altLang="zh-CN" sz="24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只依赖于问题的规模</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（通常用整数量</a:t>
            </a:r>
            <a:r>
              <a:rPr lang="en-US" altLang="zh-CN" sz="2400" b="1" i="1" kern="100" dirty="0">
                <a:effectLst/>
                <a:latin typeface="Times New Roman" panose="02020603050405020304" pitchFamily="18" charset="0"/>
                <a:ea typeface="宋体" panose="02010600030101010101" pitchFamily="2" charset="-122"/>
                <a:cs typeface="Times New Roman" panose="02020603050405020304" pitchFamily="18" charset="0"/>
              </a:rPr>
              <a:t>n</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表示），或者说，它是问题规模的函数。</a:t>
            </a:r>
            <a:endParaRPr lang="zh-CN" alt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0" name="文本框 9">
            <a:extLst>
              <a:ext uri="{FF2B5EF4-FFF2-40B4-BE49-F238E27FC236}">
                <a16:creationId xmlns:a16="http://schemas.microsoft.com/office/drawing/2014/main" id="{49B1B6FF-2D6F-78C9-9F8A-DEECA7EFEC88}"/>
              </a:ext>
            </a:extLst>
          </p:cNvPr>
          <p:cNvSpPr txBox="1"/>
          <p:nvPr/>
        </p:nvSpPr>
        <p:spPr>
          <a:xfrm>
            <a:off x="2929158" y="2171079"/>
            <a:ext cx="7636189" cy="461665"/>
          </a:xfrm>
          <a:prstGeom prst="rect">
            <a:avLst/>
          </a:prstGeom>
          <a:noFill/>
        </p:spPr>
        <p:txBody>
          <a:bodyPr wrap="square">
            <a:spAutoFit/>
          </a:bodyPr>
          <a:lstStyle/>
          <a:p>
            <a:r>
              <a:rPr lang="zh-CN" altLang="zh-CN" sz="2400" b="1" dirty="0">
                <a:effectLst/>
                <a:latin typeface="Times New Roman" panose="02020603050405020304" pitchFamily="18" charset="0"/>
                <a:ea typeface="宋体" panose="02010600030101010101" pitchFamily="2" charset="-122"/>
                <a:cs typeface="Times New Roman" panose="02020603050405020304" pitchFamily="18" charset="0"/>
              </a:rPr>
              <a:t>不同算法的程序可通过</a:t>
            </a:r>
            <a:r>
              <a:rPr lang="zh-CN" altLang="en-US" sz="2400" b="1" dirty="0">
                <a:effectLst/>
                <a:latin typeface="Times New Roman" panose="02020603050405020304" pitchFamily="18" charset="0"/>
                <a:ea typeface="宋体" panose="02010600030101010101" pitchFamily="2" charset="-122"/>
                <a:cs typeface="Times New Roman" panose="02020603050405020304" pitchFamily="18" charset="0"/>
              </a:rPr>
              <a:t>运行时间</a:t>
            </a:r>
            <a:r>
              <a:rPr lang="zh-CN" altLang="zh-CN" sz="2400" b="1" dirty="0">
                <a:effectLst/>
                <a:latin typeface="Times New Roman" panose="02020603050405020304" pitchFamily="18" charset="0"/>
                <a:ea typeface="宋体" panose="02010600030101010101" pitchFamily="2" charset="-122"/>
                <a:cs typeface="Times New Roman" panose="02020603050405020304" pitchFamily="18" charset="0"/>
              </a:rPr>
              <a:t>统计数据以分辨优劣。</a:t>
            </a:r>
            <a:endParaRPr lang="zh-CN" altLang="en-US" sz="2400" b="1" dirty="0"/>
          </a:p>
        </p:txBody>
      </p:sp>
      <p:sp>
        <p:nvSpPr>
          <p:cNvPr id="2" name="灯片编号占位符 1">
            <a:extLst>
              <a:ext uri="{FF2B5EF4-FFF2-40B4-BE49-F238E27FC236}">
                <a16:creationId xmlns:a16="http://schemas.microsoft.com/office/drawing/2014/main" id="{E3A5C0D8-35DB-2DBD-F2AD-10C9DD8794CD}"/>
              </a:ext>
            </a:extLst>
          </p:cNvPr>
          <p:cNvSpPr>
            <a:spLocks noGrp="1"/>
          </p:cNvSpPr>
          <p:nvPr>
            <p:ph type="sldNum" sz="quarter" idx="12"/>
          </p:nvPr>
        </p:nvSpPr>
        <p:spPr/>
        <p:txBody>
          <a:bodyPr/>
          <a:lstStyle/>
          <a:p>
            <a:fld id="{D7C0FE0B-717B-41AE-9FA2-CA4BF851D1C3}" type="slidenum">
              <a:rPr lang="zh-CN" altLang="en-US" smtClean="0"/>
              <a:t>50</a:t>
            </a:fld>
            <a:endParaRPr lang="zh-CN" altLang="en-US"/>
          </a:p>
        </p:txBody>
      </p:sp>
    </p:spTree>
    <p:extLst>
      <p:ext uri="{BB962C8B-B14F-4D97-AF65-F5344CB8AC3E}">
        <p14:creationId xmlns:p14="http://schemas.microsoft.com/office/powerpoint/2010/main" val="382387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iterate type="wd">
                                    <p:tmPct val="100000"/>
                                  </p:iterate>
                                  <p:childTnLst>
                                    <p:set>
                                      <p:cBhvr>
                                        <p:cTn id="6" dur="1" fill="hold">
                                          <p:stCondLst>
                                            <p:cond delay="0"/>
                                          </p:stCondLst>
                                        </p:cTn>
                                        <p:tgtEl>
                                          <p:spTgt spid="4"/>
                                        </p:tgtEl>
                                        <p:attrNameLst>
                                          <p:attrName>style.visibility</p:attrName>
                                        </p:attrNameLst>
                                      </p:cBhvr>
                                      <p:to>
                                        <p:strVal val="visible"/>
                                      </p:to>
                                    </p:set>
                                    <p:animEffect transition="in" filter="blinds(vertical)">
                                      <p:cBhvr>
                                        <p:cTn id="7" dur="300"/>
                                        <p:tgtEl>
                                          <p:spTgt spid="4"/>
                                        </p:tgtEl>
                                      </p:cBhvr>
                                    </p:animEffect>
                                  </p:childTnLst>
                                </p:cTn>
                              </p:par>
                            </p:childTnLst>
                          </p:cTn>
                        </p:par>
                        <p:par>
                          <p:cTn id="8" fill="hold">
                            <p:stCondLst>
                              <p:cond delay="600"/>
                            </p:stCondLst>
                            <p:childTnLst>
                              <p:par>
                                <p:cTn id="9" presetID="22" presetClass="entr" presetSubtype="4"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down)">
                                      <p:cBhvr>
                                        <p:cTn id="11" dur="5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up)">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5"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blinds(vertical)">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up)">
                                      <p:cBhvr>
                                        <p:cTn id="2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8" grpId="0"/>
      <p:bldP spid="10"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040DDCBF-D1D5-3A9B-7DE9-4130860AE7CD}"/>
              </a:ext>
            </a:extLst>
          </p:cNvPr>
          <p:cNvSpPr txBox="1"/>
          <p:nvPr/>
        </p:nvSpPr>
        <p:spPr>
          <a:xfrm>
            <a:off x="427588" y="312433"/>
            <a:ext cx="9526580" cy="3438442"/>
          </a:xfrm>
          <a:prstGeom prst="rect">
            <a:avLst/>
          </a:prstGeom>
          <a:noFill/>
        </p:spPr>
        <p:txBody>
          <a:bodyPr wrap="square">
            <a:spAutoFit/>
          </a:bodyPr>
          <a:lstStyle/>
          <a:p>
            <a:pPr indent="266700" algn="just">
              <a:lnSpc>
                <a:spcPct val="125000"/>
              </a:lnSpc>
              <a:buNone/>
            </a:pP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一般情况下，算法中基本操作重复执行的次数是问题规模</a:t>
            </a:r>
            <a:r>
              <a:rPr lang="en-US" altLang="zh-CN" sz="2400" b="1" i="1" kern="100" dirty="0">
                <a:effectLst/>
                <a:latin typeface="Times New Roman" panose="02020603050405020304" pitchFamily="18" charset="0"/>
                <a:ea typeface="宋体" panose="02010600030101010101" pitchFamily="2" charset="-122"/>
                <a:cs typeface="Times New Roman" panose="02020603050405020304" pitchFamily="18" charset="0"/>
              </a:rPr>
              <a:t>n</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的某个函数</a:t>
            </a:r>
            <a:r>
              <a:rPr lang="en-US" altLang="zh-CN" sz="2400" b="1" i="1" kern="100" dirty="0">
                <a:effectLst/>
                <a:latin typeface="Times New Roman" panose="02020603050405020304" pitchFamily="18" charset="0"/>
                <a:ea typeface="宋体" panose="02010600030101010101" pitchFamily="2" charset="-122"/>
                <a:cs typeface="Times New Roman" panose="02020603050405020304" pitchFamily="18" charset="0"/>
              </a:rPr>
              <a:t>f</a:t>
            </a: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i="1" kern="100" dirty="0">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，算法的时间量度用</a:t>
            </a:r>
            <a:r>
              <a:rPr lang="zh-CN" altLang="zh-CN" sz="2400" b="1" kern="100" dirty="0">
                <a:solidFill>
                  <a:srgbClr val="C00000"/>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大</a:t>
            </a:r>
            <a:r>
              <a:rPr lang="en-US" altLang="zh-CN" sz="2400" b="1" i="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O</a:t>
            </a:r>
            <a:r>
              <a:rPr lang="zh-CN" altLang="zh-CN" sz="2400" b="1" kern="100" dirty="0">
                <a:solidFill>
                  <a:srgbClr val="C00000"/>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表示法</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记作</a:t>
            </a:r>
            <a:endParaRPr lang="zh-CN" alt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r">
              <a:lnSpc>
                <a:spcPct val="125000"/>
              </a:lnSpc>
              <a:spcBef>
                <a:spcPts val="600"/>
              </a:spcBef>
              <a:spcAft>
                <a:spcPts val="600"/>
              </a:spcAft>
              <a:buNone/>
            </a:pPr>
            <a:r>
              <a:rPr lang="en-US" altLang="zh-CN" sz="2400" b="1" i="1" kern="100" dirty="0">
                <a:effectLst/>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i="1" kern="100" dirty="0">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 = </a:t>
            </a:r>
            <a:r>
              <a:rPr lang="en-US" altLang="zh-CN" sz="2400" b="1" i="1" kern="100" dirty="0">
                <a:effectLst/>
                <a:latin typeface="Times New Roman" panose="02020603050405020304" pitchFamily="18" charset="0"/>
                <a:ea typeface="宋体" panose="02010600030101010101" pitchFamily="2" charset="-122"/>
                <a:cs typeface="Times New Roman" panose="02020603050405020304" pitchFamily="18" charset="0"/>
              </a:rPr>
              <a:t>O</a:t>
            </a: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i="1" kern="100" dirty="0">
                <a:effectLst/>
                <a:latin typeface="Times New Roman" panose="02020603050405020304" pitchFamily="18" charset="0"/>
                <a:ea typeface="宋体" panose="02010600030101010101" pitchFamily="2" charset="-122"/>
                <a:cs typeface="Times New Roman" panose="02020603050405020304" pitchFamily="18" charset="0"/>
              </a:rPr>
              <a:t>f</a:t>
            </a: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i="1" kern="100" dirty="0">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                                            (1-5)</a:t>
            </a:r>
            <a:endParaRPr lang="zh-CN" alt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25000"/>
              </a:lnSpc>
              <a:buNone/>
            </a:pP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存在常数</a:t>
            </a:r>
            <a:r>
              <a:rPr lang="en-US" altLang="zh-CN" sz="2400" b="1" i="1" kern="100" dirty="0">
                <a:effectLst/>
                <a:latin typeface="Times New Roman" panose="02020603050405020304" pitchFamily="18" charset="0"/>
                <a:ea typeface="宋体" panose="02010600030101010101" pitchFamily="2" charset="-122"/>
                <a:cs typeface="Times New Roman" panose="02020603050405020304" pitchFamily="18" charset="0"/>
              </a:rPr>
              <a:t>c</a:t>
            </a: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&gt;0</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和整数</a:t>
            </a:r>
            <a:r>
              <a:rPr lang="en-US" altLang="zh-CN" sz="2400" b="1" i="1" kern="100" dirty="0" err="1">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b="1"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0</a:t>
            </a: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&gt;0</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，使得对所有</a:t>
            </a:r>
            <a:r>
              <a:rPr lang="en-US" altLang="zh-CN" sz="2400" b="1" i="1" kern="100" dirty="0">
                <a:effectLst/>
                <a:latin typeface="Times New Roman" panose="02020603050405020304" pitchFamily="18" charset="0"/>
                <a:ea typeface="宋体" panose="02010600030101010101" pitchFamily="2" charset="-122"/>
                <a:cs typeface="Times New Roman" panose="02020603050405020304" pitchFamily="18" charset="0"/>
              </a:rPr>
              <a:t>n</a:t>
            </a:r>
            <a:r>
              <a:rPr lang="zh-CN" altLang="zh-CN" sz="2400" b="1"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2400" b="1" i="1" kern="100" dirty="0" err="1">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b="1"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0</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，满足</a:t>
            </a:r>
            <a:r>
              <a:rPr lang="en-US" altLang="zh-CN" sz="2400" b="1" i="1" kern="100" dirty="0">
                <a:effectLst/>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i="1" kern="100" dirty="0">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400" b="1"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2400" b="1" i="1" kern="100" dirty="0" err="1">
                <a:effectLst/>
                <a:latin typeface="Times New Roman" panose="02020603050405020304" pitchFamily="18" charset="0"/>
                <a:ea typeface="宋体" panose="02010600030101010101" pitchFamily="2" charset="-122"/>
                <a:cs typeface="Times New Roman" panose="02020603050405020304" pitchFamily="18" charset="0"/>
              </a:rPr>
              <a:t>cf</a:t>
            </a: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i="1" kern="100" dirty="0">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。它表示</a:t>
            </a:r>
            <a:r>
              <a:rPr lang="en-US" altLang="zh-CN" sz="2400" b="1" i="1" kern="100" dirty="0">
                <a:effectLst/>
                <a:latin typeface="Times New Roman" panose="02020603050405020304" pitchFamily="18" charset="0"/>
                <a:ea typeface="宋体" panose="02010600030101010101" pitchFamily="2" charset="-122"/>
                <a:cs typeface="Times New Roman" panose="02020603050405020304" pitchFamily="18" charset="0"/>
              </a:rPr>
              <a:t>f</a:t>
            </a: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i="1" kern="100" dirty="0">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是</a:t>
            </a:r>
            <a:r>
              <a:rPr lang="en-US" altLang="zh-CN" sz="2400" b="1" i="1" kern="100" dirty="0">
                <a:effectLst/>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i="1" kern="100" dirty="0">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的</a:t>
            </a:r>
            <a:r>
              <a:rPr lang="zh-CN" altLang="zh-CN" sz="2400" b="1" kern="100" dirty="0">
                <a:solidFill>
                  <a:srgbClr val="C00000"/>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渐进上界</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，随问题规模</a:t>
            </a:r>
            <a:r>
              <a:rPr lang="en-US" altLang="zh-CN" sz="2400" b="1" i="1" kern="100" dirty="0">
                <a:effectLst/>
                <a:latin typeface="Times New Roman" panose="02020603050405020304" pitchFamily="18" charset="0"/>
                <a:ea typeface="宋体" panose="02010600030101010101" pitchFamily="2" charset="-122"/>
                <a:cs typeface="Times New Roman" panose="02020603050405020304" pitchFamily="18" charset="0"/>
              </a:rPr>
              <a:t>n</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的增大，算法执行时间的增长率和</a:t>
            </a:r>
            <a:r>
              <a:rPr lang="en-US" altLang="zh-CN" sz="2400" b="1" i="1" kern="100" dirty="0">
                <a:effectLst/>
                <a:latin typeface="Times New Roman" panose="02020603050405020304" pitchFamily="18" charset="0"/>
                <a:ea typeface="宋体" panose="02010600030101010101" pitchFamily="2" charset="-122"/>
                <a:cs typeface="Times New Roman" panose="02020603050405020304" pitchFamily="18" charset="0"/>
              </a:rPr>
              <a:t>f</a:t>
            </a: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i="1" kern="100" dirty="0">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的增长率相同，称为算法的</a:t>
            </a:r>
            <a:r>
              <a:rPr lang="zh-CN" altLang="zh-CN" sz="24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渐近时间复杂度</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asymptotic time complexity)</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，简称</a:t>
            </a:r>
            <a:r>
              <a:rPr lang="zh-CN" altLang="zh-CN" sz="24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时间复杂度</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Rectangle 2">
            <a:extLst>
              <a:ext uri="{FF2B5EF4-FFF2-40B4-BE49-F238E27FC236}">
                <a16:creationId xmlns:a16="http://schemas.microsoft.com/office/drawing/2014/main" id="{F72FB79E-65AB-93FF-33AF-C89BBFDD568E}"/>
              </a:ext>
            </a:extLst>
          </p:cNvPr>
          <p:cNvSpPr>
            <a:spLocks noChangeArrowheads="1"/>
          </p:cNvSpPr>
          <p:nvPr/>
        </p:nvSpPr>
        <p:spPr bwMode="auto">
          <a:xfrm>
            <a:off x="672771" y="3885016"/>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6145" name="图片 3">
            <a:extLst>
              <a:ext uri="{FF2B5EF4-FFF2-40B4-BE49-F238E27FC236}">
                <a16:creationId xmlns:a16="http://schemas.microsoft.com/office/drawing/2014/main" id="{4052E392-3B32-CC75-F02F-96B873D256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60052" y="3429000"/>
            <a:ext cx="3577056" cy="279037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B89068A1-B2B5-EB41-496C-4B563BFFC79C}"/>
              </a:ext>
            </a:extLst>
          </p:cNvPr>
          <p:cNvSpPr>
            <a:spLocks noChangeArrowheads="1"/>
          </p:cNvSpPr>
          <p:nvPr/>
        </p:nvSpPr>
        <p:spPr bwMode="auto">
          <a:xfrm>
            <a:off x="7457335" y="6219374"/>
            <a:ext cx="421824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effectLst/>
                <a:latin typeface="黑体" panose="02010609060101010101" pitchFamily="49" charset="-122"/>
                <a:ea typeface="黑体" panose="02010609060101010101" pitchFamily="49" charset="-122"/>
                <a:cs typeface="Times New Roman" panose="02020603050405020304" pitchFamily="18" charset="0"/>
              </a:rPr>
              <a:t>图</a:t>
            </a:r>
            <a:r>
              <a:rPr kumimoji="0" lang="en-US" altLang="zh-CN" sz="2000" b="0" i="0" u="none" strike="noStrike" cap="none" normalizeH="0" baseline="0" dirty="0">
                <a:ln>
                  <a:noFill/>
                </a:ln>
                <a:effectLst/>
                <a:latin typeface="黑体" panose="02010609060101010101" pitchFamily="49" charset="-122"/>
                <a:ea typeface="黑体" panose="02010609060101010101" pitchFamily="49" charset="-122"/>
                <a:cs typeface="Times New Roman" panose="02020603050405020304" pitchFamily="18" charset="0"/>
              </a:rPr>
              <a:t>1.8  </a:t>
            </a:r>
            <a:r>
              <a:rPr kumimoji="0" lang="zh-CN" altLang="en-US" sz="2000" b="0" i="0" u="none" strike="noStrike" cap="none" normalizeH="0" baseline="0" dirty="0">
                <a:ln>
                  <a:noFill/>
                </a:ln>
                <a:effectLst/>
                <a:latin typeface="宋体" panose="02010600030101010101" pitchFamily="2" charset="-122"/>
                <a:ea typeface="宋体" panose="02010600030101010101" pitchFamily="2" charset="-122"/>
                <a:cs typeface="Times New Roman" panose="02020603050405020304" pitchFamily="18" charset="0"/>
              </a:rPr>
              <a:t>大</a:t>
            </a:r>
            <a:r>
              <a:rPr kumimoji="0" lang="en-US" altLang="zh-CN" sz="2000" b="1" i="1" u="none" strike="noStrike" cap="none" normalizeH="0" baseline="0" dirty="0">
                <a:ln>
                  <a:noFill/>
                </a:ln>
                <a:effectLst/>
                <a:ea typeface="宋体" panose="02010600030101010101" pitchFamily="2" charset="-122"/>
                <a:cs typeface="Times New Roman" panose="02020603050405020304" pitchFamily="18" charset="0"/>
              </a:rPr>
              <a:t>O</a:t>
            </a:r>
            <a:r>
              <a:rPr kumimoji="0" lang="zh-CN" altLang="en-US" sz="2000" b="0" i="0" u="none" strike="noStrike" cap="none" normalizeH="0" baseline="0" dirty="0">
                <a:ln>
                  <a:noFill/>
                </a:ln>
                <a:effectLst/>
                <a:latin typeface="宋体" panose="02010600030101010101" pitchFamily="2" charset="-122"/>
                <a:ea typeface="宋体" panose="02010600030101010101" pitchFamily="2" charset="-122"/>
                <a:cs typeface="Times New Roman" panose="02020603050405020304" pitchFamily="18" charset="0"/>
              </a:rPr>
              <a:t>表示法的渐进曲线示例</a:t>
            </a:r>
            <a:endParaRPr kumimoji="0" lang="zh-CN" altLang="en-US" sz="2000" b="0" i="0" u="none" strike="noStrike" cap="none" normalizeH="0" baseline="0" dirty="0">
              <a:ln>
                <a:noFill/>
              </a:ln>
              <a:effectLst/>
              <a:latin typeface="Arial" panose="020B0604020202020204" pitchFamily="34" charset="0"/>
            </a:endParaRPr>
          </a:p>
        </p:txBody>
      </p:sp>
      <p:sp>
        <p:nvSpPr>
          <p:cNvPr id="7" name="文本框 6">
            <a:extLst>
              <a:ext uri="{FF2B5EF4-FFF2-40B4-BE49-F238E27FC236}">
                <a16:creationId xmlns:a16="http://schemas.microsoft.com/office/drawing/2014/main" id="{AFEE9086-4D02-9FF0-91AD-1304741C9766}"/>
              </a:ext>
            </a:extLst>
          </p:cNvPr>
          <p:cNvSpPr txBox="1"/>
          <p:nvPr/>
        </p:nvSpPr>
        <p:spPr>
          <a:xfrm>
            <a:off x="574854" y="3885016"/>
            <a:ext cx="6727710" cy="1830309"/>
          </a:xfrm>
          <a:prstGeom prst="rect">
            <a:avLst/>
          </a:prstGeom>
          <a:noFill/>
        </p:spPr>
        <p:txBody>
          <a:bodyPr wrap="square">
            <a:spAutoFit/>
          </a:bodyPr>
          <a:lstStyle/>
          <a:p>
            <a:pPr indent="266700" algn="just">
              <a:lnSpc>
                <a:spcPct val="120000"/>
              </a:lnSpc>
              <a:buNone/>
            </a:pPr>
            <a:r>
              <a:rPr lang="zh-CN" altLang="zh-CN" sz="2400" b="1" kern="100" dirty="0">
                <a:solidFill>
                  <a:srgbClr val="0070C0"/>
                </a:solidFill>
                <a:effectLst/>
                <a:latin typeface="+mj-ea"/>
                <a:ea typeface="+mj-ea"/>
                <a:cs typeface="Times New Roman" panose="02020603050405020304" pitchFamily="18" charset="0"/>
              </a:rPr>
              <a:t>例如</a:t>
            </a:r>
            <a:r>
              <a:rPr lang="zh-CN" altLang="zh-CN" sz="2400" b="1"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i="1"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1"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i="1"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b="1"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kern="100" dirty="0" err="1">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2</a:t>
            </a:r>
            <a:r>
              <a:rPr lang="en-US" altLang="zh-CN" sz="2400" b="1" i="1" kern="100" dirty="0" err="1">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b="1" kern="100" baseline="30000" dirty="0" err="1">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3</a:t>
            </a:r>
            <a:r>
              <a:rPr lang="en-US" altLang="zh-CN" sz="2400" b="1" kern="100" dirty="0" err="1">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+80</a:t>
            </a:r>
            <a:r>
              <a:rPr lang="en-US" altLang="zh-CN" sz="2400" b="1" i="1" kern="100" dirty="0" err="1">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b="1" i="1" kern="100" baseline="30000" dirty="0" err="1">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2</a:t>
            </a:r>
            <a:r>
              <a:rPr lang="en-US" altLang="zh-CN" sz="2400" b="1" kern="100" dirty="0" err="1">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+15</a:t>
            </a:r>
            <a:r>
              <a:rPr lang="zh-CN" altLang="zh-CN" sz="2400" b="1"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是</a:t>
            </a:r>
            <a:r>
              <a:rPr lang="en-US" altLang="zh-CN" sz="2400" b="1" i="1"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O</a:t>
            </a:r>
            <a:r>
              <a:rPr lang="en-US" altLang="zh-CN" sz="2400" b="1"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i="1" kern="100" dirty="0" err="1">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b="1" kern="100" baseline="30000" dirty="0" err="1">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3</a:t>
            </a:r>
            <a:r>
              <a:rPr lang="en-US" altLang="zh-CN" sz="2400" b="1"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400" b="1"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的。设</a:t>
            </a:r>
            <a:r>
              <a:rPr lang="en-US" altLang="zh-CN" sz="2400" b="1" i="1"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c</a:t>
            </a:r>
            <a:r>
              <a:rPr lang="en-US" altLang="zh-CN" sz="2400" b="1"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=3</a:t>
            </a:r>
            <a:r>
              <a:rPr lang="zh-CN" altLang="zh-CN" sz="2400" b="1"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，当</a:t>
            </a:r>
            <a:r>
              <a:rPr lang="en-US" altLang="zh-CN" sz="2400" b="1" i="1"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n</a:t>
            </a:r>
            <a:r>
              <a:rPr lang="zh-CN" altLang="zh-CN" sz="2400" b="1"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a:t>
            </a:r>
            <a:r>
              <a:rPr lang="en-US" altLang="zh-CN" sz="2400" b="1"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80</a:t>
            </a:r>
            <a:r>
              <a:rPr lang="zh-CN" altLang="zh-CN" sz="2400" b="1"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时，</a:t>
            </a:r>
            <a:r>
              <a:rPr lang="en-US" altLang="zh-CN" sz="2400" b="1" i="1"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1"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i="1"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b="1"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400" b="1"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a:t>
            </a:r>
            <a:r>
              <a:rPr lang="en-US" altLang="zh-CN" sz="2400" b="1" i="1" kern="100" dirty="0" err="1">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cn</a:t>
            </a:r>
            <a:r>
              <a:rPr lang="en-US" altLang="zh-CN" sz="2400" b="1" kern="100" baseline="30000" dirty="0" err="1">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3</a:t>
            </a:r>
            <a:r>
              <a:rPr lang="zh-CN" altLang="zh-CN" sz="2400" b="1"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。如图</a:t>
            </a:r>
            <a:r>
              <a:rPr lang="en-US" altLang="zh-CN" sz="2400" b="1"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1.8</a:t>
            </a:r>
            <a:r>
              <a:rPr lang="zh-CN" altLang="zh-CN" sz="2400" b="1"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所示，</a:t>
            </a:r>
            <a:r>
              <a:rPr lang="en-US" altLang="zh-CN" sz="2400" b="1" i="1" kern="100" dirty="0" err="1">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b="1" kern="100" baseline="-25000" dirty="0" err="1">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altLang="zh-CN" sz="2400" b="1"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=80</a:t>
            </a:r>
            <a:r>
              <a:rPr lang="zh-CN" altLang="zh-CN" sz="2400" b="1"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是一个临界点，随着</a:t>
            </a:r>
            <a:r>
              <a:rPr lang="en-US" altLang="zh-CN" sz="2400" b="1" i="1"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n</a:t>
            </a:r>
            <a:r>
              <a:rPr lang="zh-CN" altLang="zh-CN" sz="2400" b="1"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的继续增大，</a:t>
            </a:r>
            <a:r>
              <a:rPr lang="en-US" altLang="zh-CN" sz="2400" b="1" i="1"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1"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i="1"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b="1"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400" b="1"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曲线都在</a:t>
            </a:r>
            <a:r>
              <a:rPr lang="en-US" altLang="zh-CN" sz="2400" b="1" kern="100" dirty="0" err="1">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3</a:t>
            </a:r>
            <a:r>
              <a:rPr lang="en-US" altLang="zh-CN" sz="2400" b="1" i="1" kern="100" dirty="0" err="1">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b="1" kern="100" baseline="30000" dirty="0" err="1">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3</a:t>
            </a:r>
            <a:r>
              <a:rPr lang="zh-CN" altLang="zh-CN" sz="2400" b="1"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曲线之下。</a:t>
            </a:r>
            <a:endParaRPr lang="zh-CN" altLang="zh-CN" sz="2400" b="1"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B8B675A3-A573-C2F5-FC60-78D6097A6B75}"/>
              </a:ext>
            </a:extLst>
          </p:cNvPr>
          <p:cNvSpPr>
            <a:spLocks noGrp="1"/>
          </p:cNvSpPr>
          <p:nvPr>
            <p:ph type="sldNum" sz="quarter" idx="12"/>
          </p:nvPr>
        </p:nvSpPr>
        <p:spPr/>
        <p:txBody>
          <a:bodyPr/>
          <a:lstStyle/>
          <a:p>
            <a:fld id="{D7C0FE0B-717B-41AE-9FA2-CA4BF851D1C3}" type="slidenum">
              <a:rPr lang="zh-CN" altLang="en-US" smtClean="0"/>
              <a:t>51</a:t>
            </a:fld>
            <a:endParaRPr lang="zh-CN" altLang="en-US"/>
          </a:p>
        </p:txBody>
      </p:sp>
    </p:spTree>
    <p:extLst>
      <p:ext uri="{BB962C8B-B14F-4D97-AF65-F5344CB8AC3E}">
        <p14:creationId xmlns:p14="http://schemas.microsoft.com/office/powerpoint/2010/main" val="501657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6145"/>
                                        </p:tgtEl>
                                        <p:attrNameLst>
                                          <p:attrName>style.visibility</p:attrName>
                                        </p:attrNameLst>
                                      </p:cBhvr>
                                      <p:to>
                                        <p:strVal val="visible"/>
                                      </p:to>
                                    </p:set>
                                    <p:animEffect transition="in" filter="fade">
                                      <p:cBhvr>
                                        <p:cTn id="11" dur="1000"/>
                                        <p:tgtEl>
                                          <p:spTgt spid="6145"/>
                                        </p:tgtEl>
                                      </p:cBhvr>
                                    </p:animEffect>
                                    <p:anim calcmode="lin" valueType="num">
                                      <p:cBhvr>
                                        <p:cTn id="12" dur="1000" fill="hold"/>
                                        <p:tgtEl>
                                          <p:spTgt spid="6145"/>
                                        </p:tgtEl>
                                        <p:attrNameLst>
                                          <p:attrName>ppt_x</p:attrName>
                                        </p:attrNameLst>
                                      </p:cBhvr>
                                      <p:tavLst>
                                        <p:tav tm="0">
                                          <p:val>
                                            <p:strVal val="#ppt_x"/>
                                          </p:val>
                                        </p:tav>
                                        <p:tav tm="100000">
                                          <p:val>
                                            <p:strVal val="#ppt_x"/>
                                          </p:val>
                                        </p:tav>
                                      </p:tavLst>
                                    </p:anim>
                                    <p:anim calcmode="lin" valueType="num">
                                      <p:cBhvr>
                                        <p:cTn id="13" dur="1000" fill="hold"/>
                                        <p:tgtEl>
                                          <p:spTgt spid="6145"/>
                                        </p:tgtEl>
                                        <p:attrNameLst>
                                          <p:attrName>ppt_y</p:attrName>
                                        </p:attrNameLst>
                                      </p:cBhvr>
                                      <p:tavLst>
                                        <p:tav tm="0">
                                          <p:val>
                                            <p:strVal val="#ppt_y+.1"/>
                                          </p:val>
                                        </p:tav>
                                        <p:tav tm="100000">
                                          <p:val>
                                            <p:strVal val="#ppt_y"/>
                                          </p:val>
                                        </p:tav>
                                      </p:tavLst>
                                    </p:anim>
                                  </p:childTnLst>
                                </p:cTn>
                              </p:par>
                              <p:par>
                                <p:cTn id="14" presetID="42"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1000"/>
                                        <p:tgtEl>
                                          <p:spTgt spid="5"/>
                                        </p:tgtEl>
                                      </p:cBhvr>
                                    </p:animEffect>
                                    <p:anim calcmode="lin" valueType="num">
                                      <p:cBhvr>
                                        <p:cTn id="17" dur="1000" fill="hold"/>
                                        <p:tgtEl>
                                          <p:spTgt spid="5"/>
                                        </p:tgtEl>
                                        <p:attrNameLst>
                                          <p:attrName>ppt_x</p:attrName>
                                        </p:attrNameLst>
                                      </p:cBhvr>
                                      <p:tavLst>
                                        <p:tav tm="0">
                                          <p:val>
                                            <p:strVal val="#ppt_x"/>
                                          </p:val>
                                        </p:tav>
                                        <p:tav tm="100000">
                                          <p:val>
                                            <p:strVal val="#ppt_x"/>
                                          </p:val>
                                        </p:tav>
                                      </p:tavLst>
                                    </p:anim>
                                    <p:anim calcmode="lin" valueType="num">
                                      <p:cBhvr>
                                        <p:cTn id="18"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7F67EFBB-0B35-9023-ED8A-329DDA03B542}"/>
              </a:ext>
            </a:extLst>
          </p:cNvPr>
          <p:cNvSpPr>
            <a:spLocks noChangeArrowheads="1"/>
          </p:cNvSpPr>
          <p:nvPr/>
        </p:nvSpPr>
        <p:spPr bwMode="auto">
          <a:xfrm>
            <a:off x="414792" y="708785"/>
            <a:ext cx="11219955" cy="4475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809625"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266700" algn="l" defTabSz="914400" rtl="0" eaLnBrk="0" fontAlgn="base" latinLnBrk="0" hangingPunct="0">
              <a:lnSpc>
                <a:spcPct val="12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  </a:t>
            </a:r>
            <a:r>
              <a:rPr kumimoji="0" lang="zh-CN"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被</a:t>
            </a:r>
            <a:r>
              <a:rPr kumimoji="0" lang="zh-CN" altLang="zh-CN" sz="2000" b="0" i="0" u="none" strike="noStrike" cap="none" normalizeH="0" baseline="0" dirty="0">
                <a:ln>
                  <a:noFill/>
                </a:ln>
                <a:effectLst/>
                <a:latin typeface="宋体" panose="02010600030101010101" pitchFamily="2" charset="-122"/>
                <a:ea typeface="宋体" panose="02010600030101010101" pitchFamily="2" charset="-122"/>
                <a:cs typeface="Times New Roman" panose="02020603050405020304" pitchFamily="18" charset="0"/>
              </a:rPr>
              <a:t>称为</a:t>
            </a:r>
            <a:r>
              <a:rPr kumimoji="0" lang="zh-CN"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问题的基本操作的</a:t>
            </a:r>
            <a:r>
              <a:rPr kumimoji="0" lang="zh-CN" altLang="zh-CN" sz="2000" b="1" i="0" u="none" strike="noStrike" cap="none" normalizeH="0" baseline="0" dirty="0">
                <a:ln>
                  <a:noFill/>
                </a:ln>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原操作</a:t>
            </a:r>
            <a:r>
              <a:rPr kumimoji="0" lang="zh-CN"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应是其重复执行次数和算法的执行时间成正比的原操作，多数情况下它是最深层循环内的语句中的原操作，它的执行次数和包含它的语句的频度相同。</a:t>
            </a:r>
            <a:endParaRPr kumimoji="0" lang="en-US"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266700" algn="l" defTabSz="914400" rtl="0" eaLnBrk="0" fontAlgn="base" latinLnBrk="0" hangingPunct="0">
              <a:lnSpc>
                <a:spcPct val="12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  </a:t>
            </a:r>
            <a:r>
              <a:rPr kumimoji="0" lang="zh-CN"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语</a:t>
            </a:r>
            <a:r>
              <a:rPr kumimoji="0" lang="zh-CN" altLang="zh-CN" sz="2000" b="0" i="0" u="none" strike="noStrike" cap="none" normalizeH="0" baseline="0" dirty="0" bmk="">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句的</a:t>
            </a:r>
            <a:r>
              <a:rPr kumimoji="0" lang="zh-CN" altLang="zh-CN" sz="2000" b="0" i="0" u="none" strike="noStrike" cap="none" normalizeH="0" baseline="0" dirty="0" bmk="OLE_LINK41">
                <a:ln>
                  <a:noFill/>
                </a:ln>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频度</a:t>
            </a:r>
            <a:r>
              <a:rPr kumimoji="0" lang="zh-CN" altLang="zh-CN" sz="2000" b="0" i="0" u="none" strike="noStrike" cap="none" normalizeH="0" baseline="0" dirty="0" bmk="OLE_LINK41">
                <a:ln>
                  <a:noFill/>
                </a:ln>
                <a:solidFill>
                  <a:schemeClr val="tx1"/>
                </a:solidFill>
                <a:effectLst/>
                <a:latin typeface="+mn-lt"/>
                <a:ea typeface="宋体" panose="02010600030101010101" pitchFamily="2" charset="-122"/>
                <a:cs typeface="Times New Roman" panose="02020603050405020304" pitchFamily="18" charset="0"/>
              </a:rPr>
              <a:t>（</a:t>
            </a:r>
            <a:r>
              <a:rPr kumimoji="0" lang="en-US" altLang="zh-CN" sz="2000" b="0" i="0" u="none" strike="noStrike" cap="none" normalizeH="0" baseline="0" dirty="0" bmk="OLE_LINK41">
                <a:ln>
                  <a:noFill/>
                </a:ln>
                <a:solidFill>
                  <a:schemeClr val="tx1"/>
                </a:solidFill>
                <a:effectLst/>
                <a:latin typeface="+mn-lt"/>
                <a:ea typeface="宋体" panose="02010600030101010101" pitchFamily="2" charset="-122"/>
                <a:cs typeface="Times New Roman" panose="02020603050405020304" pitchFamily="18" charset="0"/>
              </a:rPr>
              <a:t>frequency count</a:t>
            </a:r>
            <a:r>
              <a:rPr kumimoji="0" lang="zh-CN" altLang="en-US" sz="2000" b="0" i="0" u="none" strike="noStrike" cap="none" normalizeH="0" baseline="0" dirty="0" bmk="OLE_LINK41">
                <a:ln>
                  <a:noFill/>
                </a:ln>
                <a:solidFill>
                  <a:schemeClr val="tx1"/>
                </a:solidFill>
                <a:effectLst/>
                <a:latin typeface="+mn-lt"/>
                <a:ea typeface="宋体" panose="02010600030101010101" pitchFamily="2" charset="-122"/>
                <a:cs typeface="Times New Roman" panose="02020603050405020304" pitchFamily="18" charset="0"/>
              </a:rPr>
              <a:t>）</a:t>
            </a:r>
            <a:r>
              <a:rPr kumimoji="0" lang="zh-CN" altLang="en-US" sz="2000" b="0" i="0" u="none" strike="noStrike" cap="none" normalizeH="0" baseline="0" dirty="0" bmk="OLE_LINK41">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指的是该语句重复执行的次数</a:t>
            </a:r>
            <a:r>
              <a:rPr kumimoji="0" lang="zh-CN" altLang="en-US"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，例如，在下列</a:t>
            </a:r>
            <a:r>
              <a:rPr kumimoji="0" lang="en-US" altLang="zh-CN" sz="20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3</a:t>
            </a:r>
            <a:r>
              <a:rPr kumimoji="0" lang="zh-CN" altLang="en-US"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个程序段中：</a:t>
            </a:r>
            <a:endParaRPr lang="en-US" altLang="zh-CN" sz="2000" dirty="0"/>
          </a:p>
          <a:p>
            <a:pPr marL="0" marR="0" lvl="0" indent="266700" algn="l" defTabSz="914400" rtl="0" eaLnBrk="0" fontAlgn="base" latinLnBrk="0" hangingPunct="0">
              <a:lnSpc>
                <a:spcPct val="12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 </a:t>
            </a:r>
            <a:r>
              <a:rPr kumimoji="0" lang="en-US" altLang="zh-CN" sz="20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a:t>
            </a:r>
            <a:r>
              <a:rPr kumimoji="0" lang="en-US" altLang="zh-CN" sz="20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++x;   s=0; </a:t>
            </a:r>
            <a:r>
              <a:rPr kumimoji="0" lang="en-US" altLang="zh-CN" sz="20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a:t>
            </a:r>
            <a:endParaRPr lang="en-US" altLang="zh-CN" sz="2000" dirty="0"/>
          </a:p>
          <a:p>
            <a:pPr marL="0" marR="0" lvl="0" indent="266700" algn="l" defTabSz="914400" rtl="0" eaLnBrk="0" fontAlgn="base" latinLnBrk="0" hangingPunct="0">
              <a:lnSpc>
                <a:spcPct val="12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(b) </a:t>
            </a:r>
            <a:r>
              <a:rPr kumimoji="0" lang="en-US" altLang="zh-CN" sz="20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for </a:t>
            </a:r>
            <a:r>
              <a:rPr kumimoji="0" lang="en-US" altLang="zh-CN" sz="20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a:t>
            </a:r>
            <a:r>
              <a:rPr kumimoji="0" lang="en-US" altLang="zh-CN" sz="2000" b="0"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i</a:t>
            </a:r>
            <a:r>
              <a:rPr kumimoji="0" lang="en-US" altLang="zh-CN" sz="20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=1; </a:t>
            </a:r>
            <a:r>
              <a:rPr kumimoji="0" lang="en-US" altLang="zh-CN" sz="2000" b="0"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i</a:t>
            </a:r>
            <a:r>
              <a:rPr kumimoji="0" lang="en-US" altLang="zh-CN" sz="20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&lt;=n; ++</a:t>
            </a:r>
            <a:r>
              <a:rPr kumimoji="0" lang="en-US" altLang="zh-CN" sz="2000" b="0"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i</a:t>
            </a:r>
            <a:r>
              <a:rPr kumimoji="0" lang="en-US" altLang="zh-CN" sz="20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a:t>
            </a:r>
            <a:r>
              <a:rPr kumimoji="0" lang="en-US" altLang="zh-CN" sz="20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 </a:t>
            </a:r>
            <a:r>
              <a:rPr kumimoji="0" lang="en-US" altLang="zh-CN" sz="20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++x;   s+=x; </a:t>
            </a:r>
            <a:r>
              <a:rPr kumimoji="0" lang="en-US" altLang="zh-CN" sz="20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a:t>
            </a:r>
            <a:endParaRPr lang="en-US" altLang="zh-CN" sz="2000" dirty="0"/>
          </a:p>
          <a:p>
            <a:pPr marL="0" marR="0" lvl="0" indent="266700" algn="l" defTabSz="914400" rtl="0" eaLnBrk="0" fontAlgn="base" latinLnBrk="0" hangingPunct="0">
              <a:lnSpc>
                <a:spcPct val="12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(c) </a:t>
            </a:r>
            <a:r>
              <a:rPr kumimoji="0" lang="en-US" altLang="zh-CN" sz="20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for </a:t>
            </a:r>
            <a:r>
              <a:rPr kumimoji="0" lang="en-US" altLang="zh-CN" sz="20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(j=1; j&lt;=n; ++j)</a:t>
            </a:r>
            <a:endParaRPr kumimoji="0" lang="en-US" altLang="zh-CN" sz="2000" b="0" i="0" u="none" strike="noStrike" cap="none" normalizeH="0" baseline="0" dirty="0">
              <a:ln>
                <a:noFill/>
              </a:ln>
              <a:solidFill>
                <a:schemeClr val="tx1"/>
              </a:solidFill>
              <a:effectLst/>
            </a:endParaRPr>
          </a:p>
          <a:p>
            <a:pPr marL="0" marR="0" lvl="0" indent="809625" algn="l" defTabSz="914400" rtl="0" eaLnBrk="0" fontAlgn="base" latinLnBrk="0" hangingPunct="0">
              <a:lnSpc>
                <a:spcPct val="12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for</a:t>
            </a:r>
            <a:r>
              <a:rPr kumimoji="0" lang="en-US" altLang="zh-CN" sz="20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(k=1; k&lt;=n; ++k)</a:t>
            </a:r>
            <a:r>
              <a:rPr kumimoji="0" lang="en-US" altLang="zh-CN" sz="20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sz="20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++x;   s+=x; </a:t>
            </a:r>
            <a:r>
              <a:rPr kumimoji="0" lang="en-US" altLang="zh-CN" sz="20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a:t>
            </a:r>
            <a:endParaRPr kumimoji="0" lang="en-US" altLang="zh-CN" sz="2000" b="1" i="0" u="none" strike="noStrike" cap="none" normalizeH="0" baseline="0" dirty="0">
              <a:ln>
                <a:noFill/>
              </a:ln>
              <a:solidFill>
                <a:schemeClr val="tx1"/>
              </a:solidFill>
              <a:effectLst/>
            </a:endParaRPr>
          </a:p>
          <a:p>
            <a:pPr marL="0" marR="0" lvl="0" indent="0" algn="l" defTabSz="914400" rtl="0" eaLnBrk="0" fontAlgn="base" latinLnBrk="0" hangingPunct="0">
              <a:lnSpc>
                <a:spcPct val="120000"/>
              </a:lnSpc>
              <a:spcBef>
                <a:spcPct val="0"/>
              </a:spcBef>
              <a:spcAft>
                <a:spcPct val="0"/>
              </a:spcAft>
              <a:buClrTx/>
              <a:buSzTx/>
              <a:buFontTx/>
              <a:buNone/>
              <a:tabLst/>
            </a:pPr>
            <a:r>
              <a:rPr lang="zh-CN" altLang="en-US" sz="2000" dirty="0">
                <a:latin typeface="宋体" panose="02010600030101010101" pitchFamily="2" charset="-122"/>
                <a:ea typeface="宋体" panose="02010600030101010101" pitchFamily="2" charset="-122"/>
                <a:cs typeface="Times New Roman" panose="02020603050405020304" pitchFamily="18" charset="0"/>
              </a:rPr>
              <a:t>含基本操作“</a:t>
            </a:r>
            <a:r>
              <a:rPr lang="en-US" altLang="zh-CN" sz="2000" dirty="0">
                <a:latin typeface="宋体" panose="02010600030101010101" pitchFamily="2" charset="-122"/>
                <a:ea typeface="宋体" panose="02010600030101010101" pitchFamily="2" charset="-122"/>
                <a:cs typeface="Times New Roman" panose="02020603050405020304" pitchFamily="18" charset="0"/>
              </a:rPr>
              <a:t>++x;”</a:t>
            </a:r>
            <a:r>
              <a:rPr lang="zh-CN" altLang="en-US" sz="2000" dirty="0">
                <a:latin typeface="宋体" panose="02010600030101010101" pitchFamily="2" charset="-122"/>
                <a:ea typeface="宋体" panose="02010600030101010101" pitchFamily="2" charset="-122"/>
                <a:cs typeface="Times New Roman" panose="02020603050405020304" pitchFamily="18" charset="0"/>
              </a:rPr>
              <a:t>的语句的频度分别为</a:t>
            </a:r>
            <a:r>
              <a:rPr lang="en-US" altLang="zh-CN" sz="2000" dirty="0">
                <a:latin typeface="宋体" panose="02010600030101010101" pitchFamily="2" charset="-122"/>
                <a:ea typeface="宋体" panose="02010600030101010101" pitchFamily="2" charset="-122"/>
                <a:cs typeface="Times New Roman" panose="02020603050405020304" pitchFamily="18" charset="0"/>
              </a:rPr>
              <a:t>1</a:t>
            </a:r>
            <a:r>
              <a:rPr lang="zh-CN" altLang="en-US" sz="2000" dirty="0">
                <a:latin typeface="宋体" panose="02010600030101010101" pitchFamily="2" charset="-122"/>
                <a:ea typeface="宋体" panose="02010600030101010101" pitchFamily="2" charset="-122"/>
                <a:cs typeface="Times New Roman" panose="02020603050405020304" pitchFamily="18" charset="0"/>
              </a:rPr>
              <a:t>、</a:t>
            </a:r>
            <a:r>
              <a:rPr lang="en-US" altLang="zh-CN" sz="2000" dirty="0">
                <a:latin typeface="宋体" panose="02010600030101010101" pitchFamily="2" charset="-122"/>
                <a:ea typeface="宋体" panose="02010600030101010101" pitchFamily="2" charset="-122"/>
                <a:cs typeface="Times New Roman" panose="02020603050405020304" pitchFamily="18" charset="0"/>
              </a:rPr>
              <a:t>n</a:t>
            </a:r>
            <a:r>
              <a:rPr lang="zh-CN" altLang="en-US" sz="2000" dirty="0">
                <a:latin typeface="宋体" panose="02010600030101010101" pitchFamily="2" charset="-122"/>
                <a:ea typeface="宋体" panose="02010600030101010101" pitchFamily="2" charset="-122"/>
                <a:cs typeface="Times New Roman" panose="02020603050405020304" pitchFamily="18" charset="0"/>
              </a:rPr>
              <a:t>和</a:t>
            </a:r>
            <a:r>
              <a:rPr lang="en-US" altLang="zh-CN" sz="2000" dirty="0" err="1">
                <a:latin typeface="宋体" panose="02010600030101010101" pitchFamily="2" charset="-122"/>
                <a:ea typeface="宋体" panose="02010600030101010101" pitchFamily="2" charset="-122"/>
                <a:cs typeface="Times New Roman" panose="02020603050405020304" pitchFamily="18" charset="0"/>
              </a:rPr>
              <a:t>n2</a:t>
            </a:r>
            <a:r>
              <a:rPr lang="zh-CN" altLang="en-US" sz="2000" dirty="0">
                <a:latin typeface="宋体" panose="02010600030101010101" pitchFamily="2" charset="-122"/>
                <a:ea typeface="宋体" panose="02010600030101010101" pitchFamily="2" charset="-122"/>
                <a:cs typeface="Times New Roman" panose="02020603050405020304" pitchFamily="18" charset="0"/>
              </a:rPr>
              <a:t>，</a:t>
            </a:r>
            <a:endParaRPr lang="en-US" altLang="zh-CN" sz="2000" dirty="0">
              <a:latin typeface="宋体" panose="02010600030101010101" pitchFamily="2" charset="-122"/>
              <a:ea typeface="宋体" panose="02010600030101010101" pitchFamily="2" charset="-122"/>
              <a:cs typeface="Times New Roman" panose="02020603050405020304" pitchFamily="18" charset="0"/>
            </a:endParaRPr>
          </a:p>
          <a:p>
            <a:pPr indent="0">
              <a:lnSpc>
                <a:spcPct val="120000"/>
              </a:lnSpc>
            </a:pPr>
            <a:r>
              <a:rPr lang="zh-CN" altLang="en-US" sz="2000" dirty="0">
                <a:latin typeface="宋体" panose="02010600030101010101" pitchFamily="2" charset="-122"/>
                <a:ea typeface="宋体" panose="02010600030101010101" pitchFamily="2" charset="-122"/>
                <a:cs typeface="Times New Roman" panose="02020603050405020304" pitchFamily="18" charset="0"/>
              </a:rPr>
              <a:t>这</a:t>
            </a:r>
            <a:r>
              <a:rPr lang="en-US" altLang="zh-CN" sz="2000" dirty="0">
                <a:latin typeface="宋体" panose="02010600030101010101" pitchFamily="2" charset="-122"/>
                <a:ea typeface="宋体" panose="02010600030101010101" pitchFamily="2" charset="-122"/>
                <a:cs typeface="Times New Roman" panose="02020603050405020304" pitchFamily="18" charset="0"/>
              </a:rPr>
              <a:t>3</a:t>
            </a:r>
            <a:r>
              <a:rPr lang="zh-CN" altLang="en-US" sz="2000" dirty="0">
                <a:latin typeface="宋体" panose="02010600030101010101" pitchFamily="2" charset="-122"/>
                <a:ea typeface="宋体" panose="02010600030101010101" pitchFamily="2" charset="-122"/>
                <a:cs typeface="Times New Roman" panose="02020603050405020304" pitchFamily="18" charset="0"/>
              </a:rPr>
              <a:t>个程序段的时间复杂度分别为</a:t>
            </a:r>
            <a:r>
              <a:rPr lang="en-US" altLang="zh-CN" sz="2000" dirty="0">
                <a:latin typeface="宋体" panose="02010600030101010101" pitchFamily="2" charset="-122"/>
                <a:ea typeface="宋体" panose="02010600030101010101" pitchFamily="2" charset="-122"/>
                <a:cs typeface="Times New Roman" panose="02020603050405020304" pitchFamily="18" charset="0"/>
              </a:rPr>
              <a:t>O(1)</a:t>
            </a:r>
            <a:r>
              <a:rPr lang="zh-CN" altLang="en-US" sz="2000" dirty="0">
                <a:latin typeface="宋体" panose="02010600030101010101" pitchFamily="2" charset="-122"/>
                <a:ea typeface="宋体" panose="02010600030101010101" pitchFamily="2" charset="-122"/>
                <a:cs typeface="Times New Roman" panose="02020603050405020304" pitchFamily="18" charset="0"/>
              </a:rPr>
              <a:t>、</a:t>
            </a:r>
            <a:r>
              <a:rPr lang="en-US" altLang="zh-CN" sz="2000" dirty="0">
                <a:latin typeface="宋体" panose="02010600030101010101" pitchFamily="2" charset="-122"/>
                <a:ea typeface="宋体" panose="02010600030101010101" pitchFamily="2" charset="-122"/>
                <a:cs typeface="Times New Roman" panose="02020603050405020304" pitchFamily="18" charset="0"/>
              </a:rPr>
              <a:t>O(n)</a:t>
            </a:r>
            <a:r>
              <a:rPr lang="zh-CN" altLang="en-US" sz="2000" dirty="0">
                <a:latin typeface="宋体" panose="02010600030101010101" pitchFamily="2" charset="-122"/>
                <a:ea typeface="宋体" panose="02010600030101010101" pitchFamily="2" charset="-122"/>
                <a:cs typeface="Times New Roman" panose="02020603050405020304" pitchFamily="18" charset="0"/>
              </a:rPr>
              <a:t>和</a:t>
            </a:r>
            <a:r>
              <a:rPr lang="en-US" altLang="zh-CN" sz="2000" dirty="0">
                <a:latin typeface="宋体" panose="02010600030101010101" pitchFamily="2" charset="-122"/>
                <a:ea typeface="宋体" panose="02010600030101010101" pitchFamily="2" charset="-122"/>
                <a:cs typeface="Times New Roman" panose="02020603050405020304" pitchFamily="18" charset="0"/>
              </a:rPr>
              <a:t>O(</a:t>
            </a:r>
            <a:r>
              <a:rPr lang="en-US" altLang="zh-CN" sz="2000" dirty="0" err="1">
                <a:latin typeface="宋体" panose="02010600030101010101" pitchFamily="2" charset="-122"/>
                <a:ea typeface="宋体" panose="02010600030101010101" pitchFamily="2" charset="-122"/>
                <a:cs typeface="Times New Roman" panose="02020603050405020304" pitchFamily="18" charset="0"/>
              </a:rPr>
              <a:t>n2</a:t>
            </a:r>
            <a:r>
              <a:rPr lang="en-US" altLang="zh-CN" sz="2000" dirty="0">
                <a:latin typeface="宋体" panose="02010600030101010101" pitchFamily="2" charset="-122"/>
                <a:ea typeface="宋体" panose="02010600030101010101" pitchFamily="2" charset="-122"/>
                <a:cs typeface="Times New Roman" panose="02020603050405020304" pitchFamily="18" charset="0"/>
              </a:rPr>
              <a:t>)</a:t>
            </a:r>
            <a:r>
              <a:rPr lang="zh-CN" altLang="en-US" sz="2000" dirty="0">
                <a:latin typeface="宋体" panose="02010600030101010101" pitchFamily="2" charset="-122"/>
                <a:ea typeface="宋体" panose="02010600030101010101" pitchFamily="2" charset="-122"/>
                <a:cs typeface="Times New Roman" panose="02020603050405020304" pitchFamily="18" charset="0"/>
              </a:rPr>
              <a:t>，</a:t>
            </a:r>
            <a:endParaRPr lang="en-US" altLang="zh-CN" sz="2000" dirty="0">
              <a:latin typeface="宋体" panose="02010600030101010101" pitchFamily="2" charset="-122"/>
              <a:ea typeface="宋体" panose="02010600030101010101" pitchFamily="2" charset="-122"/>
              <a:cs typeface="Times New Roman" panose="02020603050405020304" pitchFamily="18" charset="0"/>
            </a:endParaRPr>
          </a:p>
          <a:p>
            <a:pPr indent="0">
              <a:lnSpc>
                <a:spcPct val="120000"/>
              </a:lnSpc>
            </a:pPr>
            <a:r>
              <a:rPr lang="zh-CN" altLang="en-US" sz="2000" dirty="0">
                <a:latin typeface="宋体" panose="02010600030101010101" pitchFamily="2" charset="-122"/>
                <a:ea typeface="宋体" panose="02010600030101010101" pitchFamily="2" charset="-122"/>
                <a:cs typeface="Times New Roman" panose="02020603050405020304" pitchFamily="18" charset="0"/>
              </a:rPr>
              <a:t>分别称为</a:t>
            </a:r>
            <a:r>
              <a:rPr lang="zh-CN" altLang="en-US" sz="2000" b="1" dirty="0">
                <a:latin typeface="宋体" panose="02010600030101010101" pitchFamily="2" charset="-122"/>
                <a:ea typeface="宋体" panose="02010600030101010101" pitchFamily="2" charset="-122"/>
                <a:cs typeface="Times New Roman" panose="02020603050405020304" pitchFamily="18" charset="0"/>
              </a:rPr>
              <a:t>常数阶</a:t>
            </a:r>
            <a:r>
              <a:rPr lang="zh-CN" altLang="en-US" sz="2000" dirty="0">
                <a:latin typeface="宋体" panose="02010600030101010101" pitchFamily="2" charset="-122"/>
                <a:ea typeface="宋体" panose="02010600030101010101" pitchFamily="2" charset="-122"/>
                <a:cs typeface="Times New Roman" panose="02020603050405020304" pitchFamily="18" charset="0"/>
              </a:rPr>
              <a:t>、</a:t>
            </a:r>
            <a:r>
              <a:rPr lang="zh-CN" altLang="en-US" sz="2000" b="1" dirty="0">
                <a:latin typeface="宋体" panose="02010600030101010101" pitchFamily="2" charset="-122"/>
                <a:ea typeface="宋体" panose="02010600030101010101" pitchFamily="2" charset="-122"/>
                <a:cs typeface="Times New Roman" panose="02020603050405020304" pitchFamily="18" charset="0"/>
              </a:rPr>
              <a:t>线性阶</a:t>
            </a:r>
            <a:r>
              <a:rPr lang="zh-CN" altLang="en-US" sz="2000" dirty="0">
                <a:latin typeface="宋体" panose="02010600030101010101" pitchFamily="2" charset="-122"/>
                <a:ea typeface="宋体" panose="02010600030101010101" pitchFamily="2" charset="-122"/>
                <a:cs typeface="Times New Roman" panose="02020603050405020304" pitchFamily="18" charset="0"/>
              </a:rPr>
              <a:t>和</a:t>
            </a:r>
            <a:r>
              <a:rPr lang="zh-CN" altLang="en-US" sz="2000" b="1" dirty="0">
                <a:latin typeface="宋体" panose="02010600030101010101" pitchFamily="2" charset="-122"/>
                <a:ea typeface="宋体" panose="02010600030101010101" pitchFamily="2" charset="-122"/>
                <a:cs typeface="Times New Roman" panose="02020603050405020304" pitchFamily="18" charset="0"/>
              </a:rPr>
              <a:t>二次阶</a:t>
            </a:r>
            <a:r>
              <a:rPr lang="zh-CN" altLang="en-US" sz="2000" dirty="0">
                <a:latin typeface="宋体" panose="02010600030101010101" pitchFamily="2" charset="-122"/>
                <a:ea typeface="宋体" panose="02010600030101010101" pitchFamily="2" charset="-122"/>
                <a:cs typeface="Times New Roman" panose="02020603050405020304" pitchFamily="18" charset="0"/>
              </a:rPr>
              <a:t>。</a:t>
            </a:r>
            <a:endParaRPr lang="en-US" altLang="zh-CN" sz="2000" dirty="0">
              <a:latin typeface="宋体" panose="02010600030101010101" pitchFamily="2" charset="-122"/>
              <a:ea typeface="宋体" panose="02010600030101010101" pitchFamily="2" charset="-122"/>
              <a:cs typeface="Times New Roman" panose="02020603050405020304" pitchFamily="18" charset="0"/>
            </a:endParaRPr>
          </a:p>
          <a:p>
            <a:pPr indent="0">
              <a:lnSpc>
                <a:spcPct val="120000"/>
              </a:lnSpc>
            </a:pPr>
            <a:r>
              <a:rPr lang="zh-CN" altLang="en-US" sz="2000" dirty="0">
                <a:latin typeface="宋体" panose="02010600030101010101" pitchFamily="2" charset="-122"/>
                <a:ea typeface="宋体" panose="02010600030101010101" pitchFamily="2" charset="-122"/>
                <a:cs typeface="Times New Roman" panose="02020603050405020304" pitchFamily="18" charset="0"/>
              </a:rPr>
              <a:t>    算法还可能呈现的时间复杂度有</a:t>
            </a:r>
            <a:r>
              <a:rPr lang="zh-CN" altLang="en-US" sz="2000" b="1" dirty="0">
                <a:latin typeface="宋体" panose="02010600030101010101" pitchFamily="2" charset="-122"/>
                <a:ea typeface="宋体" panose="02010600030101010101" pitchFamily="2" charset="-122"/>
                <a:cs typeface="Times New Roman" panose="02020603050405020304" pitchFamily="18" charset="0"/>
              </a:rPr>
              <a:t>对数阶</a:t>
            </a:r>
            <a:r>
              <a:rPr lang="en-US" altLang="zh-CN" sz="2000" dirty="0">
                <a:latin typeface="宋体" panose="02010600030101010101" pitchFamily="2" charset="-122"/>
                <a:ea typeface="宋体" panose="02010600030101010101" pitchFamily="2" charset="-122"/>
                <a:cs typeface="Times New Roman" panose="02020603050405020304" pitchFamily="18" charset="0"/>
              </a:rPr>
              <a:t>O(</a:t>
            </a:r>
            <a:r>
              <a:rPr lang="en-US" altLang="zh-CN" sz="2000" dirty="0" err="1">
                <a:latin typeface="宋体" panose="02010600030101010101" pitchFamily="2" charset="-122"/>
                <a:ea typeface="宋体" panose="02010600030101010101" pitchFamily="2" charset="-122"/>
                <a:cs typeface="Times New Roman" panose="02020603050405020304" pitchFamily="18" charset="0"/>
              </a:rPr>
              <a:t>logn</a:t>
            </a:r>
            <a:r>
              <a:rPr lang="en-US" altLang="zh-CN" sz="2000" dirty="0">
                <a:latin typeface="宋体" panose="02010600030101010101" pitchFamily="2" charset="-122"/>
                <a:ea typeface="宋体" panose="02010600030101010101" pitchFamily="2" charset="-122"/>
                <a:cs typeface="Times New Roman" panose="02020603050405020304" pitchFamily="18" charset="0"/>
              </a:rPr>
              <a:t>)</a:t>
            </a:r>
            <a:r>
              <a:rPr lang="zh-CN" altLang="en-US" sz="2000" dirty="0">
                <a:latin typeface="宋体" panose="02010600030101010101" pitchFamily="2" charset="-122"/>
                <a:ea typeface="宋体" panose="02010600030101010101" pitchFamily="2" charset="-122"/>
                <a:cs typeface="Times New Roman" panose="02020603050405020304" pitchFamily="18" charset="0"/>
              </a:rPr>
              <a:t>、</a:t>
            </a:r>
            <a:endParaRPr lang="en-US" altLang="zh-CN" sz="2000" dirty="0">
              <a:latin typeface="宋体" panose="02010600030101010101" pitchFamily="2" charset="-122"/>
              <a:ea typeface="宋体" panose="02010600030101010101" pitchFamily="2" charset="-122"/>
              <a:cs typeface="Times New Roman" panose="02020603050405020304" pitchFamily="18" charset="0"/>
            </a:endParaRPr>
          </a:p>
          <a:p>
            <a:pPr indent="0">
              <a:lnSpc>
                <a:spcPct val="120000"/>
              </a:lnSpc>
            </a:pPr>
            <a:r>
              <a:rPr lang="zh-CN" altLang="en-US" sz="2000" b="1" dirty="0">
                <a:latin typeface="宋体" panose="02010600030101010101" pitchFamily="2" charset="-122"/>
                <a:ea typeface="宋体" panose="02010600030101010101" pitchFamily="2" charset="-122"/>
                <a:cs typeface="Times New Roman" panose="02020603050405020304" pitchFamily="18" charset="0"/>
              </a:rPr>
              <a:t>指数阶</a:t>
            </a:r>
            <a:r>
              <a:rPr lang="en-US" altLang="zh-CN" sz="2000" dirty="0">
                <a:latin typeface="宋体" panose="02010600030101010101" pitchFamily="2" charset="-122"/>
                <a:ea typeface="宋体" panose="02010600030101010101" pitchFamily="2" charset="-122"/>
                <a:cs typeface="Times New Roman" panose="02020603050405020304" pitchFamily="18" charset="0"/>
              </a:rPr>
              <a:t>O(</a:t>
            </a:r>
            <a:r>
              <a:rPr lang="en-US" altLang="zh-CN" sz="2000" dirty="0" err="1">
                <a:latin typeface="宋体" panose="02010600030101010101" pitchFamily="2" charset="-122"/>
                <a:ea typeface="宋体" panose="02010600030101010101" pitchFamily="2" charset="-122"/>
                <a:cs typeface="Times New Roman" panose="02020603050405020304" pitchFamily="18" charset="0"/>
              </a:rPr>
              <a:t>2n</a:t>
            </a:r>
            <a:r>
              <a:rPr lang="en-US" altLang="zh-CN" sz="2000" dirty="0">
                <a:latin typeface="宋体" panose="02010600030101010101" pitchFamily="2" charset="-122"/>
                <a:ea typeface="宋体" panose="02010600030101010101" pitchFamily="2" charset="-122"/>
                <a:cs typeface="Times New Roman" panose="02020603050405020304" pitchFamily="18" charset="0"/>
              </a:rPr>
              <a:t>)</a:t>
            </a:r>
            <a:r>
              <a:rPr lang="zh-CN" altLang="en-US" sz="2000" dirty="0">
                <a:latin typeface="宋体" panose="02010600030101010101" pitchFamily="2" charset="-122"/>
                <a:ea typeface="宋体" panose="02010600030101010101" pitchFamily="2" charset="-122"/>
                <a:cs typeface="Times New Roman" panose="02020603050405020304" pitchFamily="18" charset="0"/>
              </a:rPr>
              <a:t>等。不同数量级时间复杂度的性状如图</a:t>
            </a:r>
            <a:r>
              <a:rPr lang="en-US" altLang="zh-CN" sz="2000" dirty="0">
                <a:latin typeface="宋体" panose="02010600030101010101" pitchFamily="2" charset="-122"/>
                <a:ea typeface="宋体" panose="02010600030101010101" pitchFamily="2" charset="-122"/>
                <a:cs typeface="Times New Roman" panose="02020603050405020304" pitchFamily="18" charset="0"/>
              </a:rPr>
              <a:t>1.9</a:t>
            </a:r>
            <a:r>
              <a:rPr lang="zh-CN" altLang="en-US" sz="2000" dirty="0">
                <a:latin typeface="宋体" panose="02010600030101010101" pitchFamily="2" charset="-122"/>
                <a:ea typeface="宋体" panose="02010600030101010101" pitchFamily="2" charset="-122"/>
                <a:cs typeface="Times New Roman" panose="02020603050405020304" pitchFamily="18" charset="0"/>
              </a:rPr>
              <a:t>所示。</a:t>
            </a:r>
          </a:p>
        </p:txBody>
      </p:sp>
      <p:pic>
        <p:nvPicPr>
          <p:cNvPr id="7169" name="Picture 1">
            <a:extLst>
              <a:ext uri="{FF2B5EF4-FFF2-40B4-BE49-F238E27FC236}">
                <a16:creationId xmlns:a16="http://schemas.microsoft.com/office/drawing/2014/main" id="{F1DEC959-8343-9056-D92E-9469E9CB9465}"/>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7611135" y="2984829"/>
            <a:ext cx="4023612" cy="263896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1E93593A-CEC8-C195-1C90-F6135A7F41AB}"/>
              </a:ext>
            </a:extLst>
          </p:cNvPr>
          <p:cNvSpPr>
            <a:spLocks noChangeArrowheads="1"/>
          </p:cNvSpPr>
          <p:nvPr/>
        </p:nvSpPr>
        <p:spPr bwMode="auto">
          <a:xfrm>
            <a:off x="8101556" y="5700621"/>
            <a:ext cx="313419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effectLst/>
                <a:latin typeface="黑体" panose="02010609060101010101" pitchFamily="49" charset="-122"/>
                <a:ea typeface="黑体" panose="02010609060101010101" pitchFamily="49" charset="-122"/>
                <a:cs typeface="Times New Roman" panose="02020603050405020304" pitchFamily="18" charset="0"/>
              </a:rPr>
              <a:t>图</a:t>
            </a:r>
            <a:r>
              <a:rPr kumimoji="0" lang="en-US" altLang="zh-CN" sz="2000" b="0" i="0" u="none" strike="noStrike" cap="none" normalizeH="0" baseline="0" dirty="0">
                <a:ln>
                  <a:noFill/>
                </a:ln>
                <a:effectLst/>
                <a:latin typeface="黑体" panose="02010609060101010101" pitchFamily="49" charset="-122"/>
                <a:ea typeface="黑体" panose="02010609060101010101" pitchFamily="49" charset="-122"/>
                <a:cs typeface="Times New Roman" panose="02020603050405020304" pitchFamily="18" charset="0"/>
              </a:rPr>
              <a:t>1.9  </a:t>
            </a:r>
            <a:r>
              <a:rPr kumimoji="0" lang="zh-CN" altLang="en-US"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常见函数的增长率</a:t>
            </a:r>
            <a:endParaRPr kumimoji="0" lang="zh-CN" altLang="en-US" sz="2000" b="0" i="0" u="none" strike="noStrike" cap="none" normalizeH="0" baseline="0" dirty="0">
              <a:ln>
                <a:noFill/>
              </a:ln>
              <a:solidFill>
                <a:schemeClr val="tx1"/>
              </a:solidFill>
              <a:effectLst/>
              <a:latin typeface="Arial" panose="020B0604020202020204" pitchFamily="34" charset="0"/>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BD6ADA9C-4EF9-B3AF-5327-EF1949F7BE8C}"/>
                  </a:ext>
                </a:extLst>
              </p:cNvPr>
              <p:cNvSpPr txBox="1"/>
              <p:nvPr/>
            </p:nvSpPr>
            <p:spPr>
              <a:xfrm>
                <a:off x="152795" y="5400083"/>
                <a:ext cx="7351918" cy="848758"/>
              </a:xfrm>
              <a:prstGeom prst="rect">
                <a:avLst/>
              </a:prstGeom>
              <a:noFill/>
            </p:spPr>
            <p:txBody>
              <a:bodyPr wrap="square">
                <a:spAutoFit/>
              </a:bodyPr>
              <a:lstStyle/>
              <a:p>
                <a:pPr indent="266700" algn="just">
                  <a:lnSpc>
                    <a:spcPct val="115000"/>
                  </a:lnSpc>
                  <a:buNone/>
                </a:pP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以下是由低到高排列的增长率：</a:t>
                </a:r>
                <a:endParaRPr lang="en-US" altLang="zh-CN" sz="2000"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15000"/>
                  </a:lnSpc>
                  <a:buNone/>
                </a:pP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1,  </a:t>
                </a:r>
                <a:r>
                  <a:rPr lang="en-US" altLang="zh-CN" sz="2000" kern="100" dirty="0" err="1">
                    <a:effectLst/>
                    <a:latin typeface="Times New Roman" panose="02020603050405020304" pitchFamily="18" charset="0"/>
                    <a:ea typeface="宋体" panose="02010600030101010101" pitchFamily="2" charset="-122"/>
                    <a:cs typeface="Times New Roman" panose="02020603050405020304" pitchFamily="18" charset="0"/>
                  </a:rPr>
                  <a:t>loglog</a:t>
                </a:r>
                <a:r>
                  <a:rPr lang="en-US" altLang="zh-CN" sz="2000" i="1" kern="100" dirty="0" err="1">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2000" dirty="0"/>
                  <a:t>, </a:t>
                </a:r>
                <a14:m>
                  <m:oMath xmlns:m="http://schemas.openxmlformats.org/officeDocument/2006/math">
                    <m:r>
                      <a:rPr lang="en-US" altLang="zh-CN" sz="2000" i="1">
                        <a:latin typeface="Cambria Math" panose="02040503050406030204" pitchFamily="18" charset="0"/>
                      </a:rPr>
                      <m:t> </m:t>
                    </m:r>
                    <m:rad>
                      <m:radPr>
                        <m:degHide m:val="on"/>
                        <m:ctrlPr>
                          <a:rPr lang="zh-CN" altLang="zh-CN" sz="2000" i="1">
                            <a:latin typeface="Cambria Math" panose="02040503050406030204" pitchFamily="18" charset="0"/>
                          </a:rPr>
                        </m:ctrlPr>
                      </m:radPr>
                      <m:deg/>
                      <m:e>
                        <m:r>
                          <m:rPr>
                            <m:sty m:val="p"/>
                          </m:rPr>
                          <a:rPr lang="en-US" altLang="zh-CN" sz="2000">
                            <a:latin typeface="Cambria Math" panose="02040503050406030204" pitchFamily="18" charset="0"/>
                          </a:rPr>
                          <m:t>log</m:t>
                        </m:r>
                        <m:r>
                          <a:rPr lang="en-US" altLang="zh-CN" sz="2000" i="1">
                            <a:latin typeface="Cambria Math" panose="02040503050406030204" pitchFamily="18" charset="0"/>
                          </a:rPr>
                          <m:t>𝑛</m:t>
                        </m:r>
                      </m:e>
                    </m:rad>
                  </m:oMath>
                </a14:m>
                <a:r>
                  <a:rPr lang="en-US" altLang="zh-CN" sz="2000" dirty="0"/>
                  <a:t>, </a:t>
                </a:r>
                <a14:m>
                  <m:oMath xmlns:m="http://schemas.openxmlformats.org/officeDocument/2006/math">
                    <m:rad>
                      <m:radPr>
                        <m:degHide m:val="on"/>
                        <m:ctrlPr>
                          <a:rPr lang="zh-CN" altLang="zh-CN" sz="2000" i="1">
                            <a:latin typeface="Cambria Math" panose="02040503050406030204" pitchFamily="18" charset="0"/>
                          </a:rPr>
                        </m:ctrlPr>
                      </m:radPr>
                      <m:deg/>
                      <m:e>
                        <m:r>
                          <a:rPr lang="en-US" altLang="zh-CN" sz="2000" i="1">
                            <a:latin typeface="Cambria Math" panose="02040503050406030204" pitchFamily="18" charset="0"/>
                          </a:rPr>
                          <m:t>𝑛</m:t>
                        </m:r>
                      </m:e>
                    </m:rad>
                  </m:oMath>
                </a14:m>
                <a:r>
                  <a:rPr lang="en-US" altLang="zh-CN" sz="2000" dirty="0"/>
                  <a:t>, </a:t>
                </a:r>
                <a:r>
                  <a:rPr lang="en-US" altLang="zh-CN" sz="2000" dirty="0" err="1"/>
                  <a:t>log</a:t>
                </a:r>
                <a:r>
                  <a:rPr lang="en-US" altLang="zh-CN" sz="2000" baseline="30000" dirty="0" err="1"/>
                  <a:t>2</a:t>
                </a:r>
                <a:r>
                  <a:rPr lang="en-US" altLang="zh-CN" sz="2000" i="1" dirty="0" err="1"/>
                  <a:t>n</a:t>
                </a:r>
                <a:r>
                  <a:rPr lang="en-US" altLang="zh-CN" sz="2000" dirty="0"/>
                  <a:t>, </a:t>
                </a:r>
                <a:r>
                  <a:rPr lang="en-US" altLang="zh-CN" sz="2000" dirty="0" err="1"/>
                  <a:t>2</a:t>
                </a:r>
                <a:r>
                  <a:rPr lang="en-US" altLang="zh-CN" sz="2000" baseline="30000" dirty="0" err="1"/>
                  <a:t>log</a:t>
                </a:r>
                <a:r>
                  <a:rPr lang="en-US" altLang="zh-CN" sz="2000" i="1" baseline="30000" dirty="0" err="1"/>
                  <a:t>n</a:t>
                </a:r>
                <a:r>
                  <a:rPr lang="en-US" altLang="zh-CN" sz="2000" dirty="0"/>
                  <a:t>, </a:t>
                </a:r>
                <a:r>
                  <a:rPr lang="en-US" altLang="zh-CN" sz="2000" i="1" dirty="0"/>
                  <a:t>n</a:t>
                </a:r>
                <a:r>
                  <a:rPr lang="en-US" altLang="zh-CN" sz="2000" dirty="0"/>
                  <a:t>, log(</a:t>
                </a:r>
                <a:r>
                  <a:rPr lang="en-US" altLang="zh-CN" sz="2000" i="1" dirty="0"/>
                  <a:t>n</a:t>
                </a:r>
                <a:r>
                  <a:rPr lang="en-US" altLang="zh-CN" sz="2000" dirty="0"/>
                  <a:t>!), </a:t>
                </a:r>
                <a:r>
                  <a:rPr lang="en-US" altLang="zh-CN" sz="2000" i="1" dirty="0" err="1"/>
                  <a:t>n</a:t>
                </a:r>
                <a:r>
                  <a:rPr lang="en-US" altLang="zh-CN" sz="2000" dirty="0" err="1"/>
                  <a:t>log</a:t>
                </a:r>
                <a:r>
                  <a:rPr lang="en-US" altLang="zh-CN" sz="2000" i="1" dirty="0" err="1"/>
                  <a:t>n</a:t>
                </a:r>
                <a:r>
                  <a:rPr lang="en-US" altLang="zh-CN" sz="2000" dirty="0"/>
                  <a:t>, </a:t>
                </a:r>
                <a:r>
                  <a:rPr lang="en-US" altLang="zh-CN" sz="2000" i="1" dirty="0" err="1"/>
                  <a:t>n</a:t>
                </a:r>
                <a:r>
                  <a:rPr lang="en-US" altLang="zh-CN" sz="2000" baseline="30000" dirty="0" err="1"/>
                  <a:t>2</a:t>
                </a:r>
                <a:r>
                  <a:rPr lang="en-US" altLang="zh-CN" sz="2000" dirty="0"/>
                  <a:t>, </a:t>
                </a:r>
                <a:r>
                  <a:rPr lang="en-US" altLang="zh-CN" sz="2000" dirty="0" err="1"/>
                  <a:t>2</a:t>
                </a:r>
                <a:r>
                  <a:rPr lang="en-US" altLang="zh-CN" sz="2000" i="1" baseline="30000" dirty="0" err="1"/>
                  <a:t>n</a:t>
                </a:r>
                <a:r>
                  <a:rPr lang="en-US" altLang="zh-CN" sz="2000" dirty="0"/>
                  <a:t>, </a:t>
                </a:r>
                <a:r>
                  <a:rPr lang="en-US" altLang="zh-CN" sz="2000" i="1" dirty="0"/>
                  <a:t>n</a:t>
                </a:r>
                <a:r>
                  <a:rPr lang="en-US" altLang="zh-CN" sz="2000" dirty="0"/>
                  <a:t>!,</a:t>
                </a:r>
                <a14:m>
                  <m:oMath xmlns:m="http://schemas.openxmlformats.org/officeDocument/2006/math">
                    <m:sSup>
                      <m:sSupPr>
                        <m:ctrlPr>
                          <a:rPr lang="zh-CN" altLang="zh-CN" sz="2000" i="1">
                            <a:latin typeface="Cambria Math" panose="02040503050406030204" pitchFamily="18" charset="0"/>
                          </a:rPr>
                        </m:ctrlPr>
                      </m:sSupPr>
                      <m:e>
                        <m:r>
                          <a:rPr lang="en-US" altLang="zh-CN" sz="2000" i="1">
                            <a:latin typeface="Cambria Math" panose="02040503050406030204" pitchFamily="18" charset="0"/>
                          </a:rPr>
                          <m:t> 2</m:t>
                        </m:r>
                      </m:e>
                      <m:sup>
                        <m:sSup>
                          <m:sSupPr>
                            <m:ctrlPr>
                              <a:rPr lang="zh-CN" altLang="zh-CN" sz="2000" i="1">
                                <a:latin typeface="Cambria Math" panose="02040503050406030204" pitchFamily="18" charset="0"/>
                              </a:rPr>
                            </m:ctrlPr>
                          </m:sSupPr>
                          <m:e>
                            <m:r>
                              <a:rPr lang="en-US" altLang="zh-CN" sz="2000" i="1">
                                <a:latin typeface="Cambria Math" panose="02040503050406030204" pitchFamily="18" charset="0"/>
                              </a:rPr>
                              <m:t>2</m:t>
                            </m:r>
                          </m:e>
                          <m:sup>
                            <m:r>
                              <a:rPr lang="en-US" altLang="zh-CN" sz="2000" i="1">
                                <a:latin typeface="Cambria Math" panose="02040503050406030204" pitchFamily="18" charset="0"/>
                              </a:rPr>
                              <m:t>𝑛</m:t>
                            </m:r>
                          </m:sup>
                        </m:sSup>
                      </m:sup>
                    </m:sSup>
                  </m:oMath>
                </a14:m>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7" name="文本框 6">
                <a:extLst>
                  <a:ext uri="{FF2B5EF4-FFF2-40B4-BE49-F238E27FC236}">
                    <a16:creationId xmlns:a16="http://schemas.microsoft.com/office/drawing/2014/main" id="{BD6ADA9C-4EF9-B3AF-5327-EF1949F7BE8C}"/>
                  </a:ext>
                </a:extLst>
              </p:cNvPr>
              <p:cNvSpPr txBox="1">
                <a:spLocks noRot="1" noChangeAspect="1" noMove="1" noResize="1" noEditPoints="1" noAdjustHandles="1" noChangeArrowheads="1" noChangeShapeType="1" noTextEdit="1"/>
              </p:cNvSpPr>
              <p:nvPr/>
            </p:nvSpPr>
            <p:spPr>
              <a:xfrm>
                <a:off x="152795" y="5400083"/>
                <a:ext cx="7351918" cy="848758"/>
              </a:xfrm>
              <a:prstGeom prst="rect">
                <a:avLst/>
              </a:prstGeom>
              <a:blipFill>
                <a:blip r:embed="rId4"/>
                <a:stretch>
                  <a:fillRect t="-4317" b="-10072"/>
                </a:stretch>
              </a:blipFill>
            </p:spPr>
            <p:txBody>
              <a:bodyPr/>
              <a:lstStyle/>
              <a:p>
                <a:r>
                  <a:rPr lang="zh-CN" altLang="en-US">
                    <a:noFill/>
                  </a:rPr>
                  <a:t> </a:t>
                </a:r>
              </a:p>
            </p:txBody>
          </p:sp>
        </mc:Fallback>
      </mc:AlternateContent>
      <p:sp>
        <p:nvSpPr>
          <p:cNvPr id="2" name="灯片编号占位符 1">
            <a:extLst>
              <a:ext uri="{FF2B5EF4-FFF2-40B4-BE49-F238E27FC236}">
                <a16:creationId xmlns:a16="http://schemas.microsoft.com/office/drawing/2014/main" id="{75CAE420-2732-1561-1B05-22953D0A92D9}"/>
              </a:ext>
            </a:extLst>
          </p:cNvPr>
          <p:cNvSpPr>
            <a:spLocks noGrp="1"/>
          </p:cNvSpPr>
          <p:nvPr>
            <p:ph type="sldNum" sz="quarter" idx="12"/>
          </p:nvPr>
        </p:nvSpPr>
        <p:spPr/>
        <p:txBody>
          <a:bodyPr/>
          <a:lstStyle/>
          <a:p>
            <a:fld id="{D7C0FE0B-717B-41AE-9FA2-CA4BF851D1C3}" type="slidenum">
              <a:rPr lang="zh-CN" altLang="en-US" smtClean="0"/>
              <a:t>52</a:t>
            </a:fld>
            <a:endParaRPr lang="zh-CN" altLang="en-US"/>
          </a:p>
        </p:txBody>
      </p:sp>
    </p:spTree>
    <p:extLst>
      <p:ext uri="{BB962C8B-B14F-4D97-AF65-F5344CB8AC3E}">
        <p14:creationId xmlns:p14="http://schemas.microsoft.com/office/powerpoint/2010/main" val="3866448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Effect transition="in" filter="fade">
                                      <p:cBhvr>
                                        <p:cTn id="19" dur="1000"/>
                                        <p:tgtEl>
                                          <p:spTgt spid="4">
                                            <p:txEl>
                                              <p:pRg st="2" end="2"/>
                                            </p:txEl>
                                          </p:spTgt>
                                        </p:tgtEl>
                                      </p:cBhvr>
                                    </p:animEffect>
                                    <p:anim calcmode="lin" valueType="num">
                                      <p:cBhvr>
                                        <p:cTn id="20"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4">
                                            <p:txEl>
                                              <p:pRg st="3" end="3"/>
                                            </p:txEl>
                                          </p:spTgt>
                                        </p:tgtEl>
                                        <p:attrNameLst>
                                          <p:attrName>style.visibility</p:attrName>
                                        </p:attrNameLst>
                                      </p:cBhvr>
                                      <p:to>
                                        <p:strVal val="visible"/>
                                      </p:to>
                                    </p:set>
                                    <p:animEffect transition="in" filter="fade">
                                      <p:cBhvr>
                                        <p:cTn id="24" dur="1000"/>
                                        <p:tgtEl>
                                          <p:spTgt spid="4">
                                            <p:txEl>
                                              <p:pRg st="3" end="3"/>
                                            </p:txEl>
                                          </p:spTgt>
                                        </p:tgtEl>
                                      </p:cBhvr>
                                    </p:animEffect>
                                    <p:anim calcmode="lin" valueType="num">
                                      <p:cBhvr>
                                        <p:cTn id="25"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4">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4">
                                            <p:txEl>
                                              <p:pRg st="4" end="4"/>
                                            </p:txEl>
                                          </p:spTgt>
                                        </p:tgtEl>
                                        <p:attrNameLst>
                                          <p:attrName>style.visibility</p:attrName>
                                        </p:attrNameLst>
                                      </p:cBhvr>
                                      <p:to>
                                        <p:strVal val="visible"/>
                                      </p:to>
                                    </p:set>
                                    <p:animEffect transition="in" filter="fade">
                                      <p:cBhvr>
                                        <p:cTn id="29" dur="1000"/>
                                        <p:tgtEl>
                                          <p:spTgt spid="4">
                                            <p:txEl>
                                              <p:pRg st="4" end="4"/>
                                            </p:txEl>
                                          </p:spTgt>
                                        </p:tgtEl>
                                      </p:cBhvr>
                                    </p:animEffect>
                                    <p:anim calcmode="lin" valueType="num">
                                      <p:cBhvr>
                                        <p:cTn id="30"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4">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4">
                                            <p:txEl>
                                              <p:pRg st="5" end="5"/>
                                            </p:txEl>
                                          </p:spTgt>
                                        </p:tgtEl>
                                        <p:attrNameLst>
                                          <p:attrName>style.visibility</p:attrName>
                                        </p:attrNameLst>
                                      </p:cBhvr>
                                      <p:to>
                                        <p:strVal val="visible"/>
                                      </p:to>
                                    </p:set>
                                    <p:animEffect transition="in" filter="fade">
                                      <p:cBhvr>
                                        <p:cTn id="34" dur="1000"/>
                                        <p:tgtEl>
                                          <p:spTgt spid="4">
                                            <p:txEl>
                                              <p:pRg st="5" end="5"/>
                                            </p:txEl>
                                          </p:spTgt>
                                        </p:tgtEl>
                                      </p:cBhvr>
                                    </p:animEffect>
                                    <p:anim calcmode="lin" valueType="num">
                                      <p:cBhvr>
                                        <p:cTn id="35"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4">
                                            <p:txEl>
                                              <p:pRg st="5" end="5"/>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animEffect transition="in" filter="fade">
                                      <p:cBhvr>
                                        <p:cTn id="39" dur="1000"/>
                                        <p:tgtEl>
                                          <p:spTgt spid="4">
                                            <p:txEl>
                                              <p:pRg st="6" end="6"/>
                                            </p:txEl>
                                          </p:spTgt>
                                        </p:tgtEl>
                                      </p:cBhvr>
                                    </p:animEffect>
                                    <p:anim calcmode="lin" valueType="num">
                                      <p:cBhvr>
                                        <p:cTn id="40"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41" dur="1000" fill="hold"/>
                                        <p:tgtEl>
                                          <p:spTgt spid="4">
                                            <p:txEl>
                                              <p:pRg st="6" end="6"/>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4">
                                            <p:txEl>
                                              <p:pRg st="7" end="7"/>
                                            </p:txEl>
                                          </p:spTgt>
                                        </p:tgtEl>
                                        <p:attrNameLst>
                                          <p:attrName>style.visibility</p:attrName>
                                        </p:attrNameLst>
                                      </p:cBhvr>
                                      <p:to>
                                        <p:strVal val="visible"/>
                                      </p:to>
                                    </p:set>
                                    <p:animEffect transition="in" filter="fade">
                                      <p:cBhvr>
                                        <p:cTn id="44" dur="1000"/>
                                        <p:tgtEl>
                                          <p:spTgt spid="4">
                                            <p:txEl>
                                              <p:pRg st="7" end="7"/>
                                            </p:txEl>
                                          </p:spTgt>
                                        </p:tgtEl>
                                      </p:cBhvr>
                                    </p:animEffect>
                                    <p:anim calcmode="lin" valueType="num">
                                      <p:cBhvr>
                                        <p:cTn id="45"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46" dur="1000" fill="hold"/>
                                        <p:tgtEl>
                                          <p:spTgt spid="4">
                                            <p:txEl>
                                              <p:pRg st="7" end="7"/>
                                            </p:txEl>
                                          </p:spTgt>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4">
                                            <p:txEl>
                                              <p:pRg st="8" end="8"/>
                                            </p:txEl>
                                          </p:spTgt>
                                        </p:tgtEl>
                                        <p:attrNameLst>
                                          <p:attrName>style.visibility</p:attrName>
                                        </p:attrNameLst>
                                      </p:cBhvr>
                                      <p:to>
                                        <p:strVal val="visible"/>
                                      </p:to>
                                    </p:set>
                                    <p:animEffect transition="in" filter="fade">
                                      <p:cBhvr>
                                        <p:cTn id="49" dur="1000"/>
                                        <p:tgtEl>
                                          <p:spTgt spid="4">
                                            <p:txEl>
                                              <p:pRg st="8" end="8"/>
                                            </p:txEl>
                                          </p:spTgt>
                                        </p:tgtEl>
                                      </p:cBhvr>
                                    </p:animEffect>
                                    <p:anim calcmode="lin" valueType="num">
                                      <p:cBhvr>
                                        <p:cTn id="50"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51"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4">
                                            <p:txEl>
                                              <p:pRg st="9" end="9"/>
                                            </p:txEl>
                                          </p:spTgt>
                                        </p:tgtEl>
                                        <p:attrNameLst>
                                          <p:attrName>style.visibility</p:attrName>
                                        </p:attrNameLst>
                                      </p:cBhvr>
                                      <p:to>
                                        <p:strVal val="visible"/>
                                      </p:to>
                                    </p:set>
                                    <p:animEffect transition="in" filter="fade">
                                      <p:cBhvr>
                                        <p:cTn id="56" dur="1000"/>
                                        <p:tgtEl>
                                          <p:spTgt spid="4">
                                            <p:txEl>
                                              <p:pRg st="9" end="9"/>
                                            </p:txEl>
                                          </p:spTgt>
                                        </p:tgtEl>
                                      </p:cBhvr>
                                    </p:animEffect>
                                    <p:anim calcmode="lin" valueType="num">
                                      <p:cBhvr>
                                        <p:cTn id="57"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58" dur="1000" fill="hold"/>
                                        <p:tgtEl>
                                          <p:spTgt spid="4">
                                            <p:txEl>
                                              <p:pRg st="9" end="9"/>
                                            </p:txEl>
                                          </p:spTgt>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4">
                                            <p:txEl>
                                              <p:pRg st="10" end="10"/>
                                            </p:txEl>
                                          </p:spTgt>
                                        </p:tgtEl>
                                        <p:attrNameLst>
                                          <p:attrName>style.visibility</p:attrName>
                                        </p:attrNameLst>
                                      </p:cBhvr>
                                      <p:to>
                                        <p:strVal val="visible"/>
                                      </p:to>
                                    </p:set>
                                    <p:animEffect transition="in" filter="fade">
                                      <p:cBhvr>
                                        <p:cTn id="61" dur="1000"/>
                                        <p:tgtEl>
                                          <p:spTgt spid="4">
                                            <p:txEl>
                                              <p:pRg st="10" end="10"/>
                                            </p:txEl>
                                          </p:spTgt>
                                        </p:tgtEl>
                                      </p:cBhvr>
                                    </p:animEffect>
                                    <p:anim calcmode="lin" valueType="num">
                                      <p:cBhvr>
                                        <p:cTn id="62"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63" dur="1000" fill="hold"/>
                                        <p:tgtEl>
                                          <p:spTgt spid="4">
                                            <p:txEl>
                                              <p:pRg st="10" end="10"/>
                                            </p:txEl>
                                          </p:spTgt>
                                        </p:tgtEl>
                                        <p:attrNameLst>
                                          <p:attrName>ppt_y</p:attrName>
                                        </p:attrNameLst>
                                      </p:cBhvr>
                                      <p:tavLst>
                                        <p:tav tm="0">
                                          <p:val>
                                            <p:strVal val="#ppt_y+.1"/>
                                          </p:val>
                                        </p:tav>
                                        <p:tav tm="100000">
                                          <p:val>
                                            <p:strVal val="#ppt_y"/>
                                          </p:val>
                                        </p:tav>
                                      </p:tavLst>
                                    </p:anim>
                                  </p:childTnLst>
                                </p:cTn>
                              </p:par>
                              <p:par>
                                <p:cTn id="64" presetID="42" presetClass="entr" presetSubtype="0" fill="hold" nodeType="withEffect">
                                  <p:stCondLst>
                                    <p:cond delay="0"/>
                                  </p:stCondLst>
                                  <p:childTnLst>
                                    <p:set>
                                      <p:cBhvr>
                                        <p:cTn id="65" dur="1" fill="hold">
                                          <p:stCondLst>
                                            <p:cond delay="0"/>
                                          </p:stCondLst>
                                        </p:cTn>
                                        <p:tgtEl>
                                          <p:spTgt spid="7169"/>
                                        </p:tgtEl>
                                        <p:attrNameLst>
                                          <p:attrName>style.visibility</p:attrName>
                                        </p:attrNameLst>
                                      </p:cBhvr>
                                      <p:to>
                                        <p:strVal val="visible"/>
                                      </p:to>
                                    </p:set>
                                    <p:animEffect transition="in" filter="fade">
                                      <p:cBhvr>
                                        <p:cTn id="66" dur="1000"/>
                                        <p:tgtEl>
                                          <p:spTgt spid="7169"/>
                                        </p:tgtEl>
                                      </p:cBhvr>
                                    </p:animEffect>
                                    <p:anim calcmode="lin" valueType="num">
                                      <p:cBhvr>
                                        <p:cTn id="67" dur="1000" fill="hold"/>
                                        <p:tgtEl>
                                          <p:spTgt spid="7169"/>
                                        </p:tgtEl>
                                        <p:attrNameLst>
                                          <p:attrName>ppt_x</p:attrName>
                                        </p:attrNameLst>
                                      </p:cBhvr>
                                      <p:tavLst>
                                        <p:tav tm="0">
                                          <p:val>
                                            <p:strVal val="#ppt_x"/>
                                          </p:val>
                                        </p:tav>
                                        <p:tav tm="100000">
                                          <p:val>
                                            <p:strVal val="#ppt_x"/>
                                          </p:val>
                                        </p:tav>
                                      </p:tavLst>
                                    </p:anim>
                                    <p:anim calcmode="lin" valueType="num">
                                      <p:cBhvr>
                                        <p:cTn id="68" dur="1000" fill="hold"/>
                                        <p:tgtEl>
                                          <p:spTgt spid="7169"/>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5"/>
                                        </p:tgtEl>
                                        <p:attrNameLst>
                                          <p:attrName>style.visibility</p:attrName>
                                        </p:attrNameLst>
                                      </p:cBhvr>
                                      <p:to>
                                        <p:strVal val="visible"/>
                                      </p:to>
                                    </p:set>
                                    <p:animEffect transition="in" filter="fade">
                                      <p:cBhvr>
                                        <p:cTn id="71" dur="1000"/>
                                        <p:tgtEl>
                                          <p:spTgt spid="5"/>
                                        </p:tgtEl>
                                      </p:cBhvr>
                                    </p:animEffect>
                                    <p:anim calcmode="lin" valueType="num">
                                      <p:cBhvr>
                                        <p:cTn id="72" dur="1000" fill="hold"/>
                                        <p:tgtEl>
                                          <p:spTgt spid="5"/>
                                        </p:tgtEl>
                                        <p:attrNameLst>
                                          <p:attrName>ppt_x</p:attrName>
                                        </p:attrNameLst>
                                      </p:cBhvr>
                                      <p:tavLst>
                                        <p:tav tm="0">
                                          <p:val>
                                            <p:strVal val="#ppt_x"/>
                                          </p:val>
                                        </p:tav>
                                        <p:tav tm="100000">
                                          <p:val>
                                            <p:strVal val="#ppt_x"/>
                                          </p:val>
                                        </p:tav>
                                      </p:tavLst>
                                    </p:anim>
                                    <p:anim calcmode="lin" valueType="num">
                                      <p:cBhvr>
                                        <p:cTn id="7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42" presetClass="entr" presetSubtype="0" fill="hold" grpId="0" nodeType="clickEffect">
                                  <p:stCondLst>
                                    <p:cond delay="0"/>
                                  </p:stCondLst>
                                  <p:childTnLst>
                                    <p:set>
                                      <p:cBhvr>
                                        <p:cTn id="77" dur="1" fill="hold">
                                          <p:stCondLst>
                                            <p:cond delay="0"/>
                                          </p:stCondLst>
                                        </p:cTn>
                                        <p:tgtEl>
                                          <p:spTgt spid="7"/>
                                        </p:tgtEl>
                                        <p:attrNameLst>
                                          <p:attrName>style.visibility</p:attrName>
                                        </p:attrNameLst>
                                      </p:cBhvr>
                                      <p:to>
                                        <p:strVal val="visible"/>
                                      </p:to>
                                    </p:set>
                                    <p:animEffect transition="in" filter="fade">
                                      <p:cBhvr>
                                        <p:cTn id="78" dur="1000"/>
                                        <p:tgtEl>
                                          <p:spTgt spid="7"/>
                                        </p:tgtEl>
                                      </p:cBhvr>
                                    </p:animEffect>
                                    <p:anim calcmode="lin" valueType="num">
                                      <p:cBhvr>
                                        <p:cTn id="79" dur="1000" fill="hold"/>
                                        <p:tgtEl>
                                          <p:spTgt spid="7"/>
                                        </p:tgtEl>
                                        <p:attrNameLst>
                                          <p:attrName>ppt_x</p:attrName>
                                        </p:attrNameLst>
                                      </p:cBhvr>
                                      <p:tavLst>
                                        <p:tav tm="0">
                                          <p:val>
                                            <p:strVal val="#ppt_x"/>
                                          </p:val>
                                        </p:tav>
                                        <p:tav tm="100000">
                                          <p:val>
                                            <p:strVal val="#ppt_x"/>
                                          </p:val>
                                        </p:tav>
                                      </p:tavLst>
                                    </p:anim>
                                    <p:anim calcmode="lin" valueType="num">
                                      <p:cBhvr>
                                        <p:cTn id="8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5" grpId="0" uiExpand="1"/>
      <p:bldP spid="7"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90D5AE1F-BD0D-1ED6-CADB-8D17441083CF}"/>
              </a:ext>
            </a:extLst>
          </p:cNvPr>
          <p:cNvSpPr txBox="1"/>
          <p:nvPr/>
        </p:nvSpPr>
        <p:spPr>
          <a:xfrm>
            <a:off x="857547" y="729624"/>
            <a:ext cx="10257388" cy="5320367"/>
          </a:xfrm>
          <a:prstGeom prst="rect">
            <a:avLst/>
          </a:prstGeom>
          <a:noFill/>
        </p:spPr>
        <p:txBody>
          <a:bodyPr wrap="square">
            <a:spAutoFit/>
          </a:bodyPr>
          <a:lstStyle/>
          <a:p>
            <a:pPr indent="266700" algn="just">
              <a:lnSpc>
                <a:spcPct val="120000"/>
              </a:lnSpc>
              <a:spcAft>
                <a:spcPts val="600"/>
              </a:spcAft>
              <a:buNone/>
            </a:pPr>
            <a:r>
              <a:rPr lang="en-US" altLang="zh-CN" sz="22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2200" b="1" kern="100" dirty="0">
                <a:effectLst/>
                <a:latin typeface="Times New Roman" panose="02020603050405020304" pitchFamily="18" charset="0"/>
                <a:ea typeface="宋体" panose="02010600030101010101" pitchFamily="2" charset="-122"/>
                <a:cs typeface="Times New Roman" panose="02020603050405020304" pitchFamily="18" charset="0"/>
              </a:rPr>
              <a:t>一般情况下，对一个问题（或一类算法）只需选择一种基本操作来讨论算法的时间复杂度即可，有时也需要同时考虑几种基本操作，甚至可以对不同的操作赋予不同权值，以反映执行不同操作所需的相对时间，这种做法便于综合比较解决同一问题的两种完全不同的算法。</a:t>
            </a:r>
            <a:endParaRPr lang="zh-CN" altLang="zh-CN" sz="2200" b="1"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20000"/>
              </a:lnSpc>
              <a:spcAft>
                <a:spcPts val="600"/>
              </a:spcAft>
              <a:buNone/>
            </a:pPr>
            <a:r>
              <a:rPr lang="en-US" altLang="zh-CN" sz="22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2200" b="1" kern="100" dirty="0">
                <a:effectLst/>
                <a:latin typeface="Times New Roman" panose="02020603050405020304" pitchFamily="18" charset="0"/>
                <a:ea typeface="宋体" panose="02010600030101010101" pitchFamily="2" charset="-122"/>
                <a:cs typeface="Times New Roman" panose="02020603050405020304" pitchFamily="18" charset="0"/>
              </a:rPr>
              <a:t>对于程序的基本结构，有以下</a:t>
            </a:r>
            <a:r>
              <a:rPr lang="zh-CN" altLang="zh-CN" sz="22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计算基本操作频度的法则</a:t>
            </a:r>
            <a:endParaRPr lang="zh-CN" altLang="zh-CN" sz="2200" b="1" kern="100" dirty="0">
              <a:solidFill>
                <a:srgbClr val="C00000"/>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endParaRPr>
          </a:p>
          <a:p>
            <a:pPr marL="342900" lvl="0" indent="-342900" algn="just">
              <a:lnSpc>
                <a:spcPct val="120000"/>
              </a:lnSpc>
              <a:spcAft>
                <a:spcPts val="600"/>
              </a:spcAft>
              <a:buFont typeface="+mj-lt"/>
              <a:buAutoNum type="arabicPeriod"/>
            </a:pPr>
            <a:r>
              <a:rPr lang="zh-CN" altLang="zh-CN" sz="2200" b="1" kern="100" dirty="0">
                <a:solidFill>
                  <a:srgbClr val="0070C0"/>
                </a:solidFill>
                <a:effectLst/>
                <a:latin typeface="黑体" panose="02010609060101010101" pitchFamily="49" charset="-122"/>
                <a:ea typeface="黑体" panose="02010609060101010101" pitchFamily="49" charset="-122"/>
                <a:cs typeface="Times New Roman" panose="02020603050405020304" pitchFamily="18" charset="0"/>
              </a:rPr>
              <a:t>循环语句</a:t>
            </a:r>
            <a:r>
              <a:rPr lang="zh-CN" altLang="zh-CN" sz="2200" b="1" kern="100" dirty="0">
                <a:effectLst/>
                <a:latin typeface="Times New Roman" panose="02020603050405020304" pitchFamily="18" charset="0"/>
                <a:ea typeface="宋体" panose="02010600030101010101" pitchFamily="2" charset="-122"/>
                <a:cs typeface="Times New Roman" panose="02020603050405020304" pitchFamily="18" charset="0"/>
              </a:rPr>
              <a:t>。一个循环语句中的基本操作的频度是其迭代次数，也就是循环次数的常数倍。</a:t>
            </a:r>
            <a:endParaRPr lang="zh-CN" altLang="zh-CN" sz="2200" b="1" kern="100" dirty="0">
              <a:effectLst/>
              <a:latin typeface="等线" panose="02010600030101010101" pitchFamily="2" charset="-122"/>
              <a:ea typeface="等线" panose="02010600030101010101" pitchFamily="2" charset="-122"/>
              <a:cs typeface="Times New Roman" panose="02020603050405020304" pitchFamily="18" charset="0"/>
            </a:endParaRPr>
          </a:p>
          <a:p>
            <a:pPr marL="342900" lvl="0" indent="-342900" algn="just">
              <a:lnSpc>
                <a:spcPct val="120000"/>
              </a:lnSpc>
              <a:spcAft>
                <a:spcPts val="600"/>
              </a:spcAft>
              <a:buFont typeface="+mj-lt"/>
              <a:buAutoNum type="arabicPeriod"/>
            </a:pPr>
            <a:r>
              <a:rPr lang="zh-CN" altLang="zh-CN" sz="2200" b="1" kern="100" dirty="0">
                <a:solidFill>
                  <a:srgbClr val="0070C0"/>
                </a:solidFill>
                <a:latin typeface="黑体" panose="02010609060101010101" pitchFamily="49" charset="-122"/>
                <a:ea typeface="黑体" panose="02010609060101010101" pitchFamily="49" charset="-122"/>
                <a:cs typeface="Times New Roman" panose="02020603050405020304" pitchFamily="18" charset="0"/>
              </a:rPr>
              <a:t>嵌套循环语句</a:t>
            </a:r>
            <a:r>
              <a:rPr lang="zh-CN" altLang="zh-CN" sz="2200" b="1" kern="100" dirty="0">
                <a:effectLst/>
                <a:latin typeface="Times New Roman" panose="02020603050405020304" pitchFamily="18" charset="0"/>
                <a:ea typeface="宋体" panose="02010600030101010101" pitchFamily="2" charset="-122"/>
                <a:cs typeface="Times New Roman" panose="02020603050405020304" pitchFamily="18" charset="0"/>
              </a:rPr>
              <a:t>。最内层的基本操作的频度是各层循环的次数的乘积的常数倍。</a:t>
            </a:r>
            <a:endParaRPr lang="zh-CN" altLang="zh-CN" sz="2200" b="1" kern="100" dirty="0">
              <a:effectLst/>
              <a:latin typeface="等线" panose="02010600030101010101" pitchFamily="2" charset="-122"/>
              <a:ea typeface="等线" panose="02010600030101010101" pitchFamily="2" charset="-122"/>
              <a:cs typeface="Times New Roman" panose="02020603050405020304" pitchFamily="18" charset="0"/>
            </a:endParaRPr>
          </a:p>
          <a:p>
            <a:pPr marL="342900" lvl="0" indent="-342900" algn="just">
              <a:lnSpc>
                <a:spcPct val="120000"/>
              </a:lnSpc>
              <a:spcAft>
                <a:spcPts val="600"/>
              </a:spcAft>
              <a:buFont typeface="+mj-lt"/>
              <a:buAutoNum type="arabicPeriod"/>
            </a:pPr>
            <a:r>
              <a:rPr lang="zh-CN" altLang="zh-CN" sz="2200" b="1" kern="100" dirty="0">
                <a:solidFill>
                  <a:srgbClr val="0070C0"/>
                </a:solidFill>
                <a:latin typeface="黑体" panose="02010609060101010101" pitchFamily="49" charset="-122"/>
                <a:ea typeface="黑体" panose="02010609060101010101" pitchFamily="49" charset="-122"/>
                <a:cs typeface="Times New Roman" panose="02020603050405020304" pitchFamily="18" charset="0"/>
              </a:rPr>
              <a:t>顺序语句</a:t>
            </a:r>
            <a:r>
              <a:rPr lang="zh-CN" altLang="zh-CN" sz="2200" b="1" kern="100" dirty="0">
                <a:effectLst/>
                <a:latin typeface="Times New Roman" panose="02020603050405020304" pitchFamily="18" charset="0"/>
                <a:ea typeface="宋体" panose="02010600030101010101" pitchFamily="2" charset="-122"/>
                <a:cs typeface="Times New Roman" panose="02020603050405020304" pitchFamily="18" charset="0"/>
              </a:rPr>
              <a:t>。一组顺序语句的基本操作频度是每个语句（的基本操作）频度之和。这些语句可以是循环语句或条件语句。</a:t>
            </a:r>
            <a:endParaRPr lang="zh-CN" altLang="zh-CN" sz="2200" b="1" kern="100" dirty="0">
              <a:effectLst/>
              <a:latin typeface="等线" panose="02010600030101010101" pitchFamily="2" charset="-122"/>
              <a:ea typeface="等线" panose="02010600030101010101" pitchFamily="2" charset="-122"/>
              <a:cs typeface="Times New Roman" panose="02020603050405020304" pitchFamily="18" charset="0"/>
            </a:endParaRPr>
          </a:p>
          <a:p>
            <a:pPr marL="342900" lvl="0" indent="-342900" algn="just">
              <a:lnSpc>
                <a:spcPct val="120000"/>
              </a:lnSpc>
              <a:spcAft>
                <a:spcPts val="600"/>
              </a:spcAft>
              <a:buFont typeface="+mj-lt"/>
              <a:buAutoNum type="arabicPeriod"/>
            </a:pPr>
            <a:r>
              <a:rPr lang="zh-CN" altLang="zh-CN" sz="2200" b="1" kern="100" dirty="0">
                <a:solidFill>
                  <a:srgbClr val="0070C0"/>
                </a:solidFill>
                <a:latin typeface="黑体" panose="02010609060101010101" pitchFamily="49" charset="-122"/>
                <a:ea typeface="黑体" panose="02010609060101010101" pitchFamily="49" charset="-122"/>
                <a:cs typeface="Times New Roman" panose="02020603050405020304" pitchFamily="18" charset="0"/>
              </a:rPr>
              <a:t>条件语句</a:t>
            </a:r>
            <a:r>
              <a:rPr lang="zh-CN" altLang="zh-CN" sz="2200" b="1" kern="100" dirty="0">
                <a:effectLst/>
                <a:latin typeface="Times New Roman" panose="02020603050405020304" pitchFamily="18" charset="0"/>
                <a:ea typeface="宋体" panose="02010600030101010101" pitchFamily="2" charset="-122"/>
                <a:cs typeface="Times New Roman" panose="02020603050405020304" pitchFamily="18" charset="0"/>
              </a:rPr>
              <a:t>。常见的条件语句是</a:t>
            </a:r>
            <a:r>
              <a:rPr lang="en-US" altLang="zh-CN" sz="2200" b="1" kern="100" dirty="0">
                <a:effectLst/>
                <a:latin typeface="Times New Roman" panose="02020603050405020304" pitchFamily="18" charset="0"/>
                <a:ea typeface="宋体" panose="02010600030101010101" pitchFamily="2" charset="-122"/>
                <a:cs typeface="Times New Roman" panose="02020603050405020304" pitchFamily="18" charset="0"/>
              </a:rPr>
              <a:t>if/else</a:t>
            </a:r>
            <a:r>
              <a:rPr lang="zh-CN" altLang="zh-CN" sz="2200" b="1" kern="100" dirty="0">
                <a:effectLst/>
                <a:latin typeface="Times New Roman" panose="02020603050405020304" pitchFamily="18" charset="0"/>
                <a:ea typeface="宋体" panose="02010600030101010101" pitchFamily="2" charset="-122"/>
                <a:cs typeface="Times New Roman" panose="02020603050405020304" pitchFamily="18" charset="0"/>
              </a:rPr>
              <a:t>或</a:t>
            </a:r>
            <a:r>
              <a:rPr lang="en-US" altLang="zh-CN" sz="2200" b="1" kern="100" dirty="0">
                <a:effectLst/>
                <a:latin typeface="Times New Roman" panose="02020603050405020304" pitchFamily="18" charset="0"/>
                <a:ea typeface="宋体" panose="02010600030101010101" pitchFamily="2" charset="-122"/>
                <a:cs typeface="Times New Roman" panose="02020603050405020304" pitchFamily="18" charset="0"/>
              </a:rPr>
              <a:t>switch/case</a:t>
            </a:r>
            <a:r>
              <a:rPr lang="zh-CN" altLang="zh-CN" sz="2200" b="1" kern="100" dirty="0">
                <a:effectLst/>
                <a:latin typeface="Times New Roman" panose="02020603050405020304" pitchFamily="18" charset="0"/>
                <a:ea typeface="宋体" panose="02010600030101010101" pitchFamily="2" charset="-122"/>
                <a:cs typeface="Times New Roman" panose="02020603050405020304" pitchFamily="18" charset="0"/>
              </a:rPr>
              <a:t>语句，也称为分支语句。条件语句的基本操作频度是条件表达式的频度</a:t>
            </a:r>
            <a:r>
              <a:rPr lang="en-US" altLang="zh-CN" sz="22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200" b="1" kern="100" dirty="0">
                <a:effectLst/>
                <a:latin typeface="Times New Roman" panose="02020603050405020304" pitchFamily="18" charset="0"/>
                <a:ea typeface="宋体" panose="02010600030101010101" pitchFamily="2" charset="-122"/>
                <a:cs typeface="Times New Roman" panose="02020603050405020304" pitchFamily="18" charset="0"/>
              </a:rPr>
              <a:t>各分支的频度最大值。</a:t>
            </a:r>
            <a:endParaRPr lang="zh-CN" altLang="zh-CN" sz="2200" b="1"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9B7BE729-4749-E38A-0375-920AF15011B2}"/>
              </a:ext>
            </a:extLst>
          </p:cNvPr>
          <p:cNvSpPr>
            <a:spLocks noGrp="1"/>
          </p:cNvSpPr>
          <p:nvPr>
            <p:ph type="sldNum" sz="quarter" idx="12"/>
          </p:nvPr>
        </p:nvSpPr>
        <p:spPr/>
        <p:txBody>
          <a:bodyPr/>
          <a:lstStyle/>
          <a:p>
            <a:fld id="{D7C0FE0B-717B-41AE-9FA2-CA4BF851D1C3}" type="slidenum">
              <a:rPr lang="zh-CN" altLang="en-US" smtClean="0"/>
              <a:t>53</a:t>
            </a:fld>
            <a:endParaRPr lang="zh-CN" altLang="en-US"/>
          </a:p>
        </p:txBody>
      </p:sp>
    </p:spTree>
    <p:extLst>
      <p:ext uri="{BB962C8B-B14F-4D97-AF65-F5344CB8AC3E}">
        <p14:creationId xmlns:p14="http://schemas.microsoft.com/office/powerpoint/2010/main" val="3427634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1000"/>
                                        <p:tgtEl>
                                          <p:spTgt spid="3">
                                            <p:txEl>
                                              <p:pRg st="3" end="3"/>
                                            </p:txEl>
                                          </p:spTgt>
                                        </p:tgtEl>
                                      </p:cBhvr>
                                    </p:animEffect>
                                    <p:anim calcmode="lin" valueType="num">
                                      <p:cBhvr>
                                        <p:cTn id="2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fade">
                                      <p:cBhvr>
                                        <p:cTn id="33" dur="1000"/>
                                        <p:tgtEl>
                                          <p:spTgt spid="3">
                                            <p:txEl>
                                              <p:pRg st="4" end="4"/>
                                            </p:txEl>
                                          </p:spTgt>
                                        </p:tgtEl>
                                      </p:cBhvr>
                                    </p:animEffect>
                                    <p:anim calcmode="lin" valueType="num">
                                      <p:cBhvr>
                                        <p:cTn id="34"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3">
                                            <p:txEl>
                                              <p:pRg st="5" end="5"/>
                                            </p:txEl>
                                          </p:spTgt>
                                        </p:tgtEl>
                                        <p:attrNameLst>
                                          <p:attrName>style.visibility</p:attrName>
                                        </p:attrNameLst>
                                      </p:cBhvr>
                                      <p:to>
                                        <p:strVal val="visible"/>
                                      </p:to>
                                    </p:set>
                                    <p:animEffect transition="in" filter="fade">
                                      <p:cBhvr>
                                        <p:cTn id="40" dur="1000"/>
                                        <p:tgtEl>
                                          <p:spTgt spid="3">
                                            <p:txEl>
                                              <p:pRg st="5" end="5"/>
                                            </p:txEl>
                                          </p:spTgt>
                                        </p:tgtEl>
                                      </p:cBhvr>
                                    </p:animEffect>
                                    <p:anim calcmode="lin" valueType="num">
                                      <p:cBhvr>
                                        <p:cTn id="41"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A943AA9-08FA-9AD8-9C59-6CD4DE958F28}"/>
              </a:ext>
            </a:extLst>
          </p:cNvPr>
          <p:cNvSpPr txBox="1"/>
          <p:nvPr/>
        </p:nvSpPr>
        <p:spPr>
          <a:xfrm>
            <a:off x="270846" y="711220"/>
            <a:ext cx="11535811" cy="5554790"/>
          </a:xfrm>
          <a:prstGeom prst="rect">
            <a:avLst/>
          </a:prstGeom>
          <a:noFill/>
        </p:spPr>
        <p:txBody>
          <a:bodyPr wrap="square">
            <a:spAutoFit/>
          </a:bodyPr>
          <a:lstStyle/>
          <a:p>
            <a:pPr indent="266700" algn="just">
              <a:lnSpc>
                <a:spcPct val="115000"/>
              </a:lnSpc>
              <a:buNone/>
            </a:pP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算法中基本操作重复执行的次数</a:t>
            </a:r>
            <a:r>
              <a:rPr lang="zh-CN" altLang="en-US" sz="2000" kern="100" dirty="0">
                <a:effectLst/>
                <a:latin typeface="Times New Roman" panose="02020603050405020304" pitchFamily="18" charset="0"/>
                <a:ea typeface="宋体" panose="02010600030101010101" pitchFamily="2" charset="-122"/>
                <a:cs typeface="Times New Roman" panose="02020603050405020304" pitchFamily="18" charset="0"/>
              </a:rPr>
              <a:t>通常</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随问题的输入数据集</a:t>
            </a:r>
            <a:r>
              <a:rPr lang="zh-CN" altLang="en-US" sz="2000" kern="100" dirty="0">
                <a:effectLst/>
                <a:latin typeface="Times New Roman" panose="02020603050405020304" pitchFamily="18" charset="0"/>
                <a:ea typeface="宋体" panose="02010600030101010101" pitchFamily="2" charset="-122"/>
                <a:cs typeface="Times New Roman" panose="02020603050405020304" pitchFamily="18" charset="0"/>
              </a:rPr>
              <a:t>而异</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。例如在起泡排序的算法中：</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9240" algn="just">
              <a:spcBef>
                <a:spcPts val="600"/>
              </a:spcBef>
              <a:buNone/>
            </a:pPr>
            <a:r>
              <a:rPr lang="en-US" altLang="zh-CN" sz="2000" b="1" kern="100" dirty="0">
                <a:effectLst/>
                <a:latin typeface="Courier New" panose="02070309020205020404" pitchFamily="49" charset="0"/>
                <a:ea typeface="宋体" panose="02010600030101010101" pitchFamily="2" charset="-122"/>
                <a:cs typeface="Times New Roman" panose="02020603050405020304" pitchFamily="18" charset="0"/>
              </a:rPr>
              <a:t>void</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2000" kern="100" dirty="0" err="1">
                <a:effectLst/>
                <a:latin typeface="Courier New" panose="02070309020205020404" pitchFamily="49" charset="0"/>
                <a:ea typeface="宋体" panose="02010600030101010101" pitchFamily="2" charset="-122"/>
                <a:cs typeface="Times New Roman" panose="02020603050405020304" pitchFamily="18" charset="0"/>
              </a:rPr>
              <a:t>bubble_sort</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2000" b="1" kern="100" dirty="0">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 a[], </a:t>
            </a:r>
            <a:r>
              <a:rPr lang="en-US" altLang="zh-CN" sz="2000" b="1" kern="100" dirty="0">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 n) </a:t>
            </a:r>
            <a:r>
              <a:rPr lang="en-US" altLang="zh-CN" sz="20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2000" b="1" kern="100" dirty="0">
                <a:latin typeface="等线" panose="02010600030101010101" pitchFamily="2" charset="-122"/>
                <a:ea typeface="等线" panose="02010600030101010101" pitchFamily="2" charset="-122"/>
                <a:cs typeface="Times New Roman" panose="02020603050405020304" pitchFamily="18" charset="0"/>
              </a:rPr>
              <a:t> </a:t>
            </a:r>
            <a:r>
              <a:rPr lang="en-US" altLang="zh-CN" sz="2000" kern="100" dirty="0">
                <a:solidFill>
                  <a:srgbClr val="0070C0"/>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sz="2000" kern="100" dirty="0">
                <a:solidFill>
                  <a:srgbClr val="0070C0"/>
                </a:solidFill>
                <a:effectLst/>
                <a:latin typeface="Courier New" panose="02070309020205020404" pitchFamily="49" charset="0"/>
                <a:ea typeface="宋体" panose="02010600030101010101" pitchFamily="2" charset="-122"/>
                <a:cs typeface="Courier New" panose="02070309020205020404" pitchFamily="49" charset="0"/>
              </a:rPr>
              <a:t>将数组</a:t>
            </a:r>
            <a:r>
              <a:rPr lang="en-US" altLang="zh-CN" sz="2000" kern="100" dirty="0">
                <a:solidFill>
                  <a:srgbClr val="0070C0"/>
                </a:solidFill>
                <a:effectLst/>
                <a:latin typeface="Courier New" panose="02070309020205020404" pitchFamily="49" charset="0"/>
                <a:ea typeface="宋体" panose="02010600030101010101" pitchFamily="2" charset="-122"/>
                <a:cs typeface="Times New Roman" panose="02020603050405020304" pitchFamily="18" charset="0"/>
              </a:rPr>
              <a:t>a</a:t>
            </a:r>
            <a:r>
              <a:rPr lang="zh-CN" altLang="zh-CN" sz="2000" kern="100" dirty="0">
                <a:solidFill>
                  <a:srgbClr val="0070C0"/>
                </a:solidFill>
                <a:effectLst/>
                <a:latin typeface="Courier New" panose="02070309020205020404" pitchFamily="49" charset="0"/>
                <a:ea typeface="宋体" panose="02010600030101010101" pitchFamily="2" charset="-122"/>
                <a:cs typeface="Courier New" panose="02070309020205020404" pitchFamily="49" charset="0"/>
              </a:rPr>
              <a:t>中整数序列重排成自小至大有序序列</a:t>
            </a:r>
            <a:endParaRPr lang="zh-CN" altLang="zh-CN" sz="20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endParaRPr>
          </a:p>
          <a:p>
            <a:pPr indent="422275" algn="just">
              <a:buNone/>
            </a:pPr>
            <a:r>
              <a:rPr lang="en-US" altLang="zh-CN" sz="2000" b="1" kern="100" dirty="0">
                <a:effectLst/>
                <a:latin typeface="Courier New" panose="02070309020205020404" pitchFamily="49" charset="0"/>
                <a:ea typeface="宋体" panose="02010600030101010101" pitchFamily="2" charset="-122"/>
                <a:cs typeface="Times New Roman" panose="02020603050405020304" pitchFamily="18" charset="0"/>
              </a:rPr>
              <a:t>Status</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 change;</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indent="422275" algn="just">
              <a:buNone/>
            </a:pPr>
            <a:r>
              <a:rPr lang="en-US" altLang="zh-CN" sz="2000" b="1" kern="100" dirty="0">
                <a:effectLst/>
                <a:latin typeface="Courier New" panose="02070309020205020404" pitchFamily="49" charset="0"/>
                <a:ea typeface="宋体" panose="02010600030101010101" pitchFamily="2" charset="-122"/>
                <a:cs typeface="Times New Roman" panose="02020603050405020304" pitchFamily="18" charset="0"/>
              </a:rPr>
              <a:t>for</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2000" b="1" kern="100" dirty="0">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2000"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=n-1, change=TRUE; </a:t>
            </a:r>
            <a:r>
              <a:rPr lang="en-US" altLang="zh-CN" sz="2000"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&gt;=1 </a:t>
            </a:r>
            <a:r>
              <a:rPr lang="en-US" altLang="zh-CN" sz="2000" b="1" kern="100" dirty="0">
                <a:effectLst/>
                <a:latin typeface="Courier New" panose="02070309020205020404" pitchFamily="49" charset="0"/>
                <a:ea typeface="宋体" panose="02010600030101010101" pitchFamily="2" charset="-122"/>
                <a:cs typeface="Times New Roman" panose="02020603050405020304" pitchFamily="18" charset="0"/>
              </a:rPr>
              <a:t>&amp;&amp;</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 change; --</a:t>
            </a:r>
            <a:r>
              <a:rPr lang="en-US" altLang="zh-CN" sz="2000"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2000" b="1"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indent="572770" algn="just">
              <a:buNone/>
            </a:pP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change = FALSE;</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indent="575310" algn="just">
              <a:buNone/>
            </a:pPr>
            <a:r>
              <a:rPr lang="en-US" altLang="zh-CN" sz="2000" b="1" kern="100" dirty="0">
                <a:effectLst/>
                <a:latin typeface="Courier New" panose="02070309020205020404" pitchFamily="49" charset="0"/>
                <a:ea typeface="宋体" panose="02010600030101010101" pitchFamily="2" charset="-122"/>
                <a:cs typeface="Times New Roman" panose="02020603050405020304" pitchFamily="18" charset="0"/>
              </a:rPr>
              <a:t>for </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2000" b="1" kern="100" dirty="0">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 j=0; j&lt;</a:t>
            </a:r>
            <a:r>
              <a:rPr lang="en-US" altLang="zh-CN" sz="2000"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 ++j)</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indent="728345" algn="just">
              <a:buNone/>
            </a:pPr>
            <a:r>
              <a:rPr lang="en-US" altLang="zh-CN" sz="2000" b="1" kern="100" dirty="0">
                <a:effectLst/>
                <a:latin typeface="Courier New" panose="02070309020205020404" pitchFamily="49" charset="0"/>
                <a:ea typeface="宋体" panose="02010600030101010101" pitchFamily="2" charset="-122"/>
                <a:cs typeface="Times New Roman" panose="02020603050405020304" pitchFamily="18" charset="0"/>
              </a:rPr>
              <a:t>if </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(a[j]&gt;a[</a:t>
            </a:r>
            <a:r>
              <a:rPr lang="en-US" altLang="zh-CN" sz="2000" kern="100" dirty="0" err="1">
                <a:effectLst/>
                <a:latin typeface="Courier New" panose="02070309020205020404" pitchFamily="49" charset="0"/>
                <a:ea typeface="宋体" panose="02010600030101010101" pitchFamily="2" charset="-122"/>
                <a:cs typeface="Times New Roman" panose="02020603050405020304" pitchFamily="18" charset="0"/>
              </a:rPr>
              <a:t>j+1</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20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 swap(</a:t>
            </a:r>
            <a:r>
              <a:rPr lang="en-US" altLang="zh-CN" sz="2000" b="1" kern="100" dirty="0">
                <a:effectLst/>
                <a:latin typeface="Courier New" panose="02070309020205020404" pitchFamily="49" charset="0"/>
                <a:ea typeface="宋体" panose="02010600030101010101" pitchFamily="2" charset="-122"/>
                <a:cs typeface="Times New Roman" panose="02020603050405020304" pitchFamily="18" charset="0"/>
              </a:rPr>
              <a:t>&amp;</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a[j], </a:t>
            </a:r>
            <a:r>
              <a:rPr lang="en-US" altLang="zh-CN" sz="2000" b="1" kern="100" dirty="0">
                <a:effectLst/>
                <a:latin typeface="Courier New" panose="02070309020205020404" pitchFamily="49" charset="0"/>
                <a:ea typeface="宋体" panose="02010600030101010101" pitchFamily="2" charset="-122"/>
                <a:cs typeface="Times New Roman" panose="02020603050405020304" pitchFamily="18" charset="0"/>
              </a:rPr>
              <a:t>&amp;</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a[</a:t>
            </a:r>
            <a:r>
              <a:rPr lang="en-US" altLang="zh-CN" sz="2000" kern="100" dirty="0" err="1">
                <a:effectLst/>
                <a:latin typeface="Courier New" panose="02070309020205020404" pitchFamily="49" charset="0"/>
                <a:ea typeface="宋体" panose="02010600030101010101" pitchFamily="2" charset="-122"/>
                <a:cs typeface="Times New Roman" panose="02020603050405020304" pitchFamily="18" charset="0"/>
              </a:rPr>
              <a:t>j+1</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  change=TRUE; </a:t>
            </a:r>
            <a:r>
              <a:rPr lang="en-US" altLang="zh-CN" sz="20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2000" kern="100" dirty="0">
                <a:solidFill>
                  <a:srgbClr val="0070C0"/>
                </a:solidFill>
                <a:effectLst/>
                <a:latin typeface="Courier New" panose="02070309020205020404" pitchFamily="49" charset="0"/>
                <a:ea typeface="宋体" panose="02010600030101010101" pitchFamily="2" charset="-122"/>
                <a:cs typeface="Times New Roman" panose="02020603050405020304" pitchFamily="18" charset="0"/>
              </a:rPr>
              <a:t>//</a:t>
            </a:r>
            <a:r>
              <a:rPr lang="zh-CN" altLang="zh-CN" sz="2000" kern="100" dirty="0">
                <a:solidFill>
                  <a:srgbClr val="0070C0"/>
                </a:solidFill>
                <a:effectLst/>
                <a:latin typeface="Courier New" panose="02070309020205020404" pitchFamily="49" charset="0"/>
                <a:ea typeface="宋体" panose="02010600030101010101" pitchFamily="2" charset="-122"/>
                <a:cs typeface="Courier New" panose="02070309020205020404" pitchFamily="49" charset="0"/>
              </a:rPr>
              <a:t>交换函数</a:t>
            </a:r>
            <a:r>
              <a:rPr lang="en-US" altLang="zh-CN" sz="2000" kern="100" dirty="0">
                <a:solidFill>
                  <a:srgbClr val="0070C0"/>
                </a:solidFill>
                <a:effectLst/>
                <a:latin typeface="Courier New" panose="02070309020205020404" pitchFamily="49" charset="0"/>
                <a:ea typeface="宋体" panose="02010600030101010101" pitchFamily="2" charset="-122"/>
                <a:cs typeface="Times New Roman" panose="02020603050405020304" pitchFamily="18" charset="0"/>
              </a:rPr>
              <a:t>swap</a:t>
            </a:r>
            <a:endParaRPr lang="zh-CN" altLang="zh-CN" sz="20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endParaRPr>
          </a:p>
          <a:p>
            <a:pPr indent="452120" algn="just">
              <a:buNone/>
            </a:pPr>
            <a:r>
              <a:rPr lang="en-US" altLang="zh-CN" sz="2000" b="1"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9240" algn="just">
              <a:spcAft>
                <a:spcPts val="600"/>
              </a:spcAft>
              <a:buNone/>
            </a:pPr>
            <a:r>
              <a:rPr lang="en-US" altLang="zh-CN" sz="2000" b="1"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15000"/>
              </a:lnSpc>
              <a:spcBef>
                <a:spcPts val="600"/>
              </a:spcBef>
              <a:buNone/>
            </a:pP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交换序列中相邻两个整数</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为基本操作。</a:t>
            </a:r>
            <a:endPar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5000"/>
              </a:lnSpc>
              <a:spcBef>
                <a:spcPts val="600"/>
              </a:spcBef>
              <a:buNone/>
            </a:pPr>
            <a:r>
              <a:rPr lang="zh-CN" altLang="zh-CN" sz="2000" kern="100" dirty="0">
                <a:effectLst/>
                <a:latin typeface="Courier New" panose="02070309020205020404" pitchFamily="49" charset="0"/>
                <a:ea typeface="宋体" panose="02010600030101010101" pitchFamily="2" charset="-122"/>
                <a:cs typeface="Courier New" panose="02070309020205020404" pitchFamily="49" charset="0"/>
              </a:rPr>
              <a:t>当数组</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a</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中初始序列已经</a:t>
            </a:r>
            <a:r>
              <a:rPr lang="zh-CN" altLang="zh-CN" sz="2000" kern="1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从小到大</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有序，基本操作的执行次数为</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0</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，这属于“最好情况”；</a:t>
            </a:r>
            <a:endPar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5000"/>
              </a:lnSpc>
              <a:spcBef>
                <a:spcPts val="600"/>
              </a:spcBef>
              <a:buNone/>
            </a:pP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当初始序列为</a:t>
            </a:r>
            <a:r>
              <a:rPr lang="zh-CN" altLang="zh-CN" sz="2000" kern="1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从大到小</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有序时，基本操作的执行次数为</a:t>
            </a:r>
            <a:r>
              <a:rPr lang="en-US" altLang="zh-CN" sz="2000" i="1" kern="100" dirty="0">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i="1" kern="100" dirty="0">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-1)/2</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，是“最坏情况”。</a:t>
            </a:r>
            <a:endPar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5000"/>
              </a:lnSpc>
              <a:spcBef>
                <a:spcPts val="600"/>
              </a:spcBef>
              <a:buNone/>
            </a:pP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对这类算法的分析，一种解决办法是计算平均值，即考虑它对所有可能的输入数据集的期望值，此时的时间复杂度为算法的</a:t>
            </a:r>
            <a:r>
              <a:rPr lang="zh-CN" altLang="zh-CN" sz="20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平均时间复杂度</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5000"/>
              </a:lnSpc>
              <a:spcBef>
                <a:spcPts val="600"/>
              </a:spcBef>
              <a:buNone/>
            </a:pP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如假设</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a</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中初始数据可能出现</a:t>
            </a:r>
            <a:r>
              <a:rPr lang="en-US" altLang="zh-CN" sz="2000" i="1" kern="100" dirty="0">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种的排列情况的概率相等，则起泡排序的</a:t>
            </a:r>
            <a:r>
              <a:rPr lang="zh-CN" altLang="zh-CN" sz="2000" kern="100" dirty="0">
                <a:latin typeface="Times New Roman" panose="02020603050405020304" pitchFamily="18" charset="0"/>
                <a:ea typeface="黑体" panose="02010609060101010101" pitchFamily="49" charset="-122"/>
                <a:cs typeface="Times New Roman" panose="02020603050405020304" pitchFamily="18" charset="0"/>
              </a:rPr>
              <a:t>平均时间复杂度</a:t>
            </a:r>
            <a:r>
              <a:rPr lang="en-US" altLang="zh-CN" sz="2000" i="1" kern="100" dirty="0" err="1">
                <a:effectLst/>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i="1"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avg</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i="1" kern="100" dirty="0">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 = </a:t>
            </a:r>
            <a:r>
              <a:rPr lang="en-US" altLang="zh-CN" sz="2000" b="1" i="1" kern="100" dirty="0">
                <a:effectLst/>
                <a:latin typeface="Times New Roman" panose="02020603050405020304" pitchFamily="18" charset="0"/>
                <a:ea typeface="宋体" panose="02010600030101010101" pitchFamily="2" charset="-122"/>
                <a:cs typeface="Times New Roman" panose="02020603050405020304" pitchFamily="18" charset="0"/>
              </a:rPr>
              <a:t>O</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i="1" kern="100" dirty="0" err="1">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2000" kern="100" baseline="30000" dirty="0" err="1">
                <a:effectLst/>
                <a:latin typeface="Times New Roman" panose="02020603050405020304" pitchFamily="18" charset="0"/>
                <a:ea typeface="宋体" panose="02010600030101010101" pitchFamily="2" charset="-122"/>
                <a:cs typeface="Times New Roman" panose="02020603050405020304" pitchFamily="18" charset="0"/>
              </a:rPr>
              <a:t>2</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8C82158E-BAAA-9375-E742-42BA195D4FDA}"/>
              </a:ext>
            </a:extLst>
          </p:cNvPr>
          <p:cNvSpPr>
            <a:spLocks noGrp="1"/>
          </p:cNvSpPr>
          <p:nvPr>
            <p:ph type="sldNum" sz="quarter" idx="12"/>
          </p:nvPr>
        </p:nvSpPr>
        <p:spPr/>
        <p:txBody>
          <a:bodyPr/>
          <a:lstStyle/>
          <a:p>
            <a:fld id="{D7C0FE0B-717B-41AE-9FA2-CA4BF851D1C3}" type="slidenum">
              <a:rPr lang="zh-CN" altLang="en-US" smtClean="0"/>
              <a:t>54</a:t>
            </a:fld>
            <a:endParaRPr lang="zh-CN" altLang="en-US"/>
          </a:p>
        </p:txBody>
      </p:sp>
    </p:spTree>
    <p:extLst>
      <p:ext uri="{BB962C8B-B14F-4D97-AF65-F5344CB8AC3E}">
        <p14:creationId xmlns:p14="http://schemas.microsoft.com/office/powerpoint/2010/main" val="260813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1000"/>
                                        <p:tgtEl>
                                          <p:spTgt spid="3">
                                            <p:txEl>
                                              <p:pRg st="5" end="5"/>
                                            </p:txEl>
                                          </p:spTgt>
                                        </p:tgtEl>
                                      </p:cBhvr>
                                    </p:animEffect>
                                    <p:anim calcmode="lin" valueType="num">
                                      <p:cBhvr>
                                        <p:cTn id="3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1000"/>
                                        <p:tgtEl>
                                          <p:spTgt spid="3">
                                            <p:txEl>
                                              <p:pRg st="6" end="6"/>
                                            </p:txEl>
                                          </p:spTgt>
                                        </p:tgtEl>
                                      </p:cBhvr>
                                    </p:animEffect>
                                    <p:anim calcmode="lin" valueType="num">
                                      <p:cBhvr>
                                        <p:cTn id="3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6" end="6"/>
                                            </p:txEl>
                                          </p:spTgt>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1000"/>
                                        <p:tgtEl>
                                          <p:spTgt spid="3">
                                            <p:txEl>
                                              <p:pRg st="7" end="7"/>
                                            </p:txEl>
                                          </p:spTgt>
                                        </p:tgtEl>
                                      </p:cBhvr>
                                    </p:animEffect>
                                    <p:anim calcmode="lin" valueType="num">
                                      <p:cBhvr>
                                        <p:cTn id="4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7" end="7"/>
                                            </p:txEl>
                                          </p:spTgt>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1000"/>
                                        <p:tgtEl>
                                          <p:spTgt spid="3">
                                            <p:txEl>
                                              <p:pRg st="8" end="8"/>
                                            </p:txEl>
                                          </p:spTgt>
                                        </p:tgtEl>
                                      </p:cBhvr>
                                    </p:animEffect>
                                    <p:anim calcmode="lin" valueType="num">
                                      <p:cBhvr>
                                        <p:cTn id="48"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8" end="8"/>
                                            </p:txEl>
                                          </p:spTgt>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1000"/>
                                        <p:tgtEl>
                                          <p:spTgt spid="3">
                                            <p:txEl>
                                              <p:pRg st="9" end="9"/>
                                            </p:txEl>
                                          </p:spTgt>
                                        </p:tgtEl>
                                      </p:cBhvr>
                                    </p:animEffect>
                                    <p:anim calcmode="lin" valueType="num">
                                      <p:cBhvr>
                                        <p:cTn id="53"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54"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grpId="0" nodeType="clickEffect">
                                  <p:stCondLst>
                                    <p:cond delay="0"/>
                                  </p:stCondLst>
                                  <p:childTnLst>
                                    <p:set>
                                      <p:cBhvr>
                                        <p:cTn id="58" dur="1" fill="hold">
                                          <p:stCondLst>
                                            <p:cond delay="0"/>
                                          </p:stCondLst>
                                        </p:cTn>
                                        <p:tgtEl>
                                          <p:spTgt spid="3">
                                            <p:txEl>
                                              <p:pRg st="10" end="10"/>
                                            </p:txEl>
                                          </p:spTgt>
                                        </p:tgtEl>
                                        <p:attrNameLst>
                                          <p:attrName>style.visibility</p:attrName>
                                        </p:attrNameLst>
                                      </p:cBhvr>
                                      <p:to>
                                        <p:strVal val="visible"/>
                                      </p:to>
                                    </p:set>
                                    <p:animEffect transition="in" filter="fade">
                                      <p:cBhvr>
                                        <p:cTn id="59" dur="1000"/>
                                        <p:tgtEl>
                                          <p:spTgt spid="3">
                                            <p:txEl>
                                              <p:pRg st="10" end="10"/>
                                            </p:txEl>
                                          </p:spTgt>
                                        </p:tgtEl>
                                      </p:cBhvr>
                                    </p:animEffect>
                                    <p:anim calcmode="lin" valueType="num">
                                      <p:cBhvr>
                                        <p:cTn id="60"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61"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42" presetClass="entr" presetSubtype="0" fill="hold" grpId="0" nodeType="clickEffect">
                                  <p:stCondLst>
                                    <p:cond delay="0"/>
                                  </p:stCondLst>
                                  <p:childTnLst>
                                    <p:set>
                                      <p:cBhvr>
                                        <p:cTn id="65" dur="1" fill="hold">
                                          <p:stCondLst>
                                            <p:cond delay="0"/>
                                          </p:stCondLst>
                                        </p:cTn>
                                        <p:tgtEl>
                                          <p:spTgt spid="3">
                                            <p:txEl>
                                              <p:pRg st="11" end="11"/>
                                            </p:txEl>
                                          </p:spTgt>
                                        </p:tgtEl>
                                        <p:attrNameLst>
                                          <p:attrName>style.visibility</p:attrName>
                                        </p:attrNameLst>
                                      </p:cBhvr>
                                      <p:to>
                                        <p:strVal val="visible"/>
                                      </p:to>
                                    </p:set>
                                    <p:animEffect transition="in" filter="fade">
                                      <p:cBhvr>
                                        <p:cTn id="66" dur="1000"/>
                                        <p:tgtEl>
                                          <p:spTgt spid="3">
                                            <p:txEl>
                                              <p:pRg st="11" end="11"/>
                                            </p:txEl>
                                          </p:spTgt>
                                        </p:tgtEl>
                                      </p:cBhvr>
                                    </p:animEffect>
                                    <p:anim calcmode="lin" valueType="num">
                                      <p:cBhvr>
                                        <p:cTn id="67"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68"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42" presetClass="entr" presetSubtype="0" fill="hold" grpId="0" nodeType="clickEffect">
                                  <p:stCondLst>
                                    <p:cond delay="0"/>
                                  </p:stCondLst>
                                  <p:childTnLst>
                                    <p:set>
                                      <p:cBhvr>
                                        <p:cTn id="72" dur="1" fill="hold">
                                          <p:stCondLst>
                                            <p:cond delay="0"/>
                                          </p:stCondLst>
                                        </p:cTn>
                                        <p:tgtEl>
                                          <p:spTgt spid="3">
                                            <p:txEl>
                                              <p:pRg st="12" end="12"/>
                                            </p:txEl>
                                          </p:spTgt>
                                        </p:tgtEl>
                                        <p:attrNameLst>
                                          <p:attrName>style.visibility</p:attrName>
                                        </p:attrNameLst>
                                      </p:cBhvr>
                                      <p:to>
                                        <p:strVal val="visible"/>
                                      </p:to>
                                    </p:set>
                                    <p:animEffect transition="in" filter="fade">
                                      <p:cBhvr>
                                        <p:cTn id="73" dur="1000"/>
                                        <p:tgtEl>
                                          <p:spTgt spid="3">
                                            <p:txEl>
                                              <p:pRg st="12" end="12"/>
                                            </p:txEl>
                                          </p:spTgt>
                                        </p:tgtEl>
                                      </p:cBhvr>
                                    </p:animEffect>
                                    <p:anim calcmode="lin" valueType="num">
                                      <p:cBhvr>
                                        <p:cTn id="74"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75" dur="1000" fill="hold"/>
                                        <p:tgtEl>
                                          <p:spTgt spid="3">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42" presetClass="entr" presetSubtype="0" fill="hold" grpId="0" nodeType="clickEffect">
                                  <p:stCondLst>
                                    <p:cond delay="0"/>
                                  </p:stCondLst>
                                  <p:childTnLst>
                                    <p:set>
                                      <p:cBhvr>
                                        <p:cTn id="79" dur="1" fill="hold">
                                          <p:stCondLst>
                                            <p:cond delay="0"/>
                                          </p:stCondLst>
                                        </p:cTn>
                                        <p:tgtEl>
                                          <p:spTgt spid="3">
                                            <p:txEl>
                                              <p:pRg st="13" end="13"/>
                                            </p:txEl>
                                          </p:spTgt>
                                        </p:tgtEl>
                                        <p:attrNameLst>
                                          <p:attrName>style.visibility</p:attrName>
                                        </p:attrNameLst>
                                      </p:cBhvr>
                                      <p:to>
                                        <p:strVal val="visible"/>
                                      </p:to>
                                    </p:set>
                                    <p:animEffect transition="in" filter="fade">
                                      <p:cBhvr>
                                        <p:cTn id="80" dur="1000"/>
                                        <p:tgtEl>
                                          <p:spTgt spid="3">
                                            <p:txEl>
                                              <p:pRg st="13" end="13"/>
                                            </p:txEl>
                                          </p:spTgt>
                                        </p:tgtEl>
                                      </p:cBhvr>
                                    </p:animEffect>
                                    <p:anim calcmode="lin" valueType="num">
                                      <p:cBhvr>
                                        <p:cTn id="81" dur="1000" fill="hold"/>
                                        <p:tgtEl>
                                          <p:spTgt spid="3">
                                            <p:txEl>
                                              <p:pRg st="13" end="13"/>
                                            </p:txEl>
                                          </p:spTgt>
                                        </p:tgtEl>
                                        <p:attrNameLst>
                                          <p:attrName>ppt_x</p:attrName>
                                        </p:attrNameLst>
                                      </p:cBhvr>
                                      <p:tavLst>
                                        <p:tav tm="0">
                                          <p:val>
                                            <p:strVal val="#ppt_x"/>
                                          </p:val>
                                        </p:tav>
                                        <p:tav tm="100000">
                                          <p:val>
                                            <p:strVal val="#ppt_x"/>
                                          </p:val>
                                        </p:tav>
                                      </p:tavLst>
                                    </p:anim>
                                    <p:anim calcmode="lin" valueType="num">
                                      <p:cBhvr>
                                        <p:cTn id="82" dur="1000" fill="hold"/>
                                        <p:tgtEl>
                                          <p:spTgt spid="3">
                                            <p:txEl>
                                              <p:pRg st="13" end="1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8D6A35DA-2D25-A04C-294D-732C45BF50DE}"/>
              </a:ext>
            </a:extLst>
          </p:cNvPr>
          <p:cNvSpPr txBox="1"/>
          <p:nvPr/>
        </p:nvSpPr>
        <p:spPr>
          <a:xfrm>
            <a:off x="670214" y="819644"/>
            <a:ext cx="10994308" cy="2510174"/>
          </a:xfrm>
          <a:prstGeom prst="rect">
            <a:avLst/>
          </a:prstGeom>
          <a:noFill/>
        </p:spPr>
        <p:txBody>
          <a:bodyPr wrap="square">
            <a:spAutoFit/>
          </a:bodyPr>
          <a:lstStyle/>
          <a:p>
            <a:pPr algn="just">
              <a:lnSpc>
                <a:spcPct val="120000"/>
              </a:lnSpc>
              <a:spcBef>
                <a:spcPts val="600"/>
              </a:spcBef>
              <a:buNone/>
            </a:pP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在很多情况下，各种输入数据集出现的概率难以确定，算法的平均时间复杂度也就难以确定。</a:t>
            </a:r>
            <a:endPar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20000"/>
              </a:lnSpc>
              <a:spcBef>
                <a:spcPts val="600"/>
              </a:spcBef>
              <a:buNone/>
            </a:pP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更可行也更常用的办法是讨论算法在最坏情况下的时间复杂度，即分析最坏情况以估算算法执行时间的一个上界（与此相对，最好情况的执行时间是下界）。</a:t>
            </a:r>
            <a:endPar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20000"/>
              </a:lnSpc>
              <a:spcBef>
                <a:spcPts val="600"/>
              </a:spcBef>
              <a:buNone/>
            </a:pP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例如，上述起泡排序的最坏情况为</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中初始序列为</a:t>
            </a:r>
            <a:r>
              <a:rPr lang="zh-CN" altLang="zh-CN" sz="2000" b="1" kern="1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从大到小</a:t>
            </a:r>
            <a:r>
              <a:rPr lang="zh-CN" altLang="en-US" sz="2000"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的逆</a:t>
            </a:r>
            <a:r>
              <a:rPr lang="zh-CN" altLang="zh-CN" sz="2000"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序</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，则</a:t>
            </a:r>
            <a:r>
              <a:rPr lang="zh-CN" altLang="en-US" sz="2000" kern="100" dirty="0">
                <a:effectLst/>
                <a:latin typeface="Times New Roman" panose="02020603050405020304" pitchFamily="18" charset="0"/>
                <a:ea typeface="宋体" panose="02010600030101010101" pitchFamily="2" charset="-122"/>
                <a:cs typeface="Times New Roman" panose="02020603050405020304" pitchFamily="18" charset="0"/>
              </a:rPr>
              <a:t>该</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算法在最坏情况下的时间复杂度为</a:t>
            </a:r>
            <a:r>
              <a:rPr lang="en-US" altLang="zh-CN" sz="2000" i="1" kern="100" dirty="0">
                <a:effectLst/>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i="1" kern="100" dirty="0">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1" i="1" kern="100" dirty="0">
                <a:effectLst/>
                <a:latin typeface="Times New Roman" panose="02020603050405020304" pitchFamily="18" charset="0"/>
                <a:ea typeface="宋体" panose="02010600030101010101" pitchFamily="2" charset="-122"/>
                <a:cs typeface="Times New Roman" panose="02020603050405020304" pitchFamily="18" charset="0"/>
              </a:rPr>
              <a:t>O</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i="1" kern="100" dirty="0" err="1">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2000" kern="100" baseline="30000" dirty="0" err="1">
                <a:effectLst/>
                <a:latin typeface="Times New Roman" panose="02020603050405020304" pitchFamily="18" charset="0"/>
                <a:ea typeface="宋体" panose="02010600030101010101" pitchFamily="2" charset="-122"/>
                <a:cs typeface="Times New Roman" panose="02020603050405020304" pitchFamily="18" charset="0"/>
              </a:rPr>
              <a:t>2</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20000"/>
              </a:lnSpc>
              <a:spcBef>
                <a:spcPts val="600"/>
              </a:spcBef>
              <a:buNone/>
            </a:pP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在以后讨论的时间复杂度，除特别指明外，均指</a:t>
            </a:r>
            <a:r>
              <a:rPr lang="zh-CN" altLang="zh-CN" sz="2000" kern="100" dirty="0">
                <a:effectLst/>
                <a:latin typeface="Times New Roman" panose="02020603050405020304" pitchFamily="18" charset="0"/>
                <a:ea typeface="黑体" panose="02010609060101010101" pitchFamily="49" charset="-122"/>
                <a:cs typeface="Times New Roman" panose="02020603050405020304" pitchFamily="18" charset="0"/>
              </a:rPr>
              <a:t>最坏情况时间复杂度，</a:t>
            </a:r>
            <a:r>
              <a:rPr lang="zh-CN" altLang="zh-CN" sz="2000" kern="100" dirty="0">
                <a:effectLst/>
                <a:latin typeface="等线" panose="02010600030101010101" pitchFamily="2" charset="-122"/>
                <a:ea typeface="宋体" panose="02010600030101010101" pitchFamily="2" charset="-122"/>
                <a:cs typeface="Times New Roman" panose="02020603050405020304" pitchFamily="18" charset="0"/>
              </a:rPr>
              <a:t>简称</a:t>
            </a:r>
            <a:r>
              <a:rPr lang="zh-CN" altLang="zh-CN" sz="20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最坏时间复杂度</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5" name="文本框 4">
            <a:extLst>
              <a:ext uri="{FF2B5EF4-FFF2-40B4-BE49-F238E27FC236}">
                <a16:creationId xmlns:a16="http://schemas.microsoft.com/office/drawing/2014/main" id="{D3B07430-DA7A-69D1-E122-5CBE5C501BBC}"/>
              </a:ext>
            </a:extLst>
          </p:cNvPr>
          <p:cNvSpPr txBox="1"/>
          <p:nvPr/>
        </p:nvSpPr>
        <p:spPr>
          <a:xfrm>
            <a:off x="670214" y="3669294"/>
            <a:ext cx="10994308" cy="2510174"/>
          </a:xfrm>
          <a:prstGeom prst="rect">
            <a:avLst/>
          </a:prstGeom>
          <a:noFill/>
        </p:spPr>
        <p:txBody>
          <a:bodyPr wrap="square">
            <a:spAutoFit/>
          </a:bodyPr>
          <a:lstStyle/>
          <a:p>
            <a:pPr algn="just">
              <a:lnSpc>
                <a:spcPct val="120000"/>
              </a:lnSpc>
              <a:spcBef>
                <a:spcPts val="600"/>
              </a:spcBef>
              <a:buNone/>
            </a:pP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很多时候，一个算法的最坏情况出现的次数极少，比率仅为</a:t>
            </a:r>
            <a:r>
              <a:rPr lang="en-US" altLang="zh-CN" sz="2000" i="1" kern="100" dirty="0" err="1">
                <a:effectLst/>
                <a:latin typeface="Times New Roman" panose="02020603050405020304" pitchFamily="18" charset="0"/>
                <a:ea typeface="宋体" panose="02010600030101010101" pitchFamily="2" charset="-122"/>
                <a:cs typeface="Times New Roman" panose="02020603050405020304" pitchFamily="18" charset="0"/>
              </a:rPr>
              <a:t>c</a:t>
            </a:r>
            <a:r>
              <a:rPr lang="en-US" altLang="zh-CN" sz="2000" kern="100" dirty="0" err="1">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i="1" kern="100" dirty="0" err="1">
                <a:effectLst/>
                <a:latin typeface="Times New Roman" panose="02020603050405020304" pitchFamily="18" charset="0"/>
                <a:ea typeface="宋体" panose="02010600030101010101" pitchFamily="2" charset="-122"/>
                <a:cs typeface="Times New Roman" panose="02020603050405020304" pitchFamily="18" charset="0"/>
              </a:rPr>
              <a:t>n</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i="1" kern="100" dirty="0">
                <a:effectLst/>
                <a:latin typeface="Times New Roman" panose="02020603050405020304" pitchFamily="18" charset="0"/>
                <a:ea typeface="宋体" panose="02010600030101010101" pitchFamily="2" charset="-122"/>
                <a:cs typeface="Times New Roman" panose="02020603050405020304" pitchFamily="18" charset="0"/>
              </a:rPr>
              <a:t>c</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为小常数。</a:t>
            </a:r>
            <a:endPar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20000"/>
              </a:lnSpc>
              <a:spcBef>
                <a:spcPts val="600"/>
              </a:spcBef>
              <a:buNone/>
            </a:pP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仅用最坏时间复杂度可能高估算法的时间耗费，尤其对大规模数据集的算法。</a:t>
            </a:r>
            <a:endPar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20000"/>
              </a:lnSpc>
              <a:spcBef>
                <a:spcPts val="600"/>
              </a:spcBef>
              <a:buNone/>
            </a:pP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可采用</a:t>
            </a:r>
            <a:r>
              <a:rPr lang="zh-CN" altLang="zh-CN" sz="2000" kern="100" dirty="0">
                <a:effectLst/>
                <a:latin typeface="等线" panose="02010600030101010101" pitchFamily="2" charset="-122"/>
                <a:ea typeface="黑体" panose="02010609060101010101" pitchFamily="49" charset="-122"/>
                <a:cs typeface="Times New Roman" panose="02020603050405020304" pitchFamily="18" charset="0"/>
              </a:rPr>
              <a:t>平摊分析</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kern="100" dirty="0" err="1">
                <a:effectLst/>
                <a:latin typeface="Times New Roman" panose="02020603050405020304" pitchFamily="18" charset="0"/>
                <a:ea typeface="宋体" panose="02010600030101010101" pitchFamily="2" charset="-122"/>
                <a:cs typeface="Times New Roman" panose="02020603050405020304" pitchFamily="18" charset="0"/>
              </a:rPr>
              <a:t>Amortied</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 analysis</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）来估算算法时间复杂度。平摊也称为</a:t>
            </a:r>
            <a:r>
              <a:rPr lang="zh-CN" altLang="zh-CN" sz="2000" kern="100" dirty="0">
                <a:effectLst/>
                <a:latin typeface="等线" panose="02010600030101010101" pitchFamily="2" charset="-122"/>
                <a:ea typeface="黑体" panose="02010609060101010101" pitchFamily="49" charset="-122"/>
                <a:cs typeface="Times New Roman" panose="02020603050405020304" pitchFamily="18" charset="0"/>
              </a:rPr>
              <a:t>均摊</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000" kern="100" dirty="0">
                <a:effectLst/>
                <a:latin typeface="等线" panose="02010600030101010101" pitchFamily="2" charset="-122"/>
                <a:ea typeface="黑体" panose="02010609060101010101" pitchFamily="49" charset="-122"/>
                <a:cs typeface="Times New Roman" panose="02020603050405020304" pitchFamily="18" charset="0"/>
              </a:rPr>
              <a:t>摊分</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或</a:t>
            </a:r>
            <a:r>
              <a:rPr lang="zh-CN" altLang="zh-CN" sz="2000" kern="100" dirty="0">
                <a:effectLst/>
                <a:latin typeface="等线" panose="02010600030101010101" pitchFamily="2" charset="-122"/>
                <a:ea typeface="黑体" panose="02010609060101010101" pitchFamily="49" charset="-122"/>
                <a:cs typeface="Times New Roman" panose="02020603050405020304" pitchFamily="18" charset="0"/>
              </a:rPr>
              <a:t>摊还</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。与平均时间复杂度不同，平摊分析不使用概率，是对含最坏情况的一组连续的操作作具体分析。</a:t>
            </a:r>
            <a:endPar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20000"/>
              </a:lnSpc>
              <a:spcBef>
                <a:spcPts val="600"/>
              </a:spcBef>
              <a:buNone/>
            </a:pP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平摊策略有多种，较简明的是聚集分析：若每</a:t>
            </a:r>
            <a:r>
              <a:rPr lang="en-US" altLang="zh-CN" sz="2000" i="1" kern="100" dirty="0">
                <a:effectLst/>
                <a:latin typeface="Times New Roman" panose="02020603050405020304" pitchFamily="18" charset="0"/>
                <a:ea typeface="宋体" panose="02010600030101010101" pitchFamily="2" charset="-122"/>
                <a:cs typeface="Times New Roman" panose="02020603050405020304" pitchFamily="18" charset="0"/>
              </a:rPr>
              <a:t>n</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个</a:t>
            </a:r>
            <a:r>
              <a:rPr lang="en-US" altLang="zh-CN" sz="2000" b="1" i="1" kern="100" dirty="0">
                <a:effectLst/>
                <a:latin typeface="Times New Roman" panose="02020603050405020304" pitchFamily="18" charset="0"/>
                <a:ea typeface="宋体" panose="02010600030101010101" pitchFamily="2" charset="-122"/>
                <a:cs typeface="Times New Roman" panose="02020603050405020304" pitchFamily="18" charset="0"/>
              </a:rPr>
              <a:t>O</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的操作，才发生</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个</a:t>
            </a:r>
            <a:r>
              <a:rPr lang="en-US" altLang="zh-CN" sz="2000" b="1" i="1" kern="100" dirty="0">
                <a:effectLst/>
                <a:latin typeface="Times New Roman" panose="02020603050405020304" pitchFamily="18" charset="0"/>
                <a:ea typeface="宋体" panose="02010600030101010101" pitchFamily="2" charset="-122"/>
                <a:cs typeface="Times New Roman" panose="02020603050405020304" pitchFamily="18" charset="0"/>
              </a:rPr>
              <a:t>O</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i="1" kern="100" dirty="0">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的操作，则将最坏情况的</a:t>
            </a:r>
            <a:r>
              <a:rPr lang="en-US" altLang="zh-CN" sz="2000" b="1" i="1" kern="100" dirty="0">
                <a:effectLst/>
                <a:latin typeface="Times New Roman" panose="02020603050405020304" pitchFamily="18" charset="0"/>
                <a:ea typeface="宋体" panose="02010600030101010101" pitchFamily="2" charset="-122"/>
                <a:cs typeface="Times New Roman" panose="02020603050405020304" pitchFamily="18" charset="0"/>
              </a:rPr>
              <a:t>O</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i="1" kern="100" dirty="0">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摊分到其他</a:t>
            </a:r>
            <a:r>
              <a:rPr lang="en-US" altLang="zh-CN" sz="2000" i="1" kern="100" dirty="0">
                <a:effectLst/>
                <a:latin typeface="Times New Roman" panose="02020603050405020304" pitchFamily="18" charset="0"/>
                <a:ea typeface="宋体" panose="02010600030101010101" pitchFamily="2" charset="-122"/>
                <a:cs typeface="Times New Roman" panose="02020603050405020304" pitchFamily="18" charset="0"/>
              </a:rPr>
              <a:t>n</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个</a:t>
            </a:r>
            <a:r>
              <a:rPr lang="en-US" altLang="zh-CN" sz="2000" b="1" i="1" kern="100" dirty="0">
                <a:effectLst/>
                <a:latin typeface="Times New Roman" panose="02020603050405020304" pitchFamily="18" charset="0"/>
                <a:ea typeface="宋体" panose="02010600030101010101" pitchFamily="2" charset="-122"/>
                <a:cs typeface="Times New Roman" panose="02020603050405020304" pitchFamily="18" charset="0"/>
              </a:rPr>
              <a:t>O</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操作后，这</a:t>
            </a:r>
            <a:r>
              <a:rPr lang="en-US" altLang="zh-CN" sz="2000" kern="100" dirty="0" err="1">
                <a:effectLst/>
                <a:latin typeface="Times New Roman" panose="02020603050405020304" pitchFamily="18" charset="0"/>
                <a:ea typeface="宋体" panose="02010600030101010101" pitchFamily="2" charset="-122"/>
                <a:cs typeface="Times New Roman" panose="02020603050405020304" pitchFamily="18" charset="0"/>
              </a:rPr>
              <a:t>n+1</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个操作的</a:t>
            </a:r>
            <a:r>
              <a:rPr lang="zh-CN" altLang="zh-CN" sz="2000" b="1" kern="100" dirty="0">
                <a:solidFill>
                  <a:srgbClr val="C00000"/>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平摊时间复杂度</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是</a:t>
            </a:r>
            <a:r>
              <a:rPr lang="en-US" altLang="zh-CN" sz="2000" b="1" i="1" kern="100" dirty="0">
                <a:effectLst/>
                <a:latin typeface="Times New Roman" panose="02020603050405020304" pitchFamily="18" charset="0"/>
                <a:ea typeface="宋体" panose="02010600030101010101" pitchFamily="2" charset="-122"/>
                <a:cs typeface="Times New Roman" panose="02020603050405020304" pitchFamily="18" charset="0"/>
              </a:rPr>
              <a:t>O</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F9499CE2-C0D6-BC8E-02F4-838CED8BC1D1}"/>
              </a:ext>
            </a:extLst>
          </p:cNvPr>
          <p:cNvSpPr>
            <a:spLocks noGrp="1"/>
          </p:cNvSpPr>
          <p:nvPr>
            <p:ph type="sldNum" sz="quarter" idx="12"/>
          </p:nvPr>
        </p:nvSpPr>
        <p:spPr/>
        <p:txBody>
          <a:bodyPr/>
          <a:lstStyle/>
          <a:p>
            <a:fld id="{D7C0FE0B-717B-41AE-9FA2-CA4BF851D1C3}" type="slidenum">
              <a:rPr lang="zh-CN" altLang="en-US" smtClean="0"/>
              <a:t>55</a:t>
            </a:fld>
            <a:endParaRPr lang="zh-CN" altLang="en-US"/>
          </a:p>
        </p:txBody>
      </p:sp>
    </p:spTree>
    <p:extLst>
      <p:ext uri="{BB962C8B-B14F-4D97-AF65-F5344CB8AC3E}">
        <p14:creationId xmlns:p14="http://schemas.microsoft.com/office/powerpoint/2010/main" val="4225435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1000"/>
                                        <p:tgtEl>
                                          <p:spTgt spid="3">
                                            <p:txEl>
                                              <p:pRg st="1" end="1"/>
                                            </p:txEl>
                                          </p:spTgt>
                                        </p:tgtEl>
                                      </p:cBhvr>
                                    </p:animEffect>
                                    <p:anim calcmode="lin" valueType="num">
                                      <p:cBhvr>
                                        <p:cTn id="14"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1000"/>
                                        <p:tgtEl>
                                          <p:spTgt spid="3">
                                            <p:txEl>
                                              <p:pRg st="2" end="2"/>
                                            </p:txEl>
                                          </p:spTgt>
                                        </p:tgtEl>
                                      </p:cBhvr>
                                    </p:animEffect>
                                    <p:anim calcmode="lin" valueType="num">
                                      <p:cBhvr>
                                        <p:cTn id="21"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par>
                          <p:cTn id="23" fill="hold">
                            <p:stCondLst>
                              <p:cond delay="1000"/>
                            </p:stCondLst>
                            <p:childTnLst>
                              <p:par>
                                <p:cTn id="24" presetID="42" presetClass="entr" presetSubtype="0" fill="hold" grpId="0" nodeType="after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1000"/>
                                        <p:tgtEl>
                                          <p:spTgt spid="3">
                                            <p:txEl>
                                              <p:pRg st="3" end="3"/>
                                            </p:txEl>
                                          </p:spTgt>
                                        </p:tgtEl>
                                      </p:cBhvr>
                                    </p:animEffect>
                                    <p:anim calcmode="lin" valueType="num">
                                      <p:cBhvr>
                                        <p:cTn id="2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5">
                                            <p:txEl>
                                              <p:pRg st="0" end="0"/>
                                            </p:txEl>
                                          </p:spTgt>
                                        </p:tgtEl>
                                        <p:attrNameLst>
                                          <p:attrName>style.visibility</p:attrName>
                                        </p:attrNameLst>
                                      </p:cBhvr>
                                      <p:to>
                                        <p:strVal val="visible"/>
                                      </p:to>
                                    </p:set>
                                    <p:animEffect transition="in" filter="fade">
                                      <p:cBhvr>
                                        <p:cTn id="33" dur="1000"/>
                                        <p:tgtEl>
                                          <p:spTgt spid="5">
                                            <p:txEl>
                                              <p:pRg st="0" end="0"/>
                                            </p:txEl>
                                          </p:spTgt>
                                        </p:tgtEl>
                                      </p:cBhvr>
                                    </p:animEffect>
                                    <p:anim calcmode="lin" valueType="num">
                                      <p:cBhvr>
                                        <p:cTn id="34"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35" dur="1000" fill="hold"/>
                                        <p:tgtEl>
                                          <p:spTgt spid="5">
                                            <p:txEl>
                                              <p:pRg st="0" end="0"/>
                                            </p:txEl>
                                          </p:spTgt>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5">
                                            <p:txEl>
                                              <p:pRg st="1" end="1"/>
                                            </p:txEl>
                                          </p:spTgt>
                                        </p:tgtEl>
                                        <p:attrNameLst>
                                          <p:attrName>style.visibility</p:attrName>
                                        </p:attrNameLst>
                                      </p:cBhvr>
                                      <p:to>
                                        <p:strVal val="visible"/>
                                      </p:to>
                                    </p:set>
                                    <p:animEffect transition="in" filter="fade">
                                      <p:cBhvr>
                                        <p:cTn id="38" dur="1000"/>
                                        <p:tgtEl>
                                          <p:spTgt spid="5">
                                            <p:txEl>
                                              <p:pRg st="1" end="1"/>
                                            </p:txEl>
                                          </p:spTgt>
                                        </p:tgtEl>
                                      </p:cBhvr>
                                    </p:animEffect>
                                    <p:anim calcmode="lin" valueType="num">
                                      <p:cBhvr>
                                        <p:cTn id="39"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40"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grpId="0" nodeType="clickEffect">
                                  <p:stCondLst>
                                    <p:cond delay="0"/>
                                  </p:stCondLst>
                                  <p:childTnLst>
                                    <p:set>
                                      <p:cBhvr>
                                        <p:cTn id="44" dur="1" fill="hold">
                                          <p:stCondLst>
                                            <p:cond delay="0"/>
                                          </p:stCondLst>
                                        </p:cTn>
                                        <p:tgtEl>
                                          <p:spTgt spid="5">
                                            <p:txEl>
                                              <p:pRg st="2" end="2"/>
                                            </p:txEl>
                                          </p:spTgt>
                                        </p:tgtEl>
                                        <p:attrNameLst>
                                          <p:attrName>style.visibility</p:attrName>
                                        </p:attrNameLst>
                                      </p:cBhvr>
                                      <p:to>
                                        <p:strVal val="visible"/>
                                      </p:to>
                                    </p:set>
                                    <p:animEffect transition="in" filter="fade">
                                      <p:cBhvr>
                                        <p:cTn id="45" dur="1000"/>
                                        <p:tgtEl>
                                          <p:spTgt spid="5">
                                            <p:txEl>
                                              <p:pRg st="2" end="2"/>
                                            </p:txEl>
                                          </p:spTgt>
                                        </p:tgtEl>
                                      </p:cBhvr>
                                    </p:animEffect>
                                    <p:anim calcmode="lin" valueType="num">
                                      <p:cBhvr>
                                        <p:cTn id="46"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47"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grpId="0" nodeType="clickEffect">
                                  <p:stCondLst>
                                    <p:cond delay="0"/>
                                  </p:stCondLst>
                                  <p:childTnLst>
                                    <p:set>
                                      <p:cBhvr>
                                        <p:cTn id="51" dur="1" fill="hold">
                                          <p:stCondLst>
                                            <p:cond delay="0"/>
                                          </p:stCondLst>
                                        </p:cTn>
                                        <p:tgtEl>
                                          <p:spTgt spid="5">
                                            <p:txEl>
                                              <p:pRg st="3" end="3"/>
                                            </p:txEl>
                                          </p:spTgt>
                                        </p:tgtEl>
                                        <p:attrNameLst>
                                          <p:attrName>style.visibility</p:attrName>
                                        </p:attrNameLst>
                                      </p:cBhvr>
                                      <p:to>
                                        <p:strVal val="visible"/>
                                      </p:to>
                                    </p:set>
                                    <p:animEffect transition="in" filter="fade">
                                      <p:cBhvr>
                                        <p:cTn id="52" dur="1000"/>
                                        <p:tgtEl>
                                          <p:spTgt spid="5">
                                            <p:txEl>
                                              <p:pRg st="3" end="3"/>
                                            </p:txEl>
                                          </p:spTgt>
                                        </p:tgtEl>
                                      </p:cBhvr>
                                    </p:animEffect>
                                    <p:anim calcmode="lin" valueType="num">
                                      <p:cBhvr>
                                        <p:cTn id="5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54"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uiExpand="1"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C90042B8-FFAE-D7C1-EFBC-30DB7389509B}"/>
              </a:ext>
            </a:extLst>
          </p:cNvPr>
          <p:cNvSpPr txBox="1"/>
          <p:nvPr/>
        </p:nvSpPr>
        <p:spPr>
          <a:xfrm>
            <a:off x="876497" y="1170879"/>
            <a:ext cx="10156315" cy="4954690"/>
          </a:xfrm>
          <a:prstGeom prst="rect">
            <a:avLst/>
          </a:prstGeom>
          <a:noFill/>
        </p:spPr>
        <p:txBody>
          <a:bodyPr wrap="square">
            <a:spAutoFit/>
          </a:bodyPr>
          <a:lstStyle/>
          <a:p>
            <a:pPr algn="just">
              <a:lnSpc>
                <a:spcPct val="115000"/>
              </a:lnSpc>
              <a:spcBef>
                <a:spcPts val="600"/>
              </a:spcBef>
              <a:spcAft>
                <a:spcPts val="600"/>
              </a:spcAft>
              <a:buNone/>
            </a:pP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类似于算法的时间复杂度，</a:t>
            </a:r>
            <a:r>
              <a:rPr lang="zh-CN" altLang="en-US" sz="2000" kern="100" dirty="0">
                <a:effectLst/>
                <a:latin typeface="Times New Roman" panose="02020603050405020304" pitchFamily="18" charset="0"/>
                <a:ea typeface="宋体" panose="02010600030101010101" pitchFamily="2" charset="-122"/>
                <a:cs typeface="Times New Roman" panose="02020603050405020304" pitchFamily="18" charset="0"/>
              </a:rPr>
              <a:t>以</a:t>
            </a:r>
            <a:r>
              <a:rPr lang="zh-CN" altLang="zh-CN" sz="20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空间复杂度</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space complexity</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）作为算法所需存储空间的量度，记作</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r">
              <a:lnSpc>
                <a:spcPct val="115000"/>
              </a:lnSpc>
              <a:spcBef>
                <a:spcPts val="600"/>
              </a:spcBef>
              <a:spcAft>
                <a:spcPts val="600"/>
              </a:spcAft>
              <a:buNone/>
            </a:pPr>
            <a:r>
              <a:rPr lang="en-US" altLang="zh-CN" sz="2400" i="1" kern="100" dirty="0">
                <a:effectLst/>
                <a:latin typeface="Times New Roman" panose="02020603050405020304" pitchFamily="18" charset="0"/>
                <a:ea typeface="宋体" panose="02010600030101010101" pitchFamily="2" charset="-122"/>
                <a:cs typeface="Times New Roman" panose="02020603050405020304" pitchFamily="18" charset="0"/>
              </a:rPr>
              <a:t>S</a:t>
            </a:r>
            <a:r>
              <a:rPr lang="en-US"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kern="100" dirty="0">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i="1" kern="100" dirty="0">
                <a:effectLst/>
                <a:latin typeface="Times New Roman" panose="02020603050405020304" pitchFamily="18" charset="0"/>
                <a:ea typeface="宋体" panose="02010600030101010101" pitchFamily="2" charset="-122"/>
                <a:cs typeface="Times New Roman" panose="02020603050405020304" pitchFamily="18" charset="0"/>
              </a:rPr>
              <a:t>O</a:t>
            </a:r>
            <a:r>
              <a:rPr lang="en-US"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kern="100" dirty="0">
                <a:effectLst/>
                <a:latin typeface="Times New Roman" panose="02020603050405020304" pitchFamily="18" charset="0"/>
                <a:ea typeface="宋体" panose="02010600030101010101" pitchFamily="2" charset="-122"/>
                <a:cs typeface="Times New Roman" panose="02020603050405020304" pitchFamily="18" charset="0"/>
              </a:rPr>
              <a:t>f</a:t>
            </a:r>
            <a:r>
              <a:rPr lang="en-US"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kern="100" dirty="0">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(1-6)</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15000"/>
              </a:lnSpc>
              <a:spcBef>
                <a:spcPts val="600"/>
              </a:spcBef>
              <a:spcAft>
                <a:spcPts val="600"/>
              </a:spcAft>
              <a:buNone/>
            </a:pP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其中</a:t>
            </a:r>
            <a:r>
              <a:rPr lang="en-US" altLang="zh-CN" sz="2000" i="1" kern="100" dirty="0">
                <a:effectLst/>
                <a:latin typeface="Times New Roman" panose="02020603050405020304" pitchFamily="18" charset="0"/>
                <a:ea typeface="宋体" panose="02010600030101010101" pitchFamily="2" charset="-122"/>
                <a:cs typeface="Times New Roman" panose="02020603050405020304" pitchFamily="18" charset="0"/>
              </a:rPr>
              <a:t>n</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为问题的规模（或大小）。</a:t>
            </a:r>
            <a:endPar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5000"/>
              </a:lnSpc>
              <a:spcBef>
                <a:spcPts val="600"/>
              </a:spcBef>
              <a:spcAft>
                <a:spcPts val="600"/>
              </a:spcAft>
              <a:buNone/>
            </a:pP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一个上机执行的程序除了需要存储空间来寄存本身所用指令、常数、变量和输人数据外，也需要一些对数据进行操作的工作单元和存储一些为实现计算所需信息的</a:t>
            </a:r>
            <a:r>
              <a:rPr lang="zh-CN" altLang="zh-CN" sz="2000" b="1"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辅助空间</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5000"/>
              </a:lnSpc>
              <a:spcBef>
                <a:spcPts val="600"/>
              </a:spcBef>
              <a:spcAft>
                <a:spcPts val="600"/>
              </a:spcAft>
              <a:buNone/>
            </a:pP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若输入数据所占空间只取决于问题本身，和算法无关，则只需要分析除输入和程序之外的额外空间，否则应同时考虑输入本身所需空间（和输入数据的表示形式有关）。</a:t>
            </a:r>
            <a:endPar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5000"/>
              </a:lnSpc>
              <a:spcBef>
                <a:spcPts val="600"/>
              </a:spcBef>
              <a:spcAft>
                <a:spcPts val="600"/>
              </a:spcAft>
              <a:buNone/>
            </a:pP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若额外空间相对于输入数据量来说是</a:t>
            </a:r>
            <a:r>
              <a:rPr lang="zh-CN" altLang="zh-CN" sz="2000" b="1"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常数</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，则称此算法为</a:t>
            </a:r>
            <a:r>
              <a:rPr lang="zh-CN" altLang="zh-CN" sz="20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原地工作</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，第</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10</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章讨论的有些排序算法就属于这类。</a:t>
            </a:r>
            <a:endPar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5000"/>
              </a:lnSpc>
              <a:spcBef>
                <a:spcPts val="600"/>
              </a:spcBef>
              <a:spcAft>
                <a:spcPts val="600"/>
              </a:spcAft>
              <a:buNone/>
            </a:pP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如果所占空间量依赖于特定的输入，则除特别指明外，均</a:t>
            </a:r>
            <a:r>
              <a:rPr lang="zh-CN" altLang="zh-CN" sz="2000" b="1"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按最坏情况分析</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5" name="文本框 4">
            <a:extLst>
              <a:ext uri="{FF2B5EF4-FFF2-40B4-BE49-F238E27FC236}">
                <a16:creationId xmlns:a16="http://schemas.microsoft.com/office/drawing/2014/main" id="{337C8785-21CB-89B3-62E3-42FDF5B54ABC}"/>
              </a:ext>
            </a:extLst>
          </p:cNvPr>
          <p:cNvSpPr txBox="1"/>
          <p:nvPr/>
        </p:nvSpPr>
        <p:spPr>
          <a:xfrm>
            <a:off x="1034031" y="274441"/>
            <a:ext cx="6095210" cy="523220"/>
          </a:xfrm>
          <a:prstGeom prst="rect">
            <a:avLst/>
          </a:prstGeom>
          <a:noFill/>
        </p:spPr>
        <p:txBody>
          <a:bodyPr wrap="square">
            <a:spAutoFit/>
          </a:bodyPr>
          <a:lstStyle/>
          <a:p>
            <a:pPr indent="267970">
              <a:buNone/>
            </a:pPr>
            <a:r>
              <a:rPr lang="en-US" altLang="zh-CN" sz="2800" b="1" kern="100" dirty="0">
                <a:solidFill>
                  <a:srgbClr val="C00000"/>
                </a:solidFill>
                <a:effectLst>
                  <a:outerShdw blurRad="38100" dist="38100" dir="2700000" algn="tl">
                    <a:srgbClr val="000000">
                      <a:alpha val="43137"/>
                    </a:srgbClr>
                  </a:outerShdw>
                </a:effectLst>
                <a:latin typeface="黑体" panose="02010609060101010101" pitchFamily="49" charset="-122"/>
                <a:ea typeface="微软雅黑" panose="020B0503020204020204" pitchFamily="34" charset="-122"/>
                <a:cs typeface="Times New Roman" panose="02020603050405020304" pitchFamily="18" charset="0"/>
              </a:rPr>
              <a:t>1.4.4 </a:t>
            </a:r>
            <a:r>
              <a:rPr lang="zh-CN" altLang="zh-CN" sz="2800" b="1" kern="100" dirty="0">
                <a:solidFill>
                  <a:srgbClr val="C00000"/>
                </a:solidFill>
                <a:effectLst>
                  <a:outerShdw blurRad="38100" dist="38100" dir="2700000" algn="tl">
                    <a:srgbClr val="000000">
                      <a:alpha val="43137"/>
                    </a:srgbClr>
                  </a:outerShdw>
                </a:effectLst>
                <a:latin typeface="微软雅黑" panose="020B0503020204020204" pitchFamily="34" charset="-122"/>
                <a:ea typeface="黑体" panose="02010609060101010101" pitchFamily="49" charset="-122"/>
                <a:cs typeface="Times New Roman" panose="02020603050405020304" pitchFamily="18" charset="0"/>
              </a:rPr>
              <a:t>算法的存储空间需求</a:t>
            </a:r>
            <a:endParaRPr lang="zh-CN" altLang="zh-CN" sz="2800" b="1" kern="1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7F0FF2F1-94A7-41CE-3CB5-AAC056B962DB}"/>
              </a:ext>
            </a:extLst>
          </p:cNvPr>
          <p:cNvSpPr>
            <a:spLocks noGrp="1"/>
          </p:cNvSpPr>
          <p:nvPr>
            <p:ph type="sldNum" sz="quarter" idx="12"/>
          </p:nvPr>
        </p:nvSpPr>
        <p:spPr/>
        <p:txBody>
          <a:bodyPr/>
          <a:lstStyle/>
          <a:p>
            <a:fld id="{D7C0FE0B-717B-41AE-9FA2-CA4BF851D1C3}" type="slidenum">
              <a:rPr lang="zh-CN" altLang="en-US" smtClean="0"/>
              <a:t>56</a:t>
            </a:fld>
            <a:endParaRPr lang="zh-CN" altLang="en-US"/>
          </a:p>
        </p:txBody>
      </p:sp>
    </p:spTree>
    <p:extLst>
      <p:ext uri="{BB962C8B-B14F-4D97-AF65-F5344CB8AC3E}">
        <p14:creationId xmlns:p14="http://schemas.microsoft.com/office/powerpoint/2010/main" val="2374782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1000"/>
                                        <p:tgtEl>
                                          <p:spTgt spid="3">
                                            <p:txEl>
                                              <p:pRg st="4" end="4"/>
                                            </p:txEl>
                                          </p:spTgt>
                                        </p:tgtEl>
                                      </p:cBhvr>
                                    </p:animEffect>
                                    <p:anim calcmode="lin" valueType="num">
                                      <p:cBhvr>
                                        <p:cTn id="3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3">
                                            <p:txEl>
                                              <p:pRg st="5" end="5"/>
                                            </p:txEl>
                                          </p:spTgt>
                                        </p:tgtEl>
                                        <p:attrNameLst>
                                          <p:attrName>style.visibility</p:attrName>
                                        </p:attrNameLst>
                                      </p:cBhvr>
                                      <p:to>
                                        <p:strVal val="visible"/>
                                      </p:to>
                                    </p:set>
                                    <p:animEffect transition="in" filter="fade">
                                      <p:cBhvr>
                                        <p:cTn id="38" dur="1000"/>
                                        <p:tgtEl>
                                          <p:spTgt spid="3">
                                            <p:txEl>
                                              <p:pRg st="5" end="5"/>
                                            </p:txEl>
                                          </p:spTgt>
                                        </p:tgtEl>
                                      </p:cBhvr>
                                    </p:animEffect>
                                    <p:anim calcmode="lin" valueType="num">
                                      <p:cBhvr>
                                        <p:cTn id="3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0"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grpId="0" nodeType="clickEffect">
                                  <p:stCondLst>
                                    <p:cond delay="0"/>
                                  </p:stCondLst>
                                  <p:childTnLst>
                                    <p:set>
                                      <p:cBhvr>
                                        <p:cTn id="44" dur="1" fill="hold">
                                          <p:stCondLst>
                                            <p:cond delay="0"/>
                                          </p:stCondLst>
                                        </p:cTn>
                                        <p:tgtEl>
                                          <p:spTgt spid="3">
                                            <p:txEl>
                                              <p:pRg st="6" end="6"/>
                                            </p:txEl>
                                          </p:spTgt>
                                        </p:tgtEl>
                                        <p:attrNameLst>
                                          <p:attrName>style.visibility</p:attrName>
                                        </p:attrNameLst>
                                      </p:cBhvr>
                                      <p:to>
                                        <p:strVal val="visible"/>
                                      </p:to>
                                    </p:set>
                                    <p:animEffect transition="in" filter="fade">
                                      <p:cBhvr>
                                        <p:cTn id="45" dur="1000"/>
                                        <p:tgtEl>
                                          <p:spTgt spid="3">
                                            <p:txEl>
                                              <p:pRg st="6" end="6"/>
                                            </p:txEl>
                                          </p:spTgt>
                                        </p:tgtEl>
                                      </p:cBhvr>
                                    </p:animEffect>
                                    <p:anim calcmode="lin" valueType="num">
                                      <p:cBhvr>
                                        <p:cTn id="46"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7"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1520</TotalTime>
  <Words>10614</Words>
  <Application>Microsoft Office PowerPoint</Application>
  <PresentationFormat>宽屏</PresentationFormat>
  <Paragraphs>883</Paragraphs>
  <Slides>56</Slides>
  <Notes>5</Notes>
  <HiddenSlides>0</HiddenSlides>
  <MMClips>0</MMClips>
  <ScaleCrop>false</ScaleCrop>
  <HeadingPairs>
    <vt:vector size="6" baseType="variant">
      <vt:variant>
        <vt:lpstr>已用的字体</vt:lpstr>
      </vt:variant>
      <vt:variant>
        <vt:i4>24</vt:i4>
      </vt:variant>
      <vt:variant>
        <vt:lpstr>主题</vt:lpstr>
      </vt:variant>
      <vt:variant>
        <vt:i4>2</vt:i4>
      </vt:variant>
      <vt:variant>
        <vt:lpstr>幻灯片标题</vt:lpstr>
      </vt:variant>
      <vt:variant>
        <vt:i4>56</vt:i4>
      </vt:variant>
    </vt:vector>
  </HeadingPairs>
  <TitlesOfParts>
    <vt:vector size="82" baseType="lpstr">
      <vt:lpstr>Monotype Sorts</vt:lpstr>
      <vt:lpstr>等线</vt:lpstr>
      <vt:lpstr>等线 Light</vt:lpstr>
      <vt:lpstr>仿宋</vt:lpstr>
      <vt:lpstr>黑体</vt:lpstr>
      <vt:lpstr>华文琥珀</vt:lpstr>
      <vt:lpstr>华文行楷</vt:lpstr>
      <vt:lpstr>楷体</vt:lpstr>
      <vt:lpstr>楷体_GB2312</vt:lpstr>
      <vt:lpstr>宋体</vt:lpstr>
      <vt:lpstr>微软雅黑</vt:lpstr>
      <vt:lpstr>Aptos</vt:lpstr>
      <vt:lpstr>Arial</vt:lpstr>
      <vt:lpstr>Broadway</vt:lpstr>
      <vt:lpstr>Calibri</vt:lpstr>
      <vt:lpstr>Calibri Light</vt:lpstr>
      <vt:lpstr>Cambria Math</vt:lpstr>
      <vt:lpstr>Courier New</vt:lpstr>
      <vt:lpstr>Lucida Sans Typewriter</vt:lpstr>
      <vt:lpstr>Tempus Sans ITC</vt:lpstr>
      <vt:lpstr>Times New Roman</vt:lpstr>
      <vt:lpstr>Verdana</vt:lpstr>
      <vt:lpstr>Wide Latin</vt:lpstr>
      <vt:lpstr>Wingdings</vt:lpstr>
      <vt:lpstr>Office 主题​​</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weimin wu</dc:creator>
  <cp:lastModifiedBy>weimin wu</cp:lastModifiedBy>
  <cp:revision>56</cp:revision>
  <cp:lastPrinted>2025-10-19T10:36:38Z</cp:lastPrinted>
  <dcterms:created xsi:type="dcterms:W3CDTF">2025-08-08T11:11:12Z</dcterms:created>
  <dcterms:modified xsi:type="dcterms:W3CDTF">2025-10-25T14:56:06Z</dcterms:modified>
</cp:coreProperties>
</file>